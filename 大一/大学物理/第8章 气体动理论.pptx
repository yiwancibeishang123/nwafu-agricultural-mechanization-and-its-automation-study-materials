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Default Extension="wav" ContentType="audio/wav"/>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570" r:id="rId2"/>
    <p:sldId id="489" r:id="rId3"/>
    <p:sldId id="257" r:id="rId4"/>
    <p:sldId id="490" r:id="rId5"/>
    <p:sldId id="491" r:id="rId6"/>
    <p:sldId id="492" r:id="rId7"/>
    <p:sldId id="493" r:id="rId8"/>
    <p:sldId id="494" r:id="rId9"/>
    <p:sldId id="279" r:id="rId10"/>
    <p:sldId id="368" r:id="rId11"/>
    <p:sldId id="281" r:id="rId12"/>
    <p:sldId id="495" r:id="rId13"/>
    <p:sldId id="496" r:id="rId14"/>
    <p:sldId id="378" r:id="rId15"/>
    <p:sldId id="379" r:id="rId16"/>
    <p:sldId id="391" r:id="rId17"/>
    <p:sldId id="284" r:id="rId18"/>
    <p:sldId id="392" r:id="rId19"/>
    <p:sldId id="286" r:id="rId20"/>
    <p:sldId id="498" r:id="rId21"/>
    <p:sldId id="499" r:id="rId22"/>
    <p:sldId id="500" r:id="rId23"/>
    <p:sldId id="259" r:id="rId24"/>
    <p:sldId id="502" r:id="rId25"/>
    <p:sldId id="503" r:id="rId26"/>
    <p:sldId id="504" r:id="rId27"/>
    <p:sldId id="505" r:id="rId28"/>
    <p:sldId id="506" r:id="rId29"/>
    <p:sldId id="507" r:id="rId30"/>
    <p:sldId id="508" r:id="rId31"/>
    <p:sldId id="509" r:id="rId32"/>
    <p:sldId id="417" r:id="rId33"/>
    <p:sldId id="419" r:id="rId34"/>
    <p:sldId id="511" r:id="rId35"/>
    <p:sldId id="260" r:id="rId36"/>
    <p:sldId id="414" r:id="rId37"/>
    <p:sldId id="422" r:id="rId38"/>
    <p:sldId id="413" r:id="rId39"/>
    <p:sldId id="410" r:id="rId40"/>
    <p:sldId id="261" r:id="rId41"/>
    <p:sldId id="298" r:id="rId42"/>
    <p:sldId id="512" r:id="rId43"/>
    <p:sldId id="416" r:id="rId44"/>
    <p:sldId id="513" r:id="rId45"/>
    <p:sldId id="514" r:id="rId46"/>
    <p:sldId id="515" r:id="rId47"/>
    <p:sldId id="274" r:id="rId48"/>
    <p:sldId id="427" r:id="rId49"/>
    <p:sldId id="305" r:id="rId50"/>
    <p:sldId id="518" r:id="rId51"/>
    <p:sldId id="517" r:id="rId52"/>
    <p:sldId id="428" r:id="rId53"/>
    <p:sldId id="429" r:id="rId54"/>
    <p:sldId id="520" r:id="rId55"/>
    <p:sldId id="522" r:id="rId56"/>
    <p:sldId id="523" r:id="rId57"/>
    <p:sldId id="524" r:id="rId58"/>
    <p:sldId id="527" r:id="rId59"/>
    <p:sldId id="528" r:id="rId60"/>
    <p:sldId id="525" r:id="rId61"/>
    <p:sldId id="310" r:id="rId62"/>
    <p:sldId id="438" r:id="rId63"/>
    <p:sldId id="529" r:id="rId64"/>
    <p:sldId id="530" r:id="rId65"/>
    <p:sldId id="538" r:id="rId66"/>
    <p:sldId id="531" r:id="rId67"/>
    <p:sldId id="532" r:id="rId68"/>
    <p:sldId id="533" r:id="rId69"/>
    <p:sldId id="535" r:id="rId70"/>
    <p:sldId id="536" r:id="rId71"/>
    <p:sldId id="315" r:id="rId72"/>
    <p:sldId id="446" r:id="rId73"/>
    <p:sldId id="448" r:id="rId74"/>
    <p:sldId id="449" r:id="rId75"/>
    <p:sldId id="450" r:id="rId76"/>
    <p:sldId id="277" r:id="rId77"/>
    <p:sldId id="540" r:id="rId78"/>
    <p:sldId id="541" r:id="rId79"/>
    <p:sldId id="539" r:id="rId80"/>
    <p:sldId id="263" r:id="rId81"/>
    <p:sldId id="543" r:id="rId82"/>
    <p:sldId id="319" r:id="rId83"/>
    <p:sldId id="320" r:id="rId84"/>
    <p:sldId id="321" r:id="rId85"/>
    <p:sldId id="460" r:id="rId86"/>
    <p:sldId id="461" r:id="rId87"/>
    <p:sldId id="264" r:id="rId88"/>
    <p:sldId id="547" r:id="rId89"/>
    <p:sldId id="546" r:id="rId90"/>
    <p:sldId id="326" r:id="rId91"/>
    <p:sldId id="466" r:id="rId92"/>
    <p:sldId id="467" r:id="rId93"/>
    <p:sldId id="468" r:id="rId94"/>
    <p:sldId id="548" r:id="rId95"/>
    <p:sldId id="550" r:id="rId96"/>
    <p:sldId id="471" r:id="rId97"/>
    <p:sldId id="472" r:id="rId98"/>
    <p:sldId id="473" r:id="rId99"/>
    <p:sldId id="551" r:id="rId100"/>
    <p:sldId id="553" r:id="rId101"/>
    <p:sldId id="335" r:id="rId102"/>
    <p:sldId id="476" r:id="rId103"/>
    <p:sldId id="479" r:id="rId104"/>
    <p:sldId id="478" r:id="rId105"/>
    <p:sldId id="338" r:id="rId106"/>
    <p:sldId id="345" r:id="rId107"/>
    <p:sldId id="346" r:id="rId108"/>
    <p:sldId id="487" r:id="rId109"/>
    <p:sldId id="348" r:id="rId110"/>
    <p:sldId id="556" r:id="rId111"/>
    <p:sldId id="349" r:id="rId112"/>
    <p:sldId id="344" r:id="rId113"/>
    <p:sldId id="558" r:id="rId114"/>
    <p:sldId id="559" r:id="rId115"/>
    <p:sldId id="560" r:id="rId116"/>
    <p:sldId id="561" r:id="rId117"/>
    <p:sldId id="562" r:id="rId118"/>
    <p:sldId id="563" r:id="rId119"/>
    <p:sldId id="564" r:id="rId120"/>
    <p:sldId id="565" r:id="rId121"/>
    <p:sldId id="566" r:id="rId122"/>
    <p:sldId id="567" r:id="rId123"/>
    <p:sldId id="568" r:id="rId124"/>
    <p:sldId id="569" r:id="rId12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FF6600"/>
    <a:srgbClr val="9900CC"/>
    <a:srgbClr val="006600"/>
    <a:srgbClr val="008000"/>
    <a:srgbClr val="9900FF"/>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668"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5792"/>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5.wmf"/><Relationship Id="rId4"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5" Type="http://schemas.openxmlformats.org/officeDocument/2006/relationships/image" Target="../media/image32.wmf"/><Relationship Id="rId4"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6.wmf"/><Relationship Id="rId1" Type="http://schemas.openxmlformats.org/officeDocument/2006/relationships/image" Target="../media/image55.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1.wmf"/><Relationship Id="rId4" Type="http://schemas.openxmlformats.org/officeDocument/2006/relationships/image" Target="../media/image6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1.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5" Type="http://schemas.openxmlformats.org/officeDocument/2006/relationships/image" Target="../media/image79.wmf"/><Relationship Id="rId4" Type="http://schemas.openxmlformats.org/officeDocument/2006/relationships/image" Target="../media/image78.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2.wmf"/><Relationship Id="rId7" Type="http://schemas.openxmlformats.org/officeDocument/2006/relationships/image" Target="../media/image86.wmf"/><Relationship Id="rId2" Type="http://schemas.openxmlformats.org/officeDocument/2006/relationships/image" Target="../media/image81.wmf"/><Relationship Id="rId1" Type="http://schemas.openxmlformats.org/officeDocument/2006/relationships/image" Target="../media/image80.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5" Type="http://schemas.openxmlformats.org/officeDocument/2006/relationships/image" Target="../media/image91.wmf"/><Relationship Id="rId4"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 Id="rId5" Type="http://schemas.openxmlformats.org/officeDocument/2006/relationships/image" Target="../media/image96.wmf"/><Relationship Id="rId4" Type="http://schemas.openxmlformats.org/officeDocument/2006/relationships/image" Target="../media/image9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103.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5" Type="http://schemas.openxmlformats.org/officeDocument/2006/relationships/image" Target="../media/image126.wmf"/><Relationship Id="rId4"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1.wmf"/><Relationship Id="rId7" Type="http://schemas.openxmlformats.org/officeDocument/2006/relationships/image" Target="../media/image135.wmf"/><Relationship Id="rId2" Type="http://schemas.openxmlformats.org/officeDocument/2006/relationships/image" Target="../media/image130.wmf"/><Relationship Id="rId1" Type="http://schemas.openxmlformats.org/officeDocument/2006/relationships/image" Target="../media/image129.wmf"/><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 Id="rId4" Type="http://schemas.openxmlformats.org/officeDocument/2006/relationships/image" Target="../media/image141.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image" Target="../media/image14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 Id="rId4" Type="http://schemas.openxmlformats.org/officeDocument/2006/relationships/image" Target="../media/image14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 Id="rId4" Type="http://schemas.openxmlformats.org/officeDocument/2006/relationships/image" Target="../media/image151.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 Id="rId5" Type="http://schemas.openxmlformats.org/officeDocument/2006/relationships/image" Target="../media/image162.wmf"/><Relationship Id="rId4" Type="http://schemas.openxmlformats.org/officeDocument/2006/relationships/image" Target="../media/image16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image" Target="../media/image168.wmf"/><Relationship Id="rId7" Type="http://schemas.openxmlformats.org/officeDocument/2006/relationships/image" Target="../media/image172.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5" Type="http://schemas.openxmlformats.org/officeDocument/2006/relationships/image" Target="../media/image170.wmf"/><Relationship Id="rId10" Type="http://schemas.openxmlformats.org/officeDocument/2006/relationships/image" Target="../media/image175.wmf"/><Relationship Id="rId4" Type="http://schemas.openxmlformats.org/officeDocument/2006/relationships/image" Target="../media/image169.wmf"/><Relationship Id="rId9" Type="http://schemas.openxmlformats.org/officeDocument/2006/relationships/image" Target="../media/image17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 Id="rId5" Type="http://schemas.openxmlformats.org/officeDocument/2006/relationships/image" Target="../media/image187.wmf"/><Relationship Id="rId4" Type="http://schemas.openxmlformats.org/officeDocument/2006/relationships/image" Target="../media/image186.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89.wmf"/><Relationship Id="rId1" Type="http://schemas.openxmlformats.org/officeDocument/2006/relationships/image" Target="../media/image188.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 Id="rId4" Type="http://schemas.openxmlformats.org/officeDocument/2006/relationships/image" Target="../media/image194.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97.wmf"/><Relationship Id="rId2" Type="http://schemas.openxmlformats.org/officeDocument/2006/relationships/image" Target="../media/image196.wmf"/><Relationship Id="rId1" Type="http://schemas.openxmlformats.org/officeDocument/2006/relationships/image" Target="../media/image19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 Id="rId5" Type="http://schemas.openxmlformats.org/officeDocument/2006/relationships/image" Target="../media/image203.wmf"/><Relationship Id="rId4" Type="http://schemas.openxmlformats.org/officeDocument/2006/relationships/image" Target="../media/image202.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11.wmf"/><Relationship Id="rId3" Type="http://schemas.openxmlformats.org/officeDocument/2006/relationships/image" Target="../media/image206.wmf"/><Relationship Id="rId7" Type="http://schemas.openxmlformats.org/officeDocument/2006/relationships/image" Target="../media/image210.wmf"/><Relationship Id="rId2" Type="http://schemas.openxmlformats.org/officeDocument/2006/relationships/image" Target="../media/image205.wmf"/><Relationship Id="rId1" Type="http://schemas.openxmlformats.org/officeDocument/2006/relationships/image" Target="../media/image204.wmf"/><Relationship Id="rId6" Type="http://schemas.openxmlformats.org/officeDocument/2006/relationships/image" Target="../media/image209.wmf"/><Relationship Id="rId5" Type="http://schemas.openxmlformats.org/officeDocument/2006/relationships/image" Target="../media/image208.wmf"/><Relationship Id="rId4" Type="http://schemas.openxmlformats.org/officeDocument/2006/relationships/image" Target="../media/image207.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 Id="rId5" Type="http://schemas.openxmlformats.org/officeDocument/2006/relationships/image" Target="../media/image216.wmf"/><Relationship Id="rId4" Type="http://schemas.openxmlformats.org/officeDocument/2006/relationships/image" Target="../media/image215.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23.wmf"/><Relationship Id="rId13" Type="http://schemas.openxmlformats.org/officeDocument/2006/relationships/image" Target="../media/image228.wmf"/><Relationship Id="rId3" Type="http://schemas.openxmlformats.org/officeDocument/2006/relationships/image" Target="../media/image200.wmf"/><Relationship Id="rId7" Type="http://schemas.openxmlformats.org/officeDocument/2006/relationships/image" Target="../media/image222.wmf"/><Relationship Id="rId12" Type="http://schemas.openxmlformats.org/officeDocument/2006/relationships/image" Target="../media/image227.wmf"/><Relationship Id="rId2" Type="http://schemas.openxmlformats.org/officeDocument/2006/relationships/image" Target="../media/image218.wmf"/><Relationship Id="rId1" Type="http://schemas.openxmlformats.org/officeDocument/2006/relationships/image" Target="../media/image217.wmf"/><Relationship Id="rId6" Type="http://schemas.openxmlformats.org/officeDocument/2006/relationships/image" Target="../media/image221.wmf"/><Relationship Id="rId11" Type="http://schemas.openxmlformats.org/officeDocument/2006/relationships/image" Target="../media/image226.wmf"/><Relationship Id="rId5" Type="http://schemas.openxmlformats.org/officeDocument/2006/relationships/image" Target="../media/image220.wmf"/><Relationship Id="rId10" Type="http://schemas.openxmlformats.org/officeDocument/2006/relationships/image" Target="../media/image225.wmf"/><Relationship Id="rId4" Type="http://schemas.openxmlformats.org/officeDocument/2006/relationships/image" Target="../media/image219.wmf"/><Relationship Id="rId9" Type="http://schemas.openxmlformats.org/officeDocument/2006/relationships/image" Target="../media/image224.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12.wmf"/><Relationship Id="rId5" Type="http://schemas.openxmlformats.org/officeDocument/2006/relationships/image" Target="../media/image232.wmf"/><Relationship Id="rId4" Type="http://schemas.openxmlformats.org/officeDocument/2006/relationships/image" Target="../media/image231.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40.wmf"/><Relationship Id="rId3" Type="http://schemas.openxmlformats.org/officeDocument/2006/relationships/image" Target="../media/image235.wmf"/><Relationship Id="rId7" Type="http://schemas.openxmlformats.org/officeDocument/2006/relationships/image" Target="../media/image239.wmf"/><Relationship Id="rId2" Type="http://schemas.openxmlformats.org/officeDocument/2006/relationships/image" Target="../media/image234.wmf"/><Relationship Id="rId1" Type="http://schemas.openxmlformats.org/officeDocument/2006/relationships/image" Target="../media/image233.wmf"/><Relationship Id="rId6" Type="http://schemas.openxmlformats.org/officeDocument/2006/relationships/image" Target="../media/image238.wmf"/><Relationship Id="rId5" Type="http://schemas.openxmlformats.org/officeDocument/2006/relationships/image" Target="../media/image237.wmf"/><Relationship Id="rId4" Type="http://schemas.openxmlformats.org/officeDocument/2006/relationships/image" Target="../media/image236.wmf"/><Relationship Id="rId9" Type="http://schemas.openxmlformats.org/officeDocument/2006/relationships/image" Target="../media/image241.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43.wmf"/><Relationship Id="rId1" Type="http://schemas.openxmlformats.org/officeDocument/2006/relationships/image" Target="../media/image242.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image" Target="../media/image246.wmf"/><Relationship Id="rId7" Type="http://schemas.openxmlformats.org/officeDocument/2006/relationships/image" Target="../media/image250.wmf"/><Relationship Id="rId2" Type="http://schemas.openxmlformats.org/officeDocument/2006/relationships/image" Target="../media/image245.wmf"/><Relationship Id="rId1" Type="http://schemas.openxmlformats.org/officeDocument/2006/relationships/image" Target="../media/image244.wmf"/><Relationship Id="rId6" Type="http://schemas.openxmlformats.org/officeDocument/2006/relationships/image" Target="../media/image249.wmf"/><Relationship Id="rId11" Type="http://schemas.openxmlformats.org/officeDocument/2006/relationships/image" Target="../media/image254.wmf"/><Relationship Id="rId5" Type="http://schemas.openxmlformats.org/officeDocument/2006/relationships/image" Target="../media/image248.wmf"/><Relationship Id="rId10" Type="http://schemas.openxmlformats.org/officeDocument/2006/relationships/image" Target="../media/image253.wmf"/><Relationship Id="rId4" Type="http://schemas.openxmlformats.org/officeDocument/2006/relationships/image" Target="../media/image247.wmf"/><Relationship Id="rId9" Type="http://schemas.openxmlformats.org/officeDocument/2006/relationships/image" Target="../media/image252.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wmf"/><Relationship Id="rId4" Type="http://schemas.openxmlformats.org/officeDocument/2006/relationships/image" Target="../media/image258.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266.wmf"/><Relationship Id="rId3" Type="http://schemas.openxmlformats.org/officeDocument/2006/relationships/image" Target="../media/image261.wmf"/><Relationship Id="rId7" Type="http://schemas.openxmlformats.org/officeDocument/2006/relationships/image" Target="../media/image265.wmf"/><Relationship Id="rId2" Type="http://schemas.openxmlformats.org/officeDocument/2006/relationships/image" Target="../media/image260.wmf"/><Relationship Id="rId1" Type="http://schemas.openxmlformats.org/officeDocument/2006/relationships/image" Target="../media/image259.wmf"/><Relationship Id="rId6" Type="http://schemas.openxmlformats.org/officeDocument/2006/relationships/image" Target="../media/image264.wmf"/><Relationship Id="rId11" Type="http://schemas.openxmlformats.org/officeDocument/2006/relationships/image" Target="../media/image269.wmf"/><Relationship Id="rId5" Type="http://schemas.openxmlformats.org/officeDocument/2006/relationships/image" Target="../media/image263.wmf"/><Relationship Id="rId10" Type="http://schemas.openxmlformats.org/officeDocument/2006/relationships/image" Target="../media/image268.wmf"/><Relationship Id="rId4" Type="http://schemas.openxmlformats.org/officeDocument/2006/relationships/image" Target="../media/image262.wmf"/><Relationship Id="rId9" Type="http://schemas.openxmlformats.org/officeDocument/2006/relationships/image" Target="../media/image267.w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277.wmf"/><Relationship Id="rId3" Type="http://schemas.openxmlformats.org/officeDocument/2006/relationships/image" Target="../media/image272.wmf"/><Relationship Id="rId7" Type="http://schemas.openxmlformats.org/officeDocument/2006/relationships/image" Target="../media/image276.wmf"/><Relationship Id="rId2" Type="http://schemas.openxmlformats.org/officeDocument/2006/relationships/image" Target="../media/image271.wmf"/><Relationship Id="rId1" Type="http://schemas.openxmlformats.org/officeDocument/2006/relationships/image" Target="../media/image270.wmf"/><Relationship Id="rId6" Type="http://schemas.openxmlformats.org/officeDocument/2006/relationships/image" Target="../media/image275.wmf"/><Relationship Id="rId5" Type="http://schemas.openxmlformats.org/officeDocument/2006/relationships/image" Target="../media/image274.wmf"/><Relationship Id="rId10" Type="http://schemas.openxmlformats.org/officeDocument/2006/relationships/image" Target="../media/image279.wmf"/><Relationship Id="rId4" Type="http://schemas.openxmlformats.org/officeDocument/2006/relationships/image" Target="../media/image273.wmf"/><Relationship Id="rId9" Type="http://schemas.openxmlformats.org/officeDocument/2006/relationships/image" Target="../media/image278.w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278.wmf"/><Relationship Id="rId3" Type="http://schemas.openxmlformats.org/officeDocument/2006/relationships/image" Target="../media/image282.wmf"/><Relationship Id="rId7" Type="http://schemas.openxmlformats.org/officeDocument/2006/relationships/image" Target="../media/image277.wmf"/><Relationship Id="rId2" Type="http://schemas.openxmlformats.org/officeDocument/2006/relationships/image" Target="../media/image281.wmf"/><Relationship Id="rId1" Type="http://schemas.openxmlformats.org/officeDocument/2006/relationships/image" Target="../media/image280.wmf"/><Relationship Id="rId6" Type="http://schemas.openxmlformats.org/officeDocument/2006/relationships/image" Target="../media/image276.wmf"/><Relationship Id="rId5" Type="http://schemas.openxmlformats.org/officeDocument/2006/relationships/image" Target="../media/image275.wmf"/><Relationship Id="rId4" Type="http://schemas.openxmlformats.org/officeDocument/2006/relationships/image" Target="../media/image283.wmf"/><Relationship Id="rId9" Type="http://schemas.openxmlformats.org/officeDocument/2006/relationships/image" Target="../media/image279.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88.wmf"/><Relationship Id="rId7" Type="http://schemas.openxmlformats.org/officeDocument/2006/relationships/image" Target="../media/image292.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91.wmf"/><Relationship Id="rId5" Type="http://schemas.openxmlformats.org/officeDocument/2006/relationships/image" Target="../media/image290.wmf"/><Relationship Id="rId4" Type="http://schemas.openxmlformats.org/officeDocument/2006/relationships/image" Target="../media/image289.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image" Target="../media/image291.wmf"/><Relationship Id="rId1" Type="http://schemas.openxmlformats.org/officeDocument/2006/relationships/image" Target="../media/image290.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93.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94.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 Id="rId4" Type="http://schemas.openxmlformats.org/officeDocument/2006/relationships/image" Target="../media/image298.w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300.wmf"/><Relationship Id="rId1" Type="http://schemas.openxmlformats.org/officeDocument/2006/relationships/image" Target="../media/image299.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 Id="rId4" Type="http://schemas.openxmlformats.org/officeDocument/2006/relationships/image" Target="../media/image304.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07.wmf"/><Relationship Id="rId2" Type="http://schemas.openxmlformats.org/officeDocument/2006/relationships/image" Target="../media/image306.wmf"/><Relationship Id="rId1" Type="http://schemas.openxmlformats.org/officeDocument/2006/relationships/image" Target="../media/image305.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10.wmf"/><Relationship Id="rId2" Type="http://schemas.openxmlformats.org/officeDocument/2006/relationships/image" Target="../media/image309.wmf"/><Relationship Id="rId1" Type="http://schemas.openxmlformats.org/officeDocument/2006/relationships/image" Target="../media/image308.wmf"/><Relationship Id="rId5" Type="http://schemas.openxmlformats.org/officeDocument/2006/relationships/image" Target="../media/image312.wmf"/><Relationship Id="rId4" Type="http://schemas.openxmlformats.org/officeDocument/2006/relationships/image" Target="../media/image311.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15.wmf"/><Relationship Id="rId2" Type="http://schemas.openxmlformats.org/officeDocument/2006/relationships/image" Target="../media/image314.wmf"/><Relationship Id="rId1" Type="http://schemas.openxmlformats.org/officeDocument/2006/relationships/image" Target="../media/image313.wmf"/><Relationship Id="rId6" Type="http://schemas.openxmlformats.org/officeDocument/2006/relationships/image" Target="../media/image318.wmf"/><Relationship Id="rId5" Type="http://schemas.openxmlformats.org/officeDocument/2006/relationships/image" Target="../media/image317.wmf"/><Relationship Id="rId4" Type="http://schemas.openxmlformats.org/officeDocument/2006/relationships/image" Target="../media/image316.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319.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23.wmf"/><Relationship Id="rId2" Type="http://schemas.openxmlformats.org/officeDocument/2006/relationships/image" Target="../media/image322.wmf"/><Relationship Id="rId1" Type="http://schemas.openxmlformats.org/officeDocument/2006/relationships/image" Target="../media/image321.png"/><Relationship Id="rId5" Type="http://schemas.openxmlformats.org/officeDocument/2006/relationships/image" Target="../media/image325.wmf"/><Relationship Id="rId4" Type="http://schemas.openxmlformats.org/officeDocument/2006/relationships/image" Target="../media/image324.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329.wmf"/><Relationship Id="rId2" Type="http://schemas.openxmlformats.org/officeDocument/2006/relationships/image" Target="../media/image328.wmf"/><Relationship Id="rId1" Type="http://schemas.openxmlformats.org/officeDocument/2006/relationships/image" Target="../media/image327.wmf"/><Relationship Id="rId6" Type="http://schemas.openxmlformats.org/officeDocument/2006/relationships/image" Target="../media/image332.wmf"/><Relationship Id="rId5" Type="http://schemas.openxmlformats.org/officeDocument/2006/relationships/image" Target="../media/image331.wmf"/><Relationship Id="rId4" Type="http://schemas.openxmlformats.org/officeDocument/2006/relationships/image" Target="../media/image330.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33.wmf"/><Relationship Id="rId4" Type="http://schemas.openxmlformats.org/officeDocument/2006/relationships/image" Target="../media/image336.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339.wmf"/><Relationship Id="rId2" Type="http://schemas.openxmlformats.org/officeDocument/2006/relationships/image" Target="../media/image338.wmf"/><Relationship Id="rId1" Type="http://schemas.openxmlformats.org/officeDocument/2006/relationships/image" Target="../media/image337.wmf"/><Relationship Id="rId5" Type="http://schemas.openxmlformats.org/officeDocument/2006/relationships/image" Target="../media/image341.wmf"/><Relationship Id="rId4" Type="http://schemas.openxmlformats.org/officeDocument/2006/relationships/image" Target="../media/image340.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44.wmf"/><Relationship Id="rId2" Type="http://schemas.openxmlformats.org/officeDocument/2006/relationships/image" Target="../media/image343.wmf"/><Relationship Id="rId1" Type="http://schemas.openxmlformats.org/officeDocument/2006/relationships/image" Target="../media/image342.wmf"/><Relationship Id="rId6" Type="http://schemas.openxmlformats.org/officeDocument/2006/relationships/image" Target="../media/image347.wmf"/><Relationship Id="rId5" Type="http://schemas.openxmlformats.org/officeDocument/2006/relationships/image" Target="../media/image346.wmf"/><Relationship Id="rId4" Type="http://schemas.openxmlformats.org/officeDocument/2006/relationships/image" Target="../media/image345.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349.wmf"/><Relationship Id="rId1" Type="http://schemas.openxmlformats.org/officeDocument/2006/relationships/image" Target="../media/image348.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350.w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354.wmf"/><Relationship Id="rId1" Type="http://schemas.openxmlformats.org/officeDocument/2006/relationships/image" Target="../media/image353.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355.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358.wmf"/><Relationship Id="rId2" Type="http://schemas.openxmlformats.org/officeDocument/2006/relationships/image" Target="../media/image357.wmf"/><Relationship Id="rId1" Type="http://schemas.openxmlformats.org/officeDocument/2006/relationships/image" Target="../media/image356.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361.wmf"/><Relationship Id="rId2" Type="http://schemas.openxmlformats.org/officeDocument/2006/relationships/image" Target="../media/image360.wmf"/><Relationship Id="rId1" Type="http://schemas.openxmlformats.org/officeDocument/2006/relationships/image" Target="../media/image359.wmf"/><Relationship Id="rId5" Type="http://schemas.openxmlformats.org/officeDocument/2006/relationships/image" Target="../media/image363.wmf"/><Relationship Id="rId4" Type="http://schemas.openxmlformats.org/officeDocument/2006/relationships/image" Target="../media/image362.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366.wmf"/><Relationship Id="rId2" Type="http://schemas.openxmlformats.org/officeDocument/2006/relationships/image" Target="../media/image365.wmf"/><Relationship Id="rId1" Type="http://schemas.openxmlformats.org/officeDocument/2006/relationships/image" Target="../media/image364.wmf"/><Relationship Id="rId5" Type="http://schemas.openxmlformats.org/officeDocument/2006/relationships/image" Target="../media/image368.wmf"/><Relationship Id="rId4" Type="http://schemas.openxmlformats.org/officeDocument/2006/relationships/image" Target="../media/image367.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372.wmf"/><Relationship Id="rId2" Type="http://schemas.openxmlformats.org/officeDocument/2006/relationships/image" Target="../media/image371.wmf"/><Relationship Id="rId1" Type="http://schemas.openxmlformats.org/officeDocument/2006/relationships/image" Target="../media/image370.wmf"/></Relationships>
</file>

<file path=ppt/drawings/_rels/vmlDrawing78.vml.rels><?xml version="1.0" encoding="UTF-8" standalone="yes"?>
<Relationships xmlns="http://schemas.openxmlformats.org/package/2006/relationships"><Relationship Id="rId8" Type="http://schemas.openxmlformats.org/officeDocument/2006/relationships/image" Target="../media/image380.wmf"/><Relationship Id="rId3" Type="http://schemas.openxmlformats.org/officeDocument/2006/relationships/image" Target="../media/image375.wmf"/><Relationship Id="rId7" Type="http://schemas.openxmlformats.org/officeDocument/2006/relationships/image" Target="../media/image379.wmf"/><Relationship Id="rId2" Type="http://schemas.openxmlformats.org/officeDocument/2006/relationships/image" Target="../media/image374.wmf"/><Relationship Id="rId1" Type="http://schemas.openxmlformats.org/officeDocument/2006/relationships/image" Target="../media/image373.wmf"/><Relationship Id="rId6" Type="http://schemas.openxmlformats.org/officeDocument/2006/relationships/image" Target="../media/image378.wmf"/><Relationship Id="rId5" Type="http://schemas.openxmlformats.org/officeDocument/2006/relationships/image" Target="../media/image377.wmf"/><Relationship Id="rId4" Type="http://schemas.openxmlformats.org/officeDocument/2006/relationships/image" Target="../media/image376.wmf"/><Relationship Id="rId9" Type="http://schemas.openxmlformats.org/officeDocument/2006/relationships/image" Target="../media/image381.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384.wmf"/><Relationship Id="rId2" Type="http://schemas.openxmlformats.org/officeDocument/2006/relationships/image" Target="../media/image383.wmf"/><Relationship Id="rId1" Type="http://schemas.openxmlformats.org/officeDocument/2006/relationships/image" Target="../media/image382.wmf"/><Relationship Id="rId5" Type="http://schemas.openxmlformats.org/officeDocument/2006/relationships/image" Target="../media/image386.wmf"/><Relationship Id="rId4" Type="http://schemas.openxmlformats.org/officeDocument/2006/relationships/image" Target="../media/image385.w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389.wmf"/><Relationship Id="rId2" Type="http://schemas.openxmlformats.org/officeDocument/2006/relationships/image" Target="../media/image388.wmf"/><Relationship Id="rId1" Type="http://schemas.openxmlformats.org/officeDocument/2006/relationships/image" Target="../media/image387.wmf"/><Relationship Id="rId6" Type="http://schemas.openxmlformats.org/officeDocument/2006/relationships/image" Target="../media/image392.wmf"/><Relationship Id="rId5" Type="http://schemas.openxmlformats.org/officeDocument/2006/relationships/image" Target="../media/image391.wmf"/><Relationship Id="rId4" Type="http://schemas.openxmlformats.org/officeDocument/2006/relationships/image" Target="../media/image390.w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353.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393.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396.wmf"/><Relationship Id="rId2" Type="http://schemas.openxmlformats.org/officeDocument/2006/relationships/image" Target="../media/image395.wmf"/><Relationship Id="rId1" Type="http://schemas.openxmlformats.org/officeDocument/2006/relationships/image" Target="../media/image394.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399.wmf"/><Relationship Id="rId2" Type="http://schemas.openxmlformats.org/officeDocument/2006/relationships/image" Target="../media/image398.wmf"/><Relationship Id="rId1" Type="http://schemas.openxmlformats.org/officeDocument/2006/relationships/image" Target="../media/image397.wmf"/></Relationships>
</file>

<file path=ppt/drawings/_rels/vmlDrawing85.vml.rels><?xml version="1.0" encoding="UTF-8" standalone="yes"?>
<Relationships xmlns="http://schemas.openxmlformats.org/package/2006/relationships"><Relationship Id="rId2" Type="http://schemas.openxmlformats.org/officeDocument/2006/relationships/image" Target="../media/image401.wmf"/><Relationship Id="rId1" Type="http://schemas.openxmlformats.org/officeDocument/2006/relationships/image" Target="../media/image400.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404.wmf"/><Relationship Id="rId2" Type="http://schemas.openxmlformats.org/officeDocument/2006/relationships/image" Target="../media/image403.wmf"/><Relationship Id="rId1" Type="http://schemas.openxmlformats.org/officeDocument/2006/relationships/image" Target="../media/image40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290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127FEE68-72BF-4F24-BE65-B743EB73486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A35F8313-662D-4AFA-9278-1480DECE3A76}" type="slidenum">
              <a:rPr lang="en-US" altLang="zh-CN" smtClean="0">
                <a:ea typeface="宋体" charset="-122"/>
              </a:rPr>
              <a:pPr/>
              <a:t>2</a:t>
            </a:fld>
            <a:endParaRPr lang="en-US" altLang="zh-CN" smtClean="0">
              <a:ea typeface="宋体" charset="-122"/>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lnSpc>
                <a:spcPct val="120000"/>
              </a:lnSpc>
              <a:spcBef>
                <a:spcPct val="0"/>
              </a:spcBef>
            </a:pPr>
            <a:r>
              <a:rPr lang="zh-CN" altLang="en-US" smtClean="0">
                <a:ea typeface="宋体" charset="-122"/>
              </a:rPr>
              <a:t>从分子运动的基本概念出发，采用</a:t>
            </a:r>
            <a:r>
              <a:rPr lang="zh-CN" altLang="en-US" smtClean="0">
                <a:solidFill>
                  <a:srgbClr val="FF6600"/>
                </a:solidFill>
                <a:ea typeface="宋体" charset="-122"/>
              </a:rPr>
              <a:t>统计方法</a:t>
            </a:r>
            <a:r>
              <a:rPr lang="zh-CN" altLang="en-US" smtClean="0">
                <a:ea typeface="宋体" charset="-122"/>
              </a:rPr>
              <a:t>，求出大量分子运动的某些微观量的统计平均值，才能</a:t>
            </a:r>
            <a:r>
              <a:rPr lang="zh-CN" altLang="en-US" smtClean="0">
                <a:solidFill>
                  <a:srgbClr val="FF6600"/>
                </a:solidFill>
                <a:ea typeface="宋体" charset="-122"/>
              </a:rPr>
              <a:t>确定宏观量与微观量间的联系</a:t>
            </a:r>
            <a:r>
              <a:rPr lang="zh-CN" altLang="en-US" smtClean="0">
                <a:ea typeface="宋体" charset="-122"/>
              </a:rPr>
              <a:t>，并进一步找到分子热运动遵守的统计规律，从而</a:t>
            </a:r>
            <a:r>
              <a:rPr lang="zh-CN" altLang="en-US" smtClean="0">
                <a:solidFill>
                  <a:srgbClr val="FF6600"/>
                </a:solidFill>
                <a:ea typeface="宋体" charset="-122"/>
              </a:rPr>
              <a:t>解释与揭示宏观热现象的微观本质</a:t>
            </a:r>
            <a:r>
              <a:rPr lang="zh-CN" altLang="en-US" smtClean="0">
                <a:ea typeface="宋体" charset="-122"/>
              </a:rPr>
              <a:t>。</a:t>
            </a:r>
          </a:p>
          <a:p>
            <a:pPr eaLnBrk="1" hangingPunct="1"/>
            <a:endParaRPr lang="en-US" altLang="zh-CN"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4D9BB4B0-FDAA-4CC2-9973-7F92AC75F286}" type="slidenum">
              <a:rPr lang="en-US" altLang="zh-CN" smtClean="0">
                <a:ea typeface="宋体" charset="-122"/>
              </a:rPr>
              <a:pPr/>
              <a:t>5</a:t>
            </a:fld>
            <a:endParaRPr lang="en-US" altLang="zh-CN" smtClean="0">
              <a:ea typeface="宋体" charset="-122"/>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altLang="zh-CN" smtClean="0">
                <a:ea typeface="宋体" charset="-122"/>
              </a:rPr>
              <a:t>1826</a:t>
            </a:r>
            <a:r>
              <a:rPr lang="zh-CN" altLang="en-US" smtClean="0">
                <a:ea typeface="宋体" charset="-122"/>
              </a:rPr>
              <a:t>年，英国植物学家布朗用显微镜观察悬浮在水中的花粉时发现的，后来把悬浮微粒的这种运动叫布朗运动。这成为运动论和统计力学发展的基础。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F2FB7302-2634-4D75-BED4-9C3EEA50992E}" type="slidenum">
              <a:rPr lang="en-US" altLang="zh-CN" smtClean="0">
                <a:ea typeface="宋体" charset="-122"/>
              </a:rPr>
              <a:pPr/>
              <a:t>7</a:t>
            </a:fld>
            <a:endParaRPr lang="en-US" altLang="zh-CN" smtClean="0">
              <a:ea typeface="宋体" charset="-122"/>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spcBef>
                <a:spcPct val="0"/>
              </a:spcBef>
            </a:pPr>
            <a:r>
              <a:rPr kumimoji="1" lang="en-US" altLang="zh-CN" smtClean="0">
                <a:solidFill>
                  <a:srgbClr val="FF0000"/>
                </a:solidFill>
                <a:ea typeface="宋体" charset="-122"/>
              </a:rPr>
              <a:t>       </a:t>
            </a:r>
            <a:r>
              <a:rPr kumimoji="1" lang="zh-CN" altLang="en-US" smtClean="0">
                <a:solidFill>
                  <a:srgbClr val="FF0000"/>
                </a:solidFill>
                <a:ea typeface="宋体" charset="-122"/>
              </a:rPr>
              <a:t>对于气体而言，其分子间的距离大约是分子本身线度的十倍左右，远大于同一物质在固态和液态时分子间的距离．在这种距离上，气体分子间的相互作用力已十分微弱，气体分子除相互碰撞瞬间外可以看作是不受外力作用的自由运动． </a:t>
            </a:r>
          </a:p>
          <a:p>
            <a:pPr eaLnBrk="1" hangingPunct="1"/>
            <a:endParaRPr lang="en-US" altLang="zh-CN"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5B2DAEB1-4EF8-45C9-B17F-4A68E671600F}" type="slidenum">
              <a:rPr lang="en-US" altLang="zh-CN" smtClean="0">
                <a:ea typeface="宋体" charset="-122"/>
              </a:rPr>
              <a:pPr/>
              <a:t>8</a:t>
            </a:fld>
            <a:endParaRPr lang="en-US" altLang="zh-CN" smtClean="0">
              <a:ea typeface="宋体" charset="-122"/>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spcBef>
                <a:spcPct val="0"/>
              </a:spcBef>
            </a:pPr>
            <a:endParaRPr lang="zh-CN" altLang="en-US"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AB9B08B3-86B9-4520-BD9E-C9B746BBE597}" type="slidenum">
              <a:rPr lang="en-US" altLang="zh-CN" smtClean="0">
                <a:ea typeface="宋体" charset="-122"/>
              </a:rPr>
              <a:pPr/>
              <a:t>10</a:t>
            </a:fld>
            <a:endParaRPr lang="en-US" altLang="zh-CN" smtClean="0">
              <a:ea typeface="宋体" charset="-122"/>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r>
              <a:rPr kumimoji="1" lang="zh-CN" altLang="en-US" smtClean="0">
                <a:ea typeface="宋体" charset="-122"/>
              </a:rPr>
              <a:t>当大量偶然事件的数目极大时，个别事件的偶然性和其自身所遵从的规律退居次要地位，</a:t>
            </a:r>
            <a:r>
              <a:rPr kumimoji="1" lang="zh-CN" altLang="en-US" smtClean="0">
                <a:solidFill>
                  <a:srgbClr val="FF0000"/>
                </a:solidFill>
                <a:ea typeface="宋体" charset="-122"/>
              </a:rPr>
              <a:t>大量事件整体服从统计规律</a:t>
            </a:r>
            <a:r>
              <a:rPr kumimoji="1" lang="zh-CN" altLang="en-US" smtClean="0">
                <a:ea typeface="宋体" charset="-122"/>
              </a:rPr>
              <a:t>。统计规律不同于以往的必然规律。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ED2C719B-FABA-42B6-877E-91D3F6DBA433}" type="slidenum">
              <a:rPr lang="en-US" altLang="zh-CN" smtClean="0">
                <a:ea typeface="宋体" charset="-122"/>
              </a:rPr>
              <a:pPr/>
              <a:t>11</a:t>
            </a:fld>
            <a:endParaRPr lang="en-US" altLang="zh-CN" smtClean="0">
              <a:ea typeface="宋体" charset="-122"/>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pPr eaLnBrk="1" hangingPunct="1">
              <a:lnSpc>
                <a:spcPct val="120000"/>
              </a:lnSpc>
              <a:spcBef>
                <a:spcPct val="0"/>
              </a:spcBef>
            </a:pPr>
            <a:r>
              <a:rPr lang="zh-CN" altLang="en-US" smtClean="0">
                <a:ea typeface="宋体" charset="-122"/>
              </a:rPr>
              <a:t>例如在伽耳顿板中，如果依次改变漏斗口位置、铁钉分布，则对应的分布曲线将随之改变．但不管系统所处条件怎样改变，足够多的小球在小槽内的分布都服从一定的统计规律性。</a:t>
            </a:r>
          </a:p>
          <a:p>
            <a:pPr eaLnBrk="1" hangingPunct="1"/>
            <a:endParaRPr lang="en-US" altLang="zh-CN"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BF6546C6-0D23-4164-A14D-991AEEAB5C04}" type="slidenum">
              <a:rPr lang="en-US" altLang="zh-CN" smtClean="0">
                <a:ea typeface="宋体" charset="-122"/>
              </a:rPr>
              <a:pPr/>
              <a:t>16</a:t>
            </a:fld>
            <a:endParaRPr lang="en-US" altLang="zh-CN" smtClean="0">
              <a:ea typeface="宋体" charset="-122"/>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pPr eaLnBrk="1" hangingPunct="1"/>
            <a:r>
              <a:rPr lang="zh-CN" altLang="en-US" b="1" smtClean="0">
                <a:ea typeface="宋体" charset="-122"/>
              </a:rPr>
              <a:t>系统的宏观状态指的是气体分子数在某一状态区间内的一组分布。</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D89F520B-311A-40EF-BB82-C98191C69A29}" type="slidenum">
              <a:rPr lang="en-US" altLang="zh-CN" smtClean="0">
                <a:ea typeface="宋体" charset="-122"/>
              </a:rPr>
              <a:pPr/>
              <a:t>30</a:t>
            </a:fld>
            <a:endParaRPr lang="en-US" altLang="zh-CN" smtClean="0">
              <a:ea typeface="宋体" charset="-122"/>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pPr eaLnBrk="1" hangingPunct="1"/>
            <a:endParaRPr lang="zh-CN" altLang="zh-CN" smtClean="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0E1513DE-D32E-4F1C-A269-80B37326CDE6}" type="slidenum">
              <a:rPr lang="en-US" altLang="zh-CN" smtClean="0">
                <a:ea typeface="宋体" charset="-122"/>
              </a:rPr>
              <a:pPr/>
              <a:t>37</a:t>
            </a:fld>
            <a:endParaRPr lang="en-US" altLang="zh-CN" smtClean="0">
              <a:ea typeface="宋体" charset="-122"/>
            </a:endParaRPr>
          </a:p>
        </p:txBody>
      </p:sp>
      <p:sp>
        <p:nvSpPr>
          <p:cNvPr id="138243" name="Rectangle 2"/>
          <p:cNvSpPr>
            <a:spLocks noGrp="1" noRot="1" noChangeAspect="1" noChangeArrowheads="1" noTextEdit="1"/>
          </p:cNvSpPr>
          <p:nvPr>
            <p:ph type="sldImg"/>
          </p:nvPr>
        </p:nvSpPr>
        <p:spPr>
          <a:ln/>
        </p:spPr>
      </p:sp>
      <p:sp>
        <p:nvSpPr>
          <p:cNvPr id="258051" name="Rectangle 3"/>
          <p:cNvSpPr>
            <a:spLocks noGrp="1" noChangeArrowheads="1"/>
          </p:cNvSpPr>
          <p:nvPr>
            <p:ph type="body" idx="1"/>
          </p:nvPr>
        </p:nvSpPr>
        <p:spPr/>
        <p:txBody>
          <a:bodyPr/>
          <a:lstStyle/>
          <a:p>
            <a:pPr eaLnBrk="1" hangingPunct="1">
              <a:spcBef>
                <a:spcPct val="0"/>
              </a:spcBef>
              <a:defRPr/>
            </a:pPr>
            <a:r>
              <a:rPr kumimoji="1" lang="zh-CN" altLang="en-US" smtClean="0">
                <a:effectLst>
                  <a:outerShdw blurRad="38100" dist="38100" dir="2700000" algn="tl">
                    <a:srgbClr val="C0C0C0"/>
                  </a:outerShdw>
                </a:effectLst>
              </a:rPr>
              <a:t>从理想气体压强公式推导出了道尔顿分压定律这一实验定律，这也</a:t>
            </a:r>
            <a:r>
              <a:rPr kumimoji="1" lang="zh-CN" altLang="en-US" smtClean="0">
                <a:solidFill>
                  <a:srgbClr val="FF6600"/>
                </a:solidFill>
                <a:effectLst>
                  <a:outerShdw blurRad="38100" dist="38100" dir="2700000" algn="tl">
                    <a:srgbClr val="C0C0C0"/>
                  </a:outerShdw>
                </a:effectLst>
              </a:rPr>
              <a:t>间接证明</a:t>
            </a:r>
            <a:r>
              <a:rPr kumimoji="1" lang="zh-CN" altLang="en-US" smtClean="0">
                <a:effectLst>
                  <a:outerShdw blurRad="38100" dist="38100" dir="2700000" algn="tl">
                    <a:srgbClr val="C0C0C0"/>
                  </a:outerShdw>
                </a:effectLst>
              </a:rPr>
              <a:t>了理想气体压强公式的正确性．</a:t>
            </a:r>
            <a:r>
              <a:rPr kumimoji="1" lang="zh-CN" altLang="en-US" smtClean="0"/>
              <a:t> </a:t>
            </a:r>
          </a:p>
          <a:p>
            <a:pPr eaLnBrk="1" hangingPunct="1">
              <a:defRPr/>
            </a:pPr>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4AAA011C-A0EE-481F-A69B-EE1375F2B8C1}" type="slidenum">
              <a:rPr lang="en-US" altLang="zh-CN" smtClean="0">
                <a:ea typeface="宋体" charset="-122"/>
              </a:rPr>
              <a:pPr/>
              <a:t>38</a:t>
            </a:fld>
            <a:endParaRPr lang="en-US" altLang="zh-CN" smtClean="0">
              <a:ea typeface="宋体" charset="-122"/>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pPr eaLnBrk="1" hangingPunct="1"/>
            <a:endParaRPr lang="zh-CN" altLang="zh-CN"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5BB0BAD6-9476-4BB6-BF19-4F16D0EBD7AE}" type="slidenum">
              <a:rPr lang="en-US" altLang="zh-CN" smtClean="0">
                <a:ea typeface="宋体" charset="-122"/>
              </a:rPr>
              <a:pPr/>
              <a:t>40</a:t>
            </a:fld>
            <a:endParaRPr lang="en-US" altLang="zh-CN" smtClean="0">
              <a:ea typeface="宋体" charset="-122"/>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pPr eaLnBrk="1" hangingPunct="1">
              <a:lnSpc>
                <a:spcPct val="115000"/>
              </a:lnSpc>
              <a:spcBef>
                <a:spcPct val="0"/>
              </a:spcBef>
            </a:pPr>
            <a:r>
              <a:rPr lang="en-US" altLang="zh-CN" smtClean="0">
                <a:ea typeface="宋体" charset="-122"/>
              </a:rPr>
              <a:t>    </a:t>
            </a:r>
            <a:r>
              <a:rPr lang="zh-CN" altLang="en-US" smtClean="0">
                <a:ea typeface="宋体" charset="-122"/>
              </a:rPr>
              <a:t>在讨论分子热运动时，除</a:t>
            </a:r>
            <a:r>
              <a:rPr lang="zh-CN" altLang="en-US" smtClean="0">
                <a:solidFill>
                  <a:srgbClr val="FF6600"/>
                </a:solidFill>
                <a:ea typeface="宋体" charset="-122"/>
              </a:rPr>
              <a:t>单原子分子</a:t>
            </a:r>
            <a:r>
              <a:rPr lang="zh-CN" altLang="en-US" smtClean="0">
                <a:ea typeface="宋体" charset="-122"/>
              </a:rPr>
              <a:t>外，一般分子的运动并不限于</a:t>
            </a:r>
            <a:r>
              <a:rPr lang="zh-CN" altLang="en-US" smtClean="0">
                <a:solidFill>
                  <a:srgbClr val="FF6600"/>
                </a:solidFill>
                <a:ea typeface="宋体" charset="-122"/>
              </a:rPr>
              <a:t>平动</a:t>
            </a:r>
            <a:r>
              <a:rPr lang="zh-CN" altLang="en-US" smtClean="0">
                <a:ea typeface="宋体" charset="-122"/>
              </a:rPr>
              <a:t>，还有</a:t>
            </a:r>
            <a:r>
              <a:rPr lang="zh-CN" altLang="en-US" smtClean="0">
                <a:solidFill>
                  <a:srgbClr val="FF6600"/>
                </a:solidFill>
                <a:ea typeface="宋体" charset="-122"/>
              </a:rPr>
              <a:t>转动</a:t>
            </a:r>
            <a:r>
              <a:rPr lang="zh-CN" altLang="en-US" smtClean="0">
                <a:ea typeface="宋体" charset="-122"/>
              </a:rPr>
              <a:t>和分子内原子的</a:t>
            </a:r>
            <a:r>
              <a:rPr lang="zh-CN" altLang="en-US" smtClean="0">
                <a:solidFill>
                  <a:srgbClr val="FF6600"/>
                </a:solidFill>
                <a:ea typeface="宋体" charset="-122"/>
              </a:rPr>
              <a:t>振动</a:t>
            </a:r>
            <a:r>
              <a:rPr lang="zh-CN" altLang="en-US" smtClean="0">
                <a:ea typeface="宋体" charset="-122"/>
              </a:rPr>
              <a:t>。为了确定分子的各种运动形式运动能量的统计规律，需要引入自由度  </a:t>
            </a:r>
            <a:r>
              <a:rPr lang="en-US" altLang="zh-CN" smtClean="0">
                <a:ea typeface="宋体" charset="-122"/>
              </a:rPr>
              <a:t>( </a:t>
            </a:r>
            <a:r>
              <a:rPr lang="en-US" altLang="zh-CN" smtClean="0">
                <a:solidFill>
                  <a:srgbClr val="990099"/>
                </a:solidFill>
                <a:ea typeface="宋体" charset="-122"/>
              </a:rPr>
              <a:t>degree of freedom</a:t>
            </a:r>
            <a:r>
              <a:rPr lang="en-US" altLang="zh-CN" smtClean="0">
                <a:ea typeface="宋体" charset="-122"/>
              </a:rPr>
              <a:t> ) </a:t>
            </a:r>
            <a:r>
              <a:rPr lang="zh-CN" altLang="en-US" smtClean="0">
                <a:ea typeface="宋体" charset="-122"/>
              </a:rPr>
              <a:t>的概念。</a:t>
            </a:r>
          </a:p>
          <a:p>
            <a:pPr eaLnBrk="1" hangingPunct="1">
              <a:lnSpc>
                <a:spcPct val="115000"/>
              </a:lnSpc>
              <a:spcBef>
                <a:spcPct val="0"/>
              </a:spcBef>
            </a:pPr>
            <a:r>
              <a:rPr lang="zh-CN" altLang="en-US" smtClean="0">
                <a:solidFill>
                  <a:schemeClr val="bg1"/>
                </a:solidFill>
                <a:ea typeface="宋体" charset="-122"/>
              </a:rPr>
              <a:t>      如果一个质点在空间自由运动，它的位置需要三个坐标，如</a:t>
            </a:r>
            <a:r>
              <a:rPr lang="zh-CN" altLang="en-US" smtClean="0">
                <a:solidFill>
                  <a:srgbClr val="FF6600"/>
                </a:solidFill>
                <a:ea typeface="宋体" charset="-122"/>
              </a:rPr>
              <a:t> </a:t>
            </a:r>
            <a:r>
              <a:rPr lang="en-US" altLang="zh-CN" i="1" smtClean="0">
                <a:solidFill>
                  <a:srgbClr val="FF6600"/>
                </a:solidFill>
                <a:ea typeface="宋体" charset="-122"/>
              </a:rPr>
              <a:t>x </a:t>
            </a:r>
            <a:r>
              <a:rPr lang="zh-CN" altLang="en-US" i="1" smtClean="0">
                <a:solidFill>
                  <a:schemeClr val="bg1"/>
                </a:solidFill>
                <a:ea typeface="宋体" charset="-122"/>
              </a:rPr>
              <a:t>、</a:t>
            </a:r>
            <a:r>
              <a:rPr lang="en-US" altLang="zh-CN" i="1" smtClean="0">
                <a:solidFill>
                  <a:srgbClr val="FF6600"/>
                </a:solidFill>
                <a:ea typeface="宋体" charset="-122"/>
              </a:rPr>
              <a:t>y </a:t>
            </a:r>
            <a:r>
              <a:rPr lang="zh-CN" altLang="en-US" i="1" smtClean="0">
                <a:solidFill>
                  <a:schemeClr val="bg1"/>
                </a:solidFill>
                <a:ea typeface="宋体" charset="-122"/>
              </a:rPr>
              <a:t>、 </a:t>
            </a:r>
            <a:r>
              <a:rPr lang="en-US" altLang="zh-CN" i="1" smtClean="0">
                <a:solidFill>
                  <a:srgbClr val="FF6600"/>
                </a:solidFill>
                <a:ea typeface="宋体" charset="-122"/>
              </a:rPr>
              <a:t>z </a:t>
            </a:r>
            <a:r>
              <a:rPr lang="zh-CN" altLang="en-US" smtClean="0">
                <a:solidFill>
                  <a:schemeClr val="bg1"/>
                </a:solidFill>
                <a:ea typeface="宋体" charset="-122"/>
              </a:rPr>
              <a:t>来决定，所以</a:t>
            </a:r>
            <a:r>
              <a:rPr lang="zh-CN" altLang="en-US" smtClean="0">
                <a:solidFill>
                  <a:srgbClr val="009900"/>
                </a:solidFill>
                <a:ea typeface="宋体" charset="-122"/>
              </a:rPr>
              <a:t>这个质点有三个自由度</a:t>
            </a:r>
            <a:r>
              <a:rPr lang="zh-CN" altLang="en-US" smtClean="0">
                <a:solidFill>
                  <a:schemeClr val="bg1"/>
                </a:solidFill>
                <a:ea typeface="宋体" charset="-122"/>
              </a:rPr>
              <a:t>。</a:t>
            </a:r>
            <a:endParaRPr lang="zh-CN" altLang="en-US" smtClean="0">
              <a:ea typeface="宋体" charset="-122"/>
            </a:endParaRPr>
          </a:p>
          <a:p>
            <a:pPr eaLnBrk="1" hangingPunct="1"/>
            <a:endParaRPr lang="en-US" altLang="zh-CN" smtClean="0">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6FC8BA8F-88D4-4369-8098-646C4FC79169}" type="slidenum">
              <a:rPr lang="en-US" altLang="zh-CN" smtClean="0">
                <a:ea typeface="宋体" charset="-122"/>
              </a:rPr>
              <a:pPr/>
              <a:t>41</a:t>
            </a:fld>
            <a:endParaRPr lang="en-US" altLang="zh-CN" smtClean="0">
              <a:ea typeface="宋体" charset="-122"/>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zh-CN" altLang="zh-CN" smtClean="0">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0DC31F0A-817A-432A-90BF-D650D59154EF}" type="slidenum">
              <a:rPr lang="en-US" altLang="zh-CN" smtClean="0">
                <a:ea typeface="宋体" charset="-122"/>
              </a:rPr>
              <a:pPr/>
              <a:t>58</a:t>
            </a:fld>
            <a:endParaRPr lang="en-US" altLang="zh-CN" smtClean="0">
              <a:ea typeface="宋体" charset="-122"/>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kumimoji="1" lang="zh-CN" altLang="zh-CN" b="1" smtClean="0">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ED1EE0A0-4821-4B5C-ABE2-0D4EBCDB4F70}" type="slidenum">
              <a:rPr lang="en-US" altLang="zh-CN" smtClean="0">
                <a:ea typeface="宋体" charset="-122"/>
              </a:rPr>
              <a:pPr/>
              <a:t>71</a:t>
            </a:fld>
            <a:endParaRPr lang="en-US" altLang="zh-CN" smtClean="0">
              <a:ea typeface="宋体" charset="-122"/>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pPr eaLnBrk="1" hangingPunct="1"/>
            <a:endParaRPr lang="zh-CN" altLang="zh-CN" smtClean="0">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a:ln/>
        </p:spPr>
        <p:txBody>
          <a:bodyPr/>
          <a:lstStyle/>
          <a:p>
            <a:endParaRPr kumimoji="1" lang="zh-CN" altLang="en-US" b="1" smtClean="0">
              <a:solidFill>
                <a:srgbClr val="FFFF00"/>
              </a:solidFill>
              <a:ea typeface="宋体" charset="-122"/>
            </a:endParaRPr>
          </a:p>
        </p:txBody>
      </p:sp>
      <p:sp>
        <p:nvSpPr>
          <p:cNvPr id="144388" name="灯片编号占位符 3"/>
          <p:cNvSpPr>
            <a:spLocks noGrp="1"/>
          </p:cNvSpPr>
          <p:nvPr>
            <p:ph type="sldNum" sz="quarter" idx="5"/>
          </p:nvPr>
        </p:nvSpPr>
        <p:spPr>
          <a:noFill/>
        </p:spPr>
        <p:txBody>
          <a:bodyPr/>
          <a:lstStyle/>
          <a:p>
            <a:fld id="{284FF303-3CD1-44AD-B0CD-40164CCCE7CB}" type="slidenum">
              <a:rPr lang="en-US" altLang="zh-CN" smtClean="0">
                <a:ea typeface="宋体" charset="-122"/>
              </a:rPr>
              <a:pPr/>
              <a:t>100</a:t>
            </a:fld>
            <a:endParaRPr lang="en-US" altLang="zh-CN" smtClean="0">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E16A50D1-C7E6-4EDD-BF74-C0D76CD59B4F}" type="slidenum">
              <a:rPr lang="en-US" altLang="zh-CN" smtClean="0">
                <a:ea typeface="宋体" charset="-122"/>
              </a:rPr>
              <a:pPr/>
              <a:t>102</a:t>
            </a:fld>
            <a:endParaRPr lang="en-US" altLang="zh-CN" smtClean="0">
              <a:ea typeface="宋体" charset="-122"/>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a:lnSpc>
                <a:spcPct val="120000"/>
              </a:lnSpc>
              <a:spcBef>
                <a:spcPct val="0"/>
              </a:spcBef>
            </a:pPr>
            <a:r>
              <a:rPr lang="zh-CN" altLang="en-US" b="1" smtClean="0">
                <a:ea typeface="宋体" charset="-122"/>
              </a:rPr>
              <a:t>热力学第二定律指出，实际的热力学过程不可逆性的。这说明过程初态和终态间应有一种重要性质上的</a:t>
            </a:r>
            <a:r>
              <a:rPr lang="zh-CN" altLang="en-US" b="1" smtClean="0">
                <a:solidFill>
                  <a:srgbClr val="FF6600"/>
                </a:solidFill>
                <a:ea typeface="宋体" charset="-122"/>
              </a:rPr>
              <a:t>差异</a:t>
            </a:r>
            <a:r>
              <a:rPr lang="zh-CN" altLang="en-US" b="1" smtClean="0">
                <a:ea typeface="宋体" charset="-122"/>
              </a:rPr>
              <a:t>，这种性质应该可以用一</a:t>
            </a:r>
            <a:r>
              <a:rPr lang="zh-CN" altLang="en-US" b="1" smtClean="0">
                <a:solidFill>
                  <a:srgbClr val="FF0000"/>
                </a:solidFill>
                <a:ea typeface="宋体" charset="-122"/>
              </a:rPr>
              <a:t>物理量</a:t>
            </a:r>
            <a:r>
              <a:rPr lang="zh-CN" altLang="en-US" b="1" smtClean="0">
                <a:ea typeface="宋体" charset="-122"/>
              </a:rPr>
              <a:t>来描述，该物理量应是</a:t>
            </a:r>
            <a:r>
              <a:rPr lang="zh-CN" altLang="en-US" b="1" smtClean="0">
                <a:solidFill>
                  <a:srgbClr val="FF0000"/>
                </a:solidFill>
                <a:ea typeface="宋体" charset="-122"/>
              </a:rPr>
              <a:t>状态的函数</a:t>
            </a:r>
            <a:r>
              <a:rPr lang="zh-CN" altLang="en-US" b="1" smtClean="0">
                <a:ea typeface="宋体" charset="-122"/>
              </a:rPr>
              <a:t>，并能用这个函数的变化来说明和判断系统过程的方向。</a:t>
            </a:r>
          </a:p>
          <a:p>
            <a:pPr>
              <a:lnSpc>
                <a:spcPct val="120000"/>
              </a:lnSpc>
              <a:spcBef>
                <a:spcPct val="0"/>
              </a:spcBef>
            </a:pPr>
            <a:r>
              <a:rPr lang="zh-CN" altLang="en-US" smtClean="0">
                <a:solidFill>
                  <a:srgbClr val="FF3300"/>
                </a:solidFill>
                <a:ea typeface="宋体" charset="-122"/>
              </a:rPr>
              <a:t>玻尔兹曼熵公式</a:t>
            </a:r>
            <a:r>
              <a:rPr lang="zh-CN" altLang="en-US" smtClean="0">
                <a:ea typeface="宋体" charset="-122"/>
              </a:rPr>
              <a:t>建立了</a:t>
            </a:r>
            <a:r>
              <a:rPr lang="zh-CN" altLang="en-US" smtClean="0">
                <a:solidFill>
                  <a:srgbClr val="008000"/>
                </a:solidFill>
                <a:ea typeface="宋体" charset="-122"/>
              </a:rPr>
              <a:t>宏观量熵</a:t>
            </a:r>
            <a:r>
              <a:rPr lang="zh-CN" altLang="en-US" smtClean="0">
                <a:ea typeface="宋体" charset="-122"/>
              </a:rPr>
              <a:t>与</a:t>
            </a:r>
            <a:r>
              <a:rPr lang="zh-CN" altLang="en-US" smtClean="0">
                <a:solidFill>
                  <a:srgbClr val="008000"/>
                </a:solidFill>
                <a:ea typeface="宋体" charset="-122"/>
              </a:rPr>
              <a:t>微观量热力学概率</a:t>
            </a:r>
            <a:r>
              <a:rPr lang="zh-CN" altLang="en-US" smtClean="0">
                <a:ea typeface="宋体" charset="-122"/>
              </a:rPr>
              <a:t>之间的等价关系，因而具有重要的理论价值。</a:t>
            </a:r>
            <a:endParaRPr lang="zh-CN" altLang="en-US" smtClean="0">
              <a:solidFill>
                <a:srgbClr val="FF0066"/>
              </a:solidFill>
              <a:ea typeface="宋体" charset="-122"/>
            </a:endParaRPr>
          </a:p>
          <a:p>
            <a:pPr eaLnBrk="1" hangingPunct="1"/>
            <a:endParaRPr lang="en-US" altLang="zh-CN" smtClean="0">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20F3A891-7444-414C-951F-3A2B64EA6BFE}" type="slidenum">
              <a:rPr lang="en-US" altLang="zh-CN" smtClean="0">
                <a:ea typeface="宋体" charset="-122"/>
              </a:rPr>
              <a:pPr/>
              <a:t>103</a:t>
            </a:fld>
            <a:endParaRPr lang="en-US" altLang="zh-CN" smtClean="0">
              <a:ea typeface="宋体" charset="-122"/>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pPr eaLnBrk="1" hangingPunct="1">
              <a:lnSpc>
                <a:spcPct val="115000"/>
              </a:lnSpc>
              <a:spcBef>
                <a:spcPct val="0"/>
              </a:spcBef>
            </a:pPr>
            <a:r>
              <a:rPr kumimoji="1" lang="zh-CN" altLang="en-US" b="1" smtClean="0">
                <a:ea typeface="宋体" charset="-122"/>
              </a:rPr>
              <a:t>熵是一个宏观量</a:t>
            </a:r>
            <a:r>
              <a:rPr lang="zh-CN" altLang="en-US" b="1" smtClean="0">
                <a:ea typeface="宋体" charset="-122"/>
              </a:rPr>
              <a:t>，</a:t>
            </a:r>
            <a:r>
              <a:rPr kumimoji="1" lang="zh-CN" altLang="en-US" b="1" smtClean="0">
                <a:ea typeface="宋体" charset="-122"/>
              </a:rPr>
              <a:t>对大量的分子才有意义。</a:t>
            </a:r>
          </a:p>
          <a:p>
            <a:pPr eaLnBrk="1" hangingPunct="1"/>
            <a:endParaRPr lang="en-US" altLang="zh-CN" smtClean="0">
              <a:ea typeface="宋体"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E148E68E-40C7-4911-A07C-7166147AE565}" type="slidenum">
              <a:rPr lang="en-US" altLang="zh-CN" smtClean="0">
                <a:ea typeface="宋体" charset="-122"/>
              </a:rPr>
              <a:pPr/>
              <a:t>104</a:t>
            </a:fld>
            <a:endParaRPr lang="en-US" altLang="zh-CN" smtClean="0">
              <a:ea typeface="宋体" charset="-122"/>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pPr eaLnBrk="1" hangingPunct="1">
              <a:lnSpc>
                <a:spcPct val="120000"/>
              </a:lnSpc>
              <a:spcBef>
                <a:spcPct val="0"/>
              </a:spcBef>
            </a:pPr>
            <a:r>
              <a:rPr kumimoji="1" lang="zh-CN" altLang="en-US" smtClean="0">
                <a:ea typeface="宋体" charset="-122"/>
              </a:rPr>
              <a:t>对应于热力学系统的任一个平衡态（即宏观态） 都有一个熵值与之对应。</a:t>
            </a:r>
          </a:p>
          <a:p>
            <a:pPr eaLnBrk="1" hangingPunct="1"/>
            <a:endParaRPr lang="en-US" altLang="zh-CN" smtClean="0">
              <a:ea typeface="宋体"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74D1A645-4FA3-4BBD-88A4-5CEDB9001883}" type="slidenum">
              <a:rPr lang="en-US" altLang="zh-CN" smtClean="0">
                <a:ea typeface="宋体" charset="-122"/>
              </a:rPr>
              <a:pPr/>
              <a:t>108</a:t>
            </a:fld>
            <a:endParaRPr lang="en-US" altLang="zh-CN" smtClean="0">
              <a:ea typeface="宋体" charset="-122"/>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pPr eaLnBrk="1" hangingPunct="1">
              <a:lnSpc>
                <a:spcPct val="115000"/>
              </a:lnSpc>
              <a:spcBef>
                <a:spcPct val="0"/>
              </a:spcBef>
            </a:pPr>
            <a:r>
              <a:rPr kumimoji="1" lang="zh-CN" altLang="en-US" b="1" smtClean="0">
                <a:ea typeface="宋体" charset="-122"/>
              </a:rPr>
              <a:t>熵是一个宏观量</a:t>
            </a:r>
            <a:r>
              <a:rPr lang="zh-CN" altLang="en-US" b="1" smtClean="0">
                <a:ea typeface="宋体" charset="-122"/>
              </a:rPr>
              <a:t>，</a:t>
            </a:r>
            <a:r>
              <a:rPr kumimoji="1" lang="zh-CN" altLang="en-US" b="1" smtClean="0">
                <a:ea typeface="宋体" charset="-122"/>
              </a:rPr>
              <a:t>对大量的分子才有意义。</a:t>
            </a:r>
          </a:p>
          <a:p>
            <a:pPr eaLnBrk="1" hangingPunct="1"/>
            <a:endParaRPr lang="en-US" altLang="zh-CN" smtClean="0">
              <a:ea typeface="宋体"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2989E06B-4643-44C1-9EE2-3744D196EF8B}" type="slidenum">
              <a:rPr lang="en-US" altLang="zh-CN" smtClean="0">
                <a:ea typeface="宋体" charset="-122"/>
              </a:rPr>
              <a:pPr/>
              <a:t>112</a:t>
            </a:fld>
            <a:endParaRPr lang="en-US" altLang="zh-CN" smtClean="0">
              <a:ea typeface="宋体" charset="-122"/>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p:spPr>
        <p:txBody>
          <a:bodyPr/>
          <a:lstStyle/>
          <a:p>
            <a:pPr eaLnBrk="1" hangingPunct="1"/>
            <a:r>
              <a:rPr kumimoji="1" lang="zh-CN" altLang="en-US" b="1" smtClean="0">
                <a:solidFill>
                  <a:srgbClr val="FF0000"/>
                </a:solidFill>
                <a:ea typeface="宋体" charset="-122"/>
              </a:rPr>
              <a:t>玻尔兹曼熵增加的本质也就是克劳修斯熵增加的本质</a:t>
            </a:r>
            <a:r>
              <a:rPr kumimoji="1" lang="zh-CN" altLang="en-US" b="1" smtClean="0">
                <a:ea typeface="宋体" charset="-122"/>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A4B97F1-153F-45D6-8F52-FEA97DB2A144}"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04D7DC7-0530-48A9-ABD9-C77D88683E3D}"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9738882-EA1A-483E-8C2D-084F220C204B}"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E2A8124-764E-4809-BA5A-2E58D0224022}"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4C29ECB-E821-4FFC-A793-4D829B273CF0}"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0402881-4ACD-4149-8539-E4ED6FB450DA}"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DA0DB0B-A5D8-4B97-85AE-1625E2B10B1A}"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F709E5-A592-4BF2-994D-7CB9168A0DDD}"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81F752B-A8F9-4FC1-ADB1-C22060CADE15}"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530C9B6-5D13-4729-9175-B7A124887D00}"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D7090D6-7E55-4EF6-AE23-21D351373ADD}"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8909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a:defRPr/>
            </a:pPr>
            <a:fld id="{47DCE040-4831-4983-ACD0-56230DAAE9F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87.xml"/><Relationship Id="rId3" Type="http://schemas.openxmlformats.org/officeDocument/2006/relationships/slide" Target="slide23.xml"/><Relationship Id="rId7" Type="http://schemas.openxmlformats.org/officeDocument/2006/relationships/slide" Target="slide80.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54.xml"/><Relationship Id="rId5" Type="http://schemas.openxmlformats.org/officeDocument/2006/relationships/slide" Target="slide40.xml"/><Relationship Id="rId4" Type="http://schemas.openxmlformats.org/officeDocument/2006/relationships/slide" Target="slide35.xml"/><Relationship Id="rId9" Type="http://schemas.openxmlformats.org/officeDocument/2006/relationships/slide" Target="slide101.xml"/></Relationships>
</file>

<file path=ppt/slides/_rels/slide4.xml.rels><?xml version="1.0" encoding="UTF-8" standalone="yes"?>
<Relationships xmlns="http://schemas.openxmlformats.org/package/2006/relationships"><Relationship Id="rId3" Type="http://schemas.openxmlformats.org/officeDocument/2006/relationships/hyperlink" Target="../CH8-1.ppt" TargetMode="Externa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oleObject" Target="../embeddings/oleObject2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oleObject" Target="../embeddings/oleObject32.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oleObject" Target="../embeddings/oleObject34.bin"/></Relationships>
</file>

<file path=ppt/slides/_rels/slide22.xml.rels><?xml version="1.0" encoding="UTF-8" standalone="yes"?>
<Relationships xmlns="http://schemas.openxmlformats.org/package/2006/relationships"><Relationship Id="rId2" Type="http://schemas.openxmlformats.org/officeDocument/2006/relationships/hyperlink" Target="&#31532;&#20843;&#31456;.ppt#-1,2,&#24187;&#28783;&#29255; 2"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CH8-2.ppt"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image" Target="../media/image47.g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oleObject" Target="../embeddings/oleObject35.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38.bin"/><Relationship Id="rId5" Type="http://schemas.openxmlformats.org/officeDocument/2006/relationships/oleObject" Target="../embeddings/oleObject37.bin"/><Relationship Id="rId4" Type="http://schemas.openxmlformats.org/officeDocument/2006/relationships/oleObject" Target="../embeddings/oleObject36.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4.bin"/><Relationship Id="rId5" Type="http://schemas.openxmlformats.org/officeDocument/2006/relationships/oleObject" Target="../embeddings/oleObject43.bin"/><Relationship Id="rId4" Type="http://schemas.openxmlformats.org/officeDocument/2006/relationships/oleObject" Target="../embeddings/oleObject42.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 Id="rId9" Type="http://schemas.openxmlformats.org/officeDocument/2006/relationships/oleObject" Target="../embeddings/oleObject61.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oleObject" Target="../embeddings/oleObject63.bin"/><Relationship Id="rId4" Type="http://schemas.openxmlformats.org/officeDocument/2006/relationships/oleObject" Target="../embeddings/oleObject62.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4.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67.bin"/><Relationship Id="rId5" Type="http://schemas.openxmlformats.org/officeDocument/2006/relationships/oleObject" Target="../embeddings/oleObject66.bin"/><Relationship Id="rId4" Type="http://schemas.openxmlformats.org/officeDocument/2006/relationships/oleObject" Target="../embeddings/oleObject65.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oleObject" Target="../embeddings/oleObject70.bin"/><Relationship Id="rId9" Type="http://schemas.openxmlformats.org/officeDocument/2006/relationships/oleObject" Target="../embeddings/oleObject75.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6.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79.bin"/><Relationship Id="rId5" Type="http://schemas.openxmlformats.org/officeDocument/2006/relationships/oleObject" Target="../embeddings/oleObject78.bin"/><Relationship Id="rId4" Type="http://schemas.openxmlformats.org/officeDocument/2006/relationships/oleObject" Target="../embeddings/oleObject77.bin"/></Relationships>
</file>

<file path=ppt/slides/_rels/slide34.xml.rels><?xml version="1.0" encoding="UTF-8" standalone="yes"?>
<Relationships xmlns="http://schemas.openxmlformats.org/package/2006/relationships"><Relationship Id="rId8" Type="http://schemas.openxmlformats.org/officeDocument/2006/relationships/hyperlink" Target="&#31532;&#20843;&#31456;.ppt#-1,2,&#24187;&#28783;&#29255; 2" TargetMode="External"/><Relationship Id="rId3" Type="http://schemas.openxmlformats.org/officeDocument/2006/relationships/oleObject" Target="../embeddings/oleObject81.bin"/><Relationship Id="rId7"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84.bin"/><Relationship Id="rId5" Type="http://schemas.openxmlformats.org/officeDocument/2006/relationships/oleObject" Target="../embeddings/oleObject83.bin"/><Relationship Id="rId4" Type="http://schemas.openxmlformats.org/officeDocument/2006/relationships/oleObject" Target="../embeddings/oleObject82.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hyperlink" Target="../CH8-3.ppt" TargetMode="External"/><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88.bin"/><Relationship Id="rId5" Type="http://schemas.openxmlformats.org/officeDocument/2006/relationships/oleObject" Target="../embeddings/oleObject87.bin"/><Relationship Id="rId10" Type="http://schemas.openxmlformats.org/officeDocument/2006/relationships/oleObject" Target="../embeddings/oleObject92.bin"/><Relationship Id="rId4" Type="http://schemas.openxmlformats.org/officeDocument/2006/relationships/oleObject" Target="../embeddings/oleObject86.bin"/><Relationship Id="rId9" Type="http://schemas.openxmlformats.org/officeDocument/2006/relationships/oleObject" Target="../embeddings/oleObject91.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oleObject" Target="../embeddings/oleObject95.bin"/><Relationship Id="rId4" Type="http://schemas.openxmlformats.org/officeDocument/2006/relationships/oleObject" Target="../embeddings/oleObject94.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00.bin"/><Relationship Id="rId3" Type="http://schemas.openxmlformats.org/officeDocument/2006/relationships/notesSlide" Target="../notesSlides/notesSlide9.xml"/><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98.bin"/><Relationship Id="rId11" Type="http://schemas.openxmlformats.org/officeDocument/2006/relationships/image" Target="../media/image114.jpeg"/><Relationship Id="rId5" Type="http://schemas.openxmlformats.org/officeDocument/2006/relationships/oleObject" Target="../embeddings/oleObject97.bin"/><Relationship Id="rId10" Type="http://schemas.openxmlformats.org/officeDocument/2006/relationships/oleObject" Target="../embeddings/oleObject102.bin"/><Relationship Id="rId4" Type="http://schemas.openxmlformats.org/officeDocument/2006/relationships/oleObject" Target="../embeddings/oleObject96.bin"/><Relationship Id="rId9" Type="http://schemas.openxmlformats.org/officeDocument/2006/relationships/oleObject" Target="../embeddings/oleObject10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notesSlide" Target="../notesSlides/notesSlide10.xml"/><Relationship Id="rId7"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05.bin"/><Relationship Id="rId5" Type="http://schemas.openxmlformats.org/officeDocument/2006/relationships/oleObject" Target="../embeddings/oleObject104.bin"/><Relationship Id="rId10" Type="http://schemas.openxmlformats.org/officeDocument/2006/relationships/oleObject" Target="../embeddings/oleObject109.bin"/><Relationship Id="rId4" Type="http://schemas.openxmlformats.org/officeDocument/2006/relationships/oleObject" Target="../embeddings/oleObject103.bin"/><Relationship Id="rId9" Type="http://schemas.openxmlformats.org/officeDocument/2006/relationships/oleObject" Target="../embeddings/oleObject108.bin"/></Relationships>
</file>

<file path=ppt/slides/_rels/slide3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oleObject" Target="../embeddings/oleObject110.bin"/><Relationship Id="rId7"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13.bin"/><Relationship Id="rId5" Type="http://schemas.openxmlformats.org/officeDocument/2006/relationships/oleObject" Target="../embeddings/oleObject112.bin"/><Relationship Id="rId4" Type="http://schemas.openxmlformats.org/officeDocument/2006/relationships/oleObject" Target="../embeddings/oleObject111.bin"/></Relationships>
</file>

<file path=ppt/slides/_rels/slide40.xml.rels><?xml version="1.0" encoding="UTF-8" standalone="yes"?>
<Relationships xmlns="http://schemas.openxmlformats.org/package/2006/relationships"><Relationship Id="rId3" Type="http://schemas.openxmlformats.org/officeDocument/2006/relationships/hyperlink" Target="../CH8-4.ppt"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28.jpeg"/><Relationship Id="rId4" Type="http://schemas.openxmlformats.org/officeDocument/2006/relationships/image" Target="../media/image127.jpeg"/></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oleObject" Target="../embeddings/oleObject122.bin"/><Relationship Id="rId3" Type="http://schemas.openxmlformats.org/officeDocument/2006/relationships/notesSlide" Target="../notesSlides/notesSlide12.xml"/><Relationship Id="rId7" Type="http://schemas.openxmlformats.org/officeDocument/2006/relationships/oleObject" Target="../embeddings/oleObject117.bin"/><Relationship Id="rId12" Type="http://schemas.openxmlformats.org/officeDocument/2006/relationships/oleObject" Target="../embeddings/oleObject121.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16.bin"/><Relationship Id="rId11" Type="http://schemas.openxmlformats.org/officeDocument/2006/relationships/oleObject" Target="../embeddings/oleObject120.bin"/><Relationship Id="rId5" Type="http://schemas.openxmlformats.org/officeDocument/2006/relationships/oleObject" Target="../embeddings/oleObject115.bin"/><Relationship Id="rId10" Type="http://schemas.openxmlformats.org/officeDocument/2006/relationships/oleObject" Target="../embeddings/oleObject119.bin"/><Relationship Id="rId4" Type="http://schemas.openxmlformats.org/officeDocument/2006/relationships/image" Target="../media/image136.jpeg"/><Relationship Id="rId9" Type="http://schemas.openxmlformats.org/officeDocument/2006/relationships/image" Target="../media/image13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23.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26.bin"/><Relationship Id="rId5" Type="http://schemas.openxmlformats.org/officeDocument/2006/relationships/oleObject" Target="../embeddings/oleObject125.bin"/><Relationship Id="rId4" Type="http://schemas.openxmlformats.org/officeDocument/2006/relationships/oleObject" Target="../embeddings/oleObject124.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oleObject" Target="../embeddings/oleObject128.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132.bin"/><Relationship Id="rId5" Type="http://schemas.openxmlformats.org/officeDocument/2006/relationships/oleObject" Target="../embeddings/oleObject131.bin"/><Relationship Id="rId4" Type="http://schemas.openxmlformats.org/officeDocument/2006/relationships/oleObject" Target="../embeddings/oleObject130.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36.bin"/><Relationship Id="rId5" Type="http://schemas.openxmlformats.org/officeDocument/2006/relationships/oleObject" Target="../embeddings/oleObject135.bin"/><Relationship Id="rId4" Type="http://schemas.openxmlformats.org/officeDocument/2006/relationships/oleObject" Target="../embeddings/oleObject134.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42.bin"/><Relationship Id="rId3" Type="http://schemas.openxmlformats.org/officeDocument/2006/relationships/oleObject" Target="../embeddings/oleObject137.bin"/><Relationship Id="rId7" Type="http://schemas.openxmlformats.org/officeDocument/2006/relationships/oleObject" Target="../embeddings/oleObject141.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40.bin"/><Relationship Id="rId5" Type="http://schemas.openxmlformats.org/officeDocument/2006/relationships/oleObject" Target="../embeddings/oleObject139.bin"/><Relationship Id="rId4" Type="http://schemas.openxmlformats.org/officeDocument/2006/relationships/oleObject" Target="../embeddings/oleObject138.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43.bin"/><Relationship Id="rId7" Type="http://schemas.openxmlformats.org/officeDocument/2006/relationships/oleObject" Target="../embeddings/oleObject147.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46.bin"/><Relationship Id="rId5" Type="http://schemas.openxmlformats.org/officeDocument/2006/relationships/oleObject" Target="../embeddings/oleObject145.bin"/><Relationship Id="rId4" Type="http://schemas.openxmlformats.org/officeDocument/2006/relationships/oleObject" Target="../embeddings/oleObject14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oleObject" Target="../embeddings/oleObject150.bin"/><Relationship Id="rId4" Type="http://schemas.openxmlformats.org/officeDocument/2006/relationships/oleObject" Target="../embeddings/oleObject149.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slide" Target="slide3.xml"/><Relationship Id="rId3" Type="http://schemas.openxmlformats.org/officeDocument/2006/relationships/oleObject" Target="../embeddings/oleObject151.bin"/><Relationship Id="rId7" Type="http://schemas.openxmlformats.org/officeDocument/2006/relationships/oleObject" Target="../embeddings/oleObject155.bin"/><Relationship Id="rId12" Type="http://schemas.openxmlformats.org/officeDocument/2006/relationships/oleObject" Target="../embeddings/oleObject160.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154.bin"/><Relationship Id="rId11" Type="http://schemas.openxmlformats.org/officeDocument/2006/relationships/oleObject" Target="../embeddings/oleObject159.bin"/><Relationship Id="rId5" Type="http://schemas.openxmlformats.org/officeDocument/2006/relationships/oleObject" Target="../embeddings/oleObject153.bin"/><Relationship Id="rId10" Type="http://schemas.openxmlformats.org/officeDocument/2006/relationships/oleObject" Target="../embeddings/oleObject158.bin"/><Relationship Id="rId4" Type="http://schemas.openxmlformats.org/officeDocument/2006/relationships/oleObject" Target="../embeddings/oleObject152.bin"/><Relationship Id="rId9" Type="http://schemas.openxmlformats.org/officeDocument/2006/relationships/oleObject" Target="../embeddings/oleObject157.bin"/></Relationships>
</file>

<file path=ppt/slides/_rels/slide54.xml.rels><?xml version="1.0" encoding="UTF-8" standalone="yes"?>
<Relationships xmlns="http://schemas.openxmlformats.org/package/2006/relationships"><Relationship Id="rId3" Type="http://schemas.openxmlformats.org/officeDocument/2006/relationships/hyperlink" Target="../CH8-5.ppt" TargetMode="External"/><Relationship Id="rId2" Type="http://schemas.openxmlformats.org/officeDocument/2006/relationships/image" Target="../media/image176.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163.bin"/><Relationship Id="rId5" Type="http://schemas.openxmlformats.org/officeDocument/2006/relationships/oleObject" Target="../embeddings/oleObject162.bin"/><Relationship Id="rId4" Type="http://schemas.openxmlformats.org/officeDocument/2006/relationships/oleObject" Target="../embeddings/oleObject161.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slideLayout" Target="../slideLayouts/slideLayout7.xml"/><Relationship Id="rId1" Type="http://schemas.openxmlformats.org/officeDocument/2006/relationships/vmlDrawing" Target="../drawings/vmlDrawing36.vml"/><Relationship Id="rId5" Type="http://schemas.openxmlformats.org/officeDocument/2006/relationships/oleObject" Target="../embeddings/oleObject166.bin"/><Relationship Id="rId4" Type="http://schemas.openxmlformats.org/officeDocument/2006/relationships/oleObject" Target="../embeddings/oleObject165.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67.bin"/><Relationship Id="rId7"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170.bin"/><Relationship Id="rId5" Type="http://schemas.openxmlformats.org/officeDocument/2006/relationships/oleObject" Target="../embeddings/oleObject169.bin"/><Relationship Id="rId4" Type="http://schemas.openxmlformats.org/officeDocument/2006/relationships/oleObject" Target="../embeddings/oleObject168.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oleObject" Target="../embeddings/oleObject173.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74.bin"/><Relationship Id="rId2" Type="http://schemas.openxmlformats.org/officeDocument/2006/relationships/slideLayout" Target="../slideLayouts/slideLayout7.xml"/><Relationship Id="rId1" Type="http://schemas.openxmlformats.org/officeDocument/2006/relationships/vmlDrawing" Target="../drawings/vmlDrawing39.v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75.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178.bin"/><Relationship Id="rId5" Type="http://schemas.openxmlformats.org/officeDocument/2006/relationships/oleObject" Target="../embeddings/oleObject177.bin"/><Relationship Id="rId4" Type="http://schemas.openxmlformats.org/officeDocument/2006/relationships/oleObject" Target="../embeddings/oleObject176.bin"/></Relationships>
</file>

<file path=ppt/slides/_rels/slide63.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181.bin"/><Relationship Id="rId5" Type="http://schemas.openxmlformats.org/officeDocument/2006/relationships/oleObject" Target="../embeddings/oleObject180.bin"/><Relationship Id="rId4" Type="http://schemas.openxmlformats.org/officeDocument/2006/relationships/oleObject" Target="../embeddings/oleObject179.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82.bin"/><Relationship Id="rId7" Type="http://schemas.openxmlformats.org/officeDocument/2006/relationships/oleObject" Target="../embeddings/oleObject186.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185.bin"/><Relationship Id="rId5" Type="http://schemas.openxmlformats.org/officeDocument/2006/relationships/oleObject" Target="../embeddings/oleObject184.bin"/><Relationship Id="rId4" Type="http://schemas.openxmlformats.org/officeDocument/2006/relationships/oleObject" Target="../embeddings/oleObject183.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92.bin"/><Relationship Id="rId3" Type="http://schemas.openxmlformats.org/officeDocument/2006/relationships/oleObject" Target="../embeddings/oleObject187.bin"/><Relationship Id="rId7" Type="http://schemas.openxmlformats.org/officeDocument/2006/relationships/oleObject" Target="../embeddings/oleObject191.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190.bin"/><Relationship Id="rId5" Type="http://schemas.openxmlformats.org/officeDocument/2006/relationships/oleObject" Target="../embeddings/oleObject189.bin"/><Relationship Id="rId10" Type="http://schemas.openxmlformats.org/officeDocument/2006/relationships/oleObject" Target="../embeddings/oleObject194.bin"/><Relationship Id="rId4" Type="http://schemas.openxmlformats.org/officeDocument/2006/relationships/oleObject" Target="../embeddings/oleObject188.bin"/><Relationship Id="rId9" Type="http://schemas.openxmlformats.org/officeDocument/2006/relationships/oleObject" Target="../embeddings/oleObject193.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95.bin"/><Relationship Id="rId7" Type="http://schemas.openxmlformats.org/officeDocument/2006/relationships/oleObject" Target="../embeddings/oleObject199.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198.bin"/><Relationship Id="rId5" Type="http://schemas.openxmlformats.org/officeDocument/2006/relationships/oleObject" Target="../embeddings/oleObject197.bin"/><Relationship Id="rId4" Type="http://schemas.openxmlformats.org/officeDocument/2006/relationships/oleObject" Target="../embeddings/oleObject196.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oleObject" Target="../embeddings/oleObject210.bin"/><Relationship Id="rId3" Type="http://schemas.openxmlformats.org/officeDocument/2006/relationships/oleObject" Target="../embeddings/oleObject200.bin"/><Relationship Id="rId7" Type="http://schemas.openxmlformats.org/officeDocument/2006/relationships/oleObject" Target="../embeddings/oleObject204.bin"/><Relationship Id="rId12" Type="http://schemas.openxmlformats.org/officeDocument/2006/relationships/oleObject" Target="../embeddings/oleObject209.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03.bin"/><Relationship Id="rId11" Type="http://schemas.openxmlformats.org/officeDocument/2006/relationships/oleObject" Target="../embeddings/oleObject208.bin"/><Relationship Id="rId5" Type="http://schemas.openxmlformats.org/officeDocument/2006/relationships/oleObject" Target="../embeddings/oleObject202.bin"/><Relationship Id="rId15" Type="http://schemas.openxmlformats.org/officeDocument/2006/relationships/oleObject" Target="../embeddings/oleObject212.bin"/><Relationship Id="rId10" Type="http://schemas.openxmlformats.org/officeDocument/2006/relationships/oleObject" Target="../embeddings/oleObject207.bin"/><Relationship Id="rId4" Type="http://schemas.openxmlformats.org/officeDocument/2006/relationships/oleObject" Target="../embeddings/oleObject201.bin"/><Relationship Id="rId9" Type="http://schemas.openxmlformats.org/officeDocument/2006/relationships/oleObject" Target="../embeddings/oleObject206.bin"/><Relationship Id="rId14" Type="http://schemas.openxmlformats.org/officeDocument/2006/relationships/oleObject" Target="../embeddings/oleObject211.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13.bin"/><Relationship Id="rId7" Type="http://schemas.openxmlformats.org/officeDocument/2006/relationships/oleObject" Target="../embeddings/oleObject217.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16.bin"/><Relationship Id="rId5" Type="http://schemas.openxmlformats.org/officeDocument/2006/relationships/oleObject" Target="../embeddings/oleObject215.bin"/><Relationship Id="rId4" Type="http://schemas.openxmlformats.org/officeDocument/2006/relationships/oleObject" Target="../embeddings/oleObject214.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23.bin"/><Relationship Id="rId3" Type="http://schemas.openxmlformats.org/officeDocument/2006/relationships/oleObject" Target="../embeddings/oleObject218.bin"/><Relationship Id="rId7" Type="http://schemas.openxmlformats.org/officeDocument/2006/relationships/oleObject" Target="../embeddings/oleObject222.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oleObject" Target="../embeddings/oleObject221.bin"/><Relationship Id="rId11" Type="http://schemas.openxmlformats.org/officeDocument/2006/relationships/oleObject" Target="../embeddings/oleObject226.bin"/><Relationship Id="rId5" Type="http://schemas.openxmlformats.org/officeDocument/2006/relationships/oleObject" Target="../embeddings/oleObject220.bin"/><Relationship Id="rId10" Type="http://schemas.openxmlformats.org/officeDocument/2006/relationships/oleObject" Target="../embeddings/oleObject225.bin"/><Relationship Id="rId4" Type="http://schemas.openxmlformats.org/officeDocument/2006/relationships/oleObject" Target="../embeddings/oleObject219.bin"/><Relationship Id="rId9" Type="http://schemas.openxmlformats.org/officeDocument/2006/relationships/oleObject" Target="../embeddings/oleObject224.bin"/></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27.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oleObject" Target="../embeddings/oleObject230.bin"/><Relationship Id="rId5" Type="http://schemas.openxmlformats.org/officeDocument/2006/relationships/oleObject" Target="../embeddings/oleObject229.bin"/><Relationship Id="rId4" Type="http://schemas.openxmlformats.org/officeDocument/2006/relationships/oleObject" Target="../embeddings/oleObject228.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235.bin"/><Relationship Id="rId13" Type="http://schemas.openxmlformats.org/officeDocument/2006/relationships/oleObject" Target="../embeddings/oleObject240.bin"/><Relationship Id="rId3" Type="http://schemas.openxmlformats.org/officeDocument/2006/relationships/notesSlide" Target="../notesSlides/notesSlide14.xml"/><Relationship Id="rId7" Type="http://schemas.openxmlformats.org/officeDocument/2006/relationships/oleObject" Target="../embeddings/oleObject234.bin"/><Relationship Id="rId12" Type="http://schemas.openxmlformats.org/officeDocument/2006/relationships/oleObject" Target="../embeddings/oleObject239.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233.bin"/><Relationship Id="rId11" Type="http://schemas.openxmlformats.org/officeDocument/2006/relationships/oleObject" Target="../embeddings/oleObject238.bin"/><Relationship Id="rId5" Type="http://schemas.openxmlformats.org/officeDocument/2006/relationships/oleObject" Target="../embeddings/oleObject232.bin"/><Relationship Id="rId10" Type="http://schemas.openxmlformats.org/officeDocument/2006/relationships/oleObject" Target="../embeddings/oleObject237.bin"/><Relationship Id="rId4" Type="http://schemas.openxmlformats.org/officeDocument/2006/relationships/oleObject" Target="../embeddings/oleObject231.bin"/><Relationship Id="rId9" Type="http://schemas.openxmlformats.org/officeDocument/2006/relationships/oleObject" Target="../embeddings/oleObject236.bin"/><Relationship Id="rId14" Type="http://schemas.openxmlformats.org/officeDocument/2006/relationships/oleObject" Target="../embeddings/oleObject241.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42.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oleObject" Target="../embeddings/oleObject245.bin"/><Relationship Id="rId5" Type="http://schemas.openxmlformats.org/officeDocument/2006/relationships/oleObject" Target="../embeddings/oleObject244.bin"/><Relationship Id="rId4" Type="http://schemas.openxmlformats.org/officeDocument/2006/relationships/oleObject" Target="../embeddings/oleObject243.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51.bin"/><Relationship Id="rId13" Type="http://schemas.openxmlformats.org/officeDocument/2006/relationships/oleObject" Target="../embeddings/oleObject256.bin"/><Relationship Id="rId3" Type="http://schemas.openxmlformats.org/officeDocument/2006/relationships/oleObject" Target="../embeddings/oleObject246.bin"/><Relationship Id="rId7" Type="http://schemas.openxmlformats.org/officeDocument/2006/relationships/oleObject" Target="../embeddings/oleObject250.bin"/><Relationship Id="rId12" Type="http://schemas.openxmlformats.org/officeDocument/2006/relationships/oleObject" Target="../embeddings/oleObject255.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oleObject" Target="../embeddings/oleObject249.bin"/><Relationship Id="rId11" Type="http://schemas.openxmlformats.org/officeDocument/2006/relationships/oleObject" Target="../embeddings/oleObject254.bin"/><Relationship Id="rId5" Type="http://schemas.openxmlformats.org/officeDocument/2006/relationships/oleObject" Target="../embeddings/oleObject248.bin"/><Relationship Id="rId10" Type="http://schemas.openxmlformats.org/officeDocument/2006/relationships/oleObject" Target="../embeddings/oleObject253.bin"/><Relationship Id="rId4" Type="http://schemas.openxmlformats.org/officeDocument/2006/relationships/oleObject" Target="../embeddings/oleObject247.bin"/><Relationship Id="rId9" Type="http://schemas.openxmlformats.org/officeDocument/2006/relationships/oleObject" Target="../embeddings/oleObject252.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62.bin"/><Relationship Id="rId3" Type="http://schemas.openxmlformats.org/officeDocument/2006/relationships/oleObject" Target="../embeddings/oleObject257.bin"/><Relationship Id="rId7" Type="http://schemas.openxmlformats.org/officeDocument/2006/relationships/oleObject" Target="../embeddings/oleObject261.bin"/><Relationship Id="rId12" Type="http://schemas.openxmlformats.org/officeDocument/2006/relationships/oleObject" Target="../embeddings/oleObject266.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260.bin"/><Relationship Id="rId11" Type="http://schemas.openxmlformats.org/officeDocument/2006/relationships/oleObject" Target="../embeddings/oleObject265.bin"/><Relationship Id="rId5" Type="http://schemas.openxmlformats.org/officeDocument/2006/relationships/oleObject" Target="../embeddings/oleObject259.bin"/><Relationship Id="rId10" Type="http://schemas.openxmlformats.org/officeDocument/2006/relationships/oleObject" Target="../embeddings/oleObject264.bin"/><Relationship Id="rId4" Type="http://schemas.openxmlformats.org/officeDocument/2006/relationships/oleObject" Target="../embeddings/oleObject258.bin"/><Relationship Id="rId9" Type="http://schemas.openxmlformats.org/officeDocument/2006/relationships/oleObject" Target="../embeddings/oleObject263.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72.bin"/><Relationship Id="rId3" Type="http://schemas.openxmlformats.org/officeDocument/2006/relationships/oleObject" Target="../embeddings/oleObject267.bin"/><Relationship Id="rId7" Type="http://schemas.openxmlformats.org/officeDocument/2006/relationships/oleObject" Target="../embeddings/oleObject271.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oleObject" Target="../embeddings/oleObject270.bin"/><Relationship Id="rId11" Type="http://schemas.openxmlformats.org/officeDocument/2006/relationships/oleObject" Target="../embeddings/oleObject275.bin"/><Relationship Id="rId5" Type="http://schemas.openxmlformats.org/officeDocument/2006/relationships/oleObject" Target="../embeddings/oleObject269.bin"/><Relationship Id="rId10" Type="http://schemas.openxmlformats.org/officeDocument/2006/relationships/oleObject" Target="../embeddings/oleObject274.bin"/><Relationship Id="rId4" Type="http://schemas.openxmlformats.org/officeDocument/2006/relationships/oleObject" Target="../embeddings/oleObject268.bin"/><Relationship Id="rId9" Type="http://schemas.openxmlformats.org/officeDocument/2006/relationships/oleObject" Target="../embeddings/oleObject273.bin"/></Relationships>
</file>

<file path=ppt/slides/_rels/slide76.xml.rels><?xml version="1.0" encoding="UTF-8" standalone="yes"?>
<Relationships xmlns="http://schemas.openxmlformats.org/package/2006/relationships"><Relationship Id="rId3" Type="http://schemas.openxmlformats.org/officeDocument/2006/relationships/image" Target="../media/image285.jpeg"/><Relationship Id="rId2" Type="http://schemas.openxmlformats.org/officeDocument/2006/relationships/image" Target="../media/image28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280.bin"/><Relationship Id="rId3" Type="http://schemas.openxmlformats.org/officeDocument/2006/relationships/image" Target="../media/image285.jpeg"/><Relationship Id="rId7" Type="http://schemas.openxmlformats.org/officeDocument/2006/relationships/oleObject" Target="../embeddings/oleObject279.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oleObject" Target="../embeddings/oleObject278.bin"/><Relationship Id="rId5" Type="http://schemas.openxmlformats.org/officeDocument/2006/relationships/oleObject" Target="../embeddings/oleObject277.bin"/><Relationship Id="rId10" Type="http://schemas.openxmlformats.org/officeDocument/2006/relationships/oleObject" Target="../embeddings/oleObject282.bin"/><Relationship Id="rId4" Type="http://schemas.openxmlformats.org/officeDocument/2006/relationships/oleObject" Target="../embeddings/oleObject276.bin"/><Relationship Id="rId9" Type="http://schemas.openxmlformats.org/officeDocument/2006/relationships/oleObject" Target="../embeddings/oleObject281.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83.bin"/><Relationship Id="rId2" Type="http://schemas.openxmlformats.org/officeDocument/2006/relationships/slideLayout" Target="../slideLayouts/slideLayout7.xml"/><Relationship Id="rId1" Type="http://schemas.openxmlformats.org/officeDocument/2006/relationships/vmlDrawing" Target="../drawings/vmlDrawing55.vml"/><Relationship Id="rId5" Type="http://schemas.openxmlformats.org/officeDocument/2006/relationships/oleObject" Target="../embeddings/oleObject285.bin"/><Relationship Id="rId4" Type="http://schemas.openxmlformats.org/officeDocument/2006/relationships/oleObject" Target="../embeddings/oleObject284.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86.bin"/><Relationship Id="rId2" Type="http://schemas.openxmlformats.org/officeDocument/2006/relationships/slideLayout" Target="../slideLayouts/slideLayout7.xml"/><Relationship Id="rId1" Type="http://schemas.openxmlformats.org/officeDocument/2006/relationships/vmlDrawing" Target="../drawings/vmlDrawing56.vml"/><Relationship Id="rId4" Type="http://schemas.openxmlformats.org/officeDocument/2006/relationships/slide" Target="slide3.xml"/></Relationships>
</file>

<file path=ppt/slides/_rels/slide80.xml.rels><?xml version="1.0" encoding="UTF-8" standalone="yes"?>
<Relationships xmlns="http://schemas.openxmlformats.org/package/2006/relationships"><Relationship Id="rId3" Type="http://schemas.openxmlformats.org/officeDocument/2006/relationships/hyperlink" Target="../CH8-6.ppt" TargetMode="External"/><Relationship Id="rId2" Type="http://schemas.openxmlformats.org/officeDocument/2006/relationships/slideLayout" Target="../slideLayouts/slideLayout7.xml"/><Relationship Id="rId1" Type="http://schemas.openxmlformats.org/officeDocument/2006/relationships/vmlDrawing" Target="../drawings/vmlDrawing57.vml"/><Relationship Id="rId4" Type="http://schemas.openxmlformats.org/officeDocument/2006/relationships/oleObject" Target="../embeddings/oleObject287.bin"/></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88.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oleObject" Target="../embeddings/oleObject291.bin"/><Relationship Id="rId5" Type="http://schemas.openxmlformats.org/officeDocument/2006/relationships/oleObject" Target="../embeddings/oleObject290.bin"/><Relationship Id="rId4" Type="http://schemas.openxmlformats.org/officeDocument/2006/relationships/oleObject" Target="../embeddings/oleObject289.bin"/></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92.bin"/><Relationship Id="rId2" Type="http://schemas.openxmlformats.org/officeDocument/2006/relationships/slideLayout" Target="../slideLayouts/slideLayout7.xml"/><Relationship Id="rId1" Type="http://schemas.openxmlformats.org/officeDocument/2006/relationships/vmlDrawing" Target="../drawings/vmlDrawing59.vml"/><Relationship Id="rId4" Type="http://schemas.openxmlformats.org/officeDocument/2006/relationships/oleObject" Target="../embeddings/oleObject293.bin"/></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294.bin"/><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oleObject" Target="../embeddings/oleObject297.bin"/><Relationship Id="rId5" Type="http://schemas.openxmlformats.org/officeDocument/2006/relationships/oleObject" Target="../embeddings/oleObject296.bin"/><Relationship Id="rId4" Type="http://schemas.openxmlformats.org/officeDocument/2006/relationships/oleObject" Target="../embeddings/oleObject295.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98.bin"/><Relationship Id="rId2" Type="http://schemas.openxmlformats.org/officeDocument/2006/relationships/slideLayout" Target="../slideLayouts/slideLayout7.xml"/><Relationship Id="rId1" Type="http://schemas.openxmlformats.org/officeDocument/2006/relationships/vmlDrawing" Target="../drawings/vmlDrawing61.vml"/><Relationship Id="rId5" Type="http://schemas.openxmlformats.org/officeDocument/2006/relationships/oleObject" Target="../embeddings/oleObject300.bin"/><Relationship Id="rId4" Type="http://schemas.openxmlformats.org/officeDocument/2006/relationships/oleObject" Target="../embeddings/oleObject299.bin"/></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301.bin"/><Relationship Id="rId7" Type="http://schemas.openxmlformats.org/officeDocument/2006/relationships/oleObject" Target="../embeddings/oleObject305.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oleObject" Target="../embeddings/oleObject304.bin"/><Relationship Id="rId5" Type="http://schemas.openxmlformats.org/officeDocument/2006/relationships/oleObject" Target="../embeddings/oleObject303.bin"/><Relationship Id="rId4" Type="http://schemas.openxmlformats.org/officeDocument/2006/relationships/oleObject" Target="../embeddings/oleObject302.bin"/></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11.bin"/><Relationship Id="rId3" Type="http://schemas.openxmlformats.org/officeDocument/2006/relationships/oleObject" Target="../embeddings/oleObject306.bin"/><Relationship Id="rId7" Type="http://schemas.openxmlformats.org/officeDocument/2006/relationships/oleObject" Target="../embeddings/oleObject310.bin"/><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oleObject" Target="../embeddings/oleObject309.bin"/><Relationship Id="rId5" Type="http://schemas.openxmlformats.org/officeDocument/2006/relationships/oleObject" Target="../embeddings/oleObject308.bin"/><Relationship Id="rId4" Type="http://schemas.openxmlformats.org/officeDocument/2006/relationships/oleObject" Target="../embeddings/oleObject307.bin"/><Relationship Id="rId9" Type="http://schemas.openxmlformats.org/officeDocument/2006/relationships/slide" Target="slide3.xml"/></Relationships>
</file>

<file path=ppt/slides/_rels/slide87.xml.rels><?xml version="1.0" encoding="UTF-8" standalone="yes"?>
<Relationships xmlns="http://schemas.openxmlformats.org/package/2006/relationships"><Relationship Id="rId3" Type="http://schemas.openxmlformats.org/officeDocument/2006/relationships/hyperlink" Target="../CH8-6.ppt" TargetMode="External"/><Relationship Id="rId2" Type="http://schemas.openxmlformats.org/officeDocument/2006/relationships/slideLayout" Target="../slideLayouts/slideLayout7.xml"/><Relationship Id="rId1" Type="http://schemas.openxmlformats.org/officeDocument/2006/relationships/vmlDrawing" Target="../drawings/vmlDrawing64.vml"/><Relationship Id="rId5" Type="http://schemas.openxmlformats.org/officeDocument/2006/relationships/oleObject" Target="../embeddings/oleObject312.bin"/><Relationship Id="rId4" Type="http://schemas.openxmlformats.org/officeDocument/2006/relationships/image" Target="../media/image320.gif"/></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317.bin"/><Relationship Id="rId3" Type="http://schemas.openxmlformats.org/officeDocument/2006/relationships/image" Target="../media/image326.gif"/><Relationship Id="rId7" Type="http://schemas.openxmlformats.org/officeDocument/2006/relationships/oleObject" Target="../embeddings/oleObject316.bin"/><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oleObject" Target="../embeddings/oleObject315.bin"/><Relationship Id="rId5" Type="http://schemas.openxmlformats.org/officeDocument/2006/relationships/oleObject" Target="../embeddings/oleObject314.bin"/><Relationship Id="rId4" Type="http://schemas.openxmlformats.org/officeDocument/2006/relationships/oleObject" Target="../embeddings/oleObject313.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23.bin"/><Relationship Id="rId3" Type="http://schemas.openxmlformats.org/officeDocument/2006/relationships/oleObject" Target="../embeddings/oleObject318.bin"/><Relationship Id="rId7" Type="http://schemas.openxmlformats.org/officeDocument/2006/relationships/oleObject" Target="../embeddings/oleObject322.bin"/><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oleObject" Target="../embeddings/oleObject321.bin"/><Relationship Id="rId5" Type="http://schemas.openxmlformats.org/officeDocument/2006/relationships/oleObject" Target="../embeddings/oleObject320.bin"/><Relationship Id="rId4" Type="http://schemas.openxmlformats.org/officeDocument/2006/relationships/oleObject" Target="../embeddings/oleObject319.bin"/></Relationships>
</file>

<file path=ppt/slides/_rels/slide90.xml.rels><?xml version="1.0" encoding="UTF-8" standalone="yes"?>
<Relationships xmlns="http://schemas.openxmlformats.org/package/2006/relationships"><Relationship Id="rId3" Type="http://schemas.openxmlformats.org/officeDocument/2006/relationships/image" Target="../media/image48.gif"/><Relationship Id="rId7" Type="http://schemas.openxmlformats.org/officeDocument/2006/relationships/oleObject" Target="../embeddings/oleObject327.bin"/><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oleObject" Target="../embeddings/oleObject326.bin"/><Relationship Id="rId5" Type="http://schemas.openxmlformats.org/officeDocument/2006/relationships/oleObject" Target="../embeddings/oleObject325.bin"/><Relationship Id="rId4" Type="http://schemas.openxmlformats.org/officeDocument/2006/relationships/oleObject" Target="../embeddings/oleObject324.bin"/></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328.bin"/><Relationship Id="rId7" Type="http://schemas.openxmlformats.org/officeDocument/2006/relationships/oleObject" Target="../embeddings/oleObject332.bin"/><Relationship Id="rId2" Type="http://schemas.openxmlformats.org/officeDocument/2006/relationships/slideLayout" Target="../slideLayouts/slideLayout7.xml"/><Relationship Id="rId1" Type="http://schemas.openxmlformats.org/officeDocument/2006/relationships/vmlDrawing" Target="../drawings/vmlDrawing68.vml"/><Relationship Id="rId6" Type="http://schemas.openxmlformats.org/officeDocument/2006/relationships/oleObject" Target="../embeddings/oleObject331.bin"/><Relationship Id="rId5" Type="http://schemas.openxmlformats.org/officeDocument/2006/relationships/oleObject" Target="../embeddings/oleObject330.bin"/><Relationship Id="rId4" Type="http://schemas.openxmlformats.org/officeDocument/2006/relationships/oleObject" Target="../embeddings/oleObject329.bin"/></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338.bin"/><Relationship Id="rId3" Type="http://schemas.openxmlformats.org/officeDocument/2006/relationships/oleObject" Target="../embeddings/oleObject333.bin"/><Relationship Id="rId7" Type="http://schemas.openxmlformats.org/officeDocument/2006/relationships/oleObject" Target="../embeddings/oleObject337.bin"/><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oleObject" Target="../embeddings/oleObject336.bin"/><Relationship Id="rId5" Type="http://schemas.openxmlformats.org/officeDocument/2006/relationships/oleObject" Target="../embeddings/oleObject335.bin"/><Relationship Id="rId4" Type="http://schemas.openxmlformats.org/officeDocument/2006/relationships/oleObject" Target="../embeddings/oleObject334.bin"/></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339.bin"/><Relationship Id="rId2" Type="http://schemas.openxmlformats.org/officeDocument/2006/relationships/slideLayout" Target="../slideLayouts/slideLayout7.xml"/><Relationship Id="rId1" Type="http://schemas.openxmlformats.org/officeDocument/2006/relationships/vmlDrawing" Target="../drawings/vmlDrawing70.vml"/><Relationship Id="rId5" Type="http://schemas.openxmlformats.org/officeDocument/2006/relationships/slide" Target="slide3.xml"/><Relationship Id="rId4" Type="http://schemas.openxmlformats.org/officeDocument/2006/relationships/oleObject" Target="../embeddings/oleObject340.bin"/></Relationships>
</file>

<file path=ppt/slides/_rels/slide94.xml.rels><?xml version="1.0" encoding="UTF-8" standalone="yes"?>
<Relationships xmlns="http://schemas.openxmlformats.org/package/2006/relationships"><Relationship Id="rId2" Type="http://schemas.openxmlformats.org/officeDocument/2006/relationships/hyperlink" Target="../CH8-6.ppt" TargetMode="Externa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341.bin"/><Relationship Id="rId2" Type="http://schemas.openxmlformats.org/officeDocument/2006/relationships/slideLayout" Target="../slideLayouts/slideLayout7.xml"/><Relationship Id="rId1" Type="http://schemas.openxmlformats.org/officeDocument/2006/relationships/vmlDrawing" Target="../drawings/vmlDrawing71.vml"/><Relationship Id="rId5" Type="http://schemas.openxmlformats.org/officeDocument/2006/relationships/oleObject" Target="../embeddings/oleObject343.bin"/><Relationship Id="rId4" Type="http://schemas.openxmlformats.org/officeDocument/2006/relationships/oleObject" Target="../embeddings/oleObject342.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352.jpeg"/><Relationship Id="rId2" Type="http://schemas.openxmlformats.org/officeDocument/2006/relationships/image" Target="../media/image351.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vmlDrawing" Target="../drawings/vmlDrawing72.vml"/><Relationship Id="rId5" Type="http://schemas.openxmlformats.org/officeDocument/2006/relationships/oleObject" Target="../embeddings/oleObject345.bin"/><Relationship Id="rId4" Type="http://schemas.openxmlformats.org/officeDocument/2006/relationships/oleObject" Target="../embeddings/oleObject344.bin"/></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73.vml"/><Relationship Id="rId4" Type="http://schemas.openxmlformats.org/officeDocument/2006/relationships/oleObject" Target="../embeddings/oleObject346.bin"/></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74.vml"/><Relationship Id="rId6" Type="http://schemas.openxmlformats.org/officeDocument/2006/relationships/oleObject" Target="../embeddings/oleObject349.bin"/><Relationship Id="rId5" Type="http://schemas.openxmlformats.org/officeDocument/2006/relationships/oleObject" Target="../embeddings/oleObject348.bin"/><Relationship Id="rId4" Type="http://schemas.openxmlformats.org/officeDocument/2006/relationships/oleObject" Target="../embeddings/oleObject347.bin"/></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350.bin"/><Relationship Id="rId7" Type="http://schemas.openxmlformats.org/officeDocument/2006/relationships/oleObject" Target="../embeddings/oleObject354.bin"/><Relationship Id="rId2" Type="http://schemas.openxmlformats.org/officeDocument/2006/relationships/slideLayout" Target="../slideLayouts/slideLayout7.xml"/><Relationship Id="rId1" Type="http://schemas.openxmlformats.org/officeDocument/2006/relationships/vmlDrawing" Target="../drawings/vmlDrawing75.vml"/><Relationship Id="rId6" Type="http://schemas.openxmlformats.org/officeDocument/2006/relationships/oleObject" Target="../embeddings/oleObject353.bin"/><Relationship Id="rId5" Type="http://schemas.openxmlformats.org/officeDocument/2006/relationships/oleObject" Target="../embeddings/oleObject352.bin"/><Relationship Id="rId4" Type="http://schemas.openxmlformats.org/officeDocument/2006/relationships/oleObject" Target="../embeddings/oleObject351.bin"/></Relationships>
</file>

<file path=ppt/slides/_rels/slide106.xml.rels><?xml version="1.0" encoding="UTF-8" standalone="yes"?>
<Relationships xmlns="http://schemas.openxmlformats.org/package/2006/relationships"><Relationship Id="rId8" Type="http://schemas.openxmlformats.org/officeDocument/2006/relationships/image" Target="../media/image369.jpeg"/><Relationship Id="rId3" Type="http://schemas.openxmlformats.org/officeDocument/2006/relationships/oleObject" Target="../embeddings/oleObject355.bin"/><Relationship Id="rId7" Type="http://schemas.openxmlformats.org/officeDocument/2006/relationships/oleObject" Target="../embeddings/oleObject359.bin"/><Relationship Id="rId2" Type="http://schemas.openxmlformats.org/officeDocument/2006/relationships/slideLayout" Target="../slideLayouts/slideLayout7.xml"/><Relationship Id="rId1" Type="http://schemas.openxmlformats.org/officeDocument/2006/relationships/vmlDrawing" Target="../drawings/vmlDrawing76.vml"/><Relationship Id="rId6" Type="http://schemas.openxmlformats.org/officeDocument/2006/relationships/oleObject" Target="../embeddings/oleObject358.bin"/><Relationship Id="rId5" Type="http://schemas.openxmlformats.org/officeDocument/2006/relationships/oleObject" Target="../embeddings/oleObject357.bin"/><Relationship Id="rId4" Type="http://schemas.openxmlformats.org/officeDocument/2006/relationships/oleObject" Target="../embeddings/oleObject356.bin"/></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360.bin"/><Relationship Id="rId2" Type="http://schemas.openxmlformats.org/officeDocument/2006/relationships/slideLayout" Target="../slideLayouts/slideLayout7.xml"/><Relationship Id="rId1" Type="http://schemas.openxmlformats.org/officeDocument/2006/relationships/vmlDrawing" Target="../drawings/vmlDrawing77.vml"/><Relationship Id="rId5" Type="http://schemas.openxmlformats.org/officeDocument/2006/relationships/oleObject" Target="../embeddings/oleObject362.bin"/><Relationship Id="rId4" Type="http://schemas.openxmlformats.org/officeDocument/2006/relationships/oleObject" Target="../embeddings/oleObject361.bin"/></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8" Type="http://schemas.openxmlformats.org/officeDocument/2006/relationships/oleObject" Target="../embeddings/oleObject368.bin"/><Relationship Id="rId3" Type="http://schemas.openxmlformats.org/officeDocument/2006/relationships/oleObject" Target="../embeddings/oleObject363.bin"/><Relationship Id="rId7" Type="http://schemas.openxmlformats.org/officeDocument/2006/relationships/oleObject" Target="../embeddings/oleObject367.bin"/><Relationship Id="rId2" Type="http://schemas.openxmlformats.org/officeDocument/2006/relationships/slideLayout" Target="../slideLayouts/slideLayout7.xml"/><Relationship Id="rId1" Type="http://schemas.openxmlformats.org/officeDocument/2006/relationships/vmlDrawing" Target="../drawings/vmlDrawing78.vml"/><Relationship Id="rId6" Type="http://schemas.openxmlformats.org/officeDocument/2006/relationships/oleObject" Target="../embeddings/oleObject366.bin"/><Relationship Id="rId11" Type="http://schemas.openxmlformats.org/officeDocument/2006/relationships/oleObject" Target="../embeddings/oleObject371.bin"/><Relationship Id="rId5" Type="http://schemas.openxmlformats.org/officeDocument/2006/relationships/oleObject" Target="../embeddings/oleObject365.bin"/><Relationship Id="rId10" Type="http://schemas.openxmlformats.org/officeDocument/2006/relationships/oleObject" Target="../embeddings/oleObject370.bin"/><Relationship Id="rId4" Type="http://schemas.openxmlformats.org/officeDocument/2006/relationships/oleObject" Target="../embeddings/oleObject364.bin"/><Relationship Id="rId9" Type="http://schemas.openxmlformats.org/officeDocument/2006/relationships/oleObject" Target="../embeddings/oleObject369.bin"/></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372.bin"/><Relationship Id="rId7" Type="http://schemas.openxmlformats.org/officeDocument/2006/relationships/oleObject" Target="../embeddings/oleObject376.bin"/><Relationship Id="rId2" Type="http://schemas.openxmlformats.org/officeDocument/2006/relationships/slideLayout" Target="../slideLayouts/slideLayout7.xml"/><Relationship Id="rId1" Type="http://schemas.openxmlformats.org/officeDocument/2006/relationships/vmlDrawing" Target="../drawings/vmlDrawing79.vml"/><Relationship Id="rId6" Type="http://schemas.openxmlformats.org/officeDocument/2006/relationships/oleObject" Target="../embeddings/oleObject375.bin"/><Relationship Id="rId5" Type="http://schemas.openxmlformats.org/officeDocument/2006/relationships/oleObject" Target="../embeddings/oleObject374.bin"/><Relationship Id="rId4" Type="http://schemas.openxmlformats.org/officeDocument/2006/relationships/oleObject" Target="../embeddings/oleObject373.bin"/></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382.bin"/><Relationship Id="rId3" Type="http://schemas.openxmlformats.org/officeDocument/2006/relationships/oleObject" Target="../embeddings/oleObject377.bin"/><Relationship Id="rId7" Type="http://schemas.openxmlformats.org/officeDocument/2006/relationships/oleObject" Target="../embeddings/oleObject381.bin"/><Relationship Id="rId2" Type="http://schemas.openxmlformats.org/officeDocument/2006/relationships/slideLayout" Target="../slideLayouts/slideLayout7.xml"/><Relationship Id="rId1" Type="http://schemas.openxmlformats.org/officeDocument/2006/relationships/vmlDrawing" Target="../drawings/vmlDrawing80.vml"/><Relationship Id="rId6" Type="http://schemas.openxmlformats.org/officeDocument/2006/relationships/oleObject" Target="../embeddings/oleObject380.bin"/><Relationship Id="rId5" Type="http://schemas.openxmlformats.org/officeDocument/2006/relationships/oleObject" Target="../embeddings/oleObject379.bin"/><Relationship Id="rId4" Type="http://schemas.openxmlformats.org/officeDocument/2006/relationships/oleObject" Target="../embeddings/oleObject378.bin"/></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mlDrawing" Target="../drawings/vmlDrawing81.vml"/><Relationship Id="rId4" Type="http://schemas.openxmlformats.org/officeDocument/2006/relationships/oleObject" Target="../embeddings/oleObject383.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384.bin"/><Relationship Id="rId2" Type="http://schemas.openxmlformats.org/officeDocument/2006/relationships/slideLayout" Target="../slideLayouts/slideLayout7.xml"/><Relationship Id="rId1" Type="http://schemas.openxmlformats.org/officeDocument/2006/relationships/vmlDrawing" Target="../drawings/vmlDrawing82.v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385.bin"/><Relationship Id="rId2" Type="http://schemas.openxmlformats.org/officeDocument/2006/relationships/slideLayout" Target="../slideLayouts/slideLayout7.xml"/><Relationship Id="rId1" Type="http://schemas.openxmlformats.org/officeDocument/2006/relationships/vmlDrawing" Target="../drawings/vmlDrawing83.vml"/><Relationship Id="rId5" Type="http://schemas.openxmlformats.org/officeDocument/2006/relationships/oleObject" Target="../embeddings/oleObject387.bin"/><Relationship Id="rId4" Type="http://schemas.openxmlformats.org/officeDocument/2006/relationships/oleObject" Target="../embeddings/oleObject386.bin"/></Relationships>
</file>

<file path=ppt/slides/_rels/slide1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7.xml"/><Relationship Id="rId1" Type="http://schemas.openxmlformats.org/officeDocument/2006/relationships/vmlDrawing" Target="../drawings/vmlDrawing84.vml"/><Relationship Id="rId6" Type="http://schemas.openxmlformats.org/officeDocument/2006/relationships/oleObject" Target="../embeddings/oleObject390.bin"/><Relationship Id="rId5" Type="http://schemas.openxmlformats.org/officeDocument/2006/relationships/oleObject" Target="../embeddings/oleObject389.bin"/><Relationship Id="rId4" Type="http://schemas.openxmlformats.org/officeDocument/2006/relationships/oleObject" Target="../embeddings/oleObject388.bin"/></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391.bin"/><Relationship Id="rId2" Type="http://schemas.openxmlformats.org/officeDocument/2006/relationships/slideLayout" Target="../slideLayouts/slideLayout7.xml"/><Relationship Id="rId1" Type="http://schemas.openxmlformats.org/officeDocument/2006/relationships/vmlDrawing" Target="../drawings/vmlDrawing85.vml"/><Relationship Id="rId4" Type="http://schemas.openxmlformats.org/officeDocument/2006/relationships/oleObject" Target="../embeddings/oleObject392.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393.bin"/><Relationship Id="rId2" Type="http://schemas.openxmlformats.org/officeDocument/2006/relationships/slideLayout" Target="../slideLayouts/slideLayout7.xml"/><Relationship Id="rId1" Type="http://schemas.openxmlformats.org/officeDocument/2006/relationships/vmlDrawing" Target="../drawings/vmlDrawing86.vml"/><Relationship Id="rId5" Type="http://schemas.openxmlformats.org/officeDocument/2006/relationships/oleObject" Target="../embeddings/oleObject395.bin"/><Relationship Id="rId4" Type="http://schemas.openxmlformats.org/officeDocument/2006/relationships/oleObject" Target="../embeddings/oleObject394.bin"/></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405.jpe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500034" y="642918"/>
            <a:ext cx="7962900" cy="923925"/>
          </a:xfrm>
          <a:prstGeom prst="rect">
            <a:avLst/>
          </a:prstGeom>
          <a:noFill/>
          <a:ln w="9525">
            <a:noFill/>
            <a:miter lim="800000"/>
            <a:headEnd/>
            <a:tailEnd/>
          </a:ln>
          <a:effectLst/>
        </p:spPr>
        <p:txBody>
          <a:bodyPr anchor="ctr">
            <a:spAutoFit/>
          </a:bodyPr>
          <a:lstStyle/>
          <a:p>
            <a:pPr algn="ctr">
              <a:defRPr/>
            </a:pPr>
            <a:r>
              <a:rPr kumimoji="1" lang="zh-CN" altLang="en-US" sz="5400" b="1" dirty="0">
                <a:solidFill>
                  <a:srgbClr val="FF3300"/>
                </a:solidFill>
                <a:effectLst>
                  <a:outerShdw blurRad="38100" dist="38100" dir="2700000" algn="tl">
                    <a:srgbClr val="C0C0C0"/>
                  </a:outerShdw>
                </a:effectLst>
                <a:latin typeface="隶书" pitchFamily="49" charset="-122"/>
                <a:ea typeface="隶书" pitchFamily="49" charset="-122"/>
                <a:cs typeface="Times New Roman" pitchFamily="18" charset="0"/>
              </a:rPr>
              <a:t>第</a:t>
            </a:r>
            <a:r>
              <a:rPr kumimoji="1" lang="en-US" altLang="zh-CN" sz="5400" b="1" dirty="0">
                <a:solidFill>
                  <a:srgbClr val="FF3300"/>
                </a:solidFill>
                <a:effectLst>
                  <a:outerShdw blurRad="38100" dist="38100" dir="2700000" algn="tl">
                    <a:srgbClr val="C0C0C0"/>
                  </a:outerShdw>
                </a:effectLst>
                <a:latin typeface="Times New Roman" pitchFamily="18" charset="0"/>
                <a:ea typeface="隶书" pitchFamily="49" charset="-122"/>
                <a:cs typeface="Times New Roman" pitchFamily="18" charset="0"/>
              </a:rPr>
              <a:t>8</a:t>
            </a:r>
            <a:r>
              <a:rPr kumimoji="1" lang="zh-CN" altLang="en-US" sz="5400" b="1" dirty="0">
                <a:solidFill>
                  <a:srgbClr val="FF3300"/>
                </a:solidFill>
                <a:effectLst>
                  <a:outerShdw blurRad="38100" dist="38100" dir="2700000" algn="tl">
                    <a:srgbClr val="C0C0C0"/>
                  </a:outerShdw>
                </a:effectLst>
                <a:latin typeface="隶书" pitchFamily="49" charset="-122"/>
                <a:ea typeface="隶书" pitchFamily="49" charset="-122"/>
                <a:cs typeface="Times New Roman" pitchFamily="18" charset="0"/>
              </a:rPr>
              <a:t>章 气体动理论 </a:t>
            </a:r>
          </a:p>
        </p:txBody>
      </p:sp>
      <p:pic>
        <p:nvPicPr>
          <p:cNvPr id="3" name="图片 2" descr="图片1.jpg"/>
          <p:cNvPicPr>
            <a:picLocks noChangeAspect="1"/>
          </p:cNvPicPr>
          <p:nvPr/>
        </p:nvPicPr>
        <p:blipFill>
          <a:blip r:embed="rId2"/>
          <a:stretch>
            <a:fillRect/>
          </a:stretch>
        </p:blipFill>
        <p:spPr>
          <a:xfrm>
            <a:off x="1142976" y="1714488"/>
            <a:ext cx="6429420" cy="4796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Text Box 2"/>
          <p:cNvSpPr txBox="1">
            <a:spLocks noChangeArrowheads="1"/>
          </p:cNvSpPr>
          <p:nvPr/>
        </p:nvSpPr>
        <p:spPr bwMode="auto">
          <a:xfrm>
            <a:off x="179388" y="476250"/>
            <a:ext cx="6697662" cy="663575"/>
          </a:xfrm>
          <a:prstGeom prst="rect">
            <a:avLst/>
          </a:prstGeom>
          <a:noFill/>
          <a:ln w="9525">
            <a:noFill/>
            <a:miter lim="800000"/>
            <a:headEnd/>
            <a:tailEnd/>
          </a:ln>
        </p:spPr>
        <p:txBody>
          <a:bodyPr lIns="78373" tIns="39187" rIns="78373" bIns="39187">
            <a:spAutoFit/>
          </a:bodyPr>
          <a:lstStyle/>
          <a:p>
            <a:pPr marL="392113" indent="-392113" defTabSz="784225">
              <a:lnSpc>
                <a:spcPct val="120000"/>
              </a:lnSpc>
              <a:buFontTx/>
              <a:buBlip>
                <a:blip r:embed="rId3"/>
              </a:buBlip>
            </a:pPr>
            <a:r>
              <a:rPr lang="en-US" altLang="zh-CN" sz="3200" b="1">
                <a:solidFill>
                  <a:srgbClr val="0000CC"/>
                </a:solidFill>
                <a:latin typeface="黑体" pitchFamily="2" charset="-122"/>
                <a:ea typeface="黑体" pitchFamily="2" charset="-122"/>
              </a:rPr>
              <a:t> </a:t>
            </a:r>
            <a:r>
              <a:rPr lang="zh-CN" altLang="en-US" sz="3200" b="1">
                <a:solidFill>
                  <a:srgbClr val="0000CC"/>
                </a:solidFill>
                <a:latin typeface="黑体" pitchFamily="2" charset="-122"/>
                <a:ea typeface="黑体" pitchFamily="2" charset="-122"/>
              </a:rPr>
              <a:t>研究内容、方法及特点</a:t>
            </a:r>
            <a:r>
              <a:rPr kumimoji="1" lang="zh-CN" altLang="en-US" sz="3200">
                <a:solidFill>
                  <a:srgbClr val="0000CC"/>
                </a:solidFill>
                <a:latin typeface="黑体" pitchFamily="2" charset="-122"/>
                <a:ea typeface="黑体" pitchFamily="2" charset="-122"/>
              </a:rPr>
              <a:t> </a:t>
            </a:r>
            <a:endParaRPr kumimoji="1" lang="zh-CN" altLang="en-US" sz="3200" b="1">
              <a:solidFill>
                <a:srgbClr val="0000CC"/>
              </a:solidFill>
              <a:latin typeface="黑体" pitchFamily="2" charset="-122"/>
              <a:ea typeface="黑体" pitchFamily="2" charset="-122"/>
            </a:endParaRPr>
          </a:p>
        </p:txBody>
      </p:sp>
      <p:sp>
        <p:nvSpPr>
          <p:cNvPr id="365571" name="Text Box 3"/>
          <p:cNvSpPr txBox="1">
            <a:spLocks noChangeArrowheads="1"/>
          </p:cNvSpPr>
          <p:nvPr/>
        </p:nvSpPr>
        <p:spPr bwMode="auto">
          <a:xfrm>
            <a:off x="1535113" y="1557338"/>
            <a:ext cx="1524000" cy="466725"/>
          </a:xfrm>
          <a:prstGeom prst="rect">
            <a:avLst/>
          </a:prstGeom>
          <a:solidFill>
            <a:srgbClr val="CCFFFF"/>
          </a:solidFill>
          <a:ln w="9525">
            <a:solidFill>
              <a:srgbClr val="00FFFF"/>
            </a:solidFill>
            <a:miter lim="800000"/>
            <a:headEnd/>
            <a:tailEnd/>
          </a:ln>
          <a:effectLst/>
        </p:spPr>
        <p:txBody>
          <a:bodyPr>
            <a:spAutoFit/>
          </a:bodyPr>
          <a:lstStyle/>
          <a:p>
            <a:pPr algn="ctr">
              <a:spcBef>
                <a:spcPct val="50000"/>
              </a:spcBef>
              <a:defRPr/>
            </a:pPr>
            <a:r>
              <a:rPr lang="zh-CN" altLang="en-US" sz="2400" b="1">
                <a:latin typeface="+mn-ea"/>
                <a:ea typeface="+mn-ea"/>
              </a:rPr>
              <a:t>统计理论</a:t>
            </a:r>
          </a:p>
        </p:txBody>
      </p:sp>
      <p:sp>
        <p:nvSpPr>
          <p:cNvPr id="365572" name="AutoShape 4"/>
          <p:cNvSpPr>
            <a:spLocks noChangeArrowheads="1"/>
          </p:cNvSpPr>
          <p:nvPr/>
        </p:nvSpPr>
        <p:spPr bwMode="auto">
          <a:xfrm rot="10800000">
            <a:off x="2182813" y="2173288"/>
            <a:ext cx="241300" cy="823912"/>
          </a:xfrm>
          <a:prstGeom prst="upArrow">
            <a:avLst>
              <a:gd name="adj1" fmla="val 50000"/>
              <a:gd name="adj2" fmla="val 85362"/>
            </a:avLst>
          </a:prstGeom>
          <a:solidFill>
            <a:srgbClr val="0000FF"/>
          </a:solidFill>
          <a:ln w="9525">
            <a:solidFill>
              <a:schemeClr val="tx1"/>
            </a:solidFill>
            <a:miter lim="800000"/>
            <a:headEnd/>
            <a:tailEnd/>
          </a:ln>
        </p:spPr>
        <p:txBody>
          <a:bodyPr vert="eaVert" wrap="none" anchor="ctr"/>
          <a:lstStyle/>
          <a:p>
            <a:pPr algn="ctr"/>
            <a:endParaRPr lang="zh-CN" altLang="en-US"/>
          </a:p>
        </p:txBody>
      </p:sp>
      <p:sp>
        <p:nvSpPr>
          <p:cNvPr id="365573" name="Text Box 5"/>
          <p:cNvSpPr txBox="1">
            <a:spLocks noChangeArrowheads="1"/>
          </p:cNvSpPr>
          <p:nvPr/>
        </p:nvSpPr>
        <p:spPr bwMode="auto">
          <a:xfrm>
            <a:off x="5167313" y="3106738"/>
            <a:ext cx="3581400" cy="466725"/>
          </a:xfrm>
          <a:prstGeom prst="rect">
            <a:avLst/>
          </a:prstGeom>
          <a:solidFill>
            <a:srgbClr val="FFCC66"/>
          </a:solidFill>
          <a:ln w="9525">
            <a:solidFill>
              <a:srgbClr val="993300"/>
            </a:solidFill>
            <a:miter lim="800000"/>
            <a:headEnd/>
            <a:tailEnd/>
          </a:ln>
          <a:effectLst/>
        </p:spPr>
        <p:txBody>
          <a:bodyPr>
            <a:spAutoFit/>
          </a:bodyPr>
          <a:lstStyle/>
          <a:p>
            <a:pPr algn="ctr">
              <a:spcBef>
                <a:spcPct val="50000"/>
              </a:spcBef>
              <a:defRPr/>
            </a:pPr>
            <a:r>
              <a:rPr lang="zh-CN" altLang="en-US" sz="2400" b="1">
                <a:latin typeface="+mn-ea"/>
                <a:ea typeface="+mn-ea"/>
              </a:rPr>
              <a:t>描写热力学性质的宏观量</a:t>
            </a:r>
          </a:p>
        </p:txBody>
      </p:sp>
      <p:sp>
        <p:nvSpPr>
          <p:cNvPr id="365574" name="Text Box 6"/>
          <p:cNvSpPr txBox="1">
            <a:spLocks noChangeArrowheads="1"/>
          </p:cNvSpPr>
          <p:nvPr/>
        </p:nvSpPr>
        <p:spPr bwMode="auto">
          <a:xfrm>
            <a:off x="442913" y="3106738"/>
            <a:ext cx="3581400" cy="466725"/>
          </a:xfrm>
          <a:prstGeom prst="rect">
            <a:avLst/>
          </a:prstGeom>
          <a:solidFill>
            <a:srgbClr val="FFCC66"/>
          </a:solidFill>
          <a:ln w="9525">
            <a:solidFill>
              <a:srgbClr val="993300"/>
            </a:solidFill>
            <a:miter lim="800000"/>
            <a:headEnd/>
            <a:tailEnd/>
          </a:ln>
          <a:effectLst/>
        </p:spPr>
        <p:txBody>
          <a:bodyPr>
            <a:spAutoFit/>
          </a:bodyPr>
          <a:lstStyle/>
          <a:p>
            <a:pPr algn="ctr">
              <a:spcBef>
                <a:spcPct val="50000"/>
              </a:spcBef>
              <a:defRPr/>
            </a:pPr>
            <a:r>
              <a:rPr lang="zh-CN" altLang="en-US" sz="2400" b="1" dirty="0">
                <a:latin typeface="+mn-ea"/>
                <a:ea typeface="+mn-ea"/>
              </a:rPr>
              <a:t>描写分子运动的微观量</a:t>
            </a:r>
          </a:p>
        </p:txBody>
      </p:sp>
      <p:sp>
        <p:nvSpPr>
          <p:cNvPr id="365575" name="Arc 7"/>
          <p:cNvSpPr>
            <a:spLocks/>
          </p:cNvSpPr>
          <p:nvPr/>
        </p:nvSpPr>
        <p:spPr bwMode="auto">
          <a:xfrm rot="14403484" flipH="1">
            <a:off x="3498850" y="3279776"/>
            <a:ext cx="758825" cy="914400"/>
          </a:xfrm>
          <a:custGeom>
            <a:avLst/>
            <a:gdLst>
              <a:gd name="T0" fmla="*/ 2147483647 w 17923"/>
              <a:gd name="T1" fmla="*/ 0 h 21599"/>
              <a:gd name="T2" fmla="*/ 2147483647 w 17923"/>
              <a:gd name="T3" fmla="*/ 2147483647 h 21599"/>
              <a:gd name="T4" fmla="*/ 0 w 17923"/>
              <a:gd name="T5" fmla="*/ 2147483647 h 21599"/>
              <a:gd name="T6" fmla="*/ 0 60000 65536"/>
              <a:gd name="T7" fmla="*/ 0 60000 65536"/>
              <a:gd name="T8" fmla="*/ 0 60000 65536"/>
              <a:gd name="T9" fmla="*/ 0 w 17923"/>
              <a:gd name="T10" fmla="*/ 0 h 21599"/>
              <a:gd name="T11" fmla="*/ 17923 w 17923"/>
              <a:gd name="T12" fmla="*/ 21599 h 21599"/>
            </a:gdLst>
            <a:ahLst/>
            <a:cxnLst>
              <a:cxn ang="T6">
                <a:pos x="T0" y="T1"/>
              </a:cxn>
              <a:cxn ang="T7">
                <a:pos x="T2" y="T3"/>
              </a:cxn>
              <a:cxn ang="T8">
                <a:pos x="T4" y="T5"/>
              </a:cxn>
            </a:cxnLst>
            <a:rect l="T9" t="T10" r="T11" b="T12"/>
            <a:pathLst>
              <a:path w="17923" h="21599" fill="none" extrusionOk="0">
                <a:moveTo>
                  <a:pt x="190" y="-1"/>
                </a:moveTo>
                <a:cubicBezTo>
                  <a:pt x="7312" y="62"/>
                  <a:pt x="13946" y="3632"/>
                  <a:pt x="17922" y="9543"/>
                </a:cubicBezTo>
              </a:path>
              <a:path w="17923" h="21599" stroke="0" extrusionOk="0">
                <a:moveTo>
                  <a:pt x="190" y="-1"/>
                </a:moveTo>
                <a:cubicBezTo>
                  <a:pt x="7312" y="62"/>
                  <a:pt x="13946" y="3632"/>
                  <a:pt x="17922" y="9543"/>
                </a:cubicBezTo>
                <a:lnTo>
                  <a:pt x="0" y="21599"/>
                </a:lnTo>
                <a:close/>
              </a:path>
            </a:pathLst>
          </a:custGeom>
          <a:noFill/>
          <a:ln w="28575">
            <a:solidFill>
              <a:schemeClr val="tx1"/>
            </a:solidFill>
            <a:round/>
            <a:headEnd/>
            <a:tailEnd type="triangle" w="med" len="med"/>
          </a:ln>
        </p:spPr>
        <p:txBody>
          <a:bodyPr wrap="none" anchor="ctr"/>
          <a:lstStyle/>
          <a:p>
            <a:pPr algn="ctr"/>
            <a:endParaRPr lang="zh-CN" altLang="en-US"/>
          </a:p>
        </p:txBody>
      </p:sp>
      <p:sp>
        <p:nvSpPr>
          <p:cNvPr id="365576" name="Arc 8"/>
          <p:cNvSpPr>
            <a:spLocks/>
          </p:cNvSpPr>
          <p:nvPr/>
        </p:nvSpPr>
        <p:spPr bwMode="auto">
          <a:xfrm rot="7042093">
            <a:off x="5094287" y="3287713"/>
            <a:ext cx="758825" cy="914400"/>
          </a:xfrm>
          <a:custGeom>
            <a:avLst/>
            <a:gdLst>
              <a:gd name="T0" fmla="*/ 2147483647 w 17923"/>
              <a:gd name="T1" fmla="*/ 0 h 21596"/>
              <a:gd name="T2" fmla="*/ 2147483647 w 17923"/>
              <a:gd name="T3" fmla="*/ 2147483647 h 21596"/>
              <a:gd name="T4" fmla="*/ 0 w 17923"/>
              <a:gd name="T5" fmla="*/ 2147483647 h 21596"/>
              <a:gd name="T6" fmla="*/ 0 60000 65536"/>
              <a:gd name="T7" fmla="*/ 0 60000 65536"/>
              <a:gd name="T8" fmla="*/ 0 60000 65536"/>
              <a:gd name="T9" fmla="*/ 0 w 17923"/>
              <a:gd name="T10" fmla="*/ 0 h 21596"/>
              <a:gd name="T11" fmla="*/ 17923 w 17923"/>
              <a:gd name="T12" fmla="*/ 21596 h 21596"/>
            </a:gdLst>
            <a:ahLst/>
            <a:cxnLst>
              <a:cxn ang="T6">
                <a:pos x="T0" y="T1"/>
              </a:cxn>
              <a:cxn ang="T7">
                <a:pos x="T2" y="T3"/>
              </a:cxn>
              <a:cxn ang="T8">
                <a:pos x="T4" y="T5"/>
              </a:cxn>
            </a:cxnLst>
            <a:rect l="T9" t="T10" r="T11" b="T12"/>
            <a:pathLst>
              <a:path w="17923" h="21596" fill="none" extrusionOk="0">
                <a:moveTo>
                  <a:pt x="412" y="-1"/>
                </a:moveTo>
                <a:cubicBezTo>
                  <a:pt x="7455" y="134"/>
                  <a:pt x="13990" y="3694"/>
                  <a:pt x="17922" y="9540"/>
                </a:cubicBezTo>
              </a:path>
              <a:path w="17923" h="21596" stroke="0" extrusionOk="0">
                <a:moveTo>
                  <a:pt x="412" y="-1"/>
                </a:moveTo>
                <a:cubicBezTo>
                  <a:pt x="7455" y="134"/>
                  <a:pt x="13990" y="3694"/>
                  <a:pt x="17922" y="9540"/>
                </a:cubicBezTo>
                <a:lnTo>
                  <a:pt x="0" y="21596"/>
                </a:lnTo>
                <a:close/>
              </a:path>
            </a:pathLst>
          </a:custGeom>
          <a:noFill/>
          <a:ln w="28575">
            <a:solidFill>
              <a:schemeClr val="tx1"/>
            </a:solidFill>
            <a:round/>
            <a:headEnd/>
            <a:tailEnd type="triangle" w="med" len="med"/>
          </a:ln>
        </p:spPr>
        <p:txBody>
          <a:bodyPr wrap="none" anchor="ctr"/>
          <a:lstStyle/>
          <a:p>
            <a:pPr algn="ctr"/>
            <a:endParaRPr lang="zh-CN" altLang="en-US"/>
          </a:p>
        </p:txBody>
      </p:sp>
      <p:sp>
        <p:nvSpPr>
          <p:cNvPr id="365577" name="Rectangle 9"/>
          <p:cNvSpPr>
            <a:spLocks noChangeArrowheads="1"/>
          </p:cNvSpPr>
          <p:nvPr/>
        </p:nvSpPr>
        <p:spPr bwMode="auto">
          <a:xfrm>
            <a:off x="4114800" y="3883025"/>
            <a:ext cx="1143000" cy="425450"/>
          </a:xfrm>
          <a:prstGeom prst="rect">
            <a:avLst/>
          </a:prstGeom>
          <a:solidFill>
            <a:srgbClr val="003366">
              <a:alpha val="12941"/>
            </a:srgbClr>
          </a:solidFill>
          <a:ln w="28575" cap="sq">
            <a:solidFill>
              <a:srgbClr val="FF0000"/>
            </a:solidFill>
            <a:miter lim="800000"/>
            <a:headEnd/>
            <a:tailEnd/>
          </a:ln>
        </p:spPr>
        <p:txBody>
          <a:bodyPr>
            <a:spAutoFit/>
          </a:bodyPr>
          <a:lstStyle/>
          <a:p>
            <a:pPr algn="ctr"/>
            <a:r>
              <a:rPr kumimoji="1" lang="zh-CN" altLang="en-US" sz="2000" b="1">
                <a:latin typeface="Times New Roman" pitchFamily="18" charset="0"/>
                <a:ea typeface="黑体" pitchFamily="2" charset="-122"/>
              </a:rPr>
              <a:t>关      系</a:t>
            </a:r>
          </a:p>
        </p:txBody>
      </p:sp>
      <p:sp>
        <p:nvSpPr>
          <p:cNvPr id="365578" name="AutoShape 10"/>
          <p:cNvSpPr>
            <a:spLocks noChangeArrowheads="1"/>
          </p:cNvSpPr>
          <p:nvPr/>
        </p:nvSpPr>
        <p:spPr bwMode="auto">
          <a:xfrm rot="10800000">
            <a:off x="4546600" y="4405313"/>
            <a:ext cx="241300" cy="823912"/>
          </a:xfrm>
          <a:prstGeom prst="upArrow">
            <a:avLst>
              <a:gd name="adj1" fmla="val 50000"/>
              <a:gd name="adj2" fmla="val 85362"/>
            </a:avLst>
          </a:prstGeom>
          <a:solidFill>
            <a:srgbClr val="0000FF"/>
          </a:solidFill>
          <a:ln w="9525">
            <a:solidFill>
              <a:schemeClr val="tx1"/>
            </a:solidFill>
            <a:miter lim="800000"/>
            <a:headEnd/>
            <a:tailEnd/>
          </a:ln>
        </p:spPr>
        <p:txBody>
          <a:bodyPr vert="eaVert" wrap="none" anchor="ctr"/>
          <a:lstStyle/>
          <a:p>
            <a:pPr algn="ctr"/>
            <a:endParaRPr lang="zh-CN" altLang="en-US"/>
          </a:p>
        </p:txBody>
      </p:sp>
      <p:sp>
        <p:nvSpPr>
          <p:cNvPr id="365579" name="Text Box 11"/>
          <p:cNvSpPr txBox="1">
            <a:spLocks noChangeArrowheads="1"/>
          </p:cNvSpPr>
          <p:nvPr/>
        </p:nvSpPr>
        <p:spPr bwMode="auto">
          <a:xfrm>
            <a:off x="2411413" y="5300663"/>
            <a:ext cx="4824412" cy="530225"/>
          </a:xfrm>
          <a:prstGeom prst="rect">
            <a:avLst/>
          </a:prstGeom>
          <a:noFill/>
          <a:ln w="9525">
            <a:noFill/>
            <a:miter lim="800000"/>
            <a:headEnd/>
            <a:tailEnd/>
          </a:ln>
        </p:spPr>
        <p:txBody>
          <a:bodyPr>
            <a:spAutoFit/>
          </a:bodyPr>
          <a:lstStyle/>
          <a:p>
            <a:pPr>
              <a:lnSpc>
                <a:spcPct val="120000"/>
              </a:lnSpc>
            </a:pPr>
            <a:r>
              <a:rPr kumimoji="1" lang="en-US" altLang="zh-CN" sz="2400" b="1">
                <a:latin typeface="Times New Roman" pitchFamily="18" charset="0"/>
              </a:rPr>
              <a:t>1</a:t>
            </a:r>
            <a:r>
              <a:rPr kumimoji="1" lang="zh-CN" altLang="en-US" sz="2400" b="1">
                <a:latin typeface="Times New Roman" pitchFamily="18" charset="0"/>
              </a:rPr>
              <a:t>、揭示了宏观量的微观本质。</a:t>
            </a:r>
          </a:p>
        </p:txBody>
      </p:sp>
      <p:sp>
        <p:nvSpPr>
          <p:cNvPr id="365580" name="Text Box 12"/>
          <p:cNvSpPr txBox="1">
            <a:spLocks noChangeArrowheads="1"/>
          </p:cNvSpPr>
          <p:nvPr/>
        </p:nvSpPr>
        <p:spPr bwMode="auto">
          <a:xfrm>
            <a:off x="2411413" y="5876925"/>
            <a:ext cx="6121400" cy="534988"/>
          </a:xfrm>
          <a:prstGeom prst="rect">
            <a:avLst/>
          </a:prstGeom>
          <a:noFill/>
          <a:ln w="9525">
            <a:noFill/>
            <a:miter lim="800000"/>
            <a:headEnd/>
            <a:tailEnd/>
          </a:ln>
        </p:spPr>
        <p:txBody>
          <a:bodyPr>
            <a:spAutoFit/>
          </a:bodyPr>
          <a:lstStyle/>
          <a:p>
            <a:pPr>
              <a:lnSpc>
                <a:spcPct val="120000"/>
              </a:lnSpc>
            </a:pPr>
            <a:r>
              <a:rPr kumimoji="1" lang="en-US" altLang="zh-CN" sz="2400" b="1">
                <a:latin typeface="Times New Roman" pitchFamily="18" charset="0"/>
              </a:rPr>
              <a:t>2</a:t>
            </a:r>
            <a:r>
              <a:rPr kumimoji="1" lang="zh-CN" altLang="en-US" sz="2400" b="1">
                <a:latin typeface="Times New Roman" pitchFamily="18" charset="0"/>
              </a:rPr>
              <a:t>、说理深刻、与热力学相辅相成。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5570"/>
                                        </p:tgtEl>
                                        <p:attrNameLst>
                                          <p:attrName>style.visibility</p:attrName>
                                        </p:attrNameLst>
                                      </p:cBhvr>
                                      <p:to>
                                        <p:strVal val="visible"/>
                                      </p:to>
                                    </p:set>
                                    <p:animEffect transition="in" filter="wipe(left)">
                                      <p:cBhvr>
                                        <p:cTn id="7" dur="500"/>
                                        <p:tgtEl>
                                          <p:spTgt spid="3655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5571"/>
                                        </p:tgtEl>
                                        <p:attrNameLst>
                                          <p:attrName>style.visibility</p:attrName>
                                        </p:attrNameLst>
                                      </p:cBhvr>
                                      <p:to>
                                        <p:strVal val="visible"/>
                                      </p:to>
                                    </p:set>
                                    <p:animEffect transition="in" filter="wipe(left)">
                                      <p:cBhvr>
                                        <p:cTn id="12" dur="500"/>
                                        <p:tgtEl>
                                          <p:spTgt spid="3655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5572"/>
                                        </p:tgtEl>
                                        <p:attrNameLst>
                                          <p:attrName>style.visibility</p:attrName>
                                        </p:attrNameLst>
                                      </p:cBhvr>
                                      <p:to>
                                        <p:strVal val="visible"/>
                                      </p:to>
                                    </p:set>
                                    <p:animEffect transition="in" filter="wipe(up)">
                                      <p:cBhvr>
                                        <p:cTn id="17" dur="500"/>
                                        <p:tgtEl>
                                          <p:spTgt spid="3655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5574"/>
                                        </p:tgtEl>
                                        <p:attrNameLst>
                                          <p:attrName>style.visibility</p:attrName>
                                        </p:attrNameLst>
                                      </p:cBhvr>
                                      <p:to>
                                        <p:strVal val="visible"/>
                                      </p:to>
                                    </p:set>
                                    <p:animEffect transition="in" filter="wipe(left)">
                                      <p:cBhvr>
                                        <p:cTn id="22" dur="500"/>
                                        <p:tgtEl>
                                          <p:spTgt spid="3655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5573"/>
                                        </p:tgtEl>
                                        <p:attrNameLst>
                                          <p:attrName>style.visibility</p:attrName>
                                        </p:attrNameLst>
                                      </p:cBhvr>
                                      <p:to>
                                        <p:strVal val="visible"/>
                                      </p:to>
                                    </p:set>
                                    <p:animEffect transition="in" filter="wipe(left)">
                                      <p:cBhvr>
                                        <p:cTn id="27" dur="500"/>
                                        <p:tgtEl>
                                          <p:spTgt spid="365573"/>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grpId="0" nodeType="clickEffect">
                                  <p:stCondLst>
                                    <p:cond delay="0"/>
                                  </p:stCondLst>
                                  <p:childTnLst>
                                    <p:set>
                                      <p:cBhvr>
                                        <p:cTn id="31" dur="1" fill="hold">
                                          <p:stCondLst>
                                            <p:cond delay="0"/>
                                          </p:stCondLst>
                                        </p:cTn>
                                        <p:tgtEl>
                                          <p:spTgt spid="365577"/>
                                        </p:tgtEl>
                                        <p:attrNameLst>
                                          <p:attrName>style.visibility</p:attrName>
                                        </p:attrNameLst>
                                      </p:cBhvr>
                                      <p:to>
                                        <p:strVal val="visible"/>
                                      </p:to>
                                    </p:set>
                                    <p:anim calcmode="lin" valueType="num">
                                      <p:cBhvr>
                                        <p:cTn id="32" dur="1000" fill="hold"/>
                                        <p:tgtEl>
                                          <p:spTgt spid="365577"/>
                                        </p:tgtEl>
                                        <p:attrNameLst>
                                          <p:attrName>ppt_w</p:attrName>
                                        </p:attrNameLst>
                                      </p:cBhvr>
                                      <p:tavLst>
                                        <p:tav tm="0">
                                          <p:val>
                                            <p:fltVal val="0"/>
                                          </p:val>
                                        </p:tav>
                                        <p:tav tm="100000">
                                          <p:val>
                                            <p:strVal val="#ppt_w"/>
                                          </p:val>
                                        </p:tav>
                                      </p:tavLst>
                                    </p:anim>
                                    <p:anim calcmode="lin" valueType="num">
                                      <p:cBhvr>
                                        <p:cTn id="33" dur="1000" fill="hold"/>
                                        <p:tgtEl>
                                          <p:spTgt spid="365577"/>
                                        </p:tgtEl>
                                        <p:attrNameLst>
                                          <p:attrName>ppt_h</p:attrName>
                                        </p:attrNameLst>
                                      </p:cBhvr>
                                      <p:tavLst>
                                        <p:tav tm="0">
                                          <p:val>
                                            <p:fltVal val="0"/>
                                          </p:val>
                                        </p:tav>
                                        <p:tav tm="100000">
                                          <p:val>
                                            <p:strVal val="#ppt_h"/>
                                          </p:val>
                                        </p:tav>
                                      </p:tavLst>
                                    </p:anim>
                                    <p:animEffect transition="in" filter="fade">
                                      <p:cBhvr>
                                        <p:cTn id="34" dur="1000"/>
                                        <p:tgtEl>
                                          <p:spTgt spid="365577"/>
                                        </p:tgtEl>
                                      </p:cBhvr>
                                    </p:animEffect>
                                  </p:childTnLst>
                                </p:cTn>
                              </p:par>
                            </p:childTnLst>
                          </p:cTn>
                        </p:par>
                        <p:par>
                          <p:cTn id="35" fill="hold">
                            <p:stCondLst>
                              <p:cond delay="1000"/>
                            </p:stCondLst>
                            <p:childTnLst>
                              <p:par>
                                <p:cTn id="36" presetID="22" presetClass="entr" presetSubtype="2" fill="hold" grpId="0" nodeType="afterEffect">
                                  <p:stCondLst>
                                    <p:cond delay="0"/>
                                  </p:stCondLst>
                                  <p:childTnLst>
                                    <p:set>
                                      <p:cBhvr>
                                        <p:cTn id="37" dur="1" fill="hold">
                                          <p:stCondLst>
                                            <p:cond delay="0"/>
                                          </p:stCondLst>
                                        </p:cTn>
                                        <p:tgtEl>
                                          <p:spTgt spid="365575"/>
                                        </p:tgtEl>
                                        <p:attrNameLst>
                                          <p:attrName>style.visibility</p:attrName>
                                        </p:attrNameLst>
                                      </p:cBhvr>
                                      <p:to>
                                        <p:strVal val="visible"/>
                                      </p:to>
                                    </p:set>
                                    <p:animEffect transition="in" filter="wipe(right)">
                                      <p:cBhvr>
                                        <p:cTn id="38" dur="500"/>
                                        <p:tgtEl>
                                          <p:spTgt spid="365575"/>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365576"/>
                                        </p:tgtEl>
                                        <p:attrNameLst>
                                          <p:attrName>style.visibility</p:attrName>
                                        </p:attrNameLst>
                                      </p:cBhvr>
                                      <p:to>
                                        <p:strVal val="visible"/>
                                      </p:to>
                                    </p:set>
                                    <p:animEffect transition="in" filter="wipe(left)">
                                      <p:cBhvr>
                                        <p:cTn id="42" dur="500"/>
                                        <p:tgtEl>
                                          <p:spTgt spid="3655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65578"/>
                                        </p:tgtEl>
                                        <p:attrNameLst>
                                          <p:attrName>style.visibility</p:attrName>
                                        </p:attrNameLst>
                                      </p:cBhvr>
                                      <p:to>
                                        <p:strVal val="visible"/>
                                      </p:to>
                                    </p:set>
                                    <p:animEffect transition="in" filter="wipe(up)">
                                      <p:cBhvr>
                                        <p:cTn id="47" dur="500"/>
                                        <p:tgtEl>
                                          <p:spTgt spid="3655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65579"/>
                                        </p:tgtEl>
                                        <p:attrNameLst>
                                          <p:attrName>style.visibility</p:attrName>
                                        </p:attrNameLst>
                                      </p:cBhvr>
                                      <p:to>
                                        <p:strVal val="visible"/>
                                      </p:to>
                                    </p:set>
                                    <p:animEffect transition="in" filter="wipe(left)">
                                      <p:cBhvr>
                                        <p:cTn id="52" dur="500"/>
                                        <p:tgtEl>
                                          <p:spTgt spid="36557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65580"/>
                                        </p:tgtEl>
                                        <p:attrNameLst>
                                          <p:attrName>style.visibility</p:attrName>
                                        </p:attrNameLst>
                                      </p:cBhvr>
                                      <p:to>
                                        <p:strVal val="visible"/>
                                      </p:to>
                                    </p:set>
                                    <p:animEffect transition="in" filter="wipe(left)">
                                      <p:cBhvr>
                                        <p:cTn id="57" dur="500"/>
                                        <p:tgtEl>
                                          <p:spTgt spid="365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0" grpId="0"/>
      <p:bldP spid="365571" grpId="0" animBg="1" autoUpdateAnimBg="0"/>
      <p:bldP spid="365572" grpId="0" animBg="1"/>
      <p:bldP spid="365573" grpId="0" animBg="1"/>
      <p:bldP spid="365574" grpId="0" animBg="1"/>
      <p:bldP spid="365575" grpId="0" animBg="1"/>
      <p:bldP spid="365576" grpId="0" animBg="1"/>
      <p:bldP spid="365577" grpId="0" animBg="1"/>
      <p:bldP spid="365578" grpId="0" animBg="1"/>
      <p:bldP spid="365579" grpId="0" autoUpdateAnimBg="0"/>
      <p:bldP spid="36558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95288" y="1052513"/>
            <a:ext cx="2160587" cy="519112"/>
          </a:xfrm>
          <a:prstGeom prst="rect">
            <a:avLst/>
          </a:prstGeom>
          <a:noFill/>
          <a:ln w="9525">
            <a:noFill/>
            <a:miter lim="800000"/>
            <a:headEnd/>
            <a:tailEnd/>
          </a:ln>
        </p:spPr>
        <p:txBody>
          <a:bodyPr>
            <a:spAutoFit/>
          </a:bodyPr>
          <a:lstStyle/>
          <a:p>
            <a:r>
              <a:rPr kumimoji="1" lang="zh-CN" altLang="en-US" sz="2800" b="1" dirty="0">
                <a:solidFill>
                  <a:srgbClr val="0000FF"/>
                </a:solidFill>
                <a:latin typeface="宋体" charset="-122"/>
              </a:rPr>
              <a:t>本章内容：</a:t>
            </a:r>
          </a:p>
        </p:txBody>
      </p:sp>
      <p:sp>
        <p:nvSpPr>
          <p:cNvPr id="3076" name="Line 4"/>
          <p:cNvSpPr>
            <a:spLocks noChangeShapeType="1"/>
          </p:cNvSpPr>
          <p:nvPr/>
        </p:nvSpPr>
        <p:spPr bwMode="auto">
          <a:xfrm>
            <a:off x="100013" y="785813"/>
            <a:ext cx="9043987" cy="0"/>
          </a:xfrm>
          <a:prstGeom prst="line">
            <a:avLst/>
          </a:prstGeom>
          <a:noFill/>
          <a:ln w="28575">
            <a:solidFill>
              <a:srgbClr val="0062E1">
                <a:alpha val="70195"/>
              </a:srgbClr>
            </a:solidFill>
            <a:round/>
            <a:headEnd/>
            <a:tailEnd/>
          </a:ln>
        </p:spPr>
        <p:txBody>
          <a:bodyPr/>
          <a:lstStyle/>
          <a:p>
            <a:endParaRPr lang="zh-CN" altLang="en-US"/>
          </a:p>
        </p:txBody>
      </p:sp>
      <p:sp>
        <p:nvSpPr>
          <p:cNvPr id="3077" name="Line 5"/>
          <p:cNvSpPr>
            <a:spLocks noChangeShapeType="1"/>
          </p:cNvSpPr>
          <p:nvPr/>
        </p:nvSpPr>
        <p:spPr bwMode="auto">
          <a:xfrm>
            <a:off x="100013" y="6286500"/>
            <a:ext cx="9043987" cy="0"/>
          </a:xfrm>
          <a:prstGeom prst="line">
            <a:avLst/>
          </a:prstGeom>
          <a:noFill/>
          <a:ln w="34925">
            <a:solidFill>
              <a:srgbClr val="0062E1">
                <a:alpha val="70195"/>
              </a:srgbClr>
            </a:solidFill>
            <a:round/>
            <a:headEnd/>
            <a:tailEnd/>
          </a:ln>
        </p:spPr>
        <p:txBody>
          <a:bodyPr/>
          <a:lstStyle/>
          <a:p>
            <a:endParaRPr lang="zh-CN" altLang="en-US"/>
          </a:p>
        </p:txBody>
      </p:sp>
      <p:sp>
        <p:nvSpPr>
          <p:cNvPr id="3083" name="Text Box 11">
            <a:hlinkClick r:id="rId2" action="ppaction://hlinksldjump"/>
          </p:cNvPr>
          <p:cNvSpPr txBox="1">
            <a:spLocks noChangeArrowheads="1"/>
          </p:cNvSpPr>
          <p:nvPr/>
        </p:nvSpPr>
        <p:spPr bwMode="auto">
          <a:xfrm>
            <a:off x="900113" y="1676400"/>
            <a:ext cx="6481762"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§8.1  </a:t>
            </a:r>
            <a:r>
              <a:rPr lang="zh-CN" altLang="en-US" sz="2400" b="1">
                <a:solidFill>
                  <a:srgbClr val="0000FF"/>
                </a:solidFill>
                <a:latin typeface="Times New Roman" pitchFamily="18" charset="0"/>
                <a:cs typeface="Times New Roman" pitchFamily="18" charset="0"/>
              </a:rPr>
              <a:t>气体分子热运动的统计规律性</a:t>
            </a:r>
          </a:p>
        </p:txBody>
      </p:sp>
      <p:sp>
        <p:nvSpPr>
          <p:cNvPr id="3084" name="Text Box 12">
            <a:hlinkClick r:id="rId3" action="ppaction://hlinksldjump"/>
          </p:cNvPr>
          <p:cNvSpPr txBox="1">
            <a:spLocks noChangeArrowheads="1"/>
          </p:cNvSpPr>
          <p:nvPr/>
        </p:nvSpPr>
        <p:spPr bwMode="auto">
          <a:xfrm>
            <a:off x="900113" y="2227263"/>
            <a:ext cx="4608512"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§8.2  </a:t>
            </a:r>
            <a:r>
              <a:rPr lang="zh-CN" altLang="en-US" sz="2400" b="1">
                <a:solidFill>
                  <a:srgbClr val="0000FF"/>
                </a:solidFill>
                <a:latin typeface="Times New Roman" pitchFamily="18" charset="0"/>
                <a:cs typeface="Times New Roman" pitchFamily="18" charset="0"/>
              </a:rPr>
              <a:t>理想气体的压强</a:t>
            </a:r>
          </a:p>
        </p:txBody>
      </p:sp>
      <p:sp>
        <p:nvSpPr>
          <p:cNvPr id="3085" name="Text Box 13">
            <a:hlinkClick r:id="rId4" action="ppaction://hlinksldjump"/>
          </p:cNvPr>
          <p:cNvSpPr txBox="1">
            <a:spLocks noChangeArrowheads="1"/>
          </p:cNvSpPr>
          <p:nvPr/>
        </p:nvSpPr>
        <p:spPr bwMode="auto">
          <a:xfrm>
            <a:off x="900113" y="2730500"/>
            <a:ext cx="4465637"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§8.3  </a:t>
            </a:r>
            <a:r>
              <a:rPr lang="zh-CN" altLang="en-US" sz="2400" b="1">
                <a:solidFill>
                  <a:srgbClr val="0000FF"/>
                </a:solidFill>
                <a:latin typeface="Times New Roman" pitchFamily="18" charset="0"/>
                <a:cs typeface="Times New Roman" pitchFamily="18" charset="0"/>
              </a:rPr>
              <a:t>温度的微观本质</a:t>
            </a:r>
          </a:p>
        </p:txBody>
      </p:sp>
      <p:sp>
        <p:nvSpPr>
          <p:cNvPr id="3086" name="Text Box 14">
            <a:hlinkClick r:id="rId5" action="ppaction://hlinksldjump"/>
          </p:cNvPr>
          <p:cNvSpPr txBox="1">
            <a:spLocks noChangeArrowheads="1"/>
          </p:cNvSpPr>
          <p:nvPr/>
        </p:nvSpPr>
        <p:spPr bwMode="auto">
          <a:xfrm>
            <a:off x="900113" y="3235325"/>
            <a:ext cx="3960812"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§8.4  </a:t>
            </a:r>
            <a:r>
              <a:rPr lang="zh-CN" altLang="en-US" sz="2400" b="1">
                <a:solidFill>
                  <a:srgbClr val="0000FF"/>
                </a:solidFill>
                <a:latin typeface="Times New Roman" pitchFamily="18" charset="0"/>
                <a:cs typeface="Times New Roman" pitchFamily="18" charset="0"/>
              </a:rPr>
              <a:t>能量均分定理</a:t>
            </a:r>
          </a:p>
        </p:txBody>
      </p:sp>
      <p:sp>
        <p:nvSpPr>
          <p:cNvPr id="3087" name="Text Box 15">
            <a:hlinkClick r:id="rId6" action="ppaction://hlinksldjump"/>
          </p:cNvPr>
          <p:cNvSpPr txBox="1">
            <a:spLocks noChangeArrowheads="1"/>
          </p:cNvSpPr>
          <p:nvPr/>
        </p:nvSpPr>
        <p:spPr bwMode="auto">
          <a:xfrm>
            <a:off x="900113" y="3738563"/>
            <a:ext cx="4968875"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§8.5  </a:t>
            </a:r>
            <a:r>
              <a:rPr lang="zh-CN" altLang="en-US" sz="2400" b="1">
                <a:solidFill>
                  <a:srgbClr val="0000FF"/>
                </a:solidFill>
                <a:latin typeface="Times New Roman" pitchFamily="18" charset="0"/>
                <a:cs typeface="Times New Roman" pitchFamily="18" charset="0"/>
              </a:rPr>
              <a:t>麦克斯韦速率分布率</a:t>
            </a:r>
          </a:p>
        </p:txBody>
      </p:sp>
      <p:sp>
        <p:nvSpPr>
          <p:cNvPr id="3088" name="Text Box 16">
            <a:hlinkClick r:id="rId7" action="ppaction://hlinksldjump"/>
          </p:cNvPr>
          <p:cNvSpPr txBox="1">
            <a:spLocks noChangeArrowheads="1"/>
          </p:cNvSpPr>
          <p:nvPr/>
        </p:nvSpPr>
        <p:spPr bwMode="auto">
          <a:xfrm>
            <a:off x="900113" y="4252913"/>
            <a:ext cx="4249737" cy="457200"/>
          </a:xfrm>
          <a:prstGeom prst="rect">
            <a:avLst/>
          </a:prstGeom>
          <a:noFill/>
          <a:ln w="9525">
            <a:noFill/>
            <a:miter lim="800000"/>
            <a:headEnd/>
            <a:tailEnd/>
          </a:ln>
        </p:spPr>
        <p:txBody>
          <a:bodyPr>
            <a:spAutoFit/>
          </a:bodyPr>
          <a:lstStyle/>
          <a:p>
            <a:r>
              <a:rPr lang="en-US" altLang="zh-CN" sz="2400" b="1" dirty="0">
                <a:solidFill>
                  <a:srgbClr val="0000FF"/>
                </a:solidFill>
                <a:latin typeface="Times New Roman" pitchFamily="18" charset="0"/>
                <a:cs typeface="Times New Roman" pitchFamily="18" charset="0"/>
              </a:rPr>
              <a:t>§8.6  </a:t>
            </a:r>
            <a:r>
              <a:rPr lang="zh-CN" altLang="en-US" sz="2400" b="1" dirty="0">
                <a:solidFill>
                  <a:srgbClr val="0000FF"/>
                </a:solidFill>
                <a:latin typeface="Times New Roman" pitchFamily="18" charset="0"/>
                <a:cs typeface="Times New Roman" pitchFamily="18" charset="0"/>
              </a:rPr>
              <a:t>玻尔兹曼分布</a:t>
            </a:r>
          </a:p>
        </p:txBody>
      </p:sp>
      <p:sp>
        <p:nvSpPr>
          <p:cNvPr id="3089" name="Text Box 17">
            <a:hlinkClick r:id="rId8" action="ppaction://hlinksldjump"/>
          </p:cNvPr>
          <p:cNvSpPr txBox="1">
            <a:spLocks noChangeArrowheads="1"/>
          </p:cNvSpPr>
          <p:nvPr/>
        </p:nvSpPr>
        <p:spPr bwMode="auto">
          <a:xfrm>
            <a:off x="900113" y="4772025"/>
            <a:ext cx="7561262"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§8.7  </a:t>
            </a:r>
            <a:r>
              <a:rPr lang="zh-CN" altLang="en-US" sz="2400" b="1">
                <a:solidFill>
                  <a:srgbClr val="0000FF"/>
                </a:solidFill>
                <a:latin typeface="Times New Roman" pitchFamily="18" charset="0"/>
                <a:cs typeface="Times New Roman" pitchFamily="18" charset="0"/>
              </a:rPr>
              <a:t>气体分子的平均碰撞频率和平均自由程 </a:t>
            </a:r>
          </a:p>
        </p:txBody>
      </p:sp>
      <p:sp>
        <p:nvSpPr>
          <p:cNvPr id="3090" name="Text Box 18">
            <a:hlinkClick r:id="rId9" action="ppaction://hlinksldjump"/>
          </p:cNvPr>
          <p:cNvSpPr txBox="1">
            <a:spLocks noChangeArrowheads="1"/>
          </p:cNvSpPr>
          <p:nvPr/>
        </p:nvSpPr>
        <p:spPr bwMode="auto">
          <a:xfrm>
            <a:off x="912813" y="5286375"/>
            <a:ext cx="7058025" cy="457200"/>
          </a:xfrm>
          <a:prstGeom prst="rect">
            <a:avLst/>
          </a:prstGeom>
          <a:noFill/>
          <a:ln w="9525">
            <a:noFill/>
            <a:miter lim="800000"/>
            <a:headEnd/>
            <a:tailEnd/>
          </a:ln>
        </p:spPr>
        <p:txBody>
          <a:bodyPr>
            <a:spAutoFit/>
          </a:bodyPr>
          <a:lstStyle/>
          <a:p>
            <a:r>
              <a:rPr lang="en-US" altLang="zh-CN" sz="2400" b="1">
                <a:solidFill>
                  <a:srgbClr val="0000FF"/>
                </a:solidFill>
                <a:latin typeface="Times New Roman" pitchFamily="18" charset="0"/>
                <a:cs typeface="Times New Roman" pitchFamily="18" charset="0"/>
              </a:rPr>
              <a:t>§8.8  </a:t>
            </a:r>
            <a:r>
              <a:rPr lang="zh-CN" altLang="en-US" sz="2400" b="1">
                <a:solidFill>
                  <a:srgbClr val="0000FF"/>
                </a:solidFill>
                <a:latin typeface="Times New Roman" pitchFamily="18" charset="0"/>
                <a:cs typeface="Times New Roman" pitchFamily="18" charset="0"/>
              </a:rPr>
              <a:t>热力学第二定律的统计意义   熵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wipe(left)">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074"/>
                                        </p:tgtEl>
                                        <p:attrNameLst>
                                          <p:attrName>style.visibility</p:attrName>
                                        </p:attrNameLst>
                                      </p:cBhvr>
                                      <p:to>
                                        <p:strVal val="visible"/>
                                      </p:to>
                                    </p:set>
                                    <p:anim calcmode="lin" valueType="num">
                                      <p:cBhvr additive="base">
                                        <p:cTn id="12" dur="500" fill="hold"/>
                                        <p:tgtEl>
                                          <p:spTgt spid="3074"/>
                                        </p:tgtEl>
                                        <p:attrNameLst>
                                          <p:attrName>ppt_x</p:attrName>
                                        </p:attrNameLst>
                                      </p:cBhvr>
                                      <p:tavLst>
                                        <p:tav tm="0">
                                          <p:val>
                                            <p:strVal val="0-#ppt_w/2"/>
                                          </p:val>
                                        </p:tav>
                                        <p:tav tm="100000">
                                          <p:val>
                                            <p:strVal val="#ppt_x"/>
                                          </p:val>
                                        </p:tav>
                                      </p:tavLst>
                                    </p:anim>
                                    <p:anim calcmode="lin" valueType="num">
                                      <p:cBhvr additive="base">
                                        <p:cTn id="13"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090"/>
                                        </p:tgtEl>
                                        <p:attrNameLst>
                                          <p:attrName>style.visibility</p:attrName>
                                        </p:attrNameLst>
                                      </p:cBhvr>
                                      <p:to>
                                        <p:strVal val="visible"/>
                                      </p:to>
                                    </p:set>
                                    <p:animEffect transition="in" filter="wipe(left)">
                                      <p:cBhvr>
                                        <p:cTn id="18" dur="500"/>
                                        <p:tgtEl>
                                          <p:spTgt spid="30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89"/>
                                        </p:tgtEl>
                                        <p:attrNameLst>
                                          <p:attrName>style.visibility</p:attrName>
                                        </p:attrNameLst>
                                      </p:cBhvr>
                                      <p:to>
                                        <p:strVal val="visible"/>
                                      </p:to>
                                    </p:set>
                                    <p:animEffect transition="in" filter="wipe(left)">
                                      <p:cBhvr>
                                        <p:cTn id="21" dur="500"/>
                                        <p:tgtEl>
                                          <p:spTgt spid="308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088"/>
                                        </p:tgtEl>
                                        <p:attrNameLst>
                                          <p:attrName>style.visibility</p:attrName>
                                        </p:attrNameLst>
                                      </p:cBhvr>
                                      <p:to>
                                        <p:strVal val="visible"/>
                                      </p:to>
                                    </p:set>
                                    <p:animEffect transition="in" filter="wipe(left)">
                                      <p:cBhvr>
                                        <p:cTn id="24" dur="500"/>
                                        <p:tgtEl>
                                          <p:spTgt spid="308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087"/>
                                        </p:tgtEl>
                                        <p:attrNameLst>
                                          <p:attrName>style.visibility</p:attrName>
                                        </p:attrNameLst>
                                      </p:cBhvr>
                                      <p:to>
                                        <p:strVal val="visible"/>
                                      </p:to>
                                    </p:set>
                                    <p:animEffect transition="in" filter="wipe(left)">
                                      <p:cBhvr>
                                        <p:cTn id="27" dur="500"/>
                                        <p:tgtEl>
                                          <p:spTgt spid="308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086"/>
                                        </p:tgtEl>
                                        <p:attrNameLst>
                                          <p:attrName>style.visibility</p:attrName>
                                        </p:attrNameLst>
                                      </p:cBhvr>
                                      <p:to>
                                        <p:strVal val="visible"/>
                                      </p:to>
                                    </p:set>
                                    <p:animEffect transition="in" filter="wipe(left)">
                                      <p:cBhvr>
                                        <p:cTn id="30" dur="500"/>
                                        <p:tgtEl>
                                          <p:spTgt spid="308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085"/>
                                        </p:tgtEl>
                                        <p:attrNameLst>
                                          <p:attrName>style.visibility</p:attrName>
                                        </p:attrNameLst>
                                      </p:cBhvr>
                                      <p:to>
                                        <p:strVal val="visible"/>
                                      </p:to>
                                    </p:set>
                                    <p:animEffect transition="in" filter="wipe(left)">
                                      <p:cBhvr>
                                        <p:cTn id="33" dur="500"/>
                                        <p:tgtEl>
                                          <p:spTgt spid="308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3084"/>
                                        </p:tgtEl>
                                        <p:attrNameLst>
                                          <p:attrName>style.visibility</p:attrName>
                                        </p:attrNameLst>
                                      </p:cBhvr>
                                      <p:to>
                                        <p:strVal val="visible"/>
                                      </p:to>
                                    </p:set>
                                    <p:animEffect transition="in" filter="wipe(left)">
                                      <p:cBhvr>
                                        <p:cTn id="36" dur="500"/>
                                        <p:tgtEl>
                                          <p:spTgt spid="3084"/>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083"/>
                                        </p:tgtEl>
                                        <p:attrNameLst>
                                          <p:attrName>style.visibility</p:attrName>
                                        </p:attrNameLst>
                                      </p:cBhvr>
                                      <p:to>
                                        <p:strVal val="visible"/>
                                      </p:to>
                                    </p:set>
                                    <p:animEffect transition="in" filter="wipe(left)">
                                      <p:cBhvr>
                                        <p:cTn id="39" dur="500"/>
                                        <p:tgtEl>
                                          <p:spTgt spid="3083"/>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3077"/>
                                        </p:tgtEl>
                                        <p:attrNameLst>
                                          <p:attrName>style.visibility</p:attrName>
                                        </p:attrNameLst>
                                      </p:cBhvr>
                                      <p:to>
                                        <p:strVal val="visible"/>
                                      </p:to>
                                    </p:set>
                                    <p:animEffect transition="in" filter="wipe(down)">
                                      <p:cBhvr>
                                        <p:cTn id="43" dur="5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utoUpdateAnimBg="0"/>
      <p:bldP spid="3076" grpId="0" animBg="1"/>
      <p:bldP spid="3077" grpId="0" animBg="1"/>
      <p:bldP spid="3083" grpId="0"/>
      <p:bldP spid="3084" grpId="0"/>
      <p:bldP spid="3085" grpId="0"/>
      <p:bldP spid="3086" grpId="0"/>
      <p:bldP spid="3087" grpId="0"/>
      <p:bldP spid="3088" grpId="0"/>
      <p:bldP spid="3089" grpId="0"/>
      <p:bldP spid="30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4">
            <a:hlinkClick r:id="rId3" action="ppaction://hlinkpres?slideindex=1&amp;slidetitle="/>
          </p:cNvPr>
          <p:cNvSpPr txBox="1">
            <a:spLocks noChangeArrowheads="1"/>
          </p:cNvSpPr>
          <p:nvPr/>
        </p:nvSpPr>
        <p:spPr bwMode="auto">
          <a:xfrm>
            <a:off x="1258888" y="549275"/>
            <a:ext cx="6481762" cy="519113"/>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cs typeface="Times New Roman" pitchFamily="18" charset="0"/>
              </a:rPr>
              <a:t>§8.1  </a:t>
            </a:r>
            <a:r>
              <a:rPr lang="zh-CN" altLang="en-US" sz="2800" b="1">
                <a:solidFill>
                  <a:srgbClr val="0000FF"/>
                </a:solidFill>
                <a:latin typeface="Times New Roman" pitchFamily="18" charset="0"/>
                <a:cs typeface="Times New Roman" pitchFamily="18" charset="0"/>
              </a:rPr>
              <a:t>气体分子热运动的统计规律性</a:t>
            </a:r>
          </a:p>
        </p:txBody>
      </p:sp>
      <p:sp>
        <p:nvSpPr>
          <p:cNvPr id="4101" name="Text Box 5"/>
          <p:cNvSpPr txBox="1">
            <a:spLocks noChangeArrowheads="1"/>
          </p:cNvSpPr>
          <p:nvPr/>
        </p:nvSpPr>
        <p:spPr bwMode="auto">
          <a:xfrm>
            <a:off x="179388" y="1316038"/>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cs typeface="Times New Roman" pitchFamily="18" charset="0"/>
              </a:rPr>
              <a:t>8.1.1   </a:t>
            </a:r>
            <a:r>
              <a:rPr kumimoji="1" lang="zh-CN" altLang="en-US" sz="2400" b="1">
                <a:solidFill>
                  <a:srgbClr val="0000FF"/>
                </a:solidFill>
                <a:latin typeface="Times New Roman" pitchFamily="18" charset="0"/>
                <a:cs typeface="Times New Roman" pitchFamily="18" charset="0"/>
              </a:rPr>
              <a:t>气体分子热运动的特征</a:t>
            </a:r>
            <a:r>
              <a:rPr kumimoji="1" lang="zh-CN" altLang="en-US" sz="2400">
                <a:latin typeface="Times New Roman" pitchFamily="18" charset="0"/>
                <a:cs typeface="Times New Roman" pitchFamily="18" charset="0"/>
              </a:rPr>
              <a:t> </a:t>
            </a:r>
          </a:p>
        </p:txBody>
      </p:sp>
      <p:sp>
        <p:nvSpPr>
          <p:cNvPr id="4103" name="Rectangle 7"/>
          <p:cNvSpPr>
            <a:spLocks noChangeArrowheads="1"/>
          </p:cNvSpPr>
          <p:nvPr/>
        </p:nvSpPr>
        <p:spPr bwMode="auto">
          <a:xfrm>
            <a:off x="179388" y="2684463"/>
            <a:ext cx="81375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(1)  </a:t>
            </a:r>
            <a:r>
              <a:rPr kumimoji="1" lang="zh-CN" altLang="en-US" sz="2400" b="1" dirty="0">
                <a:solidFill>
                  <a:srgbClr val="0000FF"/>
                </a:solidFill>
                <a:latin typeface="Times New Roman" pitchFamily="18" charset="0"/>
                <a:ea typeface="+mn-ea"/>
                <a:cs typeface="Times New Roman" pitchFamily="18" charset="0"/>
              </a:rPr>
              <a:t>宏观物体都是由大量分子或原子组成</a:t>
            </a:r>
          </a:p>
        </p:txBody>
      </p:sp>
      <p:sp>
        <p:nvSpPr>
          <p:cNvPr id="4106" name="Text Box 10"/>
          <p:cNvSpPr txBox="1">
            <a:spLocks noChangeArrowheads="1"/>
          </p:cNvSpPr>
          <p:nvPr/>
        </p:nvSpPr>
        <p:spPr bwMode="auto">
          <a:xfrm>
            <a:off x="179388" y="2035175"/>
            <a:ext cx="5788025" cy="457200"/>
          </a:xfrm>
          <a:prstGeom prst="rect">
            <a:avLst/>
          </a:prstGeom>
          <a:noFill/>
          <a:ln w="9525">
            <a:noFill/>
            <a:miter lim="800000"/>
            <a:headEnd/>
            <a:tailEnd/>
          </a:ln>
        </p:spPr>
        <p:txBody>
          <a:bodyPr>
            <a:spAutoFit/>
          </a:bodyPr>
          <a:lstStyle/>
          <a:p>
            <a:pPr>
              <a:buClr>
                <a:srgbClr val="FF6600"/>
              </a:buClr>
              <a:buFont typeface="Wingdings" pitchFamily="2" charset="2"/>
              <a:buNone/>
            </a:pPr>
            <a:r>
              <a:rPr kumimoji="1" lang="en-US" altLang="zh-CN" sz="2400" b="1">
                <a:solidFill>
                  <a:srgbClr val="FF0000"/>
                </a:solidFill>
                <a:latin typeface="Times New Roman" pitchFamily="18" charset="0"/>
                <a:cs typeface="Times New Roman" pitchFamily="18" charset="0"/>
              </a:rPr>
              <a:t>1</a:t>
            </a:r>
            <a:r>
              <a:rPr kumimoji="1" lang="zh-CN" altLang="en-US" sz="2400" b="1">
                <a:solidFill>
                  <a:srgbClr val="FF0000"/>
                </a:solidFill>
                <a:latin typeface="Times New Roman" pitchFamily="18" charset="0"/>
                <a:cs typeface="Times New Roman" pitchFamily="18" charset="0"/>
              </a:rPr>
              <a:t>、气体分子热运动的无序性</a:t>
            </a:r>
          </a:p>
        </p:txBody>
      </p:sp>
      <p:sp>
        <p:nvSpPr>
          <p:cNvPr id="4114" name="Text Box 18"/>
          <p:cNvSpPr txBox="1">
            <a:spLocks noChangeArrowheads="1"/>
          </p:cNvSpPr>
          <p:nvPr/>
        </p:nvSpPr>
        <p:spPr bwMode="auto">
          <a:xfrm>
            <a:off x="166688" y="3419475"/>
            <a:ext cx="1584325" cy="461963"/>
          </a:xfrm>
          <a:prstGeom prst="rect">
            <a:avLst/>
          </a:prstGeom>
          <a:noFill/>
          <a:ln w="9525">
            <a:noFill/>
            <a:miter lim="800000"/>
            <a:headEnd/>
            <a:tailEnd/>
          </a:ln>
        </p:spPr>
        <p:txBody>
          <a:bodyPr>
            <a:spAutoFit/>
          </a:bodyPr>
          <a:lstStyle/>
          <a:p>
            <a:r>
              <a:rPr lang="zh-CN" altLang="en-US" sz="2400" b="1">
                <a:solidFill>
                  <a:srgbClr val="FF3300"/>
                </a:solidFill>
                <a:latin typeface="Times New Roman" pitchFamily="18" charset="0"/>
                <a:ea typeface="楷体_GB2312" pitchFamily="49" charset="-122"/>
                <a:cs typeface="Times New Roman" pitchFamily="18" charset="0"/>
              </a:rPr>
              <a:t>例如：</a:t>
            </a:r>
          </a:p>
        </p:txBody>
      </p:sp>
      <p:sp>
        <p:nvSpPr>
          <p:cNvPr id="4117" name="Text Box 21"/>
          <p:cNvSpPr txBox="1">
            <a:spLocks noChangeArrowheads="1"/>
          </p:cNvSpPr>
          <p:nvPr/>
        </p:nvSpPr>
        <p:spPr bwMode="auto">
          <a:xfrm>
            <a:off x="1122363" y="3433763"/>
            <a:ext cx="6388100" cy="461962"/>
          </a:xfrm>
          <a:prstGeom prst="rect">
            <a:avLst/>
          </a:prstGeom>
          <a:noFill/>
          <a:ln w="9525">
            <a:noFill/>
            <a:miter lim="800000"/>
            <a:headEnd/>
            <a:tailEnd/>
          </a:ln>
        </p:spPr>
        <p:txBody>
          <a:bodyPr>
            <a:spAutoFit/>
          </a:bodyPr>
          <a:lstStyle/>
          <a:p>
            <a:r>
              <a:rPr kumimoji="1" lang="en-US" altLang="zh-CN" sz="2400" b="1">
                <a:solidFill>
                  <a:schemeClr val="hlink"/>
                </a:solidFill>
                <a:latin typeface="Times New Roman" pitchFamily="18" charset="0"/>
                <a:ea typeface="楷体_GB2312" pitchFamily="49" charset="-122"/>
                <a:cs typeface="Times New Roman" pitchFamily="18" charset="0"/>
              </a:rPr>
              <a:t> </a:t>
            </a:r>
            <a:r>
              <a:rPr lang="en-US" altLang="zh-CN" sz="2400" b="1">
                <a:solidFill>
                  <a:srgbClr val="FF6600"/>
                </a:solidFill>
                <a:latin typeface="Times New Roman" pitchFamily="18" charset="0"/>
                <a:ea typeface="楷体_GB2312" pitchFamily="49" charset="-122"/>
                <a:cs typeface="Times New Roman" pitchFamily="18" charset="0"/>
              </a:rPr>
              <a:t>1cm</a:t>
            </a:r>
            <a:r>
              <a:rPr lang="en-US" altLang="zh-CN" sz="2400" b="1" baseline="40000">
                <a:solidFill>
                  <a:srgbClr val="FF6600"/>
                </a:solidFill>
                <a:latin typeface="Times New Roman" pitchFamily="18" charset="0"/>
                <a:ea typeface="楷体_GB2312" pitchFamily="49" charset="-122"/>
                <a:cs typeface="Times New Roman" pitchFamily="18" charset="0"/>
              </a:rPr>
              <a:t>3</a:t>
            </a:r>
            <a:r>
              <a:rPr lang="zh-CN" altLang="en-US" sz="2400" b="1">
                <a:latin typeface="Times New Roman" pitchFamily="18" charset="0"/>
                <a:ea typeface="楷体_GB2312" pitchFamily="49" charset="-122"/>
                <a:cs typeface="Times New Roman" pitchFamily="18" charset="0"/>
              </a:rPr>
              <a:t>的空气中包含有</a:t>
            </a:r>
            <a:r>
              <a:rPr lang="en-US" altLang="zh-CN" sz="2400" b="1">
                <a:solidFill>
                  <a:srgbClr val="FF6600"/>
                </a:solidFill>
                <a:latin typeface="Times New Roman" pitchFamily="18" charset="0"/>
                <a:ea typeface="楷体_GB2312" pitchFamily="49" charset="-122"/>
                <a:cs typeface="Times New Roman" pitchFamily="18" charset="0"/>
              </a:rPr>
              <a:t>2.7×10</a:t>
            </a:r>
            <a:r>
              <a:rPr lang="en-US" altLang="zh-CN" sz="2400" b="1" baseline="40000">
                <a:solidFill>
                  <a:srgbClr val="FF6600"/>
                </a:solidFill>
                <a:latin typeface="Times New Roman" pitchFamily="18" charset="0"/>
                <a:ea typeface="楷体_GB2312" pitchFamily="49" charset="-122"/>
                <a:cs typeface="Times New Roman" pitchFamily="18" charset="0"/>
              </a:rPr>
              <a:t>19 </a:t>
            </a:r>
            <a:r>
              <a:rPr lang="zh-CN" altLang="en-US" sz="2400" b="1">
                <a:latin typeface="Times New Roman" pitchFamily="18" charset="0"/>
                <a:ea typeface="楷体_GB2312" pitchFamily="49" charset="-122"/>
                <a:cs typeface="Times New Roman" pitchFamily="18" charset="0"/>
              </a:rPr>
              <a:t>个分子</a:t>
            </a:r>
          </a:p>
        </p:txBody>
      </p:sp>
      <p:sp>
        <p:nvSpPr>
          <p:cNvPr id="4118" name="Rectangle 22"/>
          <p:cNvSpPr>
            <a:spLocks noChangeArrowheads="1"/>
          </p:cNvSpPr>
          <p:nvPr/>
        </p:nvSpPr>
        <p:spPr bwMode="auto">
          <a:xfrm>
            <a:off x="179388" y="4195763"/>
            <a:ext cx="81375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(2)  </a:t>
            </a:r>
            <a:r>
              <a:rPr kumimoji="1" lang="zh-CN" altLang="en-US" sz="2400" b="1" dirty="0">
                <a:solidFill>
                  <a:srgbClr val="0000FF"/>
                </a:solidFill>
                <a:latin typeface="Times New Roman" pitchFamily="18" charset="0"/>
                <a:ea typeface="+mn-ea"/>
                <a:cs typeface="Times New Roman" pitchFamily="18" charset="0"/>
              </a:rPr>
              <a:t>分子处在永不停息地无序热运动中</a:t>
            </a:r>
          </a:p>
        </p:txBody>
      </p:sp>
      <p:sp>
        <p:nvSpPr>
          <p:cNvPr id="4120" name="Text Box 24"/>
          <p:cNvSpPr txBox="1">
            <a:spLocks noChangeArrowheads="1"/>
          </p:cNvSpPr>
          <p:nvPr/>
        </p:nvSpPr>
        <p:spPr bwMode="auto">
          <a:xfrm>
            <a:off x="1187450" y="4899025"/>
            <a:ext cx="5165725" cy="461963"/>
          </a:xfrm>
          <a:prstGeom prst="rect">
            <a:avLst/>
          </a:prstGeom>
          <a:noFill/>
          <a:ln w="9525">
            <a:noFill/>
            <a:miter lim="800000"/>
            <a:headEnd/>
            <a:tailEnd/>
          </a:ln>
        </p:spPr>
        <p:txBody>
          <a:bodyPr>
            <a:spAutoFit/>
          </a:bodyPr>
          <a:lstStyle/>
          <a:p>
            <a:r>
              <a:rPr kumimoji="1" lang="en-US" altLang="zh-CN" sz="2400" b="1">
                <a:latin typeface="Times New Roman" pitchFamily="18" charset="0"/>
                <a:ea typeface="楷体_GB2312" pitchFamily="49" charset="-122"/>
                <a:cs typeface="Times New Roman" pitchFamily="18" charset="0"/>
              </a:rPr>
              <a:t>① </a:t>
            </a:r>
            <a:r>
              <a:rPr kumimoji="1" lang="zh-CN" altLang="en-US" sz="2400" b="1">
                <a:latin typeface="Times New Roman" pitchFamily="18" charset="0"/>
                <a:ea typeface="楷体_GB2312" pitchFamily="49" charset="-122"/>
                <a:cs typeface="Times New Roman" pitchFamily="18" charset="0"/>
              </a:rPr>
              <a:t>气体、液体、固体的扩散</a:t>
            </a:r>
          </a:p>
        </p:txBody>
      </p:sp>
      <p:sp>
        <p:nvSpPr>
          <p:cNvPr id="4121" name="AutoShape 25"/>
          <p:cNvSpPr>
            <a:spLocks noChangeArrowheads="1"/>
          </p:cNvSpPr>
          <p:nvPr/>
        </p:nvSpPr>
        <p:spPr bwMode="auto">
          <a:xfrm>
            <a:off x="142875" y="5716588"/>
            <a:ext cx="2700338" cy="433387"/>
          </a:xfrm>
          <a:prstGeom prst="wedgeRectCallout">
            <a:avLst>
              <a:gd name="adj1" fmla="val 56329"/>
              <a:gd name="adj2" fmla="val -162454"/>
            </a:avLst>
          </a:prstGeom>
          <a:solidFill>
            <a:srgbClr val="CCFFCC"/>
          </a:solidFill>
          <a:ln w="9525">
            <a:solidFill>
              <a:srgbClr val="00FF00"/>
            </a:solidFill>
            <a:miter lim="800000"/>
            <a:headEnd/>
            <a:tailEnd/>
          </a:ln>
        </p:spPr>
        <p:txBody>
          <a:bodyPr/>
          <a:lstStyle/>
          <a:p>
            <a:pPr algn="ctr"/>
            <a:r>
              <a:rPr kumimoji="1" lang="zh-CN" altLang="en-US" sz="2400" b="1">
                <a:latin typeface="Times New Roman" pitchFamily="18" charset="0"/>
                <a:ea typeface="楷体_GB2312" pitchFamily="49" charset="-122"/>
                <a:cs typeface="Times New Roman" pitchFamily="18" charset="0"/>
              </a:rPr>
              <a:t>水和墨水的混合</a:t>
            </a:r>
          </a:p>
          <a:p>
            <a:pPr algn="ctr"/>
            <a:endParaRPr kumimoji="1" lang="en-US" altLang="zh-CN" sz="2400" b="1">
              <a:latin typeface="Times New Roman" pitchFamily="18" charset="0"/>
              <a:ea typeface="楷体_GB2312" pitchFamily="49" charset="-122"/>
              <a:cs typeface="Times New Roman" pitchFamily="18" charset="0"/>
            </a:endParaRPr>
          </a:p>
        </p:txBody>
      </p:sp>
      <p:sp>
        <p:nvSpPr>
          <p:cNvPr id="4122" name="AutoShape 26"/>
          <p:cNvSpPr>
            <a:spLocks noChangeArrowheads="1"/>
          </p:cNvSpPr>
          <p:nvPr/>
        </p:nvSpPr>
        <p:spPr bwMode="auto">
          <a:xfrm>
            <a:off x="3357563" y="5715000"/>
            <a:ext cx="3154362" cy="433388"/>
          </a:xfrm>
          <a:prstGeom prst="wedgeRectCallout">
            <a:avLst>
              <a:gd name="adj1" fmla="val -34301"/>
              <a:gd name="adj2" fmla="val -158079"/>
            </a:avLst>
          </a:prstGeom>
          <a:solidFill>
            <a:srgbClr val="CCFFCC"/>
          </a:solidFill>
          <a:ln w="9525">
            <a:solidFill>
              <a:srgbClr val="00FF00"/>
            </a:solidFill>
            <a:miter lim="800000"/>
            <a:headEnd/>
            <a:tailEnd/>
          </a:ln>
        </p:spPr>
        <p:txBody>
          <a:bodyPr/>
          <a:lstStyle/>
          <a:p>
            <a:pPr algn="ctr"/>
            <a:r>
              <a:rPr kumimoji="1" lang="en-US" altLang="zh-CN" sz="2400" b="1">
                <a:latin typeface="Times New Roman" pitchFamily="18" charset="0"/>
                <a:cs typeface="Times New Roman" pitchFamily="18" charset="0"/>
              </a:rPr>
              <a:t> </a:t>
            </a:r>
            <a:r>
              <a:rPr kumimoji="1" lang="zh-CN" altLang="en-US" sz="2400" b="1">
                <a:latin typeface="Times New Roman" pitchFamily="18" charset="0"/>
                <a:ea typeface="楷体_GB2312" pitchFamily="49" charset="-122"/>
                <a:cs typeface="Times New Roman" pitchFamily="18" charset="0"/>
              </a:rPr>
              <a:t>相互压紧的金属板</a:t>
            </a:r>
          </a:p>
        </p:txBody>
      </p:sp>
      <p:sp>
        <p:nvSpPr>
          <p:cNvPr id="4123" name="Rectangle 27"/>
          <p:cNvSpPr>
            <a:spLocks noChangeArrowheads="1"/>
          </p:cNvSpPr>
          <p:nvPr/>
        </p:nvSpPr>
        <p:spPr bwMode="auto">
          <a:xfrm>
            <a:off x="179388" y="4868863"/>
            <a:ext cx="1112837" cy="461962"/>
          </a:xfrm>
          <a:prstGeom prst="rect">
            <a:avLst/>
          </a:prstGeom>
          <a:noFill/>
          <a:ln w="9525">
            <a:noFill/>
            <a:miter lim="800000"/>
            <a:headEnd/>
            <a:tailEnd/>
          </a:ln>
        </p:spPr>
        <p:txBody>
          <a:bodyPr wrap="none">
            <a:spAutoFit/>
          </a:bodyPr>
          <a:lstStyle/>
          <a:p>
            <a:r>
              <a:rPr kumimoji="1" lang="zh-CN" altLang="en-US" sz="2400" b="1">
                <a:solidFill>
                  <a:srgbClr val="FF3300"/>
                </a:solidFill>
                <a:latin typeface="Times New Roman" pitchFamily="18" charset="0"/>
                <a:ea typeface="楷体_GB2312" pitchFamily="49" charset="-122"/>
                <a:cs typeface="Times New Roman" pitchFamily="18" charset="0"/>
              </a:rPr>
              <a:t>例如：</a:t>
            </a:r>
          </a:p>
        </p:txBody>
      </p:sp>
      <p:grpSp>
        <p:nvGrpSpPr>
          <p:cNvPr id="2" name="Group 28"/>
          <p:cNvGrpSpPr>
            <a:grpSpLocks/>
          </p:cNvGrpSpPr>
          <p:nvPr/>
        </p:nvGrpSpPr>
        <p:grpSpPr bwMode="auto">
          <a:xfrm>
            <a:off x="6786563" y="3214688"/>
            <a:ext cx="1789112" cy="2895600"/>
            <a:chOff x="4553" y="1979"/>
            <a:chExt cx="1127" cy="1824"/>
          </a:xfrm>
        </p:grpSpPr>
        <p:grpSp>
          <p:nvGrpSpPr>
            <p:cNvPr id="1040" name="Group 29"/>
            <p:cNvGrpSpPr>
              <a:grpSpLocks/>
            </p:cNvGrpSpPr>
            <p:nvPr/>
          </p:nvGrpSpPr>
          <p:grpSpPr bwMode="auto">
            <a:xfrm>
              <a:off x="4793" y="2520"/>
              <a:ext cx="192" cy="484"/>
              <a:chOff x="4896" y="2845"/>
              <a:chExt cx="192" cy="484"/>
            </a:xfrm>
          </p:grpSpPr>
          <p:sp>
            <p:nvSpPr>
              <p:cNvPr id="1056" name="Line 30"/>
              <p:cNvSpPr>
                <a:spLocks noChangeShapeType="1"/>
              </p:cNvSpPr>
              <p:nvPr/>
            </p:nvSpPr>
            <p:spPr bwMode="auto">
              <a:xfrm>
                <a:off x="5088" y="2845"/>
                <a:ext cx="0" cy="476"/>
              </a:xfrm>
              <a:prstGeom prst="line">
                <a:avLst/>
              </a:prstGeom>
              <a:noFill/>
              <a:ln w="38100">
                <a:solidFill>
                  <a:srgbClr val="00FFCC"/>
                </a:solidFill>
                <a:round/>
                <a:headEnd/>
                <a:tailEnd/>
              </a:ln>
            </p:spPr>
            <p:txBody>
              <a:bodyPr/>
              <a:lstStyle/>
              <a:p>
                <a:endParaRPr lang="zh-CN" altLang="en-US"/>
              </a:p>
            </p:txBody>
          </p:sp>
          <p:sp>
            <p:nvSpPr>
              <p:cNvPr id="1057" name="Line 31"/>
              <p:cNvSpPr>
                <a:spLocks noChangeShapeType="1"/>
              </p:cNvSpPr>
              <p:nvPr/>
            </p:nvSpPr>
            <p:spPr bwMode="auto">
              <a:xfrm>
                <a:off x="4896" y="2853"/>
                <a:ext cx="0" cy="476"/>
              </a:xfrm>
              <a:prstGeom prst="line">
                <a:avLst/>
              </a:prstGeom>
              <a:noFill/>
              <a:ln w="38100">
                <a:solidFill>
                  <a:srgbClr val="00FFCC"/>
                </a:solidFill>
                <a:round/>
                <a:headEnd/>
                <a:tailEnd/>
              </a:ln>
            </p:spPr>
            <p:txBody>
              <a:bodyPr/>
              <a:lstStyle/>
              <a:p>
                <a:endParaRPr lang="zh-CN" altLang="en-US"/>
              </a:p>
            </p:txBody>
          </p:sp>
        </p:grpSp>
        <p:sp>
          <p:nvSpPr>
            <p:cNvPr id="1041" name="Oval 32"/>
            <p:cNvSpPr>
              <a:spLocks noChangeArrowheads="1"/>
            </p:cNvSpPr>
            <p:nvPr/>
          </p:nvSpPr>
          <p:spPr bwMode="auto">
            <a:xfrm>
              <a:off x="4601" y="1979"/>
              <a:ext cx="576" cy="576"/>
            </a:xfrm>
            <a:prstGeom prst="ellipse">
              <a:avLst/>
            </a:prstGeom>
            <a:noFill/>
            <a:ln w="38100">
              <a:solidFill>
                <a:srgbClr val="00FFCC"/>
              </a:solidFill>
              <a:round/>
              <a:headEnd/>
              <a:tailEnd/>
            </a:ln>
          </p:spPr>
          <p:txBody>
            <a:bodyPr wrap="none" anchor="ctr"/>
            <a:lstStyle/>
            <a:p>
              <a:pPr algn="ctr"/>
              <a:endParaRPr lang="zh-CN" altLang="en-US">
                <a:latin typeface="Times New Roman" pitchFamily="18" charset="0"/>
                <a:cs typeface="Times New Roman" pitchFamily="18" charset="0"/>
              </a:endParaRPr>
            </a:p>
          </p:txBody>
        </p:sp>
        <p:graphicFrame>
          <p:nvGraphicFramePr>
            <p:cNvPr id="1026" name="Object 33"/>
            <p:cNvGraphicFramePr>
              <a:graphicFrameLocks noChangeAspect="1"/>
            </p:cNvGraphicFramePr>
            <p:nvPr/>
          </p:nvGraphicFramePr>
          <p:xfrm>
            <a:off x="4703" y="2143"/>
            <a:ext cx="315" cy="180"/>
          </p:xfrm>
          <a:graphic>
            <a:graphicData uri="http://schemas.openxmlformats.org/presentationml/2006/ole">
              <p:oleObj spid="_x0000_s1026" name="公式" r:id="rId4" imgW="558720" imgH="317160" progId="Equation.3">
                <p:embed/>
              </p:oleObj>
            </a:graphicData>
          </a:graphic>
        </p:graphicFrame>
        <p:sp>
          <p:nvSpPr>
            <p:cNvPr id="1042" name="Line 34"/>
            <p:cNvSpPr>
              <a:spLocks noChangeShapeType="1"/>
            </p:cNvSpPr>
            <p:nvPr/>
          </p:nvSpPr>
          <p:spPr bwMode="auto">
            <a:xfrm flipV="1">
              <a:off x="4805" y="2542"/>
              <a:ext cx="168" cy="0"/>
            </a:xfrm>
            <a:prstGeom prst="line">
              <a:avLst/>
            </a:prstGeom>
            <a:noFill/>
            <a:ln w="82550">
              <a:solidFill>
                <a:srgbClr val="006699"/>
              </a:solidFill>
              <a:round/>
              <a:headEnd/>
              <a:tailEnd/>
            </a:ln>
          </p:spPr>
          <p:txBody>
            <a:bodyPr/>
            <a:lstStyle/>
            <a:p>
              <a:endParaRPr lang="zh-CN" altLang="en-US"/>
            </a:p>
          </p:txBody>
        </p:sp>
        <p:sp>
          <p:nvSpPr>
            <p:cNvPr id="1043" name="AutoShape 35"/>
            <p:cNvSpPr>
              <a:spLocks noChangeArrowheads="1"/>
            </p:cNvSpPr>
            <p:nvPr/>
          </p:nvSpPr>
          <p:spPr bwMode="auto">
            <a:xfrm>
              <a:off x="4553" y="3227"/>
              <a:ext cx="666" cy="576"/>
            </a:xfrm>
            <a:prstGeom prst="triangle">
              <a:avLst>
                <a:gd name="adj" fmla="val 50000"/>
              </a:avLst>
            </a:prstGeom>
            <a:solidFill>
              <a:srgbClr val="00FFCC"/>
            </a:solidFill>
            <a:ln w="9525">
              <a:solidFill>
                <a:srgbClr val="00FFCC"/>
              </a:solidFill>
              <a:miter lim="800000"/>
              <a:headEnd/>
              <a:tailEnd/>
            </a:ln>
          </p:spPr>
          <p:txBody>
            <a:bodyPr wrap="none" anchor="ctr"/>
            <a:lstStyle/>
            <a:p>
              <a:pPr algn="ctr"/>
              <a:endParaRPr lang="zh-CN" altLang="en-US">
                <a:latin typeface="Times New Roman" pitchFamily="18" charset="0"/>
                <a:cs typeface="Times New Roman" pitchFamily="18" charset="0"/>
              </a:endParaRPr>
            </a:p>
          </p:txBody>
        </p:sp>
        <p:sp>
          <p:nvSpPr>
            <p:cNvPr id="1044" name="Oval 36"/>
            <p:cNvSpPr>
              <a:spLocks noChangeArrowheads="1"/>
            </p:cNvSpPr>
            <p:nvPr/>
          </p:nvSpPr>
          <p:spPr bwMode="auto">
            <a:xfrm>
              <a:off x="4674" y="3227"/>
              <a:ext cx="432" cy="336"/>
            </a:xfrm>
            <a:prstGeom prst="ellipse">
              <a:avLst/>
            </a:prstGeom>
            <a:solidFill>
              <a:srgbClr val="006699"/>
            </a:solidFill>
            <a:ln w="9525">
              <a:noFill/>
              <a:round/>
              <a:headEnd/>
              <a:tailEnd/>
            </a:ln>
          </p:spPr>
          <p:txBody>
            <a:bodyPr wrap="none" anchor="ctr"/>
            <a:lstStyle/>
            <a:p>
              <a:pPr algn="ctr"/>
              <a:endParaRPr lang="zh-CN" altLang="en-US">
                <a:latin typeface="Times New Roman" pitchFamily="18" charset="0"/>
                <a:cs typeface="Times New Roman" pitchFamily="18" charset="0"/>
              </a:endParaRPr>
            </a:p>
          </p:txBody>
        </p:sp>
        <p:graphicFrame>
          <p:nvGraphicFramePr>
            <p:cNvPr id="1027" name="Object 37"/>
            <p:cNvGraphicFramePr>
              <a:graphicFrameLocks noChangeAspect="1"/>
            </p:cNvGraphicFramePr>
            <p:nvPr/>
          </p:nvGraphicFramePr>
          <p:xfrm>
            <a:off x="4757" y="3123"/>
            <a:ext cx="238" cy="238"/>
          </p:xfrm>
          <a:graphic>
            <a:graphicData uri="http://schemas.openxmlformats.org/presentationml/2006/ole">
              <p:oleObj spid="_x0000_s1027" name="公式" r:id="rId5" imgW="419040" imgH="419040" progId="Equation.3">
                <p:embed/>
              </p:oleObj>
            </a:graphicData>
          </a:graphic>
        </p:graphicFrame>
        <p:sp>
          <p:nvSpPr>
            <p:cNvPr id="1045" name="Oval 38"/>
            <p:cNvSpPr>
              <a:spLocks noChangeArrowheads="1"/>
            </p:cNvSpPr>
            <p:nvPr/>
          </p:nvSpPr>
          <p:spPr bwMode="auto">
            <a:xfrm>
              <a:off x="4601" y="2987"/>
              <a:ext cx="576" cy="576"/>
            </a:xfrm>
            <a:prstGeom prst="ellipse">
              <a:avLst/>
            </a:prstGeom>
            <a:noFill/>
            <a:ln w="38100">
              <a:solidFill>
                <a:srgbClr val="00FFCC"/>
              </a:solidFill>
              <a:round/>
              <a:headEnd/>
              <a:tailEnd/>
            </a:ln>
          </p:spPr>
          <p:txBody>
            <a:bodyPr wrap="none" anchor="ctr"/>
            <a:lstStyle/>
            <a:p>
              <a:pPr algn="ctr"/>
              <a:endParaRPr lang="zh-CN" altLang="en-US">
                <a:latin typeface="Times New Roman" pitchFamily="18" charset="0"/>
                <a:cs typeface="Times New Roman" pitchFamily="18" charset="0"/>
              </a:endParaRPr>
            </a:p>
          </p:txBody>
        </p:sp>
        <p:sp>
          <p:nvSpPr>
            <p:cNvPr id="1046" name="Line 39"/>
            <p:cNvSpPr>
              <a:spLocks noChangeShapeType="1"/>
            </p:cNvSpPr>
            <p:nvPr/>
          </p:nvSpPr>
          <p:spPr bwMode="auto">
            <a:xfrm flipV="1">
              <a:off x="4805" y="2987"/>
              <a:ext cx="168" cy="0"/>
            </a:xfrm>
            <a:prstGeom prst="line">
              <a:avLst/>
            </a:prstGeom>
            <a:noFill/>
            <a:ln w="76200">
              <a:solidFill>
                <a:srgbClr val="006699"/>
              </a:solidFill>
              <a:round/>
              <a:headEnd/>
              <a:tailEnd/>
            </a:ln>
          </p:spPr>
          <p:txBody>
            <a:bodyPr/>
            <a:lstStyle/>
            <a:p>
              <a:endParaRPr lang="zh-CN" altLang="en-US"/>
            </a:p>
          </p:txBody>
        </p:sp>
        <p:grpSp>
          <p:nvGrpSpPr>
            <p:cNvPr id="1047" name="Group 40"/>
            <p:cNvGrpSpPr>
              <a:grpSpLocks/>
            </p:cNvGrpSpPr>
            <p:nvPr/>
          </p:nvGrpSpPr>
          <p:grpSpPr bwMode="auto">
            <a:xfrm>
              <a:off x="4649" y="2651"/>
              <a:ext cx="768" cy="288"/>
              <a:chOff x="2016" y="3504"/>
              <a:chExt cx="768" cy="288"/>
            </a:xfrm>
          </p:grpSpPr>
          <p:sp>
            <p:nvSpPr>
              <p:cNvPr id="1053" name="Rectangle 41"/>
              <p:cNvSpPr>
                <a:spLocks noChangeArrowheads="1"/>
              </p:cNvSpPr>
              <p:nvPr/>
            </p:nvSpPr>
            <p:spPr bwMode="auto">
              <a:xfrm>
                <a:off x="2016" y="3552"/>
                <a:ext cx="480" cy="192"/>
              </a:xfrm>
              <a:prstGeom prst="rect">
                <a:avLst/>
              </a:prstGeom>
              <a:noFill/>
              <a:ln w="38100">
                <a:solidFill>
                  <a:srgbClr val="FFFF00"/>
                </a:solidFill>
                <a:miter lim="800000"/>
                <a:headEnd/>
                <a:tailEnd/>
              </a:ln>
            </p:spPr>
            <p:txBody>
              <a:bodyPr wrap="none" anchor="ctr"/>
              <a:lstStyle/>
              <a:p>
                <a:pPr algn="ctr"/>
                <a:endParaRPr lang="zh-CN" altLang="en-US">
                  <a:latin typeface="Times New Roman" pitchFamily="18" charset="0"/>
                  <a:cs typeface="Times New Roman" pitchFamily="18" charset="0"/>
                </a:endParaRPr>
              </a:p>
            </p:txBody>
          </p:sp>
          <p:sp>
            <p:nvSpPr>
              <p:cNvPr id="1054" name="Rectangle 42"/>
              <p:cNvSpPr>
                <a:spLocks noChangeArrowheads="1"/>
              </p:cNvSpPr>
              <p:nvPr/>
            </p:nvSpPr>
            <p:spPr bwMode="auto">
              <a:xfrm>
                <a:off x="2496" y="3600"/>
                <a:ext cx="192" cy="96"/>
              </a:xfrm>
              <a:prstGeom prst="rect">
                <a:avLst/>
              </a:prstGeom>
              <a:noFill/>
              <a:ln w="38100">
                <a:solidFill>
                  <a:srgbClr val="FFFF00"/>
                </a:solidFill>
                <a:miter lim="800000"/>
                <a:headEnd/>
                <a:tailEnd/>
              </a:ln>
            </p:spPr>
            <p:txBody>
              <a:bodyPr wrap="none" anchor="ctr"/>
              <a:lstStyle/>
              <a:p>
                <a:pPr algn="ctr"/>
                <a:endParaRPr lang="zh-CN" altLang="en-US">
                  <a:latin typeface="Times New Roman" pitchFamily="18" charset="0"/>
                  <a:cs typeface="Times New Roman" pitchFamily="18" charset="0"/>
                </a:endParaRPr>
              </a:p>
            </p:txBody>
          </p:sp>
          <p:sp>
            <p:nvSpPr>
              <p:cNvPr id="1055" name="Rectangle 43"/>
              <p:cNvSpPr>
                <a:spLocks noChangeArrowheads="1"/>
              </p:cNvSpPr>
              <p:nvPr/>
            </p:nvSpPr>
            <p:spPr bwMode="auto">
              <a:xfrm>
                <a:off x="2688" y="3504"/>
                <a:ext cx="96" cy="288"/>
              </a:xfrm>
              <a:prstGeom prst="rect">
                <a:avLst/>
              </a:prstGeom>
              <a:noFill/>
              <a:ln w="38100">
                <a:solidFill>
                  <a:srgbClr val="FFFF00"/>
                </a:solidFill>
                <a:miter lim="800000"/>
                <a:headEnd/>
                <a:tailEnd/>
              </a:ln>
            </p:spPr>
            <p:txBody>
              <a:bodyPr wrap="none" anchor="ctr"/>
              <a:lstStyle/>
              <a:p>
                <a:pPr algn="ctr"/>
                <a:endParaRPr lang="zh-CN" altLang="en-US">
                  <a:latin typeface="Times New Roman" pitchFamily="18" charset="0"/>
                  <a:cs typeface="Times New Roman" pitchFamily="18" charset="0"/>
                </a:endParaRPr>
              </a:p>
            </p:txBody>
          </p:sp>
        </p:grpSp>
        <p:sp>
          <p:nvSpPr>
            <p:cNvPr id="1048" name="Line 44"/>
            <p:cNvSpPr>
              <a:spLocks noChangeShapeType="1"/>
            </p:cNvSpPr>
            <p:nvPr/>
          </p:nvSpPr>
          <p:spPr bwMode="auto">
            <a:xfrm>
              <a:off x="4793" y="2712"/>
              <a:ext cx="0" cy="170"/>
            </a:xfrm>
            <a:prstGeom prst="line">
              <a:avLst/>
            </a:prstGeom>
            <a:noFill/>
            <a:ln w="76200">
              <a:solidFill>
                <a:srgbClr val="006699"/>
              </a:solidFill>
              <a:round/>
              <a:headEnd/>
              <a:tailEnd/>
            </a:ln>
          </p:spPr>
          <p:txBody>
            <a:bodyPr/>
            <a:lstStyle/>
            <a:p>
              <a:endParaRPr lang="zh-CN" altLang="en-US"/>
            </a:p>
          </p:txBody>
        </p:sp>
        <p:sp>
          <p:nvSpPr>
            <p:cNvPr id="1049" name="Line 45"/>
            <p:cNvSpPr>
              <a:spLocks noChangeShapeType="1"/>
            </p:cNvSpPr>
            <p:nvPr/>
          </p:nvSpPr>
          <p:spPr bwMode="auto">
            <a:xfrm>
              <a:off x="4985" y="2710"/>
              <a:ext cx="0" cy="170"/>
            </a:xfrm>
            <a:prstGeom prst="line">
              <a:avLst/>
            </a:prstGeom>
            <a:noFill/>
            <a:ln w="76200">
              <a:solidFill>
                <a:srgbClr val="006699"/>
              </a:solidFill>
              <a:round/>
              <a:headEnd/>
              <a:tailEnd/>
            </a:ln>
          </p:spPr>
          <p:txBody>
            <a:bodyPr/>
            <a:lstStyle/>
            <a:p>
              <a:endParaRPr lang="zh-CN" altLang="en-US"/>
            </a:p>
          </p:txBody>
        </p:sp>
        <p:sp>
          <p:nvSpPr>
            <p:cNvPr id="1050" name="Text Box 46"/>
            <p:cNvSpPr txBox="1">
              <a:spLocks noChangeArrowheads="1"/>
            </p:cNvSpPr>
            <p:nvPr/>
          </p:nvSpPr>
          <p:spPr bwMode="auto">
            <a:xfrm>
              <a:off x="5266" y="2146"/>
              <a:ext cx="232" cy="250"/>
            </a:xfrm>
            <a:prstGeom prst="rect">
              <a:avLst/>
            </a:prstGeom>
            <a:noFill/>
            <a:ln w="9525">
              <a:noFill/>
              <a:miter lim="800000"/>
              <a:headEnd/>
              <a:tailEnd/>
            </a:ln>
          </p:spPr>
          <p:txBody>
            <a:bodyPr wrap="none">
              <a:spAutoFit/>
            </a:bodyPr>
            <a:lstStyle/>
            <a:p>
              <a:r>
                <a:rPr lang="en-US" altLang="zh-CN" sz="2000" b="1">
                  <a:latin typeface="Times New Roman" pitchFamily="18" charset="0"/>
                  <a:cs typeface="Times New Roman" pitchFamily="18" charset="0"/>
                </a:rPr>
                <a:t>A</a:t>
              </a:r>
            </a:p>
          </p:txBody>
        </p:sp>
        <p:sp>
          <p:nvSpPr>
            <p:cNvPr id="1051" name="Text Box 47"/>
            <p:cNvSpPr txBox="1">
              <a:spLocks noChangeArrowheads="1"/>
            </p:cNvSpPr>
            <p:nvPr/>
          </p:nvSpPr>
          <p:spPr bwMode="auto">
            <a:xfrm>
              <a:off x="5312" y="3189"/>
              <a:ext cx="223" cy="250"/>
            </a:xfrm>
            <a:prstGeom prst="rect">
              <a:avLst/>
            </a:prstGeom>
            <a:noFill/>
            <a:ln w="9525">
              <a:noFill/>
              <a:miter lim="800000"/>
              <a:headEnd/>
              <a:tailEnd/>
            </a:ln>
          </p:spPr>
          <p:txBody>
            <a:bodyPr wrap="none">
              <a:spAutoFit/>
            </a:bodyPr>
            <a:lstStyle/>
            <a:p>
              <a:r>
                <a:rPr lang="en-US" altLang="zh-CN" sz="2000" b="1">
                  <a:latin typeface="Times New Roman" pitchFamily="18" charset="0"/>
                  <a:cs typeface="Times New Roman" pitchFamily="18" charset="0"/>
                </a:rPr>
                <a:t>B</a:t>
              </a:r>
            </a:p>
          </p:txBody>
        </p:sp>
        <p:sp>
          <p:nvSpPr>
            <p:cNvPr id="1052" name="Text Box 48"/>
            <p:cNvSpPr txBox="1">
              <a:spLocks noChangeArrowheads="1"/>
            </p:cNvSpPr>
            <p:nvPr/>
          </p:nvSpPr>
          <p:spPr bwMode="auto">
            <a:xfrm>
              <a:off x="5448" y="2658"/>
              <a:ext cx="232" cy="250"/>
            </a:xfrm>
            <a:prstGeom prst="rect">
              <a:avLst/>
            </a:prstGeom>
            <a:noFill/>
            <a:ln w="9525">
              <a:noFill/>
              <a:miter lim="800000"/>
              <a:headEnd/>
              <a:tailEnd/>
            </a:ln>
          </p:spPr>
          <p:txBody>
            <a:bodyPr wrap="none">
              <a:spAutoFit/>
            </a:bodyPr>
            <a:lstStyle/>
            <a:p>
              <a:r>
                <a:rPr lang="en-US" altLang="zh-CN" sz="2000" b="1">
                  <a:latin typeface="Times New Roman" pitchFamily="18" charset="0"/>
                  <a:cs typeface="Times New Roman" pitchFamily="18" charset="0"/>
                </a:rPr>
                <a:t>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left)">
                                      <p:cBhvr>
                                        <p:cTn id="7" dur="20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6"/>
                                        </p:tgtEl>
                                        <p:attrNameLst>
                                          <p:attrName>style.visibility</p:attrName>
                                        </p:attrNameLst>
                                      </p:cBhvr>
                                      <p:to>
                                        <p:strVal val="visible"/>
                                      </p:to>
                                    </p:set>
                                    <p:animEffect transition="in" filter="wipe(left)">
                                      <p:cBhvr>
                                        <p:cTn id="12" dur="2000"/>
                                        <p:tgtEl>
                                          <p:spTgt spid="41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03"/>
                                        </p:tgtEl>
                                        <p:attrNameLst>
                                          <p:attrName>style.visibility</p:attrName>
                                        </p:attrNameLst>
                                      </p:cBhvr>
                                      <p:to>
                                        <p:strVal val="visible"/>
                                      </p:to>
                                    </p:set>
                                    <p:animEffect transition="in" filter="wipe(left)">
                                      <p:cBhvr>
                                        <p:cTn id="17" dur="500"/>
                                        <p:tgtEl>
                                          <p:spTgt spid="41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14"/>
                                        </p:tgtEl>
                                        <p:attrNameLst>
                                          <p:attrName>style.visibility</p:attrName>
                                        </p:attrNameLst>
                                      </p:cBhvr>
                                      <p:to>
                                        <p:strVal val="visible"/>
                                      </p:to>
                                    </p:set>
                                    <p:animEffect transition="in" filter="wipe(left)">
                                      <p:cBhvr>
                                        <p:cTn id="22" dur="500"/>
                                        <p:tgtEl>
                                          <p:spTgt spid="4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17"/>
                                        </p:tgtEl>
                                        <p:attrNameLst>
                                          <p:attrName>style.visibility</p:attrName>
                                        </p:attrNameLst>
                                      </p:cBhvr>
                                      <p:to>
                                        <p:strVal val="visible"/>
                                      </p:to>
                                    </p:set>
                                    <p:animEffect transition="in" filter="wipe(left)">
                                      <p:cBhvr>
                                        <p:cTn id="27" dur="500"/>
                                        <p:tgtEl>
                                          <p:spTgt spid="41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18"/>
                                        </p:tgtEl>
                                        <p:attrNameLst>
                                          <p:attrName>style.visibility</p:attrName>
                                        </p:attrNameLst>
                                      </p:cBhvr>
                                      <p:to>
                                        <p:strVal val="visible"/>
                                      </p:to>
                                    </p:set>
                                    <p:animEffect transition="in" filter="wipe(left)">
                                      <p:cBhvr>
                                        <p:cTn id="32" dur="500"/>
                                        <p:tgtEl>
                                          <p:spTgt spid="41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23"/>
                                        </p:tgtEl>
                                        <p:attrNameLst>
                                          <p:attrName>style.visibility</p:attrName>
                                        </p:attrNameLst>
                                      </p:cBhvr>
                                      <p:to>
                                        <p:strVal val="visible"/>
                                      </p:to>
                                    </p:set>
                                    <p:animEffect transition="in" filter="wipe(left)">
                                      <p:cBhvr>
                                        <p:cTn id="37" dur="500"/>
                                        <p:tgtEl>
                                          <p:spTgt spid="4123"/>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4120"/>
                                        </p:tgtEl>
                                        <p:attrNameLst>
                                          <p:attrName>style.visibility</p:attrName>
                                        </p:attrNameLst>
                                      </p:cBhvr>
                                      <p:to>
                                        <p:strVal val="visible"/>
                                      </p:to>
                                    </p:set>
                                    <p:animEffect transition="in" filter="wipe(left)">
                                      <p:cBhvr>
                                        <p:cTn id="41" dur="500"/>
                                        <p:tgtEl>
                                          <p:spTgt spid="4120"/>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p:cTn id="46" dur="500" fill="hold"/>
                                        <p:tgtEl>
                                          <p:spTgt spid="2"/>
                                        </p:tgtEl>
                                        <p:attrNameLst>
                                          <p:attrName>ppt_w</p:attrName>
                                        </p:attrNameLst>
                                      </p:cBhvr>
                                      <p:tavLst>
                                        <p:tav tm="0">
                                          <p:val>
                                            <p:fltVal val="0"/>
                                          </p:val>
                                        </p:tav>
                                        <p:tav tm="100000">
                                          <p:val>
                                            <p:strVal val="#ppt_w"/>
                                          </p:val>
                                        </p:tav>
                                      </p:tavLst>
                                    </p:anim>
                                    <p:anim calcmode="lin" valueType="num">
                                      <p:cBhvr>
                                        <p:cTn id="47"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121"/>
                                        </p:tgtEl>
                                        <p:attrNameLst>
                                          <p:attrName>style.visibility</p:attrName>
                                        </p:attrNameLst>
                                      </p:cBhvr>
                                      <p:to>
                                        <p:strVal val="visible"/>
                                      </p:to>
                                    </p:set>
                                    <p:animEffect transition="in" filter="wipe(left)">
                                      <p:cBhvr>
                                        <p:cTn id="52" dur="500"/>
                                        <p:tgtEl>
                                          <p:spTgt spid="41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122"/>
                                        </p:tgtEl>
                                        <p:attrNameLst>
                                          <p:attrName>style.visibility</p:attrName>
                                        </p:attrNameLst>
                                      </p:cBhvr>
                                      <p:to>
                                        <p:strVal val="visible"/>
                                      </p:to>
                                    </p:set>
                                    <p:animEffect transition="in" filter="wipe(left)">
                                      <p:cBhvr>
                                        <p:cTn id="57" dur="500"/>
                                        <p:tgtEl>
                                          <p:spTgt spid="4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autoUpdateAnimBg="0"/>
      <p:bldP spid="4103" grpId="0"/>
      <p:bldP spid="4106" grpId="0" autoUpdateAnimBg="0"/>
      <p:bldP spid="4114" grpId="0"/>
      <p:bldP spid="4117" grpId="0"/>
      <p:bldP spid="4118" grpId="0"/>
      <p:bldP spid="4120" grpId="0" autoUpdateAnimBg="0"/>
      <p:bldP spid="4121" grpId="0" animBg="1" autoUpdateAnimBg="0"/>
      <p:bldP spid="4122" grpId="0" animBg="1" autoUpdateAnimBg="0"/>
      <p:bldP spid="41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Text Box 2"/>
          <p:cNvSpPr txBox="1">
            <a:spLocks noChangeArrowheads="1"/>
          </p:cNvSpPr>
          <p:nvPr/>
        </p:nvSpPr>
        <p:spPr bwMode="auto">
          <a:xfrm>
            <a:off x="857250" y="857250"/>
            <a:ext cx="3476625" cy="461963"/>
          </a:xfrm>
          <a:prstGeom prst="rect">
            <a:avLst/>
          </a:prstGeom>
          <a:noFill/>
          <a:ln w="9525">
            <a:noFill/>
            <a:miter lim="800000"/>
            <a:headEnd/>
            <a:tailEnd/>
          </a:ln>
        </p:spPr>
        <p:txBody>
          <a:bodyPr>
            <a:spAutoFit/>
          </a:bodyPr>
          <a:lstStyle/>
          <a:p>
            <a:r>
              <a:rPr lang="en-US" altLang="zh-CN" sz="2400" b="1">
                <a:latin typeface="楷体_GB2312" pitchFamily="49" charset="-122"/>
                <a:ea typeface="楷体_GB2312" pitchFamily="49" charset="-122"/>
              </a:rPr>
              <a:t>② </a:t>
            </a:r>
            <a:r>
              <a:rPr lang="zh-CN" altLang="en-US" sz="2400" b="1">
                <a:latin typeface="楷体_GB2312" pitchFamily="49" charset="-122"/>
                <a:ea typeface="楷体_GB2312" pitchFamily="49" charset="-122"/>
              </a:rPr>
              <a:t>布朗运动</a:t>
            </a:r>
            <a:r>
              <a:rPr lang="zh-CN" altLang="en-US" sz="2400" b="1">
                <a:solidFill>
                  <a:srgbClr val="0000FF"/>
                </a:solidFill>
                <a:latin typeface="楷体_GB2312" pitchFamily="49" charset="-122"/>
                <a:ea typeface="楷体_GB2312" pitchFamily="49" charset="-122"/>
              </a:rPr>
              <a:t>  </a:t>
            </a:r>
          </a:p>
        </p:txBody>
      </p:sp>
      <p:grpSp>
        <p:nvGrpSpPr>
          <p:cNvPr id="2" name="Group 3"/>
          <p:cNvGrpSpPr>
            <a:grpSpLocks/>
          </p:cNvGrpSpPr>
          <p:nvPr/>
        </p:nvGrpSpPr>
        <p:grpSpPr bwMode="auto">
          <a:xfrm>
            <a:off x="1790700" y="1428750"/>
            <a:ext cx="5281613" cy="3835400"/>
            <a:chOff x="2471" y="300"/>
            <a:chExt cx="2995" cy="2041"/>
          </a:xfrm>
        </p:grpSpPr>
        <p:sp>
          <p:nvSpPr>
            <p:cNvPr id="93346" name="Line 4"/>
            <p:cNvSpPr>
              <a:spLocks noChangeShapeType="1"/>
            </p:cNvSpPr>
            <p:nvPr/>
          </p:nvSpPr>
          <p:spPr bwMode="auto">
            <a:xfrm>
              <a:off x="2471" y="300"/>
              <a:ext cx="2994" cy="0"/>
            </a:xfrm>
            <a:prstGeom prst="line">
              <a:avLst/>
            </a:prstGeom>
            <a:noFill/>
            <a:ln w="12700">
              <a:solidFill>
                <a:srgbClr val="009999"/>
              </a:solidFill>
              <a:round/>
              <a:headEnd/>
              <a:tailEnd/>
            </a:ln>
          </p:spPr>
          <p:txBody>
            <a:bodyPr/>
            <a:lstStyle/>
            <a:p>
              <a:endParaRPr lang="zh-CN" altLang="en-US"/>
            </a:p>
          </p:txBody>
        </p:sp>
        <p:sp>
          <p:nvSpPr>
            <p:cNvPr id="93347" name="Line 5"/>
            <p:cNvSpPr>
              <a:spLocks noChangeShapeType="1"/>
            </p:cNvSpPr>
            <p:nvPr/>
          </p:nvSpPr>
          <p:spPr bwMode="auto">
            <a:xfrm>
              <a:off x="2471" y="392"/>
              <a:ext cx="2994" cy="0"/>
            </a:xfrm>
            <a:prstGeom prst="line">
              <a:avLst/>
            </a:prstGeom>
            <a:noFill/>
            <a:ln w="12700">
              <a:solidFill>
                <a:srgbClr val="009999"/>
              </a:solidFill>
              <a:round/>
              <a:headEnd/>
              <a:tailEnd/>
            </a:ln>
          </p:spPr>
          <p:txBody>
            <a:bodyPr/>
            <a:lstStyle/>
            <a:p>
              <a:endParaRPr lang="zh-CN" altLang="en-US"/>
            </a:p>
          </p:txBody>
        </p:sp>
        <p:sp>
          <p:nvSpPr>
            <p:cNvPr id="93348" name="Line 6"/>
            <p:cNvSpPr>
              <a:spLocks noChangeShapeType="1"/>
            </p:cNvSpPr>
            <p:nvPr/>
          </p:nvSpPr>
          <p:spPr bwMode="auto">
            <a:xfrm>
              <a:off x="2471" y="485"/>
              <a:ext cx="2994" cy="0"/>
            </a:xfrm>
            <a:prstGeom prst="line">
              <a:avLst/>
            </a:prstGeom>
            <a:noFill/>
            <a:ln w="12700">
              <a:solidFill>
                <a:srgbClr val="009999"/>
              </a:solidFill>
              <a:round/>
              <a:headEnd/>
              <a:tailEnd/>
            </a:ln>
          </p:spPr>
          <p:txBody>
            <a:bodyPr/>
            <a:lstStyle/>
            <a:p>
              <a:endParaRPr lang="zh-CN" altLang="en-US"/>
            </a:p>
          </p:txBody>
        </p:sp>
        <p:sp>
          <p:nvSpPr>
            <p:cNvPr id="93349" name="Line 7"/>
            <p:cNvSpPr>
              <a:spLocks noChangeShapeType="1"/>
            </p:cNvSpPr>
            <p:nvPr/>
          </p:nvSpPr>
          <p:spPr bwMode="auto">
            <a:xfrm>
              <a:off x="2471" y="671"/>
              <a:ext cx="2994" cy="0"/>
            </a:xfrm>
            <a:prstGeom prst="line">
              <a:avLst/>
            </a:prstGeom>
            <a:noFill/>
            <a:ln w="12700">
              <a:solidFill>
                <a:srgbClr val="009999"/>
              </a:solidFill>
              <a:round/>
              <a:headEnd/>
              <a:tailEnd/>
            </a:ln>
          </p:spPr>
          <p:txBody>
            <a:bodyPr/>
            <a:lstStyle/>
            <a:p>
              <a:endParaRPr lang="zh-CN" altLang="en-US"/>
            </a:p>
          </p:txBody>
        </p:sp>
        <p:sp>
          <p:nvSpPr>
            <p:cNvPr id="93350" name="Line 8"/>
            <p:cNvSpPr>
              <a:spLocks noChangeShapeType="1"/>
            </p:cNvSpPr>
            <p:nvPr/>
          </p:nvSpPr>
          <p:spPr bwMode="auto">
            <a:xfrm>
              <a:off x="2471" y="856"/>
              <a:ext cx="2994" cy="0"/>
            </a:xfrm>
            <a:prstGeom prst="line">
              <a:avLst/>
            </a:prstGeom>
            <a:noFill/>
            <a:ln w="12700">
              <a:solidFill>
                <a:srgbClr val="009999"/>
              </a:solidFill>
              <a:round/>
              <a:headEnd/>
              <a:tailEnd/>
            </a:ln>
          </p:spPr>
          <p:txBody>
            <a:bodyPr/>
            <a:lstStyle/>
            <a:p>
              <a:endParaRPr lang="zh-CN" altLang="en-US"/>
            </a:p>
          </p:txBody>
        </p:sp>
        <p:sp>
          <p:nvSpPr>
            <p:cNvPr id="93351" name="Line 9"/>
            <p:cNvSpPr>
              <a:spLocks noChangeShapeType="1"/>
            </p:cNvSpPr>
            <p:nvPr/>
          </p:nvSpPr>
          <p:spPr bwMode="auto">
            <a:xfrm>
              <a:off x="2471" y="1042"/>
              <a:ext cx="2994" cy="0"/>
            </a:xfrm>
            <a:prstGeom prst="line">
              <a:avLst/>
            </a:prstGeom>
            <a:noFill/>
            <a:ln w="12700">
              <a:solidFill>
                <a:srgbClr val="009999"/>
              </a:solidFill>
              <a:round/>
              <a:headEnd/>
              <a:tailEnd/>
            </a:ln>
          </p:spPr>
          <p:txBody>
            <a:bodyPr/>
            <a:lstStyle/>
            <a:p>
              <a:endParaRPr lang="zh-CN" altLang="en-US"/>
            </a:p>
          </p:txBody>
        </p:sp>
        <p:sp>
          <p:nvSpPr>
            <p:cNvPr id="93352" name="Line 10"/>
            <p:cNvSpPr>
              <a:spLocks noChangeShapeType="1"/>
            </p:cNvSpPr>
            <p:nvPr/>
          </p:nvSpPr>
          <p:spPr bwMode="auto">
            <a:xfrm>
              <a:off x="2471" y="1227"/>
              <a:ext cx="2994" cy="0"/>
            </a:xfrm>
            <a:prstGeom prst="line">
              <a:avLst/>
            </a:prstGeom>
            <a:noFill/>
            <a:ln w="12700">
              <a:solidFill>
                <a:srgbClr val="009999"/>
              </a:solidFill>
              <a:round/>
              <a:headEnd/>
              <a:tailEnd/>
            </a:ln>
          </p:spPr>
          <p:txBody>
            <a:bodyPr/>
            <a:lstStyle/>
            <a:p>
              <a:endParaRPr lang="zh-CN" altLang="en-US"/>
            </a:p>
          </p:txBody>
        </p:sp>
        <p:sp>
          <p:nvSpPr>
            <p:cNvPr id="93353" name="Line 11"/>
            <p:cNvSpPr>
              <a:spLocks noChangeShapeType="1"/>
            </p:cNvSpPr>
            <p:nvPr/>
          </p:nvSpPr>
          <p:spPr bwMode="auto">
            <a:xfrm>
              <a:off x="2471" y="1413"/>
              <a:ext cx="2994" cy="0"/>
            </a:xfrm>
            <a:prstGeom prst="line">
              <a:avLst/>
            </a:prstGeom>
            <a:noFill/>
            <a:ln w="12700">
              <a:solidFill>
                <a:srgbClr val="009999"/>
              </a:solidFill>
              <a:round/>
              <a:headEnd/>
              <a:tailEnd/>
            </a:ln>
          </p:spPr>
          <p:txBody>
            <a:bodyPr/>
            <a:lstStyle/>
            <a:p>
              <a:endParaRPr lang="zh-CN" altLang="en-US"/>
            </a:p>
          </p:txBody>
        </p:sp>
        <p:sp>
          <p:nvSpPr>
            <p:cNvPr id="93354" name="Line 12"/>
            <p:cNvSpPr>
              <a:spLocks noChangeShapeType="1"/>
            </p:cNvSpPr>
            <p:nvPr/>
          </p:nvSpPr>
          <p:spPr bwMode="auto">
            <a:xfrm>
              <a:off x="2471" y="1598"/>
              <a:ext cx="2994" cy="0"/>
            </a:xfrm>
            <a:prstGeom prst="line">
              <a:avLst/>
            </a:prstGeom>
            <a:noFill/>
            <a:ln w="12700">
              <a:solidFill>
                <a:srgbClr val="009999"/>
              </a:solidFill>
              <a:round/>
              <a:headEnd/>
              <a:tailEnd/>
            </a:ln>
          </p:spPr>
          <p:txBody>
            <a:bodyPr/>
            <a:lstStyle/>
            <a:p>
              <a:endParaRPr lang="zh-CN" altLang="en-US"/>
            </a:p>
          </p:txBody>
        </p:sp>
        <p:sp>
          <p:nvSpPr>
            <p:cNvPr id="93355" name="Line 13"/>
            <p:cNvSpPr>
              <a:spLocks noChangeShapeType="1"/>
            </p:cNvSpPr>
            <p:nvPr/>
          </p:nvSpPr>
          <p:spPr bwMode="auto">
            <a:xfrm>
              <a:off x="2471" y="1784"/>
              <a:ext cx="2994" cy="0"/>
            </a:xfrm>
            <a:prstGeom prst="line">
              <a:avLst/>
            </a:prstGeom>
            <a:noFill/>
            <a:ln w="12700">
              <a:solidFill>
                <a:srgbClr val="009999"/>
              </a:solidFill>
              <a:round/>
              <a:headEnd/>
              <a:tailEnd/>
            </a:ln>
          </p:spPr>
          <p:txBody>
            <a:bodyPr/>
            <a:lstStyle/>
            <a:p>
              <a:endParaRPr lang="zh-CN" altLang="en-US"/>
            </a:p>
          </p:txBody>
        </p:sp>
        <p:sp>
          <p:nvSpPr>
            <p:cNvPr id="93356" name="Line 14"/>
            <p:cNvSpPr>
              <a:spLocks noChangeShapeType="1"/>
            </p:cNvSpPr>
            <p:nvPr/>
          </p:nvSpPr>
          <p:spPr bwMode="auto">
            <a:xfrm>
              <a:off x="2471" y="1969"/>
              <a:ext cx="2994" cy="0"/>
            </a:xfrm>
            <a:prstGeom prst="line">
              <a:avLst/>
            </a:prstGeom>
            <a:noFill/>
            <a:ln w="12700">
              <a:solidFill>
                <a:srgbClr val="009999"/>
              </a:solidFill>
              <a:round/>
              <a:headEnd/>
              <a:tailEnd/>
            </a:ln>
          </p:spPr>
          <p:txBody>
            <a:bodyPr/>
            <a:lstStyle/>
            <a:p>
              <a:endParaRPr lang="zh-CN" altLang="en-US"/>
            </a:p>
          </p:txBody>
        </p:sp>
        <p:sp>
          <p:nvSpPr>
            <p:cNvPr id="93357" name="Line 15"/>
            <p:cNvSpPr>
              <a:spLocks noChangeShapeType="1"/>
            </p:cNvSpPr>
            <p:nvPr/>
          </p:nvSpPr>
          <p:spPr bwMode="auto">
            <a:xfrm>
              <a:off x="2471" y="2155"/>
              <a:ext cx="2994" cy="0"/>
            </a:xfrm>
            <a:prstGeom prst="line">
              <a:avLst/>
            </a:prstGeom>
            <a:noFill/>
            <a:ln w="12700">
              <a:solidFill>
                <a:srgbClr val="009999"/>
              </a:solidFill>
              <a:round/>
              <a:headEnd/>
              <a:tailEnd/>
            </a:ln>
          </p:spPr>
          <p:txBody>
            <a:bodyPr/>
            <a:lstStyle/>
            <a:p>
              <a:endParaRPr lang="zh-CN" altLang="en-US"/>
            </a:p>
          </p:txBody>
        </p:sp>
        <p:sp>
          <p:nvSpPr>
            <p:cNvPr id="93358" name="Line 16"/>
            <p:cNvSpPr>
              <a:spLocks noChangeShapeType="1"/>
            </p:cNvSpPr>
            <p:nvPr/>
          </p:nvSpPr>
          <p:spPr bwMode="auto">
            <a:xfrm>
              <a:off x="2471" y="578"/>
              <a:ext cx="2994" cy="0"/>
            </a:xfrm>
            <a:prstGeom prst="line">
              <a:avLst/>
            </a:prstGeom>
            <a:noFill/>
            <a:ln w="12700">
              <a:solidFill>
                <a:srgbClr val="009999"/>
              </a:solidFill>
              <a:round/>
              <a:headEnd/>
              <a:tailEnd/>
            </a:ln>
          </p:spPr>
          <p:txBody>
            <a:bodyPr/>
            <a:lstStyle/>
            <a:p>
              <a:endParaRPr lang="zh-CN" altLang="en-US"/>
            </a:p>
          </p:txBody>
        </p:sp>
        <p:sp>
          <p:nvSpPr>
            <p:cNvPr id="93359" name="Line 17"/>
            <p:cNvSpPr>
              <a:spLocks noChangeShapeType="1"/>
            </p:cNvSpPr>
            <p:nvPr/>
          </p:nvSpPr>
          <p:spPr bwMode="auto">
            <a:xfrm>
              <a:off x="2471" y="763"/>
              <a:ext cx="2994" cy="0"/>
            </a:xfrm>
            <a:prstGeom prst="line">
              <a:avLst/>
            </a:prstGeom>
            <a:noFill/>
            <a:ln w="12700">
              <a:solidFill>
                <a:srgbClr val="009999"/>
              </a:solidFill>
              <a:round/>
              <a:headEnd/>
              <a:tailEnd/>
            </a:ln>
          </p:spPr>
          <p:txBody>
            <a:bodyPr/>
            <a:lstStyle/>
            <a:p>
              <a:endParaRPr lang="zh-CN" altLang="en-US"/>
            </a:p>
          </p:txBody>
        </p:sp>
        <p:sp>
          <p:nvSpPr>
            <p:cNvPr id="93360" name="Line 18"/>
            <p:cNvSpPr>
              <a:spLocks noChangeShapeType="1"/>
            </p:cNvSpPr>
            <p:nvPr/>
          </p:nvSpPr>
          <p:spPr bwMode="auto">
            <a:xfrm>
              <a:off x="2471" y="949"/>
              <a:ext cx="2994" cy="0"/>
            </a:xfrm>
            <a:prstGeom prst="line">
              <a:avLst/>
            </a:prstGeom>
            <a:noFill/>
            <a:ln w="12700">
              <a:solidFill>
                <a:srgbClr val="009999"/>
              </a:solidFill>
              <a:round/>
              <a:headEnd/>
              <a:tailEnd/>
            </a:ln>
          </p:spPr>
          <p:txBody>
            <a:bodyPr/>
            <a:lstStyle/>
            <a:p>
              <a:endParaRPr lang="zh-CN" altLang="en-US"/>
            </a:p>
          </p:txBody>
        </p:sp>
        <p:sp>
          <p:nvSpPr>
            <p:cNvPr id="93361" name="Line 19"/>
            <p:cNvSpPr>
              <a:spLocks noChangeShapeType="1"/>
            </p:cNvSpPr>
            <p:nvPr/>
          </p:nvSpPr>
          <p:spPr bwMode="auto">
            <a:xfrm>
              <a:off x="2471" y="1134"/>
              <a:ext cx="2994" cy="0"/>
            </a:xfrm>
            <a:prstGeom prst="line">
              <a:avLst/>
            </a:prstGeom>
            <a:noFill/>
            <a:ln w="12700">
              <a:solidFill>
                <a:srgbClr val="009999"/>
              </a:solidFill>
              <a:round/>
              <a:headEnd/>
              <a:tailEnd/>
            </a:ln>
          </p:spPr>
          <p:txBody>
            <a:bodyPr/>
            <a:lstStyle/>
            <a:p>
              <a:endParaRPr lang="zh-CN" altLang="en-US"/>
            </a:p>
          </p:txBody>
        </p:sp>
        <p:sp>
          <p:nvSpPr>
            <p:cNvPr id="93362" name="Line 20"/>
            <p:cNvSpPr>
              <a:spLocks noChangeShapeType="1"/>
            </p:cNvSpPr>
            <p:nvPr/>
          </p:nvSpPr>
          <p:spPr bwMode="auto">
            <a:xfrm>
              <a:off x="2471" y="1320"/>
              <a:ext cx="2994" cy="0"/>
            </a:xfrm>
            <a:prstGeom prst="line">
              <a:avLst/>
            </a:prstGeom>
            <a:noFill/>
            <a:ln w="12700">
              <a:solidFill>
                <a:srgbClr val="009999"/>
              </a:solidFill>
              <a:round/>
              <a:headEnd/>
              <a:tailEnd/>
            </a:ln>
          </p:spPr>
          <p:txBody>
            <a:bodyPr/>
            <a:lstStyle/>
            <a:p>
              <a:endParaRPr lang="zh-CN" altLang="en-US"/>
            </a:p>
          </p:txBody>
        </p:sp>
        <p:sp>
          <p:nvSpPr>
            <p:cNvPr id="93363" name="Line 21"/>
            <p:cNvSpPr>
              <a:spLocks noChangeShapeType="1"/>
            </p:cNvSpPr>
            <p:nvPr/>
          </p:nvSpPr>
          <p:spPr bwMode="auto">
            <a:xfrm>
              <a:off x="2471" y="1506"/>
              <a:ext cx="2994" cy="0"/>
            </a:xfrm>
            <a:prstGeom prst="line">
              <a:avLst/>
            </a:prstGeom>
            <a:noFill/>
            <a:ln w="12700">
              <a:solidFill>
                <a:srgbClr val="009999"/>
              </a:solidFill>
              <a:round/>
              <a:headEnd/>
              <a:tailEnd/>
            </a:ln>
          </p:spPr>
          <p:txBody>
            <a:bodyPr/>
            <a:lstStyle/>
            <a:p>
              <a:endParaRPr lang="zh-CN" altLang="en-US"/>
            </a:p>
          </p:txBody>
        </p:sp>
        <p:sp>
          <p:nvSpPr>
            <p:cNvPr id="93364" name="Line 22"/>
            <p:cNvSpPr>
              <a:spLocks noChangeShapeType="1"/>
            </p:cNvSpPr>
            <p:nvPr/>
          </p:nvSpPr>
          <p:spPr bwMode="auto">
            <a:xfrm>
              <a:off x="2471" y="1691"/>
              <a:ext cx="2994" cy="0"/>
            </a:xfrm>
            <a:prstGeom prst="line">
              <a:avLst/>
            </a:prstGeom>
            <a:noFill/>
            <a:ln w="12700">
              <a:solidFill>
                <a:srgbClr val="009999"/>
              </a:solidFill>
              <a:round/>
              <a:headEnd/>
              <a:tailEnd/>
            </a:ln>
          </p:spPr>
          <p:txBody>
            <a:bodyPr/>
            <a:lstStyle/>
            <a:p>
              <a:endParaRPr lang="zh-CN" altLang="en-US"/>
            </a:p>
          </p:txBody>
        </p:sp>
        <p:sp>
          <p:nvSpPr>
            <p:cNvPr id="93365" name="Line 23"/>
            <p:cNvSpPr>
              <a:spLocks noChangeShapeType="1"/>
            </p:cNvSpPr>
            <p:nvPr/>
          </p:nvSpPr>
          <p:spPr bwMode="auto">
            <a:xfrm>
              <a:off x="2471" y="1877"/>
              <a:ext cx="2994" cy="0"/>
            </a:xfrm>
            <a:prstGeom prst="line">
              <a:avLst/>
            </a:prstGeom>
            <a:noFill/>
            <a:ln w="12700">
              <a:solidFill>
                <a:srgbClr val="009999"/>
              </a:solidFill>
              <a:round/>
              <a:headEnd/>
              <a:tailEnd/>
            </a:ln>
          </p:spPr>
          <p:txBody>
            <a:bodyPr/>
            <a:lstStyle/>
            <a:p>
              <a:endParaRPr lang="zh-CN" altLang="en-US"/>
            </a:p>
          </p:txBody>
        </p:sp>
        <p:sp>
          <p:nvSpPr>
            <p:cNvPr id="93366" name="Line 24"/>
            <p:cNvSpPr>
              <a:spLocks noChangeShapeType="1"/>
            </p:cNvSpPr>
            <p:nvPr/>
          </p:nvSpPr>
          <p:spPr bwMode="auto">
            <a:xfrm>
              <a:off x="2471" y="2062"/>
              <a:ext cx="2994" cy="0"/>
            </a:xfrm>
            <a:prstGeom prst="line">
              <a:avLst/>
            </a:prstGeom>
            <a:noFill/>
            <a:ln w="12700">
              <a:solidFill>
                <a:srgbClr val="009999"/>
              </a:solidFill>
              <a:round/>
              <a:headEnd/>
              <a:tailEnd/>
            </a:ln>
          </p:spPr>
          <p:txBody>
            <a:bodyPr/>
            <a:lstStyle/>
            <a:p>
              <a:endParaRPr lang="zh-CN" altLang="en-US"/>
            </a:p>
          </p:txBody>
        </p:sp>
        <p:sp>
          <p:nvSpPr>
            <p:cNvPr id="93367" name="Line 25"/>
            <p:cNvSpPr>
              <a:spLocks noChangeShapeType="1"/>
            </p:cNvSpPr>
            <p:nvPr/>
          </p:nvSpPr>
          <p:spPr bwMode="auto">
            <a:xfrm>
              <a:off x="2471" y="2248"/>
              <a:ext cx="2994" cy="0"/>
            </a:xfrm>
            <a:prstGeom prst="line">
              <a:avLst/>
            </a:prstGeom>
            <a:noFill/>
            <a:ln w="12700">
              <a:solidFill>
                <a:srgbClr val="009999"/>
              </a:solidFill>
              <a:round/>
              <a:headEnd/>
              <a:tailEnd/>
            </a:ln>
          </p:spPr>
          <p:txBody>
            <a:bodyPr/>
            <a:lstStyle/>
            <a:p>
              <a:endParaRPr lang="zh-CN" altLang="en-US"/>
            </a:p>
          </p:txBody>
        </p:sp>
        <p:sp>
          <p:nvSpPr>
            <p:cNvPr id="93368" name="Line 26"/>
            <p:cNvSpPr>
              <a:spLocks noChangeShapeType="1"/>
            </p:cNvSpPr>
            <p:nvPr/>
          </p:nvSpPr>
          <p:spPr bwMode="auto">
            <a:xfrm>
              <a:off x="2471" y="2341"/>
              <a:ext cx="2994" cy="0"/>
            </a:xfrm>
            <a:prstGeom prst="line">
              <a:avLst/>
            </a:prstGeom>
            <a:noFill/>
            <a:ln w="12700">
              <a:solidFill>
                <a:srgbClr val="009999"/>
              </a:solidFill>
              <a:round/>
              <a:headEnd/>
              <a:tailEnd/>
            </a:ln>
          </p:spPr>
          <p:txBody>
            <a:bodyPr/>
            <a:lstStyle/>
            <a:p>
              <a:endParaRPr lang="zh-CN" altLang="en-US"/>
            </a:p>
          </p:txBody>
        </p:sp>
        <p:sp>
          <p:nvSpPr>
            <p:cNvPr id="93369" name="Line 27"/>
            <p:cNvSpPr>
              <a:spLocks noChangeShapeType="1"/>
            </p:cNvSpPr>
            <p:nvPr/>
          </p:nvSpPr>
          <p:spPr bwMode="auto">
            <a:xfrm>
              <a:off x="2473" y="300"/>
              <a:ext cx="0" cy="2041"/>
            </a:xfrm>
            <a:prstGeom prst="line">
              <a:avLst/>
            </a:prstGeom>
            <a:noFill/>
            <a:ln w="9525">
              <a:solidFill>
                <a:srgbClr val="009999"/>
              </a:solidFill>
              <a:round/>
              <a:headEnd/>
              <a:tailEnd/>
            </a:ln>
          </p:spPr>
          <p:txBody>
            <a:bodyPr/>
            <a:lstStyle/>
            <a:p>
              <a:endParaRPr lang="zh-CN" altLang="en-US"/>
            </a:p>
          </p:txBody>
        </p:sp>
        <p:sp>
          <p:nvSpPr>
            <p:cNvPr id="93370" name="Line 28"/>
            <p:cNvSpPr>
              <a:spLocks noChangeShapeType="1"/>
            </p:cNvSpPr>
            <p:nvPr/>
          </p:nvSpPr>
          <p:spPr bwMode="auto">
            <a:xfrm>
              <a:off x="2609" y="300"/>
              <a:ext cx="0" cy="2041"/>
            </a:xfrm>
            <a:prstGeom prst="line">
              <a:avLst/>
            </a:prstGeom>
            <a:noFill/>
            <a:ln w="9525">
              <a:solidFill>
                <a:srgbClr val="009999"/>
              </a:solidFill>
              <a:round/>
              <a:headEnd/>
              <a:tailEnd/>
            </a:ln>
          </p:spPr>
          <p:txBody>
            <a:bodyPr/>
            <a:lstStyle/>
            <a:p>
              <a:endParaRPr lang="zh-CN" altLang="en-US"/>
            </a:p>
          </p:txBody>
        </p:sp>
        <p:sp>
          <p:nvSpPr>
            <p:cNvPr id="93371" name="Line 29"/>
            <p:cNvSpPr>
              <a:spLocks noChangeShapeType="1"/>
            </p:cNvSpPr>
            <p:nvPr/>
          </p:nvSpPr>
          <p:spPr bwMode="auto">
            <a:xfrm>
              <a:off x="2744" y="300"/>
              <a:ext cx="0" cy="2041"/>
            </a:xfrm>
            <a:prstGeom prst="line">
              <a:avLst/>
            </a:prstGeom>
            <a:noFill/>
            <a:ln w="9525">
              <a:solidFill>
                <a:srgbClr val="009999"/>
              </a:solidFill>
              <a:round/>
              <a:headEnd/>
              <a:tailEnd/>
            </a:ln>
          </p:spPr>
          <p:txBody>
            <a:bodyPr/>
            <a:lstStyle/>
            <a:p>
              <a:endParaRPr lang="zh-CN" altLang="en-US"/>
            </a:p>
          </p:txBody>
        </p:sp>
        <p:sp>
          <p:nvSpPr>
            <p:cNvPr id="93372" name="Line 30"/>
            <p:cNvSpPr>
              <a:spLocks noChangeShapeType="1"/>
            </p:cNvSpPr>
            <p:nvPr/>
          </p:nvSpPr>
          <p:spPr bwMode="auto">
            <a:xfrm>
              <a:off x="2880" y="300"/>
              <a:ext cx="0" cy="2041"/>
            </a:xfrm>
            <a:prstGeom prst="line">
              <a:avLst/>
            </a:prstGeom>
            <a:noFill/>
            <a:ln w="9525">
              <a:solidFill>
                <a:srgbClr val="009999"/>
              </a:solidFill>
              <a:round/>
              <a:headEnd/>
              <a:tailEnd/>
            </a:ln>
          </p:spPr>
          <p:txBody>
            <a:bodyPr/>
            <a:lstStyle/>
            <a:p>
              <a:endParaRPr lang="zh-CN" altLang="en-US"/>
            </a:p>
          </p:txBody>
        </p:sp>
        <p:sp>
          <p:nvSpPr>
            <p:cNvPr id="93373" name="Line 31"/>
            <p:cNvSpPr>
              <a:spLocks noChangeShapeType="1"/>
            </p:cNvSpPr>
            <p:nvPr/>
          </p:nvSpPr>
          <p:spPr bwMode="auto">
            <a:xfrm>
              <a:off x="3016" y="300"/>
              <a:ext cx="0" cy="2041"/>
            </a:xfrm>
            <a:prstGeom prst="line">
              <a:avLst/>
            </a:prstGeom>
            <a:noFill/>
            <a:ln w="9525">
              <a:solidFill>
                <a:srgbClr val="009999"/>
              </a:solidFill>
              <a:round/>
              <a:headEnd/>
              <a:tailEnd/>
            </a:ln>
          </p:spPr>
          <p:txBody>
            <a:bodyPr/>
            <a:lstStyle/>
            <a:p>
              <a:endParaRPr lang="zh-CN" altLang="en-US"/>
            </a:p>
          </p:txBody>
        </p:sp>
        <p:sp>
          <p:nvSpPr>
            <p:cNvPr id="93374" name="Line 32"/>
            <p:cNvSpPr>
              <a:spLocks noChangeShapeType="1"/>
            </p:cNvSpPr>
            <p:nvPr/>
          </p:nvSpPr>
          <p:spPr bwMode="auto">
            <a:xfrm>
              <a:off x="3152" y="300"/>
              <a:ext cx="0" cy="2041"/>
            </a:xfrm>
            <a:prstGeom prst="line">
              <a:avLst/>
            </a:prstGeom>
            <a:noFill/>
            <a:ln w="9525">
              <a:solidFill>
                <a:srgbClr val="009999"/>
              </a:solidFill>
              <a:round/>
              <a:headEnd/>
              <a:tailEnd/>
            </a:ln>
          </p:spPr>
          <p:txBody>
            <a:bodyPr/>
            <a:lstStyle/>
            <a:p>
              <a:endParaRPr lang="zh-CN" altLang="en-US"/>
            </a:p>
          </p:txBody>
        </p:sp>
        <p:sp>
          <p:nvSpPr>
            <p:cNvPr id="93375" name="Line 33"/>
            <p:cNvSpPr>
              <a:spLocks noChangeShapeType="1"/>
            </p:cNvSpPr>
            <p:nvPr/>
          </p:nvSpPr>
          <p:spPr bwMode="auto">
            <a:xfrm>
              <a:off x="3288" y="300"/>
              <a:ext cx="0" cy="2041"/>
            </a:xfrm>
            <a:prstGeom prst="line">
              <a:avLst/>
            </a:prstGeom>
            <a:noFill/>
            <a:ln w="9525">
              <a:solidFill>
                <a:srgbClr val="009999"/>
              </a:solidFill>
              <a:round/>
              <a:headEnd/>
              <a:tailEnd/>
            </a:ln>
          </p:spPr>
          <p:txBody>
            <a:bodyPr/>
            <a:lstStyle/>
            <a:p>
              <a:endParaRPr lang="zh-CN" altLang="en-US"/>
            </a:p>
          </p:txBody>
        </p:sp>
        <p:sp>
          <p:nvSpPr>
            <p:cNvPr id="93376" name="Line 34"/>
            <p:cNvSpPr>
              <a:spLocks noChangeShapeType="1"/>
            </p:cNvSpPr>
            <p:nvPr/>
          </p:nvSpPr>
          <p:spPr bwMode="auto">
            <a:xfrm>
              <a:off x="3424" y="300"/>
              <a:ext cx="0" cy="2041"/>
            </a:xfrm>
            <a:prstGeom prst="line">
              <a:avLst/>
            </a:prstGeom>
            <a:noFill/>
            <a:ln w="9525">
              <a:solidFill>
                <a:srgbClr val="009999"/>
              </a:solidFill>
              <a:round/>
              <a:headEnd/>
              <a:tailEnd/>
            </a:ln>
          </p:spPr>
          <p:txBody>
            <a:bodyPr/>
            <a:lstStyle/>
            <a:p>
              <a:endParaRPr lang="zh-CN" altLang="en-US"/>
            </a:p>
          </p:txBody>
        </p:sp>
        <p:sp>
          <p:nvSpPr>
            <p:cNvPr id="93377" name="Line 35"/>
            <p:cNvSpPr>
              <a:spLocks noChangeShapeType="1"/>
            </p:cNvSpPr>
            <p:nvPr/>
          </p:nvSpPr>
          <p:spPr bwMode="auto">
            <a:xfrm>
              <a:off x="3560" y="300"/>
              <a:ext cx="0" cy="2041"/>
            </a:xfrm>
            <a:prstGeom prst="line">
              <a:avLst/>
            </a:prstGeom>
            <a:noFill/>
            <a:ln w="9525">
              <a:solidFill>
                <a:srgbClr val="009999"/>
              </a:solidFill>
              <a:round/>
              <a:headEnd/>
              <a:tailEnd/>
            </a:ln>
          </p:spPr>
          <p:txBody>
            <a:bodyPr/>
            <a:lstStyle/>
            <a:p>
              <a:endParaRPr lang="zh-CN" altLang="en-US"/>
            </a:p>
          </p:txBody>
        </p:sp>
        <p:sp>
          <p:nvSpPr>
            <p:cNvPr id="93378" name="Line 36"/>
            <p:cNvSpPr>
              <a:spLocks noChangeShapeType="1"/>
            </p:cNvSpPr>
            <p:nvPr/>
          </p:nvSpPr>
          <p:spPr bwMode="auto">
            <a:xfrm>
              <a:off x="3696" y="300"/>
              <a:ext cx="0" cy="2041"/>
            </a:xfrm>
            <a:prstGeom prst="line">
              <a:avLst/>
            </a:prstGeom>
            <a:noFill/>
            <a:ln w="9525">
              <a:solidFill>
                <a:srgbClr val="009999"/>
              </a:solidFill>
              <a:round/>
              <a:headEnd/>
              <a:tailEnd/>
            </a:ln>
          </p:spPr>
          <p:txBody>
            <a:bodyPr/>
            <a:lstStyle/>
            <a:p>
              <a:endParaRPr lang="zh-CN" altLang="en-US"/>
            </a:p>
          </p:txBody>
        </p:sp>
        <p:sp>
          <p:nvSpPr>
            <p:cNvPr id="93379" name="Line 37"/>
            <p:cNvSpPr>
              <a:spLocks noChangeShapeType="1"/>
            </p:cNvSpPr>
            <p:nvPr/>
          </p:nvSpPr>
          <p:spPr bwMode="auto">
            <a:xfrm>
              <a:off x="3832" y="300"/>
              <a:ext cx="0" cy="2041"/>
            </a:xfrm>
            <a:prstGeom prst="line">
              <a:avLst/>
            </a:prstGeom>
            <a:noFill/>
            <a:ln w="9525">
              <a:solidFill>
                <a:srgbClr val="009999"/>
              </a:solidFill>
              <a:round/>
              <a:headEnd/>
              <a:tailEnd/>
            </a:ln>
          </p:spPr>
          <p:txBody>
            <a:bodyPr/>
            <a:lstStyle/>
            <a:p>
              <a:endParaRPr lang="zh-CN" altLang="en-US"/>
            </a:p>
          </p:txBody>
        </p:sp>
        <p:sp>
          <p:nvSpPr>
            <p:cNvPr id="93380" name="Line 38"/>
            <p:cNvSpPr>
              <a:spLocks noChangeShapeType="1"/>
            </p:cNvSpPr>
            <p:nvPr/>
          </p:nvSpPr>
          <p:spPr bwMode="auto">
            <a:xfrm>
              <a:off x="3968" y="300"/>
              <a:ext cx="0" cy="2041"/>
            </a:xfrm>
            <a:prstGeom prst="line">
              <a:avLst/>
            </a:prstGeom>
            <a:noFill/>
            <a:ln w="9525">
              <a:solidFill>
                <a:srgbClr val="009999"/>
              </a:solidFill>
              <a:round/>
              <a:headEnd/>
              <a:tailEnd/>
            </a:ln>
          </p:spPr>
          <p:txBody>
            <a:bodyPr/>
            <a:lstStyle/>
            <a:p>
              <a:endParaRPr lang="zh-CN" altLang="en-US"/>
            </a:p>
          </p:txBody>
        </p:sp>
        <p:sp>
          <p:nvSpPr>
            <p:cNvPr id="93381" name="Line 39"/>
            <p:cNvSpPr>
              <a:spLocks noChangeShapeType="1"/>
            </p:cNvSpPr>
            <p:nvPr/>
          </p:nvSpPr>
          <p:spPr bwMode="auto">
            <a:xfrm>
              <a:off x="4104" y="300"/>
              <a:ext cx="0" cy="2041"/>
            </a:xfrm>
            <a:prstGeom prst="line">
              <a:avLst/>
            </a:prstGeom>
            <a:noFill/>
            <a:ln w="9525">
              <a:solidFill>
                <a:srgbClr val="009999"/>
              </a:solidFill>
              <a:round/>
              <a:headEnd/>
              <a:tailEnd/>
            </a:ln>
          </p:spPr>
          <p:txBody>
            <a:bodyPr/>
            <a:lstStyle/>
            <a:p>
              <a:endParaRPr lang="zh-CN" altLang="en-US"/>
            </a:p>
          </p:txBody>
        </p:sp>
        <p:sp>
          <p:nvSpPr>
            <p:cNvPr id="93382" name="Line 40"/>
            <p:cNvSpPr>
              <a:spLocks noChangeShapeType="1"/>
            </p:cNvSpPr>
            <p:nvPr/>
          </p:nvSpPr>
          <p:spPr bwMode="auto">
            <a:xfrm>
              <a:off x="4241" y="300"/>
              <a:ext cx="0" cy="2041"/>
            </a:xfrm>
            <a:prstGeom prst="line">
              <a:avLst/>
            </a:prstGeom>
            <a:noFill/>
            <a:ln w="9525">
              <a:solidFill>
                <a:srgbClr val="009999"/>
              </a:solidFill>
              <a:round/>
              <a:headEnd/>
              <a:tailEnd/>
            </a:ln>
          </p:spPr>
          <p:txBody>
            <a:bodyPr/>
            <a:lstStyle/>
            <a:p>
              <a:endParaRPr lang="zh-CN" altLang="en-US"/>
            </a:p>
          </p:txBody>
        </p:sp>
        <p:sp>
          <p:nvSpPr>
            <p:cNvPr id="93383" name="Line 41"/>
            <p:cNvSpPr>
              <a:spLocks noChangeShapeType="1"/>
            </p:cNvSpPr>
            <p:nvPr/>
          </p:nvSpPr>
          <p:spPr bwMode="auto">
            <a:xfrm>
              <a:off x="4377" y="300"/>
              <a:ext cx="0" cy="2041"/>
            </a:xfrm>
            <a:prstGeom prst="line">
              <a:avLst/>
            </a:prstGeom>
            <a:noFill/>
            <a:ln w="9525">
              <a:solidFill>
                <a:srgbClr val="009999"/>
              </a:solidFill>
              <a:round/>
              <a:headEnd/>
              <a:tailEnd/>
            </a:ln>
          </p:spPr>
          <p:txBody>
            <a:bodyPr/>
            <a:lstStyle/>
            <a:p>
              <a:endParaRPr lang="zh-CN" altLang="en-US"/>
            </a:p>
          </p:txBody>
        </p:sp>
        <p:sp>
          <p:nvSpPr>
            <p:cNvPr id="93384" name="Line 42"/>
            <p:cNvSpPr>
              <a:spLocks noChangeShapeType="1"/>
            </p:cNvSpPr>
            <p:nvPr/>
          </p:nvSpPr>
          <p:spPr bwMode="auto">
            <a:xfrm>
              <a:off x="4513" y="300"/>
              <a:ext cx="0" cy="2041"/>
            </a:xfrm>
            <a:prstGeom prst="line">
              <a:avLst/>
            </a:prstGeom>
            <a:noFill/>
            <a:ln w="9525">
              <a:solidFill>
                <a:srgbClr val="009999"/>
              </a:solidFill>
              <a:round/>
              <a:headEnd/>
              <a:tailEnd/>
            </a:ln>
          </p:spPr>
          <p:txBody>
            <a:bodyPr/>
            <a:lstStyle/>
            <a:p>
              <a:endParaRPr lang="zh-CN" altLang="en-US"/>
            </a:p>
          </p:txBody>
        </p:sp>
        <p:sp>
          <p:nvSpPr>
            <p:cNvPr id="93385" name="Line 43"/>
            <p:cNvSpPr>
              <a:spLocks noChangeShapeType="1"/>
            </p:cNvSpPr>
            <p:nvPr/>
          </p:nvSpPr>
          <p:spPr bwMode="auto">
            <a:xfrm>
              <a:off x="4649" y="300"/>
              <a:ext cx="0" cy="2041"/>
            </a:xfrm>
            <a:prstGeom prst="line">
              <a:avLst/>
            </a:prstGeom>
            <a:noFill/>
            <a:ln w="9525">
              <a:solidFill>
                <a:srgbClr val="009999"/>
              </a:solidFill>
              <a:round/>
              <a:headEnd/>
              <a:tailEnd/>
            </a:ln>
          </p:spPr>
          <p:txBody>
            <a:bodyPr/>
            <a:lstStyle/>
            <a:p>
              <a:endParaRPr lang="zh-CN" altLang="en-US"/>
            </a:p>
          </p:txBody>
        </p:sp>
        <p:sp>
          <p:nvSpPr>
            <p:cNvPr id="93386" name="Line 44"/>
            <p:cNvSpPr>
              <a:spLocks noChangeShapeType="1"/>
            </p:cNvSpPr>
            <p:nvPr/>
          </p:nvSpPr>
          <p:spPr bwMode="auto">
            <a:xfrm>
              <a:off x="4785" y="300"/>
              <a:ext cx="0" cy="2041"/>
            </a:xfrm>
            <a:prstGeom prst="line">
              <a:avLst/>
            </a:prstGeom>
            <a:noFill/>
            <a:ln w="9525">
              <a:solidFill>
                <a:srgbClr val="009999"/>
              </a:solidFill>
              <a:round/>
              <a:headEnd/>
              <a:tailEnd/>
            </a:ln>
          </p:spPr>
          <p:txBody>
            <a:bodyPr/>
            <a:lstStyle/>
            <a:p>
              <a:endParaRPr lang="zh-CN" altLang="en-US"/>
            </a:p>
          </p:txBody>
        </p:sp>
        <p:sp>
          <p:nvSpPr>
            <p:cNvPr id="93387" name="Line 45"/>
            <p:cNvSpPr>
              <a:spLocks noChangeShapeType="1"/>
            </p:cNvSpPr>
            <p:nvPr/>
          </p:nvSpPr>
          <p:spPr bwMode="auto">
            <a:xfrm>
              <a:off x="4921" y="300"/>
              <a:ext cx="0" cy="2041"/>
            </a:xfrm>
            <a:prstGeom prst="line">
              <a:avLst/>
            </a:prstGeom>
            <a:noFill/>
            <a:ln w="9525">
              <a:solidFill>
                <a:srgbClr val="009999"/>
              </a:solidFill>
              <a:round/>
              <a:headEnd/>
              <a:tailEnd/>
            </a:ln>
          </p:spPr>
          <p:txBody>
            <a:bodyPr/>
            <a:lstStyle/>
            <a:p>
              <a:endParaRPr lang="zh-CN" altLang="en-US"/>
            </a:p>
          </p:txBody>
        </p:sp>
        <p:sp>
          <p:nvSpPr>
            <p:cNvPr id="93388" name="Line 46"/>
            <p:cNvSpPr>
              <a:spLocks noChangeShapeType="1"/>
            </p:cNvSpPr>
            <p:nvPr/>
          </p:nvSpPr>
          <p:spPr bwMode="auto">
            <a:xfrm>
              <a:off x="5057" y="300"/>
              <a:ext cx="0" cy="2041"/>
            </a:xfrm>
            <a:prstGeom prst="line">
              <a:avLst/>
            </a:prstGeom>
            <a:noFill/>
            <a:ln w="9525">
              <a:solidFill>
                <a:srgbClr val="009999"/>
              </a:solidFill>
              <a:round/>
              <a:headEnd/>
              <a:tailEnd/>
            </a:ln>
          </p:spPr>
          <p:txBody>
            <a:bodyPr/>
            <a:lstStyle/>
            <a:p>
              <a:endParaRPr lang="zh-CN" altLang="en-US"/>
            </a:p>
          </p:txBody>
        </p:sp>
        <p:sp>
          <p:nvSpPr>
            <p:cNvPr id="93389" name="Line 47"/>
            <p:cNvSpPr>
              <a:spLocks noChangeShapeType="1"/>
            </p:cNvSpPr>
            <p:nvPr/>
          </p:nvSpPr>
          <p:spPr bwMode="auto">
            <a:xfrm>
              <a:off x="5193" y="300"/>
              <a:ext cx="0" cy="2041"/>
            </a:xfrm>
            <a:prstGeom prst="line">
              <a:avLst/>
            </a:prstGeom>
            <a:noFill/>
            <a:ln w="9525">
              <a:solidFill>
                <a:srgbClr val="009999"/>
              </a:solidFill>
              <a:round/>
              <a:headEnd/>
              <a:tailEnd/>
            </a:ln>
          </p:spPr>
          <p:txBody>
            <a:bodyPr/>
            <a:lstStyle/>
            <a:p>
              <a:endParaRPr lang="zh-CN" altLang="en-US"/>
            </a:p>
          </p:txBody>
        </p:sp>
        <p:sp>
          <p:nvSpPr>
            <p:cNvPr id="93390" name="Line 48"/>
            <p:cNvSpPr>
              <a:spLocks noChangeShapeType="1"/>
            </p:cNvSpPr>
            <p:nvPr/>
          </p:nvSpPr>
          <p:spPr bwMode="auto">
            <a:xfrm>
              <a:off x="5329" y="300"/>
              <a:ext cx="0" cy="2041"/>
            </a:xfrm>
            <a:prstGeom prst="line">
              <a:avLst/>
            </a:prstGeom>
            <a:noFill/>
            <a:ln w="9525">
              <a:solidFill>
                <a:srgbClr val="009999"/>
              </a:solidFill>
              <a:round/>
              <a:headEnd/>
              <a:tailEnd/>
            </a:ln>
          </p:spPr>
          <p:txBody>
            <a:bodyPr/>
            <a:lstStyle/>
            <a:p>
              <a:endParaRPr lang="zh-CN" altLang="en-US"/>
            </a:p>
          </p:txBody>
        </p:sp>
        <p:sp>
          <p:nvSpPr>
            <p:cNvPr id="93391" name="Line 49"/>
            <p:cNvSpPr>
              <a:spLocks noChangeShapeType="1"/>
            </p:cNvSpPr>
            <p:nvPr/>
          </p:nvSpPr>
          <p:spPr bwMode="auto">
            <a:xfrm>
              <a:off x="5466" y="300"/>
              <a:ext cx="0" cy="2041"/>
            </a:xfrm>
            <a:prstGeom prst="line">
              <a:avLst/>
            </a:prstGeom>
            <a:noFill/>
            <a:ln w="9525">
              <a:solidFill>
                <a:srgbClr val="009999"/>
              </a:solidFill>
              <a:round/>
              <a:headEnd/>
              <a:tailEnd/>
            </a:ln>
          </p:spPr>
          <p:txBody>
            <a:bodyPr/>
            <a:lstStyle/>
            <a:p>
              <a:endParaRPr lang="zh-CN" altLang="en-US"/>
            </a:p>
          </p:txBody>
        </p:sp>
      </p:grpSp>
      <p:sp>
        <p:nvSpPr>
          <p:cNvPr id="368690" name="Line 50"/>
          <p:cNvSpPr>
            <a:spLocks noChangeShapeType="1"/>
          </p:cNvSpPr>
          <p:nvPr/>
        </p:nvSpPr>
        <p:spPr bwMode="auto">
          <a:xfrm>
            <a:off x="3806825" y="3087688"/>
            <a:ext cx="144463" cy="503237"/>
          </a:xfrm>
          <a:prstGeom prst="line">
            <a:avLst/>
          </a:prstGeom>
          <a:noFill/>
          <a:ln w="28575">
            <a:solidFill>
              <a:srgbClr val="006600"/>
            </a:solidFill>
            <a:round/>
            <a:headEnd/>
            <a:tailEnd/>
          </a:ln>
        </p:spPr>
        <p:txBody>
          <a:bodyPr/>
          <a:lstStyle/>
          <a:p>
            <a:endParaRPr lang="zh-CN" altLang="en-US"/>
          </a:p>
        </p:txBody>
      </p:sp>
      <p:sp>
        <p:nvSpPr>
          <p:cNvPr id="368691" name="Line 51"/>
          <p:cNvSpPr>
            <a:spLocks noChangeShapeType="1"/>
          </p:cNvSpPr>
          <p:nvPr/>
        </p:nvSpPr>
        <p:spPr bwMode="auto">
          <a:xfrm flipV="1">
            <a:off x="5751513" y="4240213"/>
            <a:ext cx="288925" cy="287337"/>
          </a:xfrm>
          <a:prstGeom prst="line">
            <a:avLst/>
          </a:prstGeom>
          <a:noFill/>
          <a:ln w="28575">
            <a:solidFill>
              <a:srgbClr val="993300"/>
            </a:solidFill>
            <a:round/>
            <a:headEnd/>
            <a:tailEnd/>
          </a:ln>
        </p:spPr>
        <p:txBody>
          <a:bodyPr/>
          <a:lstStyle/>
          <a:p>
            <a:endParaRPr lang="zh-CN" altLang="en-US"/>
          </a:p>
        </p:txBody>
      </p:sp>
      <p:sp>
        <p:nvSpPr>
          <p:cNvPr id="368692" name="Line 52"/>
          <p:cNvSpPr>
            <a:spLocks noChangeShapeType="1"/>
          </p:cNvSpPr>
          <p:nvPr/>
        </p:nvSpPr>
        <p:spPr bwMode="auto">
          <a:xfrm>
            <a:off x="6040438" y="4240213"/>
            <a:ext cx="71437" cy="358775"/>
          </a:xfrm>
          <a:prstGeom prst="line">
            <a:avLst/>
          </a:prstGeom>
          <a:noFill/>
          <a:ln w="28575">
            <a:solidFill>
              <a:srgbClr val="993300"/>
            </a:solidFill>
            <a:round/>
            <a:headEnd/>
            <a:tailEnd/>
          </a:ln>
        </p:spPr>
        <p:txBody>
          <a:bodyPr/>
          <a:lstStyle/>
          <a:p>
            <a:endParaRPr lang="zh-CN" altLang="en-US"/>
          </a:p>
        </p:txBody>
      </p:sp>
      <p:sp>
        <p:nvSpPr>
          <p:cNvPr id="368693" name="Line 53"/>
          <p:cNvSpPr>
            <a:spLocks noChangeShapeType="1"/>
          </p:cNvSpPr>
          <p:nvPr/>
        </p:nvSpPr>
        <p:spPr bwMode="auto">
          <a:xfrm flipV="1">
            <a:off x="5895975" y="3879850"/>
            <a:ext cx="431800" cy="287338"/>
          </a:xfrm>
          <a:prstGeom prst="line">
            <a:avLst/>
          </a:prstGeom>
          <a:noFill/>
          <a:ln w="28575">
            <a:solidFill>
              <a:srgbClr val="993300"/>
            </a:solidFill>
            <a:round/>
            <a:headEnd/>
            <a:tailEnd/>
          </a:ln>
        </p:spPr>
        <p:txBody>
          <a:bodyPr/>
          <a:lstStyle/>
          <a:p>
            <a:endParaRPr lang="zh-CN" altLang="en-US"/>
          </a:p>
        </p:txBody>
      </p:sp>
      <p:sp>
        <p:nvSpPr>
          <p:cNvPr id="368694" name="Line 54"/>
          <p:cNvSpPr>
            <a:spLocks noChangeShapeType="1"/>
          </p:cNvSpPr>
          <p:nvPr/>
        </p:nvSpPr>
        <p:spPr bwMode="auto">
          <a:xfrm flipH="1">
            <a:off x="5535613" y="3879850"/>
            <a:ext cx="792162" cy="360363"/>
          </a:xfrm>
          <a:prstGeom prst="line">
            <a:avLst/>
          </a:prstGeom>
          <a:noFill/>
          <a:ln w="28575">
            <a:solidFill>
              <a:srgbClr val="993300"/>
            </a:solidFill>
            <a:round/>
            <a:headEnd/>
            <a:tailEnd/>
          </a:ln>
        </p:spPr>
        <p:txBody>
          <a:bodyPr/>
          <a:lstStyle/>
          <a:p>
            <a:endParaRPr lang="zh-CN" altLang="en-US"/>
          </a:p>
        </p:txBody>
      </p:sp>
      <p:sp>
        <p:nvSpPr>
          <p:cNvPr id="368695" name="Line 55"/>
          <p:cNvSpPr>
            <a:spLocks noChangeShapeType="1"/>
          </p:cNvSpPr>
          <p:nvPr/>
        </p:nvSpPr>
        <p:spPr bwMode="auto">
          <a:xfrm>
            <a:off x="5535613" y="4240213"/>
            <a:ext cx="792162" cy="142875"/>
          </a:xfrm>
          <a:prstGeom prst="line">
            <a:avLst/>
          </a:prstGeom>
          <a:noFill/>
          <a:ln w="28575">
            <a:solidFill>
              <a:srgbClr val="993300"/>
            </a:solidFill>
            <a:round/>
            <a:headEnd/>
            <a:tailEnd/>
          </a:ln>
        </p:spPr>
        <p:txBody>
          <a:bodyPr/>
          <a:lstStyle/>
          <a:p>
            <a:endParaRPr lang="zh-CN" altLang="en-US"/>
          </a:p>
        </p:txBody>
      </p:sp>
      <p:sp>
        <p:nvSpPr>
          <p:cNvPr id="368696" name="Line 56"/>
          <p:cNvSpPr>
            <a:spLocks noChangeShapeType="1"/>
          </p:cNvSpPr>
          <p:nvPr/>
        </p:nvSpPr>
        <p:spPr bwMode="auto">
          <a:xfrm flipH="1">
            <a:off x="5751513" y="4383088"/>
            <a:ext cx="576262" cy="144462"/>
          </a:xfrm>
          <a:prstGeom prst="line">
            <a:avLst/>
          </a:prstGeom>
          <a:noFill/>
          <a:ln w="28575">
            <a:solidFill>
              <a:srgbClr val="993300"/>
            </a:solidFill>
            <a:round/>
            <a:headEnd/>
            <a:tailEnd/>
          </a:ln>
        </p:spPr>
        <p:txBody>
          <a:bodyPr/>
          <a:lstStyle/>
          <a:p>
            <a:endParaRPr lang="zh-CN" altLang="en-US"/>
          </a:p>
        </p:txBody>
      </p:sp>
      <p:sp>
        <p:nvSpPr>
          <p:cNvPr id="368697" name="Line 57"/>
          <p:cNvSpPr>
            <a:spLocks noChangeShapeType="1"/>
          </p:cNvSpPr>
          <p:nvPr/>
        </p:nvSpPr>
        <p:spPr bwMode="auto">
          <a:xfrm>
            <a:off x="5319713" y="3448050"/>
            <a:ext cx="71437" cy="287338"/>
          </a:xfrm>
          <a:prstGeom prst="line">
            <a:avLst/>
          </a:prstGeom>
          <a:noFill/>
          <a:ln w="28575">
            <a:solidFill>
              <a:srgbClr val="993300"/>
            </a:solidFill>
            <a:round/>
            <a:headEnd/>
            <a:tailEnd/>
          </a:ln>
        </p:spPr>
        <p:txBody>
          <a:bodyPr/>
          <a:lstStyle/>
          <a:p>
            <a:endParaRPr lang="zh-CN" altLang="en-US"/>
          </a:p>
        </p:txBody>
      </p:sp>
      <p:sp>
        <p:nvSpPr>
          <p:cNvPr id="368698" name="Line 58"/>
          <p:cNvSpPr>
            <a:spLocks noChangeShapeType="1"/>
          </p:cNvSpPr>
          <p:nvPr/>
        </p:nvSpPr>
        <p:spPr bwMode="auto">
          <a:xfrm flipH="1">
            <a:off x="5391150" y="3448050"/>
            <a:ext cx="144463" cy="287338"/>
          </a:xfrm>
          <a:prstGeom prst="line">
            <a:avLst/>
          </a:prstGeom>
          <a:noFill/>
          <a:ln w="28575">
            <a:solidFill>
              <a:srgbClr val="993300"/>
            </a:solidFill>
            <a:round/>
            <a:headEnd/>
            <a:tailEnd/>
          </a:ln>
        </p:spPr>
        <p:txBody>
          <a:bodyPr/>
          <a:lstStyle/>
          <a:p>
            <a:endParaRPr lang="zh-CN" altLang="en-US"/>
          </a:p>
        </p:txBody>
      </p:sp>
      <p:sp>
        <p:nvSpPr>
          <p:cNvPr id="368699" name="Line 59"/>
          <p:cNvSpPr>
            <a:spLocks noChangeShapeType="1"/>
          </p:cNvSpPr>
          <p:nvPr/>
        </p:nvSpPr>
        <p:spPr bwMode="auto">
          <a:xfrm>
            <a:off x="5319713" y="3448050"/>
            <a:ext cx="360362" cy="503238"/>
          </a:xfrm>
          <a:prstGeom prst="line">
            <a:avLst/>
          </a:prstGeom>
          <a:noFill/>
          <a:ln w="28575">
            <a:solidFill>
              <a:srgbClr val="993300"/>
            </a:solidFill>
            <a:round/>
            <a:headEnd/>
            <a:tailEnd/>
          </a:ln>
        </p:spPr>
        <p:txBody>
          <a:bodyPr/>
          <a:lstStyle/>
          <a:p>
            <a:endParaRPr lang="zh-CN" altLang="en-US"/>
          </a:p>
        </p:txBody>
      </p:sp>
      <p:sp>
        <p:nvSpPr>
          <p:cNvPr id="368700" name="Line 60"/>
          <p:cNvSpPr>
            <a:spLocks noChangeShapeType="1"/>
          </p:cNvSpPr>
          <p:nvPr/>
        </p:nvSpPr>
        <p:spPr bwMode="auto">
          <a:xfrm flipV="1">
            <a:off x="5680075" y="3808413"/>
            <a:ext cx="142875" cy="142875"/>
          </a:xfrm>
          <a:prstGeom prst="line">
            <a:avLst/>
          </a:prstGeom>
          <a:noFill/>
          <a:ln w="28575">
            <a:solidFill>
              <a:srgbClr val="993300"/>
            </a:solidFill>
            <a:round/>
            <a:headEnd/>
            <a:tailEnd/>
          </a:ln>
        </p:spPr>
        <p:txBody>
          <a:bodyPr/>
          <a:lstStyle/>
          <a:p>
            <a:endParaRPr lang="zh-CN" altLang="en-US"/>
          </a:p>
        </p:txBody>
      </p:sp>
      <p:sp>
        <p:nvSpPr>
          <p:cNvPr id="368701" name="Line 61"/>
          <p:cNvSpPr>
            <a:spLocks noChangeShapeType="1"/>
          </p:cNvSpPr>
          <p:nvPr/>
        </p:nvSpPr>
        <p:spPr bwMode="auto">
          <a:xfrm>
            <a:off x="5822950" y="3808413"/>
            <a:ext cx="73025" cy="358775"/>
          </a:xfrm>
          <a:prstGeom prst="line">
            <a:avLst/>
          </a:prstGeom>
          <a:noFill/>
          <a:ln w="28575">
            <a:solidFill>
              <a:srgbClr val="993300"/>
            </a:solidFill>
            <a:round/>
            <a:headEnd/>
            <a:tailEnd/>
          </a:ln>
        </p:spPr>
        <p:txBody>
          <a:bodyPr/>
          <a:lstStyle/>
          <a:p>
            <a:endParaRPr lang="zh-CN" altLang="en-US"/>
          </a:p>
        </p:txBody>
      </p:sp>
      <p:sp>
        <p:nvSpPr>
          <p:cNvPr id="368702" name="Line 62"/>
          <p:cNvSpPr>
            <a:spLocks noChangeShapeType="1"/>
          </p:cNvSpPr>
          <p:nvPr/>
        </p:nvSpPr>
        <p:spPr bwMode="auto">
          <a:xfrm>
            <a:off x="5607050" y="3087688"/>
            <a:ext cx="433388" cy="215900"/>
          </a:xfrm>
          <a:prstGeom prst="line">
            <a:avLst/>
          </a:prstGeom>
          <a:noFill/>
          <a:ln w="28575">
            <a:solidFill>
              <a:srgbClr val="993300"/>
            </a:solidFill>
            <a:round/>
            <a:headEnd/>
            <a:tailEnd/>
          </a:ln>
        </p:spPr>
        <p:txBody>
          <a:bodyPr/>
          <a:lstStyle/>
          <a:p>
            <a:endParaRPr lang="zh-CN" altLang="en-US"/>
          </a:p>
        </p:txBody>
      </p:sp>
      <p:sp>
        <p:nvSpPr>
          <p:cNvPr id="368703" name="Line 63"/>
          <p:cNvSpPr>
            <a:spLocks noChangeShapeType="1"/>
          </p:cNvSpPr>
          <p:nvPr/>
        </p:nvSpPr>
        <p:spPr bwMode="auto">
          <a:xfrm flipH="1">
            <a:off x="5680075" y="3303588"/>
            <a:ext cx="360363" cy="360362"/>
          </a:xfrm>
          <a:prstGeom prst="line">
            <a:avLst/>
          </a:prstGeom>
          <a:noFill/>
          <a:ln w="28575">
            <a:solidFill>
              <a:srgbClr val="993300"/>
            </a:solidFill>
            <a:round/>
            <a:headEnd/>
            <a:tailEnd/>
          </a:ln>
        </p:spPr>
        <p:txBody>
          <a:bodyPr/>
          <a:lstStyle/>
          <a:p>
            <a:endParaRPr lang="zh-CN" altLang="en-US"/>
          </a:p>
        </p:txBody>
      </p:sp>
      <p:sp>
        <p:nvSpPr>
          <p:cNvPr id="368704" name="Line 64"/>
          <p:cNvSpPr>
            <a:spLocks noChangeShapeType="1"/>
          </p:cNvSpPr>
          <p:nvPr/>
        </p:nvSpPr>
        <p:spPr bwMode="auto">
          <a:xfrm flipV="1">
            <a:off x="5680075" y="3375025"/>
            <a:ext cx="71438" cy="288925"/>
          </a:xfrm>
          <a:prstGeom prst="line">
            <a:avLst/>
          </a:prstGeom>
          <a:noFill/>
          <a:ln w="28575">
            <a:solidFill>
              <a:srgbClr val="993300"/>
            </a:solidFill>
            <a:round/>
            <a:headEnd/>
            <a:tailEnd/>
          </a:ln>
        </p:spPr>
        <p:txBody>
          <a:bodyPr/>
          <a:lstStyle/>
          <a:p>
            <a:endParaRPr lang="zh-CN" altLang="en-US"/>
          </a:p>
        </p:txBody>
      </p:sp>
      <p:sp>
        <p:nvSpPr>
          <p:cNvPr id="368705" name="Line 65"/>
          <p:cNvSpPr>
            <a:spLocks noChangeShapeType="1"/>
          </p:cNvSpPr>
          <p:nvPr/>
        </p:nvSpPr>
        <p:spPr bwMode="auto">
          <a:xfrm flipH="1" flipV="1">
            <a:off x="5391150" y="3232150"/>
            <a:ext cx="360363" cy="142875"/>
          </a:xfrm>
          <a:prstGeom prst="line">
            <a:avLst/>
          </a:prstGeom>
          <a:noFill/>
          <a:ln w="28575">
            <a:solidFill>
              <a:srgbClr val="993300"/>
            </a:solidFill>
            <a:round/>
            <a:headEnd/>
            <a:tailEnd/>
          </a:ln>
        </p:spPr>
        <p:txBody>
          <a:bodyPr/>
          <a:lstStyle/>
          <a:p>
            <a:endParaRPr lang="zh-CN" altLang="en-US"/>
          </a:p>
        </p:txBody>
      </p:sp>
      <p:sp>
        <p:nvSpPr>
          <p:cNvPr id="368706" name="Line 66"/>
          <p:cNvSpPr>
            <a:spLocks noChangeShapeType="1"/>
          </p:cNvSpPr>
          <p:nvPr/>
        </p:nvSpPr>
        <p:spPr bwMode="auto">
          <a:xfrm flipV="1">
            <a:off x="5391150" y="3159125"/>
            <a:ext cx="504825" cy="73025"/>
          </a:xfrm>
          <a:prstGeom prst="line">
            <a:avLst/>
          </a:prstGeom>
          <a:noFill/>
          <a:ln w="28575">
            <a:solidFill>
              <a:srgbClr val="993300"/>
            </a:solidFill>
            <a:round/>
            <a:headEnd/>
            <a:tailEnd/>
          </a:ln>
        </p:spPr>
        <p:txBody>
          <a:bodyPr/>
          <a:lstStyle/>
          <a:p>
            <a:endParaRPr lang="zh-CN" altLang="en-US"/>
          </a:p>
        </p:txBody>
      </p:sp>
      <p:sp>
        <p:nvSpPr>
          <p:cNvPr id="368707" name="Line 67"/>
          <p:cNvSpPr>
            <a:spLocks noChangeShapeType="1"/>
          </p:cNvSpPr>
          <p:nvPr/>
        </p:nvSpPr>
        <p:spPr bwMode="auto">
          <a:xfrm>
            <a:off x="5895975" y="3159125"/>
            <a:ext cx="215900" cy="576263"/>
          </a:xfrm>
          <a:prstGeom prst="line">
            <a:avLst/>
          </a:prstGeom>
          <a:noFill/>
          <a:ln w="28575">
            <a:solidFill>
              <a:srgbClr val="993300"/>
            </a:solidFill>
            <a:round/>
            <a:headEnd/>
            <a:tailEnd/>
          </a:ln>
        </p:spPr>
        <p:txBody>
          <a:bodyPr/>
          <a:lstStyle/>
          <a:p>
            <a:endParaRPr lang="zh-CN" altLang="en-US"/>
          </a:p>
        </p:txBody>
      </p:sp>
      <p:sp>
        <p:nvSpPr>
          <p:cNvPr id="368708" name="Line 68"/>
          <p:cNvSpPr>
            <a:spLocks noChangeShapeType="1"/>
          </p:cNvSpPr>
          <p:nvPr/>
        </p:nvSpPr>
        <p:spPr bwMode="auto">
          <a:xfrm flipH="1" flipV="1">
            <a:off x="5535613" y="3448050"/>
            <a:ext cx="576262" cy="287338"/>
          </a:xfrm>
          <a:prstGeom prst="line">
            <a:avLst/>
          </a:prstGeom>
          <a:noFill/>
          <a:ln w="28575">
            <a:solidFill>
              <a:srgbClr val="993300"/>
            </a:solidFill>
            <a:round/>
            <a:headEnd/>
            <a:tailEnd/>
          </a:ln>
        </p:spPr>
        <p:txBody>
          <a:bodyPr/>
          <a:lstStyle/>
          <a:p>
            <a:endParaRPr lang="zh-CN" altLang="en-US"/>
          </a:p>
        </p:txBody>
      </p:sp>
      <p:sp>
        <p:nvSpPr>
          <p:cNvPr id="368709" name="Line 69"/>
          <p:cNvSpPr>
            <a:spLocks noChangeShapeType="1"/>
          </p:cNvSpPr>
          <p:nvPr/>
        </p:nvSpPr>
        <p:spPr bwMode="auto">
          <a:xfrm flipH="1" flipV="1">
            <a:off x="5895975" y="2800350"/>
            <a:ext cx="215900" cy="358775"/>
          </a:xfrm>
          <a:prstGeom prst="line">
            <a:avLst/>
          </a:prstGeom>
          <a:noFill/>
          <a:ln w="28575">
            <a:solidFill>
              <a:srgbClr val="993300"/>
            </a:solidFill>
            <a:round/>
            <a:headEnd/>
            <a:tailEnd/>
          </a:ln>
        </p:spPr>
        <p:txBody>
          <a:bodyPr/>
          <a:lstStyle/>
          <a:p>
            <a:endParaRPr lang="zh-CN" altLang="en-US"/>
          </a:p>
        </p:txBody>
      </p:sp>
      <p:sp>
        <p:nvSpPr>
          <p:cNvPr id="368710" name="Line 70"/>
          <p:cNvSpPr>
            <a:spLocks noChangeShapeType="1"/>
          </p:cNvSpPr>
          <p:nvPr/>
        </p:nvSpPr>
        <p:spPr bwMode="auto">
          <a:xfrm flipH="1">
            <a:off x="5822950" y="2800350"/>
            <a:ext cx="73025" cy="215900"/>
          </a:xfrm>
          <a:prstGeom prst="line">
            <a:avLst/>
          </a:prstGeom>
          <a:noFill/>
          <a:ln w="28575">
            <a:solidFill>
              <a:srgbClr val="993300"/>
            </a:solidFill>
            <a:round/>
            <a:headEnd/>
            <a:tailEnd/>
          </a:ln>
        </p:spPr>
        <p:txBody>
          <a:bodyPr/>
          <a:lstStyle/>
          <a:p>
            <a:endParaRPr lang="zh-CN" altLang="en-US"/>
          </a:p>
        </p:txBody>
      </p:sp>
      <p:sp>
        <p:nvSpPr>
          <p:cNvPr id="368711" name="Line 71"/>
          <p:cNvSpPr>
            <a:spLocks noChangeShapeType="1"/>
          </p:cNvSpPr>
          <p:nvPr/>
        </p:nvSpPr>
        <p:spPr bwMode="auto">
          <a:xfrm flipH="1" flipV="1">
            <a:off x="5607050" y="2727325"/>
            <a:ext cx="215900" cy="288925"/>
          </a:xfrm>
          <a:prstGeom prst="line">
            <a:avLst/>
          </a:prstGeom>
          <a:noFill/>
          <a:ln w="28575">
            <a:solidFill>
              <a:srgbClr val="993300"/>
            </a:solidFill>
            <a:round/>
            <a:headEnd/>
            <a:tailEnd/>
          </a:ln>
        </p:spPr>
        <p:txBody>
          <a:bodyPr/>
          <a:lstStyle/>
          <a:p>
            <a:endParaRPr lang="zh-CN" altLang="en-US"/>
          </a:p>
        </p:txBody>
      </p:sp>
      <p:sp>
        <p:nvSpPr>
          <p:cNvPr id="368712" name="Line 72"/>
          <p:cNvSpPr>
            <a:spLocks noChangeShapeType="1"/>
          </p:cNvSpPr>
          <p:nvPr/>
        </p:nvSpPr>
        <p:spPr bwMode="auto">
          <a:xfrm flipV="1">
            <a:off x="5607050" y="2511425"/>
            <a:ext cx="360363" cy="215900"/>
          </a:xfrm>
          <a:prstGeom prst="line">
            <a:avLst/>
          </a:prstGeom>
          <a:noFill/>
          <a:ln w="28575">
            <a:solidFill>
              <a:srgbClr val="993300"/>
            </a:solidFill>
            <a:round/>
            <a:headEnd/>
            <a:tailEnd/>
          </a:ln>
        </p:spPr>
        <p:txBody>
          <a:bodyPr/>
          <a:lstStyle/>
          <a:p>
            <a:endParaRPr lang="zh-CN" altLang="en-US"/>
          </a:p>
        </p:txBody>
      </p:sp>
      <p:sp>
        <p:nvSpPr>
          <p:cNvPr id="368713" name="Line 73"/>
          <p:cNvSpPr>
            <a:spLocks noChangeShapeType="1"/>
          </p:cNvSpPr>
          <p:nvPr/>
        </p:nvSpPr>
        <p:spPr bwMode="auto">
          <a:xfrm flipH="1">
            <a:off x="5607050" y="2511425"/>
            <a:ext cx="360363" cy="576263"/>
          </a:xfrm>
          <a:prstGeom prst="line">
            <a:avLst/>
          </a:prstGeom>
          <a:noFill/>
          <a:ln w="28575">
            <a:solidFill>
              <a:srgbClr val="993300"/>
            </a:solidFill>
            <a:round/>
            <a:headEnd/>
            <a:tailEnd/>
          </a:ln>
        </p:spPr>
        <p:txBody>
          <a:bodyPr/>
          <a:lstStyle/>
          <a:p>
            <a:endParaRPr lang="zh-CN" altLang="en-US"/>
          </a:p>
        </p:txBody>
      </p:sp>
      <p:sp>
        <p:nvSpPr>
          <p:cNvPr id="368714" name="Line 74"/>
          <p:cNvSpPr>
            <a:spLocks noChangeShapeType="1"/>
          </p:cNvSpPr>
          <p:nvPr/>
        </p:nvSpPr>
        <p:spPr bwMode="auto">
          <a:xfrm flipH="1">
            <a:off x="6256338" y="2151063"/>
            <a:ext cx="142875" cy="288925"/>
          </a:xfrm>
          <a:prstGeom prst="line">
            <a:avLst/>
          </a:prstGeom>
          <a:noFill/>
          <a:ln w="28575">
            <a:solidFill>
              <a:srgbClr val="993300"/>
            </a:solidFill>
            <a:round/>
            <a:headEnd/>
            <a:tailEnd/>
          </a:ln>
        </p:spPr>
        <p:txBody>
          <a:bodyPr/>
          <a:lstStyle/>
          <a:p>
            <a:endParaRPr lang="zh-CN" altLang="en-US"/>
          </a:p>
        </p:txBody>
      </p:sp>
      <p:sp>
        <p:nvSpPr>
          <p:cNvPr id="368715" name="Line 75"/>
          <p:cNvSpPr>
            <a:spLocks noChangeShapeType="1"/>
          </p:cNvSpPr>
          <p:nvPr/>
        </p:nvSpPr>
        <p:spPr bwMode="auto">
          <a:xfrm>
            <a:off x="6256338" y="2439988"/>
            <a:ext cx="142875" cy="142875"/>
          </a:xfrm>
          <a:prstGeom prst="line">
            <a:avLst/>
          </a:prstGeom>
          <a:noFill/>
          <a:ln w="28575">
            <a:solidFill>
              <a:srgbClr val="993300"/>
            </a:solidFill>
            <a:round/>
            <a:headEnd/>
            <a:tailEnd/>
          </a:ln>
        </p:spPr>
        <p:txBody>
          <a:bodyPr/>
          <a:lstStyle/>
          <a:p>
            <a:endParaRPr lang="zh-CN" altLang="en-US"/>
          </a:p>
        </p:txBody>
      </p:sp>
      <p:sp>
        <p:nvSpPr>
          <p:cNvPr id="368716" name="Line 76"/>
          <p:cNvSpPr>
            <a:spLocks noChangeShapeType="1"/>
          </p:cNvSpPr>
          <p:nvPr/>
        </p:nvSpPr>
        <p:spPr bwMode="auto">
          <a:xfrm flipH="1">
            <a:off x="5967413" y="2582863"/>
            <a:ext cx="431800" cy="144462"/>
          </a:xfrm>
          <a:prstGeom prst="line">
            <a:avLst/>
          </a:prstGeom>
          <a:noFill/>
          <a:ln w="28575">
            <a:solidFill>
              <a:srgbClr val="993300"/>
            </a:solidFill>
            <a:round/>
            <a:headEnd/>
            <a:tailEnd/>
          </a:ln>
        </p:spPr>
        <p:txBody>
          <a:bodyPr/>
          <a:lstStyle/>
          <a:p>
            <a:endParaRPr lang="zh-CN" altLang="en-US"/>
          </a:p>
        </p:txBody>
      </p:sp>
      <p:sp>
        <p:nvSpPr>
          <p:cNvPr id="368717" name="Line 77"/>
          <p:cNvSpPr>
            <a:spLocks noChangeShapeType="1"/>
          </p:cNvSpPr>
          <p:nvPr/>
        </p:nvSpPr>
        <p:spPr bwMode="auto">
          <a:xfrm>
            <a:off x="5967413" y="2727325"/>
            <a:ext cx="144462" cy="215900"/>
          </a:xfrm>
          <a:prstGeom prst="line">
            <a:avLst/>
          </a:prstGeom>
          <a:noFill/>
          <a:ln w="28575">
            <a:solidFill>
              <a:srgbClr val="993300"/>
            </a:solidFill>
            <a:round/>
            <a:headEnd/>
            <a:tailEnd/>
          </a:ln>
        </p:spPr>
        <p:txBody>
          <a:bodyPr/>
          <a:lstStyle/>
          <a:p>
            <a:endParaRPr lang="zh-CN" altLang="en-US"/>
          </a:p>
        </p:txBody>
      </p:sp>
      <p:sp>
        <p:nvSpPr>
          <p:cNvPr id="368718" name="Line 78"/>
          <p:cNvSpPr>
            <a:spLocks noChangeShapeType="1"/>
          </p:cNvSpPr>
          <p:nvPr/>
        </p:nvSpPr>
        <p:spPr bwMode="auto">
          <a:xfrm flipV="1">
            <a:off x="6111875" y="2871788"/>
            <a:ext cx="144463" cy="71437"/>
          </a:xfrm>
          <a:prstGeom prst="line">
            <a:avLst/>
          </a:prstGeom>
          <a:noFill/>
          <a:ln w="28575">
            <a:solidFill>
              <a:srgbClr val="993300"/>
            </a:solidFill>
            <a:round/>
            <a:headEnd/>
            <a:tailEnd/>
          </a:ln>
        </p:spPr>
        <p:txBody>
          <a:bodyPr/>
          <a:lstStyle/>
          <a:p>
            <a:endParaRPr lang="zh-CN" altLang="en-US"/>
          </a:p>
        </p:txBody>
      </p:sp>
      <p:sp>
        <p:nvSpPr>
          <p:cNvPr id="368719" name="Line 79"/>
          <p:cNvSpPr>
            <a:spLocks noChangeShapeType="1"/>
          </p:cNvSpPr>
          <p:nvPr/>
        </p:nvSpPr>
        <p:spPr bwMode="auto">
          <a:xfrm>
            <a:off x="6256338" y="2871788"/>
            <a:ext cx="71437" cy="215900"/>
          </a:xfrm>
          <a:prstGeom prst="line">
            <a:avLst/>
          </a:prstGeom>
          <a:noFill/>
          <a:ln w="28575">
            <a:solidFill>
              <a:srgbClr val="993300"/>
            </a:solidFill>
            <a:round/>
            <a:headEnd/>
            <a:tailEnd/>
          </a:ln>
        </p:spPr>
        <p:txBody>
          <a:bodyPr/>
          <a:lstStyle/>
          <a:p>
            <a:endParaRPr lang="zh-CN" altLang="en-US"/>
          </a:p>
        </p:txBody>
      </p:sp>
      <p:sp>
        <p:nvSpPr>
          <p:cNvPr id="368720" name="Line 80"/>
          <p:cNvSpPr>
            <a:spLocks noChangeShapeType="1"/>
          </p:cNvSpPr>
          <p:nvPr/>
        </p:nvSpPr>
        <p:spPr bwMode="auto">
          <a:xfrm flipH="1">
            <a:off x="6183313" y="3087688"/>
            <a:ext cx="144462" cy="71437"/>
          </a:xfrm>
          <a:prstGeom prst="line">
            <a:avLst/>
          </a:prstGeom>
          <a:noFill/>
          <a:ln w="28575">
            <a:solidFill>
              <a:srgbClr val="993300"/>
            </a:solidFill>
            <a:round/>
            <a:headEnd/>
            <a:tailEnd/>
          </a:ln>
        </p:spPr>
        <p:txBody>
          <a:bodyPr/>
          <a:lstStyle/>
          <a:p>
            <a:endParaRPr lang="zh-CN" altLang="en-US"/>
          </a:p>
        </p:txBody>
      </p:sp>
      <p:sp>
        <p:nvSpPr>
          <p:cNvPr id="368721" name="Line 81"/>
          <p:cNvSpPr>
            <a:spLocks noChangeShapeType="1"/>
          </p:cNvSpPr>
          <p:nvPr/>
        </p:nvSpPr>
        <p:spPr bwMode="auto">
          <a:xfrm flipH="1">
            <a:off x="2366963" y="2582863"/>
            <a:ext cx="144462" cy="144462"/>
          </a:xfrm>
          <a:prstGeom prst="line">
            <a:avLst/>
          </a:prstGeom>
          <a:noFill/>
          <a:ln w="28575">
            <a:solidFill>
              <a:srgbClr val="006600"/>
            </a:solidFill>
            <a:round/>
            <a:headEnd/>
            <a:tailEnd/>
          </a:ln>
        </p:spPr>
        <p:txBody>
          <a:bodyPr/>
          <a:lstStyle/>
          <a:p>
            <a:endParaRPr lang="zh-CN" altLang="en-US"/>
          </a:p>
        </p:txBody>
      </p:sp>
      <p:sp>
        <p:nvSpPr>
          <p:cNvPr id="368722" name="Line 82"/>
          <p:cNvSpPr>
            <a:spLocks noChangeShapeType="1"/>
          </p:cNvSpPr>
          <p:nvPr/>
        </p:nvSpPr>
        <p:spPr bwMode="auto">
          <a:xfrm flipH="1">
            <a:off x="4814888" y="4311650"/>
            <a:ext cx="360362" cy="144463"/>
          </a:xfrm>
          <a:prstGeom prst="line">
            <a:avLst/>
          </a:prstGeom>
          <a:noFill/>
          <a:ln w="28575">
            <a:solidFill>
              <a:srgbClr val="990033"/>
            </a:solidFill>
            <a:round/>
            <a:headEnd/>
            <a:tailEnd/>
          </a:ln>
        </p:spPr>
        <p:txBody>
          <a:bodyPr/>
          <a:lstStyle/>
          <a:p>
            <a:endParaRPr lang="zh-CN" altLang="en-US"/>
          </a:p>
        </p:txBody>
      </p:sp>
      <p:sp>
        <p:nvSpPr>
          <p:cNvPr id="368723" name="Line 83"/>
          <p:cNvSpPr>
            <a:spLocks noChangeShapeType="1"/>
          </p:cNvSpPr>
          <p:nvPr/>
        </p:nvSpPr>
        <p:spPr bwMode="auto">
          <a:xfrm>
            <a:off x="4743450" y="4456113"/>
            <a:ext cx="287338" cy="142875"/>
          </a:xfrm>
          <a:prstGeom prst="line">
            <a:avLst/>
          </a:prstGeom>
          <a:noFill/>
          <a:ln w="28575">
            <a:solidFill>
              <a:srgbClr val="990033"/>
            </a:solidFill>
            <a:round/>
            <a:headEnd/>
            <a:tailEnd/>
          </a:ln>
        </p:spPr>
        <p:txBody>
          <a:bodyPr/>
          <a:lstStyle/>
          <a:p>
            <a:endParaRPr lang="zh-CN" altLang="en-US"/>
          </a:p>
        </p:txBody>
      </p:sp>
      <p:sp>
        <p:nvSpPr>
          <p:cNvPr id="368724" name="Line 84"/>
          <p:cNvSpPr>
            <a:spLocks noChangeShapeType="1"/>
          </p:cNvSpPr>
          <p:nvPr/>
        </p:nvSpPr>
        <p:spPr bwMode="auto">
          <a:xfrm flipV="1">
            <a:off x="5030788" y="4167188"/>
            <a:ext cx="73025" cy="431800"/>
          </a:xfrm>
          <a:prstGeom prst="line">
            <a:avLst/>
          </a:prstGeom>
          <a:noFill/>
          <a:ln w="28575">
            <a:solidFill>
              <a:srgbClr val="990033"/>
            </a:solidFill>
            <a:round/>
            <a:headEnd/>
            <a:tailEnd/>
          </a:ln>
        </p:spPr>
        <p:txBody>
          <a:bodyPr/>
          <a:lstStyle/>
          <a:p>
            <a:endParaRPr lang="zh-CN" altLang="en-US"/>
          </a:p>
        </p:txBody>
      </p:sp>
      <p:sp>
        <p:nvSpPr>
          <p:cNvPr id="368725" name="Line 85"/>
          <p:cNvSpPr>
            <a:spLocks noChangeShapeType="1"/>
          </p:cNvSpPr>
          <p:nvPr/>
        </p:nvSpPr>
        <p:spPr bwMode="auto">
          <a:xfrm flipH="1">
            <a:off x="4814888" y="4167188"/>
            <a:ext cx="288925" cy="144462"/>
          </a:xfrm>
          <a:prstGeom prst="line">
            <a:avLst/>
          </a:prstGeom>
          <a:noFill/>
          <a:ln w="28575">
            <a:solidFill>
              <a:srgbClr val="990033"/>
            </a:solidFill>
            <a:round/>
            <a:headEnd/>
            <a:tailEnd/>
          </a:ln>
        </p:spPr>
        <p:txBody>
          <a:bodyPr/>
          <a:lstStyle/>
          <a:p>
            <a:endParaRPr lang="zh-CN" altLang="en-US"/>
          </a:p>
        </p:txBody>
      </p:sp>
      <p:sp>
        <p:nvSpPr>
          <p:cNvPr id="368726" name="Line 86"/>
          <p:cNvSpPr>
            <a:spLocks noChangeShapeType="1"/>
          </p:cNvSpPr>
          <p:nvPr/>
        </p:nvSpPr>
        <p:spPr bwMode="auto">
          <a:xfrm>
            <a:off x="4814888" y="4311650"/>
            <a:ext cx="73025" cy="504825"/>
          </a:xfrm>
          <a:prstGeom prst="line">
            <a:avLst/>
          </a:prstGeom>
          <a:noFill/>
          <a:ln w="28575">
            <a:solidFill>
              <a:srgbClr val="990033"/>
            </a:solidFill>
            <a:round/>
            <a:headEnd/>
            <a:tailEnd/>
          </a:ln>
        </p:spPr>
        <p:txBody>
          <a:bodyPr/>
          <a:lstStyle/>
          <a:p>
            <a:endParaRPr lang="zh-CN" altLang="en-US"/>
          </a:p>
        </p:txBody>
      </p:sp>
      <p:sp>
        <p:nvSpPr>
          <p:cNvPr id="368727" name="Line 87"/>
          <p:cNvSpPr>
            <a:spLocks noChangeShapeType="1"/>
          </p:cNvSpPr>
          <p:nvPr/>
        </p:nvSpPr>
        <p:spPr bwMode="auto">
          <a:xfrm flipV="1">
            <a:off x="4887913" y="4743450"/>
            <a:ext cx="360362" cy="73025"/>
          </a:xfrm>
          <a:prstGeom prst="line">
            <a:avLst/>
          </a:prstGeom>
          <a:noFill/>
          <a:ln w="28575">
            <a:solidFill>
              <a:srgbClr val="990033"/>
            </a:solidFill>
            <a:round/>
            <a:headEnd/>
            <a:tailEnd/>
          </a:ln>
        </p:spPr>
        <p:txBody>
          <a:bodyPr/>
          <a:lstStyle/>
          <a:p>
            <a:endParaRPr lang="zh-CN" altLang="en-US"/>
          </a:p>
        </p:txBody>
      </p:sp>
      <p:sp>
        <p:nvSpPr>
          <p:cNvPr id="368728" name="Line 88"/>
          <p:cNvSpPr>
            <a:spLocks noChangeShapeType="1"/>
          </p:cNvSpPr>
          <p:nvPr/>
        </p:nvSpPr>
        <p:spPr bwMode="auto">
          <a:xfrm flipH="1">
            <a:off x="4887913" y="4743450"/>
            <a:ext cx="360362" cy="360363"/>
          </a:xfrm>
          <a:prstGeom prst="line">
            <a:avLst/>
          </a:prstGeom>
          <a:noFill/>
          <a:ln w="28575">
            <a:solidFill>
              <a:srgbClr val="990033"/>
            </a:solidFill>
            <a:round/>
            <a:headEnd/>
            <a:tailEnd/>
          </a:ln>
        </p:spPr>
        <p:txBody>
          <a:bodyPr/>
          <a:lstStyle/>
          <a:p>
            <a:endParaRPr lang="zh-CN" altLang="en-US"/>
          </a:p>
        </p:txBody>
      </p:sp>
      <p:sp>
        <p:nvSpPr>
          <p:cNvPr id="368729" name="Line 89"/>
          <p:cNvSpPr>
            <a:spLocks noChangeShapeType="1"/>
          </p:cNvSpPr>
          <p:nvPr/>
        </p:nvSpPr>
        <p:spPr bwMode="auto">
          <a:xfrm flipH="1" flipV="1">
            <a:off x="4743450" y="4814888"/>
            <a:ext cx="142875" cy="288925"/>
          </a:xfrm>
          <a:prstGeom prst="line">
            <a:avLst/>
          </a:prstGeom>
          <a:noFill/>
          <a:ln w="28575">
            <a:solidFill>
              <a:srgbClr val="990033"/>
            </a:solidFill>
            <a:round/>
            <a:headEnd/>
            <a:tailEnd/>
          </a:ln>
        </p:spPr>
        <p:txBody>
          <a:bodyPr/>
          <a:lstStyle/>
          <a:p>
            <a:endParaRPr lang="zh-CN" altLang="en-US"/>
          </a:p>
        </p:txBody>
      </p:sp>
      <p:sp>
        <p:nvSpPr>
          <p:cNvPr id="368730" name="Line 90"/>
          <p:cNvSpPr>
            <a:spLocks noChangeShapeType="1"/>
          </p:cNvSpPr>
          <p:nvPr/>
        </p:nvSpPr>
        <p:spPr bwMode="auto">
          <a:xfrm flipH="1" flipV="1">
            <a:off x="4456113" y="2511425"/>
            <a:ext cx="142875" cy="360363"/>
          </a:xfrm>
          <a:prstGeom prst="line">
            <a:avLst/>
          </a:prstGeom>
          <a:noFill/>
          <a:ln w="28575">
            <a:solidFill>
              <a:srgbClr val="990033"/>
            </a:solidFill>
            <a:round/>
            <a:headEnd/>
            <a:tailEnd/>
          </a:ln>
        </p:spPr>
        <p:txBody>
          <a:bodyPr/>
          <a:lstStyle/>
          <a:p>
            <a:endParaRPr lang="zh-CN" altLang="en-US"/>
          </a:p>
        </p:txBody>
      </p:sp>
      <p:sp>
        <p:nvSpPr>
          <p:cNvPr id="368731" name="Line 91"/>
          <p:cNvSpPr>
            <a:spLocks noChangeShapeType="1"/>
          </p:cNvSpPr>
          <p:nvPr/>
        </p:nvSpPr>
        <p:spPr bwMode="auto">
          <a:xfrm>
            <a:off x="4456113" y="2511425"/>
            <a:ext cx="71437" cy="504825"/>
          </a:xfrm>
          <a:prstGeom prst="line">
            <a:avLst/>
          </a:prstGeom>
          <a:noFill/>
          <a:ln w="28575">
            <a:solidFill>
              <a:srgbClr val="990033"/>
            </a:solidFill>
            <a:round/>
            <a:headEnd/>
            <a:tailEnd/>
          </a:ln>
        </p:spPr>
        <p:txBody>
          <a:bodyPr/>
          <a:lstStyle/>
          <a:p>
            <a:endParaRPr lang="zh-CN" altLang="en-US"/>
          </a:p>
        </p:txBody>
      </p:sp>
      <p:sp>
        <p:nvSpPr>
          <p:cNvPr id="368732" name="Line 92"/>
          <p:cNvSpPr>
            <a:spLocks noChangeShapeType="1"/>
          </p:cNvSpPr>
          <p:nvPr/>
        </p:nvSpPr>
        <p:spPr bwMode="auto">
          <a:xfrm>
            <a:off x="4527550" y="3016250"/>
            <a:ext cx="360363" cy="431800"/>
          </a:xfrm>
          <a:prstGeom prst="line">
            <a:avLst/>
          </a:prstGeom>
          <a:noFill/>
          <a:ln w="28575">
            <a:solidFill>
              <a:srgbClr val="990033"/>
            </a:solidFill>
            <a:round/>
            <a:headEnd/>
            <a:tailEnd/>
          </a:ln>
        </p:spPr>
        <p:txBody>
          <a:bodyPr/>
          <a:lstStyle/>
          <a:p>
            <a:endParaRPr lang="zh-CN" altLang="en-US"/>
          </a:p>
        </p:txBody>
      </p:sp>
      <p:sp>
        <p:nvSpPr>
          <p:cNvPr id="368733" name="Line 93"/>
          <p:cNvSpPr>
            <a:spLocks noChangeShapeType="1"/>
          </p:cNvSpPr>
          <p:nvPr/>
        </p:nvSpPr>
        <p:spPr bwMode="auto">
          <a:xfrm>
            <a:off x="4887913" y="3448050"/>
            <a:ext cx="215900" cy="215900"/>
          </a:xfrm>
          <a:prstGeom prst="line">
            <a:avLst/>
          </a:prstGeom>
          <a:noFill/>
          <a:ln w="28575">
            <a:solidFill>
              <a:srgbClr val="990033"/>
            </a:solidFill>
            <a:round/>
            <a:headEnd/>
            <a:tailEnd/>
          </a:ln>
        </p:spPr>
        <p:txBody>
          <a:bodyPr/>
          <a:lstStyle/>
          <a:p>
            <a:endParaRPr lang="zh-CN" altLang="en-US"/>
          </a:p>
        </p:txBody>
      </p:sp>
      <p:sp>
        <p:nvSpPr>
          <p:cNvPr id="368734" name="Line 94"/>
          <p:cNvSpPr>
            <a:spLocks noChangeShapeType="1"/>
          </p:cNvSpPr>
          <p:nvPr/>
        </p:nvSpPr>
        <p:spPr bwMode="auto">
          <a:xfrm flipH="1">
            <a:off x="4959350" y="3663950"/>
            <a:ext cx="144463" cy="360363"/>
          </a:xfrm>
          <a:prstGeom prst="line">
            <a:avLst/>
          </a:prstGeom>
          <a:noFill/>
          <a:ln w="28575">
            <a:solidFill>
              <a:srgbClr val="990033"/>
            </a:solidFill>
            <a:round/>
            <a:headEnd/>
            <a:tailEnd/>
          </a:ln>
        </p:spPr>
        <p:txBody>
          <a:bodyPr/>
          <a:lstStyle/>
          <a:p>
            <a:endParaRPr lang="zh-CN" altLang="en-US"/>
          </a:p>
        </p:txBody>
      </p:sp>
      <p:sp>
        <p:nvSpPr>
          <p:cNvPr id="368735" name="Line 95"/>
          <p:cNvSpPr>
            <a:spLocks noChangeShapeType="1"/>
          </p:cNvSpPr>
          <p:nvPr/>
        </p:nvSpPr>
        <p:spPr bwMode="auto">
          <a:xfrm flipH="1">
            <a:off x="4814888" y="4024313"/>
            <a:ext cx="144462" cy="215900"/>
          </a:xfrm>
          <a:prstGeom prst="line">
            <a:avLst/>
          </a:prstGeom>
          <a:noFill/>
          <a:ln w="28575">
            <a:solidFill>
              <a:srgbClr val="990033"/>
            </a:solidFill>
            <a:round/>
            <a:headEnd/>
            <a:tailEnd/>
          </a:ln>
        </p:spPr>
        <p:txBody>
          <a:bodyPr/>
          <a:lstStyle/>
          <a:p>
            <a:endParaRPr lang="zh-CN" altLang="en-US"/>
          </a:p>
        </p:txBody>
      </p:sp>
      <p:sp>
        <p:nvSpPr>
          <p:cNvPr id="368736" name="Line 96"/>
          <p:cNvSpPr>
            <a:spLocks noChangeShapeType="1"/>
          </p:cNvSpPr>
          <p:nvPr/>
        </p:nvSpPr>
        <p:spPr bwMode="auto">
          <a:xfrm>
            <a:off x="4814888" y="4240213"/>
            <a:ext cx="360362" cy="71437"/>
          </a:xfrm>
          <a:prstGeom prst="line">
            <a:avLst/>
          </a:prstGeom>
          <a:noFill/>
          <a:ln w="28575">
            <a:solidFill>
              <a:srgbClr val="990033"/>
            </a:solidFill>
            <a:round/>
            <a:headEnd/>
            <a:tailEnd/>
          </a:ln>
        </p:spPr>
        <p:txBody>
          <a:bodyPr/>
          <a:lstStyle/>
          <a:p>
            <a:endParaRPr lang="zh-CN" altLang="en-US"/>
          </a:p>
        </p:txBody>
      </p:sp>
      <p:sp>
        <p:nvSpPr>
          <p:cNvPr id="368737" name="Line 97"/>
          <p:cNvSpPr>
            <a:spLocks noChangeShapeType="1"/>
          </p:cNvSpPr>
          <p:nvPr/>
        </p:nvSpPr>
        <p:spPr bwMode="auto">
          <a:xfrm flipV="1">
            <a:off x="4598988" y="2224088"/>
            <a:ext cx="431800" cy="142875"/>
          </a:xfrm>
          <a:prstGeom prst="line">
            <a:avLst/>
          </a:prstGeom>
          <a:noFill/>
          <a:ln w="28575">
            <a:solidFill>
              <a:srgbClr val="990033"/>
            </a:solidFill>
            <a:round/>
            <a:headEnd/>
            <a:tailEnd/>
          </a:ln>
        </p:spPr>
        <p:txBody>
          <a:bodyPr/>
          <a:lstStyle/>
          <a:p>
            <a:endParaRPr lang="zh-CN" altLang="en-US"/>
          </a:p>
        </p:txBody>
      </p:sp>
      <p:sp>
        <p:nvSpPr>
          <p:cNvPr id="368738" name="Line 98"/>
          <p:cNvSpPr>
            <a:spLocks noChangeShapeType="1"/>
          </p:cNvSpPr>
          <p:nvPr/>
        </p:nvSpPr>
        <p:spPr bwMode="auto">
          <a:xfrm>
            <a:off x="5030788" y="2224088"/>
            <a:ext cx="217487" cy="287337"/>
          </a:xfrm>
          <a:prstGeom prst="line">
            <a:avLst/>
          </a:prstGeom>
          <a:noFill/>
          <a:ln w="28575">
            <a:solidFill>
              <a:srgbClr val="990033"/>
            </a:solidFill>
            <a:round/>
            <a:headEnd/>
            <a:tailEnd/>
          </a:ln>
        </p:spPr>
        <p:txBody>
          <a:bodyPr/>
          <a:lstStyle/>
          <a:p>
            <a:endParaRPr lang="zh-CN" altLang="en-US"/>
          </a:p>
        </p:txBody>
      </p:sp>
      <p:sp>
        <p:nvSpPr>
          <p:cNvPr id="368739" name="Line 99"/>
          <p:cNvSpPr>
            <a:spLocks noChangeShapeType="1"/>
          </p:cNvSpPr>
          <p:nvPr/>
        </p:nvSpPr>
        <p:spPr bwMode="auto">
          <a:xfrm flipH="1">
            <a:off x="5030788" y="2511425"/>
            <a:ext cx="217487" cy="215900"/>
          </a:xfrm>
          <a:prstGeom prst="line">
            <a:avLst/>
          </a:prstGeom>
          <a:noFill/>
          <a:ln w="28575">
            <a:solidFill>
              <a:srgbClr val="990033"/>
            </a:solidFill>
            <a:round/>
            <a:headEnd/>
            <a:tailEnd/>
          </a:ln>
        </p:spPr>
        <p:txBody>
          <a:bodyPr/>
          <a:lstStyle/>
          <a:p>
            <a:endParaRPr lang="zh-CN" altLang="en-US"/>
          </a:p>
        </p:txBody>
      </p:sp>
      <p:sp>
        <p:nvSpPr>
          <p:cNvPr id="368740" name="Line 100"/>
          <p:cNvSpPr>
            <a:spLocks noChangeShapeType="1"/>
          </p:cNvSpPr>
          <p:nvPr/>
        </p:nvSpPr>
        <p:spPr bwMode="auto">
          <a:xfrm flipH="1" flipV="1">
            <a:off x="4743450" y="2439988"/>
            <a:ext cx="215900" cy="287337"/>
          </a:xfrm>
          <a:prstGeom prst="line">
            <a:avLst/>
          </a:prstGeom>
          <a:noFill/>
          <a:ln w="28575">
            <a:solidFill>
              <a:srgbClr val="990033"/>
            </a:solidFill>
            <a:round/>
            <a:headEnd/>
            <a:tailEnd/>
          </a:ln>
        </p:spPr>
        <p:txBody>
          <a:bodyPr/>
          <a:lstStyle/>
          <a:p>
            <a:endParaRPr lang="zh-CN" altLang="en-US"/>
          </a:p>
        </p:txBody>
      </p:sp>
      <p:sp>
        <p:nvSpPr>
          <p:cNvPr id="368741" name="Line 101"/>
          <p:cNvSpPr>
            <a:spLocks noChangeShapeType="1"/>
          </p:cNvSpPr>
          <p:nvPr/>
        </p:nvSpPr>
        <p:spPr bwMode="auto">
          <a:xfrm>
            <a:off x="4743450" y="2439988"/>
            <a:ext cx="215900" cy="71437"/>
          </a:xfrm>
          <a:prstGeom prst="line">
            <a:avLst/>
          </a:prstGeom>
          <a:noFill/>
          <a:ln w="28575">
            <a:solidFill>
              <a:srgbClr val="990033"/>
            </a:solidFill>
            <a:round/>
            <a:headEnd/>
            <a:tailEnd/>
          </a:ln>
        </p:spPr>
        <p:txBody>
          <a:bodyPr/>
          <a:lstStyle/>
          <a:p>
            <a:endParaRPr lang="zh-CN" altLang="en-US"/>
          </a:p>
        </p:txBody>
      </p:sp>
      <p:sp>
        <p:nvSpPr>
          <p:cNvPr id="368742" name="Line 102"/>
          <p:cNvSpPr>
            <a:spLocks noChangeShapeType="1"/>
          </p:cNvSpPr>
          <p:nvPr/>
        </p:nvSpPr>
        <p:spPr bwMode="auto">
          <a:xfrm flipH="1">
            <a:off x="4598988" y="2511425"/>
            <a:ext cx="360362" cy="360363"/>
          </a:xfrm>
          <a:prstGeom prst="line">
            <a:avLst/>
          </a:prstGeom>
          <a:noFill/>
          <a:ln w="28575">
            <a:solidFill>
              <a:srgbClr val="990033"/>
            </a:solidFill>
            <a:round/>
            <a:headEnd/>
            <a:tailEnd/>
          </a:ln>
        </p:spPr>
        <p:txBody>
          <a:bodyPr/>
          <a:lstStyle/>
          <a:p>
            <a:endParaRPr lang="zh-CN" altLang="en-US"/>
          </a:p>
        </p:txBody>
      </p:sp>
      <p:sp>
        <p:nvSpPr>
          <p:cNvPr id="368743" name="Line 103"/>
          <p:cNvSpPr>
            <a:spLocks noChangeShapeType="1"/>
          </p:cNvSpPr>
          <p:nvPr/>
        </p:nvSpPr>
        <p:spPr bwMode="auto">
          <a:xfrm>
            <a:off x="3519488" y="2800350"/>
            <a:ext cx="287337" cy="287338"/>
          </a:xfrm>
          <a:prstGeom prst="line">
            <a:avLst/>
          </a:prstGeom>
          <a:noFill/>
          <a:ln w="28575">
            <a:solidFill>
              <a:srgbClr val="006600"/>
            </a:solidFill>
            <a:round/>
            <a:headEnd/>
            <a:tailEnd/>
          </a:ln>
        </p:spPr>
        <p:txBody>
          <a:bodyPr/>
          <a:lstStyle/>
          <a:p>
            <a:endParaRPr lang="zh-CN" altLang="en-US"/>
          </a:p>
        </p:txBody>
      </p:sp>
      <p:sp>
        <p:nvSpPr>
          <p:cNvPr id="368744" name="Line 104"/>
          <p:cNvSpPr>
            <a:spLocks noChangeShapeType="1"/>
          </p:cNvSpPr>
          <p:nvPr/>
        </p:nvSpPr>
        <p:spPr bwMode="auto">
          <a:xfrm flipH="1">
            <a:off x="3519488" y="2582863"/>
            <a:ext cx="144462" cy="217487"/>
          </a:xfrm>
          <a:prstGeom prst="line">
            <a:avLst/>
          </a:prstGeom>
          <a:noFill/>
          <a:ln w="28575">
            <a:solidFill>
              <a:srgbClr val="006600"/>
            </a:solidFill>
            <a:round/>
            <a:headEnd/>
            <a:tailEnd/>
          </a:ln>
        </p:spPr>
        <p:txBody>
          <a:bodyPr/>
          <a:lstStyle/>
          <a:p>
            <a:endParaRPr lang="zh-CN" altLang="en-US"/>
          </a:p>
        </p:txBody>
      </p:sp>
      <p:sp>
        <p:nvSpPr>
          <p:cNvPr id="368745" name="Line 105"/>
          <p:cNvSpPr>
            <a:spLocks noChangeShapeType="1"/>
          </p:cNvSpPr>
          <p:nvPr/>
        </p:nvSpPr>
        <p:spPr bwMode="auto">
          <a:xfrm flipH="1" flipV="1">
            <a:off x="3663950" y="2582863"/>
            <a:ext cx="215900" cy="288925"/>
          </a:xfrm>
          <a:prstGeom prst="line">
            <a:avLst/>
          </a:prstGeom>
          <a:noFill/>
          <a:ln w="28575">
            <a:solidFill>
              <a:srgbClr val="006600"/>
            </a:solidFill>
            <a:round/>
            <a:headEnd/>
            <a:tailEnd/>
          </a:ln>
        </p:spPr>
        <p:txBody>
          <a:bodyPr/>
          <a:lstStyle/>
          <a:p>
            <a:endParaRPr lang="zh-CN" altLang="en-US"/>
          </a:p>
        </p:txBody>
      </p:sp>
      <p:sp>
        <p:nvSpPr>
          <p:cNvPr id="368746" name="Line 106"/>
          <p:cNvSpPr>
            <a:spLocks noChangeShapeType="1"/>
          </p:cNvSpPr>
          <p:nvPr/>
        </p:nvSpPr>
        <p:spPr bwMode="auto">
          <a:xfrm flipV="1">
            <a:off x="3590925" y="2943225"/>
            <a:ext cx="288925" cy="288925"/>
          </a:xfrm>
          <a:prstGeom prst="line">
            <a:avLst/>
          </a:prstGeom>
          <a:noFill/>
          <a:ln w="28575">
            <a:solidFill>
              <a:srgbClr val="006600"/>
            </a:solidFill>
            <a:round/>
            <a:headEnd/>
            <a:tailEnd/>
          </a:ln>
        </p:spPr>
        <p:txBody>
          <a:bodyPr/>
          <a:lstStyle/>
          <a:p>
            <a:endParaRPr lang="zh-CN" altLang="en-US"/>
          </a:p>
        </p:txBody>
      </p:sp>
      <p:sp>
        <p:nvSpPr>
          <p:cNvPr id="368747" name="Line 107"/>
          <p:cNvSpPr>
            <a:spLocks noChangeShapeType="1"/>
          </p:cNvSpPr>
          <p:nvPr/>
        </p:nvSpPr>
        <p:spPr bwMode="auto">
          <a:xfrm>
            <a:off x="2798763" y="3087688"/>
            <a:ext cx="144462" cy="287337"/>
          </a:xfrm>
          <a:prstGeom prst="line">
            <a:avLst/>
          </a:prstGeom>
          <a:noFill/>
          <a:ln w="28575">
            <a:solidFill>
              <a:srgbClr val="006600"/>
            </a:solidFill>
            <a:round/>
            <a:headEnd/>
            <a:tailEnd/>
          </a:ln>
        </p:spPr>
        <p:txBody>
          <a:bodyPr/>
          <a:lstStyle/>
          <a:p>
            <a:endParaRPr lang="zh-CN" altLang="en-US"/>
          </a:p>
        </p:txBody>
      </p:sp>
      <p:sp>
        <p:nvSpPr>
          <p:cNvPr id="368748" name="Line 108"/>
          <p:cNvSpPr>
            <a:spLocks noChangeShapeType="1"/>
          </p:cNvSpPr>
          <p:nvPr/>
        </p:nvSpPr>
        <p:spPr bwMode="auto">
          <a:xfrm flipH="1" flipV="1">
            <a:off x="2511425" y="2582863"/>
            <a:ext cx="647700" cy="576262"/>
          </a:xfrm>
          <a:prstGeom prst="line">
            <a:avLst/>
          </a:prstGeom>
          <a:noFill/>
          <a:ln w="28575">
            <a:solidFill>
              <a:srgbClr val="006600"/>
            </a:solidFill>
            <a:round/>
            <a:headEnd/>
            <a:tailEnd/>
          </a:ln>
        </p:spPr>
        <p:txBody>
          <a:bodyPr/>
          <a:lstStyle/>
          <a:p>
            <a:endParaRPr lang="zh-CN" altLang="en-US"/>
          </a:p>
        </p:txBody>
      </p:sp>
      <p:sp>
        <p:nvSpPr>
          <p:cNvPr id="368749" name="Line 109"/>
          <p:cNvSpPr>
            <a:spLocks noChangeShapeType="1"/>
          </p:cNvSpPr>
          <p:nvPr/>
        </p:nvSpPr>
        <p:spPr bwMode="auto">
          <a:xfrm rot="4460605">
            <a:off x="2726531" y="2656682"/>
            <a:ext cx="720725" cy="719138"/>
          </a:xfrm>
          <a:prstGeom prst="line">
            <a:avLst/>
          </a:prstGeom>
          <a:noFill/>
          <a:ln w="28575">
            <a:solidFill>
              <a:srgbClr val="006600"/>
            </a:solidFill>
            <a:round/>
            <a:headEnd/>
            <a:tailEnd/>
          </a:ln>
        </p:spPr>
        <p:txBody>
          <a:bodyPr/>
          <a:lstStyle/>
          <a:p>
            <a:endParaRPr lang="zh-CN" altLang="en-US"/>
          </a:p>
        </p:txBody>
      </p:sp>
      <p:sp>
        <p:nvSpPr>
          <p:cNvPr id="368750" name="Line 110"/>
          <p:cNvSpPr>
            <a:spLocks noChangeShapeType="1"/>
          </p:cNvSpPr>
          <p:nvPr/>
        </p:nvSpPr>
        <p:spPr bwMode="auto">
          <a:xfrm rot="4460605" flipH="1" flipV="1">
            <a:off x="2960687" y="3398838"/>
            <a:ext cx="392113" cy="420688"/>
          </a:xfrm>
          <a:prstGeom prst="line">
            <a:avLst/>
          </a:prstGeom>
          <a:noFill/>
          <a:ln w="28575">
            <a:solidFill>
              <a:srgbClr val="006600"/>
            </a:solidFill>
            <a:round/>
            <a:headEnd/>
            <a:tailEnd/>
          </a:ln>
        </p:spPr>
        <p:txBody>
          <a:bodyPr/>
          <a:lstStyle/>
          <a:p>
            <a:endParaRPr lang="zh-CN" altLang="en-US"/>
          </a:p>
        </p:txBody>
      </p:sp>
      <p:sp>
        <p:nvSpPr>
          <p:cNvPr id="368751" name="Line 111"/>
          <p:cNvSpPr>
            <a:spLocks noChangeShapeType="1"/>
          </p:cNvSpPr>
          <p:nvPr/>
        </p:nvSpPr>
        <p:spPr bwMode="auto">
          <a:xfrm flipV="1">
            <a:off x="2439988" y="4240213"/>
            <a:ext cx="574675" cy="576262"/>
          </a:xfrm>
          <a:prstGeom prst="line">
            <a:avLst/>
          </a:prstGeom>
          <a:noFill/>
          <a:ln w="28575">
            <a:solidFill>
              <a:srgbClr val="006600"/>
            </a:solidFill>
            <a:round/>
            <a:headEnd/>
            <a:tailEnd/>
          </a:ln>
        </p:spPr>
        <p:txBody>
          <a:bodyPr/>
          <a:lstStyle/>
          <a:p>
            <a:endParaRPr lang="zh-CN" altLang="en-US"/>
          </a:p>
        </p:txBody>
      </p:sp>
      <p:sp>
        <p:nvSpPr>
          <p:cNvPr id="368752" name="Line 112"/>
          <p:cNvSpPr>
            <a:spLocks noChangeShapeType="1"/>
          </p:cNvSpPr>
          <p:nvPr/>
        </p:nvSpPr>
        <p:spPr bwMode="auto">
          <a:xfrm flipV="1">
            <a:off x="3014663" y="4167188"/>
            <a:ext cx="576262" cy="73025"/>
          </a:xfrm>
          <a:prstGeom prst="line">
            <a:avLst/>
          </a:prstGeom>
          <a:noFill/>
          <a:ln w="28575">
            <a:solidFill>
              <a:srgbClr val="006600"/>
            </a:solidFill>
            <a:round/>
            <a:headEnd/>
            <a:tailEnd/>
          </a:ln>
        </p:spPr>
        <p:txBody>
          <a:bodyPr/>
          <a:lstStyle/>
          <a:p>
            <a:endParaRPr lang="zh-CN" altLang="en-US"/>
          </a:p>
        </p:txBody>
      </p:sp>
      <p:sp>
        <p:nvSpPr>
          <p:cNvPr id="368753" name="Line 113"/>
          <p:cNvSpPr>
            <a:spLocks noChangeShapeType="1"/>
          </p:cNvSpPr>
          <p:nvPr/>
        </p:nvSpPr>
        <p:spPr bwMode="auto">
          <a:xfrm flipV="1">
            <a:off x="3590925" y="3808413"/>
            <a:ext cx="144463" cy="358775"/>
          </a:xfrm>
          <a:prstGeom prst="line">
            <a:avLst/>
          </a:prstGeom>
          <a:noFill/>
          <a:ln w="28575">
            <a:solidFill>
              <a:srgbClr val="006600"/>
            </a:solidFill>
            <a:round/>
            <a:headEnd/>
            <a:tailEnd/>
          </a:ln>
        </p:spPr>
        <p:txBody>
          <a:bodyPr/>
          <a:lstStyle/>
          <a:p>
            <a:endParaRPr lang="zh-CN" altLang="en-US"/>
          </a:p>
        </p:txBody>
      </p:sp>
      <p:sp>
        <p:nvSpPr>
          <p:cNvPr id="368754" name="Line 114"/>
          <p:cNvSpPr>
            <a:spLocks noChangeShapeType="1"/>
          </p:cNvSpPr>
          <p:nvPr/>
        </p:nvSpPr>
        <p:spPr bwMode="auto">
          <a:xfrm>
            <a:off x="3735388" y="3808413"/>
            <a:ext cx="0" cy="719137"/>
          </a:xfrm>
          <a:prstGeom prst="line">
            <a:avLst/>
          </a:prstGeom>
          <a:noFill/>
          <a:ln w="28575">
            <a:solidFill>
              <a:srgbClr val="006600"/>
            </a:solidFill>
            <a:round/>
            <a:headEnd/>
            <a:tailEnd/>
          </a:ln>
        </p:spPr>
        <p:txBody>
          <a:bodyPr/>
          <a:lstStyle/>
          <a:p>
            <a:endParaRPr lang="zh-CN" altLang="en-US"/>
          </a:p>
        </p:txBody>
      </p:sp>
      <p:sp>
        <p:nvSpPr>
          <p:cNvPr id="368755" name="Line 115"/>
          <p:cNvSpPr>
            <a:spLocks noChangeShapeType="1"/>
          </p:cNvSpPr>
          <p:nvPr/>
        </p:nvSpPr>
        <p:spPr bwMode="auto">
          <a:xfrm flipH="1" flipV="1">
            <a:off x="3014663" y="3808413"/>
            <a:ext cx="720725" cy="719137"/>
          </a:xfrm>
          <a:prstGeom prst="line">
            <a:avLst/>
          </a:prstGeom>
          <a:noFill/>
          <a:ln w="28575">
            <a:solidFill>
              <a:srgbClr val="006600"/>
            </a:solidFill>
            <a:round/>
            <a:headEnd/>
            <a:tailEnd/>
          </a:ln>
        </p:spPr>
        <p:txBody>
          <a:bodyPr/>
          <a:lstStyle/>
          <a:p>
            <a:endParaRPr lang="zh-CN" altLang="en-US"/>
          </a:p>
        </p:txBody>
      </p:sp>
      <p:sp>
        <p:nvSpPr>
          <p:cNvPr id="368756" name="Line 116"/>
          <p:cNvSpPr>
            <a:spLocks noChangeShapeType="1"/>
          </p:cNvSpPr>
          <p:nvPr/>
        </p:nvSpPr>
        <p:spPr bwMode="auto">
          <a:xfrm>
            <a:off x="2295525" y="4456113"/>
            <a:ext cx="144463" cy="287337"/>
          </a:xfrm>
          <a:prstGeom prst="line">
            <a:avLst/>
          </a:prstGeom>
          <a:noFill/>
          <a:ln w="28575">
            <a:solidFill>
              <a:srgbClr val="006600"/>
            </a:solidFill>
            <a:round/>
            <a:headEnd/>
            <a:tailEnd/>
          </a:ln>
        </p:spPr>
        <p:txBody>
          <a:bodyPr/>
          <a:lstStyle/>
          <a:p>
            <a:endParaRPr lang="zh-CN" altLang="en-US"/>
          </a:p>
        </p:txBody>
      </p:sp>
      <p:sp>
        <p:nvSpPr>
          <p:cNvPr id="368757" name="Line 117"/>
          <p:cNvSpPr>
            <a:spLocks noChangeShapeType="1"/>
          </p:cNvSpPr>
          <p:nvPr/>
        </p:nvSpPr>
        <p:spPr bwMode="auto">
          <a:xfrm>
            <a:off x="1935163" y="4024313"/>
            <a:ext cx="360362" cy="431800"/>
          </a:xfrm>
          <a:prstGeom prst="line">
            <a:avLst/>
          </a:prstGeom>
          <a:noFill/>
          <a:ln w="28575">
            <a:solidFill>
              <a:srgbClr val="006600"/>
            </a:solidFill>
            <a:round/>
            <a:headEnd/>
            <a:tailEnd/>
          </a:ln>
        </p:spPr>
        <p:txBody>
          <a:bodyPr/>
          <a:lstStyle/>
          <a:p>
            <a:endParaRPr lang="zh-CN" altLang="en-US"/>
          </a:p>
        </p:txBody>
      </p:sp>
      <p:sp>
        <p:nvSpPr>
          <p:cNvPr id="368758" name="Oval 118"/>
          <p:cNvSpPr>
            <a:spLocks noChangeAspect="1" noChangeArrowheads="1"/>
          </p:cNvSpPr>
          <p:nvPr/>
        </p:nvSpPr>
        <p:spPr bwMode="auto">
          <a:xfrm>
            <a:off x="1935163" y="40243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59" name="Oval 119"/>
          <p:cNvSpPr>
            <a:spLocks noChangeAspect="1" noChangeArrowheads="1"/>
          </p:cNvSpPr>
          <p:nvPr/>
        </p:nvSpPr>
        <p:spPr bwMode="auto">
          <a:xfrm>
            <a:off x="2244725" y="44053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0" name="Oval 120"/>
          <p:cNvSpPr>
            <a:spLocks noChangeAspect="1" noChangeArrowheads="1"/>
          </p:cNvSpPr>
          <p:nvPr/>
        </p:nvSpPr>
        <p:spPr bwMode="auto">
          <a:xfrm>
            <a:off x="2439988" y="476567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1" name="Oval 121"/>
          <p:cNvSpPr>
            <a:spLocks noChangeAspect="1" noChangeArrowheads="1"/>
          </p:cNvSpPr>
          <p:nvPr/>
        </p:nvSpPr>
        <p:spPr bwMode="auto">
          <a:xfrm>
            <a:off x="3014663" y="42402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2" name="Oval 122"/>
          <p:cNvSpPr>
            <a:spLocks noChangeAspect="1" noChangeArrowheads="1"/>
          </p:cNvSpPr>
          <p:nvPr/>
        </p:nvSpPr>
        <p:spPr bwMode="auto">
          <a:xfrm>
            <a:off x="3540125" y="41671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3" name="Oval 123"/>
          <p:cNvSpPr>
            <a:spLocks noChangeAspect="1" noChangeArrowheads="1"/>
          </p:cNvSpPr>
          <p:nvPr/>
        </p:nvSpPr>
        <p:spPr bwMode="auto">
          <a:xfrm>
            <a:off x="3716338" y="38084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4" name="Oval 124"/>
          <p:cNvSpPr>
            <a:spLocks noChangeAspect="1" noChangeArrowheads="1"/>
          </p:cNvSpPr>
          <p:nvPr/>
        </p:nvSpPr>
        <p:spPr bwMode="auto">
          <a:xfrm>
            <a:off x="3735388" y="4527550"/>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5" name="Oval 125"/>
          <p:cNvSpPr>
            <a:spLocks noChangeAspect="1" noChangeArrowheads="1"/>
          </p:cNvSpPr>
          <p:nvPr/>
        </p:nvSpPr>
        <p:spPr bwMode="auto">
          <a:xfrm>
            <a:off x="3014663" y="38084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66" name="Line 126"/>
          <p:cNvSpPr>
            <a:spLocks noChangeShapeType="1"/>
          </p:cNvSpPr>
          <p:nvPr/>
        </p:nvSpPr>
        <p:spPr bwMode="auto">
          <a:xfrm rot="4460605" flipH="1">
            <a:off x="3018632" y="2650331"/>
            <a:ext cx="515938" cy="485775"/>
          </a:xfrm>
          <a:prstGeom prst="line">
            <a:avLst/>
          </a:prstGeom>
          <a:noFill/>
          <a:ln w="28575">
            <a:solidFill>
              <a:srgbClr val="006600"/>
            </a:solidFill>
            <a:round/>
            <a:headEnd/>
            <a:tailEnd/>
          </a:ln>
        </p:spPr>
        <p:txBody>
          <a:bodyPr/>
          <a:lstStyle/>
          <a:p>
            <a:endParaRPr lang="zh-CN" altLang="en-US"/>
          </a:p>
        </p:txBody>
      </p:sp>
      <p:sp>
        <p:nvSpPr>
          <p:cNvPr id="368767" name="Line 127"/>
          <p:cNvSpPr>
            <a:spLocks noChangeShapeType="1"/>
          </p:cNvSpPr>
          <p:nvPr/>
        </p:nvSpPr>
        <p:spPr bwMode="auto">
          <a:xfrm rot="4460605" flipH="1">
            <a:off x="2447131" y="3178969"/>
            <a:ext cx="576263" cy="73025"/>
          </a:xfrm>
          <a:prstGeom prst="line">
            <a:avLst/>
          </a:prstGeom>
          <a:noFill/>
          <a:ln w="28575">
            <a:solidFill>
              <a:srgbClr val="006600"/>
            </a:solidFill>
            <a:round/>
            <a:headEnd/>
            <a:tailEnd/>
          </a:ln>
        </p:spPr>
        <p:txBody>
          <a:bodyPr/>
          <a:lstStyle/>
          <a:p>
            <a:endParaRPr lang="zh-CN" altLang="en-US"/>
          </a:p>
        </p:txBody>
      </p:sp>
      <p:sp>
        <p:nvSpPr>
          <p:cNvPr id="368768" name="Line 128"/>
          <p:cNvSpPr>
            <a:spLocks noChangeShapeType="1"/>
          </p:cNvSpPr>
          <p:nvPr/>
        </p:nvSpPr>
        <p:spPr bwMode="auto">
          <a:xfrm rot="4460605" flipH="1">
            <a:off x="2385219" y="2712244"/>
            <a:ext cx="71437" cy="358775"/>
          </a:xfrm>
          <a:prstGeom prst="line">
            <a:avLst/>
          </a:prstGeom>
          <a:noFill/>
          <a:ln w="28575">
            <a:solidFill>
              <a:srgbClr val="006600"/>
            </a:solidFill>
            <a:round/>
            <a:headEnd/>
            <a:tailEnd/>
          </a:ln>
        </p:spPr>
        <p:txBody>
          <a:bodyPr/>
          <a:lstStyle/>
          <a:p>
            <a:endParaRPr lang="zh-CN" altLang="en-US"/>
          </a:p>
        </p:txBody>
      </p:sp>
      <p:sp>
        <p:nvSpPr>
          <p:cNvPr id="368769" name="Line 129"/>
          <p:cNvSpPr>
            <a:spLocks noChangeShapeType="1"/>
          </p:cNvSpPr>
          <p:nvPr/>
        </p:nvSpPr>
        <p:spPr bwMode="auto">
          <a:xfrm rot="4460605" flipH="1" flipV="1">
            <a:off x="2581275" y="2449513"/>
            <a:ext cx="1587" cy="719138"/>
          </a:xfrm>
          <a:prstGeom prst="line">
            <a:avLst/>
          </a:prstGeom>
          <a:noFill/>
          <a:ln w="28575">
            <a:solidFill>
              <a:srgbClr val="006600"/>
            </a:solidFill>
            <a:round/>
            <a:headEnd/>
            <a:tailEnd/>
          </a:ln>
        </p:spPr>
        <p:txBody>
          <a:bodyPr/>
          <a:lstStyle/>
          <a:p>
            <a:endParaRPr lang="zh-CN" altLang="en-US"/>
          </a:p>
        </p:txBody>
      </p:sp>
      <p:sp>
        <p:nvSpPr>
          <p:cNvPr id="368770" name="Line 130"/>
          <p:cNvSpPr>
            <a:spLocks noChangeShapeType="1"/>
          </p:cNvSpPr>
          <p:nvPr/>
        </p:nvSpPr>
        <p:spPr bwMode="auto">
          <a:xfrm rot="4460605" flipH="1" flipV="1">
            <a:off x="3355976" y="3087687"/>
            <a:ext cx="157162" cy="315913"/>
          </a:xfrm>
          <a:prstGeom prst="line">
            <a:avLst/>
          </a:prstGeom>
          <a:noFill/>
          <a:ln w="28575">
            <a:solidFill>
              <a:srgbClr val="006600"/>
            </a:solidFill>
            <a:round/>
            <a:headEnd/>
            <a:tailEnd/>
          </a:ln>
        </p:spPr>
        <p:txBody>
          <a:bodyPr/>
          <a:lstStyle/>
          <a:p>
            <a:endParaRPr lang="zh-CN" altLang="en-US"/>
          </a:p>
        </p:txBody>
      </p:sp>
      <p:sp>
        <p:nvSpPr>
          <p:cNvPr id="368771" name="Oval 131"/>
          <p:cNvSpPr>
            <a:spLocks noChangeAspect="1" noChangeArrowheads="1"/>
          </p:cNvSpPr>
          <p:nvPr/>
        </p:nvSpPr>
        <p:spPr bwMode="auto">
          <a:xfrm rot="4460605" flipH="1" flipV="1">
            <a:off x="3263900" y="337026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2" name="Oval 132"/>
          <p:cNvSpPr>
            <a:spLocks noChangeAspect="1" noChangeArrowheads="1"/>
          </p:cNvSpPr>
          <p:nvPr/>
        </p:nvSpPr>
        <p:spPr bwMode="auto">
          <a:xfrm rot="4460605" flipH="1" flipV="1">
            <a:off x="3557588" y="3086100"/>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3" name="Oval 133"/>
          <p:cNvSpPr>
            <a:spLocks noChangeAspect="1" noChangeArrowheads="1"/>
          </p:cNvSpPr>
          <p:nvPr/>
        </p:nvSpPr>
        <p:spPr bwMode="auto">
          <a:xfrm rot="4460605" flipH="1" flipV="1">
            <a:off x="2827338" y="342741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4" name="Oval 134"/>
          <p:cNvSpPr>
            <a:spLocks noChangeAspect="1" noChangeArrowheads="1"/>
          </p:cNvSpPr>
          <p:nvPr/>
        </p:nvSpPr>
        <p:spPr bwMode="auto">
          <a:xfrm rot="4460605" flipH="1" flipV="1">
            <a:off x="2614613" y="289083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5" name="Oval 135"/>
          <p:cNvSpPr>
            <a:spLocks noChangeAspect="1" noChangeArrowheads="1"/>
          </p:cNvSpPr>
          <p:nvPr/>
        </p:nvSpPr>
        <p:spPr bwMode="auto">
          <a:xfrm rot="4460605" flipH="1" flipV="1">
            <a:off x="2235200" y="286702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6" name="Oval 136"/>
          <p:cNvSpPr>
            <a:spLocks noChangeAspect="1" noChangeArrowheads="1"/>
          </p:cNvSpPr>
          <p:nvPr/>
        </p:nvSpPr>
        <p:spPr bwMode="auto">
          <a:xfrm rot="4460605" flipH="1" flipV="1">
            <a:off x="2922588" y="26558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7" name="Oval 137"/>
          <p:cNvSpPr>
            <a:spLocks noChangeAspect="1" noChangeArrowheads="1"/>
          </p:cNvSpPr>
          <p:nvPr/>
        </p:nvSpPr>
        <p:spPr bwMode="auto">
          <a:xfrm rot="4460605" flipH="1" flipV="1">
            <a:off x="3159125" y="315912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8" name="Oval 138"/>
          <p:cNvSpPr>
            <a:spLocks noChangeAspect="1" noChangeArrowheads="1"/>
          </p:cNvSpPr>
          <p:nvPr/>
        </p:nvSpPr>
        <p:spPr bwMode="auto">
          <a:xfrm rot="4460605" flipH="1" flipV="1">
            <a:off x="2492375" y="257333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79" name="Line 139"/>
          <p:cNvSpPr>
            <a:spLocks noChangeShapeType="1"/>
          </p:cNvSpPr>
          <p:nvPr/>
        </p:nvSpPr>
        <p:spPr bwMode="auto">
          <a:xfrm flipH="1">
            <a:off x="3159125" y="2582863"/>
            <a:ext cx="144463" cy="576262"/>
          </a:xfrm>
          <a:prstGeom prst="line">
            <a:avLst/>
          </a:prstGeom>
          <a:noFill/>
          <a:ln w="28575">
            <a:solidFill>
              <a:srgbClr val="006600"/>
            </a:solidFill>
            <a:round/>
            <a:headEnd/>
            <a:tailEnd/>
          </a:ln>
        </p:spPr>
        <p:txBody>
          <a:bodyPr/>
          <a:lstStyle/>
          <a:p>
            <a:endParaRPr lang="zh-CN" altLang="en-US"/>
          </a:p>
        </p:txBody>
      </p:sp>
      <p:sp>
        <p:nvSpPr>
          <p:cNvPr id="368780" name="Oval 140"/>
          <p:cNvSpPr>
            <a:spLocks noChangeAspect="1" noChangeArrowheads="1"/>
          </p:cNvSpPr>
          <p:nvPr/>
        </p:nvSpPr>
        <p:spPr bwMode="auto">
          <a:xfrm rot="4460605" flipH="1" flipV="1">
            <a:off x="2439988" y="30876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1" name="Oval 141"/>
          <p:cNvSpPr>
            <a:spLocks noChangeAspect="1" noChangeArrowheads="1"/>
          </p:cNvSpPr>
          <p:nvPr/>
        </p:nvSpPr>
        <p:spPr bwMode="auto">
          <a:xfrm rot="4460605" flipH="1" flipV="1">
            <a:off x="2798763" y="30876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2" name="Oval 142"/>
          <p:cNvSpPr>
            <a:spLocks noChangeAspect="1" noChangeArrowheads="1"/>
          </p:cNvSpPr>
          <p:nvPr/>
        </p:nvSpPr>
        <p:spPr bwMode="auto">
          <a:xfrm rot="4460605" flipH="1" flipV="1">
            <a:off x="2943225" y="337502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3" name="Line 143"/>
          <p:cNvSpPr>
            <a:spLocks noChangeShapeType="1"/>
          </p:cNvSpPr>
          <p:nvPr/>
        </p:nvSpPr>
        <p:spPr bwMode="auto">
          <a:xfrm>
            <a:off x="2366963" y="2727325"/>
            <a:ext cx="73025" cy="360363"/>
          </a:xfrm>
          <a:prstGeom prst="line">
            <a:avLst/>
          </a:prstGeom>
          <a:noFill/>
          <a:ln w="28575">
            <a:solidFill>
              <a:srgbClr val="006600"/>
            </a:solidFill>
            <a:round/>
            <a:headEnd/>
            <a:tailEnd/>
          </a:ln>
        </p:spPr>
        <p:txBody>
          <a:bodyPr/>
          <a:lstStyle/>
          <a:p>
            <a:endParaRPr lang="zh-CN" altLang="en-US"/>
          </a:p>
        </p:txBody>
      </p:sp>
      <p:sp>
        <p:nvSpPr>
          <p:cNvPr id="368784" name="Line 144"/>
          <p:cNvSpPr>
            <a:spLocks noChangeShapeType="1"/>
          </p:cNvSpPr>
          <p:nvPr/>
        </p:nvSpPr>
        <p:spPr bwMode="auto">
          <a:xfrm>
            <a:off x="2439988" y="3087688"/>
            <a:ext cx="358775" cy="0"/>
          </a:xfrm>
          <a:prstGeom prst="line">
            <a:avLst/>
          </a:prstGeom>
          <a:noFill/>
          <a:ln w="28575">
            <a:solidFill>
              <a:srgbClr val="006600"/>
            </a:solidFill>
            <a:round/>
            <a:headEnd/>
            <a:tailEnd/>
          </a:ln>
        </p:spPr>
        <p:txBody>
          <a:bodyPr/>
          <a:lstStyle/>
          <a:p>
            <a:endParaRPr lang="zh-CN" altLang="en-US"/>
          </a:p>
        </p:txBody>
      </p:sp>
      <p:sp>
        <p:nvSpPr>
          <p:cNvPr id="368785" name="Oval 145"/>
          <p:cNvSpPr>
            <a:spLocks noChangeAspect="1" noChangeArrowheads="1"/>
          </p:cNvSpPr>
          <p:nvPr/>
        </p:nvSpPr>
        <p:spPr bwMode="auto">
          <a:xfrm rot="4460605" flipH="1" flipV="1">
            <a:off x="3590925" y="3232150"/>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6" name="Oval 146"/>
          <p:cNvSpPr>
            <a:spLocks noChangeAspect="1" noChangeArrowheads="1"/>
          </p:cNvSpPr>
          <p:nvPr/>
        </p:nvSpPr>
        <p:spPr bwMode="auto">
          <a:xfrm rot="4460605" flipH="1" flipV="1">
            <a:off x="3879850" y="28717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7" name="Oval 147"/>
          <p:cNvSpPr>
            <a:spLocks noChangeAspect="1" noChangeArrowheads="1"/>
          </p:cNvSpPr>
          <p:nvPr/>
        </p:nvSpPr>
        <p:spPr bwMode="auto">
          <a:xfrm rot="4460605" flipH="1" flipV="1">
            <a:off x="3663950" y="2582863"/>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8" name="Oval 148"/>
          <p:cNvSpPr>
            <a:spLocks noChangeAspect="1" noChangeArrowheads="1"/>
          </p:cNvSpPr>
          <p:nvPr/>
        </p:nvSpPr>
        <p:spPr bwMode="auto">
          <a:xfrm rot="4460605" flipH="1" flipV="1">
            <a:off x="3519488" y="2800350"/>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89" name="Oval 149"/>
          <p:cNvSpPr>
            <a:spLocks noChangeAspect="1" noChangeArrowheads="1"/>
          </p:cNvSpPr>
          <p:nvPr/>
        </p:nvSpPr>
        <p:spPr bwMode="auto">
          <a:xfrm rot="4460605" flipH="1" flipV="1">
            <a:off x="3787775" y="3087688"/>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790" name="Line 150"/>
          <p:cNvSpPr>
            <a:spLocks noChangeShapeType="1"/>
          </p:cNvSpPr>
          <p:nvPr/>
        </p:nvSpPr>
        <p:spPr bwMode="auto">
          <a:xfrm flipV="1">
            <a:off x="2943225" y="3232150"/>
            <a:ext cx="647700" cy="142875"/>
          </a:xfrm>
          <a:prstGeom prst="line">
            <a:avLst/>
          </a:prstGeom>
          <a:noFill/>
          <a:ln w="28575">
            <a:solidFill>
              <a:srgbClr val="006600"/>
            </a:solidFill>
            <a:round/>
            <a:headEnd/>
            <a:tailEnd/>
          </a:ln>
        </p:spPr>
        <p:txBody>
          <a:bodyPr/>
          <a:lstStyle/>
          <a:p>
            <a:endParaRPr lang="zh-CN" altLang="en-US"/>
          </a:p>
        </p:txBody>
      </p:sp>
      <p:sp>
        <p:nvSpPr>
          <p:cNvPr id="368791" name="Oval 151"/>
          <p:cNvSpPr>
            <a:spLocks noChangeAspect="1" noChangeArrowheads="1"/>
          </p:cNvSpPr>
          <p:nvPr/>
        </p:nvSpPr>
        <p:spPr bwMode="auto">
          <a:xfrm rot="4460605" flipH="1" flipV="1">
            <a:off x="4527550" y="236696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2" name="Oval 152"/>
          <p:cNvSpPr>
            <a:spLocks noChangeAspect="1" noChangeArrowheads="1"/>
          </p:cNvSpPr>
          <p:nvPr/>
        </p:nvSpPr>
        <p:spPr bwMode="auto">
          <a:xfrm rot="4460605" flipH="1" flipV="1">
            <a:off x="5030788" y="222408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3" name="Oval 153"/>
          <p:cNvSpPr>
            <a:spLocks noChangeAspect="1" noChangeArrowheads="1"/>
          </p:cNvSpPr>
          <p:nvPr/>
        </p:nvSpPr>
        <p:spPr bwMode="auto">
          <a:xfrm rot="4460605" flipH="1" flipV="1">
            <a:off x="5205413" y="249078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4" name="Oval 154"/>
          <p:cNvSpPr>
            <a:spLocks noChangeAspect="1" noChangeArrowheads="1"/>
          </p:cNvSpPr>
          <p:nvPr/>
        </p:nvSpPr>
        <p:spPr bwMode="auto">
          <a:xfrm rot="4460605" flipH="1" flipV="1">
            <a:off x="4959350" y="2727325"/>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5" name="Oval 155"/>
          <p:cNvSpPr>
            <a:spLocks noChangeAspect="1" noChangeArrowheads="1"/>
          </p:cNvSpPr>
          <p:nvPr/>
        </p:nvSpPr>
        <p:spPr bwMode="auto">
          <a:xfrm rot="4460605" flipH="1" flipV="1">
            <a:off x="4743450" y="243998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6" name="Oval 156"/>
          <p:cNvSpPr>
            <a:spLocks noChangeAspect="1" noChangeArrowheads="1"/>
          </p:cNvSpPr>
          <p:nvPr/>
        </p:nvSpPr>
        <p:spPr bwMode="auto">
          <a:xfrm rot="4460605" flipH="1" flipV="1">
            <a:off x="4921250" y="249396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7" name="Oval 157"/>
          <p:cNvSpPr>
            <a:spLocks noChangeAspect="1" noChangeArrowheads="1"/>
          </p:cNvSpPr>
          <p:nvPr/>
        </p:nvSpPr>
        <p:spPr bwMode="auto">
          <a:xfrm rot="4460605" flipH="1" flipV="1">
            <a:off x="4586288" y="2825750"/>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8" name="Oval 158"/>
          <p:cNvSpPr>
            <a:spLocks noChangeAspect="1" noChangeArrowheads="1"/>
          </p:cNvSpPr>
          <p:nvPr/>
        </p:nvSpPr>
        <p:spPr bwMode="auto">
          <a:xfrm rot="4460605" flipH="1" flipV="1">
            <a:off x="4456113" y="2511425"/>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799" name="Oval 159"/>
          <p:cNvSpPr>
            <a:spLocks noChangeAspect="1" noChangeArrowheads="1"/>
          </p:cNvSpPr>
          <p:nvPr/>
        </p:nvSpPr>
        <p:spPr bwMode="auto">
          <a:xfrm rot="4460605" flipH="1" flipV="1">
            <a:off x="4527550" y="3016250"/>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0" name="Oval 160"/>
          <p:cNvSpPr>
            <a:spLocks noChangeAspect="1" noChangeArrowheads="1"/>
          </p:cNvSpPr>
          <p:nvPr/>
        </p:nvSpPr>
        <p:spPr bwMode="auto">
          <a:xfrm rot="4460605" flipH="1" flipV="1">
            <a:off x="4887913" y="3448050"/>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1" name="Oval 161"/>
          <p:cNvSpPr>
            <a:spLocks noChangeAspect="1" noChangeArrowheads="1"/>
          </p:cNvSpPr>
          <p:nvPr/>
        </p:nvSpPr>
        <p:spPr bwMode="auto">
          <a:xfrm rot="4460605" flipH="1" flipV="1">
            <a:off x="5065713" y="364331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2" name="Oval 162"/>
          <p:cNvSpPr>
            <a:spLocks noChangeAspect="1" noChangeArrowheads="1"/>
          </p:cNvSpPr>
          <p:nvPr/>
        </p:nvSpPr>
        <p:spPr bwMode="auto">
          <a:xfrm rot="4460605" flipH="1" flipV="1">
            <a:off x="4921250" y="402431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3" name="Oval 163"/>
          <p:cNvSpPr>
            <a:spLocks noChangeAspect="1" noChangeArrowheads="1"/>
          </p:cNvSpPr>
          <p:nvPr/>
        </p:nvSpPr>
        <p:spPr bwMode="auto">
          <a:xfrm rot="4460605" flipH="1" flipV="1">
            <a:off x="4778375" y="4229100"/>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4" name="Oval 164"/>
          <p:cNvSpPr>
            <a:spLocks noChangeAspect="1" noChangeArrowheads="1"/>
          </p:cNvSpPr>
          <p:nvPr/>
        </p:nvSpPr>
        <p:spPr bwMode="auto">
          <a:xfrm rot="4460605" flipH="1" flipV="1">
            <a:off x="5151438" y="430053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5" name="Oval 165"/>
          <p:cNvSpPr>
            <a:spLocks noChangeAspect="1" noChangeArrowheads="1"/>
          </p:cNvSpPr>
          <p:nvPr/>
        </p:nvSpPr>
        <p:spPr bwMode="auto">
          <a:xfrm rot="4460605" flipH="1" flipV="1">
            <a:off x="4743450" y="445611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6" name="Oval 166"/>
          <p:cNvSpPr>
            <a:spLocks noChangeAspect="1" noChangeArrowheads="1"/>
          </p:cNvSpPr>
          <p:nvPr/>
        </p:nvSpPr>
        <p:spPr bwMode="auto">
          <a:xfrm rot="4460605" flipH="1" flipV="1">
            <a:off x="5083175" y="415766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7" name="Oval 167"/>
          <p:cNvSpPr>
            <a:spLocks noChangeAspect="1" noChangeArrowheads="1"/>
          </p:cNvSpPr>
          <p:nvPr/>
        </p:nvSpPr>
        <p:spPr bwMode="auto">
          <a:xfrm rot="4460605" flipH="1" flipV="1">
            <a:off x="5030788" y="459898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8" name="Oval 168"/>
          <p:cNvSpPr>
            <a:spLocks noChangeAspect="1" noChangeArrowheads="1"/>
          </p:cNvSpPr>
          <p:nvPr/>
        </p:nvSpPr>
        <p:spPr bwMode="auto">
          <a:xfrm rot="4460605" flipH="1" flipV="1">
            <a:off x="4802188" y="4300538"/>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09" name="Oval 169"/>
          <p:cNvSpPr>
            <a:spLocks noChangeAspect="1" noChangeArrowheads="1"/>
          </p:cNvSpPr>
          <p:nvPr/>
        </p:nvSpPr>
        <p:spPr bwMode="auto">
          <a:xfrm rot="4460605" flipH="1" flipV="1">
            <a:off x="4887913" y="4816475"/>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10" name="Oval 170"/>
          <p:cNvSpPr>
            <a:spLocks noChangeAspect="1" noChangeArrowheads="1"/>
          </p:cNvSpPr>
          <p:nvPr/>
        </p:nvSpPr>
        <p:spPr bwMode="auto">
          <a:xfrm rot="4460605" flipH="1" flipV="1">
            <a:off x="5227638" y="47259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11" name="Oval 171"/>
          <p:cNvSpPr>
            <a:spLocks noChangeAspect="1" noChangeArrowheads="1"/>
          </p:cNvSpPr>
          <p:nvPr/>
        </p:nvSpPr>
        <p:spPr bwMode="auto">
          <a:xfrm rot="4460605" flipH="1" flipV="1">
            <a:off x="4887913" y="5078413"/>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12" name="Oval 172"/>
          <p:cNvSpPr>
            <a:spLocks noChangeAspect="1" noChangeArrowheads="1"/>
          </p:cNvSpPr>
          <p:nvPr/>
        </p:nvSpPr>
        <p:spPr bwMode="auto">
          <a:xfrm rot="4460605" flipH="1" flipV="1">
            <a:off x="4743450" y="4816475"/>
            <a:ext cx="50800" cy="50800"/>
          </a:xfrm>
          <a:prstGeom prst="ellipse">
            <a:avLst/>
          </a:prstGeom>
          <a:solidFill>
            <a:srgbClr val="FFFF00"/>
          </a:solidFill>
          <a:ln w="28575">
            <a:solidFill>
              <a:srgbClr val="990033"/>
            </a:solidFill>
            <a:round/>
            <a:headEnd/>
            <a:tailEnd/>
          </a:ln>
        </p:spPr>
        <p:txBody>
          <a:bodyPr wrap="none" anchor="ctr"/>
          <a:lstStyle/>
          <a:p>
            <a:pPr algn="ctr"/>
            <a:endParaRPr lang="zh-CN" altLang="en-US"/>
          </a:p>
        </p:txBody>
      </p:sp>
      <p:sp>
        <p:nvSpPr>
          <p:cNvPr id="368813" name="Oval 173"/>
          <p:cNvSpPr>
            <a:spLocks noChangeAspect="1" noChangeArrowheads="1"/>
          </p:cNvSpPr>
          <p:nvPr/>
        </p:nvSpPr>
        <p:spPr bwMode="auto">
          <a:xfrm rot="4460605" flipH="1" flipV="1">
            <a:off x="2347913" y="272732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814" name="Oval 174"/>
          <p:cNvSpPr>
            <a:spLocks noChangeAspect="1" noChangeArrowheads="1"/>
          </p:cNvSpPr>
          <p:nvPr/>
        </p:nvSpPr>
        <p:spPr bwMode="auto">
          <a:xfrm rot="4460605" flipH="1" flipV="1">
            <a:off x="3284538" y="2559050"/>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815" name="Oval 175"/>
          <p:cNvSpPr>
            <a:spLocks noChangeAspect="1" noChangeArrowheads="1"/>
          </p:cNvSpPr>
          <p:nvPr/>
        </p:nvSpPr>
        <p:spPr bwMode="auto">
          <a:xfrm rot="4460605" flipH="1" flipV="1">
            <a:off x="6361113" y="21510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16" name="Oval 176"/>
          <p:cNvSpPr>
            <a:spLocks noChangeAspect="1" noChangeArrowheads="1"/>
          </p:cNvSpPr>
          <p:nvPr/>
        </p:nvSpPr>
        <p:spPr bwMode="auto">
          <a:xfrm rot="4460605" flipH="1" flipV="1">
            <a:off x="6235700" y="24399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17" name="Oval 177"/>
          <p:cNvSpPr>
            <a:spLocks noChangeAspect="1" noChangeArrowheads="1"/>
          </p:cNvSpPr>
          <p:nvPr/>
        </p:nvSpPr>
        <p:spPr bwMode="auto">
          <a:xfrm rot="4460605" flipH="1" flipV="1">
            <a:off x="6399213" y="25828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18" name="Oval 178"/>
          <p:cNvSpPr>
            <a:spLocks noChangeAspect="1" noChangeArrowheads="1"/>
          </p:cNvSpPr>
          <p:nvPr/>
        </p:nvSpPr>
        <p:spPr bwMode="auto">
          <a:xfrm rot="4460605" flipH="1" flipV="1">
            <a:off x="5967413" y="27066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19" name="Oval 179"/>
          <p:cNvSpPr>
            <a:spLocks noChangeAspect="1" noChangeArrowheads="1"/>
          </p:cNvSpPr>
          <p:nvPr/>
        </p:nvSpPr>
        <p:spPr bwMode="auto">
          <a:xfrm rot="4460605" flipH="1" flipV="1">
            <a:off x="6073775" y="2905125"/>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0" name="Oval 180"/>
          <p:cNvSpPr>
            <a:spLocks noChangeAspect="1" noChangeArrowheads="1"/>
          </p:cNvSpPr>
          <p:nvPr/>
        </p:nvSpPr>
        <p:spPr bwMode="auto">
          <a:xfrm rot="4460605" flipH="1" flipV="1">
            <a:off x="6235700" y="28368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1" name="Oval 181"/>
          <p:cNvSpPr>
            <a:spLocks noChangeAspect="1" noChangeArrowheads="1"/>
          </p:cNvSpPr>
          <p:nvPr/>
        </p:nvSpPr>
        <p:spPr bwMode="auto">
          <a:xfrm rot="4460605" flipH="1" flipV="1">
            <a:off x="6284913" y="304800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2" name="Oval 182"/>
          <p:cNvSpPr>
            <a:spLocks noChangeAspect="1" noChangeArrowheads="1"/>
          </p:cNvSpPr>
          <p:nvPr/>
        </p:nvSpPr>
        <p:spPr bwMode="auto">
          <a:xfrm rot="4460605" flipH="1" flipV="1">
            <a:off x="6111875" y="3159125"/>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3" name="Oval 183"/>
          <p:cNvSpPr>
            <a:spLocks noChangeAspect="1" noChangeArrowheads="1"/>
          </p:cNvSpPr>
          <p:nvPr/>
        </p:nvSpPr>
        <p:spPr bwMode="auto">
          <a:xfrm rot="4460605" flipH="1" flipV="1">
            <a:off x="5875338" y="278923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4" name="Oval 184"/>
          <p:cNvSpPr>
            <a:spLocks noChangeAspect="1" noChangeArrowheads="1"/>
          </p:cNvSpPr>
          <p:nvPr/>
        </p:nvSpPr>
        <p:spPr bwMode="auto">
          <a:xfrm rot="4460605" flipH="1" flipV="1">
            <a:off x="5803900" y="300513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5" name="Oval 185"/>
          <p:cNvSpPr>
            <a:spLocks noChangeAspect="1" noChangeArrowheads="1"/>
          </p:cNvSpPr>
          <p:nvPr/>
        </p:nvSpPr>
        <p:spPr bwMode="auto">
          <a:xfrm rot="4460605" flipH="1" flipV="1">
            <a:off x="5607050" y="27066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6" name="Oval 186"/>
          <p:cNvSpPr>
            <a:spLocks noChangeAspect="1" noChangeArrowheads="1"/>
          </p:cNvSpPr>
          <p:nvPr/>
        </p:nvSpPr>
        <p:spPr bwMode="auto">
          <a:xfrm rot="4460605" flipH="1" flipV="1">
            <a:off x="5921375" y="250190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7" name="Oval 187"/>
          <p:cNvSpPr>
            <a:spLocks noChangeAspect="1" noChangeArrowheads="1"/>
          </p:cNvSpPr>
          <p:nvPr/>
        </p:nvSpPr>
        <p:spPr bwMode="auto">
          <a:xfrm rot="4460605" flipH="1" flipV="1">
            <a:off x="5588000" y="30781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8" name="Oval 188"/>
          <p:cNvSpPr>
            <a:spLocks noChangeAspect="1" noChangeArrowheads="1"/>
          </p:cNvSpPr>
          <p:nvPr/>
        </p:nvSpPr>
        <p:spPr bwMode="auto">
          <a:xfrm rot="4460605" flipH="1" flipV="1">
            <a:off x="5895975" y="3159125"/>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29" name="Oval 189"/>
          <p:cNvSpPr>
            <a:spLocks noChangeAspect="1" noChangeArrowheads="1"/>
          </p:cNvSpPr>
          <p:nvPr/>
        </p:nvSpPr>
        <p:spPr bwMode="auto">
          <a:xfrm rot="4460605" flipH="1" flipV="1">
            <a:off x="5381625" y="322103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0" name="Oval 190"/>
          <p:cNvSpPr>
            <a:spLocks noChangeAspect="1" noChangeArrowheads="1"/>
          </p:cNvSpPr>
          <p:nvPr/>
        </p:nvSpPr>
        <p:spPr bwMode="auto">
          <a:xfrm rot="4460605" flipH="1" flipV="1">
            <a:off x="5730875" y="336550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1" name="Oval 191"/>
          <p:cNvSpPr>
            <a:spLocks noChangeAspect="1" noChangeArrowheads="1"/>
          </p:cNvSpPr>
          <p:nvPr/>
        </p:nvSpPr>
        <p:spPr bwMode="auto">
          <a:xfrm rot="4460605" flipH="1" flipV="1">
            <a:off x="6019800" y="32940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2" name="Oval 192"/>
          <p:cNvSpPr>
            <a:spLocks noChangeAspect="1" noChangeArrowheads="1"/>
          </p:cNvSpPr>
          <p:nvPr/>
        </p:nvSpPr>
        <p:spPr bwMode="auto">
          <a:xfrm rot="4460605" flipH="1" flipV="1">
            <a:off x="6111875" y="37353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3" name="Oval 193"/>
          <p:cNvSpPr>
            <a:spLocks noChangeAspect="1" noChangeArrowheads="1"/>
          </p:cNvSpPr>
          <p:nvPr/>
        </p:nvSpPr>
        <p:spPr bwMode="auto">
          <a:xfrm rot="4460605" flipH="1" flipV="1">
            <a:off x="5659438" y="365283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4" name="Oval 194"/>
          <p:cNvSpPr>
            <a:spLocks noChangeAspect="1" noChangeArrowheads="1"/>
          </p:cNvSpPr>
          <p:nvPr/>
        </p:nvSpPr>
        <p:spPr bwMode="auto">
          <a:xfrm rot="4460605" flipH="1" flipV="1">
            <a:off x="5514975" y="343693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5" name="Oval 195"/>
          <p:cNvSpPr>
            <a:spLocks noChangeAspect="1" noChangeArrowheads="1"/>
          </p:cNvSpPr>
          <p:nvPr/>
        </p:nvSpPr>
        <p:spPr bwMode="auto">
          <a:xfrm rot="4460605" flipH="1" flipV="1">
            <a:off x="5372100" y="37353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6" name="Oval 196"/>
          <p:cNvSpPr>
            <a:spLocks noChangeAspect="1" noChangeArrowheads="1"/>
          </p:cNvSpPr>
          <p:nvPr/>
        </p:nvSpPr>
        <p:spPr bwMode="auto">
          <a:xfrm rot="4460605" flipH="1" flipV="1">
            <a:off x="5299075" y="344805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7" name="Oval 197"/>
          <p:cNvSpPr>
            <a:spLocks noChangeAspect="1" noChangeArrowheads="1"/>
          </p:cNvSpPr>
          <p:nvPr/>
        </p:nvSpPr>
        <p:spPr bwMode="auto">
          <a:xfrm rot="4460605" flipH="1" flipV="1">
            <a:off x="5659438" y="39417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8" name="Oval 198"/>
          <p:cNvSpPr>
            <a:spLocks noChangeAspect="1" noChangeArrowheads="1"/>
          </p:cNvSpPr>
          <p:nvPr/>
        </p:nvSpPr>
        <p:spPr bwMode="auto">
          <a:xfrm rot="4460605" flipH="1" flipV="1">
            <a:off x="5803900" y="379730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39" name="Oval 199"/>
          <p:cNvSpPr>
            <a:spLocks noChangeAspect="1" noChangeArrowheads="1"/>
          </p:cNvSpPr>
          <p:nvPr/>
        </p:nvSpPr>
        <p:spPr bwMode="auto">
          <a:xfrm rot="4460605" flipH="1" flipV="1">
            <a:off x="5895975" y="41671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0" name="Oval 200"/>
          <p:cNvSpPr>
            <a:spLocks noChangeAspect="1" noChangeArrowheads="1"/>
          </p:cNvSpPr>
          <p:nvPr/>
        </p:nvSpPr>
        <p:spPr bwMode="auto">
          <a:xfrm rot="4460605" flipH="1" flipV="1">
            <a:off x="6284913" y="3851275"/>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1" name="Oval 201"/>
          <p:cNvSpPr>
            <a:spLocks noChangeAspect="1" noChangeArrowheads="1"/>
          </p:cNvSpPr>
          <p:nvPr/>
        </p:nvSpPr>
        <p:spPr bwMode="auto">
          <a:xfrm rot="4460605" flipH="1" flipV="1">
            <a:off x="5514975" y="422910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2" name="Oval 202"/>
          <p:cNvSpPr>
            <a:spLocks noChangeAspect="1" noChangeArrowheads="1"/>
          </p:cNvSpPr>
          <p:nvPr/>
        </p:nvSpPr>
        <p:spPr bwMode="auto">
          <a:xfrm rot="4460605" flipH="1" flipV="1">
            <a:off x="5751513" y="4527550"/>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3" name="Oval 203"/>
          <p:cNvSpPr>
            <a:spLocks noChangeAspect="1" noChangeArrowheads="1"/>
          </p:cNvSpPr>
          <p:nvPr/>
        </p:nvSpPr>
        <p:spPr bwMode="auto">
          <a:xfrm rot="4460605" flipH="1" flipV="1">
            <a:off x="6307138" y="437356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4" name="Oval 204"/>
          <p:cNvSpPr>
            <a:spLocks noChangeAspect="1" noChangeArrowheads="1"/>
          </p:cNvSpPr>
          <p:nvPr/>
        </p:nvSpPr>
        <p:spPr bwMode="auto">
          <a:xfrm rot="4460605" flipH="1" flipV="1">
            <a:off x="6019800" y="4240213"/>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5" name="Oval 205"/>
          <p:cNvSpPr>
            <a:spLocks noChangeAspect="1" noChangeArrowheads="1"/>
          </p:cNvSpPr>
          <p:nvPr/>
        </p:nvSpPr>
        <p:spPr bwMode="auto">
          <a:xfrm rot="4460605" flipH="1" flipV="1">
            <a:off x="6111875" y="4598988"/>
            <a:ext cx="50800" cy="50800"/>
          </a:xfrm>
          <a:prstGeom prst="ellipse">
            <a:avLst/>
          </a:prstGeom>
          <a:solidFill>
            <a:srgbClr val="FFFF00"/>
          </a:solidFill>
          <a:ln w="28575">
            <a:solidFill>
              <a:srgbClr val="993300"/>
            </a:solidFill>
            <a:round/>
            <a:headEnd/>
            <a:tailEnd/>
          </a:ln>
        </p:spPr>
        <p:txBody>
          <a:bodyPr wrap="none" anchor="ctr"/>
          <a:lstStyle/>
          <a:p>
            <a:pPr algn="ctr"/>
            <a:endParaRPr lang="zh-CN" altLang="en-US"/>
          </a:p>
        </p:txBody>
      </p:sp>
      <p:sp>
        <p:nvSpPr>
          <p:cNvPr id="368846" name="Oval 206"/>
          <p:cNvSpPr>
            <a:spLocks noChangeAspect="1" noChangeArrowheads="1"/>
          </p:cNvSpPr>
          <p:nvPr/>
        </p:nvSpPr>
        <p:spPr bwMode="auto">
          <a:xfrm rot="4460605" flipH="1" flipV="1">
            <a:off x="3951288" y="3590925"/>
            <a:ext cx="50800" cy="50800"/>
          </a:xfrm>
          <a:prstGeom prst="ellipse">
            <a:avLst/>
          </a:prstGeom>
          <a:solidFill>
            <a:srgbClr val="FFFF00"/>
          </a:solidFill>
          <a:ln w="28575">
            <a:solidFill>
              <a:srgbClr val="006600"/>
            </a:solidFill>
            <a:round/>
            <a:headEnd/>
            <a:tailEnd/>
          </a:ln>
        </p:spPr>
        <p:txBody>
          <a:bodyPr wrap="none" anchor="ctr"/>
          <a:lstStyle/>
          <a:p>
            <a:pPr algn="ctr"/>
            <a:endParaRPr lang="zh-CN" altLang="en-US"/>
          </a:p>
        </p:txBody>
      </p:sp>
      <p:sp>
        <p:nvSpPr>
          <p:cNvPr id="368847" name="Rectangle 207"/>
          <p:cNvSpPr>
            <a:spLocks noChangeArrowheads="1"/>
          </p:cNvSpPr>
          <p:nvPr/>
        </p:nvSpPr>
        <p:spPr bwMode="auto">
          <a:xfrm>
            <a:off x="1571625" y="5429250"/>
            <a:ext cx="6192838" cy="461963"/>
          </a:xfrm>
          <a:prstGeom prst="rect">
            <a:avLst/>
          </a:prstGeom>
          <a:noFill/>
          <a:ln w="9525">
            <a:noFill/>
            <a:miter lim="800000"/>
            <a:headEnd/>
            <a:tailEnd/>
          </a:ln>
        </p:spPr>
        <p:txBody>
          <a:bodyPr>
            <a:spAutoFit/>
          </a:bodyPr>
          <a:lstStyle/>
          <a:p>
            <a:r>
              <a:rPr kumimoji="1" lang="zh-CN" altLang="en-US" sz="2400" b="1">
                <a:latin typeface="Times New Roman" pitchFamily="18" charset="0"/>
                <a:ea typeface="楷体_GB2312" pitchFamily="49" charset="-122"/>
              </a:rPr>
              <a:t>（布朗运动与温度、微粒的大小的关系）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42"/>
                                        </p:tgtEl>
                                        <p:attrNameLst>
                                          <p:attrName>style.visibility</p:attrName>
                                        </p:attrNameLst>
                                      </p:cBhvr>
                                      <p:to>
                                        <p:strVal val="visible"/>
                                      </p:to>
                                    </p:set>
                                    <p:animEffect transition="in" filter="wipe(left)">
                                      <p:cBhvr>
                                        <p:cTn id="7" dur="500"/>
                                        <p:tgtEl>
                                          <p:spTgt spid="368642"/>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758"/>
                                        </p:tgtEl>
                                        <p:attrNameLst>
                                          <p:attrName>style.visibility</p:attrName>
                                        </p:attrNameLst>
                                      </p:cBhvr>
                                      <p:to>
                                        <p:strVal val="visible"/>
                                      </p:to>
                                    </p:se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68757"/>
                                        </p:tgtEl>
                                        <p:attrNameLst>
                                          <p:attrName>style.visibility</p:attrName>
                                        </p:attrNameLst>
                                      </p:cBhvr>
                                      <p:to>
                                        <p:strVal val="visible"/>
                                      </p:to>
                                    </p:set>
                                    <p:animEffect transition="in" filter="wipe(left)">
                                      <p:cBhvr>
                                        <p:cTn id="18" dur="500"/>
                                        <p:tgtEl>
                                          <p:spTgt spid="368757"/>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368759"/>
                                        </p:tgtEl>
                                        <p:attrNameLst>
                                          <p:attrName>style.visibility</p:attrName>
                                        </p:attrNameLst>
                                      </p:cBhvr>
                                      <p:to>
                                        <p:strVal val="visible"/>
                                      </p:to>
                                    </p:se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368756"/>
                                        </p:tgtEl>
                                        <p:attrNameLst>
                                          <p:attrName>style.visibility</p:attrName>
                                        </p:attrNameLst>
                                      </p:cBhvr>
                                      <p:to>
                                        <p:strVal val="visible"/>
                                      </p:to>
                                    </p:set>
                                    <p:animEffect transition="in" filter="wipe(left)">
                                      <p:cBhvr>
                                        <p:cTn id="25" dur="500"/>
                                        <p:tgtEl>
                                          <p:spTgt spid="368756"/>
                                        </p:tgtEl>
                                      </p:cBhvr>
                                    </p:animEffec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499"/>
                                          </p:stCondLst>
                                        </p:cTn>
                                        <p:tgtEl>
                                          <p:spTgt spid="368760"/>
                                        </p:tgtEl>
                                        <p:attrNameLst>
                                          <p:attrName>style.visibility</p:attrName>
                                        </p:attrNameLst>
                                      </p:cBhvr>
                                      <p:to>
                                        <p:strVal val="visible"/>
                                      </p:to>
                                    </p:se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368751"/>
                                        </p:tgtEl>
                                        <p:attrNameLst>
                                          <p:attrName>style.visibility</p:attrName>
                                        </p:attrNameLst>
                                      </p:cBhvr>
                                      <p:to>
                                        <p:strVal val="visible"/>
                                      </p:to>
                                    </p:set>
                                    <p:animEffect transition="in" filter="wipe(left)">
                                      <p:cBhvr>
                                        <p:cTn id="32" dur="500"/>
                                        <p:tgtEl>
                                          <p:spTgt spid="368751"/>
                                        </p:tgtEl>
                                      </p:cBhvr>
                                    </p:animEffect>
                                  </p:childTnLst>
                                </p:cTn>
                              </p:par>
                            </p:childTnLst>
                          </p:cTn>
                        </p:par>
                        <p:par>
                          <p:cTn id="33" fill="hold">
                            <p:stCondLst>
                              <p:cond delay="3000"/>
                            </p:stCondLst>
                            <p:childTnLst>
                              <p:par>
                                <p:cTn id="34" presetID="1" presetClass="entr" presetSubtype="0" fill="hold" grpId="0" nodeType="afterEffect">
                                  <p:stCondLst>
                                    <p:cond delay="0"/>
                                  </p:stCondLst>
                                  <p:childTnLst>
                                    <p:set>
                                      <p:cBhvr>
                                        <p:cTn id="35" dur="1" fill="hold">
                                          <p:stCondLst>
                                            <p:cond delay="499"/>
                                          </p:stCondLst>
                                        </p:cTn>
                                        <p:tgtEl>
                                          <p:spTgt spid="368761"/>
                                        </p:tgtEl>
                                        <p:attrNameLst>
                                          <p:attrName>style.visibility</p:attrName>
                                        </p:attrNameLst>
                                      </p:cBhvr>
                                      <p:to>
                                        <p:strVal val="visible"/>
                                      </p:to>
                                    </p:set>
                                  </p:childTnLst>
                                </p:cTn>
                              </p:par>
                            </p:childTnLst>
                          </p:cTn>
                        </p:par>
                        <p:par>
                          <p:cTn id="36" fill="hold">
                            <p:stCondLst>
                              <p:cond delay="3500"/>
                            </p:stCondLst>
                            <p:childTnLst>
                              <p:par>
                                <p:cTn id="37" presetID="22" presetClass="entr" presetSubtype="8" fill="hold" grpId="0" nodeType="afterEffect">
                                  <p:stCondLst>
                                    <p:cond delay="0"/>
                                  </p:stCondLst>
                                  <p:childTnLst>
                                    <p:set>
                                      <p:cBhvr>
                                        <p:cTn id="38" dur="1" fill="hold">
                                          <p:stCondLst>
                                            <p:cond delay="0"/>
                                          </p:stCondLst>
                                        </p:cTn>
                                        <p:tgtEl>
                                          <p:spTgt spid="368752"/>
                                        </p:tgtEl>
                                        <p:attrNameLst>
                                          <p:attrName>style.visibility</p:attrName>
                                        </p:attrNameLst>
                                      </p:cBhvr>
                                      <p:to>
                                        <p:strVal val="visible"/>
                                      </p:to>
                                    </p:set>
                                    <p:animEffect transition="in" filter="wipe(left)">
                                      <p:cBhvr>
                                        <p:cTn id="39" dur="500"/>
                                        <p:tgtEl>
                                          <p:spTgt spid="368752"/>
                                        </p:tgtEl>
                                      </p:cBhvr>
                                    </p:animEffect>
                                  </p:childTnLst>
                                </p:cTn>
                              </p:par>
                            </p:childTnLst>
                          </p:cTn>
                        </p:par>
                        <p:par>
                          <p:cTn id="40" fill="hold">
                            <p:stCondLst>
                              <p:cond delay="4000"/>
                            </p:stCondLst>
                            <p:childTnLst>
                              <p:par>
                                <p:cTn id="41" presetID="1" presetClass="entr" presetSubtype="0" fill="hold" grpId="0" nodeType="afterEffect">
                                  <p:stCondLst>
                                    <p:cond delay="0"/>
                                  </p:stCondLst>
                                  <p:childTnLst>
                                    <p:set>
                                      <p:cBhvr>
                                        <p:cTn id="42" dur="1" fill="hold">
                                          <p:stCondLst>
                                            <p:cond delay="499"/>
                                          </p:stCondLst>
                                        </p:cTn>
                                        <p:tgtEl>
                                          <p:spTgt spid="368762"/>
                                        </p:tgtEl>
                                        <p:attrNameLst>
                                          <p:attrName>style.visibility</p:attrName>
                                        </p:attrNameLst>
                                      </p:cBhvr>
                                      <p:to>
                                        <p:strVal val="visible"/>
                                      </p:to>
                                    </p:se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368753"/>
                                        </p:tgtEl>
                                        <p:attrNameLst>
                                          <p:attrName>style.visibility</p:attrName>
                                        </p:attrNameLst>
                                      </p:cBhvr>
                                      <p:to>
                                        <p:strVal val="visible"/>
                                      </p:to>
                                    </p:set>
                                    <p:animEffect transition="in" filter="wipe(left)">
                                      <p:cBhvr>
                                        <p:cTn id="46" dur="500"/>
                                        <p:tgtEl>
                                          <p:spTgt spid="368753"/>
                                        </p:tgtEl>
                                      </p:cBhvr>
                                    </p:animEffect>
                                  </p:childTnLst>
                                </p:cTn>
                              </p:par>
                            </p:childTnLst>
                          </p:cTn>
                        </p:par>
                        <p:par>
                          <p:cTn id="47" fill="hold">
                            <p:stCondLst>
                              <p:cond delay="5000"/>
                            </p:stCondLst>
                            <p:childTnLst>
                              <p:par>
                                <p:cTn id="48" presetID="1" presetClass="entr" presetSubtype="0" fill="hold" grpId="0" nodeType="afterEffect">
                                  <p:stCondLst>
                                    <p:cond delay="0"/>
                                  </p:stCondLst>
                                  <p:childTnLst>
                                    <p:set>
                                      <p:cBhvr>
                                        <p:cTn id="49" dur="1" fill="hold">
                                          <p:stCondLst>
                                            <p:cond delay="499"/>
                                          </p:stCondLst>
                                        </p:cTn>
                                        <p:tgtEl>
                                          <p:spTgt spid="368763"/>
                                        </p:tgtEl>
                                        <p:attrNameLst>
                                          <p:attrName>style.visibility</p:attrName>
                                        </p:attrNameLst>
                                      </p:cBhvr>
                                      <p:to>
                                        <p:strVal val="visible"/>
                                      </p:to>
                                    </p:set>
                                  </p:childTnLst>
                                </p:cTn>
                              </p:par>
                            </p:childTnLst>
                          </p:cTn>
                        </p:par>
                        <p:par>
                          <p:cTn id="50" fill="hold">
                            <p:stCondLst>
                              <p:cond delay="5500"/>
                            </p:stCondLst>
                            <p:childTnLst>
                              <p:par>
                                <p:cTn id="51" presetID="22" presetClass="entr" presetSubtype="1" fill="hold" grpId="0" nodeType="afterEffect">
                                  <p:stCondLst>
                                    <p:cond delay="0"/>
                                  </p:stCondLst>
                                  <p:childTnLst>
                                    <p:set>
                                      <p:cBhvr>
                                        <p:cTn id="52" dur="1" fill="hold">
                                          <p:stCondLst>
                                            <p:cond delay="0"/>
                                          </p:stCondLst>
                                        </p:cTn>
                                        <p:tgtEl>
                                          <p:spTgt spid="368754"/>
                                        </p:tgtEl>
                                        <p:attrNameLst>
                                          <p:attrName>style.visibility</p:attrName>
                                        </p:attrNameLst>
                                      </p:cBhvr>
                                      <p:to>
                                        <p:strVal val="visible"/>
                                      </p:to>
                                    </p:set>
                                    <p:animEffect transition="in" filter="wipe(up)">
                                      <p:cBhvr>
                                        <p:cTn id="53" dur="500"/>
                                        <p:tgtEl>
                                          <p:spTgt spid="368754"/>
                                        </p:tgtEl>
                                      </p:cBhvr>
                                    </p:animEffect>
                                  </p:childTnLst>
                                </p:cTn>
                              </p:par>
                            </p:childTnLst>
                          </p:cTn>
                        </p:par>
                        <p:par>
                          <p:cTn id="54" fill="hold">
                            <p:stCondLst>
                              <p:cond delay="6000"/>
                            </p:stCondLst>
                            <p:childTnLst>
                              <p:par>
                                <p:cTn id="55" presetID="1" presetClass="entr" presetSubtype="0" fill="hold" grpId="0" nodeType="afterEffect">
                                  <p:stCondLst>
                                    <p:cond delay="0"/>
                                  </p:stCondLst>
                                  <p:childTnLst>
                                    <p:set>
                                      <p:cBhvr>
                                        <p:cTn id="56" dur="1" fill="hold">
                                          <p:stCondLst>
                                            <p:cond delay="499"/>
                                          </p:stCondLst>
                                        </p:cTn>
                                        <p:tgtEl>
                                          <p:spTgt spid="368764"/>
                                        </p:tgtEl>
                                        <p:attrNameLst>
                                          <p:attrName>style.visibility</p:attrName>
                                        </p:attrNameLst>
                                      </p:cBhvr>
                                      <p:to>
                                        <p:strVal val="visible"/>
                                      </p:to>
                                    </p:set>
                                  </p:childTnLst>
                                </p:cTn>
                              </p:par>
                            </p:childTnLst>
                          </p:cTn>
                        </p:par>
                        <p:par>
                          <p:cTn id="57" fill="hold">
                            <p:stCondLst>
                              <p:cond delay="6500"/>
                            </p:stCondLst>
                            <p:childTnLst>
                              <p:par>
                                <p:cTn id="58" presetID="22" presetClass="entr" presetSubtype="4" fill="hold" grpId="0" nodeType="afterEffect">
                                  <p:stCondLst>
                                    <p:cond delay="0"/>
                                  </p:stCondLst>
                                  <p:childTnLst>
                                    <p:set>
                                      <p:cBhvr>
                                        <p:cTn id="59" dur="1" fill="hold">
                                          <p:stCondLst>
                                            <p:cond delay="0"/>
                                          </p:stCondLst>
                                        </p:cTn>
                                        <p:tgtEl>
                                          <p:spTgt spid="368755"/>
                                        </p:tgtEl>
                                        <p:attrNameLst>
                                          <p:attrName>style.visibility</p:attrName>
                                        </p:attrNameLst>
                                      </p:cBhvr>
                                      <p:to>
                                        <p:strVal val="visible"/>
                                      </p:to>
                                    </p:set>
                                    <p:animEffect transition="in" filter="wipe(down)">
                                      <p:cBhvr>
                                        <p:cTn id="60" dur="500"/>
                                        <p:tgtEl>
                                          <p:spTgt spid="368755"/>
                                        </p:tgtEl>
                                      </p:cBhvr>
                                    </p:animEffect>
                                  </p:childTnLst>
                                </p:cTn>
                              </p:par>
                            </p:childTnLst>
                          </p:cTn>
                        </p:par>
                        <p:par>
                          <p:cTn id="61" fill="hold">
                            <p:stCondLst>
                              <p:cond delay="7000"/>
                            </p:stCondLst>
                            <p:childTnLst>
                              <p:par>
                                <p:cTn id="62" presetID="1" presetClass="entr" presetSubtype="0" fill="hold" grpId="0" nodeType="afterEffect">
                                  <p:stCondLst>
                                    <p:cond delay="0"/>
                                  </p:stCondLst>
                                  <p:childTnLst>
                                    <p:set>
                                      <p:cBhvr>
                                        <p:cTn id="63" dur="1" fill="hold">
                                          <p:stCondLst>
                                            <p:cond delay="499"/>
                                          </p:stCondLst>
                                        </p:cTn>
                                        <p:tgtEl>
                                          <p:spTgt spid="368765"/>
                                        </p:tgtEl>
                                        <p:attrNameLst>
                                          <p:attrName>style.visibility</p:attrName>
                                        </p:attrNameLst>
                                      </p:cBhvr>
                                      <p:to>
                                        <p:strVal val="visible"/>
                                      </p:to>
                                    </p:set>
                                  </p:childTnLst>
                                </p:cTn>
                              </p:par>
                            </p:childTnLst>
                          </p:cTn>
                        </p:par>
                        <p:par>
                          <p:cTn id="64" fill="hold">
                            <p:stCondLst>
                              <p:cond delay="7500"/>
                            </p:stCondLst>
                            <p:childTnLst>
                              <p:par>
                                <p:cTn id="65" presetID="22" presetClass="entr" presetSubtype="4" fill="hold" grpId="0" nodeType="afterEffect">
                                  <p:stCondLst>
                                    <p:cond delay="0"/>
                                  </p:stCondLst>
                                  <p:childTnLst>
                                    <p:set>
                                      <p:cBhvr>
                                        <p:cTn id="66" dur="1" fill="hold">
                                          <p:stCondLst>
                                            <p:cond delay="0"/>
                                          </p:stCondLst>
                                        </p:cTn>
                                        <p:tgtEl>
                                          <p:spTgt spid="368750"/>
                                        </p:tgtEl>
                                        <p:attrNameLst>
                                          <p:attrName>style.visibility</p:attrName>
                                        </p:attrNameLst>
                                      </p:cBhvr>
                                      <p:to>
                                        <p:strVal val="visible"/>
                                      </p:to>
                                    </p:set>
                                    <p:animEffect transition="in" filter="wipe(down)">
                                      <p:cBhvr>
                                        <p:cTn id="67" dur="500"/>
                                        <p:tgtEl>
                                          <p:spTgt spid="368750"/>
                                        </p:tgtEl>
                                      </p:cBhvr>
                                    </p:animEffect>
                                  </p:childTnLst>
                                </p:cTn>
                              </p:par>
                            </p:childTnLst>
                          </p:cTn>
                        </p:par>
                        <p:par>
                          <p:cTn id="68" fill="hold">
                            <p:stCondLst>
                              <p:cond delay="8000"/>
                            </p:stCondLst>
                            <p:childTnLst>
                              <p:par>
                                <p:cTn id="69" presetID="1" presetClass="entr" presetSubtype="0" fill="hold" grpId="0" nodeType="afterEffect">
                                  <p:stCondLst>
                                    <p:cond delay="0"/>
                                  </p:stCondLst>
                                  <p:childTnLst>
                                    <p:set>
                                      <p:cBhvr>
                                        <p:cTn id="70" dur="1" fill="hold">
                                          <p:stCondLst>
                                            <p:cond delay="499"/>
                                          </p:stCondLst>
                                        </p:cTn>
                                        <p:tgtEl>
                                          <p:spTgt spid="368771"/>
                                        </p:tgtEl>
                                        <p:attrNameLst>
                                          <p:attrName>style.visibility</p:attrName>
                                        </p:attrNameLst>
                                      </p:cBhvr>
                                      <p:to>
                                        <p:strVal val="visible"/>
                                      </p:to>
                                    </p:set>
                                  </p:childTnLst>
                                </p:cTn>
                              </p:par>
                            </p:childTnLst>
                          </p:cTn>
                        </p:par>
                        <p:par>
                          <p:cTn id="71" fill="hold">
                            <p:stCondLst>
                              <p:cond delay="8500"/>
                            </p:stCondLst>
                            <p:childTnLst>
                              <p:par>
                                <p:cTn id="72" presetID="22" presetClass="entr" presetSubtype="4" fill="hold" grpId="0" nodeType="afterEffect">
                                  <p:stCondLst>
                                    <p:cond delay="0"/>
                                  </p:stCondLst>
                                  <p:childTnLst>
                                    <p:set>
                                      <p:cBhvr>
                                        <p:cTn id="73" dur="1" fill="hold">
                                          <p:stCondLst>
                                            <p:cond delay="0"/>
                                          </p:stCondLst>
                                        </p:cTn>
                                        <p:tgtEl>
                                          <p:spTgt spid="368770"/>
                                        </p:tgtEl>
                                        <p:attrNameLst>
                                          <p:attrName>style.visibility</p:attrName>
                                        </p:attrNameLst>
                                      </p:cBhvr>
                                      <p:to>
                                        <p:strVal val="visible"/>
                                      </p:to>
                                    </p:set>
                                    <p:animEffect transition="in" filter="wipe(down)">
                                      <p:cBhvr>
                                        <p:cTn id="74" dur="500"/>
                                        <p:tgtEl>
                                          <p:spTgt spid="368770"/>
                                        </p:tgtEl>
                                      </p:cBhvr>
                                    </p:animEffect>
                                  </p:childTnLst>
                                </p:cTn>
                              </p:par>
                            </p:childTnLst>
                          </p:cTn>
                        </p:par>
                        <p:par>
                          <p:cTn id="75" fill="hold">
                            <p:stCondLst>
                              <p:cond delay="9000"/>
                            </p:stCondLst>
                            <p:childTnLst>
                              <p:par>
                                <p:cTn id="76" presetID="1" presetClass="entr" presetSubtype="0" fill="hold" grpId="0" nodeType="afterEffect">
                                  <p:stCondLst>
                                    <p:cond delay="0"/>
                                  </p:stCondLst>
                                  <p:childTnLst>
                                    <p:set>
                                      <p:cBhvr>
                                        <p:cTn id="77" dur="1" fill="hold">
                                          <p:stCondLst>
                                            <p:cond delay="499"/>
                                          </p:stCondLst>
                                        </p:cTn>
                                        <p:tgtEl>
                                          <p:spTgt spid="368772"/>
                                        </p:tgtEl>
                                        <p:attrNameLst>
                                          <p:attrName>style.visibility</p:attrName>
                                        </p:attrNameLst>
                                      </p:cBhvr>
                                      <p:to>
                                        <p:strVal val="visible"/>
                                      </p:to>
                                    </p:set>
                                  </p:childTnLst>
                                </p:cTn>
                              </p:par>
                            </p:childTnLst>
                          </p:cTn>
                        </p:par>
                        <p:par>
                          <p:cTn id="78" fill="hold">
                            <p:stCondLst>
                              <p:cond delay="9500"/>
                            </p:stCondLst>
                            <p:childTnLst>
                              <p:par>
                                <p:cTn id="79" presetID="22" presetClass="entr" presetSubtype="2" fill="hold" grpId="0" nodeType="afterEffect">
                                  <p:stCondLst>
                                    <p:cond delay="0"/>
                                  </p:stCondLst>
                                  <p:childTnLst>
                                    <p:set>
                                      <p:cBhvr>
                                        <p:cTn id="80" dur="1" fill="hold">
                                          <p:stCondLst>
                                            <p:cond delay="0"/>
                                          </p:stCondLst>
                                        </p:cTn>
                                        <p:tgtEl>
                                          <p:spTgt spid="368766"/>
                                        </p:tgtEl>
                                        <p:attrNameLst>
                                          <p:attrName>style.visibility</p:attrName>
                                        </p:attrNameLst>
                                      </p:cBhvr>
                                      <p:to>
                                        <p:strVal val="visible"/>
                                      </p:to>
                                    </p:set>
                                    <p:animEffect transition="in" filter="wipe(right)">
                                      <p:cBhvr>
                                        <p:cTn id="81" dur="500"/>
                                        <p:tgtEl>
                                          <p:spTgt spid="368766"/>
                                        </p:tgtEl>
                                      </p:cBhvr>
                                    </p:animEffect>
                                  </p:childTnLst>
                                </p:cTn>
                              </p:par>
                            </p:childTnLst>
                          </p:cTn>
                        </p:par>
                        <p:par>
                          <p:cTn id="82" fill="hold">
                            <p:stCondLst>
                              <p:cond delay="10000"/>
                            </p:stCondLst>
                            <p:childTnLst>
                              <p:par>
                                <p:cTn id="83" presetID="1" presetClass="entr" presetSubtype="0" fill="hold" grpId="0" nodeType="afterEffect">
                                  <p:stCondLst>
                                    <p:cond delay="0"/>
                                  </p:stCondLst>
                                  <p:childTnLst>
                                    <p:set>
                                      <p:cBhvr>
                                        <p:cTn id="84" dur="1" fill="hold">
                                          <p:stCondLst>
                                            <p:cond delay="499"/>
                                          </p:stCondLst>
                                        </p:cTn>
                                        <p:tgtEl>
                                          <p:spTgt spid="368776"/>
                                        </p:tgtEl>
                                        <p:attrNameLst>
                                          <p:attrName>style.visibility</p:attrName>
                                        </p:attrNameLst>
                                      </p:cBhvr>
                                      <p:to>
                                        <p:strVal val="visible"/>
                                      </p:to>
                                    </p:set>
                                  </p:childTnLst>
                                </p:cTn>
                              </p:par>
                            </p:childTnLst>
                          </p:cTn>
                        </p:par>
                        <p:par>
                          <p:cTn id="85" fill="hold">
                            <p:stCondLst>
                              <p:cond delay="10500"/>
                            </p:stCondLst>
                            <p:childTnLst>
                              <p:par>
                                <p:cTn id="86" presetID="22" presetClass="entr" presetSubtype="2" fill="hold" grpId="0" nodeType="afterEffect">
                                  <p:stCondLst>
                                    <p:cond delay="0"/>
                                  </p:stCondLst>
                                  <p:childTnLst>
                                    <p:set>
                                      <p:cBhvr>
                                        <p:cTn id="87" dur="1" fill="hold">
                                          <p:stCondLst>
                                            <p:cond delay="0"/>
                                          </p:stCondLst>
                                        </p:cTn>
                                        <p:tgtEl>
                                          <p:spTgt spid="368769"/>
                                        </p:tgtEl>
                                        <p:attrNameLst>
                                          <p:attrName>style.visibility</p:attrName>
                                        </p:attrNameLst>
                                      </p:cBhvr>
                                      <p:to>
                                        <p:strVal val="visible"/>
                                      </p:to>
                                    </p:set>
                                    <p:animEffect transition="in" filter="wipe(right)">
                                      <p:cBhvr>
                                        <p:cTn id="88" dur="500"/>
                                        <p:tgtEl>
                                          <p:spTgt spid="368769"/>
                                        </p:tgtEl>
                                      </p:cBhvr>
                                    </p:animEffect>
                                  </p:childTnLst>
                                </p:cTn>
                              </p:par>
                            </p:childTnLst>
                          </p:cTn>
                        </p:par>
                        <p:par>
                          <p:cTn id="89" fill="hold">
                            <p:stCondLst>
                              <p:cond delay="11000"/>
                            </p:stCondLst>
                            <p:childTnLst>
                              <p:par>
                                <p:cTn id="90" presetID="1" presetClass="entr" presetSubtype="0" fill="hold" grpId="0" nodeType="afterEffect">
                                  <p:stCondLst>
                                    <p:cond delay="0"/>
                                  </p:stCondLst>
                                  <p:childTnLst>
                                    <p:set>
                                      <p:cBhvr>
                                        <p:cTn id="91" dur="1" fill="hold">
                                          <p:stCondLst>
                                            <p:cond delay="499"/>
                                          </p:stCondLst>
                                        </p:cTn>
                                        <p:tgtEl>
                                          <p:spTgt spid="368775"/>
                                        </p:tgtEl>
                                        <p:attrNameLst>
                                          <p:attrName>style.visibility</p:attrName>
                                        </p:attrNameLst>
                                      </p:cBhvr>
                                      <p:to>
                                        <p:strVal val="visible"/>
                                      </p:to>
                                    </p:set>
                                  </p:childTnLst>
                                </p:cTn>
                              </p:par>
                            </p:childTnLst>
                          </p:cTn>
                        </p:par>
                        <p:par>
                          <p:cTn id="92" fill="hold">
                            <p:stCondLst>
                              <p:cond delay="11500"/>
                            </p:stCondLst>
                            <p:childTnLst>
                              <p:par>
                                <p:cTn id="93" presetID="22" presetClass="entr" presetSubtype="8" fill="hold" grpId="0" nodeType="afterEffect">
                                  <p:stCondLst>
                                    <p:cond delay="0"/>
                                  </p:stCondLst>
                                  <p:childTnLst>
                                    <p:set>
                                      <p:cBhvr>
                                        <p:cTn id="94" dur="1" fill="hold">
                                          <p:stCondLst>
                                            <p:cond delay="0"/>
                                          </p:stCondLst>
                                        </p:cTn>
                                        <p:tgtEl>
                                          <p:spTgt spid="368768"/>
                                        </p:tgtEl>
                                        <p:attrNameLst>
                                          <p:attrName>style.visibility</p:attrName>
                                        </p:attrNameLst>
                                      </p:cBhvr>
                                      <p:to>
                                        <p:strVal val="visible"/>
                                      </p:to>
                                    </p:set>
                                    <p:animEffect transition="in" filter="wipe(left)">
                                      <p:cBhvr>
                                        <p:cTn id="95" dur="500"/>
                                        <p:tgtEl>
                                          <p:spTgt spid="368768"/>
                                        </p:tgtEl>
                                      </p:cBhvr>
                                    </p:animEffect>
                                  </p:childTnLst>
                                </p:cTn>
                              </p:par>
                            </p:childTnLst>
                          </p:cTn>
                        </p:par>
                        <p:par>
                          <p:cTn id="96" fill="hold">
                            <p:stCondLst>
                              <p:cond delay="12000"/>
                            </p:stCondLst>
                            <p:childTnLst>
                              <p:par>
                                <p:cTn id="97" presetID="1" presetClass="entr" presetSubtype="0" fill="hold" grpId="0" nodeType="afterEffect">
                                  <p:stCondLst>
                                    <p:cond delay="0"/>
                                  </p:stCondLst>
                                  <p:childTnLst>
                                    <p:set>
                                      <p:cBhvr>
                                        <p:cTn id="98" dur="1" fill="hold">
                                          <p:stCondLst>
                                            <p:cond delay="499"/>
                                          </p:stCondLst>
                                        </p:cTn>
                                        <p:tgtEl>
                                          <p:spTgt spid="368774"/>
                                        </p:tgtEl>
                                        <p:attrNameLst>
                                          <p:attrName>style.visibility</p:attrName>
                                        </p:attrNameLst>
                                      </p:cBhvr>
                                      <p:to>
                                        <p:strVal val="visible"/>
                                      </p:to>
                                    </p:set>
                                  </p:childTnLst>
                                </p:cTn>
                              </p:par>
                            </p:childTnLst>
                          </p:cTn>
                        </p:par>
                        <p:par>
                          <p:cTn id="99" fill="hold">
                            <p:stCondLst>
                              <p:cond delay="12500"/>
                            </p:stCondLst>
                            <p:childTnLst>
                              <p:par>
                                <p:cTn id="100" presetID="22" presetClass="entr" presetSubtype="8" fill="hold" grpId="0" nodeType="afterEffect">
                                  <p:stCondLst>
                                    <p:cond delay="0"/>
                                  </p:stCondLst>
                                  <p:childTnLst>
                                    <p:set>
                                      <p:cBhvr>
                                        <p:cTn id="101" dur="1" fill="hold">
                                          <p:stCondLst>
                                            <p:cond delay="0"/>
                                          </p:stCondLst>
                                        </p:cTn>
                                        <p:tgtEl>
                                          <p:spTgt spid="368767"/>
                                        </p:tgtEl>
                                        <p:attrNameLst>
                                          <p:attrName>style.visibility</p:attrName>
                                        </p:attrNameLst>
                                      </p:cBhvr>
                                      <p:to>
                                        <p:strVal val="visible"/>
                                      </p:to>
                                    </p:set>
                                    <p:animEffect transition="in" filter="wipe(left)">
                                      <p:cBhvr>
                                        <p:cTn id="102" dur="500"/>
                                        <p:tgtEl>
                                          <p:spTgt spid="368767"/>
                                        </p:tgtEl>
                                      </p:cBhvr>
                                    </p:animEffect>
                                  </p:childTnLst>
                                </p:cTn>
                              </p:par>
                            </p:childTnLst>
                          </p:cTn>
                        </p:par>
                        <p:par>
                          <p:cTn id="103" fill="hold">
                            <p:stCondLst>
                              <p:cond delay="13000"/>
                            </p:stCondLst>
                            <p:childTnLst>
                              <p:par>
                                <p:cTn id="104" presetID="1" presetClass="entr" presetSubtype="0" fill="hold" grpId="0" nodeType="afterEffect">
                                  <p:stCondLst>
                                    <p:cond delay="0"/>
                                  </p:stCondLst>
                                  <p:childTnLst>
                                    <p:set>
                                      <p:cBhvr>
                                        <p:cTn id="105" dur="1" fill="hold">
                                          <p:stCondLst>
                                            <p:cond delay="499"/>
                                          </p:stCondLst>
                                        </p:cTn>
                                        <p:tgtEl>
                                          <p:spTgt spid="368773"/>
                                        </p:tgtEl>
                                        <p:attrNameLst>
                                          <p:attrName>style.visibility</p:attrName>
                                        </p:attrNameLst>
                                      </p:cBhvr>
                                      <p:to>
                                        <p:strVal val="visible"/>
                                      </p:to>
                                    </p:set>
                                  </p:childTnLst>
                                </p:cTn>
                              </p:par>
                            </p:childTnLst>
                          </p:cTn>
                        </p:par>
                        <p:par>
                          <p:cTn id="106" fill="hold">
                            <p:stCondLst>
                              <p:cond delay="13500"/>
                            </p:stCondLst>
                            <p:childTnLst>
                              <p:par>
                                <p:cTn id="107" presetID="22" presetClass="entr" presetSubtype="8" fill="hold" grpId="0" nodeType="afterEffect">
                                  <p:stCondLst>
                                    <p:cond delay="0"/>
                                  </p:stCondLst>
                                  <p:childTnLst>
                                    <p:set>
                                      <p:cBhvr>
                                        <p:cTn id="108" dur="1" fill="hold">
                                          <p:stCondLst>
                                            <p:cond delay="0"/>
                                          </p:stCondLst>
                                        </p:cTn>
                                        <p:tgtEl>
                                          <p:spTgt spid="368749"/>
                                        </p:tgtEl>
                                        <p:attrNameLst>
                                          <p:attrName>style.visibility</p:attrName>
                                        </p:attrNameLst>
                                      </p:cBhvr>
                                      <p:to>
                                        <p:strVal val="visible"/>
                                      </p:to>
                                    </p:set>
                                    <p:animEffect transition="in" filter="wipe(left)">
                                      <p:cBhvr>
                                        <p:cTn id="109" dur="500"/>
                                        <p:tgtEl>
                                          <p:spTgt spid="368749"/>
                                        </p:tgtEl>
                                      </p:cBhvr>
                                    </p:animEffect>
                                  </p:childTnLst>
                                </p:cTn>
                              </p:par>
                            </p:childTnLst>
                          </p:cTn>
                        </p:par>
                        <p:par>
                          <p:cTn id="110" fill="hold">
                            <p:stCondLst>
                              <p:cond delay="14000"/>
                            </p:stCondLst>
                            <p:childTnLst>
                              <p:par>
                                <p:cTn id="111" presetID="1" presetClass="entr" presetSubtype="0" fill="hold" grpId="0" nodeType="afterEffect">
                                  <p:stCondLst>
                                    <p:cond delay="0"/>
                                  </p:stCondLst>
                                  <p:childTnLst>
                                    <p:set>
                                      <p:cBhvr>
                                        <p:cTn id="112" dur="1" fill="hold">
                                          <p:stCondLst>
                                            <p:cond delay="499"/>
                                          </p:stCondLst>
                                        </p:cTn>
                                        <p:tgtEl>
                                          <p:spTgt spid="368814"/>
                                        </p:tgtEl>
                                        <p:attrNameLst>
                                          <p:attrName>style.visibility</p:attrName>
                                        </p:attrNameLst>
                                      </p:cBhvr>
                                      <p:to>
                                        <p:strVal val="visible"/>
                                      </p:to>
                                    </p:set>
                                  </p:childTnLst>
                                </p:cTn>
                              </p:par>
                            </p:childTnLst>
                          </p:cTn>
                        </p:par>
                        <p:par>
                          <p:cTn id="113" fill="hold">
                            <p:stCondLst>
                              <p:cond delay="14500"/>
                            </p:stCondLst>
                            <p:childTnLst>
                              <p:par>
                                <p:cTn id="114" presetID="22" presetClass="entr" presetSubtype="1" fill="hold" grpId="0" nodeType="afterEffect">
                                  <p:stCondLst>
                                    <p:cond delay="0"/>
                                  </p:stCondLst>
                                  <p:childTnLst>
                                    <p:set>
                                      <p:cBhvr>
                                        <p:cTn id="115" dur="1" fill="hold">
                                          <p:stCondLst>
                                            <p:cond delay="0"/>
                                          </p:stCondLst>
                                        </p:cTn>
                                        <p:tgtEl>
                                          <p:spTgt spid="368779"/>
                                        </p:tgtEl>
                                        <p:attrNameLst>
                                          <p:attrName>style.visibility</p:attrName>
                                        </p:attrNameLst>
                                      </p:cBhvr>
                                      <p:to>
                                        <p:strVal val="visible"/>
                                      </p:to>
                                    </p:set>
                                    <p:animEffect transition="in" filter="wipe(up)">
                                      <p:cBhvr>
                                        <p:cTn id="116" dur="500"/>
                                        <p:tgtEl>
                                          <p:spTgt spid="368779"/>
                                        </p:tgtEl>
                                      </p:cBhvr>
                                    </p:animEffect>
                                  </p:childTnLst>
                                </p:cTn>
                              </p:par>
                            </p:childTnLst>
                          </p:cTn>
                        </p:par>
                        <p:par>
                          <p:cTn id="117" fill="hold">
                            <p:stCondLst>
                              <p:cond delay="15000"/>
                            </p:stCondLst>
                            <p:childTnLst>
                              <p:par>
                                <p:cTn id="118" presetID="1" presetClass="entr" presetSubtype="0" fill="hold" grpId="0" nodeType="afterEffect">
                                  <p:stCondLst>
                                    <p:cond delay="0"/>
                                  </p:stCondLst>
                                  <p:childTnLst>
                                    <p:set>
                                      <p:cBhvr>
                                        <p:cTn id="119" dur="1" fill="hold">
                                          <p:stCondLst>
                                            <p:cond delay="499"/>
                                          </p:stCondLst>
                                        </p:cTn>
                                        <p:tgtEl>
                                          <p:spTgt spid="368777"/>
                                        </p:tgtEl>
                                        <p:attrNameLst>
                                          <p:attrName>style.visibility</p:attrName>
                                        </p:attrNameLst>
                                      </p:cBhvr>
                                      <p:to>
                                        <p:strVal val="visible"/>
                                      </p:to>
                                    </p:set>
                                  </p:childTnLst>
                                </p:cTn>
                              </p:par>
                            </p:childTnLst>
                          </p:cTn>
                        </p:par>
                        <p:par>
                          <p:cTn id="120" fill="hold">
                            <p:stCondLst>
                              <p:cond delay="15500"/>
                            </p:stCondLst>
                            <p:childTnLst>
                              <p:par>
                                <p:cTn id="121" presetID="22" presetClass="entr" presetSubtype="4" fill="hold" grpId="0" nodeType="afterEffect">
                                  <p:stCondLst>
                                    <p:cond delay="0"/>
                                  </p:stCondLst>
                                  <p:childTnLst>
                                    <p:set>
                                      <p:cBhvr>
                                        <p:cTn id="122" dur="1" fill="hold">
                                          <p:stCondLst>
                                            <p:cond delay="0"/>
                                          </p:stCondLst>
                                        </p:cTn>
                                        <p:tgtEl>
                                          <p:spTgt spid="368748"/>
                                        </p:tgtEl>
                                        <p:attrNameLst>
                                          <p:attrName>style.visibility</p:attrName>
                                        </p:attrNameLst>
                                      </p:cBhvr>
                                      <p:to>
                                        <p:strVal val="visible"/>
                                      </p:to>
                                    </p:set>
                                    <p:animEffect transition="in" filter="wipe(down)">
                                      <p:cBhvr>
                                        <p:cTn id="123" dur="500"/>
                                        <p:tgtEl>
                                          <p:spTgt spid="368748"/>
                                        </p:tgtEl>
                                      </p:cBhvr>
                                    </p:animEffect>
                                  </p:childTnLst>
                                </p:cTn>
                              </p:par>
                            </p:childTnLst>
                          </p:cTn>
                        </p:par>
                        <p:par>
                          <p:cTn id="124" fill="hold">
                            <p:stCondLst>
                              <p:cond delay="16000"/>
                            </p:stCondLst>
                            <p:childTnLst>
                              <p:par>
                                <p:cTn id="125" presetID="1" presetClass="entr" presetSubtype="0" fill="hold" grpId="0" nodeType="afterEffect">
                                  <p:stCondLst>
                                    <p:cond delay="0"/>
                                  </p:stCondLst>
                                  <p:childTnLst>
                                    <p:set>
                                      <p:cBhvr>
                                        <p:cTn id="126" dur="1" fill="hold">
                                          <p:stCondLst>
                                            <p:cond delay="499"/>
                                          </p:stCondLst>
                                        </p:cTn>
                                        <p:tgtEl>
                                          <p:spTgt spid="368778"/>
                                        </p:tgtEl>
                                        <p:attrNameLst>
                                          <p:attrName>style.visibility</p:attrName>
                                        </p:attrNameLst>
                                      </p:cBhvr>
                                      <p:to>
                                        <p:strVal val="visible"/>
                                      </p:to>
                                    </p:set>
                                  </p:childTnLst>
                                </p:cTn>
                              </p:par>
                            </p:childTnLst>
                          </p:cTn>
                        </p:par>
                        <p:par>
                          <p:cTn id="127" fill="hold">
                            <p:stCondLst>
                              <p:cond delay="16500"/>
                            </p:stCondLst>
                            <p:childTnLst>
                              <p:par>
                                <p:cTn id="128" presetID="22" presetClass="entr" presetSubtype="1" fill="hold" grpId="0" nodeType="afterEffect">
                                  <p:stCondLst>
                                    <p:cond delay="0"/>
                                  </p:stCondLst>
                                  <p:childTnLst>
                                    <p:set>
                                      <p:cBhvr>
                                        <p:cTn id="129" dur="1" fill="hold">
                                          <p:stCondLst>
                                            <p:cond delay="0"/>
                                          </p:stCondLst>
                                        </p:cTn>
                                        <p:tgtEl>
                                          <p:spTgt spid="368721"/>
                                        </p:tgtEl>
                                        <p:attrNameLst>
                                          <p:attrName>style.visibility</p:attrName>
                                        </p:attrNameLst>
                                      </p:cBhvr>
                                      <p:to>
                                        <p:strVal val="visible"/>
                                      </p:to>
                                    </p:set>
                                    <p:animEffect transition="in" filter="wipe(up)">
                                      <p:cBhvr>
                                        <p:cTn id="130" dur="500"/>
                                        <p:tgtEl>
                                          <p:spTgt spid="368721"/>
                                        </p:tgtEl>
                                      </p:cBhvr>
                                    </p:animEffect>
                                  </p:childTnLst>
                                </p:cTn>
                              </p:par>
                            </p:childTnLst>
                          </p:cTn>
                        </p:par>
                        <p:par>
                          <p:cTn id="131" fill="hold">
                            <p:stCondLst>
                              <p:cond delay="17000"/>
                            </p:stCondLst>
                            <p:childTnLst>
                              <p:par>
                                <p:cTn id="132" presetID="1" presetClass="entr" presetSubtype="0" fill="hold" grpId="0" nodeType="afterEffect">
                                  <p:stCondLst>
                                    <p:cond delay="0"/>
                                  </p:stCondLst>
                                  <p:childTnLst>
                                    <p:set>
                                      <p:cBhvr>
                                        <p:cTn id="133" dur="1" fill="hold">
                                          <p:stCondLst>
                                            <p:cond delay="499"/>
                                          </p:stCondLst>
                                        </p:cTn>
                                        <p:tgtEl>
                                          <p:spTgt spid="368813"/>
                                        </p:tgtEl>
                                        <p:attrNameLst>
                                          <p:attrName>style.visibility</p:attrName>
                                        </p:attrNameLst>
                                      </p:cBhvr>
                                      <p:to>
                                        <p:strVal val="visible"/>
                                      </p:to>
                                    </p:set>
                                  </p:childTnLst>
                                </p:cTn>
                              </p:par>
                            </p:childTnLst>
                          </p:cTn>
                        </p:par>
                        <p:par>
                          <p:cTn id="134" fill="hold">
                            <p:stCondLst>
                              <p:cond delay="17500"/>
                            </p:stCondLst>
                            <p:childTnLst>
                              <p:par>
                                <p:cTn id="135" presetID="22" presetClass="entr" presetSubtype="1" fill="hold" grpId="0" nodeType="afterEffect">
                                  <p:stCondLst>
                                    <p:cond delay="0"/>
                                  </p:stCondLst>
                                  <p:childTnLst>
                                    <p:set>
                                      <p:cBhvr>
                                        <p:cTn id="136" dur="1" fill="hold">
                                          <p:stCondLst>
                                            <p:cond delay="0"/>
                                          </p:stCondLst>
                                        </p:cTn>
                                        <p:tgtEl>
                                          <p:spTgt spid="368783"/>
                                        </p:tgtEl>
                                        <p:attrNameLst>
                                          <p:attrName>style.visibility</p:attrName>
                                        </p:attrNameLst>
                                      </p:cBhvr>
                                      <p:to>
                                        <p:strVal val="visible"/>
                                      </p:to>
                                    </p:set>
                                    <p:animEffect transition="in" filter="wipe(up)">
                                      <p:cBhvr>
                                        <p:cTn id="137" dur="500"/>
                                        <p:tgtEl>
                                          <p:spTgt spid="368783"/>
                                        </p:tgtEl>
                                      </p:cBhvr>
                                    </p:animEffect>
                                  </p:childTnLst>
                                </p:cTn>
                              </p:par>
                            </p:childTnLst>
                          </p:cTn>
                        </p:par>
                        <p:par>
                          <p:cTn id="138" fill="hold">
                            <p:stCondLst>
                              <p:cond delay="18000"/>
                            </p:stCondLst>
                            <p:childTnLst>
                              <p:par>
                                <p:cTn id="139" presetID="1" presetClass="entr" presetSubtype="0" fill="hold" grpId="0" nodeType="afterEffect">
                                  <p:stCondLst>
                                    <p:cond delay="0"/>
                                  </p:stCondLst>
                                  <p:childTnLst>
                                    <p:set>
                                      <p:cBhvr>
                                        <p:cTn id="140" dur="1" fill="hold">
                                          <p:stCondLst>
                                            <p:cond delay="499"/>
                                          </p:stCondLst>
                                        </p:cTn>
                                        <p:tgtEl>
                                          <p:spTgt spid="368780"/>
                                        </p:tgtEl>
                                        <p:attrNameLst>
                                          <p:attrName>style.visibility</p:attrName>
                                        </p:attrNameLst>
                                      </p:cBhvr>
                                      <p:to>
                                        <p:strVal val="visible"/>
                                      </p:to>
                                    </p:set>
                                  </p:childTnLst>
                                </p:cTn>
                              </p:par>
                            </p:childTnLst>
                          </p:cTn>
                        </p:par>
                        <p:par>
                          <p:cTn id="141" fill="hold">
                            <p:stCondLst>
                              <p:cond delay="18500"/>
                            </p:stCondLst>
                            <p:childTnLst>
                              <p:par>
                                <p:cTn id="142" presetID="22" presetClass="entr" presetSubtype="8" fill="hold" grpId="0" nodeType="afterEffect">
                                  <p:stCondLst>
                                    <p:cond delay="0"/>
                                  </p:stCondLst>
                                  <p:childTnLst>
                                    <p:set>
                                      <p:cBhvr>
                                        <p:cTn id="143" dur="1" fill="hold">
                                          <p:stCondLst>
                                            <p:cond delay="0"/>
                                          </p:stCondLst>
                                        </p:cTn>
                                        <p:tgtEl>
                                          <p:spTgt spid="368784"/>
                                        </p:tgtEl>
                                        <p:attrNameLst>
                                          <p:attrName>style.visibility</p:attrName>
                                        </p:attrNameLst>
                                      </p:cBhvr>
                                      <p:to>
                                        <p:strVal val="visible"/>
                                      </p:to>
                                    </p:set>
                                    <p:animEffect transition="in" filter="wipe(left)">
                                      <p:cBhvr>
                                        <p:cTn id="144" dur="500"/>
                                        <p:tgtEl>
                                          <p:spTgt spid="368784"/>
                                        </p:tgtEl>
                                      </p:cBhvr>
                                    </p:animEffect>
                                  </p:childTnLst>
                                </p:cTn>
                              </p:par>
                            </p:childTnLst>
                          </p:cTn>
                        </p:par>
                        <p:par>
                          <p:cTn id="145" fill="hold">
                            <p:stCondLst>
                              <p:cond delay="19000"/>
                            </p:stCondLst>
                            <p:childTnLst>
                              <p:par>
                                <p:cTn id="146" presetID="1" presetClass="entr" presetSubtype="0" fill="hold" grpId="0" nodeType="afterEffect">
                                  <p:stCondLst>
                                    <p:cond delay="0"/>
                                  </p:stCondLst>
                                  <p:childTnLst>
                                    <p:set>
                                      <p:cBhvr>
                                        <p:cTn id="147" dur="1" fill="hold">
                                          <p:stCondLst>
                                            <p:cond delay="499"/>
                                          </p:stCondLst>
                                        </p:cTn>
                                        <p:tgtEl>
                                          <p:spTgt spid="368781"/>
                                        </p:tgtEl>
                                        <p:attrNameLst>
                                          <p:attrName>style.visibility</p:attrName>
                                        </p:attrNameLst>
                                      </p:cBhvr>
                                      <p:to>
                                        <p:strVal val="visible"/>
                                      </p:to>
                                    </p:set>
                                  </p:childTnLst>
                                </p:cTn>
                              </p:par>
                            </p:childTnLst>
                          </p:cTn>
                        </p:par>
                        <p:par>
                          <p:cTn id="148" fill="hold">
                            <p:stCondLst>
                              <p:cond delay="19500"/>
                            </p:stCondLst>
                            <p:childTnLst>
                              <p:par>
                                <p:cTn id="149" presetID="22" presetClass="entr" presetSubtype="8" fill="hold" grpId="0" nodeType="afterEffect">
                                  <p:stCondLst>
                                    <p:cond delay="0"/>
                                  </p:stCondLst>
                                  <p:childTnLst>
                                    <p:set>
                                      <p:cBhvr>
                                        <p:cTn id="150" dur="1" fill="hold">
                                          <p:stCondLst>
                                            <p:cond delay="0"/>
                                          </p:stCondLst>
                                        </p:cTn>
                                        <p:tgtEl>
                                          <p:spTgt spid="368747"/>
                                        </p:tgtEl>
                                        <p:attrNameLst>
                                          <p:attrName>style.visibility</p:attrName>
                                        </p:attrNameLst>
                                      </p:cBhvr>
                                      <p:to>
                                        <p:strVal val="visible"/>
                                      </p:to>
                                    </p:set>
                                    <p:animEffect transition="in" filter="wipe(left)">
                                      <p:cBhvr>
                                        <p:cTn id="151" dur="500"/>
                                        <p:tgtEl>
                                          <p:spTgt spid="368747"/>
                                        </p:tgtEl>
                                      </p:cBhvr>
                                    </p:animEffect>
                                  </p:childTnLst>
                                </p:cTn>
                              </p:par>
                            </p:childTnLst>
                          </p:cTn>
                        </p:par>
                        <p:par>
                          <p:cTn id="152" fill="hold">
                            <p:stCondLst>
                              <p:cond delay="20000"/>
                            </p:stCondLst>
                            <p:childTnLst>
                              <p:par>
                                <p:cTn id="153" presetID="1" presetClass="entr" presetSubtype="0" fill="hold" grpId="0" nodeType="afterEffect">
                                  <p:stCondLst>
                                    <p:cond delay="0"/>
                                  </p:stCondLst>
                                  <p:childTnLst>
                                    <p:set>
                                      <p:cBhvr>
                                        <p:cTn id="154" dur="1" fill="hold">
                                          <p:stCondLst>
                                            <p:cond delay="499"/>
                                          </p:stCondLst>
                                        </p:cTn>
                                        <p:tgtEl>
                                          <p:spTgt spid="368782"/>
                                        </p:tgtEl>
                                        <p:attrNameLst>
                                          <p:attrName>style.visibility</p:attrName>
                                        </p:attrNameLst>
                                      </p:cBhvr>
                                      <p:to>
                                        <p:strVal val="visible"/>
                                      </p:to>
                                    </p:set>
                                  </p:childTnLst>
                                </p:cTn>
                              </p:par>
                            </p:childTnLst>
                          </p:cTn>
                        </p:par>
                        <p:par>
                          <p:cTn id="155" fill="hold">
                            <p:stCondLst>
                              <p:cond delay="20500"/>
                            </p:stCondLst>
                            <p:childTnLst>
                              <p:par>
                                <p:cTn id="156" presetID="22" presetClass="entr" presetSubtype="8" fill="hold" grpId="0" nodeType="afterEffect">
                                  <p:stCondLst>
                                    <p:cond delay="0"/>
                                  </p:stCondLst>
                                  <p:childTnLst>
                                    <p:set>
                                      <p:cBhvr>
                                        <p:cTn id="157" dur="1" fill="hold">
                                          <p:stCondLst>
                                            <p:cond delay="0"/>
                                          </p:stCondLst>
                                        </p:cTn>
                                        <p:tgtEl>
                                          <p:spTgt spid="368790"/>
                                        </p:tgtEl>
                                        <p:attrNameLst>
                                          <p:attrName>style.visibility</p:attrName>
                                        </p:attrNameLst>
                                      </p:cBhvr>
                                      <p:to>
                                        <p:strVal val="visible"/>
                                      </p:to>
                                    </p:set>
                                    <p:animEffect transition="in" filter="wipe(left)">
                                      <p:cBhvr>
                                        <p:cTn id="158" dur="500"/>
                                        <p:tgtEl>
                                          <p:spTgt spid="368790"/>
                                        </p:tgtEl>
                                      </p:cBhvr>
                                    </p:animEffect>
                                  </p:childTnLst>
                                </p:cTn>
                              </p:par>
                            </p:childTnLst>
                          </p:cTn>
                        </p:par>
                        <p:par>
                          <p:cTn id="159" fill="hold">
                            <p:stCondLst>
                              <p:cond delay="21000"/>
                            </p:stCondLst>
                            <p:childTnLst>
                              <p:par>
                                <p:cTn id="160" presetID="1" presetClass="entr" presetSubtype="0" fill="hold" grpId="0" nodeType="afterEffect">
                                  <p:stCondLst>
                                    <p:cond delay="0"/>
                                  </p:stCondLst>
                                  <p:childTnLst>
                                    <p:set>
                                      <p:cBhvr>
                                        <p:cTn id="161" dur="1" fill="hold">
                                          <p:stCondLst>
                                            <p:cond delay="499"/>
                                          </p:stCondLst>
                                        </p:cTn>
                                        <p:tgtEl>
                                          <p:spTgt spid="368785"/>
                                        </p:tgtEl>
                                        <p:attrNameLst>
                                          <p:attrName>style.visibility</p:attrName>
                                        </p:attrNameLst>
                                      </p:cBhvr>
                                      <p:to>
                                        <p:strVal val="visible"/>
                                      </p:to>
                                    </p:set>
                                  </p:childTnLst>
                                </p:cTn>
                              </p:par>
                            </p:childTnLst>
                          </p:cTn>
                        </p:par>
                        <p:par>
                          <p:cTn id="162" fill="hold">
                            <p:stCondLst>
                              <p:cond delay="21500"/>
                            </p:stCondLst>
                            <p:childTnLst>
                              <p:par>
                                <p:cTn id="163" presetID="22" presetClass="entr" presetSubtype="8" fill="hold" grpId="0" nodeType="afterEffect">
                                  <p:stCondLst>
                                    <p:cond delay="0"/>
                                  </p:stCondLst>
                                  <p:childTnLst>
                                    <p:set>
                                      <p:cBhvr>
                                        <p:cTn id="164" dur="1" fill="hold">
                                          <p:stCondLst>
                                            <p:cond delay="0"/>
                                          </p:stCondLst>
                                        </p:cTn>
                                        <p:tgtEl>
                                          <p:spTgt spid="368746"/>
                                        </p:tgtEl>
                                        <p:attrNameLst>
                                          <p:attrName>style.visibility</p:attrName>
                                        </p:attrNameLst>
                                      </p:cBhvr>
                                      <p:to>
                                        <p:strVal val="visible"/>
                                      </p:to>
                                    </p:set>
                                    <p:animEffect transition="in" filter="wipe(left)">
                                      <p:cBhvr>
                                        <p:cTn id="165" dur="500"/>
                                        <p:tgtEl>
                                          <p:spTgt spid="368746"/>
                                        </p:tgtEl>
                                      </p:cBhvr>
                                    </p:animEffect>
                                  </p:childTnLst>
                                </p:cTn>
                              </p:par>
                            </p:childTnLst>
                          </p:cTn>
                        </p:par>
                        <p:par>
                          <p:cTn id="166" fill="hold">
                            <p:stCondLst>
                              <p:cond delay="22000"/>
                            </p:stCondLst>
                            <p:childTnLst>
                              <p:par>
                                <p:cTn id="167" presetID="1" presetClass="entr" presetSubtype="0" fill="hold" grpId="0" nodeType="afterEffect">
                                  <p:stCondLst>
                                    <p:cond delay="0"/>
                                  </p:stCondLst>
                                  <p:childTnLst>
                                    <p:set>
                                      <p:cBhvr>
                                        <p:cTn id="168" dur="1" fill="hold">
                                          <p:stCondLst>
                                            <p:cond delay="499"/>
                                          </p:stCondLst>
                                        </p:cTn>
                                        <p:tgtEl>
                                          <p:spTgt spid="368786"/>
                                        </p:tgtEl>
                                        <p:attrNameLst>
                                          <p:attrName>style.visibility</p:attrName>
                                        </p:attrNameLst>
                                      </p:cBhvr>
                                      <p:to>
                                        <p:strVal val="visible"/>
                                      </p:to>
                                    </p:set>
                                  </p:childTnLst>
                                </p:cTn>
                              </p:par>
                            </p:childTnLst>
                          </p:cTn>
                        </p:par>
                        <p:par>
                          <p:cTn id="169" fill="hold">
                            <p:stCondLst>
                              <p:cond delay="22500"/>
                            </p:stCondLst>
                            <p:childTnLst>
                              <p:par>
                                <p:cTn id="170" presetID="22" presetClass="entr" presetSubtype="2" fill="hold" grpId="0" nodeType="afterEffect">
                                  <p:stCondLst>
                                    <p:cond delay="0"/>
                                  </p:stCondLst>
                                  <p:childTnLst>
                                    <p:set>
                                      <p:cBhvr>
                                        <p:cTn id="171" dur="1" fill="hold">
                                          <p:stCondLst>
                                            <p:cond delay="0"/>
                                          </p:stCondLst>
                                        </p:cTn>
                                        <p:tgtEl>
                                          <p:spTgt spid="368745"/>
                                        </p:tgtEl>
                                        <p:attrNameLst>
                                          <p:attrName>style.visibility</p:attrName>
                                        </p:attrNameLst>
                                      </p:cBhvr>
                                      <p:to>
                                        <p:strVal val="visible"/>
                                      </p:to>
                                    </p:set>
                                    <p:animEffect transition="in" filter="wipe(right)">
                                      <p:cBhvr>
                                        <p:cTn id="172" dur="500"/>
                                        <p:tgtEl>
                                          <p:spTgt spid="368745"/>
                                        </p:tgtEl>
                                      </p:cBhvr>
                                    </p:animEffect>
                                  </p:childTnLst>
                                </p:cTn>
                              </p:par>
                            </p:childTnLst>
                          </p:cTn>
                        </p:par>
                        <p:par>
                          <p:cTn id="173" fill="hold">
                            <p:stCondLst>
                              <p:cond delay="23000"/>
                            </p:stCondLst>
                            <p:childTnLst>
                              <p:par>
                                <p:cTn id="174" presetID="1" presetClass="entr" presetSubtype="0" fill="hold" grpId="0" nodeType="afterEffect">
                                  <p:stCondLst>
                                    <p:cond delay="0"/>
                                  </p:stCondLst>
                                  <p:childTnLst>
                                    <p:set>
                                      <p:cBhvr>
                                        <p:cTn id="175" dur="1" fill="hold">
                                          <p:stCondLst>
                                            <p:cond delay="499"/>
                                          </p:stCondLst>
                                        </p:cTn>
                                        <p:tgtEl>
                                          <p:spTgt spid="368787"/>
                                        </p:tgtEl>
                                        <p:attrNameLst>
                                          <p:attrName>style.visibility</p:attrName>
                                        </p:attrNameLst>
                                      </p:cBhvr>
                                      <p:to>
                                        <p:strVal val="visible"/>
                                      </p:to>
                                    </p:set>
                                  </p:childTnLst>
                                </p:cTn>
                              </p:par>
                            </p:childTnLst>
                          </p:cTn>
                        </p:par>
                        <p:par>
                          <p:cTn id="176" fill="hold">
                            <p:stCondLst>
                              <p:cond delay="23500"/>
                            </p:stCondLst>
                            <p:childTnLst>
                              <p:par>
                                <p:cTn id="177" presetID="22" presetClass="entr" presetSubtype="2" fill="hold" grpId="0" nodeType="afterEffect">
                                  <p:stCondLst>
                                    <p:cond delay="0"/>
                                  </p:stCondLst>
                                  <p:childTnLst>
                                    <p:set>
                                      <p:cBhvr>
                                        <p:cTn id="178" dur="1" fill="hold">
                                          <p:stCondLst>
                                            <p:cond delay="0"/>
                                          </p:stCondLst>
                                        </p:cTn>
                                        <p:tgtEl>
                                          <p:spTgt spid="368744"/>
                                        </p:tgtEl>
                                        <p:attrNameLst>
                                          <p:attrName>style.visibility</p:attrName>
                                        </p:attrNameLst>
                                      </p:cBhvr>
                                      <p:to>
                                        <p:strVal val="visible"/>
                                      </p:to>
                                    </p:set>
                                    <p:animEffect transition="in" filter="wipe(right)">
                                      <p:cBhvr>
                                        <p:cTn id="179" dur="500"/>
                                        <p:tgtEl>
                                          <p:spTgt spid="368744"/>
                                        </p:tgtEl>
                                      </p:cBhvr>
                                    </p:animEffect>
                                  </p:childTnLst>
                                </p:cTn>
                              </p:par>
                            </p:childTnLst>
                          </p:cTn>
                        </p:par>
                        <p:par>
                          <p:cTn id="180" fill="hold">
                            <p:stCondLst>
                              <p:cond delay="24000"/>
                            </p:stCondLst>
                            <p:childTnLst>
                              <p:par>
                                <p:cTn id="181" presetID="1" presetClass="entr" presetSubtype="0" fill="hold" grpId="0" nodeType="afterEffect">
                                  <p:stCondLst>
                                    <p:cond delay="0"/>
                                  </p:stCondLst>
                                  <p:childTnLst>
                                    <p:set>
                                      <p:cBhvr>
                                        <p:cTn id="182" dur="1" fill="hold">
                                          <p:stCondLst>
                                            <p:cond delay="499"/>
                                          </p:stCondLst>
                                        </p:cTn>
                                        <p:tgtEl>
                                          <p:spTgt spid="368788"/>
                                        </p:tgtEl>
                                        <p:attrNameLst>
                                          <p:attrName>style.visibility</p:attrName>
                                        </p:attrNameLst>
                                      </p:cBhvr>
                                      <p:to>
                                        <p:strVal val="visible"/>
                                      </p:to>
                                    </p:set>
                                  </p:childTnLst>
                                </p:cTn>
                              </p:par>
                            </p:childTnLst>
                          </p:cTn>
                        </p:par>
                        <p:par>
                          <p:cTn id="183" fill="hold">
                            <p:stCondLst>
                              <p:cond delay="24500"/>
                            </p:stCondLst>
                            <p:childTnLst>
                              <p:par>
                                <p:cTn id="184" presetID="22" presetClass="entr" presetSubtype="1" fill="hold" grpId="0" nodeType="afterEffect">
                                  <p:stCondLst>
                                    <p:cond delay="0"/>
                                  </p:stCondLst>
                                  <p:childTnLst>
                                    <p:set>
                                      <p:cBhvr>
                                        <p:cTn id="185" dur="1" fill="hold">
                                          <p:stCondLst>
                                            <p:cond delay="0"/>
                                          </p:stCondLst>
                                        </p:cTn>
                                        <p:tgtEl>
                                          <p:spTgt spid="368743"/>
                                        </p:tgtEl>
                                        <p:attrNameLst>
                                          <p:attrName>style.visibility</p:attrName>
                                        </p:attrNameLst>
                                      </p:cBhvr>
                                      <p:to>
                                        <p:strVal val="visible"/>
                                      </p:to>
                                    </p:set>
                                    <p:animEffect transition="in" filter="wipe(up)">
                                      <p:cBhvr>
                                        <p:cTn id="186" dur="500"/>
                                        <p:tgtEl>
                                          <p:spTgt spid="368743"/>
                                        </p:tgtEl>
                                      </p:cBhvr>
                                    </p:animEffect>
                                  </p:childTnLst>
                                </p:cTn>
                              </p:par>
                            </p:childTnLst>
                          </p:cTn>
                        </p:par>
                        <p:par>
                          <p:cTn id="187" fill="hold">
                            <p:stCondLst>
                              <p:cond delay="25000"/>
                            </p:stCondLst>
                            <p:childTnLst>
                              <p:par>
                                <p:cTn id="188" presetID="1" presetClass="entr" presetSubtype="0" fill="hold" grpId="0" nodeType="afterEffect">
                                  <p:stCondLst>
                                    <p:cond delay="0"/>
                                  </p:stCondLst>
                                  <p:childTnLst>
                                    <p:set>
                                      <p:cBhvr>
                                        <p:cTn id="189" dur="1" fill="hold">
                                          <p:stCondLst>
                                            <p:cond delay="499"/>
                                          </p:stCondLst>
                                        </p:cTn>
                                        <p:tgtEl>
                                          <p:spTgt spid="368789"/>
                                        </p:tgtEl>
                                        <p:attrNameLst>
                                          <p:attrName>style.visibility</p:attrName>
                                        </p:attrNameLst>
                                      </p:cBhvr>
                                      <p:to>
                                        <p:strVal val="visible"/>
                                      </p:to>
                                    </p:set>
                                  </p:childTnLst>
                                </p:cTn>
                              </p:par>
                            </p:childTnLst>
                          </p:cTn>
                        </p:par>
                        <p:par>
                          <p:cTn id="190" fill="hold">
                            <p:stCondLst>
                              <p:cond delay="25500"/>
                            </p:stCondLst>
                            <p:childTnLst>
                              <p:par>
                                <p:cTn id="191" presetID="22" presetClass="entr" presetSubtype="1" fill="hold" grpId="0" nodeType="afterEffect">
                                  <p:stCondLst>
                                    <p:cond delay="0"/>
                                  </p:stCondLst>
                                  <p:childTnLst>
                                    <p:set>
                                      <p:cBhvr>
                                        <p:cTn id="192" dur="1" fill="hold">
                                          <p:stCondLst>
                                            <p:cond delay="0"/>
                                          </p:stCondLst>
                                        </p:cTn>
                                        <p:tgtEl>
                                          <p:spTgt spid="368690"/>
                                        </p:tgtEl>
                                        <p:attrNameLst>
                                          <p:attrName>style.visibility</p:attrName>
                                        </p:attrNameLst>
                                      </p:cBhvr>
                                      <p:to>
                                        <p:strVal val="visible"/>
                                      </p:to>
                                    </p:set>
                                    <p:animEffect transition="in" filter="wipe(up)">
                                      <p:cBhvr>
                                        <p:cTn id="193" dur="500"/>
                                        <p:tgtEl>
                                          <p:spTgt spid="368690"/>
                                        </p:tgtEl>
                                      </p:cBhvr>
                                    </p:animEffect>
                                  </p:childTnLst>
                                </p:cTn>
                              </p:par>
                            </p:childTnLst>
                          </p:cTn>
                        </p:par>
                        <p:par>
                          <p:cTn id="194" fill="hold">
                            <p:stCondLst>
                              <p:cond delay="26000"/>
                            </p:stCondLst>
                            <p:childTnLst>
                              <p:par>
                                <p:cTn id="195" presetID="1" presetClass="entr" presetSubtype="0" fill="hold" grpId="0" nodeType="afterEffect">
                                  <p:stCondLst>
                                    <p:cond delay="0"/>
                                  </p:stCondLst>
                                  <p:childTnLst>
                                    <p:set>
                                      <p:cBhvr>
                                        <p:cTn id="196" dur="1" fill="hold">
                                          <p:stCondLst>
                                            <p:cond delay="499"/>
                                          </p:stCondLst>
                                        </p:cTn>
                                        <p:tgtEl>
                                          <p:spTgt spid="368846"/>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499"/>
                                          </p:stCondLst>
                                        </p:cTn>
                                        <p:tgtEl>
                                          <p:spTgt spid="368791"/>
                                        </p:tgtEl>
                                        <p:attrNameLst>
                                          <p:attrName>style.visibility</p:attrName>
                                        </p:attrNameLst>
                                      </p:cBhvr>
                                      <p:to>
                                        <p:strVal val="visible"/>
                                      </p:to>
                                    </p:set>
                                  </p:childTnLst>
                                </p:cTn>
                              </p:par>
                            </p:childTnLst>
                          </p:cTn>
                        </p:par>
                        <p:par>
                          <p:cTn id="201" fill="hold">
                            <p:stCondLst>
                              <p:cond delay="500"/>
                            </p:stCondLst>
                            <p:childTnLst>
                              <p:par>
                                <p:cTn id="202" presetID="22" presetClass="entr" presetSubtype="8" fill="hold" grpId="0" nodeType="afterEffect">
                                  <p:stCondLst>
                                    <p:cond delay="0"/>
                                  </p:stCondLst>
                                  <p:childTnLst>
                                    <p:set>
                                      <p:cBhvr>
                                        <p:cTn id="203" dur="1" fill="hold">
                                          <p:stCondLst>
                                            <p:cond delay="0"/>
                                          </p:stCondLst>
                                        </p:cTn>
                                        <p:tgtEl>
                                          <p:spTgt spid="368737"/>
                                        </p:tgtEl>
                                        <p:attrNameLst>
                                          <p:attrName>style.visibility</p:attrName>
                                        </p:attrNameLst>
                                      </p:cBhvr>
                                      <p:to>
                                        <p:strVal val="visible"/>
                                      </p:to>
                                    </p:set>
                                    <p:animEffect transition="in" filter="wipe(left)">
                                      <p:cBhvr>
                                        <p:cTn id="204" dur="500"/>
                                        <p:tgtEl>
                                          <p:spTgt spid="368737"/>
                                        </p:tgtEl>
                                      </p:cBhvr>
                                    </p:animEffect>
                                  </p:childTnLst>
                                </p:cTn>
                              </p:par>
                            </p:childTnLst>
                          </p:cTn>
                        </p:par>
                        <p:par>
                          <p:cTn id="205" fill="hold">
                            <p:stCondLst>
                              <p:cond delay="1000"/>
                            </p:stCondLst>
                            <p:childTnLst>
                              <p:par>
                                <p:cTn id="206" presetID="1" presetClass="entr" presetSubtype="0" fill="hold" grpId="0" nodeType="afterEffect">
                                  <p:stCondLst>
                                    <p:cond delay="0"/>
                                  </p:stCondLst>
                                  <p:childTnLst>
                                    <p:set>
                                      <p:cBhvr>
                                        <p:cTn id="207" dur="1" fill="hold">
                                          <p:stCondLst>
                                            <p:cond delay="499"/>
                                          </p:stCondLst>
                                        </p:cTn>
                                        <p:tgtEl>
                                          <p:spTgt spid="368792"/>
                                        </p:tgtEl>
                                        <p:attrNameLst>
                                          <p:attrName>style.visibility</p:attrName>
                                        </p:attrNameLst>
                                      </p:cBhvr>
                                      <p:to>
                                        <p:strVal val="visible"/>
                                      </p:to>
                                    </p:set>
                                  </p:childTnLst>
                                </p:cTn>
                              </p:par>
                            </p:childTnLst>
                          </p:cTn>
                        </p:par>
                        <p:par>
                          <p:cTn id="208" fill="hold">
                            <p:stCondLst>
                              <p:cond delay="1500"/>
                            </p:stCondLst>
                            <p:childTnLst>
                              <p:par>
                                <p:cTn id="209" presetID="22" presetClass="entr" presetSubtype="8" fill="hold" grpId="0" nodeType="afterEffect">
                                  <p:stCondLst>
                                    <p:cond delay="0"/>
                                  </p:stCondLst>
                                  <p:childTnLst>
                                    <p:set>
                                      <p:cBhvr>
                                        <p:cTn id="210" dur="1" fill="hold">
                                          <p:stCondLst>
                                            <p:cond delay="0"/>
                                          </p:stCondLst>
                                        </p:cTn>
                                        <p:tgtEl>
                                          <p:spTgt spid="368738"/>
                                        </p:tgtEl>
                                        <p:attrNameLst>
                                          <p:attrName>style.visibility</p:attrName>
                                        </p:attrNameLst>
                                      </p:cBhvr>
                                      <p:to>
                                        <p:strVal val="visible"/>
                                      </p:to>
                                    </p:set>
                                    <p:animEffect transition="in" filter="wipe(left)">
                                      <p:cBhvr>
                                        <p:cTn id="211" dur="500"/>
                                        <p:tgtEl>
                                          <p:spTgt spid="368738"/>
                                        </p:tgtEl>
                                      </p:cBhvr>
                                    </p:animEffect>
                                  </p:childTnLst>
                                </p:cTn>
                              </p:par>
                            </p:childTnLst>
                          </p:cTn>
                        </p:par>
                        <p:par>
                          <p:cTn id="212" fill="hold">
                            <p:stCondLst>
                              <p:cond delay="2000"/>
                            </p:stCondLst>
                            <p:childTnLst>
                              <p:par>
                                <p:cTn id="213" presetID="1" presetClass="entr" presetSubtype="0" fill="hold" grpId="0" nodeType="afterEffect">
                                  <p:stCondLst>
                                    <p:cond delay="0"/>
                                  </p:stCondLst>
                                  <p:childTnLst>
                                    <p:set>
                                      <p:cBhvr>
                                        <p:cTn id="214" dur="1" fill="hold">
                                          <p:stCondLst>
                                            <p:cond delay="499"/>
                                          </p:stCondLst>
                                        </p:cTn>
                                        <p:tgtEl>
                                          <p:spTgt spid="368793"/>
                                        </p:tgtEl>
                                        <p:attrNameLst>
                                          <p:attrName>style.visibility</p:attrName>
                                        </p:attrNameLst>
                                      </p:cBhvr>
                                      <p:to>
                                        <p:strVal val="visible"/>
                                      </p:to>
                                    </p:set>
                                  </p:childTnLst>
                                </p:cTn>
                              </p:par>
                            </p:childTnLst>
                          </p:cTn>
                        </p:par>
                        <p:par>
                          <p:cTn id="215" fill="hold">
                            <p:stCondLst>
                              <p:cond delay="2500"/>
                            </p:stCondLst>
                            <p:childTnLst>
                              <p:par>
                                <p:cTn id="216" presetID="22" presetClass="entr" presetSubtype="1" fill="hold" grpId="0" nodeType="afterEffect">
                                  <p:stCondLst>
                                    <p:cond delay="0"/>
                                  </p:stCondLst>
                                  <p:childTnLst>
                                    <p:set>
                                      <p:cBhvr>
                                        <p:cTn id="217" dur="1" fill="hold">
                                          <p:stCondLst>
                                            <p:cond delay="0"/>
                                          </p:stCondLst>
                                        </p:cTn>
                                        <p:tgtEl>
                                          <p:spTgt spid="368739"/>
                                        </p:tgtEl>
                                        <p:attrNameLst>
                                          <p:attrName>style.visibility</p:attrName>
                                        </p:attrNameLst>
                                      </p:cBhvr>
                                      <p:to>
                                        <p:strVal val="visible"/>
                                      </p:to>
                                    </p:set>
                                    <p:animEffect transition="in" filter="wipe(up)">
                                      <p:cBhvr>
                                        <p:cTn id="218" dur="500"/>
                                        <p:tgtEl>
                                          <p:spTgt spid="368739"/>
                                        </p:tgtEl>
                                      </p:cBhvr>
                                    </p:animEffect>
                                  </p:childTnLst>
                                </p:cTn>
                              </p:par>
                            </p:childTnLst>
                          </p:cTn>
                        </p:par>
                        <p:par>
                          <p:cTn id="219" fill="hold">
                            <p:stCondLst>
                              <p:cond delay="3000"/>
                            </p:stCondLst>
                            <p:childTnLst>
                              <p:par>
                                <p:cTn id="220" presetID="1" presetClass="entr" presetSubtype="0" fill="hold" grpId="0" nodeType="afterEffect">
                                  <p:stCondLst>
                                    <p:cond delay="0"/>
                                  </p:stCondLst>
                                  <p:childTnLst>
                                    <p:set>
                                      <p:cBhvr>
                                        <p:cTn id="221" dur="1" fill="hold">
                                          <p:stCondLst>
                                            <p:cond delay="499"/>
                                          </p:stCondLst>
                                        </p:cTn>
                                        <p:tgtEl>
                                          <p:spTgt spid="368794"/>
                                        </p:tgtEl>
                                        <p:attrNameLst>
                                          <p:attrName>style.visibility</p:attrName>
                                        </p:attrNameLst>
                                      </p:cBhvr>
                                      <p:to>
                                        <p:strVal val="visible"/>
                                      </p:to>
                                    </p:set>
                                  </p:childTnLst>
                                </p:cTn>
                              </p:par>
                            </p:childTnLst>
                          </p:cTn>
                        </p:par>
                        <p:par>
                          <p:cTn id="222" fill="hold">
                            <p:stCondLst>
                              <p:cond delay="3500"/>
                            </p:stCondLst>
                            <p:childTnLst>
                              <p:par>
                                <p:cTn id="223" presetID="22" presetClass="entr" presetSubtype="4" fill="hold" grpId="0" nodeType="afterEffect">
                                  <p:stCondLst>
                                    <p:cond delay="0"/>
                                  </p:stCondLst>
                                  <p:childTnLst>
                                    <p:set>
                                      <p:cBhvr>
                                        <p:cTn id="224" dur="1" fill="hold">
                                          <p:stCondLst>
                                            <p:cond delay="0"/>
                                          </p:stCondLst>
                                        </p:cTn>
                                        <p:tgtEl>
                                          <p:spTgt spid="368740"/>
                                        </p:tgtEl>
                                        <p:attrNameLst>
                                          <p:attrName>style.visibility</p:attrName>
                                        </p:attrNameLst>
                                      </p:cBhvr>
                                      <p:to>
                                        <p:strVal val="visible"/>
                                      </p:to>
                                    </p:set>
                                    <p:animEffect transition="in" filter="wipe(down)">
                                      <p:cBhvr>
                                        <p:cTn id="225" dur="500"/>
                                        <p:tgtEl>
                                          <p:spTgt spid="368740"/>
                                        </p:tgtEl>
                                      </p:cBhvr>
                                    </p:animEffect>
                                  </p:childTnLst>
                                </p:cTn>
                              </p:par>
                            </p:childTnLst>
                          </p:cTn>
                        </p:par>
                        <p:par>
                          <p:cTn id="226" fill="hold">
                            <p:stCondLst>
                              <p:cond delay="4000"/>
                            </p:stCondLst>
                            <p:childTnLst>
                              <p:par>
                                <p:cTn id="227" presetID="1" presetClass="entr" presetSubtype="0" fill="hold" grpId="0" nodeType="afterEffect">
                                  <p:stCondLst>
                                    <p:cond delay="0"/>
                                  </p:stCondLst>
                                  <p:childTnLst>
                                    <p:set>
                                      <p:cBhvr>
                                        <p:cTn id="228" dur="1" fill="hold">
                                          <p:stCondLst>
                                            <p:cond delay="499"/>
                                          </p:stCondLst>
                                        </p:cTn>
                                        <p:tgtEl>
                                          <p:spTgt spid="368795"/>
                                        </p:tgtEl>
                                        <p:attrNameLst>
                                          <p:attrName>style.visibility</p:attrName>
                                        </p:attrNameLst>
                                      </p:cBhvr>
                                      <p:to>
                                        <p:strVal val="visible"/>
                                      </p:to>
                                    </p:set>
                                  </p:childTnLst>
                                </p:cTn>
                              </p:par>
                            </p:childTnLst>
                          </p:cTn>
                        </p:par>
                        <p:par>
                          <p:cTn id="229" fill="hold">
                            <p:stCondLst>
                              <p:cond delay="4500"/>
                            </p:stCondLst>
                            <p:childTnLst>
                              <p:par>
                                <p:cTn id="230" presetID="22" presetClass="entr" presetSubtype="8" fill="hold" grpId="0" nodeType="afterEffect">
                                  <p:stCondLst>
                                    <p:cond delay="0"/>
                                  </p:stCondLst>
                                  <p:childTnLst>
                                    <p:set>
                                      <p:cBhvr>
                                        <p:cTn id="231" dur="1" fill="hold">
                                          <p:stCondLst>
                                            <p:cond delay="0"/>
                                          </p:stCondLst>
                                        </p:cTn>
                                        <p:tgtEl>
                                          <p:spTgt spid="368741"/>
                                        </p:tgtEl>
                                        <p:attrNameLst>
                                          <p:attrName>style.visibility</p:attrName>
                                        </p:attrNameLst>
                                      </p:cBhvr>
                                      <p:to>
                                        <p:strVal val="visible"/>
                                      </p:to>
                                    </p:set>
                                    <p:animEffect transition="in" filter="wipe(left)">
                                      <p:cBhvr>
                                        <p:cTn id="232" dur="500"/>
                                        <p:tgtEl>
                                          <p:spTgt spid="368741"/>
                                        </p:tgtEl>
                                      </p:cBhvr>
                                    </p:animEffect>
                                  </p:childTnLst>
                                </p:cTn>
                              </p:par>
                            </p:childTnLst>
                          </p:cTn>
                        </p:par>
                        <p:par>
                          <p:cTn id="233" fill="hold">
                            <p:stCondLst>
                              <p:cond delay="5000"/>
                            </p:stCondLst>
                            <p:childTnLst>
                              <p:par>
                                <p:cTn id="234" presetID="1" presetClass="entr" presetSubtype="0" fill="hold" grpId="0" nodeType="afterEffect">
                                  <p:stCondLst>
                                    <p:cond delay="0"/>
                                  </p:stCondLst>
                                  <p:childTnLst>
                                    <p:set>
                                      <p:cBhvr>
                                        <p:cTn id="235" dur="1" fill="hold">
                                          <p:stCondLst>
                                            <p:cond delay="499"/>
                                          </p:stCondLst>
                                        </p:cTn>
                                        <p:tgtEl>
                                          <p:spTgt spid="368796"/>
                                        </p:tgtEl>
                                        <p:attrNameLst>
                                          <p:attrName>style.visibility</p:attrName>
                                        </p:attrNameLst>
                                      </p:cBhvr>
                                      <p:to>
                                        <p:strVal val="visible"/>
                                      </p:to>
                                    </p:set>
                                  </p:childTnLst>
                                </p:cTn>
                              </p:par>
                            </p:childTnLst>
                          </p:cTn>
                        </p:par>
                        <p:par>
                          <p:cTn id="236" fill="hold">
                            <p:stCondLst>
                              <p:cond delay="5500"/>
                            </p:stCondLst>
                            <p:childTnLst>
                              <p:par>
                                <p:cTn id="237" presetID="22" presetClass="entr" presetSubtype="1" fill="hold" grpId="0" nodeType="afterEffect">
                                  <p:stCondLst>
                                    <p:cond delay="0"/>
                                  </p:stCondLst>
                                  <p:childTnLst>
                                    <p:set>
                                      <p:cBhvr>
                                        <p:cTn id="238" dur="1" fill="hold">
                                          <p:stCondLst>
                                            <p:cond delay="0"/>
                                          </p:stCondLst>
                                        </p:cTn>
                                        <p:tgtEl>
                                          <p:spTgt spid="368742"/>
                                        </p:tgtEl>
                                        <p:attrNameLst>
                                          <p:attrName>style.visibility</p:attrName>
                                        </p:attrNameLst>
                                      </p:cBhvr>
                                      <p:to>
                                        <p:strVal val="visible"/>
                                      </p:to>
                                    </p:set>
                                    <p:animEffect transition="in" filter="wipe(up)">
                                      <p:cBhvr>
                                        <p:cTn id="239" dur="500"/>
                                        <p:tgtEl>
                                          <p:spTgt spid="368742"/>
                                        </p:tgtEl>
                                      </p:cBhvr>
                                    </p:animEffect>
                                  </p:childTnLst>
                                </p:cTn>
                              </p:par>
                            </p:childTnLst>
                          </p:cTn>
                        </p:par>
                        <p:par>
                          <p:cTn id="240" fill="hold">
                            <p:stCondLst>
                              <p:cond delay="6000"/>
                            </p:stCondLst>
                            <p:childTnLst>
                              <p:par>
                                <p:cTn id="241" presetID="1" presetClass="entr" presetSubtype="0" fill="hold" grpId="0" nodeType="afterEffect">
                                  <p:stCondLst>
                                    <p:cond delay="0"/>
                                  </p:stCondLst>
                                  <p:childTnLst>
                                    <p:set>
                                      <p:cBhvr>
                                        <p:cTn id="242" dur="1" fill="hold">
                                          <p:stCondLst>
                                            <p:cond delay="499"/>
                                          </p:stCondLst>
                                        </p:cTn>
                                        <p:tgtEl>
                                          <p:spTgt spid="368797"/>
                                        </p:tgtEl>
                                        <p:attrNameLst>
                                          <p:attrName>style.visibility</p:attrName>
                                        </p:attrNameLst>
                                      </p:cBhvr>
                                      <p:to>
                                        <p:strVal val="visible"/>
                                      </p:to>
                                    </p:set>
                                  </p:childTnLst>
                                </p:cTn>
                              </p:par>
                            </p:childTnLst>
                          </p:cTn>
                        </p:par>
                        <p:par>
                          <p:cTn id="243" fill="hold">
                            <p:stCondLst>
                              <p:cond delay="6500"/>
                            </p:stCondLst>
                            <p:childTnLst>
                              <p:par>
                                <p:cTn id="244" presetID="22" presetClass="entr" presetSubtype="4" fill="hold" grpId="0" nodeType="afterEffect">
                                  <p:stCondLst>
                                    <p:cond delay="0"/>
                                  </p:stCondLst>
                                  <p:childTnLst>
                                    <p:set>
                                      <p:cBhvr>
                                        <p:cTn id="245" dur="1" fill="hold">
                                          <p:stCondLst>
                                            <p:cond delay="0"/>
                                          </p:stCondLst>
                                        </p:cTn>
                                        <p:tgtEl>
                                          <p:spTgt spid="368730"/>
                                        </p:tgtEl>
                                        <p:attrNameLst>
                                          <p:attrName>style.visibility</p:attrName>
                                        </p:attrNameLst>
                                      </p:cBhvr>
                                      <p:to>
                                        <p:strVal val="visible"/>
                                      </p:to>
                                    </p:set>
                                    <p:animEffect transition="in" filter="wipe(down)">
                                      <p:cBhvr>
                                        <p:cTn id="246" dur="500"/>
                                        <p:tgtEl>
                                          <p:spTgt spid="368730"/>
                                        </p:tgtEl>
                                      </p:cBhvr>
                                    </p:animEffect>
                                  </p:childTnLst>
                                </p:cTn>
                              </p:par>
                            </p:childTnLst>
                          </p:cTn>
                        </p:par>
                        <p:par>
                          <p:cTn id="247" fill="hold">
                            <p:stCondLst>
                              <p:cond delay="7000"/>
                            </p:stCondLst>
                            <p:childTnLst>
                              <p:par>
                                <p:cTn id="248" presetID="1" presetClass="entr" presetSubtype="0" fill="hold" grpId="0" nodeType="afterEffect">
                                  <p:stCondLst>
                                    <p:cond delay="0"/>
                                  </p:stCondLst>
                                  <p:childTnLst>
                                    <p:set>
                                      <p:cBhvr>
                                        <p:cTn id="249" dur="1" fill="hold">
                                          <p:stCondLst>
                                            <p:cond delay="499"/>
                                          </p:stCondLst>
                                        </p:cTn>
                                        <p:tgtEl>
                                          <p:spTgt spid="368798"/>
                                        </p:tgtEl>
                                        <p:attrNameLst>
                                          <p:attrName>style.visibility</p:attrName>
                                        </p:attrNameLst>
                                      </p:cBhvr>
                                      <p:to>
                                        <p:strVal val="visible"/>
                                      </p:to>
                                    </p:set>
                                  </p:childTnLst>
                                </p:cTn>
                              </p:par>
                            </p:childTnLst>
                          </p:cTn>
                        </p:par>
                        <p:par>
                          <p:cTn id="250" fill="hold">
                            <p:stCondLst>
                              <p:cond delay="7500"/>
                            </p:stCondLst>
                            <p:childTnLst>
                              <p:par>
                                <p:cTn id="251" presetID="22" presetClass="entr" presetSubtype="1" fill="hold" grpId="0" nodeType="afterEffect">
                                  <p:stCondLst>
                                    <p:cond delay="0"/>
                                  </p:stCondLst>
                                  <p:childTnLst>
                                    <p:set>
                                      <p:cBhvr>
                                        <p:cTn id="252" dur="1" fill="hold">
                                          <p:stCondLst>
                                            <p:cond delay="0"/>
                                          </p:stCondLst>
                                        </p:cTn>
                                        <p:tgtEl>
                                          <p:spTgt spid="368731"/>
                                        </p:tgtEl>
                                        <p:attrNameLst>
                                          <p:attrName>style.visibility</p:attrName>
                                        </p:attrNameLst>
                                      </p:cBhvr>
                                      <p:to>
                                        <p:strVal val="visible"/>
                                      </p:to>
                                    </p:set>
                                    <p:animEffect transition="in" filter="wipe(up)">
                                      <p:cBhvr>
                                        <p:cTn id="253" dur="500"/>
                                        <p:tgtEl>
                                          <p:spTgt spid="368731"/>
                                        </p:tgtEl>
                                      </p:cBhvr>
                                    </p:animEffect>
                                  </p:childTnLst>
                                </p:cTn>
                              </p:par>
                            </p:childTnLst>
                          </p:cTn>
                        </p:par>
                        <p:par>
                          <p:cTn id="254" fill="hold">
                            <p:stCondLst>
                              <p:cond delay="8000"/>
                            </p:stCondLst>
                            <p:childTnLst>
                              <p:par>
                                <p:cTn id="255" presetID="1" presetClass="entr" presetSubtype="0" fill="hold" grpId="0" nodeType="afterEffect">
                                  <p:stCondLst>
                                    <p:cond delay="0"/>
                                  </p:stCondLst>
                                  <p:childTnLst>
                                    <p:set>
                                      <p:cBhvr>
                                        <p:cTn id="256" dur="1" fill="hold">
                                          <p:stCondLst>
                                            <p:cond delay="499"/>
                                          </p:stCondLst>
                                        </p:cTn>
                                        <p:tgtEl>
                                          <p:spTgt spid="368799"/>
                                        </p:tgtEl>
                                        <p:attrNameLst>
                                          <p:attrName>style.visibility</p:attrName>
                                        </p:attrNameLst>
                                      </p:cBhvr>
                                      <p:to>
                                        <p:strVal val="visible"/>
                                      </p:to>
                                    </p:set>
                                  </p:childTnLst>
                                </p:cTn>
                              </p:par>
                            </p:childTnLst>
                          </p:cTn>
                        </p:par>
                        <p:par>
                          <p:cTn id="257" fill="hold">
                            <p:stCondLst>
                              <p:cond delay="8500"/>
                            </p:stCondLst>
                            <p:childTnLst>
                              <p:par>
                                <p:cTn id="258" presetID="22" presetClass="entr" presetSubtype="1" fill="hold" grpId="0" nodeType="afterEffect">
                                  <p:stCondLst>
                                    <p:cond delay="0"/>
                                  </p:stCondLst>
                                  <p:childTnLst>
                                    <p:set>
                                      <p:cBhvr>
                                        <p:cTn id="259" dur="1" fill="hold">
                                          <p:stCondLst>
                                            <p:cond delay="0"/>
                                          </p:stCondLst>
                                        </p:cTn>
                                        <p:tgtEl>
                                          <p:spTgt spid="368732"/>
                                        </p:tgtEl>
                                        <p:attrNameLst>
                                          <p:attrName>style.visibility</p:attrName>
                                        </p:attrNameLst>
                                      </p:cBhvr>
                                      <p:to>
                                        <p:strVal val="visible"/>
                                      </p:to>
                                    </p:set>
                                    <p:animEffect transition="in" filter="wipe(up)">
                                      <p:cBhvr>
                                        <p:cTn id="260" dur="500"/>
                                        <p:tgtEl>
                                          <p:spTgt spid="368732"/>
                                        </p:tgtEl>
                                      </p:cBhvr>
                                    </p:animEffect>
                                  </p:childTnLst>
                                </p:cTn>
                              </p:par>
                            </p:childTnLst>
                          </p:cTn>
                        </p:par>
                        <p:par>
                          <p:cTn id="261" fill="hold">
                            <p:stCondLst>
                              <p:cond delay="9000"/>
                            </p:stCondLst>
                            <p:childTnLst>
                              <p:par>
                                <p:cTn id="262" presetID="1" presetClass="entr" presetSubtype="0" fill="hold" grpId="0" nodeType="afterEffect">
                                  <p:stCondLst>
                                    <p:cond delay="0"/>
                                  </p:stCondLst>
                                  <p:childTnLst>
                                    <p:set>
                                      <p:cBhvr>
                                        <p:cTn id="263" dur="1" fill="hold">
                                          <p:stCondLst>
                                            <p:cond delay="499"/>
                                          </p:stCondLst>
                                        </p:cTn>
                                        <p:tgtEl>
                                          <p:spTgt spid="368800"/>
                                        </p:tgtEl>
                                        <p:attrNameLst>
                                          <p:attrName>style.visibility</p:attrName>
                                        </p:attrNameLst>
                                      </p:cBhvr>
                                      <p:to>
                                        <p:strVal val="visible"/>
                                      </p:to>
                                    </p:set>
                                  </p:childTnLst>
                                </p:cTn>
                              </p:par>
                            </p:childTnLst>
                          </p:cTn>
                        </p:par>
                        <p:par>
                          <p:cTn id="264" fill="hold">
                            <p:stCondLst>
                              <p:cond delay="9500"/>
                            </p:stCondLst>
                            <p:childTnLst>
                              <p:par>
                                <p:cTn id="265" presetID="22" presetClass="entr" presetSubtype="1" fill="hold" grpId="0" nodeType="afterEffect">
                                  <p:stCondLst>
                                    <p:cond delay="0"/>
                                  </p:stCondLst>
                                  <p:childTnLst>
                                    <p:set>
                                      <p:cBhvr>
                                        <p:cTn id="266" dur="1" fill="hold">
                                          <p:stCondLst>
                                            <p:cond delay="0"/>
                                          </p:stCondLst>
                                        </p:cTn>
                                        <p:tgtEl>
                                          <p:spTgt spid="368733"/>
                                        </p:tgtEl>
                                        <p:attrNameLst>
                                          <p:attrName>style.visibility</p:attrName>
                                        </p:attrNameLst>
                                      </p:cBhvr>
                                      <p:to>
                                        <p:strVal val="visible"/>
                                      </p:to>
                                    </p:set>
                                    <p:animEffect transition="in" filter="wipe(up)">
                                      <p:cBhvr>
                                        <p:cTn id="267" dur="500"/>
                                        <p:tgtEl>
                                          <p:spTgt spid="368733"/>
                                        </p:tgtEl>
                                      </p:cBhvr>
                                    </p:animEffect>
                                  </p:childTnLst>
                                </p:cTn>
                              </p:par>
                            </p:childTnLst>
                          </p:cTn>
                        </p:par>
                        <p:par>
                          <p:cTn id="268" fill="hold">
                            <p:stCondLst>
                              <p:cond delay="10000"/>
                            </p:stCondLst>
                            <p:childTnLst>
                              <p:par>
                                <p:cTn id="269" presetID="1" presetClass="entr" presetSubtype="0" fill="hold" grpId="0" nodeType="afterEffect">
                                  <p:stCondLst>
                                    <p:cond delay="0"/>
                                  </p:stCondLst>
                                  <p:childTnLst>
                                    <p:set>
                                      <p:cBhvr>
                                        <p:cTn id="270" dur="1" fill="hold">
                                          <p:stCondLst>
                                            <p:cond delay="499"/>
                                          </p:stCondLst>
                                        </p:cTn>
                                        <p:tgtEl>
                                          <p:spTgt spid="368801"/>
                                        </p:tgtEl>
                                        <p:attrNameLst>
                                          <p:attrName>style.visibility</p:attrName>
                                        </p:attrNameLst>
                                      </p:cBhvr>
                                      <p:to>
                                        <p:strVal val="visible"/>
                                      </p:to>
                                    </p:set>
                                  </p:childTnLst>
                                </p:cTn>
                              </p:par>
                            </p:childTnLst>
                          </p:cTn>
                        </p:par>
                        <p:par>
                          <p:cTn id="271" fill="hold">
                            <p:stCondLst>
                              <p:cond delay="10500"/>
                            </p:stCondLst>
                            <p:childTnLst>
                              <p:par>
                                <p:cTn id="272" presetID="22" presetClass="entr" presetSubtype="1" fill="hold" grpId="0" nodeType="afterEffect">
                                  <p:stCondLst>
                                    <p:cond delay="0"/>
                                  </p:stCondLst>
                                  <p:childTnLst>
                                    <p:set>
                                      <p:cBhvr>
                                        <p:cTn id="273" dur="1" fill="hold">
                                          <p:stCondLst>
                                            <p:cond delay="0"/>
                                          </p:stCondLst>
                                        </p:cTn>
                                        <p:tgtEl>
                                          <p:spTgt spid="368734"/>
                                        </p:tgtEl>
                                        <p:attrNameLst>
                                          <p:attrName>style.visibility</p:attrName>
                                        </p:attrNameLst>
                                      </p:cBhvr>
                                      <p:to>
                                        <p:strVal val="visible"/>
                                      </p:to>
                                    </p:set>
                                    <p:animEffect transition="in" filter="wipe(up)">
                                      <p:cBhvr>
                                        <p:cTn id="274" dur="500"/>
                                        <p:tgtEl>
                                          <p:spTgt spid="368734"/>
                                        </p:tgtEl>
                                      </p:cBhvr>
                                    </p:animEffect>
                                  </p:childTnLst>
                                </p:cTn>
                              </p:par>
                            </p:childTnLst>
                          </p:cTn>
                        </p:par>
                        <p:par>
                          <p:cTn id="275" fill="hold">
                            <p:stCondLst>
                              <p:cond delay="11000"/>
                            </p:stCondLst>
                            <p:childTnLst>
                              <p:par>
                                <p:cTn id="276" presetID="1" presetClass="entr" presetSubtype="0" fill="hold" grpId="0" nodeType="afterEffect">
                                  <p:stCondLst>
                                    <p:cond delay="0"/>
                                  </p:stCondLst>
                                  <p:childTnLst>
                                    <p:set>
                                      <p:cBhvr>
                                        <p:cTn id="277" dur="1" fill="hold">
                                          <p:stCondLst>
                                            <p:cond delay="499"/>
                                          </p:stCondLst>
                                        </p:cTn>
                                        <p:tgtEl>
                                          <p:spTgt spid="368802"/>
                                        </p:tgtEl>
                                        <p:attrNameLst>
                                          <p:attrName>style.visibility</p:attrName>
                                        </p:attrNameLst>
                                      </p:cBhvr>
                                      <p:to>
                                        <p:strVal val="visible"/>
                                      </p:to>
                                    </p:set>
                                  </p:childTnLst>
                                </p:cTn>
                              </p:par>
                            </p:childTnLst>
                          </p:cTn>
                        </p:par>
                        <p:par>
                          <p:cTn id="278" fill="hold">
                            <p:stCondLst>
                              <p:cond delay="11500"/>
                            </p:stCondLst>
                            <p:childTnLst>
                              <p:par>
                                <p:cTn id="279" presetID="22" presetClass="entr" presetSubtype="1" fill="hold" grpId="0" nodeType="afterEffect">
                                  <p:stCondLst>
                                    <p:cond delay="0"/>
                                  </p:stCondLst>
                                  <p:childTnLst>
                                    <p:set>
                                      <p:cBhvr>
                                        <p:cTn id="280" dur="1" fill="hold">
                                          <p:stCondLst>
                                            <p:cond delay="0"/>
                                          </p:stCondLst>
                                        </p:cTn>
                                        <p:tgtEl>
                                          <p:spTgt spid="368735"/>
                                        </p:tgtEl>
                                        <p:attrNameLst>
                                          <p:attrName>style.visibility</p:attrName>
                                        </p:attrNameLst>
                                      </p:cBhvr>
                                      <p:to>
                                        <p:strVal val="visible"/>
                                      </p:to>
                                    </p:set>
                                    <p:animEffect transition="in" filter="wipe(up)">
                                      <p:cBhvr>
                                        <p:cTn id="281" dur="500"/>
                                        <p:tgtEl>
                                          <p:spTgt spid="368735"/>
                                        </p:tgtEl>
                                      </p:cBhvr>
                                    </p:animEffect>
                                  </p:childTnLst>
                                </p:cTn>
                              </p:par>
                            </p:childTnLst>
                          </p:cTn>
                        </p:par>
                        <p:par>
                          <p:cTn id="282" fill="hold">
                            <p:stCondLst>
                              <p:cond delay="12000"/>
                            </p:stCondLst>
                            <p:childTnLst>
                              <p:par>
                                <p:cTn id="283" presetID="1" presetClass="entr" presetSubtype="0" fill="hold" grpId="0" nodeType="afterEffect">
                                  <p:stCondLst>
                                    <p:cond delay="0"/>
                                  </p:stCondLst>
                                  <p:childTnLst>
                                    <p:set>
                                      <p:cBhvr>
                                        <p:cTn id="284" dur="1" fill="hold">
                                          <p:stCondLst>
                                            <p:cond delay="499"/>
                                          </p:stCondLst>
                                        </p:cTn>
                                        <p:tgtEl>
                                          <p:spTgt spid="368803"/>
                                        </p:tgtEl>
                                        <p:attrNameLst>
                                          <p:attrName>style.visibility</p:attrName>
                                        </p:attrNameLst>
                                      </p:cBhvr>
                                      <p:to>
                                        <p:strVal val="visible"/>
                                      </p:to>
                                    </p:set>
                                  </p:childTnLst>
                                </p:cTn>
                              </p:par>
                            </p:childTnLst>
                          </p:cTn>
                        </p:par>
                        <p:par>
                          <p:cTn id="285" fill="hold">
                            <p:stCondLst>
                              <p:cond delay="12500"/>
                            </p:stCondLst>
                            <p:childTnLst>
                              <p:par>
                                <p:cTn id="286" presetID="22" presetClass="entr" presetSubtype="8" fill="hold" grpId="0" nodeType="afterEffect">
                                  <p:stCondLst>
                                    <p:cond delay="0"/>
                                  </p:stCondLst>
                                  <p:childTnLst>
                                    <p:set>
                                      <p:cBhvr>
                                        <p:cTn id="287" dur="1" fill="hold">
                                          <p:stCondLst>
                                            <p:cond delay="0"/>
                                          </p:stCondLst>
                                        </p:cTn>
                                        <p:tgtEl>
                                          <p:spTgt spid="368736"/>
                                        </p:tgtEl>
                                        <p:attrNameLst>
                                          <p:attrName>style.visibility</p:attrName>
                                        </p:attrNameLst>
                                      </p:cBhvr>
                                      <p:to>
                                        <p:strVal val="visible"/>
                                      </p:to>
                                    </p:set>
                                    <p:animEffect transition="in" filter="wipe(left)">
                                      <p:cBhvr>
                                        <p:cTn id="288" dur="500"/>
                                        <p:tgtEl>
                                          <p:spTgt spid="368736"/>
                                        </p:tgtEl>
                                      </p:cBhvr>
                                    </p:animEffect>
                                  </p:childTnLst>
                                </p:cTn>
                              </p:par>
                            </p:childTnLst>
                          </p:cTn>
                        </p:par>
                        <p:par>
                          <p:cTn id="289" fill="hold">
                            <p:stCondLst>
                              <p:cond delay="13000"/>
                            </p:stCondLst>
                            <p:childTnLst>
                              <p:par>
                                <p:cTn id="290" presetID="1" presetClass="entr" presetSubtype="0" fill="hold" grpId="0" nodeType="afterEffect">
                                  <p:stCondLst>
                                    <p:cond delay="0"/>
                                  </p:stCondLst>
                                  <p:childTnLst>
                                    <p:set>
                                      <p:cBhvr>
                                        <p:cTn id="291" dur="1" fill="hold">
                                          <p:stCondLst>
                                            <p:cond delay="499"/>
                                          </p:stCondLst>
                                        </p:cTn>
                                        <p:tgtEl>
                                          <p:spTgt spid="368804"/>
                                        </p:tgtEl>
                                        <p:attrNameLst>
                                          <p:attrName>style.visibility</p:attrName>
                                        </p:attrNameLst>
                                      </p:cBhvr>
                                      <p:to>
                                        <p:strVal val="visible"/>
                                      </p:to>
                                    </p:set>
                                  </p:childTnLst>
                                </p:cTn>
                              </p:par>
                            </p:childTnLst>
                          </p:cTn>
                        </p:par>
                        <p:par>
                          <p:cTn id="292" fill="hold">
                            <p:stCondLst>
                              <p:cond delay="13500"/>
                            </p:stCondLst>
                            <p:childTnLst>
                              <p:par>
                                <p:cTn id="293" presetID="22" presetClass="entr" presetSubtype="2" fill="hold" grpId="0" nodeType="afterEffect">
                                  <p:stCondLst>
                                    <p:cond delay="0"/>
                                  </p:stCondLst>
                                  <p:childTnLst>
                                    <p:set>
                                      <p:cBhvr>
                                        <p:cTn id="294" dur="1" fill="hold">
                                          <p:stCondLst>
                                            <p:cond delay="0"/>
                                          </p:stCondLst>
                                        </p:cTn>
                                        <p:tgtEl>
                                          <p:spTgt spid="368722"/>
                                        </p:tgtEl>
                                        <p:attrNameLst>
                                          <p:attrName>style.visibility</p:attrName>
                                        </p:attrNameLst>
                                      </p:cBhvr>
                                      <p:to>
                                        <p:strVal val="visible"/>
                                      </p:to>
                                    </p:set>
                                    <p:animEffect transition="in" filter="wipe(right)">
                                      <p:cBhvr>
                                        <p:cTn id="295" dur="500"/>
                                        <p:tgtEl>
                                          <p:spTgt spid="368722"/>
                                        </p:tgtEl>
                                      </p:cBhvr>
                                    </p:animEffect>
                                  </p:childTnLst>
                                </p:cTn>
                              </p:par>
                            </p:childTnLst>
                          </p:cTn>
                        </p:par>
                        <p:par>
                          <p:cTn id="296" fill="hold">
                            <p:stCondLst>
                              <p:cond delay="14000"/>
                            </p:stCondLst>
                            <p:childTnLst>
                              <p:par>
                                <p:cTn id="297" presetID="1" presetClass="entr" presetSubtype="0" fill="hold" grpId="0" nodeType="afterEffect">
                                  <p:stCondLst>
                                    <p:cond delay="0"/>
                                  </p:stCondLst>
                                  <p:childTnLst>
                                    <p:set>
                                      <p:cBhvr>
                                        <p:cTn id="298" dur="1" fill="hold">
                                          <p:stCondLst>
                                            <p:cond delay="499"/>
                                          </p:stCondLst>
                                        </p:cTn>
                                        <p:tgtEl>
                                          <p:spTgt spid="368805"/>
                                        </p:tgtEl>
                                        <p:attrNameLst>
                                          <p:attrName>style.visibility</p:attrName>
                                        </p:attrNameLst>
                                      </p:cBhvr>
                                      <p:to>
                                        <p:strVal val="visible"/>
                                      </p:to>
                                    </p:set>
                                  </p:childTnLst>
                                </p:cTn>
                              </p:par>
                            </p:childTnLst>
                          </p:cTn>
                        </p:par>
                        <p:par>
                          <p:cTn id="299" fill="hold">
                            <p:stCondLst>
                              <p:cond delay="14500"/>
                            </p:stCondLst>
                            <p:childTnLst>
                              <p:par>
                                <p:cTn id="300" presetID="22" presetClass="entr" presetSubtype="8" fill="hold" grpId="0" nodeType="afterEffect">
                                  <p:stCondLst>
                                    <p:cond delay="0"/>
                                  </p:stCondLst>
                                  <p:childTnLst>
                                    <p:set>
                                      <p:cBhvr>
                                        <p:cTn id="301" dur="1" fill="hold">
                                          <p:stCondLst>
                                            <p:cond delay="0"/>
                                          </p:stCondLst>
                                        </p:cTn>
                                        <p:tgtEl>
                                          <p:spTgt spid="368723"/>
                                        </p:tgtEl>
                                        <p:attrNameLst>
                                          <p:attrName>style.visibility</p:attrName>
                                        </p:attrNameLst>
                                      </p:cBhvr>
                                      <p:to>
                                        <p:strVal val="visible"/>
                                      </p:to>
                                    </p:set>
                                    <p:animEffect transition="in" filter="wipe(left)">
                                      <p:cBhvr>
                                        <p:cTn id="302" dur="500"/>
                                        <p:tgtEl>
                                          <p:spTgt spid="368723"/>
                                        </p:tgtEl>
                                      </p:cBhvr>
                                    </p:animEffect>
                                  </p:childTnLst>
                                </p:cTn>
                              </p:par>
                            </p:childTnLst>
                          </p:cTn>
                        </p:par>
                        <p:par>
                          <p:cTn id="303" fill="hold">
                            <p:stCondLst>
                              <p:cond delay="15000"/>
                            </p:stCondLst>
                            <p:childTnLst>
                              <p:par>
                                <p:cTn id="304" presetID="1" presetClass="entr" presetSubtype="0" fill="hold" grpId="0" nodeType="afterEffect">
                                  <p:stCondLst>
                                    <p:cond delay="0"/>
                                  </p:stCondLst>
                                  <p:childTnLst>
                                    <p:set>
                                      <p:cBhvr>
                                        <p:cTn id="305" dur="1" fill="hold">
                                          <p:stCondLst>
                                            <p:cond delay="499"/>
                                          </p:stCondLst>
                                        </p:cTn>
                                        <p:tgtEl>
                                          <p:spTgt spid="368807"/>
                                        </p:tgtEl>
                                        <p:attrNameLst>
                                          <p:attrName>style.visibility</p:attrName>
                                        </p:attrNameLst>
                                      </p:cBhvr>
                                      <p:to>
                                        <p:strVal val="visible"/>
                                      </p:to>
                                    </p:set>
                                  </p:childTnLst>
                                </p:cTn>
                              </p:par>
                            </p:childTnLst>
                          </p:cTn>
                        </p:par>
                        <p:par>
                          <p:cTn id="306" fill="hold">
                            <p:stCondLst>
                              <p:cond delay="15500"/>
                            </p:stCondLst>
                            <p:childTnLst>
                              <p:par>
                                <p:cTn id="307" presetID="22" presetClass="entr" presetSubtype="4" fill="hold" grpId="0" nodeType="afterEffect">
                                  <p:stCondLst>
                                    <p:cond delay="0"/>
                                  </p:stCondLst>
                                  <p:childTnLst>
                                    <p:set>
                                      <p:cBhvr>
                                        <p:cTn id="308" dur="1" fill="hold">
                                          <p:stCondLst>
                                            <p:cond delay="0"/>
                                          </p:stCondLst>
                                        </p:cTn>
                                        <p:tgtEl>
                                          <p:spTgt spid="368724"/>
                                        </p:tgtEl>
                                        <p:attrNameLst>
                                          <p:attrName>style.visibility</p:attrName>
                                        </p:attrNameLst>
                                      </p:cBhvr>
                                      <p:to>
                                        <p:strVal val="visible"/>
                                      </p:to>
                                    </p:set>
                                    <p:animEffect transition="in" filter="wipe(down)">
                                      <p:cBhvr>
                                        <p:cTn id="309" dur="500"/>
                                        <p:tgtEl>
                                          <p:spTgt spid="368724"/>
                                        </p:tgtEl>
                                      </p:cBhvr>
                                    </p:animEffect>
                                  </p:childTnLst>
                                </p:cTn>
                              </p:par>
                            </p:childTnLst>
                          </p:cTn>
                        </p:par>
                        <p:par>
                          <p:cTn id="310" fill="hold">
                            <p:stCondLst>
                              <p:cond delay="16000"/>
                            </p:stCondLst>
                            <p:childTnLst>
                              <p:par>
                                <p:cTn id="311" presetID="1" presetClass="entr" presetSubtype="0" fill="hold" grpId="0" nodeType="afterEffect">
                                  <p:stCondLst>
                                    <p:cond delay="0"/>
                                  </p:stCondLst>
                                  <p:childTnLst>
                                    <p:set>
                                      <p:cBhvr>
                                        <p:cTn id="312" dur="1" fill="hold">
                                          <p:stCondLst>
                                            <p:cond delay="499"/>
                                          </p:stCondLst>
                                        </p:cTn>
                                        <p:tgtEl>
                                          <p:spTgt spid="368806"/>
                                        </p:tgtEl>
                                        <p:attrNameLst>
                                          <p:attrName>style.visibility</p:attrName>
                                        </p:attrNameLst>
                                      </p:cBhvr>
                                      <p:to>
                                        <p:strVal val="visible"/>
                                      </p:to>
                                    </p:set>
                                  </p:childTnLst>
                                </p:cTn>
                              </p:par>
                            </p:childTnLst>
                          </p:cTn>
                        </p:par>
                        <p:par>
                          <p:cTn id="313" fill="hold">
                            <p:stCondLst>
                              <p:cond delay="16500"/>
                            </p:stCondLst>
                            <p:childTnLst>
                              <p:par>
                                <p:cTn id="314" presetID="22" presetClass="entr" presetSubtype="2" fill="hold" grpId="0" nodeType="afterEffect">
                                  <p:stCondLst>
                                    <p:cond delay="0"/>
                                  </p:stCondLst>
                                  <p:childTnLst>
                                    <p:set>
                                      <p:cBhvr>
                                        <p:cTn id="315" dur="1" fill="hold">
                                          <p:stCondLst>
                                            <p:cond delay="0"/>
                                          </p:stCondLst>
                                        </p:cTn>
                                        <p:tgtEl>
                                          <p:spTgt spid="368725"/>
                                        </p:tgtEl>
                                        <p:attrNameLst>
                                          <p:attrName>style.visibility</p:attrName>
                                        </p:attrNameLst>
                                      </p:cBhvr>
                                      <p:to>
                                        <p:strVal val="visible"/>
                                      </p:to>
                                    </p:set>
                                    <p:animEffect transition="in" filter="wipe(right)">
                                      <p:cBhvr>
                                        <p:cTn id="316" dur="500"/>
                                        <p:tgtEl>
                                          <p:spTgt spid="368725"/>
                                        </p:tgtEl>
                                      </p:cBhvr>
                                    </p:animEffect>
                                  </p:childTnLst>
                                </p:cTn>
                              </p:par>
                            </p:childTnLst>
                          </p:cTn>
                        </p:par>
                        <p:par>
                          <p:cTn id="317" fill="hold">
                            <p:stCondLst>
                              <p:cond delay="17000"/>
                            </p:stCondLst>
                            <p:childTnLst>
                              <p:par>
                                <p:cTn id="318" presetID="1" presetClass="entr" presetSubtype="0" fill="hold" grpId="0" nodeType="afterEffect">
                                  <p:stCondLst>
                                    <p:cond delay="0"/>
                                  </p:stCondLst>
                                  <p:childTnLst>
                                    <p:set>
                                      <p:cBhvr>
                                        <p:cTn id="319" dur="1" fill="hold">
                                          <p:stCondLst>
                                            <p:cond delay="499"/>
                                          </p:stCondLst>
                                        </p:cTn>
                                        <p:tgtEl>
                                          <p:spTgt spid="368808"/>
                                        </p:tgtEl>
                                        <p:attrNameLst>
                                          <p:attrName>style.visibility</p:attrName>
                                        </p:attrNameLst>
                                      </p:cBhvr>
                                      <p:to>
                                        <p:strVal val="visible"/>
                                      </p:to>
                                    </p:set>
                                  </p:childTnLst>
                                </p:cTn>
                              </p:par>
                            </p:childTnLst>
                          </p:cTn>
                        </p:par>
                        <p:par>
                          <p:cTn id="320" fill="hold">
                            <p:stCondLst>
                              <p:cond delay="17500"/>
                            </p:stCondLst>
                            <p:childTnLst>
                              <p:par>
                                <p:cTn id="321" presetID="22" presetClass="entr" presetSubtype="1" fill="hold" grpId="0" nodeType="afterEffect">
                                  <p:stCondLst>
                                    <p:cond delay="0"/>
                                  </p:stCondLst>
                                  <p:childTnLst>
                                    <p:set>
                                      <p:cBhvr>
                                        <p:cTn id="322" dur="1" fill="hold">
                                          <p:stCondLst>
                                            <p:cond delay="0"/>
                                          </p:stCondLst>
                                        </p:cTn>
                                        <p:tgtEl>
                                          <p:spTgt spid="368726"/>
                                        </p:tgtEl>
                                        <p:attrNameLst>
                                          <p:attrName>style.visibility</p:attrName>
                                        </p:attrNameLst>
                                      </p:cBhvr>
                                      <p:to>
                                        <p:strVal val="visible"/>
                                      </p:to>
                                    </p:set>
                                    <p:animEffect transition="in" filter="wipe(up)">
                                      <p:cBhvr>
                                        <p:cTn id="323" dur="500"/>
                                        <p:tgtEl>
                                          <p:spTgt spid="368726"/>
                                        </p:tgtEl>
                                      </p:cBhvr>
                                    </p:animEffect>
                                  </p:childTnLst>
                                </p:cTn>
                              </p:par>
                            </p:childTnLst>
                          </p:cTn>
                        </p:par>
                        <p:par>
                          <p:cTn id="324" fill="hold">
                            <p:stCondLst>
                              <p:cond delay="18000"/>
                            </p:stCondLst>
                            <p:childTnLst>
                              <p:par>
                                <p:cTn id="325" presetID="1" presetClass="entr" presetSubtype="0" fill="hold" grpId="0" nodeType="afterEffect">
                                  <p:stCondLst>
                                    <p:cond delay="0"/>
                                  </p:stCondLst>
                                  <p:childTnLst>
                                    <p:set>
                                      <p:cBhvr>
                                        <p:cTn id="326" dur="1" fill="hold">
                                          <p:stCondLst>
                                            <p:cond delay="499"/>
                                          </p:stCondLst>
                                        </p:cTn>
                                        <p:tgtEl>
                                          <p:spTgt spid="368809"/>
                                        </p:tgtEl>
                                        <p:attrNameLst>
                                          <p:attrName>style.visibility</p:attrName>
                                        </p:attrNameLst>
                                      </p:cBhvr>
                                      <p:to>
                                        <p:strVal val="visible"/>
                                      </p:to>
                                    </p:set>
                                  </p:childTnLst>
                                </p:cTn>
                              </p:par>
                            </p:childTnLst>
                          </p:cTn>
                        </p:par>
                        <p:par>
                          <p:cTn id="327" fill="hold">
                            <p:stCondLst>
                              <p:cond delay="18500"/>
                            </p:stCondLst>
                            <p:childTnLst>
                              <p:par>
                                <p:cTn id="328" presetID="22" presetClass="entr" presetSubtype="8" fill="hold" grpId="0" nodeType="afterEffect">
                                  <p:stCondLst>
                                    <p:cond delay="0"/>
                                  </p:stCondLst>
                                  <p:childTnLst>
                                    <p:set>
                                      <p:cBhvr>
                                        <p:cTn id="329" dur="1" fill="hold">
                                          <p:stCondLst>
                                            <p:cond delay="0"/>
                                          </p:stCondLst>
                                        </p:cTn>
                                        <p:tgtEl>
                                          <p:spTgt spid="368727"/>
                                        </p:tgtEl>
                                        <p:attrNameLst>
                                          <p:attrName>style.visibility</p:attrName>
                                        </p:attrNameLst>
                                      </p:cBhvr>
                                      <p:to>
                                        <p:strVal val="visible"/>
                                      </p:to>
                                    </p:set>
                                    <p:animEffect transition="in" filter="wipe(left)">
                                      <p:cBhvr>
                                        <p:cTn id="330" dur="500"/>
                                        <p:tgtEl>
                                          <p:spTgt spid="368727"/>
                                        </p:tgtEl>
                                      </p:cBhvr>
                                    </p:animEffect>
                                  </p:childTnLst>
                                </p:cTn>
                              </p:par>
                            </p:childTnLst>
                          </p:cTn>
                        </p:par>
                        <p:par>
                          <p:cTn id="331" fill="hold">
                            <p:stCondLst>
                              <p:cond delay="19000"/>
                            </p:stCondLst>
                            <p:childTnLst>
                              <p:par>
                                <p:cTn id="332" presetID="1" presetClass="entr" presetSubtype="0" fill="hold" grpId="0" nodeType="afterEffect">
                                  <p:stCondLst>
                                    <p:cond delay="0"/>
                                  </p:stCondLst>
                                  <p:childTnLst>
                                    <p:set>
                                      <p:cBhvr>
                                        <p:cTn id="333" dur="1" fill="hold">
                                          <p:stCondLst>
                                            <p:cond delay="499"/>
                                          </p:stCondLst>
                                        </p:cTn>
                                        <p:tgtEl>
                                          <p:spTgt spid="368810"/>
                                        </p:tgtEl>
                                        <p:attrNameLst>
                                          <p:attrName>style.visibility</p:attrName>
                                        </p:attrNameLst>
                                      </p:cBhvr>
                                      <p:to>
                                        <p:strVal val="visible"/>
                                      </p:to>
                                    </p:set>
                                  </p:childTnLst>
                                </p:cTn>
                              </p:par>
                            </p:childTnLst>
                          </p:cTn>
                        </p:par>
                        <p:par>
                          <p:cTn id="334" fill="hold">
                            <p:stCondLst>
                              <p:cond delay="19500"/>
                            </p:stCondLst>
                            <p:childTnLst>
                              <p:par>
                                <p:cTn id="335" presetID="22" presetClass="entr" presetSubtype="1" fill="hold" grpId="0" nodeType="afterEffect">
                                  <p:stCondLst>
                                    <p:cond delay="0"/>
                                  </p:stCondLst>
                                  <p:childTnLst>
                                    <p:set>
                                      <p:cBhvr>
                                        <p:cTn id="336" dur="1" fill="hold">
                                          <p:stCondLst>
                                            <p:cond delay="0"/>
                                          </p:stCondLst>
                                        </p:cTn>
                                        <p:tgtEl>
                                          <p:spTgt spid="368728"/>
                                        </p:tgtEl>
                                        <p:attrNameLst>
                                          <p:attrName>style.visibility</p:attrName>
                                        </p:attrNameLst>
                                      </p:cBhvr>
                                      <p:to>
                                        <p:strVal val="visible"/>
                                      </p:to>
                                    </p:set>
                                    <p:animEffect transition="in" filter="wipe(up)">
                                      <p:cBhvr>
                                        <p:cTn id="337" dur="500"/>
                                        <p:tgtEl>
                                          <p:spTgt spid="368728"/>
                                        </p:tgtEl>
                                      </p:cBhvr>
                                    </p:animEffect>
                                  </p:childTnLst>
                                </p:cTn>
                              </p:par>
                            </p:childTnLst>
                          </p:cTn>
                        </p:par>
                        <p:par>
                          <p:cTn id="338" fill="hold">
                            <p:stCondLst>
                              <p:cond delay="20000"/>
                            </p:stCondLst>
                            <p:childTnLst>
                              <p:par>
                                <p:cTn id="339" presetID="1" presetClass="entr" presetSubtype="0" fill="hold" grpId="0" nodeType="afterEffect">
                                  <p:stCondLst>
                                    <p:cond delay="0"/>
                                  </p:stCondLst>
                                  <p:childTnLst>
                                    <p:set>
                                      <p:cBhvr>
                                        <p:cTn id="340" dur="1" fill="hold">
                                          <p:stCondLst>
                                            <p:cond delay="499"/>
                                          </p:stCondLst>
                                        </p:cTn>
                                        <p:tgtEl>
                                          <p:spTgt spid="368811"/>
                                        </p:tgtEl>
                                        <p:attrNameLst>
                                          <p:attrName>style.visibility</p:attrName>
                                        </p:attrNameLst>
                                      </p:cBhvr>
                                      <p:to>
                                        <p:strVal val="visible"/>
                                      </p:to>
                                    </p:set>
                                  </p:childTnLst>
                                </p:cTn>
                              </p:par>
                            </p:childTnLst>
                          </p:cTn>
                        </p:par>
                        <p:par>
                          <p:cTn id="341" fill="hold">
                            <p:stCondLst>
                              <p:cond delay="20500"/>
                            </p:stCondLst>
                            <p:childTnLst>
                              <p:par>
                                <p:cTn id="342" presetID="22" presetClass="entr" presetSubtype="4" fill="hold" grpId="0" nodeType="afterEffect">
                                  <p:stCondLst>
                                    <p:cond delay="0"/>
                                  </p:stCondLst>
                                  <p:childTnLst>
                                    <p:set>
                                      <p:cBhvr>
                                        <p:cTn id="343" dur="1" fill="hold">
                                          <p:stCondLst>
                                            <p:cond delay="0"/>
                                          </p:stCondLst>
                                        </p:cTn>
                                        <p:tgtEl>
                                          <p:spTgt spid="368729"/>
                                        </p:tgtEl>
                                        <p:attrNameLst>
                                          <p:attrName>style.visibility</p:attrName>
                                        </p:attrNameLst>
                                      </p:cBhvr>
                                      <p:to>
                                        <p:strVal val="visible"/>
                                      </p:to>
                                    </p:set>
                                    <p:animEffect transition="in" filter="wipe(down)">
                                      <p:cBhvr>
                                        <p:cTn id="344" dur="500"/>
                                        <p:tgtEl>
                                          <p:spTgt spid="368729"/>
                                        </p:tgtEl>
                                      </p:cBhvr>
                                    </p:animEffect>
                                  </p:childTnLst>
                                </p:cTn>
                              </p:par>
                            </p:childTnLst>
                          </p:cTn>
                        </p:par>
                        <p:par>
                          <p:cTn id="345" fill="hold">
                            <p:stCondLst>
                              <p:cond delay="21000"/>
                            </p:stCondLst>
                            <p:childTnLst>
                              <p:par>
                                <p:cTn id="346" presetID="1" presetClass="entr" presetSubtype="0" fill="hold" grpId="0" nodeType="afterEffect">
                                  <p:stCondLst>
                                    <p:cond delay="0"/>
                                  </p:stCondLst>
                                  <p:childTnLst>
                                    <p:set>
                                      <p:cBhvr>
                                        <p:cTn id="347" dur="1" fill="hold">
                                          <p:stCondLst>
                                            <p:cond delay="499"/>
                                          </p:stCondLst>
                                        </p:cTn>
                                        <p:tgtEl>
                                          <p:spTgt spid="368812"/>
                                        </p:tgtEl>
                                        <p:attrNameLst>
                                          <p:attrName>style.visibility</p:attrName>
                                        </p:attrNameLst>
                                      </p:cBhvr>
                                      <p:to>
                                        <p:strVal val="visible"/>
                                      </p:to>
                                    </p:set>
                                  </p:childTnLst>
                                </p:cTn>
                              </p:par>
                            </p:childTnLst>
                          </p:cTn>
                        </p:par>
                      </p:childTnLst>
                    </p:cTn>
                  </p:par>
                  <p:par>
                    <p:cTn id="348" fill="hold">
                      <p:stCondLst>
                        <p:cond delay="indefinite"/>
                      </p:stCondLst>
                      <p:childTnLst>
                        <p:par>
                          <p:cTn id="349" fill="hold">
                            <p:stCondLst>
                              <p:cond delay="0"/>
                            </p:stCondLst>
                            <p:childTnLst>
                              <p:par>
                                <p:cTn id="350" presetID="1" presetClass="entr" presetSubtype="0" fill="hold" grpId="0" nodeType="clickEffect">
                                  <p:stCondLst>
                                    <p:cond delay="0"/>
                                  </p:stCondLst>
                                  <p:childTnLst>
                                    <p:set>
                                      <p:cBhvr>
                                        <p:cTn id="351" dur="1" fill="hold">
                                          <p:stCondLst>
                                            <p:cond delay="499"/>
                                          </p:stCondLst>
                                        </p:cTn>
                                        <p:tgtEl>
                                          <p:spTgt spid="368815"/>
                                        </p:tgtEl>
                                        <p:attrNameLst>
                                          <p:attrName>style.visibility</p:attrName>
                                        </p:attrNameLst>
                                      </p:cBhvr>
                                      <p:to>
                                        <p:strVal val="visible"/>
                                      </p:to>
                                    </p:set>
                                  </p:childTnLst>
                                </p:cTn>
                              </p:par>
                            </p:childTnLst>
                          </p:cTn>
                        </p:par>
                        <p:par>
                          <p:cTn id="352" fill="hold">
                            <p:stCondLst>
                              <p:cond delay="500"/>
                            </p:stCondLst>
                            <p:childTnLst>
                              <p:par>
                                <p:cTn id="353" presetID="22" presetClass="entr" presetSubtype="1" fill="hold" grpId="0" nodeType="afterEffect">
                                  <p:stCondLst>
                                    <p:cond delay="0"/>
                                  </p:stCondLst>
                                  <p:childTnLst>
                                    <p:set>
                                      <p:cBhvr>
                                        <p:cTn id="354" dur="1" fill="hold">
                                          <p:stCondLst>
                                            <p:cond delay="0"/>
                                          </p:stCondLst>
                                        </p:cTn>
                                        <p:tgtEl>
                                          <p:spTgt spid="368714"/>
                                        </p:tgtEl>
                                        <p:attrNameLst>
                                          <p:attrName>style.visibility</p:attrName>
                                        </p:attrNameLst>
                                      </p:cBhvr>
                                      <p:to>
                                        <p:strVal val="visible"/>
                                      </p:to>
                                    </p:set>
                                    <p:animEffect transition="in" filter="wipe(up)">
                                      <p:cBhvr>
                                        <p:cTn id="355" dur="500"/>
                                        <p:tgtEl>
                                          <p:spTgt spid="368714"/>
                                        </p:tgtEl>
                                      </p:cBhvr>
                                    </p:animEffect>
                                  </p:childTnLst>
                                </p:cTn>
                              </p:par>
                            </p:childTnLst>
                          </p:cTn>
                        </p:par>
                        <p:par>
                          <p:cTn id="356" fill="hold">
                            <p:stCondLst>
                              <p:cond delay="1000"/>
                            </p:stCondLst>
                            <p:childTnLst>
                              <p:par>
                                <p:cTn id="357" presetID="1" presetClass="entr" presetSubtype="0" fill="hold" grpId="0" nodeType="afterEffect">
                                  <p:stCondLst>
                                    <p:cond delay="0"/>
                                  </p:stCondLst>
                                  <p:childTnLst>
                                    <p:set>
                                      <p:cBhvr>
                                        <p:cTn id="358" dur="1" fill="hold">
                                          <p:stCondLst>
                                            <p:cond delay="499"/>
                                          </p:stCondLst>
                                        </p:cTn>
                                        <p:tgtEl>
                                          <p:spTgt spid="368816"/>
                                        </p:tgtEl>
                                        <p:attrNameLst>
                                          <p:attrName>style.visibility</p:attrName>
                                        </p:attrNameLst>
                                      </p:cBhvr>
                                      <p:to>
                                        <p:strVal val="visible"/>
                                      </p:to>
                                    </p:set>
                                  </p:childTnLst>
                                </p:cTn>
                              </p:par>
                            </p:childTnLst>
                          </p:cTn>
                        </p:par>
                        <p:par>
                          <p:cTn id="359" fill="hold">
                            <p:stCondLst>
                              <p:cond delay="1500"/>
                            </p:stCondLst>
                            <p:childTnLst>
                              <p:par>
                                <p:cTn id="360" presetID="22" presetClass="entr" presetSubtype="1" fill="hold" grpId="0" nodeType="afterEffect">
                                  <p:stCondLst>
                                    <p:cond delay="0"/>
                                  </p:stCondLst>
                                  <p:childTnLst>
                                    <p:set>
                                      <p:cBhvr>
                                        <p:cTn id="361" dur="1" fill="hold">
                                          <p:stCondLst>
                                            <p:cond delay="0"/>
                                          </p:stCondLst>
                                        </p:cTn>
                                        <p:tgtEl>
                                          <p:spTgt spid="368715"/>
                                        </p:tgtEl>
                                        <p:attrNameLst>
                                          <p:attrName>style.visibility</p:attrName>
                                        </p:attrNameLst>
                                      </p:cBhvr>
                                      <p:to>
                                        <p:strVal val="visible"/>
                                      </p:to>
                                    </p:set>
                                    <p:animEffect transition="in" filter="wipe(up)">
                                      <p:cBhvr>
                                        <p:cTn id="362" dur="500"/>
                                        <p:tgtEl>
                                          <p:spTgt spid="368715"/>
                                        </p:tgtEl>
                                      </p:cBhvr>
                                    </p:animEffect>
                                  </p:childTnLst>
                                </p:cTn>
                              </p:par>
                            </p:childTnLst>
                          </p:cTn>
                        </p:par>
                        <p:par>
                          <p:cTn id="363" fill="hold">
                            <p:stCondLst>
                              <p:cond delay="2000"/>
                            </p:stCondLst>
                            <p:childTnLst>
                              <p:par>
                                <p:cTn id="364" presetID="1" presetClass="entr" presetSubtype="0" fill="hold" grpId="0" nodeType="afterEffect">
                                  <p:stCondLst>
                                    <p:cond delay="0"/>
                                  </p:stCondLst>
                                  <p:childTnLst>
                                    <p:set>
                                      <p:cBhvr>
                                        <p:cTn id="365" dur="1" fill="hold">
                                          <p:stCondLst>
                                            <p:cond delay="499"/>
                                          </p:stCondLst>
                                        </p:cTn>
                                        <p:tgtEl>
                                          <p:spTgt spid="368817"/>
                                        </p:tgtEl>
                                        <p:attrNameLst>
                                          <p:attrName>style.visibility</p:attrName>
                                        </p:attrNameLst>
                                      </p:cBhvr>
                                      <p:to>
                                        <p:strVal val="visible"/>
                                      </p:to>
                                    </p:set>
                                  </p:childTnLst>
                                </p:cTn>
                              </p:par>
                            </p:childTnLst>
                          </p:cTn>
                        </p:par>
                        <p:par>
                          <p:cTn id="366" fill="hold">
                            <p:stCondLst>
                              <p:cond delay="2500"/>
                            </p:stCondLst>
                            <p:childTnLst>
                              <p:par>
                                <p:cTn id="367" presetID="22" presetClass="entr" presetSubtype="1" fill="hold" grpId="0" nodeType="afterEffect">
                                  <p:stCondLst>
                                    <p:cond delay="0"/>
                                  </p:stCondLst>
                                  <p:childTnLst>
                                    <p:set>
                                      <p:cBhvr>
                                        <p:cTn id="368" dur="1" fill="hold">
                                          <p:stCondLst>
                                            <p:cond delay="0"/>
                                          </p:stCondLst>
                                        </p:cTn>
                                        <p:tgtEl>
                                          <p:spTgt spid="368716"/>
                                        </p:tgtEl>
                                        <p:attrNameLst>
                                          <p:attrName>style.visibility</p:attrName>
                                        </p:attrNameLst>
                                      </p:cBhvr>
                                      <p:to>
                                        <p:strVal val="visible"/>
                                      </p:to>
                                    </p:set>
                                    <p:animEffect transition="in" filter="wipe(up)">
                                      <p:cBhvr>
                                        <p:cTn id="369" dur="500"/>
                                        <p:tgtEl>
                                          <p:spTgt spid="368716"/>
                                        </p:tgtEl>
                                      </p:cBhvr>
                                    </p:animEffect>
                                  </p:childTnLst>
                                </p:cTn>
                              </p:par>
                            </p:childTnLst>
                          </p:cTn>
                        </p:par>
                        <p:par>
                          <p:cTn id="370" fill="hold">
                            <p:stCondLst>
                              <p:cond delay="3000"/>
                            </p:stCondLst>
                            <p:childTnLst>
                              <p:par>
                                <p:cTn id="371" presetID="1" presetClass="entr" presetSubtype="0" fill="hold" grpId="0" nodeType="afterEffect">
                                  <p:stCondLst>
                                    <p:cond delay="0"/>
                                  </p:stCondLst>
                                  <p:childTnLst>
                                    <p:set>
                                      <p:cBhvr>
                                        <p:cTn id="372" dur="1" fill="hold">
                                          <p:stCondLst>
                                            <p:cond delay="499"/>
                                          </p:stCondLst>
                                        </p:cTn>
                                        <p:tgtEl>
                                          <p:spTgt spid="368818"/>
                                        </p:tgtEl>
                                        <p:attrNameLst>
                                          <p:attrName>style.visibility</p:attrName>
                                        </p:attrNameLst>
                                      </p:cBhvr>
                                      <p:to>
                                        <p:strVal val="visible"/>
                                      </p:to>
                                    </p:set>
                                  </p:childTnLst>
                                </p:cTn>
                              </p:par>
                            </p:childTnLst>
                          </p:cTn>
                        </p:par>
                        <p:par>
                          <p:cTn id="373" fill="hold">
                            <p:stCondLst>
                              <p:cond delay="3500"/>
                            </p:stCondLst>
                            <p:childTnLst>
                              <p:par>
                                <p:cTn id="374" presetID="22" presetClass="entr" presetSubtype="1" fill="hold" grpId="0" nodeType="afterEffect">
                                  <p:stCondLst>
                                    <p:cond delay="0"/>
                                  </p:stCondLst>
                                  <p:childTnLst>
                                    <p:set>
                                      <p:cBhvr>
                                        <p:cTn id="375" dur="1" fill="hold">
                                          <p:stCondLst>
                                            <p:cond delay="0"/>
                                          </p:stCondLst>
                                        </p:cTn>
                                        <p:tgtEl>
                                          <p:spTgt spid="368717"/>
                                        </p:tgtEl>
                                        <p:attrNameLst>
                                          <p:attrName>style.visibility</p:attrName>
                                        </p:attrNameLst>
                                      </p:cBhvr>
                                      <p:to>
                                        <p:strVal val="visible"/>
                                      </p:to>
                                    </p:set>
                                    <p:animEffect transition="in" filter="wipe(up)">
                                      <p:cBhvr>
                                        <p:cTn id="376" dur="500"/>
                                        <p:tgtEl>
                                          <p:spTgt spid="368717"/>
                                        </p:tgtEl>
                                      </p:cBhvr>
                                    </p:animEffect>
                                  </p:childTnLst>
                                </p:cTn>
                              </p:par>
                            </p:childTnLst>
                          </p:cTn>
                        </p:par>
                        <p:par>
                          <p:cTn id="377" fill="hold">
                            <p:stCondLst>
                              <p:cond delay="4000"/>
                            </p:stCondLst>
                            <p:childTnLst>
                              <p:par>
                                <p:cTn id="378" presetID="1" presetClass="entr" presetSubtype="0" fill="hold" grpId="0" nodeType="afterEffect">
                                  <p:stCondLst>
                                    <p:cond delay="0"/>
                                  </p:stCondLst>
                                  <p:childTnLst>
                                    <p:set>
                                      <p:cBhvr>
                                        <p:cTn id="379" dur="1" fill="hold">
                                          <p:stCondLst>
                                            <p:cond delay="499"/>
                                          </p:stCondLst>
                                        </p:cTn>
                                        <p:tgtEl>
                                          <p:spTgt spid="368819"/>
                                        </p:tgtEl>
                                        <p:attrNameLst>
                                          <p:attrName>style.visibility</p:attrName>
                                        </p:attrNameLst>
                                      </p:cBhvr>
                                      <p:to>
                                        <p:strVal val="visible"/>
                                      </p:to>
                                    </p:set>
                                  </p:childTnLst>
                                </p:cTn>
                              </p:par>
                            </p:childTnLst>
                          </p:cTn>
                        </p:par>
                        <p:par>
                          <p:cTn id="380" fill="hold">
                            <p:stCondLst>
                              <p:cond delay="4500"/>
                            </p:stCondLst>
                            <p:childTnLst>
                              <p:par>
                                <p:cTn id="381" presetID="22" presetClass="entr" presetSubtype="4" fill="hold" grpId="0" nodeType="afterEffect">
                                  <p:stCondLst>
                                    <p:cond delay="0"/>
                                  </p:stCondLst>
                                  <p:childTnLst>
                                    <p:set>
                                      <p:cBhvr>
                                        <p:cTn id="382" dur="1" fill="hold">
                                          <p:stCondLst>
                                            <p:cond delay="0"/>
                                          </p:stCondLst>
                                        </p:cTn>
                                        <p:tgtEl>
                                          <p:spTgt spid="368718"/>
                                        </p:tgtEl>
                                        <p:attrNameLst>
                                          <p:attrName>style.visibility</p:attrName>
                                        </p:attrNameLst>
                                      </p:cBhvr>
                                      <p:to>
                                        <p:strVal val="visible"/>
                                      </p:to>
                                    </p:set>
                                    <p:animEffect transition="in" filter="wipe(down)">
                                      <p:cBhvr>
                                        <p:cTn id="383" dur="500"/>
                                        <p:tgtEl>
                                          <p:spTgt spid="368718"/>
                                        </p:tgtEl>
                                      </p:cBhvr>
                                    </p:animEffect>
                                  </p:childTnLst>
                                </p:cTn>
                              </p:par>
                            </p:childTnLst>
                          </p:cTn>
                        </p:par>
                        <p:par>
                          <p:cTn id="384" fill="hold">
                            <p:stCondLst>
                              <p:cond delay="5000"/>
                            </p:stCondLst>
                            <p:childTnLst>
                              <p:par>
                                <p:cTn id="385" presetID="1" presetClass="entr" presetSubtype="0" fill="hold" grpId="0" nodeType="afterEffect">
                                  <p:stCondLst>
                                    <p:cond delay="0"/>
                                  </p:stCondLst>
                                  <p:childTnLst>
                                    <p:set>
                                      <p:cBhvr>
                                        <p:cTn id="386" dur="1" fill="hold">
                                          <p:stCondLst>
                                            <p:cond delay="499"/>
                                          </p:stCondLst>
                                        </p:cTn>
                                        <p:tgtEl>
                                          <p:spTgt spid="368820"/>
                                        </p:tgtEl>
                                        <p:attrNameLst>
                                          <p:attrName>style.visibility</p:attrName>
                                        </p:attrNameLst>
                                      </p:cBhvr>
                                      <p:to>
                                        <p:strVal val="visible"/>
                                      </p:to>
                                    </p:set>
                                  </p:childTnLst>
                                </p:cTn>
                              </p:par>
                            </p:childTnLst>
                          </p:cTn>
                        </p:par>
                        <p:par>
                          <p:cTn id="387" fill="hold">
                            <p:stCondLst>
                              <p:cond delay="5500"/>
                            </p:stCondLst>
                            <p:childTnLst>
                              <p:par>
                                <p:cTn id="388" presetID="22" presetClass="entr" presetSubtype="1" fill="hold" grpId="0" nodeType="afterEffect">
                                  <p:stCondLst>
                                    <p:cond delay="0"/>
                                  </p:stCondLst>
                                  <p:childTnLst>
                                    <p:set>
                                      <p:cBhvr>
                                        <p:cTn id="389" dur="1" fill="hold">
                                          <p:stCondLst>
                                            <p:cond delay="0"/>
                                          </p:stCondLst>
                                        </p:cTn>
                                        <p:tgtEl>
                                          <p:spTgt spid="368719"/>
                                        </p:tgtEl>
                                        <p:attrNameLst>
                                          <p:attrName>style.visibility</p:attrName>
                                        </p:attrNameLst>
                                      </p:cBhvr>
                                      <p:to>
                                        <p:strVal val="visible"/>
                                      </p:to>
                                    </p:set>
                                    <p:animEffect transition="in" filter="wipe(up)">
                                      <p:cBhvr>
                                        <p:cTn id="390" dur="500"/>
                                        <p:tgtEl>
                                          <p:spTgt spid="368719"/>
                                        </p:tgtEl>
                                      </p:cBhvr>
                                    </p:animEffect>
                                  </p:childTnLst>
                                </p:cTn>
                              </p:par>
                            </p:childTnLst>
                          </p:cTn>
                        </p:par>
                        <p:par>
                          <p:cTn id="391" fill="hold">
                            <p:stCondLst>
                              <p:cond delay="6000"/>
                            </p:stCondLst>
                            <p:childTnLst>
                              <p:par>
                                <p:cTn id="392" presetID="1" presetClass="entr" presetSubtype="0" fill="hold" grpId="0" nodeType="afterEffect">
                                  <p:stCondLst>
                                    <p:cond delay="0"/>
                                  </p:stCondLst>
                                  <p:childTnLst>
                                    <p:set>
                                      <p:cBhvr>
                                        <p:cTn id="393" dur="1" fill="hold">
                                          <p:stCondLst>
                                            <p:cond delay="499"/>
                                          </p:stCondLst>
                                        </p:cTn>
                                        <p:tgtEl>
                                          <p:spTgt spid="368821"/>
                                        </p:tgtEl>
                                        <p:attrNameLst>
                                          <p:attrName>style.visibility</p:attrName>
                                        </p:attrNameLst>
                                      </p:cBhvr>
                                      <p:to>
                                        <p:strVal val="visible"/>
                                      </p:to>
                                    </p:set>
                                  </p:childTnLst>
                                </p:cTn>
                              </p:par>
                            </p:childTnLst>
                          </p:cTn>
                        </p:par>
                        <p:par>
                          <p:cTn id="394" fill="hold">
                            <p:stCondLst>
                              <p:cond delay="6500"/>
                            </p:stCondLst>
                            <p:childTnLst>
                              <p:par>
                                <p:cTn id="395" presetID="22" presetClass="entr" presetSubtype="2" fill="hold" grpId="0" nodeType="afterEffect">
                                  <p:stCondLst>
                                    <p:cond delay="0"/>
                                  </p:stCondLst>
                                  <p:childTnLst>
                                    <p:set>
                                      <p:cBhvr>
                                        <p:cTn id="396" dur="1" fill="hold">
                                          <p:stCondLst>
                                            <p:cond delay="0"/>
                                          </p:stCondLst>
                                        </p:cTn>
                                        <p:tgtEl>
                                          <p:spTgt spid="368720"/>
                                        </p:tgtEl>
                                        <p:attrNameLst>
                                          <p:attrName>style.visibility</p:attrName>
                                        </p:attrNameLst>
                                      </p:cBhvr>
                                      <p:to>
                                        <p:strVal val="visible"/>
                                      </p:to>
                                    </p:set>
                                    <p:animEffect transition="in" filter="wipe(right)">
                                      <p:cBhvr>
                                        <p:cTn id="397" dur="500"/>
                                        <p:tgtEl>
                                          <p:spTgt spid="368720"/>
                                        </p:tgtEl>
                                      </p:cBhvr>
                                    </p:animEffect>
                                  </p:childTnLst>
                                </p:cTn>
                              </p:par>
                            </p:childTnLst>
                          </p:cTn>
                        </p:par>
                        <p:par>
                          <p:cTn id="398" fill="hold">
                            <p:stCondLst>
                              <p:cond delay="7000"/>
                            </p:stCondLst>
                            <p:childTnLst>
                              <p:par>
                                <p:cTn id="399" presetID="1" presetClass="entr" presetSubtype="0" fill="hold" grpId="0" nodeType="afterEffect">
                                  <p:stCondLst>
                                    <p:cond delay="0"/>
                                  </p:stCondLst>
                                  <p:childTnLst>
                                    <p:set>
                                      <p:cBhvr>
                                        <p:cTn id="400" dur="1" fill="hold">
                                          <p:stCondLst>
                                            <p:cond delay="499"/>
                                          </p:stCondLst>
                                        </p:cTn>
                                        <p:tgtEl>
                                          <p:spTgt spid="368822"/>
                                        </p:tgtEl>
                                        <p:attrNameLst>
                                          <p:attrName>style.visibility</p:attrName>
                                        </p:attrNameLst>
                                      </p:cBhvr>
                                      <p:to>
                                        <p:strVal val="visible"/>
                                      </p:to>
                                    </p:set>
                                  </p:childTnLst>
                                </p:cTn>
                              </p:par>
                            </p:childTnLst>
                          </p:cTn>
                        </p:par>
                        <p:par>
                          <p:cTn id="401" fill="hold">
                            <p:stCondLst>
                              <p:cond delay="7500"/>
                            </p:stCondLst>
                            <p:childTnLst>
                              <p:par>
                                <p:cTn id="402" presetID="22" presetClass="entr" presetSubtype="4" fill="hold" grpId="0" nodeType="afterEffect">
                                  <p:stCondLst>
                                    <p:cond delay="0"/>
                                  </p:stCondLst>
                                  <p:childTnLst>
                                    <p:set>
                                      <p:cBhvr>
                                        <p:cTn id="403" dur="1" fill="hold">
                                          <p:stCondLst>
                                            <p:cond delay="0"/>
                                          </p:stCondLst>
                                        </p:cTn>
                                        <p:tgtEl>
                                          <p:spTgt spid="368709"/>
                                        </p:tgtEl>
                                        <p:attrNameLst>
                                          <p:attrName>style.visibility</p:attrName>
                                        </p:attrNameLst>
                                      </p:cBhvr>
                                      <p:to>
                                        <p:strVal val="visible"/>
                                      </p:to>
                                    </p:set>
                                    <p:animEffect transition="in" filter="wipe(down)">
                                      <p:cBhvr>
                                        <p:cTn id="404" dur="500"/>
                                        <p:tgtEl>
                                          <p:spTgt spid="368709"/>
                                        </p:tgtEl>
                                      </p:cBhvr>
                                    </p:animEffect>
                                  </p:childTnLst>
                                </p:cTn>
                              </p:par>
                            </p:childTnLst>
                          </p:cTn>
                        </p:par>
                        <p:par>
                          <p:cTn id="405" fill="hold">
                            <p:stCondLst>
                              <p:cond delay="8000"/>
                            </p:stCondLst>
                            <p:childTnLst>
                              <p:par>
                                <p:cTn id="406" presetID="1" presetClass="entr" presetSubtype="0" fill="hold" grpId="0" nodeType="afterEffect">
                                  <p:stCondLst>
                                    <p:cond delay="0"/>
                                  </p:stCondLst>
                                  <p:childTnLst>
                                    <p:set>
                                      <p:cBhvr>
                                        <p:cTn id="407" dur="1" fill="hold">
                                          <p:stCondLst>
                                            <p:cond delay="499"/>
                                          </p:stCondLst>
                                        </p:cTn>
                                        <p:tgtEl>
                                          <p:spTgt spid="368823"/>
                                        </p:tgtEl>
                                        <p:attrNameLst>
                                          <p:attrName>style.visibility</p:attrName>
                                        </p:attrNameLst>
                                      </p:cBhvr>
                                      <p:to>
                                        <p:strVal val="visible"/>
                                      </p:to>
                                    </p:set>
                                  </p:childTnLst>
                                </p:cTn>
                              </p:par>
                            </p:childTnLst>
                          </p:cTn>
                        </p:par>
                        <p:par>
                          <p:cTn id="408" fill="hold">
                            <p:stCondLst>
                              <p:cond delay="8500"/>
                            </p:stCondLst>
                            <p:childTnLst>
                              <p:par>
                                <p:cTn id="409" presetID="22" presetClass="entr" presetSubtype="1" fill="hold" grpId="0" nodeType="afterEffect">
                                  <p:stCondLst>
                                    <p:cond delay="0"/>
                                  </p:stCondLst>
                                  <p:childTnLst>
                                    <p:set>
                                      <p:cBhvr>
                                        <p:cTn id="410" dur="1" fill="hold">
                                          <p:stCondLst>
                                            <p:cond delay="0"/>
                                          </p:stCondLst>
                                        </p:cTn>
                                        <p:tgtEl>
                                          <p:spTgt spid="368710"/>
                                        </p:tgtEl>
                                        <p:attrNameLst>
                                          <p:attrName>style.visibility</p:attrName>
                                        </p:attrNameLst>
                                      </p:cBhvr>
                                      <p:to>
                                        <p:strVal val="visible"/>
                                      </p:to>
                                    </p:set>
                                    <p:animEffect transition="in" filter="wipe(up)">
                                      <p:cBhvr>
                                        <p:cTn id="411" dur="500"/>
                                        <p:tgtEl>
                                          <p:spTgt spid="368710"/>
                                        </p:tgtEl>
                                      </p:cBhvr>
                                    </p:animEffect>
                                  </p:childTnLst>
                                </p:cTn>
                              </p:par>
                            </p:childTnLst>
                          </p:cTn>
                        </p:par>
                        <p:par>
                          <p:cTn id="412" fill="hold">
                            <p:stCondLst>
                              <p:cond delay="9000"/>
                            </p:stCondLst>
                            <p:childTnLst>
                              <p:par>
                                <p:cTn id="413" presetID="1" presetClass="entr" presetSubtype="0" fill="hold" grpId="0" nodeType="afterEffect">
                                  <p:stCondLst>
                                    <p:cond delay="0"/>
                                  </p:stCondLst>
                                  <p:childTnLst>
                                    <p:set>
                                      <p:cBhvr>
                                        <p:cTn id="414" dur="1" fill="hold">
                                          <p:stCondLst>
                                            <p:cond delay="499"/>
                                          </p:stCondLst>
                                        </p:cTn>
                                        <p:tgtEl>
                                          <p:spTgt spid="368824"/>
                                        </p:tgtEl>
                                        <p:attrNameLst>
                                          <p:attrName>style.visibility</p:attrName>
                                        </p:attrNameLst>
                                      </p:cBhvr>
                                      <p:to>
                                        <p:strVal val="visible"/>
                                      </p:to>
                                    </p:set>
                                  </p:childTnLst>
                                </p:cTn>
                              </p:par>
                            </p:childTnLst>
                          </p:cTn>
                        </p:par>
                        <p:par>
                          <p:cTn id="415" fill="hold">
                            <p:stCondLst>
                              <p:cond delay="9500"/>
                            </p:stCondLst>
                            <p:childTnLst>
                              <p:par>
                                <p:cTn id="416" presetID="22" presetClass="entr" presetSubtype="4" fill="hold" grpId="0" nodeType="afterEffect">
                                  <p:stCondLst>
                                    <p:cond delay="0"/>
                                  </p:stCondLst>
                                  <p:childTnLst>
                                    <p:set>
                                      <p:cBhvr>
                                        <p:cTn id="417" dur="1" fill="hold">
                                          <p:stCondLst>
                                            <p:cond delay="0"/>
                                          </p:stCondLst>
                                        </p:cTn>
                                        <p:tgtEl>
                                          <p:spTgt spid="368711"/>
                                        </p:tgtEl>
                                        <p:attrNameLst>
                                          <p:attrName>style.visibility</p:attrName>
                                        </p:attrNameLst>
                                      </p:cBhvr>
                                      <p:to>
                                        <p:strVal val="visible"/>
                                      </p:to>
                                    </p:set>
                                    <p:animEffect transition="in" filter="wipe(down)">
                                      <p:cBhvr>
                                        <p:cTn id="418" dur="500"/>
                                        <p:tgtEl>
                                          <p:spTgt spid="368711"/>
                                        </p:tgtEl>
                                      </p:cBhvr>
                                    </p:animEffect>
                                  </p:childTnLst>
                                </p:cTn>
                              </p:par>
                            </p:childTnLst>
                          </p:cTn>
                        </p:par>
                        <p:par>
                          <p:cTn id="419" fill="hold">
                            <p:stCondLst>
                              <p:cond delay="10000"/>
                            </p:stCondLst>
                            <p:childTnLst>
                              <p:par>
                                <p:cTn id="420" presetID="1" presetClass="entr" presetSubtype="0" fill="hold" grpId="0" nodeType="afterEffect">
                                  <p:stCondLst>
                                    <p:cond delay="0"/>
                                  </p:stCondLst>
                                  <p:childTnLst>
                                    <p:set>
                                      <p:cBhvr>
                                        <p:cTn id="421" dur="1" fill="hold">
                                          <p:stCondLst>
                                            <p:cond delay="499"/>
                                          </p:stCondLst>
                                        </p:cTn>
                                        <p:tgtEl>
                                          <p:spTgt spid="368825"/>
                                        </p:tgtEl>
                                        <p:attrNameLst>
                                          <p:attrName>style.visibility</p:attrName>
                                        </p:attrNameLst>
                                      </p:cBhvr>
                                      <p:to>
                                        <p:strVal val="visible"/>
                                      </p:to>
                                    </p:set>
                                  </p:childTnLst>
                                </p:cTn>
                              </p:par>
                            </p:childTnLst>
                          </p:cTn>
                        </p:par>
                        <p:par>
                          <p:cTn id="422" fill="hold">
                            <p:stCondLst>
                              <p:cond delay="10500"/>
                            </p:stCondLst>
                            <p:childTnLst>
                              <p:par>
                                <p:cTn id="423" presetID="22" presetClass="entr" presetSubtype="8" fill="hold" grpId="0" nodeType="afterEffect">
                                  <p:stCondLst>
                                    <p:cond delay="0"/>
                                  </p:stCondLst>
                                  <p:childTnLst>
                                    <p:set>
                                      <p:cBhvr>
                                        <p:cTn id="424" dur="1" fill="hold">
                                          <p:stCondLst>
                                            <p:cond delay="0"/>
                                          </p:stCondLst>
                                        </p:cTn>
                                        <p:tgtEl>
                                          <p:spTgt spid="368712"/>
                                        </p:tgtEl>
                                        <p:attrNameLst>
                                          <p:attrName>style.visibility</p:attrName>
                                        </p:attrNameLst>
                                      </p:cBhvr>
                                      <p:to>
                                        <p:strVal val="visible"/>
                                      </p:to>
                                    </p:set>
                                    <p:animEffect transition="in" filter="wipe(left)">
                                      <p:cBhvr>
                                        <p:cTn id="425" dur="500"/>
                                        <p:tgtEl>
                                          <p:spTgt spid="368712"/>
                                        </p:tgtEl>
                                      </p:cBhvr>
                                    </p:animEffect>
                                  </p:childTnLst>
                                </p:cTn>
                              </p:par>
                            </p:childTnLst>
                          </p:cTn>
                        </p:par>
                        <p:par>
                          <p:cTn id="426" fill="hold">
                            <p:stCondLst>
                              <p:cond delay="11000"/>
                            </p:stCondLst>
                            <p:childTnLst>
                              <p:par>
                                <p:cTn id="427" presetID="1" presetClass="entr" presetSubtype="0" fill="hold" grpId="0" nodeType="afterEffect">
                                  <p:stCondLst>
                                    <p:cond delay="0"/>
                                  </p:stCondLst>
                                  <p:childTnLst>
                                    <p:set>
                                      <p:cBhvr>
                                        <p:cTn id="428" dur="1" fill="hold">
                                          <p:stCondLst>
                                            <p:cond delay="499"/>
                                          </p:stCondLst>
                                        </p:cTn>
                                        <p:tgtEl>
                                          <p:spTgt spid="368826"/>
                                        </p:tgtEl>
                                        <p:attrNameLst>
                                          <p:attrName>style.visibility</p:attrName>
                                        </p:attrNameLst>
                                      </p:cBhvr>
                                      <p:to>
                                        <p:strVal val="visible"/>
                                      </p:to>
                                    </p:set>
                                  </p:childTnLst>
                                </p:cTn>
                              </p:par>
                            </p:childTnLst>
                          </p:cTn>
                        </p:par>
                        <p:par>
                          <p:cTn id="429" fill="hold">
                            <p:stCondLst>
                              <p:cond delay="11500"/>
                            </p:stCondLst>
                            <p:childTnLst>
                              <p:par>
                                <p:cTn id="430" presetID="22" presetClass="entr" presetSubtype="1" fill="hold" grpId="0" nodeType="afterEffect">
                                  <p:stCondLst>
                                    <p:cond delay="0"/>
                                  </p:stCondLst>
                                  <p:childTnLst>
                                    <p:set>
                                      <p:cBhvr>
                                        <p:cTn id="431" dur="1" fill="hold">
                                          <p:stCondLst>
                                            <p:cond delay="0"/>
                                          </p:stCondLst>
                                        </p:cTn>
                                        <p:tgtEl>
                                          <p:spTgt spid="368713"/>
                                        </p:tgtEl>
                                        <p:attrNameLst>
                                          <p:attrName>style.visibility</p:attrName>
                                        </p:attrNameLst>
                                      </p:cBhvr>
                                      <p:to>
                                        <p:strVal val="visible"/>
                                      </p:to>
                                    </p:set>
                                    <p:animEffect transition="in" filter="wipe(up)">
                                      <p:cBhvr>
                                        <p:cTn id="432" dur="500"/>
                                        <p:tgtEl>
                                          <p:spTgt spid="368713"/>
                                        </p:tgtEl>
                                      </p:cBhvr>
                                    </p:animEffect>
                                  </p:childTnLst>
                                </p:cTn>
                              </p:par>
                            </p:childTnLst>
                          </p:cTn>
                        </p:par>
                        <p:par>
                          <p:cTn id="433" fill="hold">
                            <p:stCondLst>
                              <p:cond delay="12000"/>
                            </p:stCondLst>
                            <p:childTnLst>
                              <p:par>
                                <p:cTn id="434" presetID="1" presetClass="entr" presetSubtype="0" fill="hold" grpId="0" nodeType="afterEffect">
                                  <p:stCondLst>
                                    <p:cond delay="0"/>
                                  </p:stCondLst>
                                  <p:childTnLst>
                                    <p:set>
                                      <p:cBhvr>
                                        <p:cTn id="435" dur="1" fill="hold">
                                          <p:stCondLst>
                                            <p:cond delay="499"/>
                                          </p:stCondLst>
                                        </p:cTn>
                                        <p:tgtEl>
                                          <p:spTgt spid="368827"/>
                                        </p:tgtEl>
                                        <p:attrNameLst>
                                          <p:attrName>style.visibility</p:attrName>
                                        </p:attrNameLst>
                                      </p:cBhvr>
                                      <p:to>
                                        <p:strVal val="visible"/>
                                      </p:to>
                                    </p:set>
                                  </p:childTnLst>
                                </p:cTn>
                              </p:par>
                            </p:childTnLst>
                          </p:cTn>
                        </p:par>
                        <p:par>
                          <p:cTn id="436" fill="hold">
                            <p:stCondLst>
                              <p:cond delay="12500"/>
                            </p:stCondLst>
                            <p:childTnLst>
                              <p:par>
                                <p:cTn id="437" presetID="22" presetClass="entr" presetSubtype="8" fill="hold" grpId="0" nodeType="afterEffect">
                                  <p:stCondLst>
                                    <p:cond delay="0"/>
                                  </p:stCondLst>
                                  <p:childTnLst>
                                    <p:set>
                                      <p:cBhvr>
                                        <p:cTn id="438" dur="1" fill="hold">
                                          <p:stCondLst>
                                            <p:cond delay="0"/>
                                          </p:stCondLst>
                                        </p:cTn>
                                        <p:tgtEl>
                                          <p:spTgt spid="368702"/>
                                        </p:tgtEl>
                                        <p:attrNameLst>
                                          <p:attrName>style.visibility</p:attrName>
                                        </p:attrNameLst>
                                      </p:cBhvr>
                                      <p:to>
                                        <p:strVal val="visible"/>
                                      </p:to>
                                    </p:set>
                                    <p:animEffect transition="in" filter="wipe(left)">
                                      <p:cBhvr>
                                        <p:cTn id="439" dur="500"/>
                                        <p:tgtEl>
                                          <p:spTgt spid="368702"/>
                                        </p:tgtEl>
                                      </p:cBhvr>
                                    </p:animEffect>
                                  </p:childTnLst>
                                </p:cTn>
                              </p:par>
                            </p:childTnLst>
                          </p:cTn>
                        </p:par>
                        <p:par>
                          <p:cTn id="440" fill="hold">
                            <p:stCondLst>
                              <p:cond delay="13000"/>
                            </p:stCondLst>
                            <p:childTnLst>
                              <p:par>
                                <p:cTn id="441" presetID="1" presetClass="entr" presetSubtype="0" fill="hold" grpId="0" nodeType="afterEffect">
                                  <p:stCondLst>
                                    <p:cond delay="0"/>
                                  </p:stCondLst>
                                  <p:childTnLst>
                                    <p:set>
                                      <p:cBhvr>
                                        <p:cTn id="442" dur="1" fill="hold">
                                          <p:stCondLst>
                                            <p:cond delay="499"/>
                                          </p:stCondLst>
                                        </p:cTn>
                                        <p:tgtEl>
                                          <p:spTgt spid="368831"/>
                                        </p:tgtEl>
                                        <p:attrNameLst>
                                          <p:attrName>style.visibility</p:attrName>
                                        </p:attrNameLst>
                                      </p:cBhvr>
                                      <p:to>
                                        <p:strVal val="visible"/>
                                      </p:to>
                                    </p:set>
                                  </p:childTnLst>
                                </p:cTn>
                              </p:par>
                            </p:childTnLst>
                          </p:cTn>
                        </p:par>
                        <p:par>
                          <p:cTn id="443" fill="hold">
                            <p:stCondLst>
                              <p:cond delay="13500"/>
                            </p:stCondLst>
                            <p:childTnLst>
                              <p:par>
                                <p:cTn id="444" presetID="22" presetClass="entr" presetSubtype="2" fill="hold" grpId="0" nodeType="afterEffect">
                                  <p:stCondLst>
                                    <p:cond delay="0"/>
                                  </p:stCondLst>
                                  <p:childTnLst>
                                    <p:set>
                                      <p:cBhvr>
                                        <p:cTn id="445" dur="1" fill="hold">
                                          <p:stCondLst>
                                            <p:cond delay="0"/>
                                          </p:stCondLst>
                                        </p:cTn>
                                        <p:tgtEl>
                                          <p:spTgt spid="368703"/>
                                        </p:tgtEl>
                                        <p:attrNameLst>
                                          <p:attrName>style.visibility</p:attrName>
                                        </p:attrNameLst>
                                      </p:cBhvr>
                                      <p:to>
                                        <p:strVal val="visible"/>
                                      </p:to>
                                    </p:set>
                                    <p:animEffect transition="in" filter="wipe(right)">
                                      <p:cBhvr>
                                        <p:cTn id="446" dur="500"/>
                                        <p:tgtEl>
                                          <p:spTgt spid="368703"/>
                                        </p:tgtEl>
                                      </p:cBhvr>
                                    </p:animEffect>
                                  </p:childTnLst>
                                </p:cTn>
                              </p:par>
                            </p:childTnLst>
                          </p:cTn>
                        </p:par>
                        <p:par>
                          <p:cTn id="447" fill="hold">
                            <p:stCondLst>
                              <p:cond delay="14000"/>
                            </p:stCondLst>
                            <p:childTnLst>
                              <p:par>
                                <p:cTn id="448" presetID="1" presetClass="entr" presetSubtype="0" fill="hold" grpId="0" nodeType="afterEffect">
                                  <p:stCondLst>
                                    <p:cond delay="0"/>
                                  </p:stCondLst>
                                  <p:childTnLst>
                                    <p:set>
                                      <p:cBhvr>
                                        <p:cTn id="449" dur="1" fill="hold">
                                          <p:stCondLst>
                                            <p:cond delay="499"/>
                                          </p:stCondLst>
                                        </p:cTn>
                                        <p:tgtEl>
                                          <p:spTgt spid="368833"/>
                                        </p:tgtEl>
                                        <p:attrNameLst>
                                          <p:attrName>style.visibility</p:attrName>
                                        </p:attrNameLst>
                                      </p:cBhvr>
                                      <p:to>
                                        <p:strVal val="visible"/>
                                      </p:to>
                                    </p:set>
                                  </p:childTnLst>
                                </p:cTn>
                              </p:par>
                            </p:childTnLst>
                          </p:cTn>
                        </p:par>
                        <p:par>
                          <p:cTn id="450" fill="hold">
                            <p:stCondLst>
                              <p:cond delay="14500"/>
                            </p:stCondLst>
                            <p:childTnLst>
                              <p:par>
                                <p:cTn id="451" presetID="22" presetClass="entr" presetSubtype="4" fill="hold" grpId="0" nodeType="afterEffect">
                                  <p:stCondLst>
                                    <p:cond delay="0"/>
                                  </p:stCondLst>
                                  <p:childTnLst>
                                    <p:set>
                                      <p:cBhvr>
                                        <p:cTn id="452" dur="1" fill="hold">
                                          <p:stCondLst>
                                            <p:cond delay="0"/>
                                          </p:stCondLst>
                                        </p:cTn>
                                        <p:tgtEl>
                                          <p:spTgt spid="368704"/>
                                        </p:tgtEl>
                                        <p:attrNameLst>
                                          <p:attrName>style.visibility</p:attrName>
                                        </p:attrNameLst>
                                      </p:cBhvr>
                                      <p:to>
                                        <p:strVal val="visible"/>
                                      </p:to>
                                    </p:set>
                                    <p:animEffect transition="in" filter="wipe(down)">
                                      <p:cBhvr>
                                        <p:cTn id="453" dur="500"/>
                                        <p:tgtEl>
                                          <p:spTgt spid="368704"/>
                                        </p:tgtEl>
                                      </p:cBhvr>
                                    </p:animEffect>
                                  </p:childTnLst>
                                </p:cTn>
                              </p:par>
                            </p:childTnLst>
                          </p:cTn>
                        </p:par>
                        <p:par>
                          <p:cTn id="454" fill="hold">
                            <p:stCondLst>
                              <p:cond delay="15000"/>
                            </p:stCondLst>
                            <p:childTnLst>
                              <p:par>
                                <p:cTn id="455" presetID="1" presetClass="entr" presetSubtype="0" fill="hold" grpId="0" nodeType="afterEffect">
                                  <p:stCondLst>
                                    <p:cond delay="0"/>
                                  </p:stCondLst>
                                  <p:childTnLst>
                                    <p:set>
                                      <p:cBhvr>
                                        <p:cTn id="456" dur="1" fill="hold">
                                          <p:stCondLst>
                                            <p:cond delay="499"/>
                                          </p:stCondLst>
                                        </p:cTn>
                                        <p:tgtEl>
                                          <p:spTgt spid="368830"/>
                                        </p:tgtEl>
                                        <p:attrNameLst>
                                          <p:attrName>style.visibility</p:attrName>
                                        </p:attrNameLst>
                                      </p:cBhvr>
                                      <p:to>
                                        <p:strVal val="visible"/>
                                      </p:to>
                                    </p:set>
                                  </p:childTnLst>
                                </p:cTn>
                              </p:par>
                            </p:childTnLst>
                          </p:cTn>
                        </p:par>
                        <p:par>
                          <p:cTn id="457" fill="hold">
                            <p:stCondLst>
                              <p:cond delay="15500"/>
                            </p:stCondLst>
                            <p:childTnLst>
                              <p:par>
                                <p:cTn id="458" presetID="22" presetClass="entr" presetSubtype="2" fill="hold" grpId="0" nodeType="afterEffect">
                                  <p:stCondLst>
                                    <p:cond delay="0"/>
                                  </p:stCondLst>
                                  <p:childTnLst>
                                    <p:set>
                                      <p:cBhvr>
                                        <p:cTn id="459" dur="1" fill="hold">
                                          <p:stCondLst>
                                            <p:cond delay="0"/>
                                          </p:stCondLst>
                                        </p:cTn>
                                        <p:tgtEl>
                                          <p:spTgt spid="368705"/>
                                        </p:tgtEl>
                                        <p:attrNameLst>
                                          <p:attrName>style.visibility</p:attrName>
                                        </p:attrNameLst>
                                      </p:cBhvr>
                                      <p:to>
                                        <p:strVal val="visible"/>
                                      </p:to>
                                    </p:set>
                                    <p:animEffect transition="in" filter="wipe(right)">
                                      <p:cBhvr>
                                        <p:cTn id="460" dur="500"/>
                                        <p:tgtEl>
                                          <p:spTgt spid="368705"/>
                                        </p:tgtEl>
                                      </p:cBhvr>
                                    </p:animEffect>
                                  </p:childTnLst>
                                </p:cTn>
                              </p:par>
                            </p:childTnLst>
                          </p:cTn>
                        </p:par>
                        <p:par>
                          <p:cTn id="461" fill="hold">
                            <p:stCondLst>
                              <p:cond delay="16000"/>
                            </p:stCondLst>
                            <p:childTnLst>
                              <p:par>
                                <p:cTn id="462" presetID="1" presetClass="entr" presetSubtype="0" fill="hold" grpId="0" nodeType="afterEffect">
                                  <p:stCondLst>
                                    <p:cond delay="0"/>
                                  </p:stCondLst>
                                  <p:childTnLst>
                                    <p:set>
                                      <p:cBhvr>
                                        <p:cTn id="463" dur="1" fill="hold">
                                          <p:stCondLst>
                                            <p:cond delay="499"/>
                                          </p:stCondLst>
                                        </p:cTn>
                                        <p:tgtEl>
                                          <p:spTgt spid="368829"/>
                                        </p:tgtEl>
                                        <p:attrNameLst>
                                          <p:attrName>style.visibility</p:attrName>
                                        </p:attrNameLst>
                                      </p:cBhvr>
                                      <p:to>
                                        <p:strVal val="visible"/>
                                      </p:to>
                                    </p:set>
                                  </p:childTnLst>
                                </p:cTn>
                              </p:par>
                            </p:childTnLst>
                          </p:cTn>
                        </p:par>
                        <p:par>
                          <p:cTn id="464" fill="hold">
                            <p:stCondLst>
                              <p:cond delay="16500"/>
                            </p:stCondLst>
                            <p:childTnLst>
                              <p:par>
                                <p:cTn id="465" presetID="22" presetClass="entr" presetSubtype="8" fill="hold" grpId="0" nodeType="afterEffect">
                                  <p:stCondLst>
                                    <p:cond delay="0"/>
                                  </p:stCondLst>
                                  <p:childTnLst>
                                    <p:set>
                                      <p:cBhvr>
                                        <p:cTn id="466" dur="1" fill="hold">
                                          <p:stCondLst>
                                            <p:cond delay="0"/>
                                          </p:stCondLst>
                                        </p:cTn>
                                        <p:tgtEl>
                                          <p:spTgt spid="368706"/>
                                        </p:tgtEl>
                                        <p:attrNameLst>
                                          <p:attrName>style.visibility</p:attrName>
                                        </p:attrNameLst>
                                      </p:cBhvr>
                                      <p:to>
                                        <p:strVal val="visible"/>
                                      </p:to>
                                    </p:set>
                                    <p:animEffect transition="in" filter="wipe(left)">
                                      <p:cBhvr>
                                        <p:cTn id="467" dur="500"/>
                                        <p:tgtEl>
                                          <p:spTgt spid="368706"/>
                                        </p:tgtEl>
                                      </p:cBhvr>
                                    </p:animEffect>
                                  </p:childTnLst>
                                </p:cTn>
                              </p:par>
                            </p:childTnLst>
                          </p:cTn>
                        </p:par>
                        <p:par>
                          <p:cTn id="468" fill="hold">
                            <p:stCondLst>
                              <p:cond delay="17000"/>
                            </p:stCondLst>
                            <p:childTnLst>
                              <p:par>
                                <p:cTn id="469" presetID="1" presetClass="entr" presetSubtype="0" fill="hold" grpId="0" nodeType="afterEffect">
                                  <p:stCondLst>
                                    <p:cond delay="0"/>
                                  </p:stCondLst>
                                  <p:childTnLst>
                                    <p:set>
                                      <p:cBhvr>
                                        <p:cTn id="470" dur="1" fill="hold">
                                          <p:stCondLst>
                                            <p:cond delay="499"/>
                                          </p:stCondLst>
                                        </p:cTn>
                                        <p:tgtEl>
                                          <p:spTgt spid="368828"/>
                                        </p:tgtEl>
                                        <p:attrNameLst>
                                          <p:attrName>style.visibility</p:attrName>
                                        </p:attrNameLst>
                                      </p:cBhvr>
                                      <p:to>
                                        <p:strVal val="visible"/>
                                      </p:to>
                                    </p:set>
                                  </p:childTnLst>
                                </p:cTn>
                              </p:par>
                            </p:childTnLst>
                          </p:cTn>
                        </p:par>
                        <p:par>
                          <p:cTn id="471" fill="hold">
                            <p:stCondLst>
                              <p:cond delay="17500"/>
                            </p:stCondLst>
                            <p:childTnLst>
                              <p:par>
                                <p:cTn id="472" presetID="22" presetClass="entr" presetSubtype="1" fill="hold" grpId="0" nodeType="afterEffect">
                                  <p:stCondLst>
                                    <p:cond delay="0"/>
                                  </p:stCondLst>
                                  <p:childTnLst>
                                    <p:set>
                                      <p:cBhvr>
                                        <p:cTn id="473" dur="1" fill="hold">
                                          <p:stCondLst>
                                            <p:cond delay="0"/>
                                          </p:stCondLst>
                                        </p:cTn>
                                        <p:tgtEl>
                                          <p:spTgt spid="368707"/>
                                        </p:tgtEl>
                                        <p:attrNameLst>
                                          <p:attrName>style.visibility</p:attrName>
                                        </p:attrNameLst>
                                      </p:cBhvr>
                                      <p:to>
                                        <p:strVal val="visible"/>
                                      </p:to>
                                    </p:set>
                                    <p:animEffect transition="in" filter="wipe(up)">
                                      <p:cBhvr>
                                        <p:cTn id="474" dur="500"/>
                                        <p:tgtEl>
                                          <p:spTgt spid="368707"/>
                                        </p:tgtEl>
                                      </p:cBhvr>
                                    </p:animEffect>
                                  </p:childTnLst>
                                </p:cTn>
                              </p:par>
                            </p:childTnLst>
                          </p:cTn>
                        </p:par>
                        <p:par>
                          <p:cTn id="475" fill="hold">
                            <p:stCondLst>
                              <p:cond delay="18000"/>
                            </p:stCondLst>
                            <p:childTnLst>
                              <p:par>
                                <p:cTn id="476" presetID="1" presetClass="entr" presetSubtype="0" fill="hold" grpId="0" nodeType="afterEffect">
                                  <p:stCondLst>
                                    <p:cond delay="0"/>
                                  </p:stCondLst>
                                  <p:childTnLst>
                                    <p:set>
                                      <p:cBhvr>
                                        <p:cTn id="477" dur="1" fill="hold">
                                          <p:stCondLst>
                                            <p:cond delay="499"/>
                                          </p:stCondLst>
                                        </p:cTn>
                                        <p:tgtEl>
                                          <p:spTgt spid="368832"/>
                                        </p:tgtEl>
                                        <p:attrNameLst>
                                          <p:attrName>style.visibility</p:attrName>
                                        </p:attrNameLst>
                                      </p:cBhvr>
                                      <p:to>
                                        <p:strVal val="visible"/>
                                      </p:to>
                                    </p:set>
                                  </p:childTnLst>
                                </p:cTn>
                              </p:par>
                            </p:childTnLst>
                          </p:cTn>
                        </p:par>
                        <p:par>
                          <p:cTn id="478" fill="hold">
                            <p:stCondLst>
                              <p:cond delay="18500"/>
                            </p:stCondLst>
                            <p:childTnLst>
                              <p:par>
                                <p:cTn id="479" presetID="22" presetClass="entr" presetSubtype="2" fill="hold" grpId="0" nodeType="afterEffect">
                                  <p:stCondLst>
                                    <p:cond delay="0"/>
                                  </p:stCondLst>
                                  <p:childTnLst>
                                    <p:set>
                                      <p:cBhvr>
                                        <p:cTn id="480" dur="1" fill="hold">
                                          <p:stCondLst>
                                            <p:cond delay="0"/>
                                          </p:stCondLst>
                                        </p:cTn>
                                        <p:tgtEl>
                                          <p:spTgt spid="368708"/>
                                        </p:tgtEl>
                                        <p:attrNameLst>
                                          <p:attrName>style.visibility</p:attrName>
                                        </p:attrNameLst>
                                      </p:cBhvr>
                                      <p:to>
                                        <p:strVal val="visible"/>
                                      </p:to>
                                    </p:set>
                                    <p:animEffect transition="in" filter="wipe(right)">
                                      <p:cBhvr>
                                        <p:cTn id="481" dur="500"/>
                                        <p:tgtEl>
                                          <p:spTgt spid="368708"/>
                                        </p:tgtEl>
                                      </p:cBhvr>
                                    </p:animEffect>
                                  </p:childTnLst>
                                </p:cTn>
                              </p:par>
                            </p:childTnLst>
                          </p:cTn>
                        </p:par>
                        <p:par>
                          <p:cTn id="482" fill="hold">
                            <p:stCondLst>
                              <p:cond delay="19000"/>
                            </p:stCondLst>
                            <p:childTnLst>
                              <p:par>
                                <p:cTn id="483" presetID="1" presetClass="entr" presetSubtype="0" fill="hold" grpId="0" nodeType="afterEffect">
                                  <p:stCondLst>
                                    <p:cond delay="0"/>
                                  </p:stCondLst>
                                  <p:childTnLst>
                                    <p:set>
                                      <p:cBhvr>
                                        <p:cTn id="484" dur="1" fill="hold">
                                          <p:stCondLst>
                                            <p:cond delay="499"/>
                                          </p:stCondLst>
                                        </p:cTn>
                                        <p:tgtEl>
                                          <p:spTgt spid="368834"/>
                                        </p:tgtEl>
                                        <p:attrNameLst>
                                          <p:attrName>style.visibility</p:attrName>
                                        </p:attrNameLst>
                                      </p:cBhvr>
                                      <p:to>
                                        <p:strVal val="visible"/>
                                      </p:to>
                                    </p:set>
                                  </p:childTnLst>
                                </p:cTn>
                              </p:par>
                            </p:childTnLst>
                          </p:cTn>
                        </p:par>
                        <p:par>
                          <p:cTn id="485" fill="hold">
                            <p:stCondLst>
                              <p:cond delay="19500"/>
                            </p:stCondLst>
                            <p:childTnLst>
                              <p:par>
                                <p:cTn id="486" presetID="22" presetClass="entr" presetSubtype="1" fill="hold" grpId="0" nodeType="afterEffect">
                                  <p:stCondLst>
                                    <p:cond delay="0"/>
                                  </p:stCondLst>
                                  <p:childTnLst>
                                    <p:set>
                                      <p:cBhvr>
                                        <p:cTn id="487" dur="1" fill="hold">
                                          <p:stCondLst>
                                            <p:cond delay="0"/>
                                          </p:stCondLst>
                                        </p:cTn>
                                        <p:tgtEl>
                                          <p:spTgt spid="368698"/>
                                        </p:tgtEl>
                                        <p:attrNameLst>
                                          <p:attrName>style.visibility</p:attrName>
                                        </p:attrNameLst>
                                      </p:cBhvr>
                                      <p:to>
                                        <p:strVal val="visible"/>
                                      </p:to>
                                    </p:set>
                                    <p:animEffect transition="in" filter="wipe(up)">
                                      <p:cBhvr>
                                        <p:cTn id="488" dur="500"/>
                                        <p:tgtEl>
                                          <p:spTgt spid="368698"/>
                                        </p:tgtEl>
                                      </p:cBhvr>
                                    </p:animEffect>
                                  </p:childTnLst>
                                </p:cTn>
                              </p:par>
                            </p:childTnLst>
                          </p:cTn>
                        </p:par>
                        <p:par>
                          <p:cTn id="489" fill="hold">
                            <p:stCondLst>
                              <p:cond delay="20000"/>
                            </p:stCondLst>
                            <p:childTnLst>
                              <p:par>
                                <p:cTn id="490" presetID="1" presetClass="entr" presetSubtype="0" fill="hold" grpId="0" nodeType="afterEffect">
                                  <p:stCondLst>
                                    <p:cond delay="0"/>
                                  </p:stCondLst>
                                  <p:childTnLst>
                                    <p:set>
                                      <p:cBhvr>
                                        <p:cTn id="491" dur="1" fill="hold">
                                          <p:stCondLst>
                                            <p:cond delay="499"/>
                                          </p:stCondLst>
                                        </p:cTn>
                                        <p:tgtEl>
                                          <p:spTgt spid="368835"/>
                                        </p:tgtEl>
                                        <p:attrNameLst>
                                          <p:attrName>style.visibility</p:attrName>
                                        </p:attrNameLst>
                                      </p:cBhvr>
                                      <p:to>
                                        <p:strVal val="visible"/>
                                      </p:to>
                                    </p:set>
                                  </p:childTnLst>
                                </p:cTn>
                              </p:par>
                            </p:childTnLst>
                          </p:cTn>
                        </p:par>
                        <p:par>
                          <p:cTn id="492" fill="hold">
                            <p:stCondLst>
                              <p:cond delay="20500"/>
                            </p:stCondLst>
                            <p:childTnLst>
                              <p:par>
                                <p:cTn id="493" presetID="22" presetClass="entr" presetSubtype="4" fill="hold" grpId="0" nodeType="afterEffect">
                                  <p:stCondLst>
                                    <p:cond delay="0"/>
                                  </p:stCondLst>
                                  <p:childTnLst>
                                    <p:set>
                                      <p:cBhvr>
                                        <p:cTn id="494" dur="1" fill="hold">
                                          <p:stCondLst>
                                            <p:cond delay="0"/>
                                          </p:stCondLst>
                                        </p:cTn>
                                        <p:tgtEl>
                                          <p:spTgt spid="368697"/>
                                        </p:tgtEl>
                                        <p:attrNameLst>
                                          <p:attrName>style.visibility</p:attrName>
                                        </p:attrNameLst>
                                      </p:cBhvr>
                                      <p:to>
                                        <p:strVal val="visible"/>
                                      </p:to>
                                    </p:set>
                                    <p:animEffect transition="in" filter="wipe(down)">
                                      <p:cBhvr>
                                        <p:cTn id="495" dur="500"/>
                                        <p:tgtEl>
                                          <p:spTgt spid="368697"/>
                                        </p:tgtEl>
                                      </p:cBhvr>
                                    </p:animEffect>
                                  </p:childTnLst>
                                </p:cTn>
                              </p:par>
                            </p:childTnLst>
                          </p:cTn>
                        </p:par>
                        <p:par>
                          <p:cTn id="496" fill="hold">
                            <p:stCondLst>
                              <p:cond delay="21000"/>
                            </p:stCondLst>
                            <p:childTnLst>
                              <p:par>
                                <p:cTn id="497" presetID="1" presetClass="entr" presetSubtype="0" fill="hold" grpId="0" nodeType="afterEffect">
                                  <p:stCondLst>
                                    <p:cond delay="0"/>
                                  </p:stCondLst>
                                  <p:childTnLst>
                                    <p:set>
                                      <p:cBhvr>
                                        <p:cTn id="498" dur="1" fill="hold">
                                          <p:stCondLst>
                                            <p:cond delay="499"/>
                                          </p:stCondLst>
                                        </p:cTn>
                                        <p:tgtEl>
                                          <p:spTgt spid="368836"/>
                                        </p:tgtEl>
                                        <p:attrNameLst>
                                          <p:attrName>style.visibility</p:attrName>
                                        </p:attrNameLst>
                                      </p:cBhvr>
                                      <p:to>
                                        <p:strVal val="visible"/>
                                      </p:to>
                                    </p:set>
                                  </p:childTnLst>
                                </p:cTn>
                              </p:par>
                            </p:childTnLst>
                          </p:cTn>
                        </p:par>
                        <p:par>
                          <p:cTn id="499" fill="hold">
                            <p:stCondLst>
                              <p:cond delay="21500"/>
                            </p:stCondLst>
                            <p:childTnLst>
                              <p:par>
                                <p:cTn id="500" presetID="22" presetClass="entr" presetSubtype="8" fill="hold" grpId="0" nodeType="afterEffect">
                                  <p:stCondLst>
                                    <p:cond delay="0"/>
                                  </p:stCondLst>
                                  <p:childTnLst>
                                    <p:set>
                                      <p:cBhvr>
                                        <p:cTn id="501" dur="1" fill="hold">
                                          <p:stCondLst>
                                            <p:cond delay="0"/>
                                          </p:stCondLst>
                                        </p:cTn>
                                        <p:tgtEl>
                                          <p:spTgt spid="368699"/>
                                        </p:tgtEl>
                                        <p:attrNameLst>
                                          <p:attrName>style.visibility</p:attrName>
                                        </p:attrNameLst>
                                      </p:cBhvr>
                                      <p:to>
                                        <p:strVal val="visible"/>
                                      </p:to>
                                    </p:set>
                                    <p:animEffect transition="in" filter="wipe(left)">
                                      <p:cBhvr>
                                        <p:cTn id="502" dur="500"/>
                                        <p:tgtEl>
                                          <p:spTgt spid="368699"/>
                                        </p:tgtEl>
                                      </p:cBhvr>
                                    </p:animEffect>
                                  </p:childTnLst>
                                </p:cTn>
                              </p:par>
                            </p:childTnLst>
                          </p:cTn>
                        </p:par>
                        <p:par>
                          <p:cTn id="503" fill="hold">
                            <p:stCondLst>
                              <p:cond delay="22000"/>
                            </p:stCondLst>
                            <p:childTnLst>
                              <p:par>
                                <p:cTn id="504" presetID="1" presetClass="entr" presetSubtype="0" fill="hold" grpId="0" nodeType="afterEffect">
                                  <p:stCondLst>
                                    <p:cond delay="0"/>
                                  </p:stCondLst>
                                  <p:childTnLst>
                                    <p:set>
                                      <p:cBhvr>
                                        <p:cTn id="505" dur="1" fill="hold">
                                          <p:stCondLst>
                                            <p:cond delay="499"/>
                                          </p:stCondLst>
                                        </p:cTn>
                                        <p:tgtEl>
                                          <p:spTgt spid="368837"/>
                                        </p:tgtEl>
                                        <p:attrNameLst>
                                          <p:attrName>style.visibility</p:attrName>
                                        </p:attrNameLst>
                                      </p:cBhvr>
                                      <p:to>
                                        <p:strVal val="visible"/>
                                      </p:to>
                                    </p:set>
                                  </p:childTnLst>
                                </p:cTn>
                              </p:par>
                            </p:childTnLst>
                          </p:cTn>
                        </p:par>
                        <p:par>
                          <p:cTn id="506" fill="hold">
                            <p:stCondLst>
                              <p:cond delay="22500"/>
                            </p:stCondLst>
                            <p:childTnLst>
                              <p:par>
                                <p:cTn id="507" presetID="22" presetClass="entr" presetSubtype="8" fill="hold" grpId="0" nodeType="afterEffect">
                                  <p:stCondLst>
                                    <p:cond delay="0"/>
                                  </p:stCondLst>
                                  <p:childTnLst>
                                    <p:set>
                                      <p:cBhvr>
                                        <p:cTn id="508" dur="1" fill="hold">
                                          <p:stCondLst>
                                            <p:cond delay="0"/>
                                          </p:stCondLst>
                                        </p:cTn>
                                        <p:tgtEl>
                                          <p:spTgt spid="368700"/>
                                        </p:tgtEl>
                                        <p:attrNameLst>
                                          <p:attrName>style.visibility</p:attrName>
                                        </p:attrNameLst>
                                      </p:cBhvr>
                                      <p:to>
                                        <p:strVal val="visible"/>
                                      </p:to>
                                    </p:set>
                                    <p:animEffect transition="in" filter="wipe(left)">
                                      <p:cBhvr>
                                        <p:cTn id="509" dur="500"/>
                                        <p:tgtEl>
                                          <p:spTgt spid="368700"/>
                                        </p:tgtEl>
                                      </p:cBhvr>
                                    </p:animEffect>
                                  </p:childTnLst>
                                </p:cTn>
                              </p:par>
                            </p:childTnLst>
                          </p:cTn>
                        </p:par>
                        <p:par>
                          <p:cTn id="510" fill="hold">
                            <p:stCondLst>
                              <p:cond delay="23000"/>
                            </p:stCondLst>
                            <p:childTnLst>
                              <p:par>
                                <p:cTn id="511" presetID="1" presetClass="entr" presetSubtype="0" fill="hold" grpId="0" nodeType="afterEffect">
                                  <p:stCondLst>
                                    <p:cond delay="0"/>
                                  </p:stCondLst>
                                  <p:childTnLst>
                                    <p:set>
                                      <p:cBhvr>
                                        <p:cTn id="512" dur="1" fill="hold">
                                          <p:stCondLst>
                                            <p:cond delay="499"/>
                                          </p:stCondLst>
                                        </p:cTn>
                                        <p:tgtEl>
                                          <p:spTgt spid="368838"/>
                                        </p:tgtEl>
                                        <p:attrNameLst>
                                          <p:attrName>style.visibility</p:attrName>
                                        </p:attrNameLst>
                                      </p:cBhvr>
                                      <p:to>
                                        <p:strVal val="visible"/>
                                      </p:to>
                                    </p:set>
                                  </p:childTnLst>
                                </p:cTn>
                              </p:par>
                            </p:childTnLst>
                          </p:cTn>
                        </p:par>
                        <p:par>
                          <p:cTn id="513" fill="hold">
                            <p:stCondLst>
                              <p:cond delay="23500"/>
                            </p:stCondLst>
                            <p:childTnLst>
                              <p:par>
                                <p:cTn id="514" presetID="22" presetClass="entr" presetSubtype="8" fill="hold" grpId="0" nodeType="afterEffect">
                                  <p:stCondLst>
                                    <p:cond delay="0"/>
                                  </p:stCondLst>
                                  <p:childTnLst>
                                    <p:set>
                                      <p:cBhvr>
                                        <p:cTn id="515" dur="1" fill="hold">
                                          <p:stCondLst>
                                            <p:cond delay="0"/>
                                          </p:stCondLst>
                                        </p:cTn>
                                        <p:tgtEl>
                                          <p:spTgt spid="368701"/>
                                        </p:tgtEl>
                                        <p:attrNameLst>
                                          <p:attrName>style.visibility</p:attrName>
                                        </p:attrNameLst>
                                      </p:cBhvr>
                                      <p:to>
                                        <p:strVal val="visible"/>
                                      </p:to>
                                    </p:set>
                                    <p:animEffect transition="in" filter="wipe(left)">
                                      <p:cBhvr>
                                        <p:cTn id="516" dur="500"/>
                                        <p:tgtEl>
                                          <p:spTgt spid="368701"/>
                                        </p:tgtEl>
                                      </p:cBhvr>
                                    </p:animEffect>
                                  </p:childTnLst>
                                </p:cTn>
                              </p:par>
                            </p:childTnLst>
                          </p:cTn>
                        </p:par>
                        <p:par>
                          <p:cTn id="517" fill="hold">
                            <p:stCondLst>
                              <p:cond delay="24000"/>
                            </p:stCondLst>
                            <p:childTnLst>
                              <p:par>
                                <p:cTn id="518" presetID="1" presetClass="entr" presetSubtype="0" fill="hold" grpId="0" nodeType="afterEffect">
                                  <p:stCondLst>
                                    <p:cond delay="0"/>
                                  </p:stCondLst>
                                  <p:childTnLst>
                                    <p:set>
                                      <p:cBhvr>
                                        <p:cTn id="519" dur="1" fill="hold">
                                          <p:stCondLst>
                                            <p:cond delay="499"/>
                                          </p:stCondLst>
                                        </p:cTn>
                                        <p:tgtEl>
                                          <p:spTgt spid="368839"/>
                                        </p:tgtEl>
                                        <p:attrNameLst>
                                          <p:attrName>style.visibility</p:attrName>
                                        </p:attrNameLst>
                                      </p:cBhvr>
                                      <p:to>
                                        <p:strVal val="visible"/>
                                      </p:to>
                                    </p:set>
                                  </p:childTnLst>
                                </p:cTn>
                              </p:par>
                            </p:childTnLst>
                          </p:cTn>
                        </p:par>
                        <p:par>
                          <p:cTn id="520" fill="hold">
                            <p:stCondLst>
                              <p:cond delay="24500"/>
                            </p:stCondLst>
                            <p:childTnLst>
                              <p:par>
                                <p:cTn id="521" presetID="22" presetClass="entr" presetSubtype="8" fill="hold" grpId="0" nodeType="afterEffect">
                                  <p:stCondLst>
                                    <p:cond delay="0"/>
                                  </p:stCondLst>
                                  <p:childTnLst>
                                    <p:set>
                                      <p:cBhvr>
                                        <p:cTn id="522" dur="1" fill="hold">
                                          <p:stCondLst>
                                            <p:cond delay="0"/>
                                          </p:stCondLst>
                                        </p:cTn>
                                        <p:tgtEl>
                                          <p:spTgt spid="368693"/>
                                        </p:tgtEl>
                                        <p:attrNameLst>
                                          <p:attrName>style.visibility</p:attrName>
                                        </p:attrNameLst>
                                      </p:cBhvr>
                                      <p:to>
                                        <p:strVal val="visible"/>
                                      </p:to>
                                    </p:set>
                                    <p:animEffect transition="in" filter="wipe(left)">
                                      <p:cBhvr>
                                        <p:cTn id="523" dur="500"/>
                                        <p:tgtEl>
                                          <p:spTgt spid="368693"/>
                                        </p:tgtEl>
                                      </p:cBhvr>
                                    </p:animEffect>
                                  </p:childTnLst>
                                </p:cTn>
                              </p:par>
                            </p:childTnLst>
                          </p:cTn>
                        </p:par>
                        <p:par>
                          <p:cTn id="524" fill="hold">
                            <p:stCondLst>
                              <p:cond delay="25000"/>
                            </p:stCondLst>
                            <p:childTnLst>
                              <p:par>
                                <p:cTn id="525" presetID="1" presetClass="entr" presetSubtype="0" fill="hold" grpId="0" nodeType="afterEffect">
                                  <p:stCondLst>
                                    <p:cond delay="0"/>
                                  </p:stCondLst>
                                  <p:childTnLst>
                                    <p:set>
                                      <p:cBhvr>
                                        <p:cTn id="526" dur="1" fill="hold">
                                          <p:stCondLst>
                                            <p:cond delay="499"/>
                                          </p:stCondLst>
                                        </p:cTn>
                                        <p:tgtEl>
                                          <p:spTgt spid="368840"/>
                                        </p:tgtEl>
                                        <p:attrNameLst>
                                          <p:attrName>style.visibility</p:attrName>
                                        </p:attrNameLst>
                                      </p:cBhvr>
                                      <p:to>
                                        <p:strVal val="visible"/>
                                      </p:to>
                                    </p:set>
                                  </p:childTnLst>
                                </p:cTn>
                              </p:par>
                            </p:childTnLst>
                          </p:cTn>
                        </p:par>
                        <p:par>
                          <p:cTn id="527" fill="hold">
                            <p:stCondLst>
                              <p:cond delay="25500"/>
                            </p:stCondLst>
                            <p:childTnLst>
                              <p:par>
                                <p:cTn id="528" presetID="22" presetClass="entr" presetSubtype="2" fill="hold" grpId="0" nodeType="afterEffect">
                                  <p:stCondLst>
                                    <p:cond delay="0"/>
                                  </p:stCondLst>
                                  <p:childTnLst>
                                    <p:set>
                                      <p:cBhvr>
                                        <p:cTn id="529" dur="1" fill="hold">
                                          <p:stCondLst>
                                            <p:cond delay="0"/>
                                          </p:stCondLst>
                                        </p:cTn>
                                        <p:tgtEl>
                                          <p:spTgt spid="368694"/>
                                        </p:tgtEl>
                                        <p:attrNameLst>
                                          <p:attrName>style.visibility</p:attrName>
                                        </p:attrNameLst>
                                      </p:cBhvr>
                                      <p:to>
                                        <p:strVal val="visible"/>
                                      </p:to>
                                    </p:set>
                                    <p:animEffect transition="in" filter="wipe(right)">
                                      <p:cBhvr>
                                        <p:cTn id="530" dur="500"/>
                                        <p:tgtEl>
                                          <p:spTgt spid="368694"/>
                                        </p:tgtEl>
                                      </p:cBhvr>
                                    </p:animEffect>
                                  </p:childTnLst>
                                </p:cTn>
                              </p:par>
                            </p:childTnLst>
                          </p:cTn>
                        </p:par>
                        <p:par>
                          <p:cTn id="531" fill="hold">
                            <p:stCondLst>
                              <p:cond delay="26000"/>
                            </p:stCondLst>
                            <p:childTnLst>
                              <p:par>
                                <p:cTn id="532" presetID="1" presetClass="entr" presetSubtype="0" fill="hold" grpId="0" nodeType="afterEffect">
                                  <p:stCondLst>
                                    <p:cond delay="0"/>
                                  </p:stCondLst>
                                  <p:childTnLst>
                                    <p:set>
                                      <p:cBhvr>
                                        <p:cTn id="533" dur="1" fill="hold">
                                          <p:stCondLst>
                                            <p:cond delay="499"/>
                                          </p:stCondLst>
                                        </p:cTn>
                                        <p:tgtEl>
                                          <p:spTgt spid="368841"/>
                                        </p:tgtEl>
                                        <p:attrNameLst>
                                          <p:attrName>style.visibility</p:attrName>
                                        </p:attrNameLst>
                                      </p:cBhvr>
                                      <p:to>
                                        <p:strVal val="visible"/>
                                      </p:to>
                                    </p:set>
                                  </p:childTnLst>
                                </p:cTn>
                              </p:par>
                            </p:childTnLst>
                          </p:cTn>
                        </p:par>
                        <p:par>
                          <p:cTn id="534" fill="hold">
                            <p:stCondLst>
                              <p:cond delay="26500"/>
                            </p:stCondLst>
                            <p:childTnLst>
                              <p:par>
                                <p:cTn id="535" presetID="22" presetClass="entr" presetSubtype="8" fill="hold" grpId="0" nodeType="afterEffect">
                                  <p:stCondLst>
                                    <p:cond delay="0"/>
                                  </p:stCondLst>
                                  <p:childTnLst>
                                    <p:set>
                                      <p:cBhvr>
                                        <p:cTn id="536" dur="1" fill="hold">
                                          <p:stCondLst>
                                            <p:cond delay="0"/>
                                          </p:stCondLst>
                                        </p:cTn>
                                        <p:tgtEl>
                                          <p:spTgt spid="368695"/>
                                        </p:tgtEl>
                                        <p:attrNameLst>
                                          <p:attrName>style.visibility</p:attrName>
                                        </p:attrNameLst>
                                      </p:cBhvr>
                                      <p:to>
                                        <p:strVal val="visible"/>
                                      </p:to>
                                    </p:set>
                                    <p:animEffect transition="in" filter="wipe(left)">
                                      <p:cBhvr>
                                        <p:cTn id="537" dur="500"/>
                                        <p:tgtEl>
                                          <p:spTgt spid="368695"/>
                                        </p:tgtEl>
                                      </p:cBhvr>
                                    </p:animEffect>
                                  </p:childTnLst>
                                </p:cTn>
                              </p:par>
                            </p:childTnLst>
                          </p:cTn>
                        </p:par>
                        <p:par>
                          <p:cTn id="538" fill="hold">
                            <p:stCondLst>
                              <p:cond delay="27000"/>
                            </p:stCondLst>
                            <p:childTnLst>
                              <p:par>
                                <p:cTn id="539" presetID="1" presetClass="entr" presetSubtype="0" fill="hold" grpId="0" nodeType="afterEffect">
                                  <p:stCondLst>
                                    <p:cond delay="0"/>
                                  </p:stCondLst>
                                  <p:childTnLst>
                                    <p:set>
                                      <p:cBhvr>
                                        <p:cTn id="540" dur="1" fill="hold">
                                          <p:stCondLst>
                                            <p:cond delay="499"/>
                                          </p:stCondLst>
                                        </p:cTn>
                                        <p:tgtEl>
                                          <p:spTgt spid="368843"/>
                                        </p:tgtEl>
                                        <p:attrNameLst>
                                          <p:attrName>style.visibility</p:attrName>
                                        </p:attrNameLst>
                                      </p:cBhvr>
                                      <p:to>
                                        <p:strVal val="visible"/>
                                      </p:to>
                                    </p:set>
                                  </p:childTnLst>
                                </p:cTn>
                              </p:par>
                            </p:childTnLst>
                          </p:cTn>
                        </p:par>
                        <p:par>
                          <p:cTn id="541" fill="hold">
                            <p:stCondLst>
                              <p:cond delay="27500"/>
                            </p:stCondLst>
                            <p:childTnLst>
                              <p:par>
                                <p:cTn id="542" presetID="22" presetClass="entr" presetSubtype="2" fill="hold" grpId="0" nodeType="afterEffect">
                                  <p:stCondLst>
                                    <p:cond delay="0"/>
                                  </p:stCondLst>
                                  <p:childTnLst>
                                    <p:set>
                                      <p:cBhvr>
                                        <p:cTn id="543" dur="1" fill="hold">
                                          <p:stCondLst>
                                            <p:cond delay="0"/>
                                          </p:stCondLst>
                                        </p:cTn>
                                        <p:tgtEl>
                                          <p:spTgt spid="368696"/>
                                        </p:tgtEl>
                                        <p:attrNameLst>
                                          <p:attrName>style.visibility</p:attrName>
                                        </p:attrNameLst>
                                      </p:cBhvr>
                                      <p:to>
                                        <p:strVal val="visible"/>
                                      </p:to>
                                    </p:set>
                                    <p:animEffect transition="in" filter="wipe(right)">
                                      <p:cBhvr>
                                        <p:cTn id="544" dur="500"/>
                                        <p:tgtEl>
                                          <p:spTgt spid="368696"/>
                                        </p:tgtEl>
                                      </p:cBhvr>
                                    </p:animEffect>
                                  </p:childTnLst>
                                </p:cTn>
                              </p:par>
                            </p:childTnLst>
                          </p:cTn>
                        </p:par>
                        <p:par>
                          <p:cTn id="545" fill="hold">
                            <p:stCondLst>
                              <p:cond delay="28000"/>
                            </p:stCondLst>
                            <p:childTnLst>
                              <p:par>
                                <p:cTn id="546" presetID="1" presetClass="entr" presetSubtype="0" fill="hold" grpId="0" nodeType="afterEffect">
                                  <p:stCondLst>
                                    <p:cond delay="0"/>
                                  </p:stCondLst>
                                  <p:childTnLst>
                                    <p:set>
                                      <p:cBhvr>
                                        <p:cTn id="547" dur="1" fill="hold">
                                          <p:stCondLst>
                                            <p:cond delay="499"/>
                                          </p:stCondLst>
                                        </p:cTn>
                                        <p:tgtEl>
                                          <p:spTgt spid="368842"/>
                                        </p:tgtEl>
                                        <p:attrNameLst>
                                          <p:attrName>style.visibility</p:attrName>
                                        </p:attrNameLst>
                                      </p:cBhvr>
                                      <p:to>
                                        <p:strVal val="visible"/>
                                      </p:to>
                                    </p:set>
                                  </p:childTnLst>
                                </p:cTn>
                              </p:par>
                            </p:childTnLst>
                          </p:cTn>
                        </p:par>
                        <p:par>
                          <p:cTn id="548" fill="hold">
                            <p:stCondLst>
                              <p:cond delay="28500"/>
                            </p:stCondLst>
                            <p:childTnLst>
                              <p:par>
                                <p:cTn id="549" presetID="22" presetClass="entr" presetSubtype="8" fill="hold" grpId="0" nodeType="afterEffect">
                                  <p:stCondLst>
                                    <p:cond delay="0"/>
                                  </p:stCondLst>
                                  <p:childTnLst>
                                    <p:set>
                                      <p:cBhvr>
                                        <p:cTn id="550" dur="1" fill="hold">
                                          <p:stCondLst>
                                            <p:cond delay="0"/>
                                          </p:stCondLst>
                                        </p:cTn>
                                        <p:tgtEl>
                                          <p:spTgt spid="368691"/>
                                        </p:tgtEl>
                                        <p:attrNameLst>
                                          <p:attrName>style.visibility</p:attrName>
                                        </p:attrNameLst>
                                      </p:cBhvr>
                                      <p:to>
                                        <p:strVal val="visible"/>
                                      </p:to>
                                    </p:set>
                                    <p:animEffect transition="in" filter="wipe(left)">
                                      <p:cBhvr>
                                        <p:cTn id="551" dur="500"/>
                                        <p:tgtEl>
                                          <p:spTgt spid="368691"/>
                                        </p:tgtEl>
                                      </p:cBhvr>
                                    </p:animEffect>
                                  </p:childTnLst>
                                </p:cTn>
                              </p:par>
                            </p:childTnLst>
                          </p:cTn>
                        </p:par>
                        <p:par>
                          <p:cTn id="552" fill="hold">
                            <p:stCondLst>
                              <p:cond delay="29000"/>
                            </p:stCondLst>
                            <p:childTnLst>
                              <p:par>
                                <p:cTn id="553" presetID="1" presetClass="entr" presetSubtype="0" fill="hold" grpId="0" nodeType="afterEffect">
                                  <p:stCondLst>
                                    <p:cond delay="0"/>
                                  </p:stCondLst>
                                  <p:childTnLst>
                                    <p:set>
                                      <p:cBhvr>
                                        <p:cTn id="554" dur="1" fill="hold">
                                          <p:stCondLst>
                                            <p:cond delay="499"/>
                                          </p:stCondLst>
                                        </p:cTn>
                                        <p:tgtEl>
                                          <p:spTgt spid="368844"/>
                                        </p:tgtEl>
                                        <p:attrNameLst>
                                          <p:attrName>style.visibility</p:attrName>
                                        </p:attrNameLst>
                                      </p:cBhvr>
                                      <p:to>
                                        <p:strVal val="visible"/>
                                      </p:to>
                                    </p:set>
                                  </p:childTnLst>
                                </p:cTn>
                              </p:par>
                            </p:childTnLst>
                          </p:cTn>
                        </p:par>
                        <p:par>
                          <p:cTn id="555" fill="hold">
                            <p:stCondLst>
                              <p:cond delay="29500"/>
                            </p:stCondLst>
                            <p:childTnLst>
                              <p:par>
                                <p:cTn id="556" presetID="22" presetClass="entr" presetSubtype="1" fill="hold" grpId="0" nodeType="afterEffect">
                                  <p:stCondLst>
                                    <p:cond delay="0"/>
                                  </p:stCondLst>
                                  <p:childTnLst>
                                    <p:set>
                                      <p:cBhvr>
                                        <p:cTn id="557" dur="1" fill="hold">
                                          <p:stCondLst>
                                            <p:cond delay="0"/>
                                          </p:stCondLst>
                                        </p:cTn>
                                        <p:tgtEl>
                                          <p:spTgt spid="368692"/>
                                        </p:tgtEl>
                                        <p:attrNameLst>
                                          <p:attrName>style.visibility</p:attrName>
                                        </p:attrNameLst>
                                      </p:cBhvr>
                                      <p:to>
                                        <p:strVal val="visible"/>
                                      </p:to>
                                    </p:set>
                                    <p:animEffect transition="in" filter="wipe(up)">
                                      <p:cBhvr>
                                        <p:cTn id="558" dur="500"/>
                                        <p:tgtEl>
                                          <p:spTgt spid="368692"/>
                                        </p:tgtEl>
                                      </p:cBhvr>
                                    </p:animEffect>
                                  </p:childTnLst>
                                </p:cTn>
                              </p:par>
                            </p:childTnLst>
                          </p:cTn>
                        </p:par>
                        <p:par>
                          <p:cTn id="559" fill="hold">
                            <p:stCondLst>
                              <p:cond delay="30000"/>
                            </p:stCondLst>
                            <p:childTnLst>
                              <p:par>
                                <p:cTn id="560" presetID="1" presetClass="entr" presetSubtype="0" fill="hold" grpId="0" nodeType="afterEffect">
                                  <p:stCondLst>
                                    <p:cond delay="0"/>
                                  </p:stCondLst>
                                  <p:childTnLst>
                                    <p:set>
                                      <p:cBhvr>
                                        <p:cTn id="561" dur="1" fill="hold">
                                          <p:stCondLst>
                                            <p:cond delay="499"/>
                                          </p:stCondLst>
                                        </p:cTn>
                                        <p:tgtEl>
                                          <p:spTgt spid="368845"/>
                                        </p:tgtEl>
                                        <p:attrNameLst>
                                          <p:attrName>style.visibility</p:attrName>
                                        </p:attrNameLst>
                                      </p:cBhvr>
                                      <p:to>
                                        <p:strVal val="visible"/>
                                      </p:to>
                                    </p:set>
                                  </p:childTnLst>
                                </p:cTn>
                              </p:par>
                            </p:childTnLst>
                          </p:cTn>
                        </p:par>
                      </p:childTnLst>
                    </p:cTn>
                  </p:par>
                  <p:par>
                    <p:cTn id="562" fill="hold">
                      <p:stCondLst>
                        <p:cond delay="indefinite"/>
                      </p:stCondLst>
                      <p:childTnLst>
                        <p:par>
                          <p:cTn id="563" fill="hold">
                            <p:stCondLst>
                              <p:cond delay="0"/>
                            </p:stCondLst>
                            <p:childTnLst>
                              <p:par>
                                <p:cTn id="564" presetID="22" presetClass="entr" presetSubtype="8" fill="hold" grpId="0" nodeType="clickEffect">
                                  <p:stCondLst>
                                    <p:cond delay="0"/>
                                  </p:stCondLst>
                                  <p:childTnLst>
                                    <p:set>
                                      <p:cBhvr>
                                        <p:cTn id="565" dur="1" fill="hold">
                                          <p:stCondLst>
                                            <p:cond delay="0"/>
                                          </p:stCondLst>
                                        </p:cTn>
                                        <p:tgtEl>
                                          <p:spTgt spid="368847"/>
                                        </p:tgtEl>
                                        <p:attrNameLst>
                                          <p:attrName>style.visibility</p:attrName>
                                        </p:attrNameLst>
                                      </p:cBhvr>
                                      <p:to>
                                        <p:strVal val="visible"/>
                                      </p:to>
                                    </p:set>
                                    <p:animEffect transition="in" filter="wipe(left)">
                                      <p:cBhvr>
                                        <p:cTn id="566" dur="500"/>
                                        <p:tgtEl>
                                          <p:spTgt spid="368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2" grpId="0"/>
      <p:bldP spid="368690" grpId="0" animBg="1"/>
      <p:bldP spid="368691" grpId="0" animBg="1"/>
      <p:bldP spid="368692" grpId="0" animBg="1"/>
      <p:bldP spid="368693" grpId="0" animBg="1"/>
      <p:bldP spid="368694" grpId="0" animBg="1"/>
      <p:bldP spid="368695" grpId="0" animBg="1"/>
      <p:bldP spid="368696" grpId="0" animBg="1"/>
      <p:bldP spid="368697" grpId="0" animBg="1"/>
      <p:bldP spid="368698" grpId="0" animBg="1"/>
      <p:bldP spid="368699" grpId="0" animBg="1"/>
      <p:bldP spid="368700" grpId="0" animBg="1"/>
      <p:bldP spid="368701" grpId="0" animBg="1"/>
      <p:bldP spid="368702" grpId="0" animBg="1"/>
      <p:bldP spid="368703" grpId="0" animBg="1"/>
      <p:bldP spid="368704" grpId="0" animBg="1"/>
      <p:bldP spid="368705" grpId="0" animBg="1"/>
      <p:bldP spid="368706" grpId="0" animBg="1"/>
      <p:bldP spid="368707" grpId="0" animBg="1"/>
      <p:bldP spid="368708" grpId="0" animBg="1"/>
      <p:bldP spid="368709" grpId="0" animBg="1"/>
      <p:bldP spid="368710" grpId="0" animBg="1"/>
      <p:bldP spid="368711" grpId="0" animBg="1"/>
      <p:bldP spid="368712" grpId="0" animBg="1"/>
      <p:bldP spid="368713" grpId="0" animBg="1"/>
      <p:bldP spid="368714" grpId="0" animBg="1"/>
      <p:bldP spid="368715" grpId="0" animBg="1"/>
      <p:bldP spid="368716" grpId="0" animBg="1"/>
      <p:bldP spid="368717" grpId="0" animBg="1"/>
      <p:bldP spid="368718" grpId="0" animBg="1"/>
      <p:bldP spid="368719" grpId="0" animBg="1"/>
      <p:bldP spid="368720" grpId="0" animBg="1"/>
      <p:bldP spid="368721" grpId="0" animBg="1"/>
      <p:bldP spid="368722" grpId="0" animBg="1"/>
      <p:bldP spid="368723" grpId="0" animBg="1"/>
      <p:bldP spid="368724" grpId="0" animBg="1"/>
      <p:bldP spid="368725" grpId="0" animBg="1"/>
      <p:bldP spid="368726" grpId="0" animBg="1"/>
      <p:bldP spid="368727" grpId="0" animBg="1"/>
      <p:bldP spid="368728" grpId="0" animBg="1"/>
      <p:bldP spid="368729" grpId="0" animBg="1"/>
      <p:bldP spid="368730" grpId="0" animBg="1"/>
      <p:bldP spid="368731" grpId="0" animBg="1"/>
      <p:bldP spid="368732" grpId="0" animBg="1"/>
      <p:bldP spid="368733" grpId="0" animBg="1"/>
      <p:bldP spid="368734" grpId="0" animBg="1"/>
      <p:bldP spid="368735" grpId="0" animBg="1"/>
      <p:bldP spid="368736" grpId="0" animBg="1"/>
      <p:bldP spid="368737" grpId="0" animBg="1"/>
      <p:bldP spid="368738" grpId="0" animBg="1"/>
      <p:bldP spid="368739" grpId="0" animBg="1"/>
      <p:bldP spid="368740" grpId="0" animBg="1"/>
      <p:bldP spid="368741" grpId="0" animBg="1"/>
      <p:bldP spid="368742" grpId="0" animBg="1"/>
      <p:bldP spid="368743" grpId="0" animBg="1"/>
      <p:bldP spid="368744" grpId="0" animBg="1"/>
      <p:bldP spid="368745" grpId="0" animBg="1"/>
      <p:bldP spid="368746" grpId="0" animBg="1"/>
      <p:bldP spid="368747" grpId="0" animBg="1"/>
      <p:bldP spid="368748" grpId="0" animBg="1"/>
      <p:bldP spid="368749" grpId="0" animBg="1"/>
      <p:bldP spid="368750" grpId="0" animBg="1"/>
      <p:bldP spid="368751" grpId="0" animBg="1"/>
      <p:bldP spid="368752" grpId="0" animBg="1"/>
      <p:bldP spid="368753" grpId="0" animBg="1"/>
      <p:bldP spid="368754" grpId="0" animBg="1"/>
      <p:bldP spid="368755" grpId="0" animBg="1"/>
      <p:bldP spid="368756" grpId="0" animBg="1"/>
      <p:bldP spid="368757" grpId="0" animBg="1"/>
      <p:bldP spid="368758" grpId="0" animBg="1"/>
      <p:bldP spid="368759" grpId="0" animBg="1"/>
      <p:bldP spid="368760" grpId="0" animBg="1"/>
      <p:bldP spid="368761" grpId="0" animBg="1"/>
      <p:bldP spid="368762" grpId="0" animBg="1"/>
      <p:bldP spid="368763" grpId="0" animBg="1"/>
      <p:bldP spid="368764" grpId="0" animBg="1"/>
      <p:bldP spid="368765" grpId="0" animBg="1"/>
      <p:bldP spid="368766" grpId="0" animBg="1"/>
      <p:bldP spid="368767" grpId="0" animBg="1"/>
      <p:bldP spid="368768" grpId="0" animBg="1"/>
      <p:bldP spid="368769" grpId="0" animBg="1"/>
      <p:bldP spid="368770" grpId="0" animBg="1"/>
      <p:bldP spid="368771" grpId="0" animBg="1"/>
      <p:bldP spid="368772" grpId="0" animBg="1"/>
      <p:bldP spid="368773" grpId="0" animBg="1"/>
      <p:bldP spid="368774" grpId="0" animBg="1"/>
      <p:bldP spid="368775" grpId="0" animBg="1"/>
      <p:bldP spid="368776" grpId="0" animBg="1"/>
      <p:bldP spid="368777" grpId="0" animBg="1"/>
      <p:bldP spid="368778" grpId="0" animBg="1"/>
      <p:bldP spid="368779" grpId="0" animBg="1"/>
      <p:bldP spid="368780" grpId="0" animBg="1"/>
      <p:bldP spid="368781" grpId="0" animBg="1"/>
      <p:bldP spid="368782" grpId="0" animBg="1"/>
      <p:bldP spid="368783" grpId="0" animBg="1"/>
      <p:bldP spid="368784" grpId="0" animBg="1"/>
      <p:bldP spid="368785" grpId="0" animBg="1"/>
      <p:bldP spid="368786" grpId="0" animBg="1"/>
      <p:bldP spid="368787" grpId="0" animBg="1"/>
      <p:bldP spid="368788" grpId="0" animBg="1"/>
      <p:bldP spid="368789" grpId="0" animBg="1"/>
      <p:bldP spid="368790" grpId="0" animBg="1"/>
      <p:bldP spid="368791" grpId="0" animBg="1"/>
      <p:bldP spid="368792" grpId="0" animBg="1"/>
      <p:bldP spid="368793" grpId="0" animBg="1"/>
      <p:bldP spid="368794" grpId="0" animBg="1"/>
      <p:bldP spid="368795" grpId="0" animBg="1"/>
      <p:bldP spid="368796" grpId="0" animBg="1"/>
      <p:bldP spid="368797" grpId="0" animBg="1"/>
      <p:bldP spid="368798" grpId="0" animBg="1"/>
      <p:bldP spid="368799" grpId="0" animBg="1"/>
      <p:bldP spid="368800" grpId="0" animBg="1"/>
      <p:bldP spid="368801" grpId="0" animBg="1"/>
      <p:bldP spid="368802" grpId="0" animBg="1"/>
      <p:bldP spid="368803" grpId="0" animBg="1"/>
      <p:bldP spid="368804" grpId="0" animBg="1"/>
      <p:bldP spid="368805" grpId="0" animBg="1"/>
      <p:bldP spid="368806" grpId="0" animBg="1"/>
      <p:bldP spid="368807" grpId="0" animBg="1"/>
      <p:bldP spid="368808" grpId="0" animBg="1"/>
      <p:bldP spid="368809" grpId="0" animBg="1"/>
      <p:bldP spid="368810" grpId="0" animBg="1"/>
      <p:bldP spid="368811" grpId="0" animBg="1"/>
      <p:bldP spid="368812" grpId="0" animBg="1"/>
      <p:bldP spid="368813" grpId="0" animBg="1"/>
      <p:bldP spid="368814" grpId="0" animBg="1"/>
      <p:bldP spid="368815" grpId="0" animBg="1"/>
      <p:bldP spid="368816" grpId="0" animBg="1"/>
      <p:bldP spid="368817" grpId="0" animBg="1"/>
      <p:bldP spid="368818" grpId="0" animBg="1"/>
      <p:bldP spid="368819" grpId="0" animBg="1"/>
      <p:bldP spid="368820" grpId="0" animBg="1"/>
      <p:bldP spid="368821" grpId="0" animBg="1"/>
      <p:bldP spid="368822" grpId="0" animBg="1"/>
      <p:bldP spid="368823" grpId="0" animBg="1"/>
      <p:bldP spid="368824" grpId="0" animBg="1"/>
      <p:bldP spid="368825" grpId="0" animBg="1"/>
      <p:bldP spid="368826" grpId="0" animBg="1"/>
      <p:bldP spid="368827" grpId="0" animBg="1"/>
      <p:bldP spid="368828" grpId="0" animBg="1"/>
      <p:bldP spid="368829" grpId="0" animBg="1"/>
      <p:bldP spid="368830" grpId="0" animBg="1"/>
      <p:bldP spid="368831" grpId="0" animBg="1"/>
      <p:bldP spid="368832" grpId="0" animBg="1"/>
      <p:bldP spid="368833" grpId="0" animBg="1"/>
      <p:bldP spid="368834" grpId="0" animBg="1"/>
      <p:bldP spid="368835" grpId="0" animBg="1"/>
      <p:bldP spid="368836" grpId="0" animBg="1"/>
      <p:bldP spid="368837" grpId="0" animBg="1"/>
      <p:bldP spid="368838" grpId="0" animBg="1"/>
      <p:bldP spid="368839" grpId="0" animBg="1"/>
      <p:bldP spid="368840" grpId="0" animBg="1"/>
      <p:bldP spid="368841" grpId="0" animBg="1"/>
      <p:bldP spid="368842" grpId="0" animBg="1"/>
      <p:bldP spid="368843" grpId="0" animBg="1"/>
      <p:bldP spid="368844" grpId="0" animBg="1"/>
      <p:bldP spid="368845" grpId="0" animBg="1"/>
      <p:bldP spid="368846" grpId="0" animBg="1"/>
      <p:bldP spid="36884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6" name="Rectangle 4"/>
          <p:cNvSpPr>
            <a:spLocks noChangeArrowheads="1"/>
          </p:cNvSpPr>
          <p:nvPr/>
        </p:nvSpPr>
        <p:spPr bwMode="auto">
          <a:xfrm>
            <a:off x="179388" y="523875"/>
            <a:ext cx="81375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(3) </a:t>
            </a:r>
            <a:r>
              <a:rPr kumimoji="1" lang="zh-CN" altLang="en-US" sz="2400" b="1" dirty="0">
                <a:solidFill>
                  <a:srgbClr val="0000FF"/>
                </a:solidFill>
                <a:latin typeface="+mn-ea"/>
                <a:ea typeface="+mn-ea"/>
                <a:cs typeface="Times New Roman" pitchFamily="18" charset="0"/>
              </a:rPr>
              <a:t>分子之间存在相互作用力</a:t>
            </a:r>
          </a:p>
        </p:txBody>
      </p:sp>
      <p:sp>
        <p:nvSpPr>
          <p:cNvPr id="371717" name="Text Box 5"/>
          <p:cNvSpPr txBox="1">
            <a:spLocks noChangeArrowheads="1"/>
          </p:cNvSpPr>
          <p:nvPr/>
        </p:nvSpPr>
        <p:spPr bwMode="auto">
          <a:xfrm>
            <a:off x="179388" y="1125538"/>
            <a:ext cx="2232025" cy="461962"/>
          </a:xfrm>
          <a:prstGeom prst="rect">
            <a:avLst/>
          </a:prstGeom>
          <a:noFill/>
          <a:ln w="9525">
            <a:noFill/>
            <a:miter lim="800000"/>
            <a:headEnd/>
            <a:tailEnd/>
          </a:ln>
        </p:spPr>
        <p:txBody>
          <a:bodyPr>
            <a:spAutoFit/>
          </a:bodyPr>
          <a:lstStyle/>
          <a:p>
            <a:r>
              <a:rPr lang="zh-CN" altLang="en-US" sz="2400" b="1">
                <a:solidFill>
                  <a:srgbClr val="FF3300"/>
                </a:solidFill>
                <a:latin typeface="Times New Roman" pitchFamily="18" charset="0"/>
                <a:ea typeface="楷体_GB2312" pitchFamily="49" charset="-122"/>
              </a:rPr>
              <a:t>例如：</a:t>
            </a:r>
          </a:p>
        </p:txBody>
      </p:sp>
      <p:sp>
        <p:nvSpPr>
          <p:cNvPr id="371718" name="Text Box 6"/>
          <p:cNvSpPr txBox="1">
            <a:spLocks noChangeArrowheads="1"/>
          </p:cNvSpPr>
          <p:nvPr/>
        </p:nvSpPr>
        <p:spPr bwMode="auto">
          <a:xfrm>
            <a:off x="1263650" y="1131888"/>
            <a:ext cx="4379913" cy="461962"/>
          </a:xfrm>
          <a:prstGeom prst="rect">
            <a:avLst/>
          </a:prstGeom>
          <a:noFill/>
          <a:ln w="9525">
            <a:noFill/>
            <a:miter lim="800000"/>
            <a:headEnd/>
            <a:tailEnd/>
          </a:ln>
        </p:spPr>
        <p:txBody>
          <a:bodyPr>
            <a:spAutoFit/>
          </a:bodyPr>
          <a:lstStyle/>
          <a:p>
            <a:r>
              <a:rPr kumimoji="1" lang="zh-CN" altLang="en-US" sz="2400" b="1">
                <a:latin typeface="Times New Roman" pitchFamily="18" charset="0"/>
                <a:ea typeface="楷体_GB2312" pitchFamily="49" charset="-122"/>
              </a:rPr>
              <a:t>固体难以被压缩或拉伸</a:t>
            </a:r>
            <a:endParaRPr lang="zh-CN" altLang="en-US" sz="2400" b="1">
              <a:latin typeface="Times New Roman" pitchFamily="18" charset="0"/>
              <a:ea typeface="楷体_GB2312" pitchFamily="49" charset="-122"/>
            </a:endParaRPr>
          </a:p>
        </p:txBody>
      </p:sp>
      <p:sp>
        <p:nvSpPr>
          <p:cNvPr id="371719" name="Text Box 7"/>
          <p:cNvSpPr txBox="1">
            <a:spLocks noChangeArrowheads="1"/>
          </p:cNvSpPr>
          <p:nvPr/>
        </p:nvSpPr>
        <p:spPr bwMode="auto">
          <a:xfrm>
            <a:off x="179388" y="1635125"/>
            <a:ext cx="4652962" cy="968375"/>
          </a:xfrm>
          <a:prstGeom prst="rect">
            <a:avLst/>
          </a:prstGeom>
          <a:noFill/>
          <a:ln w="9525">
            <a:noFill/>
            <a:miter lim="800000"/>
            <a:headEnd/>
            <a:tailEnd/>
          </a:ln>
        </p:spPr>
        <p:txBody>
          <a:bodyPr>
            <a:spAutoFit/>
          </a:bodyPr>
          <a:lstStyle/>
          <a:p>
            <a:pPr>
              <a:lnSpc>
                <a:spcPct val="120000"/>
              </a:lnSpc>
            </a:pPr>
            <a:r>
              <a:rPr kumimoji="1" lang="zh-CN" altLang="en-US" sz="2400" b="1">
                <a:solidFill>
                  <a:srgbClr val="FF6600"/>
                </a:solidFill>
                <a:latin typeface="楷体_GB2312" pitchFamily="49" charset="-122"/>
                <a:ea typeface="楷体_GB2312" pitchFamily="49" charset="-122"/>
                <a:cs typeface="Times New Roman" pitchFamily="18" charset="0"/>
              </a:rPr>
              <a:t>分子力</a:t>
            </a:r>
            <a:r>
              <a:rPr kumimoji="1" lang="zh-CN" altLang="en-US" sz="2400" b="1">
                <a:latin typeface="楷体_GB2312" pitchFamily="49" charset="-122"/>
                <a:ea typeface="楷体_GB2312" pitchFamily="49" charset="-122"/>
                <a:cs typeface="Times New Roman" pitchFamily="18" charset="0"/>
              </a:rPr>
              <a:t>是指分子之间存在的吸引或排斥的相互作用力。</a:t>
            </a:r>
          </a:p>
        </p:txBody>
      </p:sp>
      <p:sp>
        <p:nvSpPr>
          <p:cNvPr id="371720" name="Text Box 8"/>
          <p:cNvSpPr txBox="1">
            <a:spLocks noChangeArrowheads="1"/>
          </p:cNvSpPr>
          <p:nvPr/>
        </p:nvSpPr>
        <p:spPr bwMode="auto">
          <a:xfrm>
            <a:off x="179388" y="2794000"/>
            <a:ext cx="4379912" cy="457200"/>
          </a:xfrm>
          <a:prstGeom prst="rect">
            <a:avLst/>
          </a:prstGeom>
          <a:noFill/>
          <a:ln w="9525">
            <a:noFill/>
            <a:miter lim="800000"/>
            <a:headEnd/>
            <a:tailEnd/>
          </a:ln>
        </p:spPr>
        <p:txBody>
          <a:bodyPr>
            <a:spAutoFit/>
          </a:bodyPr>
          <a:lstStyle/>
          <a:p>
            <a:pPr>
              <a:buClr>
                <a:srgbClr val="FF0000"/>
              </a:buClr>
              <a:buFont typeface="Wingdings" pitchFamily="2" charset="2"/>
              <a:buChar char="Ø"/>
              <a:defRPr/>
            </a:pPr>
            <a:r>
              <a:rPr kumimoji="1" lang="en-US" altLang="zh-CN" sz="2400" b="1" dirty="0">
                <a:latin typeface="+mn-ea"/>
                <a:ea typeface="+mn-ea"/>
              </a:rPr>
              <a:t> </a:t>
            </a:r>
            <a:r>
              <a:rPr kumimoji="1" lang="zh-CN" altLang="en-US" sz="2400" b="1" dirty="0">
                <a:latin typeface="+mn-ea"/>
                <a:ea typeface="+mn-ea"/>
              </a:rPr>
              <a:t>分子力的特点</a:t>
            </a:r>
            <a:endParaRPr lang="zh-CN" altLang="en-US" sz="2400" b="1" dirty="0">
              <a:latin typeface="+mn-ea"/>
              <a:ea typeface="+mn-ea"/>
            </a:endParaRPr>
          </a:p>
        </p:txBody>
      </p:sp>
      <p:sp>
        <p:nvSpPr>
          <p:cNvPr id="371721" name="Freeform 9"/>
          <p:cNvSpPr>
            <a:spLocks/>
          </p:cNvSpPr>
          <p:nvPr/>
        </p:nvSpPr>
        <p:spPr bwMode="auto">
          <a:xfrm>
            <a:off x="5580063" y="1343025"/>
            <a:ext cx="2497137" cy="1731963"/>
          </a:xfrm>
          <a:custGeom>
            <a:avLst/>
            <a:gdLst>
              <a:gd name="T0" fmla="*/ 0 w 1573"/>
              <a:gd name="T1" fmla="*/ 0 h 1091"/>
              <a:gd name="T2" fmla="*/ 2147483647 w 1573"/>
              <a:gd name="T3" fmla="*/ 2147483647 h 1091"/>
              <a:gd name="T4" fmla="*/ 2147483647 w 1573"/>
              <a:gd name="T5" fmla="*/ 2147483647 h 1091"/>
              <a:gd name="T6" fmla="*/ 2147483647 w 1573"/>
              <a:gd name="T7" fmla="*/ 2147483647 h 1091"/>
              <a:gd name="T8" fmla="*/ 2147483647 w 1573"/>
              <a:gd name="T9" fmla="*/ 2147483647 h 1091"/>
              <a:gd name="T10" fmla="*/ 2147483647 w 1573"/>
              <a:gd name="T11" fmla="*/ 2147483647 h 1091"/>
              <a:gd name="T12" fmla="*/ 2147483647 w 1573"/>
              <a:gd name="T13" fmla="*/ 2147483647 h 1091"/>
              <a:gd name="T14" fmla="*/ 2147483647 w 1573"/>
              <a:gd name="T15" fmla="*/ 2147483647 h 1091"/>
              <a:gd name="T16" fmla="*/ 0 60000 65536"/>
              <a:gd name="T17" fmla="*/ 0 60000 65536"/>
              <a:gd name="T18" fmla="*/ 0 60000 65536"/>
              <a:gd name="T19" fmla="*/ 0 60000 65536"/>
              <a:gd name="T20" fmla="*/ 0 60000 65536"/>
              <a:gd name="T21" fmla="*/ 0 60000 65536"/>
              <a:gd name="T22" fmla="*/ 0 60000 65536"/>
              <a:gd name="T23" fmla="*/ 0 60000 65536"/>
              <a:gd name="T24" fmla="*/ 0 w 1573"/>
              <a:gd name="T25" fmla="*/ 0 h 1091"/>
              <a:gd name="T26" fmla="*/ 1573 w 1573"/>
              <a:gd name="T27" fmla="*/ 1091 h 109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3" h="1091">
                <a:moveTo>
                  <a:pt x="0" y="0"/>
                </a:moveTo>
                <a:cubicBezTo>
                  <a:pt x="10" y="58"/>
                  <a:pt x="38" y="244"/>
                  <a:pt x="61" y="347"/>
                </a:cubicBezTo>
                <a:cubicBezTo>
                  <a:pt x="84" y="450"/>
                  <a:pt x="109" y="541"/>
                  <a:pt x="139" y="617"/>
                </a:cubicBezTo>
                <a:cubicBezTo>
                  <a:pt x="169" y="693"/>
                  <a:pt x="196" y="749"/>
                  <a:pt x="241" y="803"/>
                </a:cubicBezTo>
                <a:cubicBezTo>
                  <a:pt x="286" y="857"/>
                  <a:pt x="332" y="903"/>
                  <a:pt x="409" y="941"/>
                </a:cubicBezTo>
                <a:cubicBezTo>
                  <a:pt x="486" y="979"/>
                  <a:pt x="594" y="1009"/>
                  <a:pt x="703" y="1031"/>
                </a:cubicBezTo>
                <a:cubicBezTo>
                  <a:pt x="812" y="1053"/>
                  <a:pt x="918" y="1063"/>
                  <a:pt x="1063" y="1073"/>
                </a:cubicBezTo>
                <a:cubicBezTo>
                  <a:pt x="1208" y="1083"/>
                  <a:pt x="1467" y="1087"/>
                  <a:pt x="1573" y="1091"/>
                </a:cubicBezTo>
              </a:path>
            </a:pathLst>
          </a:custGeom>
          <a:noFill/>
          <a:ln w="28575">
            <a:solidFill>
              <a:srgbClr val="3333CC"/>
            </a:solidFill>
            <a:round/>
            <a:headEnd/>
            <a:tailEnd/>
          </a:ln>
        </p:spPr>
        <p:txBody>
          <a:bodyPr/>
          <a:lstStyle/>
          <a:p>
            <a:pPr algn="ctr"/>
            <a:endParaRPr lang="zh-CN" altLang="en-US"/>
          </a:p>
        </p:txBody>
      </p:sp>
      <p:sp>
        <p:nvSpPr>
          <p:cNvPr id="371722" name="Freeform 10"/>
          <p:cNvSpPr>
            <a:spLocks/>
          </p:cNvSpPr>
          <p:nvPr/>
        </p:nvSpPr>
        <p:spPr bwMode="auto">
          <a:xfrm>
            <a:off x="5629275" y="3255963"/>
            <a:ext cx="2447925" cy="914400"/>
          </a:xfrm>
          <a:custGeom>
            <a:avLst/>
            <a:gdLst>
              <a:gd name="T0" fmla="*/ 0 w 1542"/>
              <a:gd name="T1" fmla="*/ 2147483647 h 576"/>
              <a:gd name="T2" fmla="*/ 2147483647 w 1542"/>
              <a:gd name="T3" fmla="*/ 2147483647 h 576"/>
              <a:gd name="T4" fmla="*/ 2147483647 w 1542"/>
              <a:gd name="T5" fmla="*/ 2147483647 h 576"/>
              <a:gd name="T6" fmla="*/ 2147483647 w 1542"/>
              <a:gd name="T7" fmla="*/ 2147483647 h 576"/>
              <a:gd name="T8" fmla="*/ 2147483647 w 1542"/>
              <a:gd name="T9" fmla="*/ 2147483647 h 576"/>
              <a:gd name="T10" fmla="*/ 2147483647 w 1542"/>
              <a:gd name="T11" fmla="*/ 0 h 576"/>
              <a:gd name="T12" fmla="*/ 0 60000 65536"/>
              <a:gd name="T13" fmla="*/ 0 60000 65536"/>
              <a:gd name="T14" fmla="*/ 0 60000 65536"/>
              <a:gd name="T15" fmla="*/ 0 60000 65536"/>
              <a:gd name="T16" fmla="*/ 0 60000 65536"/>
              <a:gd name="T17" fmla="*/ 0 60000 65536"/>
              <a:gd name="T18" fmla="*/ 0 w 1542"/>
              <a:gd name="T19" fmla="*/ 0 h 576"/>
              <a:gd name="T20" fmla="*/ 1542 w 154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542" h="576">
                <a:moveTo>
                  <a:pt x="0" y="576"/>
                </a:moveTo>
                <a:cubicBezTo>
                  <a:pt x="21" y="551"/>
                  <a:pt x="75" y="475"/>
                  <a:pt x="126" y="426"/>
                </a:cubicBezTo>
                <a:cubicBezTo>
                  <a:pt x="177" y="377"/>
                  <a:pt x="224" y="328"/>
                  <a:pt x="306" y="282"/>
                </a:cubicBezTo>
                <a:cubicBezTo>
                  <a:pt x="388" y="236"/>
                  <a:pt x="499" y="187"/>
                  <a:pt x="618" y="150"/>
                </a:cubicBezTo>
                <a:cubicBezTo>
                  <a:pt x="737" y="113"/>
                  <a:pt x="866" y="85"/>
                  <a:pt x="1020" y="60"/>
                </a:cubicBezTo>
                <a:cubicBezTo>
                  <a:pt x="1174" y="35"/>
                  <a:pt x="1433" y="12"/>
                  <a:pt x="1542" y="0"/>
                </a:cubicBezTo>
              </a:path>
            </a:pathLst>
          </a:custGeom>
          <a:noFill/>
          <a:ln w="28575">
            <a:solidFill>
              <a:srgbClr val="008080"/>
            </a:solidFill>
            <a:round/>
            <a:headEnd/>
            <a:tailEnd/>
          </a:ln>
        </p:spPr>
        <p:txBody>
          <a:bodyPr/>
          <a:lstStyle/>
          <a:p>
            <a:pPr algn="ctr"/>
            <a:endParaRPr lang="zh-CN" altLang="en-US"/>
          </a:p>
        </p:txBody>
      </p:sp>
      <p:sp>
        <p:nvSpPr>
          <p:cNvPr id="371723" name="Freeform 11"/>
          <p:cNvSpPr>
            <a:spLocks/>
          </p:cNvSpPr>
          <p:nvPr/>
        </p:nvSpPr>
        <p:spPr bwMode="auto">
          <a:xfrm>
            <a:off x="5619750" y="2151063"/>
            <a:ext cx="2447925" cy="1352550"/>
          </a:xfrm>
          <a:custGeom>
            <a:avLst/>
            <a:gdLst>
              <a:gd name="T0" fmla="*/ 0 w 1542"/>
              <a:gd name="T1" fmla="*/ 0 h 852"/>
              <a:gd name="T2" fmla="*/ 2147483647 w 1542"/>
              <a:gd name="T3" fmla="*/ 2147483647 h 852"/>
              <a:gd name="T4" fmla="*/ 2147483647 w 1542"/>
              <a:gd name="T5" fmla="*/ 2147483647 h 852"/>
              <a:gd name="T6" fmla="*/ 2147483647 w 1542"/>
              <a:gd name="T7" fmla="*/ 2147483647 h 852"/>
              <a:gd name="T8" fmla="*/ 2147483647 w 1542"/>
              <a:gd name="T9" fmla="*/ 2147483647 h 852"/>
              <a:gd name="T10" fmla="*/ 2147483647 w 1542"/>
              <a:gd name="T11" fmla="*/ 2147483647 h 852"/>
              <a:gd name="T12" fmla="*/ 2147483647 w 1542"/>
              <a:gd name="T13" fmla="*/ 2147483647 h 852"/>
              <a:gd name="T14" fmla="*/ 2147483647 w 1542"/>
              <a:gd name="T15" fmla="*/ 2147483647 h 852"/>
              <a:gd name="T16" fmla="*/ 2147483647 w 1542"/>
              <a:gd name="T17" fmla="*/ 2147483647 h 852"/>
              <a:gd name="T18" fmla="*/ 2147483647 w 1542"/>
              <a:gd name="T19" fmla="*/ 2147483647 h 852"/>
              <a:gd name="T20" fmla="*/ 2147483647 w 1542"/>
              <a:gd name="T21" fmla="*/ 2147483647 h 852"/>
              <a:gd name="T22" fmla="*/ 2147483647 w 1542"/>
              <a:gd name="T23" fmla="*/ 2147483647 h 8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42"/>
              <a:gd name="T37" fmla="*/ 0 h 852"/>
              <a:gd name="T38" fmla="*/ 1542 w 1542"/>
              <a:gd name="T39" fmla="*/ 852 h 8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42" h="852">
                <a:moveTo>
                  <a:pt x="0" y="0"/>
                </a:moveTo>
                <a:cubicBezTo>
                  <a:pt x="11" y="47"/>
                  <a:pt x="37" y="185"/>
                  <a:pt x="66" y="282"/>
                </a:cubicBezTo>
                <a:cubicBezTo>
                  <a:pt x="95" y="379"/>
                  <a:pt x="142" y="505"/>
                  <a:pt x="174" y="582"/>
                </a:cubicBezTo>
                <a:cubicBezTo>
                  <a:pt x="206" y="659"/>
                  <a:pt x="231" y="702"/>
                  <a:pt x="258" y="744"/>
                </a:cubicBezTo>
                <a:cubicBezTo>
                  <a:pt x="285" y="786"/>
                  <a:pt x="307" y="817"/>
                  <a:pt x="336" y="834"/>
                </a:cubicBezTo>
                <a:cubicBezTo>
                  <a:pt x="365" y="851"/>
                  <a:pt x="394" y="852"/>
                  <a:pt x="432" y="846"/>
                </a:cubicBezTo>
                <a:cubicBezTo>
                  <a:pt x="470" y="840"/>
                  <a:pt x="521" y="813"/>
                  <a:pt x="564" y="798"/>
                </a:cubicBezTo>
                <a:cubicBezTo>
                  <a:pt x="607" y="783"/>
                  <a:pt x="633" y="771"/>
                  <a:pt x="690" y="756"/>
                </a:cubicBezTo>
                <a:cubicBezTo>
                  <a:pt x="747" y="741"/>
                  <a:pt x="832" y="721"/>
                  <a:pt x="906" y="708"/>
                </a:cubicBezTo>
                <a:cubicBezTo>
                  <a:pt x="980" y="695"/>
                  <a:pt x="1056" y="686"/>
                  <a:pt x="1134" y="678"/>
                </a:cubicBezTo>
                <a:cubicBezTo>
                  <a:pt x="1212" y="670"/>
                  <a:pt x="1306" y="664"/>
                  <a:pt x="1374" y="660"/>
                </a:cubicBezTo>
                <a:cubicBezTo>
                  <a:pt x="1442" y="656"/>
                  <a:pt x="1507" y="655"/>
                  <a:pt x="1542" y="654"/>
                </a:cubicBezTo>
              </a:path>
            </a:pathLst>
          </a:custGeom>
          <a:noFill/>
          <a:ln w="38100">
            <a:solidFill>
              <a:srgbClr val="FF0000"/>
            </a:solidFill>
            <a:round/>
            <a:headEnd/>
            <a:tailEnd/>
          </a:ln>
        </p:spPr>
        <p:txBody>
          <a:bodyPr/>
          <a:lstStyle/>
          <a:p>
            <a:pPr algn="ctr"/>
            <a:endParaRPr lang="zh-CN" altLang="en-US"/>
          </a:p>
        </p:txBody>
      </p:sp>
      <p:grpSp>
        <p:nvGrpSpPr>
          <p:cNvPr id="2" name="Group 12"/>
          <p:cNvGrpSpPr>
            <a:grpSpLocks/>
          </p:cNvGrpSpPr>
          <p:nvPr/>
        </p:nvGrpSpPr>
        <p:grpSpPr bwMode="auto">
          <a:xfrm>
            <a:off x="4959350" y="1125538"/>
            <a:ext cx="3933825" cy="3600450"/>
            <a:chOff x="3124" y="890"/>
            <a:chExt cx="2478" cy="2268"/>
          </a:xfrm>
        </p:grpSpPr>
        <p:sp>
          <p:nvSpPr>
            <p:cNvPr id="2073" name="Line 13"/>
            <p:cNvSpPr>
              <a:spLocks noChangeShapeType="1"/>
            </p:cNvSpPr>
            <p:nvPr/>
          </p:nvSpPr>
          <p:spPr bwMode="auto">
            <a:xfrm flipV="1">
              <a:off x="3424" y="981"/>
              <a:ext cx="0" cy="2177"/>
            </a:xfrm>
            <a:prstGeom prst="line">
              <a:avLst/>
            </a:prstGeom>
            <a:noFill/>
            <a:ln w="28575">
              <a:solidFill>
                <a:schemeClr val="tx1"/>
              </a:solidFill>
              <a:round/>
              <a:headEnd/>
              <a:tailEnd type="triangle" w="med" len="med"/>
            </a:ln>
          </p:spPr>
          <p:txBody>
            <a:bodyPr/>
            <a:lstStyle/>
            <a:p>
              <a:endParaRPr lang="zh-CN" altLang="en-US"/>
            </a:p>
          </p:txBody>
        </p:sp>
        <p:sp>
          <p:nvSpPr>
            <p:cNvPr id="2074" name="Line 14"/>
            <p:cNvSpPr>
              <a:spLocks noChangeShapeType="1"/>
            </p:cNvSpPr>
            <p:nvPr/>
          </p:nvSpPr>
          <p:spPr bwMode="auto">
            <a:xfrm rot="5400000" flipV="1">
              <a:off x="4332" y="1253"/>
              <a:ext cx="0" cy="1815"/>
            </a:xfrm>
            <a:prstGeom prst="line">
              <a:avLst/>
            </a:prstGeom>
            <a:noFill/>
            <a:ln w="28575">
              <a:solidFill>
                <a:schemeClr val="tx1"/>
              </a:solidFill>
              <a:round/>
              <a:headEnd/>
              <a:tailEnd type="triangle" w="med" len="med"/>
            </a:ln>
          </p:spPr>
          <p:txBody>
            <a:bodyPr/>
            <a:lstStyle/>
            <a:p>
              <a:endParaRPr lang="zh-CN" altLang="en-US"/>
            </a:p>
          </p:txBody>
        </p:sp>
        <p:sp>
          <p:nvSpPr>
            <p:cNvPr id="2075" name="Text Box 15"/>
            <p:cNvSpPr txBox="1">
              <a:spLocks noChangeArrowheads="1"/>
            </p:cNvSpPr>
            <p:nvPr/>
          </p:nvSpPr>
          <p:spPr bwMode="auto">
            <a:xfrm>
              <a:off x="3124" y="2070"/>
              <a:ext cx="346" cy="288"/>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sp>
          <p:nvSpPr>
            <p:cNvPr id="2076" name="Text Box 16"/>
            <p:cNvSpPr txBox="1">
              <a:spLocks noChangeArrowheads="1"/>
            </p:cNvSpPr>
            <p:nvPr/>
          </p:nvSpPr>
          <p:spPr bwMode="auto">
            <a:xfrm>
              <a:off x="3152" y="890"/>
              <a:ext cx="272" cy="288"/>
            </a:xfrm>
            <a:prstGeom prst="rect">
              <a:avLst/>
            </a:prstGeom>
            <a:noFill/>
            <a:ln w="9525">
              <a:noFill/>
              <a:miter lim="800000"/>
              <a:headEnd/>
              <a:tailEnd/>
            </a:ln>
          </p:spPr>
          <p:txBody>
            <a:bodyPr>
              <a:spAutoFit/>
            </a:bodyPr>
            <a:lstStyle/>
            <a:p>
              <a:r>
                <a:rPr lang="en-US" altLang="zh-CN" sz="2400" b="1" i="1">
                  <a:latin typeface="Times New Roman" pitchFamily="18" charset="0"/>
                </a:rPr>
                <a:t>f</a:t>
              </a:r>
            </a:p>
          </p:txBody>
        </p:sp>
        <p:sp>
          <p:nvSpPr>
            <p:cNvPr id="2077" name="Text Box 17"/>
            <p:cNvSpPr txBox="1">
              <a:spLocks noChangeArrowheads="1"/>
            </p:cNvSpPr>
            <p:nvPr/>
          </p:nvSpPr>
          <p:spPr bwMode="auto">
            <a:xfrm>
              <a:off x="5284" y="2024"/>
              <a:ext cx="318" cy="288"/>
            </a:xfrm>
            <a:prstGeom prst="rect">
              <a:avLst/>
            </a:prstGeom>
            <a:noFill/>
            <a:ln w="9525">
              <a:noFill/>
              <a:miter lim="800000"/>
              <a:headEnd/>
              <a:tailEnd/>
            </a:ln>
          </p:spPr>
          <p:txBody>
            <a:bodyPr>
              <a:spAutoFit/>
            </a:bodyPr>
            <a:lstStyle/>
            <a:p>
              <a:r>
                <a:rPr lang="en-US" altLang="zh-CN" sz="2400" b="1" i="1">
                  <a:latin typeface="Times New Roman" pitchFamily="18" charset="0"/>
                </a:rPr>
                <a:t>r</a:t>
              </a:r>
            </a:p>
          </p:txBody>
        </p:sp>
      </p:grpSp>
      <p:sp>
        <p:nvSpPr>
          <p:cNvPr id="371730" name="Text Box 18"/>
          <p:cNvSpPr txBox="1">
            <a:spLocks noChangeArrowheads="1"/>
          </p:cNvSpPr>
          <p:nvPr/>
        </p:nvSpPr>
        <p:spPr bwMode="auto">
          <a:xfrm>
            <a:off x="5651500" y="2998788"/>
            <a:ext cx="576263" cy="457200"/>
          </a:xfrm>
          <a:prstGeom prst="rect">
            <a:avLst/>
          </a:prstGeom>
          <a:noFill/>
          <a:ln w="9525">
            <a:noFill/>
            <a:miter lim="800000"/>
            <a:headEnd/>
            <a:tailEnd/>
          </a:ln>
        </p:spPr>
        <p:txBody>
          <a:bodyPr>
            <a:spAutoFit/>
          </a:bodyPr>
          <a:lstStyle/>
          <a:p>
            <a:r>
              <a:rPr lang="en-US" altLang="zh-CN" sz="2400" b="1" i="1">
                <a:latin typeface="Times New Roman" pitchFamily="18" charset="0"/>
              </a:rPr>
              <a:t>r</a:t>
            </a:r>
            <a:r>
              <a:rPr lang="en-US" altLang="zh-CN" sz="2400" b="1" baseline="-25000">
                <a:latin typeface="Times New Roman" pitchFamily="18" charset="0"/>
              </a:rPr>
              <a:t>0</a:t>
            </a:r>
            <a:endParaRPr lang="en-US" altLang="zh-CN" sz="2400" b="1">
              <a:latin typeface="Times New Roman" pitchFamily="18" charset="0"/>
            </a:endParaRPr>
          </a:p>
        </p:txBody>
      </p:sp>
      <p:sp>
        <p:nvSpPr>
          <p:cNvPr id="371731" name="Text Box 19"/>
          <p:cNvSpPr txBox="1">
            <a:spLocks noChangeArrowheads="1"/>
          </p:cNvSpPr>
          <p:nvPr/>
        </p:nvSpPr>
        <p:spPr bwMode="auto">
          <a:xfrm>
            <a:off x="5703888" y="1563688"/>
            <a:ext cx="955675" cy="366712"/>
          </a:xfrm>
          <a:prstGeom prst="rect">
            <a:avLst/>
          </a:prstGeom>
          <a:noFill/>
          <a:ln w="9525">
            <a:noFill/>
            <a:miter lim="800000"/>
            <a:headEnd/>
            <a:tailEnd/>
          </a:ln>
        </p:spPr>
        <p:txBody>
          <a:bodyPr>
            <a:spAutoFit/>
          </a:bodyPr>
          <a:lstStyle/>
          <a:p>
            <a:r>
              <a:rPr lang="zh-CN" altLang="en-US" b="1">
                <a:solidFill>
                  <a:schemeClr val="accent2"/>
                </a:solidFill>
                <a:latin typeface="Times New Roman" pitchFamily="18" charset="0"/>
              </a:rPr>
              <a:t>斥力</a:t>
            </a:r>
          </a:p>
        </p:txBody>
      </p:sp>
      <p:sp>
        <p:nvSpPr>
          <p:cNvPr id="371732" name="Text Box 20"/>
          <p:cNvSpPr txBox="1">
            <a:spLocks noChangeArrowheads="1"/>
          </p:cNvSpPr>
          <p:nvPr/>
        </p:nvSpPr>
        <p:spPr bwMode="auto">
          <a:xfrm>
            <a:off x="5867400" y="3790950"/>
            <a:ext cx="936625" cy="366713"/>
          </a:xfrm>
          <a:prstGeom prst="rect">
            <a:avLst/>
          </a:prstGeom>
          <a:noFill/>
          <a:ln w="9525">
            <a:noFill/>
            <a:miter lim="800000"/>
            <a:headEnd/>
            <a:tailEnd/>
          </a:ln>
        </p:spPr>
        <p:txBody>
          <a:bodyPr>
            <a:spAutoFit/>
          </a:bodyPr>
          <a:lstStyle/>
          <a:p>
            <a:r>
              <a:rPr lang="zh-CN" altLang="en-US" b="1">
                <a:solidFill>
                  <a:srgbClr val="008080"/>
                </a:solidFill>
                <a:latin typeface="Times New Roman" pitchFamily="18" charset="0"/>
              </a:rPr>
              <a:t>引力</a:t>
            </a:r>
          </a:p>
        </p:txBody>
      </p:sp>
      <p:sp>
        <p:nvSpPr>
          <p:cNvPr id="371733" name="Text Box 21"/>
          <p:cNvSpPr txBox="1">
            <a:spLocks noChangeArrowheads="1"/>
          </p:cNvSpPr>
          <p:nvPr/>
        </p:nvSpPr>
        <p:spPr bwMode="auto">
          <a:xfrm>
            <a:off x="5762625" y="2759075"/>
            <a:ext cx="863600" cy="366713"/>
          </a:xfrm>
          <a:prstGeom prst="rect">
            <a:avLst/>
          </a:prstGeom>
          <a:noFill/>
          <a:ln w="9525">
            <a:noFill/>
            <a:miter lim="800000"/>
            <a:headEnd/>
            <a:tailEnd/>
          </a:ln>
        </p:spPr>
        <p:txBody>
          <a:bodyPr>
            <a:spAutoFit/>
          </a:bodyPr>
          <a:lstStyle/>
          <a:p>
            <a:r>
              <a:rPr lang="zh-CN" altLang="en-US" b="1">
                <a:solidFill>
                  <a:srgbClr val="FF0000"/>
                </a:solidFill>
                <a:latin typeface="Times New Roman" pitchFamily="18" charset="0"/>
              </a:rPr>
              <a:t>合力</a:t>
            </a:r>
          </a:p>
        </p:txBody>
      </p:sp>
      <p:sp>
        <p:nvSpPr>
          <p:cNvPr id="371734" name="Text Box 22"/>
          <p:cNvSpPr txBox="1">
            <a:spLocks noChangeArrowheads="1"/>
          </p:cNvSpPr>
          <p:nvPr/>
        </p:nvSpPr>
        <p:spPr bwMode="auto">
          <a:xfrm>
            <a:off x="4786313" y="4857750"/>
            <a:ext cx="3714750" cy="446088"/>
          </a:xfrm>
          <a:prstGeom prst="rect">
            <a:avLst/>
          </a:prstGeom>
          <a:noFill/>
          <a:ln w="9525">
            <a:noFill/>
            <a:miter lim="800000"/>
            <a:headEnd/>
            <a:tailEnd/>
          </a:ln>
        </p:spPr>
        <p:txBody>
          <a:bodyPr>
            <a:spAutoFit/>
          </a:bodyPr>
          <a:lstStyle/>
          <a:p>
            <a:pPr>
              <a:lnSpc>
                <a:spcPct val="115000"/>
              </a:lnSpc>
              <a:defRPr/>
            </a:pPr>
            <a:r>
              <a:rPr kumimoji="1" lang="en-US" altLang="zh-CN" sz="2000" b="1" dirty="0">
                <a:solidFill>
                  <a:srgbClr val="FF3300"/>
                </a:solidFill>
                <a:latin typeface="+mn-ea"/>
                <a:ea typeface="+mn-ea"/>
              </a:rPr>
              <a:t>(</a:t>
            </a:r>
            <a:r>
              <a:rPr kumimoji="1" lang="zh-CN" altLang="en-US" sz="2000" b="1" dirty="0">
                <a:solidFill>
                  <a:srgbClr val="FF3300"/>
                </a:solidFill>
                <a:latin typeface="+mn-ea"/>
                <a:ea typeface="+mn-ea"/>
              </a:rPr>
              <a:t>分子力与分子间距离的关系</a:t>
            </a:r>
            <a:r>
              <a:rPr kumimoji="1" lang="en-US" altLang="zh-CN" sz="2000" b="1" dirty="0">
                <a:solidFill>
                  <a:srgbClr val="FF3300"/>
                </a:solidFill>
                <a:latin typeface="+mn-ea"/>
                <a:ea typeface="+mn-ea"/>
              </a:rPr>
              <a:t>)</a:t>
            </a:r>
          </a:p>
        </p:txBody>
      </p:sp>
      <p:graphicFrame>
        <p:nvGraphicFramePr>
          <p:cNvPr id="371735" name="Object 23"/>
          <p:cNvGraphicFramePr>
            <a:graphicFrameLocks/>
          </p:cNvGraphicFramePr>
          <p:nvPr/>
        </p:nvGraphicFramePr>
        <p:xfrm>
          <a:off x="468313" y="3498850"/>
          <a:ext cx="2008187" cy="434975"/>
        </p:xfrm>
        <a:graphic>
          <a:graphicData uri="http://schemas.openxmlformats.org/presentationml/2006/ole">
            <p:oleObj spid="_x0000_s2050" name="公式" r:id="rId3" imgW="1117440" imgH="241200" progId="Equation.3">
              <p:embed/>
            </p:oleObj>
          </a:graphicData>
        </a:graphic>
      </p:graphicFrame>
      <p:sp>
        <p:nvSpPr>
          <p:cNvPr id="371736" name="Text Box 24"/>
          <p:cNvSpPr txBox="1">
            <a:spLocks noChangeArrowheads="1"/>
          </p:cNvSpPr>
          <p:nvPr/>
        </p:nvSpPr>
        <p:spPr bwMode="auto">
          <a:xfrm>
            <a:off x="2817813" y="3498850"/>
            <a:ext cx="2303462" cy="396875"/>
          </a:xfrm>
          <a:prstGeom prst="rect">
            <a:avLst/>
          </a:prstGeom>
          <a:noFill/>
          <a:ln w="9525">
            <a:noFill/>
            <a:miter lim="800000"/>
            <a:headEnd/>
            <a:tailEnd/>
          </a:ln>
        </p:spPr>
        <p:txBody>
          <a:bodyPr>
            <a:spAutoFit/>
          </a:bodyPr>
          <a:lstStyle/>
          <a:p>
            <a:r>
              <a:rPr lang="en-US" altLang="zh-CN" sz="2000" b="1">
                <a:solidFill>
                  <a:srgbClr val="0000FF"/>
                </a:solidFill>
                <a:latin typeface="Times New Roman" pitchFamily="18" charset="0"/>
              </a:rPr>
              <a:t>(</a:t>
            </a:r>
            <a:r>
              <a:rPr lang="zh-CN" altLang="en-US" sz="2000" b="1">
                <a:solidFill>
                  <a:srgbClr val="0000FF"/>
                </a:solidFill>
                <a:latin typeface="Times New Roman" pitchFamily="18" charset="0"/>
              </a:rPr>
              <a:t>平衡位置</a:t>
            </a:r>
            <a:r>
              <a:rPr lang="en-US" altLang="zh-CN" sz="2000" b="1">
                <a:solidFill>
                  <a:srgbClr val="0000FF"/>
                </a:solidFill>
                <a:latin typeface="Times New Roman" pitchFamily="18" charset="0"/>
              </a:rPr>
              <a:t>)</a:t>
            </a:r>
          </a:p>
        </p:txBody>
      </p:sp>
      <p:graphicFrame>
        <p:nvGraphicFramePr>
          <p:cNvPr id="371745" name="Object 33"/>
          <p:cNvGraphicFramePr>
            <a:graphicFrameLocks noChangeAspect="1"/>
          </p:cNvGraphicFramePr>
          <p:nvPr/>
        </p:nvGraphicFramePr>
        <p:xfrm>
          <a:off x="850900" y="4791075"/>
          <a:ext cx="741363" cy="455613"/>
        </p:xfrm>
        <a:graphic>
          <a:graphicData uri="http://schemas.openxmlformats.org/presentationml/2006/ole">
            <p:oleObj spid="_x0000_s2051" name="公式" r:id="rId4" imgW="368280" imgH="228600" progId="Equation.3">
              <p:embed/>
            </p:oleObj>
          </a:graphicData>
        </a:graphic>
      </p:graphicFrame>
      <p:graphicFrame>
        <p:nvGraphicFramePr>
          <p:cNvPr id="371746" name="Object 34"/>
          <p:cNvGraphicFramePr>
            <a:graphicFrameLocks noChangeAspect="1"/>
          </p:cNvGraphicFramePr>
          <p:nvPr/>
        </p:nvGraphicFramePr>
        <p:xfrm>
          <a:off x="904875" y="4214813"/>
          <a:ext cx="738188" cy="458787"/>
        </p:xfrm>
        <a:graphic>
          <a:graphicData uri="http://schemas.openxmlformats.org/presentationml/2006/ole">
            <p:oleObj spid="_x0000_s2052" name="公式" r:id="rId5" imgW="368280" imgH="228600" progId="Equation.3">
              <p:embed/>
            </p:oleObj>
          </a:graphicData>
        </a:graphic>
      </p:graphicFrame>
      <p:sp>
        <p:nvSpPr>
          <p:cNvPr id="371747" name="Text Box 35"/>
          <p:cNvSpPr txBox="1">
            <a:spLocks noChangeArrowheads="1"/>
          </p:cNvSpPr>
          <p:nvPr/>
        </p:nvSpPr>
        <p:spPr bwMode="auto">
          <a:xfrm>
            <a:off x="1714500" y="4791075"/>
            <a:ext cx="3143250" cy="461963"/>
          </a:xfrm>
          <a:prstGeom prst="rect">
            <a:avLst/>
          </a:prstGeom>
          <a:noFill/>
          <a:ln w="9525">
            <a:noFill/>
            <a:miter lim="800000"/>
            <a:headEnd/>
            <a:tailEnd/>
          </a:ln>
        </p:spPr>
        <p:txBody>
          <a:bodyPr>
            <a:spAutoFit/>
          </a:bodyPr>
          <a:lstStyle/>
          <a:p>
            <a:r>
              <a:rPr lang="zh-CN" altLang="en-US" sz="2400" b="1">
                <a:latin typeface="宋体" charset="-122"/>
              </a:rPr>
              <a:t>分子力表现为</a:t>
            </a:r>
            <a:r>
              <a:rPr lang="zh-CN" altLang="en-US" sz="2400" b="1">
                <a:solidFill>
                  <a:srgbClr val="FF6600"/>
                </a:solidFill>
                <a:latin typeface="宋体" charset="-122"/>
              </a:rPr>
              <a:t>斥力</a:t>
            </a:r>
            <a:r>
              <a:rPr lang="zh-CN" altLang="en-US" sz="2400" b="1">
                <a:latin typeface="宋体" charset="-122"/>
              </a:rPr>
              <a:t> </a:t>
            </a:r>
          </a:p>
        </p:txBody>
      </p:sp>
      <p:sp>
        <p:nvSpPr>
          <p:cNvPr id="371748" name="Text Box 36"/>
          <p:cNvSpPr txBox="1">
            <a:spLocks noChangeArrowheads="1"/>
          </p:cNvSpPr>
          <p:nvPr/>
        </p:nvSpPr>
        <p:spPr bwMode="auto">
          <a:xfrm>
            <a:off x="1714500" y="4214813"/>
            <a:ext cx="2814638" cy="461962"/>
          </a:xfrm>
          <a:prstGeom prst="rect">
            <a:avLst/>
          </a:prstGeom>
          <a:noFill/>
          <a:ln w="9525">
            <a:noFill/>
            <a:miter lim="800000"/>
            <a:headEnd/>
            <a:tailEnd/>
          </a:ln>
        </p:spPr>
        <p:txBody>
          <a:bodyPr wrap="none">
            <a:spAutoFit/>
          </a:bodyPr>
          <a:lstStyle/>
          <a:p>
            <a:r>
              <a:rPr lang="zh-CN" altLang="en-US" sz="2400" b="1">
                <a:latin typeface="宋体" charset="-122"/>
              </a:rPr>
              <a:t>分子力表现为</a:t>
            </a:r>
            <a:r>
              <a:rPr lang="zh-CN" altLang="en-US" sz="2400" b="1">
                <a:solidFill>
                  <a:srgbClr val="FF6600"/>
                </a:solidFill>
                <a:latin typeface="宋体" charset="-122"/>
              </a:rPr>
              <a:t>引力</a:t>
            </a:r>
            <a:r>
              <a:rPr lang="zh-CN" altLang="en-US" sz="2400" b="1">
                <a:latin typeface="宋体" charset="-122"/>
              </a:rPr>
              <a:t> </a:t>
            </a:r>
          </a:p>
        </p:txBody>
      </p:sp>
      <p:sp>
        <p:nvSpPr>
          <p:cNvPr id="371749" name="AutoShape 37"/>
          <p:cNvSpPr>
            <a:spLocks/>
          </p:cNvSpPr>
          <p:nvPr/>
        </p:nvSpPr>
        <p:spPr bwMode="auto">
          <a:xfrm>
            <a:off x="706438" y="4333875"/>
            <a:ext cx="71437" cy="746125"/>
          </a:xfrm>
          <a:prstGeom prst="leftBrace">
            <a:avLst>
              <a:gd name="adj1" fmla="val 87038"/>
              <a:gd name="adj2" fmla="val 50000"/>
            </a:avLst>
          </a:prstGeom>
          <a:noFill/>
          <a:ln w="9525">
            <a:solidFill>
              <a:schemeClr val="tx1"/>
            </a:solidFill>
            <a:round/>
            <a:headEnd/>
            <a:tailEnd/>
          </a:ln>
        </p:spPr>
        <p:txBody>
          <a:bodyPr wrap="none" anchor="ctr"/>
          <a:lstStyle/>
          <a:p>
            <a:pPr algn="ctr"/>
            <a:endParaRPr lang="zh-CN" altLang="en-US"/>
          </a:p>
        </p:txBody>
      </p:sp>
      <p:graphicFrame>
        <p:nvGraphicFramePr>
          <p:cNvPr id="371750" name="Object 38"/>
          <p:cNvGraphicFramePr>
            <a:graphicFrameLocks noChangeAspect="1"/>
          </p:cNvGraphicFramePr>
          <p:nvPr/>
        </p:nvGraphicFramePr>
        <p:xfrm>
          <a:off x="500063" y="5572125"/>
          <a:ext cx="1195387" cy="368300"/>
        </p:xfrm>
        <a:graphic>
          <a:graphicData uri="http://schemas.openxmlformats.org/presentationml/2006/ole">
            <p:oleObj spid="_x0000_s2053" name="公式" r:id="rId6" imgW="660240" imgH="203040" progId="Equation.3">
              <p:embed/>
            </p:oleObj>
          </a:graphicData>
        </a:graphic>
      </p:graphicFrame>
      <p:sp>
        <p:nvSpPr>
          <p:cNvPr id="371751" name="Text Box 39"/>
          <p:cNvSpPr txBox="1">
            <a:spLocks noChangeArrowheads="1"/>
          </p:cNvSpPr>
          <p:nvPr/>
        </p:nvSpPr>
        <p:spPr bwMode="auto">
          <a:xfrm>
            <a:off x="1785938" y="5572125"/>
            <a:ext cx="3019425" cy="461963"/>
          </a:xfrm>
          <a:prstGeom prst="rect">
            <a:avLst/>
          </a:prstGeom>
          <a:noFill/>
          <a:ln w="9525">
            <a:noFill/>
            <a:miter lim="800000"/>
            <a:headEnd/>
            <a:tailEnd/>
          </a:ln>
        </p:spPr>
        <p:txBody>
          <a:bodyPr>
            <a:spAutoFit/>
          </a:bodyPr>
          <a:lstStyle/>
          <a:p>
            <a:pPr>
              <a:defRPr/>
            </a:pPr>
            <a:r>
              <a:rPr lang="zh-CN" altLang="en-US" sz="2400" b="1" dirty="0">
                <a:solidFill>
                  <a:srgbClr val="0000FF"/>
                </a:solidFill>
                <a:latin typeface="+mn-ea"/>
                <a:ea typeface="+mn-ea"/>
              </a:rPr>
              <a:t>分子力可以忽略不计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1716"/>
                                        </p:tgtEl>
                                        <p:attrNameLst>
                                          <p:attrName>style.visibility</p:attrName>
                                        </p:attrNameLst>
                                      </p:cBhvr>
                                      <p:to>
                                        <p:strVal val="visible"/>
                                      </p:to>
                                    </p:set>
                                    <p:animEffect transition="in" filter="wipe(left)">
                                      <p:cBhvr>
                                        <p:cTn id="7" dur="500"/>
                                        <p:tgtEl>
                                          <p:spTgt spid="3717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1717"/>
                                        </p:tgtEl>
                                        <p:attrNameLst>
                                          <p:attrName>style.visibility</p:attrName>
                                        </p:attrNameLst>
                                      </p:cBhvr>
                                      <p:to>
                                        <p:strVal val="visible"/>
                                      </p:to>
                                    </p:set>
                                    <p:animEffect transition="in" filter="wipe(left)">
                                      <p:cBhvr>
                                        <p:cTn id="12" dur="500"/>
                                        <p:tgtEl>
                                          <p:spTgt spid="3717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1718"/>
                                        </p:tgtEl>
                                        <p:attrNameLst>
                                          <p:attrName>style.visibility</p:attrName>
                                        </p:attrNameLst>
                                      </p:cBhvr>
                                      <p:to>
                                        <p:strVal val="visible"/>
                                      </p:to>
                                    </p:set>
                                    <p:animEffect transition="in" filter="wipe(left)">
                                      <p:cBhvr>
                                        <p:cTn id="17" dur="500"/>
                                        <p:tgtEl>
                                          <p:spTgt spid="3717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1719"/>
                                        </p:tgtEl>
                                        <p:attrNameLst>
                                          <p:attrName>style.visibility</p:attrName>
                                        </p:attrNameLst>
                                      </p:cBhvr>
                                      <p:to>
                                        <p:strVal val="visible"/>
                                      </p:to>
                                    </p:set>
                                    <p:animEffect transition="in" filter="wipe(left)">
                                      <p:cBhvr>
                                        <p:cTn id="22" dur="1000"/>
                                        <p:tgtEl>
                                          <p:spTgt spid="3717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1720"/>
                                        </p:tgtEl>
                                        <p:attrNameLst>
                                          <p:attrName>style.visibility</p:attrName>
                                        </p:attrNameLst>
                                      </p:cBhvr>
                                      <p:to>
                                        <p:strVal val="visible"/>
                                      </p:to>
                                    </p:set>
                                    <p:animEffect transition="in" filter="wipe(left)">
                                      <p:cBhvr>
                                        <p:cTn id="27" dur="500"/>
                                        <p:tgtEl>
                                          <p:spTgt spid="371720"/>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71734"/>
                                        </p:tgtEl>
                                        <p:attrNameLst>
                                          <p:attrName>style.visibility</p:attrName>
                                        </p:attrNameLst>
                                      </p:cBhvr>
                                      <p:to>
                                        <p:strVal val="visible"/>
                                      </p:to>
                                    </p:set>
                                    <p:anim calcmode="lin" valueType="num">
                                      <p:cBhvr>
                                        <p:cTn id="32" dur="500" fill="hold"/>
                                        <p:tgtEl>
                                          <p:spTgt spid="371734"/>
                                        </p:tgtEl>
                                        <p:attrNameLst>
                                          <p:attrName>ppt_w</p:attrName>
                                        </p:attrNameLst>
                                      </p:cBhvr>
                                      <p:tavLst>
                                        <p:tav tm="0">
                                          <p:val>
                                            <p:fltVal val="0"/>
                                          </p:val>
                                        </p:tav>
                                        <p:tav tm="100000">
                                          <p:val>
                                            <p:strVal val="#ppt_w"/>
                                          </p:val>
                                        </p:tav>
                                      </p:tavLst>
                                    </p:anim>
                                    <p:anim calcmode="lin" valueType="num">
                                      <p:cBhvr>
                                        <p:cTn id="33" dur="500" fill="hold"/>
                                        <p:tgtEl>
                                          <p:spTgt spid="371734"/>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ox(out)">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71721"/>
                                        </p:tgtEl>
                                        <p:attrNameLst>
                                          <p:attrName>style.visibility</p:attrName>
                                        </p:attrNameLst>
                                      </p:cBhvr>
                                      <p:to>
                                        <p:strVal val="visible"/>
                                      </p:to>
                                    </p:set>
                                    <p:animEffect transition="in" filter="wipe(left)">
                                      <p:cBhvr>
                                        <p:cTn id="43" dur="500"/>
                                        <p:tgtEl>
                                          <p:spTgt spid="371721"/>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371731"/>
                                        </p:tgtEl>
                                        <p:attrNameLst>
                                          <p:attrName>style.visibility</p:attrName>
                                        </p:attrNameLst>
                                      </p:cBhvr>
                                      <p:to>
                                        <p:strVal val="visible"/>
                                      </p:to>
                                    </p:set>
                                    <p:animEffect transition="in" filter="wipe(up)">
                                      <p:cBhvr>
                                        <p:cTn id="46" dur="500"/>
                                        <p:tgtEl>
                                          <p:spTgt spid="3717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71722"/>
                                        </p:tgtEl>
                                        <p:attrNameLst>
                                          <p:attrName>style.visibility</p:attrName>
                                        </p:attrNameLst>
                                      </p:cBhvr>
                                      <p:to>
                                        <p:strVal val="visible"/>
                                      </p:to>
                                    </p:set>
                                    <p:animEffect transition="in" filter="wipe(left)">
                                      <p:cBhvr>
                                        <p:cTn id="51" dur="500"/>
                                        <p:tgtEl>
                                          <p:spTgt spid="371722"/>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371732"/>
                                        </p:tgtEl>
                                        <p:attrNameLst>
                                          <p:attrName>style.visibility</p:attrName>
                                        </p:attrNameLst>
                                      </p:cBhvr>
                                      <p:to>
                                        <p:strVal val="visible"/>
                                      </p:to>
                                    </p:set>
                                    <p:animEffect transition="in" filter="wipe(up)">
                                      <p:cBhvr>
                                        <p:cTn id="54" dur="500"/>
                                        <p:tgtEl>
                                          <p:spTgt spid="37173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71723"/>
                                        </p:tgtEl>
                                        <p:attrNameLst>
                                          <p:attrName>style.visibility</p:attrName>
                                        </p:attrNameLst>
                                      </p:cBhvr>
                                      <p:to>
                                        <p:strVal val="visible"/>
                                      </p:to>
                                    </p:set>
                                    <p:animEffect transition="in" filter="wipe(left)">
                                      <p:cBhvr>
                                        <p:cTn id="59" dur="500"/>
                                        <p:tgtEl>
                                          <p:spTgt spid="371723"/>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71733"/>
                                        </p:tgtEl>
                                        <p:attrNameLst>
                                          <p:attrName>style.visibility</p:attrName>
                                        </p:attrNameLst>
                                      </p:cBhvr>
                                      <p:to>
                                        <p:strVal val="visible"/>
                                      </p:to>
                                    </p:set>
                                    <p:animEffect transition="in" filter="wipe(up)">
                                      <p:cBhvr>
                                        <p:cTn id="62" dur="500"/>
                                        <p:tgtEl>
                                          <p:spTgt spid="3717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71730"/>
                                        </p:tgtEl>
                                        <p:attrNameLst>
                                          <p:attrName>style.visibility</p:attrName>
                                        </p:attrNameLst>
                                      </p:cBhvr>
                                      <p:to>
                                        <p:strVal val="visible"/>
                                      </p:to>
                                    </p:set>
                                    <p:animEffect transition="in" filter="wipe(up)">
                                      <p:cBhvr>
                                        <p:cTn id="67" dur="500"/>
                                        <p:tgtEl>
                                          <p:spTgt spid="37173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71735"/>
                                        </p:tgtEl>
                                        <p:attrNameLst>
                                          <p:attrName>style.visibility</p:attrName>
                                        </p:attrNameLst>
                                      </p:cBhvr>
                                      <p:to>
                                        <p:strVal val="visible"/>
                                      </p:to>
                                    </p:set>
                                    <p:animEffect transition="in" filter="wipe(left)">
                                      <p:cBhvr>
                                        <p:cTn id="72" dur="500"/>
                                        <p:tgtEl>
                                          <p:spTgt spid="371735"/>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371736"/>
                                        </p:tgtEl>
                                        <p:attrNameLst>
                                          <p:attrName>style.visibility</p:attrName>
                                        </p:attrNameLst>
                                      </p:cBhvr>
                                      <p:to>
                                        <p:strVal val="visible"/>
                                      </p:to>
                                    </p:set>
                                    <p:animEffect transition="in" filter="wipe(left)">
                                      <p:cBhvr>
                                        <p:cTn id="76" dur="500"/>
                                        <p:tgtEl>
                                          <p:spTgt spid="37173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71746"/>
                                        </p:tgtEl>
                                        <p:attrNameLst>
                                          <p:attrName>style.visibility</p:attrName>
                                        </p:attrNameLst>
                                      </p:cBhvr>
                                      <p:to>
                                        <p:strVal val="visible"/>
                                      </p:to>
                                    </p:set>
                                    <p:animEffect transition="in" filter="wipe(left)">
                                      <p:cBhvr>
                                        <p:cTn id="81" dur="500"/>
                                        <p:tgtEl>
                                          <p:spTgt spid="37174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71748"/>
                                        </p:tgtEl>
                                        <p:attrNameLst>
                                          <p:attrName>style.visibility</p:attrName>
                                        </p:attrNameLst>
                                      </p:cBhvr>
                                      <p:to>
                                        <p:strVal val="visible"/>
                                      </p:to>
                                    </p:set>
                                    <p:animEffect transition="in" filter="wipe(left)">
                                      <p:cBhvr>
                                        <p:cTn id="86" dur="500"/>
                                        <p:tgtEl>
                                          <p:spTgt spid="37174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371745"/>
                                        </p:tgtEl>
                                        <p:attrNameLst>
                                          <p:attrName>style.visibility</p:attrName>
                                        </p:attrNameLst>
                                      </p:cBhvr>
                                      <p:to>
                                        <p:strVal val="visible"/>
                                      </p:to>
                                    </p:set>
                                    <p:animEffect transition="in" filter="wipe(left)">
                                      <p:cBhvr>
                                        <p:cTn id="91" dur="500"/>
                                        <p:tgtEl>
                                          <p:spTgt spid="37174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371747"/>
                                        </p:tgtEl>
                                        <p:attrNameLst>
                                          <p:attrName>style.visibility</p:attrName>
                                        </p:attrNameLst>
                                      </p:cBhvr>
                                      <p:to>
                                        <p:strVal val="visible"/>
                                      </p:to>
                                    </p:set>
                                    <p:animEffect transition="in" filter="wipe(left)">
                                      <p:cBhvr>
                                        <p:cTn id="96" dur="500"/>
                                        <p:tgtEl>
                                          <p:spTgt spid="371747"/>
                                        </p:tgtEl>
                                      </p:cBhvr>
                                    </p:animEffect>
                                  </p:childTnLst>
                                </p:cTn>
                              </p:par>
                            </p:childTnLst>
                          </p:cTn>
                        </p:par>
                        <p:par>
                          <p:cTn id="97" fill="hold">
                            <p:stCondLst>
                              <p:cond delay="500"/>
                            </p:stCondLst>
                            <p:childTnLst>
                              <p:par>
                                <p:cTn id="98" presetID="3" presetClass="entr" presetSubtype="10" fill="hold" grpId="0" nodeType="afterEffect">
                                  <p:stCondLst>
                                    <p:cond delay="0"/>
                                  </p:stCondLst>
                                  <p:childTnLst>
                                    <p:set>
                                      <p:cBhvr>
                                        <p:cTn id="99" dur="1" fill="hold">
                                          <p:stCondLst>
                                            <p:cond delay="0"/>
                                          </p:stCondLst>
                                        </p:cTn>
                                        <p:tgtEl>
                                          <p:spTgt spid="371749"/>
                                        </p:tgtEl>
                                        <p:attrNameLst>
                                          <p:attrName>style.visibility</p:attrName>
                                        </p:attrNameLst>
                                      </p:cBhvr>
                                      <p:to>
                                        <p:strVal val="visible"/>
                                      </p:to>
                                    </p:set>
                                    <p:animEffect transition="in" filter="blinds(horizontal)">
                                      <p:cBhvr>
                                        <p:cTn id="100" dur="500"/>
                                        <p:tgtEl>
                                          <p:spTgt spid="37174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371750"/>
                                        </p:tgtEl>
                                        <p:attrNameLst>
                                          <p:attrName>style.visibility</p:attrName>
                                        </p:attrNameLst>
                                      </p:cBhvr>
                                      <p:to>
                                        <p:strVal val="visible"/>
                                      </p:to>
                                    </p:set>
                                    <p:animEffect transition="in" filter="wipe(left)">
                                      <p:cBhvr>
                                        <p:cTn id="105" dur="500"/>
                                        <p:tgtEl>
                                          <p:spTgt spid="371750"/>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371751"/>
                                        </p:tgtEl>
                                        <p:attrNameLst>
                                          <p:attrName>style.visibility</p:attrName>
                                        </p:attrNameLst>
                                      </p:cBhvr>
                                      <p:to>
                                        <p:strVal val="visible"/>
                                      </p:to>
                                    </p:set>
                                    <p:animEffect transition="in" filter="wipe(left)">
                                      <p:cBhvr>
                                        <p:cTn id="110" dur="500"/>
                                        <p:tgtEl>
                                          <p:spTgt spid="37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p:bldP spid="371717" grpId="0"/>
      <p:bldP spid="371718" grpId="0"/>
      <p:bldP spid="371719" grpId="0"/>
      <p:bldP spid="371720" grpId="0"/>
      <p:bldP spid="371721" grpId="0" animBg="1"/>
      <p:bldP spid="371722" grpId="0" animBg="1"/>
      <p:bldP spid="371723" grpId="0" animBg="1"/>
      <p:bldP spid="371730" grpId="0"/>
      <p:bldP spid="371731" grpId="0"/>
      <p:bldP spid="371732" grpId="0"/>
      <p:bldP spid="371733" grpId="0"/>
      <p:bldP spid="371734" grpId="0"/>
      <p:bldP spid="371736" grpId="0"/>
      <p:bldP spid="371747" grpId="0"/>
      <p:bldP spid="371748" grpId="0"/>
      <p:bldP spid="371749" grpId="0" animBg="1"/>
      <p:bldP spid="37175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6" name="Text Box 36"/>
          <p:cNvSpPr txBox="1">
            <a:spLocks noChangeArrowheads="1"/>
          </p:cNvSpPr>
          <p:nvPr/>
        </p:nvSpPr>
        <p:spPr bwMode="auto">
          <a:xfrm>
            <a:off x="900113" y="849313"/>
            <a:ext cx="2325687" cy="512762"/>
          </a:xfrm>
          <a:prstGeom prst="rect">
            <a:avLst/>
          </a:prstGeom>
          <a:noFill/>
          <a:ln w="9525">
            <a:noFill/>
            <a:miter lim="800000"/>
            <a:headEnd/>
            <a:tailEnd/>
          </a:ln>
        </p:spPr>
        <p:txBody>
          <a:bodyPr>
            <a:spAutoFit/>
          </a:bodyPr>
          <a:lstStyle/>
          <a:p>
            <a:pPr>
              <a:lnSpc>
                <a:spcPct val="115000"/>
              </a:lnSpc>
              <a:buClr>
                <a:srgbClr val="CC0000"/>
              </a:buClr>
              <a:buFont typeface="Wingdings" pitchFamily="2" charset="2"/>
              <a:buNone/>
            </a:pPr>
            <a:r>
              <a:rPr kumimoji="1" lang="zh-CN" altLang="en-US" sz="2400" b="1">
                <a:solidFill>
                  <a:srgbClr val="FF0000"/>
                </a:solidFill>
                <a:latin typeface="Times New Roman" pitchFamily="18" charset="0"/>
              </a:rPr>
              <a:t>注意</a:t>
            </a:r>
          </a:p>
        </p:txBody>
      </p:sp>
      <p:sp>
        <p:nvSpPr>
          <p:cNvPr id="15407" name="AutoShape 47"/>
          <p:cNvSpPr>
            <a:spLocks noChangeArrowheads="1"/>
          </p:cNvSpPr>
          <p:nvPr/>
        </p:nvSpPr>
        <p:spPr bwMode="auto">
          <a:xfrm>
            <a:off x="495300" y="847725"/>
            <a:ext cx="360363" cy="576263"/>
          </a:xfrm>
          <a:prstGeom prst="star4">
            <a:avLst>
              <a:gd name="adj" fmla="val 18519"/>
            </a:avLst>
          </a:prstGeom>
          <a:gradFill rotWithShape="0">
            <a:gsLst>
              <a:gs pos="0">
                <a:srgbClr val="FF0000"/>
              </a:gs>
              <a:gs pos="100000">
                <a:srgbClr val="760000"/>
              </a:gs>
            </a:gsLst>
            <a:path path="shape">
              <a:fillToRect l="50000" t="50000" r="50000" b="50000"/>
            </a:path>
          </a:gradFill>
          <a:ln w="9525">
            <a:noFill/>
            <a:miter lim="800000"/>
            <a:headEnd/>
            <a:tailEnd/>
          </a:ln>
        </p:spPr>
        <p:txBody>
          <a:bodyPr wrap="none" anchor="ctr"/>
          <a:lstStyle/>
          <a:p>
            <a:pPr algn="ctr"/>
            <a:endParaRPr lang="zh-CN" altLang="en-US"/>
          </a:p>
        </p:txBody>
      </p:sp>
      <p:sp>
        <p:nvSpPr>
          <p:cNvPr id="15417" name="Rectangle 57"/>
          <p:cNvSpPr>
            <a:spLocks noChangeArrowheads="1"/>
          </p:cNvSpPr>
          <p:nvPr/>
        </p:nvSpPr>
        <p:spPr bwMode="auto">
          <a:xfrm>
            <a:off x="757238" y="1608138"/>
            <a:ext cx="7127875" cy="1422400"/>
          </a:xfrm>
          <a:prstGeom prst="rect">
            <a:avLst/>
          </a:prstGeom>
          <a:noFill/>
          <a:ln w="9525">
            <a:noFill/>
            <a:miter lim="800000"/>
            <a:headEnd/>
            <a:tailEnd/>
          </a:ln>
        </p:spPr>
        <p:txBody>
          <a:bodyPr>
            <a:spAutoFit/>
          </a:bodyPr>
          <a:lstStyle/>
          <a:p>
            <a:pPr>
              <a:lnSpc>
                <a:spcPct val="120000"/>
              </a:lnSpc>
              <a:defRPr/>
            </a:pPr>
            <a:r>
              <a:rPr kumimoji="1" lang="zh-CN" altLang="en-US" sz="2400" b="1" dirty="0">
                <a:latin typeface="+mn-ea"/>
                <a:ea typeface="+mn-ea"/>
                <a:cs typeface="Times New Roman" pitchFamily="18" charset="0"/>
              </a:rPr>
              <a:t>    气体分子间的距离大约是分子本身线度的 </a:t>
            </a:r>
            <a:r>
              <a:rPr kumimoji="1" lang="en-US" altLang="zh-CN" sz="2400" b="1" dirty="0">
                <a:solidFill>
                  <a:srgbClr val="FF6600"/>
                </a:solidFill>
                <a:latin typeface="Times New Roman" pitchFamily="18" charset="0"/>
                <a:ea typeface="+mn-ea"/>
                <a:cs typeface="Times New Roman" pitchFamily="18" charset="0"/>
              </a:rPr>
              <a:t>10 </a:t>
            </a:r>
            <a:r>
              <a:rPr kumimoji="1" lang="zh-CN" altLang="en-US" sz="2400" b="1" dirty="0">
                <a:solidFill>
                  <a:srgbClr val="FF6600"/>
                </a:solidFill>
                <a:latin typeface="+mn-ea"/>
                <a:ea typeface="+mn-ea"/>
                <a:cs typeface="Times New Roman" pitchFamily="18" charset="0"/>
              </a:rPr>
              <a:t>倍左右</a:t>
            </a:r>
            <a:r>
              <a:rPr kumimoji="1" lang="zh-CN" altLang="en-US" sz="2400" b="1" dirty="0">
                <a:latin typeface="+mn-ea"/>
                <a:ea typeface="+mn-ea"/>
                <a:cs typeface="Times New Roman" pitchFamily="18" charset="0"/>
              </a:rPr>
              <a:t>，气体分子除相互碰撞瞬间外，可看作是不受外力作用的</a:t>
            </a:r>
            <a:r>
              <a:rPr kumimoji="1" lang="zh-CN" altLang="en-US" sz="2400" b="1" dirty="0">
                <a:solidFill>
                  <a:srgbClr val="FF6600"/>
                </a:solidFill>
                <a:latin typeface="+mn-ea"/>
                <a:ea typeface="+mn-ea"/>
                <a:cs typeface="Times New Roman" pitchFamily="18" charset="0"/>
              </a:rPr>
              <a:t>自由运动</a:t>
            </a:r>
            <a:r>
              <a:rPr kumimoji="1" lang="zh-CN" altLang="en-US" sz="2400" b="1" dirty="0">
                <a:latin typeface="+mn-ea"/>
                <a:ea typeface="+mn-ea"/>
                <a:cs typeface="Times New Roman" pitchFamily="18" charset="0"/>
              </a:rPr>
              <a:t>。 </a:t>
            </a:r>
          </a:p>
        </p:txBody>
      </p:sp>
      <p:sp>
        <p:nvSpPr>
          <p:cNvPr id="15418" name="Text Box 58"/>
          <p:cNvSpPr txBox="1">
            <a:spLocks noChangeArrowheads="1"/>
          </p:cNvSpPr>
          <p:nvPr/>
        </p:nvSpPr>
        <p:spPr bwMode="auto">
          <a:xfrm>
            <a:off x="928688" y="4003675"/>
            <a:ext cx="6867525" cy="1354138"/>
          </a:xfrm>
          <a:prstGeom prst="rect">
            <a:avLst/>
          </a:prstGeom>
          <a:gradFill rotWithShape="1">
            <a:gsLst>
              <a:gs pos="0">
                <a:srgbClr val="FFFF00"/>
              </a:gs>
              <a:gs pos="100000">
                <a:srgbClr val="66FFFF"/>
              </a:gs>
            </a:gsLst>
            <a:lin ang="0" scaled="1"/>
          </a:gradFill>
          <a:ln w="9525">
            <a:noFill/>
            <a:miter lim="800000"/>
            <a:headEnd/>
            <a:tailEnd/>
          </a:ln>
        </p:spPr>
        <p:txBody>
          <a:bodyPr>
            <a:spAutoFit/>
          </a:bodyPr>
          <a:lstStyle/>
          <a:p>
            <a:pPr>
              <a:lnSpc>
                <a:spcPct val="115000"/>
              </a:lnSpc>
              <a:defRPr/>
            </a:pPr>
            <a:r>
              <a:rPr kumimoji="1" lang="zh-CN" altLang="en-US" sz="2400" b="1" dirty="0">
                <a:latin typeface="+mn-ea"/>
                <a:ea typeface="+mn-ea"/>
              </a:rPr>
              <a:t>    一切宏观物体都是由</a:t>
            </a:r>
            <a:r>
              <a:rPr kumimoji="1" lang="zh-CN" altLang="en-US" sz="2400" b="1" dirty="0">
                <a:solidFill>
                  <a:srgbClr val="FF6600"/>
                </a:solidFill>
                <a:latin typeface="+mn-ea"/>
                <a:ea typeface="+mn-ea"/>
              </a:rPr>
              <a:t>大量分子</a:t>
            </a:r>
            <a:r>
              <a:rPr kumimoji="1" lang="zh-CN" altLang="en-US" sz="2400" b="1" dirty="0">
                <a:latin typeface="+mn-ea"/>
                <a:ea typeface="+mn-ea"/>
              </a:rPr>
              <a:t>组成的，分子都在</a:t>
            </a:r>
            <a:r>
              <a:rPr kumimoji="1" lang="zh-CN" altLang="en-US" sz="2400" b="1" dirty="0">
                <a:solidFill>
                  <a:srgbClr val="FF6600"/>
                </a:solidFill>
                <a:latin typeface="+mn-ea"/>
                <a:ea typeface="+mn-ea"/>
              </a:rPr>
              <a:t>永不停息地</a:t>
            </a:r>
            <a:r>
              <a:rPr kumimoji="1" lang="zh-CN" altLang="en-US" sz="2400" b="1" dirty="0">
                <a:latin typeface="+mn-ea"/>
                <a:ea typeface="+mn-ea"/>
              </a:rPr>
              <a:t>作无序热运动，分子之间有</a:t>
            </a:r>
            <a:r>
              <a:rPr kumimoji="1" lang="zh-CN" altLang="en-US" sz="2400" b="1" dirty="0">
                <a:solidFill>
                  <a:srgbClr val="FF6600"/>
                </a:solidFill>
                <a:latin typeface="+mn-ea"/>
                <a:ea typeface="+mn-ea"/>
              </a:rPr>
              <a:t>相互作用</a:t>
            </a:r>
            <a:r>
              <a:rPr kumimoji="1" lang="zh-CN" altLang="en-US" sz="2400" b="1" dirty="0">
                <a:latin typeface="+mn-ea"/>
                <a:ea typeface="+mn-ea"/>
              </a:rPr>
              <a:t>的分子力。</a:t>
            </a:r>
          </a:p>
        </p:txBody>
      </p:sp>
      <p:sp>
        <p:nvSpPr>
          <p:cNvPr id="15419" name="Text Box 59"/>
          <p:cNvSpPr txBox="1">
            <a:spLocks noChangeArrowheads="1"/>
          </p:cNvSpPr>
          <p:nvPr/>
        </p:nvSpPr>
        <p:spPr bwMode="auto">
          <a:xfrm>
            <a:off x="900113" y="3368675"/>
            <a:ext cx="2325687" cy="512763"/>
          </a:xfrm>
          <a:prstGeom prst="rect">
            <a:avLst/>
          </a:prstGeom>
          <a:noFill/>
          <a:ln w="9525">
            <a:noFill/>
            <a:miter lim="800000"/>
            <a:headEnd/>
            <a:tailEnd/>
          </a:ln>
        </p:spPr>
        <p:txBody>
          <a:bodyPr>
            <a:spAutoFit/>
          </a:bodyPr>
          <a:lstStyle/>
          <a:p>
            <a:pPr>
              <a:lnSpc>
                <a:spcPct val="115000"/>
              </a:lnSpc>
              <a:buClr>
                <a:srgbClr val="CC0000"/>
              </a:buClr>
              <a:buFont typeface="Wingdings" pitchFamily="2" charset="2"/>
              <a:buNone/>
            </a:pPr>
            <a:r>
              <a:rPr kumimoji="1" lang="zh-CN" altLang="en-US" sz="2400" b="1">
                <a:solidFill>
                  <a:srgbClr val="FF0000"/>
                </a:solidFill>
                <a:latin typeface="Times New Roman" pitchFamily="18" charset="0"/>
              </a:rPr>
              <a:t>结论</a:t>
            </a:r>
          </a:p>
        </p:txBody>
      </p:sp>
      <p:sp>
        <p:nvSpPr>
          <p:cNvPr id="15420" name="AutoShape 60"/>
          <p:cNvSpPr>
            <a:spLocks noChangeArrowheads="1"/>
          </p:cNvSpPr>
          <p:nvPr/>
        </p:nvSpPr>
        <p:spPr bwMode="auto">
          <a:xfrm>
            <a:off x="495300" y="3367088"/>
            <a:ext cx="360363" cy="576262"/>
          </a:xfrm>
          <a:prstGeom prst="star4">
            <a:avLst>
              <a:gd name="adj" fmla="val 18519"/>
            </a:avLst>
          </a:prstGeom>
          <a:gradFill rotWithShape="0">
            <a:gsLst>
              <a:gs pos="0">
                <a:srgbClr val="FF0000"/>
              </a:gs>
              <a:gs pos="100000">
                <a:srgbClr val="760000"/>
              </a:gs>
            </a:gsLst>
            <a:path path="shape">
              <a:fillToRect l="50000" t="50000" r="50000" b="50000"/>
            </a:path>
          </a:gra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5407"/>
                                        </p:tgtEl>
                                        <p:attrNameLst>
                                          <p:attrName>style.visibility</p:attrName>
                                        </p:attrNameLst>
                                      </p:cBhvr>
                                      <p:to>
                                        <p:strVal val="visible"/>
                                      </p:to>
                                    </p:set>
                                    <p:anim calcmode="lin" valueType="num">
                                      <p:cBhvr>
                                        <p:cTn id="7" dur="500" fill="hold"/>
                                        <p:tgtEl>
                                          <p:spTgt spid="15407"/>
                                        </p:tgtEl>
                                        <p:attrNameLst>
                                          <p:attrName>ppt_w</p:attrName>
                                        </p:attrNameLst>
                                      </p:cBhvr>
                                      <p:tavLst>
                                        <p:tav tm="0">
                                          <p:val>
                                            <p:strVal val="4*#ppt_w"/>
                                          </p:val>
                                        </p:tav>
                                        <p:tav tm="100000">
                                          <p:val>
                                            <p:strVal val="#ppt_w"/>
                                          </p:val>
                                        </p:tav>
                                      </p:tavLst>
                                    </p:anim>
                                    <p:anim calcmode="lin" valueType="num">
                                      <p:cBhvr>
                                        <p:cTn id="8" dur="500" fill="hold"/>
                                        <p:tgtEl>
                                          <p:spTgt spid="1540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5396"/>
                                        </p:tgtEl>
                                        <p:attrNameLst>
                                          <p:attrName>style.visibility</p:attrName>
                                        </p:attrNameLst>
                                      </p:cBhvr>
                                      <p:to>
                                        <p:strVal val="visible"/>
                                      </p:to>
                                    </p:set>
                                    <p:animEffect transition="in" filter="wipe(left)">
                                      <p:cBhvr>
                                        <p:cTn id="12" dur="500"/>
                                        <p:tgtEl>
                                          <p:spTgt spid="153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17"/>
                                        </p:tgtEl>
                                        <p:attrNameLst>
                                          <p:attrName>style.visibility</p:attrName>
                                        </p:attrNameLst>
                                      </p:cBhvr>
                                      <p:to>
                                        <p:strVal val="visible"/>
                                      </p:to>
                                    </p:set>
                                    <p:animEffect transition="in" filter="wipe(left)">
                                      <p:cBhvr>
                                        <p:cTn id="17" dur="500"/>
                                        <p:tgtEl>
                                          <p:spTgt spid="15417"/>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32" fill="hold" grpId="0" nodeType="clickEffect">
                                  <p:stCondLst>
                                    <p:cond delay="0"/>
                                  </p:stCondLst>
                                  <p:childTnLst>
                                    <p:set>
                                      <p:cBhvr>
                                        <p:cTn id="21" dur="1" fill="hold">
                                          <p:stCondLst>
                                            <p:cond delay="0"/>
                                          </p:stCondLst>
                                        </p:cTn>
                                        <p:tgtEl>
                                          <p:spTgt spid="15420"/>
                                        </p:tgtEl>
                                        <p:attrNameLst>
                                          <p:attrName>style.visibility</p:attrName>
                                        </p:attrNameLst>
                                      </p:cBhvr>
                                      <p:to>
                                        <p:strVal val="visible"/>
                                      </p:to>
                                    </p:set>
                                    <p:anim calcmode="lin" valueType="num">
                                      <p:cBhvr>
                                        <p:cTn id="22" dur="500" fill="hold"/>
                                        <p:tgtEl>
                                          <p:spTgt spid="15420"/>
                                        </p:tgtEl>
                                        <p:attrNameLst>
                                          <p:attrName>ppt_w</p:attrName>
                                        </p:attrNameLst>
                                      </p:cBhvr>
                                      <p:tavLst>
                                        <p:tav tm="0">
                                          <p:val>
                                            <p:strVal val="4*#ppt_w"/>
                                          </p:val>
                                        </p:tav>
                                        <p:tav tm="100000">
                                          <p:val>
                                            <p:strVal val="#ppt_w"/>
                                          </p:val>
                                        </p:tav>
                                      </p:tavLst>
                                    </p:anim>
                                    <p:anim calcmode="lin" valueType="num">
                                      <p:cBhvr>
                                        <p:cTn id="23" dur="500" fill="hold"/>
                                        <p:tgtEl>
                                          <p:spTgt spid="15420"/>
                                        </p:tgtEl>
                                        <p:attrNameLst>
                                          <p:attrName>ppt_h</p:attrName>
                                        </p:attrNameLst>
                                      </p:cBhvr>
                                      <p:tavLst>
                                        <p:tav tm="0">
                                          <p:val>
                                            <p:strVal val="4*#ppt_h"/>
                                          </p:val>
                                        </p:tav>
                                        <p:tav tm="100000">
                                          <p:val>
                                            <p:strVal val="#ppt_h"/>
                                          </p:val>
                                        </p:tav>
                                      </p:tavLst>
                                    </p:anim>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5419"/>
                                        </p:tgtEl>
                                        <p:attrNameLst>
                                          <p:attrName>style.visibility</p:attrName>
                                        </p:attrNameLst>
                                      </p:cBhvr>
                                      <p:to>
                                        <p:strVal val="visible"/>
                                      </p:to>
                                    </p:set>
                                    <p:animEffect transition="in" filter="wipe(left)">
                                      <p:cBhvr>
                                        <p:cTn id="27" dur="500"/>
                                        <p:tgtEl>
                                          <p:spTgt spid="15419"/>
                                        </p:tgtEl>
                                      </p:cBhvr>
                                    </p:animEffec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15418"/>
                                        </p:tgtEl>
                                        <p:attrNameLst>
                                          <p:attrName>style.visibility</p:attrName>
                                        </p:attrNameLst>
                                      </p:cBhvr>
                                      <p:to>
                                        <p:strVal val="visible"/>
                                      </p:to>
                                    </p:set>
                                    <p:anim calcmode="discrete" valueType="clr">
                                      <p:cBhvr override="childStyle">
                                        <p:cTn id="32" dur="80"/>
                                        <p:tgtEl>
                                          <p:spTgt spid="15418"/>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15418"/>
                                        </p:tgtEl>
                                        <p:attrNameLst>
                                          <p:attrName>fillcolor</p:attrName>
                                        </p:attrNameLst>
                                      </p:cBhvr>
                                      <p:tavLst>
                                        <p:tav tm="0">
                                          <p:val>
                                            <p:clrVal>
                                              <a:schemeClr val="accent2"/>
                                            </p:clrVal>
                                          </p:val>
                                        </p:tav>
                                        <p:tav tm="50000">
                                          <p:val>
                                            <p:clrVal>
                                              <a:schemeClr val="hlink"/>
                                            </p:clrVal>
                                          </p:val>
                                        </p:tav>
                                      </p:tavLst>
                                    </p:anim>
                                    <p:set>
                                      <p:cBhvr>
                                        <p:cTn id="34" dur="80"/>
                                        <p:tgtEl>
                                          <p:spTgt spid="1541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6" grpId="0"/>
      <p:bldP spid="15407" grpId="0" animBg="1"/>
      <p:bldP spid="15417" grpId="0"/>
      <p:bldP spid="15418" grpId="0" animBg="1"/>
      <p:bldP spid="15419" grpId="0"/>
      <p:bldP spid="154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ChangeArrowheads="1"/>
          </p:cNvSpPr>
          <p:nvPr/>
        </p:nvSpPr>
        <p:spPr bwMode="auto">
          <a:xfrm>
            <a:off x="71438" y="1800225"/>
            <a:ext cx="4143375" cy="1016000"/>
          </a:xfrm>
          <a:prstGeom prst="rect">
            <a:avLst/>
          </a:prstGeom>
          <a:solidFill>
            <a:srgbClr val="CCFFCC"/>
          </a:solidFill>
          <a:ln w="9525">
            <a:solidFill>
              <a:srgbClr val="00FF00"/>
            </a:solidFill>
            <a:miter lim="800000"/>
            <a:headEnd/>
            <a:tailEnd/>
          </a:ln>
        </p:spPr>
        <p:txBody>
          <a:bodyPr>
            <a:spAutoFit/>
          </a:bodyPr>
          <a:lstStyle/>
          <a:p>
            <a:pPr marL="457200" indent="-457200">
              <a:lnSpc>
                <a:spcPct val="125000"/>
              </a:lnSpc>
              <a:buFontTx/>
              <a:buAutoNum type="arabicParenBoth"/>
            </a:pPr>
            <a:r>
              <a:rPr lang="zh-CN" altLang="en-US" sz="2400" b="1">
                <a:latin typeface="Times New Roman" pitchFamily="18" charset="0"/>
                <a:ea typeface="楷体_GB2312" pitchFamily="49" charset="-122"/>
              </a:rPr>
              <a:t>气体分子间的</a:t>
            </a:r>
            <a:r>
              <a:rPr lang="zh-CN" altLang="en-US" sz="2400" b="1">
                <a:solidFill>
                  <a:srgbClr val="FF6600"/>
                </a:solidFill>
                <a:latin typeface="Times New Roman" pitchFamily="18" charset="0"/>
                <a:ea typeface="楷体_GB2312" pitchFamily="49" charset="-122"/>
              </a:rPr>
              <a:t>分子力极小</a:t>
            </a:r>
            <a:endParaRPr lang="en-US" altLang="zh-CN" sz="2400" b="1">
              <a:solidFill>
                <a:srgbClr val="FF6600"/>
              </a:solidFill>
              <a:latin typeface="Times New Roman" pitchFamily="18" charset="0"/>
              <a:ea typeface="楷体_GB2312" pitchFamily="49" charset="-122"/>
            </a:endParaRPr>
          </a:p>
          <a:p>
            <a:pPr marL="457200" indent="-457200">
              <a:lnSpc>
                <a:spcPct val="125000"/>
              </a:lnSpc>
            </a:pPr>
            <a:r>
              <a:rPr lang="en-US" altLang="zh-CN" sz="2400" b="1">
                <a:latin typeface="Times New Roman" pitchFamily="18" charset="0"/>
                <a:ea typeface="楷体_GB2312" pitchFamily="49" charset="-122"/>
              </a:rPr>
              <a:t>(2)</a:t>
            </a:r>
            <a:r>
              <a:rPr lang="en-US" altLang="zh-CN" sz="2400" b="1">
                <a:solidFill>
                  <a:srgbClr val="FF6600"/>
                </a:solidFill>
                <a:latin typeface="Times New Roman" pitchFamily="18" charset="0"/>
                <a:ea typeface="楷体_GB2312" pitchFamily="49" charset="-122"/>
              </a:rPr>
              <a:t> </a:t>
            </a:r>
            <a:r>
              <a:rPr lang="zh-CN" altLang="en-US" sz="2400" b="1">
                <a:latin typeface="Times New Roman" pitchFamily="18" charset="0"/>
                <a:ea typeface="楷体_GB2312" pitchFamily="49" charset="-122"/>
              </a:rPr>
              <a:t>气体分子所受</a:t>
            </a:r>
            <a:r>
              <a:rPr lang="zh-CN" altLang="en-US" sz="2400" b="1">
                <a:solidFill>
                  <a:srgbClr val="FF6600"/>
                </a:solidFill>
                <a:latin typeface="Times New Roman" pitchFamily="18" charset="0"/>
                <a:ea typeface="楷体_GB2312" pitchFamily="49" charset="-122"/>
              </a:rPr>
              <a:t>重力可忽略</a:t>
            </a:r>
            <a:endParaRPr lang="zh-CN" altLang="en-US" sz="2400" b="1">
              <a:latin typeface="Times New Roman" pitchFamily="18" charset="0"/>
              <a:ea typeface="楷体_GB2312" pitchFamily="49" charset="-122"/>
            </a:endParaRPr>
          </a:p>
        </p:txBody>
      </p:sp>
      <p:sp>
        <p:nvSpPr>
          <p:cNvPr id="149509" name="Rectangle 5"/>
          <p:cNvSpPr>
            <a:spLocks noChangeArrowheads="1"/>
          </p:cNvSpPr>
          <p:nvPr/>
        </p:nvSpPr>
        <p:spPr bwMode="auto">
          <a:xfrm>
            <a:off x="357188" y="3313113"/>
            <a:ext cx="3571875" cy="830262"/>
          </a:xfrm>
          <a:prstGeom prst="rect">
            <a:avLst/>
          </a:prstGeom>
          <a:solidFill>
            <a:srgbClr val="CCFFCC"/>
          </a:solidFill>
          <a:ln w="9525">
            <a:solidFill>
              <a:srgbClr val="00FF00"/>
            </a:solidFill>
            <a:miter lim="800000"/>
            <a:headEnd/>
            <a:tailEnd/>
          </a:ln>
        </p:spPr>
        <p:txBody>
          <a:bodyPr>
            <a:spAutoFit/>
          </a:bodyPr>
          <a:lstStyle/>
          <a:p>
            <a:pPr algn="ctr"/>
            <a:r>
              <a:rPr kumimoji="1" lang="zh-CN" altLang="en-US" sz="2400" b="1">
                <a:solidFill>
                  <a:srgbClr val="FF6600"/>
                </a:solidFill>
                <a:ea typeface="楷体_GB2312" pitchFamily="49" charset="-122"/>
              </a:rPr>
              <a:t>热运动</a:t>
            </a:r>
            <a:r>
              <a:rPr kumimoji="1" lang="zh-CN" altLang="en-US" sz="2400" b="1">
                <a:ea typeface="楷体_GB2312" pitchFamily="49" charset="-122"/>
              </a:rPr>
              <a:t>可以看作是在惯性支配下的</a:t>
            </a:r>
            <a:r>
              <a:rPr kumimoji="1" lang="zh-CN" altLang="en-US" sz="2400" b="1">
                <a:solidFill>
                  <a:srgbClr val="FF6600"/>
                </a:solidFill>
                <a:ea typeface="楷体_GB2312" pitchFamily="49" charset="-122"/>
              </a:rPr>
              <a:t>自由运动</a:t>
            </a:r>
            <a:endParaRPr lang="zh-CN" altLang="en-US" sz="2400" b="1">
              <a:latin typeface="楷体_GB2312" pitchFamily="49" charset="-122"/>
              <a:ea typeface="楷体_GB2312" pitchFamily="49" charset="-122"/>
            </a:endParaRPr>
          </a:p>
        </p:txBody>
      </p:sp>
      <p:sp>
        <p:nvSpPr>
          <p:cNvPr id="149510" name="AutoShape 6"/>
          <p:cNvSpPr>
            <a:spLocks noChangeArrowheads="1"/>
          </p:cNvSpPr>
          <p:nvPr/>
        </p:nvSpPr>
        <p:spPr bwMode="auto">
          <a:xfrm rot="5400000">
            <a:off x="1823244" y="2905919"/>
            <a:ext cx="357187" cy="288925"/>
          </a:xfrm>
          <a:prstGeom prst="rightArrow">
            <a:avLst>
              <a:gd name="adj1" fmla="val 50000"/>
              <a:gd name="adj2" fmla="val 31044"/>
            </a:avLst>
          </a:prstGeom>
          <a:solidFill>
            <a:srgbClr val="FF0000"/>
          </a:solidFill>
          <a:ln w="9525" algn="ctr">
            <a:solidFill>
              <a:schemeClr val="tx1"/>
            </a:solidFill>
            <a:miter lim="800000"/>
            <a:headEnd/>
            <a:tailEnd/>
          </a:ln>
        </p:spPr>
        <p:txBody>
          <a:bodyPr wrap="none" anchor="ctr"/>
          <a:lstStyle/>
          <a:p>
            <a:pPr algn="ctr"/>
            <a:endParaRPr lang="zh-CN" altLang="en-US"/>
          </a:p>
        </p:txBody>
      </p:sp>
      <p:sp>
        <p:nvSpPr>
          <p:cNvPr id="149511" name="Rectangle 7"/>
          <p:cNvSpPr>
            <a:spLocks noChangeArrowheads="1"/>
          </p:cNvSpPr>
          <p:nvPr/>
        </p:nvSpPr>
        <p:spPr bwMode="auto">
          <a:xfrm>
            <a:off x="4572000" y="1728788"/>
            <a:ext cx="4214813" cy="1016000"/>
          </a:xfrm>
          <a:prstGeom prst="rect">
            <a:avLst/>
          </a:prstGeom>
          <a:solidFill>
            <a:srgbClr val="CCFFCC"/>
          </a:solidFill>
          <a:ln w="9525">
            <a:solidFill>
              <a:srgbClr val="00FF00"/>
            </a:solidFill>
            <a:miter lim="800000"/>
            <a:headEnd/>
            <a:tailEnd/>
          </a:ln>
        </p:spPr>
        <p:txBody>
          <a:bodyPr>
            <a:spAutoFit/>
          </a:bodyPr>
          <a:lstStyle/>
          <a:p>
            <a:pPr>
              <a:lnSpc>
                <a:spcPct val="125000"/>
              </a:lnSpc>
            </a:pPr>
            <a:r>
              <a:rPr lang="en-US" altLang="zh-CN" sz="2400" b="1">
                <a:latin typeface="Times New Roman" pitchFamily="18" charset="0"/>
                <a:ea typeface="楷体_GB2312" pitchFamily="49" charset="-122"/>
              </a:rPr>
              <a:t>(1) </a:t>
            </a:r>
            <a:r>
              <a:rPr lang="zh-CN" altLang="en-US" sz="2400" b="1">
                <a:latin typeface="Times New Roman" pitchFamily="18" charset="0"/>
                <a:ea typeface="楷体_GB2312" pitchFamily="49" charset="-122"/>
              </a:rPr>
              <a:t>气体中含有的</a:t>
            </a:r>
            <a:r>
              <a:rPr lang="zh-CN" altLang="en-US" sz="2400" b="1">
                <a:solidFill>
                  <a:srgbClr val="FF6600"/>
                </a:solidFill>
                <a:latin typeface="Times New Roman" pitchFamily="18" charset="0"/>
                <a:ea typeface="楷体_GB2312" pitchFamily="49" charset="-122"/>
              </a:rPr>
              <a:t>分子数目大</a:t>
            </a:r>
          </a:p>
          <a:p>
            <a:pPr>
              <a:lnSpc>
                <a:spcPct val="125000"/>
              </a:lnSpc>
            </a:pPr>
            <a:r>
              <a:rPr lang="en-US" altLang="zh-CN" sz="2400" b="1">
                <a:latin typeface="Times New Roman" pitchFamily="18" charset="0"/>
                <a:ea typeface="楷体_GB2312" pitchFamily="49" charset="-122"/>
              </a:rPr>
              <a:t>(2)</a:t>
            </a:r>
            <a:r>
              <a:rPr lang="en-US" altLang="zh-CN" sz="2400" b="1">
                <a:solidFill>
                  <a:srgbClr val="FF6600"/>
                </a:solidFill>
                <a:latin typeface="Times New Roman" pitchFamily="18" charset="0"/>
                <a:ea typeface="楷体_GB2312" pitchFamily="49" charset="-122"/>
              </a:rPr>
              <a:t> </a:t>
            </a:r>
            <a:r>
              <a:rPr lang="zh-CN" altLang="en-US" sz="2400" b="1">
                <a:latin typeface="Times New Roman" pitchFamily="18" charset="0"/>
                <a:ea typeface="楷体_GB2312" pitchFamily="49" charset="-122"/>
              </a:rPr>
              <a:t>气体分子</a:t>
            </a:r>
            <a:r>
              <a:rPr lang="zh-CN" altLang="en-US" sz="2400" b="1">
                <a:solidFill>
                  <a:srgbClr val="FF6600"/>
                </a:solidFill>
                <a:latin typeface="Times New Roman" pitchFamily="18" charset="0"/>
                <a:ea typeface="楷体_GB2312" pitchFamily="49" charset="-122"/>
              </a:rPr>
              <a:t>热运动速率大</a:t>
            </a:r>
          </a:p>
        </p:txBody>
      </p:sp>
      <p:sp>
        <p:nvSpPr>
          <p:cNvPr id="149512" name="AutoShape 8"/>
          <p:cNvSpPr>
            <a:spLocks noChangeArrowheads="1"/>
          </p:cNvSpPr>
          <p:nvPr/>
        </p:nvSpPr>
        <p:spPr bwMode="auto">
          <a:xfrm rot="5400000">
            <a:off x="6373020" y="2802731"/>
            <a:ext cx="277812" cy="288925"/>
          </a:xfrm>
          <a:prstGeom prst="rightArrow">
            <a:avLst>
              <a:gd name="adj1" fmla="val 50000"/>
              <a:gd name="adj2" fmla="val 31046"/>
            </a:avLst>
          </a:prstGeom>
          <a:solidFill>
            <a:srgbClr val="FF0000"/>
          </a:solidFill>
          <a:ln w="9525" algn="ctr">
            <a:solidFill>
              <a:schemeClr val="tx1"/>
            </a:solidFill>
            <a:miter lim="800000"/>
            <a:headEnd/>
            <a:tailEnd/>
          </a:ln>
        </p:spPr>
        <p:txBody>
          <a:bodyPr wrap="none" anchor="ctr"/>
          <a:lstStyle/>
          <a:p>
            <a:pPr algn="ctr"/>
            <a:endParaRPr lang="zh-CN" altLang="en-US"/>
          </a:p>
        </p:txBody>
      </p:sp>
      <p:sp>
        <p:nvSpPr>
          <p:cNvPr id="149513" name="Rectangle 9"/>
          <p:cNvSpPr>
            <a:spLocks noChangeArrowheads="1"/>
          </p:cNvSpPr>
          <p:nvPr/>
        </p:nvSpPr>
        <p:spPr bwMode="auto">
          <a:xfrm>
            <a:off x="4429125" y="3228975"/>
            <a:ext cx="4143375" cy="1200150"/>
          </a:xfrm>
          <a:prstGeom prst="rect">
            <a:avLst/>
          </a:prstGeom>
          <a:solidFill>
            <a:srgbClr val="CCFFCC"/>
          </a:solidFill>
          <a:ln w="9525">
            <a:solidFill>
              <a:srgbClr val="00FF00"/>
            </a:solidFill>
            <a:miter lim="800000"/>
            <a:headEnd/>
            <a:tailEnd/>
          </a:ln>
        </p:spPr>
        <p:txBody>
          <a:bodyPr>
            <a:spAutoFit/>
          </a:bodyPr>
          <a:lstStyle/>
          <a:p>
            <a:pPr algn="ctr"/>
            <a:r>
              <a:rPr kumimoji="1" lang="zh-CN" altLang="en-US" sz="2400" b="1">
                <a:latin typeface="Times New Roman" pitchFamily="18" charset="0"/>
                <a:ea typeface="楷体_GB2312" pitchFamily="49" charset="-122"/>
              </a:rPr>
              <a:t>气体分子间的相互碰撞非常频繁。</a:t>
            </a:r>
            <a:r>
              <a:rPr lang="zh-CN" altLang="en-US" sz="2400" b="1">
                <a:latin typeface="Times New Roman" pitchFamily="18" charset="0"/>
                <a:ea typeface="楷体_GB2312" pitchFamily="49" charset="-122"/>
              </a:rPr>
              <a:t>一秒内碰撞几十亿次 </a:t>
            </a:r>
            <a:r>
              <a:rPr lang="en-US" altLang="zh-CN" sz="2400" b="1">
                <a:solidFill>
                  <a:srgbClr val="FF6600"/>
                </a:solidFill>
                <a:latin typeface="Times New Roman" pitchFamily="18" charset="0"/>
                <a:ea typeface="楷体_GB2312" pitchFamily="49" charset="-122"/>
              </a:rPr>
              <a:t>(10</a:t>
            </a:r>
            <a:r>
              <a:rPr lang="en-US" altLang="zh-CN" sz="2400" b="1" baseline="30000">
                <a:solidFill>
                  <a:srgbClr val="FF6600"/>
                </a:solidFill>
                <a:latin typeface="Times New Roman" pitchFamily="18" charset="0"/>
                <a:ea typeface="楷体_GB2312" pitchFamily="49" charset="-122"/>
              </a:rPr>
              <a:t>9</a:t>
            </a:r>
            <a:r>
              <a:rPr lang="zh-CN" altLang="en-US" sz="2400" b="1">
                <a:solidFill>
                  <a:srgbClr val="FF6600"/>
                </a:solidFill>
                <a:latin typeface="Times New Roman" pitchFamily="18" charset="0"/>
                <a:ea typeface="楷体_GB2312" pitchFamily="49" charset="-122"/>
              </a:rPr>
              <a:t>次</a:t>
            </a:r>
            <a:r>
              <a:rPr lang="en-US" altLang="zh-CN" sz="2400" b="1">
                <a:solidFill>
                  <a:srgbClr val="FF6600"/>
                </a:solidFill>
                <a:latin typeface="Times New Roman" pitchFamily="18" charset="0"/>
                <a:ea typeface="楷体_GB2312" pitchFamily="49" charset="-122"/>
              </a:rPr>
              <a:t>/</a:t>
            </a:r>
            <a:r>
              <a:rPr lang="zh-CN" altLang="en-US" sz="2400" b="1">
                <a:solidFill>
                  <a:srgbClr val="FF6600"/>
                </a:solidFill>
                <a:latin typeface="Times New Roman" pitchFamily="18" charset="0"/>
                <a:ea typeface="楷体_GB2312" pitchFamily="49" charset="-122"/>
              </a:rPr>
              <a:t>秒</a:t>
            </a:r>
            <a:r>
              <a:rPr lang="en-US" altLang="zh-CN" sz="2400" b="1">
                <a:solidFill>
                  <a:srgbClr val="FF6600"/>
                </a:solidFill>
                <a:latin typeface="Times New Roman" pitchFamily="18" charset="0"/>
                <a:ea typeface="楷体_GB2312" pitchFamily="49" charset="-122"/>
              </a:rPr>
              <a:t>)</a:t>
            </a:r>
            <a:r>
              <a:rPr lang="en-US" altLang="zh-CN" sz="2400" b="1">
                <a:latin typeface="Times New Roman" pitchFamily="18" charset="0"/>
                <a:ea typeface="楷体_GB2312" pitchFamily="49" charset="-122"/>
              </a:rPr>
              <a:t> </a:t>
            </a:r>
          </a:p>
        </p:txBody>
      </p:sp>
      <p:sp>
        <p:nvSpPr>
          <p:cNvPr id="14" name="Rectangle 12"/>
          <p:cNvSpPr>
            <a:spLocks noChangeArrowheads="1"/>
          </p:cNvSpPr>
          <p:nvPr/>
        </p:nvSpPr>
        <p:spPr bwMode="auto">
          <a:xfrm>
            <a:off x="142875" y="4938713"/>
            <a:ext cx="8497888" cy="1587500"/>
          </a:xfrm>
          <a:prstGeom prst="rect">
            <a:avLst/>
          </a:prstGeom>
          <a:noFill/>
          <a:ln w="9525">
            <a:solidFill>
              <a:srgbClr val="0000FF"/>
            </a:solidFill>
            <a:miter lim="800000"/>
            <a:headEnd/>
            <a:tailEnd/>
          </a:ln>
        </p:spPr>
        <p:txBody>
          <a:bodyPr>
            <a:spAutoFit/>
          </a:bodyPr>
          <a:lstStyle/>
          <a:p>
            <a:pPr>
              <a:lnSpc>
                <a:spcPts val="3000"/>
              </a:lnSpc>
              <a:defRPr/>
            </a:pPr>
            <a:r>
              <a:rPr lang="en-US" altLang="zh-CN" sz="2400" b="1" dirty="0">
                <a:latin typeface="+mn-ea"/>
                <a:ea typeface="+mn-ea"/>
              </a:rPr>
              <a:t>      </a:t>
            </a:r>
            <a:r>
              <a:rPr lang="zh-CN" altLang="en-US" sz="2400" b="1" dirty="0">
                <a:latin typeface="+mn-ea"/>
                <a:ea typeface="+mn-ea"/>
              </a:rPr>
              <a:t>某一时刻，分子究竟</a:t>
            </a:r>
            <a:r>
              <a:rPr lang="zh-CN" altLang="en-US" sz="2400" b="1" dirty="0">
                <a:solidFill>
                  <a:srgbClr val="FF6600"/>
                </a:solidFill>
                <a:latin typeface="+mn-ea"/>
                <a:ea typeface="+mn-ea"/>
              </a:rPr>
              <a:t>沿哪个方向运动</a:t>
            </a:r>
            <a:r>
              <a:rPr lang="zh-CN" altLang="en-US" sz="2400" b="1" dirty="0">
                <a:latin typeface="+mn-ea"/>
                <a:ea typeface="+mn-ea"/>
              </a:rPr>
              <a:t>，</a:t>
            </a:r>
            <a:r>
              <a:rPr lang="zh-CN" altLang="en-US" sz="2400" b="1" dirty="0">
                <a:solidFill>
                  <a:srgbClr val="FF6600"/>
                </a:solidFill>
                <a:latin typeface="+mn-ea"/>
                <a:ea typeface="+mn-ea"/>
              </a:rPr>
              <a:t>有什么样的速度</a:t>
            </a:r>
            <a:r>
              <a:rPr lang="zh-CN" altLang="en-US" sz="2400" b="1" dirty="0">
                <a:latin typeface="+mn-ea"/>
                <a:ea typeface="+mn-ea"/>
              </a:rPr>
              <a:t>，这完全是</a:t>
            </a:r>
            <a:r>
              <a:rPr lang="zh-CN" altLang="en-US" sz="2400" b="1" dirty="0">
                <a:solidFill>
                  <a:srgbClr val="FF6600"/>
                </a:solidFill>
                <a:latin typeface="+mn-ea"/>
                <a:ea typeface="+mn-ea"/>
              </a:rPr>
              <a:t>偶然的</a:t>
            </a:r>
            <a:r>
              <a:rPr lang="zh-CN" altLang="en-US" sz="2400" b="1" dirty="0">
                <a:latin typeface="+mn-ea"/>
                <a:ea typeface="+mn-ea"/>
              </a:rPr>
              <a:t>，不能预测的，它是大量事件，是</a:t>
            </a:r>
            <a:r>
              <a:rPr lang="zh-CN" altLang="en-US" sz="2400" b="1" dirty="0">
                <a:solidFill>
                  <a:srgbClr val="FF6600"/>
                </a:solidFill>
                <a:latin typeface="+mn-ea"/>
                <a:ea typeface="+mn-ea"/>
              </a:rPr>
              <a:t>偶然事件</a:t>
            </a:r>
            <a:r>
              <a:rPr lang="zh-CN" altLang="en-US" sz="2400" b="1" dirty="0">
                <a:latin typeface="+mn-ea"/>
                <a:ea typeface="+mn-ea"/>
              </a:rPr>
              <a:t>，所以需用统计方法。单个分子运动完全是偶然的，但大量分子的</a:t>
            </a:r>
            <a:r>
              <a:rPr lang="zh-CN" altLang="en-US" sz="2400" b="1" dirty="0">
                <a:solidFill>
                  <a:srgbClr val="FF6600"/>
                </a:solidFill>
                <a:latin typeface="+mn-ea"/>
                <a:ea typeface="+mn-ea"/>
              </a:rPr>
              <a:t>整体服从统计规律</a:t>
            </a:r>
            <a:r>
              <a:rPr lang="zh-CN" altLang="en-US" sz="2400" b="1" dirty="0">
                <a:latin typeface="+mn-ea"/>
                <a:ea typeface="+mn-ea"/>
              </a:rPr>
              <a:t>。</a:t>
            </a:r>
          </a:p>
        </p:txBody>
      </p:sp>
      <p:sp>
        <p:nvSpPr>
          <p:cNvPr id="15" name="AutoShape 14"/>
          <p:cNvSpPr>
            <a:spLocks noChangeArrowheads="1"/>
          </p:cNvSpPr>
          <p:nvPr/>
        </p:nvSpPr>
        <p:spPr bwMode="auto">
          <a:xfrm rot="5400000">
            <a:off x="4144963" y="4498975"/>
            <a:ext cx="357187" cy="3603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00"/>
          </a:solidFill>
          <a:ln w="9525">
            <a:solidFill>
              <a:schemeClr val="tx1"/>
            </a:solidFill>
            <a:miter lim="800000"/>
            <a:headEnd/>
            <a:tailEnd/>
          </a:ln>
        </p:spPr>
        <p:txBody>
          <a:bodyPr wrap="none" anchor="ctr"/>
          <a:lstStyle/>
          <a:p>
            <a:pPr algn="ctr"/>
            <a:endParaRPr lang="zh-CN" altLang="en-US"/>
          </a:p>
        </p:txBody>
      </p:sp>
      <p:sp>
        <p:nvSpPr>
          <p:cNvPr id="16" name="Text Box 4"/>
          <p:cNvSpPr txBox="1">
            <a:spLocks noChangeArrowheads="1"/>
          </p:cNvSpPr>
          <p:nvPr/>
        </p:nvSpPr>
        <p:spPr bwMode="auto">
          <a:xfrm>
            <a:off x="100013" y="471488"/>
            <a:ext cx="5788025" cy="457200"/>
          </a:xfrm>
          <a:prstGeom prst="rect">
            <a:avLst/>
          </a:prstGeom>
          <a:noFill/>
          <a:ln w="9525">
            <a:noFill/>
            <a:miter lim="800000"/>
            <a:headEnd/>
            <a:tailEnd/>
          </a:ln>
        </p:spPr>
        <p:txBody>
          <a:bodyPr>
            <a:spAutoFit/>
          </a:bodyPr>
          <a:lstStyle/>
          <a:p>
            <a:pPr>
              <a:buClr>
                <a:srgbClr val="FF6600"/>
              </a:buClr>
              <a:buFont typeface="Wingdings" pitchFamily="2" charset="2"/>
              <a:buNone/>
            </a:pPr>
            <a:r>
              <a:rPr kumimoji="1" lang="en-US" altLang="zh-CN" sz="2400" b="1">
                <a:solidFill>
                  <a:srgbClr val="FF0000"/>
                </a:solidFill>
                <a:latin typeface="Times New Roman" pitchFamily="18" charset="0"/>
                <a:cs typeface="Times New Roman" pitchFamily="18" charset="0"/>
              </a:rPr>
              <a:t>2</a:t>
            </a:r>
            <a:r>
              <a:rPr kumimoji="1" lang="zh-CN" altLang="en-US" sz="2400" b="1">
                <a:solidFill>
                  <a:srgbClr val="FF0000"/>
                </a:solidFill>
                <a:latin typeface="Times New Roman" pitchFamily="18" charset="0"/>
                <a:cs typeface="Times New Roman" pitchFamily="18" charset="0"/>
              </a:rPr>
              <a:t>、</a:t>
            </a:r>
            <a:r>
              <a:rPr kumimoji="1" lang="zh-CN" altLang="en-US" sz="2400" b="1">
                <a:solidFill>
                  <a:srgbClr val="FF0000"/>
                </a:solidFill>
                <a:latin typeface="Times New Roman" pitchFamily="18" charset="0"/>
              </a:rPr>
              <a:t>气体分子热运动的统计规律性</a:t>
            </a:r>
          </a:p>
        </p:txBody>
      </p:sp>
      <p:sp>
        <p:nvSpPr>
          <p:cNvPr id="17" name="Text Box 17"/>
          <p:cNvSpPr txBox="1">
            <a:spLocks noChangeArrowheads="1"/>
          </p:cNvSpPr>
          <p:nvPr/>
        </p:nvSpPr>
        <p:spPr bwMode="auto">
          <a:xfrm>
            <a:off x="1058863" y="1058863"/>
            <a:ext cx="6299200" cy="512762"/>
          </a:xfrm>
          <a:prstGeom prst="rect">
            <a:avLst/>
          </a:prstGeom>
          <a:noFill/>
          <a:ln w="12700">
            <a:solidFill>
              <a:srgbClr val="0000FF"/>
            </a:solidFill>
            <a:miter lim="800000"/>
            <a:headEnd/>
            <a:tailEnd/>
          </a:ln>
        </p:spPr>
        <p:txBody>
          <a:bodyPr>
            <a:spAutoFit/>
          </a:bodyPr>
          <a:lstStyle/>
          <a:p>
            <a:pPr>
              <a:lnSpc>
                <a:spcPct val="115000"/>
              </a:lnSpc>
              <a:defRPr/>
            </a:pPr>
            <a:r>
              <a:rPr kumimoji="1" lang="zh-CN" altLang="en-US" sz="2400" b="1" dirty="0">
                <a:latin typeface="+mn-ea"/>
                <a:ea typeface="+mn-ea"/>
              </a:rPr>
              <a:t>大量气体分子整体上反映出来的一种规律性。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08"/>
                                        </p:tgtEl>
                                        <p:attrNameLst>
                                          <p:attrName>style.visibility</p:attrName>
                                        </p:attrNameLst>
                                      </p:cBhvr>
                                      <p:to>
                                        <p:strVal val="visible"/>
                                      </p:to>
                                    </p:set>
                                    <p:animEffect transition="in" filter="wipe(left)">
                                      <p:cBhvr>
                                        <p:cTn id="17" dur="500"/>
                                        <p:tgtEl>
                                          <p:spTgt spid="1495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9510"/>
                                        </p:tgtEl>
                                        <p:attrNameLst>
                                          <p:attrName>style.visibility</p:attrName>
                                        </p:attrNameLst>
                                      </p:cBhvr>
                                      <p:to>
                                        <p:strVal val="visible"/>
                                      </p:to>
                                    </p:set>
                                    <p:animEffect transition="in" filter="wipe(left)">
                                      <p:cBhvr>
                                        <p:cTn id="22" dur="500"/>
                                        <p:tgtEl>
                                          <p:spTgt spid="1495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9509"/>
                                        </p:tgtEl>
                                        <p:attrNameLst>
                                          <p:attrName>style.visibility</p:attrName>
                                        </p:attrNameLst>
                                      </p:cBhvr>
                                      <p:to>
                                        <p:strVal val="visible"/>
                                      </p:to>
                                    </p:set>
                                    <p:animEffect transition="in" filter="wipe(left)">
                                      <p:cBhvr>
                                        <p:cTn id="27" dur="500"/>
                                        <p:tgtEl>
                                          <p:spTgt spid="1495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9511"/>
                                        </p:tgtEl>
                                        <p:attrNameLst>
                                          <p:attrName>style.visibility</p:attrName>
                                        </p:attrNameLst>
                                      </p:cBhvr>
                                      <p:to>
                                        <p:strVal val="visible"/>
                                      </p:to>
                                    </p:set>
                                    <p:animEffect transition="in" filter="wipe(left)">
                                      <p:cBhvr>
                                        <p:cTn id="32" dur="500"/>
                                        <p:tgtEl>
                                          <p:spTgt spid="1495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9512"/>
                                        </p:tgtEl>
                                        <p:attrNameLst>
                                          <p:attrName>style.visibility</p:attrName>
                                        </p:attrNameLst>
                                      </p:cBhvr>
                                      <p:to>
                                        <p:strVal val="visible"/>
                                      </p:to>
                                    </p:set>
                                    <p:animEffect transition="in" filter="wipe(left)">
                                      <p:cBhvr>
                                        <p:cTn id="37" dur="500"/>
                                        <p:tgtEl>
                                          <p:spTgt spid="1495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9513"/>
                                        </p:tgtEl>
                                        <p:attrNameLst>
                                          <p:attrName>style.visibility</p:attrName>
                                        </p:attrNameLst>
                                      </p:cBhvr>
                                      <p:to>
                                        <p:strVal val="visible"/>
                                      </p:to>
                                    </p:set>
                                    <p:animEffect transition="in" filter="wipe(left)">
                                      <p:cBhvr>
                                        <p:cTn id="42" dur="500"/>
                                        <p:tgtEl>
                                          <p:spTgt spid="1495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animBg="1"/>
      <p:bldP spid="149509" grpId="0" animBg="1"/>
      <p:bldP spid="149510" grpId="0" animBg="1"/>
      <p:bldP spid="149511" grpId="0" animBg="1"/>
      <p:bldP spid="149512" grpId="0" animBg="1"/>
      <p:bldP spid="149513" grpId="0" animBg="1"/>
      <p:bldP spid="14" grpId="0" animBg="1"/>
      <p:bldP spid="15" grpId="0" animBg="1"/>
      <p:bldP spid="16" grpId="0" autoUpdateAnimBg="0"/>
      <p:bldP spid="17"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5818188" y="403225"/>
            <a:ext cx="3073400" cy="4030663"/>
            <a:chOff x="1882" y="619"/>
            <a:chExt cx="1936" cy="2539"/>
          </a:xfrm>
        </p:grpSpPr>
        <p:pic>
          <p:nvPicPr>
            <p:cNvPr id="96287" name="Picture 19" descr="伽耳顿板(空）"/>
            <p:cNvPicPr>
              <a:picLocks noChangeAspect="1" noChangeArrowheads="1"/>
            </p:cNvPicPr>
            <p:nvPr/>
          </p:nvPicPr>
          <p:blipFill>
            <a:blip r:embed="rId2"/>
            <a:srcRect l="6961" t="5901" r="5525" b="5901"/>
            <a:stretch>
              <a:fillRect/>
            </a:stretch>
          </p:blipFill>
          <p:spPr bwMode="auto">
            <a:xfrm>
              <a:off x="1882" y="619"/>
              <a:ext cx="1936" cy="2539"/>
            </a:xfrm>
            <a:prstGeom prst="rect">
              <a:avLst/>
            </a:prstGeom>
            <a:noFill/>
            <a:ln w="9525">
              <a:noFill/>
              <a:miter lim="800000"/>
              <a:headEnd/>
              <a:tailEnd/>
            </a:ln>
          </p:spPr>
        </p:pic>
        <p:sp>
          <p:nvSpPr>
            <p:cNvPr id="96288" name="Text Box 20"/>
            <p:cNvSpPr txBox="1">
              <a:spLocks noChangeArrowheads="1"/>
            </p:cNvSpPr>
            <p:nvPr/>
          </p:nvSpPr>
          <p:spPr bwMode="auto">
            <a:xfrm>
              <a:off x="1972" y="1030"/>
              <a:ext cx="1748" cy="1118"/>
            </a:xfrm>
            <a:prstGeom prst="rect">
              <a:avLst/>
            </a:prstGeom>
            <a:noFill/>
            <a:ln w="9525">
              <a:noFill/>
              <a:miter lim="800000"/>
              <a:headEnd/>
              <a:tailEnd/>
            </a:ln>
          </p:spPr>
          <p:txBody>
            <a:bodyPr wrap="none">
              <a:spAutoFit/>
            </a:bodyPr>
            <a:lstStyle/>
            <a:p>
              <a:pPr>
                <a:lnSpc>
                  <a:spcPct val="115000"/>
                </a:lnSpc>
              </a:pPr>
              <a:r>
                <a:rPr lang="en-US" altLang="zh-CN" sz="2400" b="1">
                  <a:solidFill>
                    <a:schemeClr val="bg1"/>
                  </a:solidFill>
                  <a:latin typeface="Times New Roman" pitchFamily="18" charset="0"/>
                  <a:sym typeface="Symbol" pitchFamily="18" charset="2"/>
                </a:rPr>
                <a:t>                 </a:t>
              </a:r>
            </a:p>
            <a:p>
              <a:pPr>
                <a:lnSpc>
                  <a:spcPct val="115000"/>
                </a:lnSpc>
              </a:pPr>
              <a:r>
                <a:rPr lang="en-US" altLang="zh-CN" sz="2400" b="1">
                  <a:solidFill>
                    <a:schemeClr val="bg1"/>
                  </a:solidFill>
                  <a:latin typeface="Times New Roman" pitchFamily="18" charset="0"/>
                  <a:sym typeface="Symbol" pitchFamily="18" charset="2"/>
                </a:rPr>
                <a:t>                </a:t>
              </a:r>
            </a:p>
            <a:p>
              <a:pPr>
                <a:lnSpc>
                  <a:spcPct val="115000"/>
                </a:lnSpc>
              </a:pPr>
              <a:r>
                <a:rPr lang="en-US" altLang="zh-CN" sz="2400" b="1">
                  <a:solidFill>
                    <a:schemeClr val="bg1"/>
                  </a:solidFill>
                  <a:latin typeface="Times New Roman" pitchFamily="18" charset="0"/>
                  <a:sym typeface="Symbol" pitchFamily="18" charset="2"/>
                </a:rPr>
                <a:t>                </a:t>
              </a:r>
            </a:p>
            <a:p>
              <a:pPr>
                <a:lnSpc>
                  <a:spcPct val="115000"/>
                </a:lnSpc>
              </a:pPr>
              <a:r>
                <a:rPr lang="en-US" altLang="zh-CN" sz="2400" b="1">
                  <a:solidFill>
                    <a:schemeClr val="bg1"/>
                  </a:solidFill>
                  <a:latin typeface="Times New Roman" pitchFamily="18" charset="0"/>
                  <a:sym typeface="Symbol" pitchFamily="18" charset="2"/>
                </a:rPr>
                <a:t>                 </a:t>
              </a:r>
            </a:p>
          </p:txBody>
        </p:sp>
      </p:grpSp>
      <p:pic>
        <p:nvPicPr>
          <p:cNvPr id="27669" name="Picture 21" descr="伽耳顿板(空）"/>
          <p:cNvPicPr>
            <a:picLocks noChangeAspect="1" noChangeArrowheads="1"/>
          </p:cNvPicPr>
          <p:nvPr/>
        </p:nvPicPr>
        <p:blipFill>
          <a:blip r:embed="rId2"/>
          <a:srcRect l="6961" t="5901" r="5525" b="5901"/>
          <a:stretch>
            <a:fillRect/>
          </a:stretch>
        </p:blipFill>
        <p:spPr bwMode="auto">
          <a:xfrm>
            <a:off x="5818188" y="404813"/>
            <a:ext cx="3073400" cy="4030662"/>
          </a:xfrm>
          <a:prstGeom prst="rect">
            <a:avLst/>
          </a:prstGeom>
          <a:noFill/>
          <a:ln w="9525">
            <a:noFill/>
            <a:miter lim="800000"/>
            <a:headEnd/>
            <a:tailEnd/>
          </a:ln>
        </p:spPr>
      </p:pic>
      <p:sp>
        <p:nvSpPr>
          <p:cNvPr id="27670" name="Text Box 22"/>
          <p:cNvSpPr txBox="1">
            <a:spLocks noChangeArrowheads="1"/>
          </p:cNvSpPr>
          <p:nvPr/>
        </p:nvSpPr>
        <p:spPr bwMode="auto">
          <a:xfrm>
            <a:off x="908050" y="962025"/>
            <a:ext cx="2439988" cy="512763"/>
          </a:xfrm>
          <a:prstGeom prst="rect">
            <a:avLst/>
          </a:prstGeom>
          <a:noFill/>
          <a:ln w="9525">
            <a:noFill/>
            <a:miter lim="800000"/>
            <a:headEnd/>
            <a:tailEnd/>
          </a:ln>
        </p:spPr>
        <p:txBody>
          <a:bodyPr>
            <a:spAutoFit/>
          </a:bodyPr>
          <a:lstStyle/>
          <a:p>
            <a:pPr>
              <a:lnSpc>
                <a:spcPct val="115000"/>
              </a:lnSpc>
            </a:pPr>
            <a:r>
              <a:rPr kumimoji="1" lang="zh-CN" altLang="en-US" sz="2400" b="1">
                <a:solidFill>
                  <a:srgbClr val="0000FF"/>
                </a:solidFill>
                <a:latin typeface="Times New Roman" pitchFamily="18" charset="0"/>
                <a:ea typeface="楷体_GB2312" pitchFamily="49" charset="-122"/>
              </a:rPr>
              <a:t>若无小钉：</a:t>
            </a:r>
          </a:p>
        </p:txBody>
      </p:sp>
      <p:sp>
        <p:nvSpPr>
          <p:cNvPr id="27671" name="Oval 23"/>
          <p:cNvSpPr>
            <a:spLocks noChangeAspect="1" noChangeArrowheads="1"/>
          </p:cNvSpPr>
          <p:nvPr/>
        </p:nvSpPr>
        <p:spPr bwMode="auto">
          <a:xfrm>
            <a:off x="7164388" y="547688"/>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72" name="Oval 24"/>
          <p:cNvSpPr>
            <a:spLocks noChangeAspect="1" noChangeArrowheads="1"/>
          </p:cNvSpPr>
          <p:nvPr/>
        </p:nvSpPr>
        <p:spPr bwMode="auto">
          <a:xfrm>
            <a:off x="7361238" y="547688"/>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lnSpc>
                <a:spcPct val="115000"/>
              </a:lnSpc>
            </a:pPr>
            <a:endParaRPr lang="zh-CN" altLang="zh-CN"/>
          </a:p>
        </p:txBody>
      </p:sp>
      <p:sp>
        <p:nvSpPr>
          <p:cNvPr id="27673" name="Text Box 25"/>
          <p:cNvSpPr txBox="1">
            <a:spLocks noChangeArrowheads="1"/>
          </p:cNvSpPr>
          <p:nvPr/>
        </p:nvSpPr>
        <p:spPr bwMode="auto">
          <a:xfrm>
            <a:off x="871538" y="1501775"/>
            <a:ext cx="2386012" cy="512763"/>
          </a:xfrm>
          <a:prstGeom prst="rect">
            <a:avLst/>
          </a:prstGeom>
          <a:noFill/>
          <a:ln w="9525">
            <a:noFill/>
            <a:miter lim="800000"/>
            <a:headEnd/>
            <a:tailEnd/>
          </a:ln>
        </p:spPr>
        <p:txBody>
          <a:bodyPr>
            <a:spAutoFit/>
          </a:bodyPr>
          <a:lstStyle/>
          <a:p>
            <a:pPr>
              <a:lnSpc>
                <a:spcPct val="115000"/>
              </a:lnSpc>
            </a:pPr>
            <a:r>
              <a:rPr kumimoji="1" lang="zh-CN" altLang="en-US" sz="2400" b="1">
                <a:solidFill>
                  <a:srgbClr val="0000FF"/>
                </a:solidFill>
                <a:latin typeface="Times New Roman" pitchFamily="18" charset="0"/>
                <a:ea typeface="楷体_GB2312" pitchFamily="49" charset="-122"/>
              </a:rPr>
              <a:t>若有小钉：</a:t>
            </a:r>
          </a:p>
        </p:txBody>
      </p:sp>
      <p:sp>
        <p:nvSpPr>
          <p:cNvPr id="27674" name="Oval 26"/>
          <p:cNvSpPr>
            <a:spLocks noChangeAspect="1" noChangeArrowheads="1"/>
          </p:cNvSpPr>
          <p:nvPr/>
        </p:nvSpPr>
        <p:spPr bwMode="auto">
          <a:xfrm>
            <a:off x="7164388" y="474663"/>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75" name="Oval 27"/>
          <p:cNvSpPr>
            <a:spLocks noChangeAspect="1" noChangeArrowheads="1"/>
          </p:cNvSpPr>
          <p:nvPr/>
        </p:nvSpPr>
        <p:spPr bwMode="auto">
          <a:xfrm>
            <a:off x="7307263" y="47942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76" name="Oval 28"/>
          <p:cNvSpPr>
            <a:spLocks noChangeAspect="1" noChangeArrowheads="1"/>
          </p:cNvSpPr>
          <p:nvPr/>
        </p:nvSpPr>
        <p:spPr bwMode="auto">
          <a:xfrm>
            <a:off x="7019925" y="474663"/>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77" name="Oval 29"/>
          <p:cNvSpPr>
            <a:spLocks noChangeAspect="1" noChangeArrowheads="1"/>
          </p:cNvSpPr>
          <p:nvPr/>
        </p:nvSpPr>
        <p:spPr bwMode="auto">
          <a:xfrm>
            <a:off x="7000875" y="47942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78" name="Rectangle 30"/>
          <p:cNvSpPr>
            <a:spLocks noChangeArrowheads="1"/>
          </p:cNvSpPr>
          <p:nvPr/>
        </p:nvSpPr>
        <p:spPr bwMode="auto">
          <a:xfrm>
            <a:off x="903288" y="2779713"/>
            <a:ext cx="4649787" cy="512762"/>
          </a:xfrm>
          <a:prstGeom prst="rect">
            <a:avLst/>
          </a:prstGeom>
          <a:noFill/>
          <a:ln w="9525">
            <a:noFill/>
            <a:miter lim="800000"/>
            <a:headEnd/>
            <a:tailEnd/>
          </a:ln>
        </p:spPr>
        <p:txBody>
          <a:bodyPr>
            <a:spAutoFit/>
          </a:bodyPr>
          <a:lstStyle/>
          <a:p>
            <a:pPr>
              <a:lnSpc>
                <a:spcPct val="115000"/>
              </a:lnSpc>
            </a:pPr>
            <a:r>
              <a:rPr kumimoji="1" lang="zh-CN" altLang="en-US" sz="2400" b="1">
                <a:solidFill>
                  <a:srgbClr val="FF6600"/>
                </a:solidFill>
                <a:latin typeface="Times New Roman" pitchFamily="18" charset="0"/>
                <a:ea typeface="楷体_GB2312" pitchFamily="49" charset="-122"/>
              </a:rPr>
              <a:t>一个</a:t>
            </a:r>
            <a:r>
              <a:rPr kumimoji="1" lang="zh-CN" altLang="en-US" sz="2400" b="1">
                <a:latin typeface="Times New Roman" pitchFamily="18" charset="0"/>
                <a:ea typeface="楷体_GB2312" pitchFamily="49" charset="-122"/>
              </a:rPr>
              <a:t>小球落在哪里有</a:t>
            </a:r>
            <a:r>
              <a:rPr kumimoji="1" lang="zh-CN" altLang="en-US" sz="2400" b="1">
                <a:solidFill>
                  <a:srgbClr val="FF6600"/>
                </a:solidFill>
                <a:latin typeface="Times New Roman" pitchFamily="18" charset="0"/>
                <a:ea typeface="楷体_GB2312" pitchFamily="49" charset="-122"/>
              </a:rPr>
              <a:t>偶然性</a:t>
            </a:r>
          </a:p>
        </p:txBody>
      </p:sp>
      <p:sp>
        <p:nvSpPr>
          <p:cNvPr id="27679" name="Text Box 31"/>
          <p:cNvSpPr txBox="1">
            <a:spLocks noChangeArrowheads="1"/>
          </p:cNvSpPr>
          <p:nvPr/>
        </p:nvSpPr>
        <p:spPr bwMode="auto">
          <a:xfrm>
            <a:off x="279400" y="2149475"/>
            <a:ext cx="1844675" cy="512763"/>
          </a:xfrm>
          <a:prstGeom prst="rect">
            <a:avLst/>
          </a:prstGeom>
          <a:noFill/>
          <a:ln w="9525">
            <a:noFill/>
            <a:miter lim="800000"/>
            <a:headEnd/>
            <a:tailEnd/>
          </a:ln>
        </p:spPr>
        <p:txBody>
          <a:bodyPr>
            <a:spAutoFit/>
          </a:bodyPr>
          <a:lstStyle/>
          <a:p>
            <a:pPr>
              <a:lnSpc>
                <a:spcPct val="115000"/>
              </a:lnSpc>
              <a:defRPr/>
            </a:pPr>
            <a:r>
              <a:rPr lang="zh-CN" altLang="en-US" sz="2400" b="1" dirty="0">
                <a:solidFill>
                  <a:srgbClr val="FF0000"/>
                </a:solidFill>
                <a:latin typeface="+mn-ea"/>
                <a:ea typeface="+mn-ea"/>
              </a:rPr>
              <a:t>实验现象</a:t>
            </a:r>
            <a:r>
              <a:rPr lang="en-US" altLang="zh-CN" sz="2400" b="1" dirty="0">
                <a:solidFill>
                  <a:srgbClr val="FF0000"/>
                </a:solidFill>
                <a:latin typeface="+mn-ea"/>
                <a:ea typeface="+mn-ea"/>
              </a:rPr>
              <a:t>:</a:t>
            </a:r>
          </a:p>
        </p:txBody>
      </p:sp>
      <p:sp>
        <p:nvSpPr>
          <p:cNvPr id="27680" name="Oval 32"/>
          <p:cNvSpPr>
            <a:spLocks noChangeAspect="1" noChangeArrowheads="1"/>
          </p:cNvSpPr>
          <p:nvPr/>
        </p:nvSpPr>
        <p:spPr bwMode="auto">
          <a:xfrm>
            <a:off x="7164388" y="474663"/>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1" name="Oval 33"/>
          <p:cNvSpPr>
            <a:spLocks noChangeAspect="1" noChangeArrowheads="1"/>
          </p:cNvSpPr>
          <p:nvPr/>
        </p:nvSpPr>
        <p:spPr bwMode="auto">
          <a:xfrm>
            <a:off x="7307263" y="47942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2" name="Oval 34"/>
          <p:cNvSpPr>
            <a:spLocks noChangeAspect="1" noChangeArrowheads="1"/>
          </p:cNvSpPr>
          <p:nvPr/>
        </p:nvSpPr>
        <p:spPr bwMode="auto">
          <a:xfrm>
            <a:off x="7019925" y="474663"/>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3" name="Oval 35"/>
          <p:cNvSpPr>
            <a:spLocks noChangeAspect="1" noChangeArrowheads="1"/>
          </p:cNvSpPr>
          <p:nvPr/>
        </p:nvSpPr>
        <p:spPr bwMode="auto">
          <a:xfrm>
            <a:off x="6858000" y="528638"/>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4" name="Oval 36"/>
          <p:cNvSpPr>
            <a:spLocks noChangeAspect="1" noChangeArrowheads="1"/>
          </p:cNvSpPr>
          <p:nvPr/>
        </p:nvSpPr>
        <p:spPr bwMode="auto">
          <a:xfrm>
            <a:off x="7380288" y="546100"/>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5" name="Oval 37"/>
          <p:cNvSpPr>
            <a:spLocks noChangeAspect="1" noChangeArrowheads="1"/>
          </p:cNvSpPr>
          <p:nvPr/>
        </p:nvSpPr>
        <p:spPr bwMode="auto">
          <a:xfrm>
            <a:off x="7164388" y="90487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6" name="Oval 38"/>
          <p:cNvSpPr>
            <a:spLocks noChangeAspect="1" noChangeArrowheads="1"/>
          </p:cNvSpPr>
          <p:nvPr/>
        </p:nvSpPr>
        <p:spPr bwMode="auto">
          <a:xfrm>
            <a:off x="7019925" y="90487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7" name="Oval 39"/>
          <p:cNvSpPr>
            <a:spLocks noChangeAspect="1" noChangeArrowheads="1"/>
          </p:cNvSpPr>
          <p:nvPr/>
        </p:nvSpPr>
        <p:spPr bwMode="auto">
          <a:xfrm>
            <a:off x="7000875" y="68897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p>
            <a:pPr algn="ctr"/>
            <a:endParaRPr lang="zh-CN" altLang="en-US"/>
          </a:p>
        </p:txBody>
      </p:sp>
      <p:sp>
        <p:nvSpPr>
          <p:cNvPr id="27688" name="Text Box 40"/>
          <p:cNvSpPr txBox="1">
            <a:spLocks noChangeArrowheads="1"/>
          </p:cNvSpPr>
          <p:nvPr/>
        </p:nvSpPr>
        <p:spPr bwMode="auto">
          <a:xfrm>
            <a:off x="922338" y="3454400"/>
            <a:ext cx="4270375" cy="517525"/>
          </a:xfrm>
          <a:prstGeom prst="rect">
            <a:avLst/>
          </a:prstGeom>
          <a:noFill/>
          <a:ln w="9525">
            <a:noFill/>
            <a:miter lim="800000"/>
            <a:headEnd/>
            <a:tailEnd/>
          </a:ln>
        </p:spPr>
        <p:txBody>
          <a:bodyPr>
            <a:spAutoFit/>
          </a:bodyPr>
          <a:lstStyle/>
          <a:p>
            <a:pPr>
              <a:lnSpc>
                <a:spcPct val="115000"/>
              </a:lnSpc>
            </a:pPr>
            <a:r>
              <a:rPr kumimoji="1" lang="zh-CN" altLang="en-US" sz="2400" b="1">
                <a:solidFill>
                  <a:srgbClr val="FF6600"/>
                </a:solidFill>
                <a:latin typeface="Times New Roman" pitchFamily="18" charset="0"/>
                <a:ea typeface="楷体_GB2312" pitchFamily="49" charset="-122"/>
              </a:rPr>
              <a:t>少量</a:t>
            </a:r>
            <a:r>
              <a:rPr kumimoji="1" lang="zh-CN" altLang="en-US" sz="2400" b="1">
                <a:latin typeface="Times New Roman" pitchFamily="18" charset="0"/>
                <a:ea typeface="楷体_GB2312" pitchFamily="49" charset="-122"/>
              </a:rPr>
              <a:t>小球的分布</a:t>
            </a:r>
            <a:r>
              <a:rPr kumimoji="1" lang="zh-CN" altLang="en-US" sz="2400" b="1">
                <a:solidFill>
                  <a:srgbClr val="FF6600"/>
                </a:solidFill>
                <a:latin typeface="Times New Roman" pitchFamily="18" charset="0"/>
                <a:ea typeface="楷体_GB2312" pitchFamily="49" charset="-122"/>
              </a:rPr>
              <a:t>每次不同</a:t>
            </a:r>
          </a:p>
        </p:txBody>
      </p:sp>
      <p:pic>
        <p:nvPicPr>
          <p:cNvPr id="27689" name="Picture 41" descr="伽耳顿板多球矩形图(1)"/>
          <p:cNvPicPr>
            <a:picLocks noChangeAspect="1" noChangeArrowheads="1"/>
          </p:cNvPicPr>
          <p:nvPr/>
        </p:nvPicPr>
        <p:blipFill>
          <a:blip r:embed="rId3">
            <a:clrChange>
              <a:clrFrom>
                <a:srgbClr val="828282"/>
              </a:clrFrom>
              <a:clrTo>
                <a:srgbClr val="828282">
                  <a:alpha val="0"/>
                </a:srgbClr>
              </a:clrTo>
            </a:clrChange>
          </a:blip>
          <a:srcRect l="7724" t="17746" r="7724" b="10832"/>
          <a:stretch>
            <a:fillRect/>
          </a:stretch>
        </p:blipFill>
        <p:spPr bwMode="auto">
          <a:xfrm>
            <a:off x="5843588" y="2830513"/>
            <a:ext cx="2922587" cy="1560512"/>
          </a:xfrm>
          <a:prstGeom prst="rect">
            <a:avLst/>
          </a:prstGeom>
          <a:noFill/>
          <a:ln w="9525">
            <a:noFill/>
            <a:miter lim="800000"/>
            <a:headEnd/>
            <a:tailEnd/>
          </a:ln>
        </p:spPr>
      </p:pic>
      <p:pic>
        <p:nvPicPr>
          <p:cNvPr id="27690" name="Picture 42" descr="伽耳顿板分布图"/>
          <p:cNvPicPr>
            <a:picLocks noChangeAspect="1" noChangeArrowheads="1"/>
          </p:cNvPicPr>
          <p:nvPr/>
        </p:nvPicPr>
        <p:blipFill>
          <a:blip r:embed="rId4">
            <a:clrChange>
              <a:clrFrom>
                <a:srgbClr val="828282"/>
              </a:clrFrom>
              <a:clrTo>
                <a:srgbClr val="828282">
                  <a:alpha val="0"/>
                </a:srgbClr>
              </a:clrTo>
            </a:clrChange>
            <a:lum contrast="12000"/>
          </a:blip>
          <a:srcRect l="6267" t="9279" r="4810" b="11949"/>
          <a:stretch>
            <a:fillRect/>
          </a:stretch>
        </p:blipFill>
        <p:spPr bwMode="auto">
          <a:xfrm>
            <a:off x="5795963" y="2851150"/>
            <a:ext cx="3073400" cy="1560513"/>
          </a:xfrm>
          <a:prstGeom prst="rect">
            <a:avLst/>
          </a:prstGeom>
          <a:noFill/>
          <a:ln w="9525">
            <a:noFill/>
            <a:miter lim="800000"/>
            <a:headEnd/>
            <a:tailEnd/>
          </a:ln>
        </p:spPr>
      </p:pic>
      <p:pic>
        <p:nvPicPr>
          <p:cNvPr id="27691" name="Picture 43" descr="伽耳顿板分布图(无填色）"/>
          <p:cNvPicPr>
            <a:picLocks noChangeAspect="1" noChangeArrowheads="1"/>
          </p:cNvPicPr>
          <p:nvPr/>
        </p:nvPicPr>
        <p:blipFill>
          <a:blip r:embed="rId5">
            <a:clrChange>
              <a:clrFrom>
                <a:srgbClr val="828282"/>
              </a:clrFrom>
              <a:clrTo>
                <a:srgbClr val="828282">
                  <a:alpha val="0"/>
                </a:srgbClr>
              </a:clrTo>
            </a:clrChange>
          </a:blip>
          <a:srcRect l="7724" t="9279" r="6267" b="11949"/>
          <a:stretch>
            <a:fillRect/>
          </a:stretch>
        </p:blipFill>
        <p:spPr bwMode="auto">
          <a:xfrm>
            <a:off x="5843588" y="2851150"/>
            <a:ext cx="2973387" cy="1560513"/>
          </a:xfrm>
          <a:prstGeom prst="rect">
            <a:avLst/>
          </a:prstGeom>
          <a:noFill/>
          <a:ln w="9525">
            <a:noFill/>
            <a:miter lim="800000"/>
            <a:headEnd/>
            <a:tailEnd/>
          </a:ln>
        </p:spPr>
      </p:pic>
      <p:sp>
        <p:nvSpPr>
          <p:cNvPr id="27692" name="Text Box 44"/>
          <p:cNvSpPr txBox="1">
            <a:spLocks noChangeArrowheads="1"/>
          </p:cNvSpPr>
          <p:nvPr/>
        </p:nvSpPr>
        <p:spPr bwMode="auto">
          <a:xfrm>
            <a:off x="877888" y="4156075"/>
            <a:ext cx="4495800" cy="517525"/>
          </a:xfrm>
          <a:prstGeom prst="rect">
            <a:avLst/>
          </a:prstGeom>
          <a:noFill/>
          <a:ln w="9525">
            <a:noFill/>
            <a:miter lim="800000"/>
            <a:headEnd/>
            <a:tailEnd/>
          </a:ln>
        </p:spPr>
        <p:txBody>
          <a:bodyPr>
            <a:spAutoFit/>
          </a:bodyPr>
          <a:lstStyle/>
          <a:p>
            <a:pPr>
              <a:lnSpc>
                <a:spcPct val="115000"/>
              </a:lnSpc>
            </a:pPr>
            <a:r>
              <a:rPr kumimoji="1" lang="zh-CN" altLang="en-US" sz="2400" b="1">
                <a:solidFill>
                  <a:srgbClr val="FF6600"/>
                </a:solidFill>
                <a:latin typeface="Times New Roman" pitchFamily="18" charset="0"/>
                <a:ea typeface="楷体_GB2312" pitchFamily="49" charset="-122"/>
              </a:rPr>
              <a:t>大量</a:t>
            </a:r>
            <a:r>
              <a:rPr kumimoji="1" lang="zh-CN" altLang="en-US" sz="2400" b="1">
                <a:latin typeface="Times New Roman" pitchFamily="18" charset="0"/>
                <a:ea typeface="楷体_GB2312" pitchFamily="49" charset="-122"/>
              </a:rPr>
              <a:t>小球的分布</a:t>
            </a:r>
            <a:r>
              <a:rPr kumimoji="1" lang="zh-CN" altLang="en-US" sz="2400" b="1">
                <a:solidFill>
                  <a:srgbClr val="FF6600"/>
                </a:solidFill>
                <a:latin typeface="Times New Roman" pitchFamily="18" charset="0"/>
                <a:ea typeface="楷体_GB2312" pitchFamily="49" charset="-122"/>
              </a:rPr>
              <a:t>近似相同</a:t>
            </a:r>
          </a:p>
        </p:txBody>
      </p:sp>
      <p:sp>
        <p:nvSpPr>
          <p:cNvPr id="27693" name="Text Box 45"/>
          <p:cNvSpPr txBox="1">
            <a:spLocks noChangeArrowheads="1"/>
          </p:cNvSpPr>
          <p:nvPr/>
        </p:nvSpPr>
        <p:spPr bwMode="auto">
          <a:xfrm>
            <a:off x="250825" y="344488"/>
            <a:ext cx="3133725" cy="517525"/>
          </a:xfrm>
          <a:prstGeom prst="rect">
            <a:avLst/>
          </a:prstGeom>
          <a:noFill/>
          <a:ln w="9525">
            <a:noFill/>
            <a:miter lim="800000"/>
            <a:headEnd/>
            <a:tailEnd/>
          </a:ln>
        </p:spPr>
        <p:txBody>
          <a:bodyPr>
            <a:spAutoFit/>
          </a:bodyPr>
          <a:lstStyle/>
          <a:p>
            <a:pPr>
              <a:lnSpc>
                <a:spcPct val="115000"/>
              </a:lnSpc>
            </a:pPr>
            <a:r>
              <a:rPr kumimoji="1" lang="zh-CN" altLang="en-US" sz="2400" b="1">
                <a:solidFill>
                  <a:srgbClr val="FF0000"/>
                </a:solidFill>
                <a:latin typeface="Times New Roman" pitchFamily="18" charset="0"/>
              </a:rPr>
              <a:t>伽耳顿板实验</a:t>
            </a:r>
            <a:r>
              <a:rPr kumimoji="1" lang="en-US" altLang="zh-CN" sz="2400" b="1">
                <a:solidFill>
                  <a:srgbClr val="FF0000"/>
                </a:solidFill>
                <a:latin typeface="Times New Roman" pitchFamily="18" charset="0"/>
              </a:rPr>
              <a:t>: </a:t>
            </a:r>
          </a:p>
        </p:txBody>
      </p:sp>
      <p:sp>
        <p:nvSpPr>
          <p:cNvPr id="27694" name="Text Box 46"/>
          <p:cNvSpPr txBox="1">
            <a:spLocks noChangeArrowheads="1"/>
          </p:cNvSpPr>
          <p:nvPr/>
        </p:nvSpPr>
        <p:spPr bwMode="auto">
          <a:xfrm>
            <a:off x="2538413" y="979488"/>
            <a:ext cx="2114550" cy="512762"/>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ea typeface="楷体_GB2312" pitchFamily="49" charset="-122"/>
              </a:rPr>
              <a:t>必然事件</a:t>
            </a:r>
          </a:p>
        </p:txBody>
      </p:sp>
      <p:sp>
        <p:nvSpPr>
          <p:cNvPr id="27695" name="Text Box 47"/>
          <p:cNvSpPr txBox="1">
            <a:spLocks noChangeArrowheads="1"/>
          </p:cNvSpPr>
          <p:nvPr/>
        </p:nvSpPr>
        <p:spPr bwMode="auto">
          <a:xfrm>
            <a:off x="2538413" y="1501775"/>
            <a:ext cx="2206625" cy="512763"/>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ea typeface="楷体_GB2312" pitchFamily="49" charset="-122"/>
              </a:rPr>
              <a:t>偶然事件</a:t>
            </a:r>
          </a:p>
        </p:txBody>
      </p:sp>
      <p:sp>
        <p:nvSpPr>
          <p:cNvPr id="34" name="Text Box 76"/>
          <p:cNvSpPr txBox="1">
            <a:spLocks noChangeArrowheads="1"/>
          </p:cNvSpPr>
          <p:nvPr/>
        </p:nvSpPr>
        <p:spPr bwMode="auto">
          <a:xfrm>
            <a:off x="357188" y="4929188"/>
            <a:ext cx="7705725" cy="1422400"/>
          </a:xfrm>
          <a:prstGeom prst="rect">
            <a:avLst/>
          </a:prstGeom>
          <a:noFill/>
          <a:ln w="9525">
            <a:noFill/>
            <a:miter lim="800000"/>
            <a:headEnd/>
            <a:tailEnd/>
          </a:ln>
        </p:spPr>
        <p:txBody>
          <a:bodyPr>
            <a:spAutoFit/>
          </a:bodyPr>
          <a:lstStyle/>
          <a:p>
            <a:pPr>
              <a:lnSpc>
                <a:spcPct val="120000"/>
              </a:lnSpc>
            </a:pPr>
            <a:r>
              <a:rPr kumimoji="1" lang="en-US" altLang="zh-CN" sz="2400" b="1">
                <a:latin typeface="宋体" charset="-122"/>
              </a:rPr>
              <a:t>    </a:t>
            </a:r>
            <a:r>
              <a:rPr kumimoji="1" lang="zh-CN" altLang="en-US" sz="2400" b="1">
                <a:latin typeface="宋体" charset="-122"/>
              </a:rPr>
              <a:t>当大量偶然事件的数目极大时，个别事件的偶然性和其自身所遵从的规律退居次要地位，</a:t>
            </a:r>
            <a:r>
              <a:rPr kumimoji="1" lang="zh-CN" altLang="en-US" sz="2400" b="1">
                <a:solidFill>
                  <a:srgbClr val="FF6600"/>
                </a:solidFill>
                <a:latin typeface="宋体" charset="-122"/>
              </a:rPr>
              <a:t>大量事件整体服从统计规律</a:t>
            </a:r>
            <a:r>
              <a:rPr kumimoji="1" lang="zh-CN" altLang="en-US" sz="2400" b="1">
                <a:latin typeface="宋体" charset="-122"/>
              </a:rPr>
              <a:t>。统计规律不同于以往的必然规律。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93"/>
                                        </p:tgtEl>
                                        <p:attrNameLst>
                                          <p:attrName>style.visibility</p:attrName>
                                        </p:attrNameLst>
                                      </p:cBhvr>
                                      <p:to>
                                        <p:strVal val="visible"/>
                                      </p:to>
                                    </p:set>
                                    <p:animEffect transition="in" filter="wipe(left)">
                                      <p:cBhvr>
                                        <p:cTn id="7" dur="500"/>
                                        <p:tgtEl>
                                          <p:spTgt spid="2769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670"/>
                                        </p:tgtEl>
                                        <p:attrNameLst>
                                          <p:attrName>style.visibility</p:attrName>
                                        </p:attrNameLst>
                                      </p:cBhvr>
                                      <p:to>
                                        <p:strVal val="visible"/>
                                      </p:to>
                                    </p:set>
                                    <p:animEffect transition="in" filter="wipe(left)">
                                      <p:cBhvr>
                                        <p:cTn id="18" dur="500"/>
                                        <p:tgtEl>
                                          <p:spTgt spid="2767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7694"/>
                                        </p:tgtEl>
                                        <p:attrNameLst>
                                          <p:attrName>style.visibility</p:attrName>
                                        </p:attrNameLst>
                                      </p:cBhvr>
                                      <p:to>
                                        <p:strVal val="visible"/>
                                      </p:to>
                                    </p:set>
                                    <p:animEffect transition="in" filter="wipe(left)">
                                      <p:cBhvr>
                                        <p:cTn id="22" dur="500"/>
                                        <p:tgtEl>
                                          <p:spTgt spid="2769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2766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7671"/>
                                        </p:tgtEl>
                                        <p:attrNameLst>
                                          <p:attrName>style.visibility</p:attrName>
                                        </p:attrNameLst>
                                      </p:cBhvr>
                                      <p:to>
                                        <p:strVal val="visible"/>
                                      </p:to>
                                    </p:set>
                                    <p:anim calcmode="lin" valueType="num">
                                      <p:cBhvr>
                                        <p:cTn id="33" dur="500" fill="hold"/>
                                        <p:tgtEl>
                                          <p:spTgt spid="27671"/>
                                        </p:tgtEl>
                                        <p:attrNameLst>
                                          <p:attrName>ppt_w</p:attrName>
                                        </p:attrNameLst>
                                      </p:cBhvr>
                                      <p:tavLst>
                                        <p:tav tm="0">
                                          <p:val>
                                            <p:fltVal val="0"/>
                                          </p:val>
                                        </p:tav>
                                        <p:tav tm="100000">
                                          <p:val>
                                            <p:strVal val="#ppt_w"/>
                                          </p:val>
                                        </p:tav>
                                      </p:tavLst>
                                    </p:anim>
                                    <p:anim calcmode="lin" valueType="num">
                                      <p:cBhvr>
                                        <p:cTn id="34" dur="500" fill="hold"/>
                                        <p:tgtEl>
                                          <p:spTgt spid="27671"/>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1" nodeType="clickEffect">
                                  <p:stCondLst>
                                    <p:cond delay="0"/>
                                  </p:stCondLst>
                                  <p:childTnLst>
                                    <p:animMotion origin="layout" path="M 0.00295 0.09838 L 0.00069 0.52917 " pathEditMode="relative" rAng="0" ptsTypes="AA">
                                      <p:cBhvr>
                                        <p:cTn id="38" dur="2000" fill="hold"/>
                                        <p:tgtEl>
                                          <p:spTgt spid="27671"/>
                                        </p:tgtEl>
                                        <p:attrNameLst>
                                          <p:attrName>ppt_x</p:attrName>
                                          <p:attrName>ppt_y</p:attrName>
                                        </p:attrNameLst>
                                      </p:cBhvr>
                                      <p:rCtr x="-1" y="215"/>
                                    </p:animMotion>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1" nodeType="clickEffect">
                                  <p:stCondLst>
                                    <p:cond delay="0"/>
                                  </p:stCondLst>
                                  <p:childTnLst>
                                    <p:set>
                                      <p:cBhvr>
                                        <p:cTn id="42" dur="1" fill="hold">
                                          <p:stCondLst>
                                            <p:cond delay="0"/>
                                          </p:stCondLst>
                                        </p:cTn>
                                        <p:tgtEl>
                                          <p:spTgt spid="27672"/>
                                        </p:tgtEl>
                                        <p:attrNameLst>
                                          <p:attrName>style.visibility</p:attrName>
                                        </p:attrNameLst>
                                      </p:cBhvr>
                                      <p:to>
                                        <p:strVal val="visible"/>
                                      </p:to>
                                    </p:set>
                                    <p:anim calcmode="lin" valueType="num">
                                      <p:cBhvr>
                                        <p:cTn id="43" dur="500" fill="hold"/>
                                        <p:tgtEl>
                                          <p:spTgt spid="27672"/>
                                        </p:tgtEl>
                                        <p:attrNameLst>
                                          <p:attrName>ppt_w</p:attrName>
                                        </p:attrNameLst>
                                      </p:cBhvr>
                                      <p:tavLst>
                                        <p:tav tm="0">
                                          <p:val>
                                            <p:fltVal val="0"/>
                                          </p:val>
                                        </p:tav>
                                        <p:tav tm="100000">
                                          <p:val>
                                            <p:strVal val="#ppt_w"/>
                                          </p:val>
                                        </p:tav>
                                      </p:tavLst>
                                    </p:anim>
                                    <p:anim calcmode="lin" valueType="num">
                                      <p:cBhvr>
                                        <p:cTn id="44" dur="500" fill="hold"/>
                                        <p:tgtEl>
                                          <p:spTgt spid="27672"/>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4.72222E-6 -4.81481E-6 C 0.00139 0.01783 -0.00104 0.04584 0.00799 0.10741 C 0.01702 0.16899 0.04948 0.31135 0.054 0.36945 C 0.05851 0.42755 0.03681 0.42894 0.03525 0.45625 C 0.03369 0.48311 0.04271 0.51621 0.0448 0.53241 " pathEditMode="relative" rAng="0" ptsTypes="aaaaa">
                                      <p:cBhvr>
                                        <p:cTn id="48" dur="2000" fill="hold"/>
                                        <p:tgtEl>
                                          <p:spTgt spid="27672"/>
                                        </p:tgtEl>
                                        <p:attrNameLst>
                                          <p:attrName>ppt_x</p:attrName>
                                          <p:attrName>ppt_y</p:attrName>
                                        </p:attrNameLst>
                                      </p:cBhvr>
                                      <p:rCtr x="29" y="266"/>
                                    </p:animMotion>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7673"/>
                                        </p:tgtEl>
                                        <p:attrNameLst>
                                          <p:attrName>style.visibility</p:attrName>
                                        </p:attrNameLst>
                                      </p:cBhvr>
                                      <p:to>
                                        <p:strVal val="visible"/>
                                      </p:to>
                                    </p:set>
                                    <p:animEffect transition="in" filter="wipe(left)">
                                      <p:cBhvr>
                                        <p:cTn id="53" dur="500"/>
                                        <p:tgtEl>
                                          <p:spTgt spid="27673"/>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2" nodeType="clickEffect">
                                  <p:stCondLst>
                                    <p:cond delay="0"/>
                                  </p:stCondLst>
                                  <p:childTnLst>
                                    <p:set>
                                      <p:cBhvr>
                                        <p:cTn id="57" dur="1" fill="hold">
                                          <p:stCondLst>
                                            <p:cond delay="0"/>
                                          </p:stCondLst>
                                        </p:cTn>
                                        <p:tgtEl>
                                          <p:spTgt spid="27672"/>
                                        </p:tgtEl>
                                        <p:attrNameLst>
                                          <p:attrName>style.visibility</p:attrName>
                                        </p:attrNameLst>
                                      </p:cBhvr>
                                      <p:to>
                                        <p:strVal val="hidden"/>
                                      </p:to>
                                    </p:set>
                                  </p:childTnLst>
                                </p:cTn>
                              </p:par>
                              <p:par>
                                <p:cTn id="58" presetID="1" presetClass="exit" presetSubtype="0" fill="hold" grpId="2" nodeType="withEffect">
                                  <p:stCondLst>
                                    <p:cond delay="0"/>
                                  </p:stCondLst>
                                  <p:childTnLst>
                                    <p:set>
                                      <p:cBhvr>
                                        <p:cTn id="59" dur="1" fill="hold">
                                          <p:stCondLst>
                                            <p:cond delay="0"/>
                                          </p:stCondLst>
                                        </p:cTn>
                                        <p:tgtEl>
                                          <p:spTgt spid="27671"/>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27669"/>
                                        </p:tgtEl>
                                        <p:attrNameLst>
                                          <p:attrName>style.visibility</p:attrName>
                                        </p:attrNameLst>
                                      </p:cBhvr>
                                      <p:to>
                                        <p:strVal val="hidden"/>
                                      </p:to>
                                    </p:set>
                                  </p:childTnLst>
                                </p:cTn>
                              </p:par>
                              <p:par>
                                <p:cTn id="62" presetID="1" presetClass="entr" presetSubtype="0" fill="hold" nodeType="withEffect">
                                  <p:stCondLst>
                                    <p:cond delay="0"/>
                                  </p:stCondLst>
                                  <p:childTnLst>
                                    <p:set>
                                      <p:cBhvr>
                                        <p:cTn id="63" dur="1" fill="hold">
                                          <p:stCondLst>
                                            <p:cond delay="0"/>
                                          </p:stCondLst>
                                        </p:cTn>
                                        <p:tgtEl>
                                          <p:spTgt spid="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grpId="0" nodeType="clickEffect">
                                  <p:stCondLst>
                                    <p:cond delay="0"/>
                                  </p:stCondLst>
                                  <p:childTnLst>
                                    <p:set>
                                      <p:cBhvr>
                                        <p:cTn id="67" dur="1" fill="hold">
                                          <p:stCondLst>
                                            <p:cond delay="0"/>
                                          </p:stCondLst>
                                        </p:cTn>
                                        <p:tgtEl>
                                          <p:spTgt spid="27674"/>
                                        </p:tgtEl>
                                        <p:attrNameLst>
                                          <p:attrName>style.visibility</p:attrName>
                                        </p:attrNameLst>
                                      </p:cBhvr>
                                      <p:to>
                                        <p:strVal val="visible"/>
                                      </p:to>
                                    </p:set>
                                    <p:anim calcmode="lin" valueType="num">
                                      <p:cBhvr>
                                        <p:cTn id="68" dur="500" fill="hold"/>
                                        <p:tgtEl>
                                          <p:spTgt spid="27674"/>
                                        </p:tgtEl>
                                        <p:attrNameLst>
                                          <p:attrName>ppt_w</p:attrName>
                                        </p:attrNameLst>
                                      </p:cBhvr>
                                      <p:tavLst>
                                        <p:tav tm="0">
                                          <p:val>
                                            <p:fltVal val="0"/>
                                          </p:val>
                                        </p:tav>
                                        <p:tav tm="100000">
                                          <p:val>
                                            <p:strVal val="#ppt_w"/>
                                          </p:val>
                                        </p:tav>
                                      </p:tavLst>
                                    </p:anim>
                                    <p:anim calcmode="lin" valueType="num">
                                      <p:cBhvr>
                                        <p:cTn id="69" dur="500" fill="hold"/>
                                        <p:tgtEl>
                                          <p:spTgt spid="2767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0" presetClass="path" presetSubtype="0" accel="50000" decel="50000" fill="hold" grpId="1" nodeType="clickEffect">
                                  <p:stCondLst>
                                    <p:cond delay="0"/>
                                  </p:stCondLst>
                                  <p:childTnLst>
                                    <p:animMotion origin="layout" path="M 3.05556E-6 3.33333E-6 C 0.0033 0.03194 0.01857 0.15486 0.01996 0.19305 C 0.02135 0.23125 0.00902 0.21852 0.00885 0.22939 C 0.00868 0.24051 0.02396 0.25231 0.01927 0.25926 C 0.01458 0.2662 -0.01129 0.26551 -0.01945 0.27152 C -0.02761 0.27731 -0.02934 0.28518 -0.03004 0.29375 C -0.03073 0.30231 -0.02223 0.31134 -0.02379 0.32268 C -0.02535 0.33402 -0.03941 0.33495 -0.03907 0.36273 C -0.03872 0.39051 -0.02396 0.46435 -0.0217 0.48958 C -0.01945 0.51481 -0.02379 0.50856 -0.025 0.51458 C -0.02622 0.5206 -0.02813 0.52129 -0.02917 0.52592 C -0.03021 0.53055 -0.03091 0.53842 -0.03143 0.54189 " pathEditMode="relative" rAng="0" ptsTypes="aaaaaaaaaaaa">
                                      <p:cBhvr>
                                        <p:cTn id="73" dur="2000" fill="hold"/>
                                        <p:tgtEl>
                                          <p:spTgt spid="27674"/>
                                        </p:tgtEl>
                                        <p:attrNameLst>
                                          <p:attrName>ppt_x</p:attrName>
                                          <p:attrName>ppt_y</p:attrName>
                                        </p:attrNameLst>
                                      </p:cBhvr>
                                      <p:rCtr x="-8" y="271"/>
                                    </p:animMotion>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grpId="0" nodeType="clickEffect">
                                  <p:stCondLst>
                                    <p:cond delay="0"/>
                                  </p:stCondLst>
                                  <p:childTnLst>
                                    <p:set>
                                      <p:cBhvr>
                                        <p:cTn id="77" dur="1" fill="hold">
                                          <p:stCondLst>
                                            <p:cond delay="0"/>
                                          </p:stCondLst>
                                        </p:cTn>
                                        <p:tgtEl>
                                          <p:spTgt spid="27675"/>
                                        </p:tgtEl>
                                        <p:attrNameLst>
                                          <p:attrName>style.visibility</p:attrName>
                                        </p:attrNameLst>
                                      </p:cBhvr>
                                      <p:to>
                                        <p:strVal val="visible"/>
                                      </p:to>
                                    </p:set>
                                    <p:anim calcmode="lin" valueType="num">
                                      <p:cBhvr>
                                        <p:cTn id="78" dur="500" fill="hold"/>
                                        <p:tgtEl>
                                          <p:spTgt spid="27675"/>
                                        </p:tgtEl>
                                        <p:attrNameLst>
                                          <p:attrName>ppt_w</p:attrName>
                                        </p:attrNameLst>
                                      </p:cBhvr>
                                      <p:tavLst>
                                        <p:tav tm="0">
                                          <p:val>
                                            <p:fltVal val="0"/>
                                          </p:val>
                                        </p:tav>
                                        <p:tav tm="100000">
                                          <p:val>
                                            <p:strVal val="#ppt_w"/>
                                          </p:val>
                                        </p:tav>
                                      </p:tavLst>
                                    </p:anim>
                                    <p:anim calcmode="lin" valueType="num">
                                      <p:cBhvr>
                                        <p:cTn id="79" dur="500" fill="hold"/>
                                        <p:tgtEl>
                                          <p:spTgt spid="27675"/>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0" presetClass="path" presetSubtype="0" accel="50000" decel="50000" fill="hold" grpId="1" nodeType="clickEffect">
                                  <p:stCondLst>
                                    <p:cond delay="0"/>
                                  </p:stCondLst>
                                  <p:childTnLst>
                                    <p:animMotion origin="layout" path="M -1.94444E-6 -1.11111E-6 C -0.00087 0.02384 -0.0059 0.10949 -0.00538 0.14306 C -0.00486 0.17662 0.00278 0.18519 0.00295 0.20139 C 0.00313 0.21759 -0.00382 0.22616 -0.00399 0.24028 C -0.00416 0.2544 0.00486 0.26736 0.00226 0.28658 C -0.00035 0.30579 -0.01875 0.33218 -0.01996 0.35556 C -0.02118 0.37894 -0.00555 0.40625 -0.00555 0.42708 C -0.00555 0.44792 -0.01736 0.46181 -0.01996 0.48056 C -0.02257 0.49931 -0.02066 0.52732 -0.02083 0.53958 " pathEditMode="relative" rAng="0" ptsTypes="aaaaaaaaa">
                                      <p:cBhvr>
                                        <p:cTn id="83" dur="2000" fill="hold"/>
                                        <p:tgtEl>
                                          <p:spTgt spid="27675"/>
                                        </p:tgtEl>
                                        <p:attrNameLst>
                                          <p:attrName>ppt_x</p:attrName>
                                          <p:attrName>ppt_y</p:attrName>
                                        </p:attrNameLst>
                                      </p:cBhvr>
                                      <p:rCtr x="-9" y="270"/>
                                    </p:animMotion>
                                  </p:childTnLst>
                                </p:cTn>
                              </p:par>
                            </p:childTnLst>
                          </p:cTn>
                        </p:par>
                      </p:childTnLst>
                    </p:cTn>
                  </p:par>
                  <p:par>
                    <p:cTn id="84" fill="hold">
                      <p:stCondLst>
                        <p:cond delay="indefinite"/>
                      </p:stCondLst>
                      <p:childTnLst>
                        <p:par>
                          <p:cTn id="85" fill="hold">
                            <p:stCondLst>
                              <p:cond delay="0"/>
                            </p:stCondLst>
                            <p:childTnLst>
                              <p:par>
                                <p:cTn id="86" presetID="23" presetClass="entr" presetSubtype="16" fill="hold" grpId="0" nodeType="clickEffect">
                                  <p:stCondLst>
                                    <p:cond delay="0"/>
                                  </p:stCondLst>
                                  <p:childTnLst>
                                    <p:set>
                                      <p:cBhvr>
                                        <p:cTn id="87" dur="1" fill="hold">
                                          <p:stCondLst>
                                            <p:cond delay="0"/>
                                          </p:stCondLst>
                                        </p:cTn>
                                        <p:tgtEl>
                                          <p:spTgt spid="27676"/>
                                        </p:tgtEl>
                                        <p:attrNameLst>
                                          <p:attrName>style.visibility</p:attrName>
                                        </p:attrNameLst>
                                      </p:cBhvr>
                                      <p:to>
                                        <p:strVal val="visible"/>
                                      </p:to>
                                    </p:set>
                                    <p:anim calcmode="lin" valueType="num">
                                      <p:cBhvr>
                                        <p:cTn id="88" dur="500" fill="hold"/>
                                        <p:tgtEl>
                                          <p:spTgt spid="27676"/>
                                        </p:tgtEl>
                                        <p:attrNameLst>
                                          <p:attrName>ppt_w</p:attrName>
                                        </p:attrNameLst>
                                      </p:cBhvr>
                                      <p:tavLst>
                                        <p:tav tm="0">
                                          <p:val>
                                            <p:fltVal val="0"/>
                                          </p:val>
                                        </p:tav>
                                        <p:tav tm="100000">
                                          <p:val>
                                            <p:strVal val="#ppt_w"/>
                                          </p:val>
                                        </p:tav>
                                      </p:tavLst>
                                    </p:anim>
                                    <p:anim calcmode="lin" valueType="num">
                                      <p:cBhvr>
                                        <p:cTn id="89" dur="500" fill="hold"/>
                                        <p:tgtEl>
                                          <p:spTgt spid="27676"/>
                                        </p:tgtEl>
                                        <p:attrNameLst>
                                          <p:attrName>ppt_h</p:attrName>
                                        </p:attrNameLst>
                                      </p:cBhvr>
                                      <p:tavLst>
                                        <p:tav tm="0">
                                          <p:val>
                                            <p:flt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0" presetClass="path" presetSubtype="0" accel="50000" decel="50000" fill="hold" grpId="1" nodeType="clickEffect">
                                  <p:stCondLst>
                                    <p:cond delay="0"/>
                                  </p:stCondLst>
                                  <p:childTnLst>
                                    <p:animMotion origin="layout" path="M 1.66667E-6 3.33333E-6 C 0.00712 0.01875 0.03298 0.08842 0.04271 0.1125 C 0.05243 0.13657 0.06042 0.13472 0.05868 0.14444 C 0.05694 0.15416 0.03229 0.15926 0.03246 0.17037 C 0.03264 0.18148 0.06371 0.20069 0.06007 0.20949 C 0.0566 0.21898 0.01441 0.21805 0.01111 0.22546 C 0.00764 0.23264 0.03194 0.25092 0.0401 0.25416 C 0.04809 0.25694 0.05312 0.23935 0.05972 0.24236 C 0.06649 0.24467 0.0783 0.26389 0.07986 0.27129 C 0.08142 0.27824 0.06927 0.28032 0.0691 0.28495 C 0.06892 0.28958 0.08298 0.28634 0.07882 0.29814 C 0.07465 0.31018 0.04861 0.33819 0.04479 0.35671 C 0.04097 0.37523 0.05625 0.39352 0.05625 0.40902 C 0.05625 0.42453 0.04531 0.43611 0.04479 0.45046 C 0.04427 0.46481 0.05417 0.48588 0.05312 0.49514 C 0.05208 0.50439 0.03941 0.49861 0.03854 0.50625 C 0.03767 0.51389 0.04601 0.53379 0.04792 0.54097 " pathEditMode="relative" rAng="0" ptsTypes="aaaaaaaaaaaaaaaaa">
                                      <p:cBhvr>
                                        <p:cTn id="93" dur="2000" fill="hold"/>
                                        <p:tgtEl>
                                          <p:spTgt spid="27676"/>
                                        </p:tgtEl>
                                        <p:attrNameLst>
                                          <p:attrName>ppt_x</p:attrName>
                                          <p:attrName>ppt_y</p:attrName>
                                        </p:attrNameLst>
                                      </p:cBhvr>
                                      <p:rCtr x="41" y="270"/>
                                    </p:animMotion>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7695"/>
                                        </p:tgtEl>
                                        <p:attrNameLst>
                                          <p:attrName>style.visibility</p:attrName>
                                        </p:attrNameLst>
                                      </p:cBhvr>
                                      <p:to>
                                        <p:strVal val="visible"/>
                                      </p:to>
                                    </p:set>
                                    <p:animEffect transition="in" filter="wipe(left)">
                                      <p:cBhvr>
                                        <p:cTn id="98" dur="500"/>
                                        <p:tgtEl>
                                          <p:spTgt spid="2769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7679"/>
                                        </p:tgtEl>
                                        <p:attrNameLst>
                                          <p:attrName>style.visibility</p:attrName>
                                        </p:attrNameLst>
                                      </p:cBhvr>
                                      <p:to>
                                        <p:strVal val="visible"/>
                                      </p:to>
                                    </p:set>
                                    <p:animEffect transition="in" filter="wipe(left)">
                                      <p:cBhvr>
                                        <p:cTn id="103" dur="500"/>
                                        <p:tgtEl>
                                          <p:spTgt spid="27679"/>
                                        </p:tgtEl>
                                      </p:cBhvr>
                                    </p:animEffect>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grpId="0" nodeType="clickEffect">
                                  <p:stCondLst>
                                    <p:cond delay="0"/>
                                  </p:stCondLst>
                                  <p:childTnLst>
                                    <p:set>
                                      <p:cBhvr>
                                        <p:cTn id="107" dur="1" fill="hold">
                                          <p:stCondLst>
                                            <p:cond delay="0"/>
                                          </p:stCondLst>
                                        </p:cTn>
                                        <p:tgtEl>
                                          <p:spTgt spid="27677"/>
                                        </p:tgtEl>
                                        <p:attrNameLst>
                                          <p:attrName>style.visibility</p:attrName>
                                        </p:attrNameLst>
                                      </p:cBhvr>
                                      <p:to>
                                        <p:strVal val="visible"/>
                                      </p:to>
                                    </p:set>
                                    <p:anim calcmode="lin" valueType="num">
                                      <p:cBhvr>
                                        <p:cTn id="108" dur="500" fill="hold"/>
                                        <p:tgtEl>
                                          <p:spTgt spid="27677"/>
                                        </p:tgtEl>
                                        <p:attrNameLst>
                                          <p:attrName>ppt_w</p:attrName>
                                        </p:attrNameLst>
                                      </p:cBhvr>
                                      <p:tavLst>
                                        <p:tav tm="0">
                                          <p:val>
                                            <p:fltVal val="0"/>
                                          </p:val>
                                        </p:tav>
                                        <p:tav tm="100000">
                                          <p:val>
                                            <p:strVal val="#ppt_w"/>
                                          </p:val>
                                        </p:tav>
                                      </p:tavLst>
                                    </p:anim>
                                    <p:anim calcmode="lin" valueType="num">
                                      <p:cBhvr>
                                        <p:cTn id="109" dur="500" fill="hold"/>
                                        <p:tgtEl>
                                          <p:spTgt spid="27677"/>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7678"/>
                                        </p:tgtEl>
                                        <p:attrNameLst>
                                          <p:attrName>style.visibility</p:attrName>
                                        </p:attrNameLst>
                                      </p:cBhvr>
                                      <p:to>
                                        <p:strVal val="visible"/>
                                      </p:to>
                                    </p:set>
                                    <p:animEffect transition="in" filter="wipe(left)">
                                      <p:cBhvr>
                                        <p:cTn id="114" dur="500"/>
                                        <p:tgtEl>
                                          <p:spTgt spid="27678"/>
                                        </p:tgtEl>
                                      </p:cBhvr>
                                    </p:animEffect>
                                  </p:childTnLst>
                                </p:cTn>
                              </p:par>
                            </p:childTnLst>
                          </p:cTn>
                        </p:par>
                      </p:childTnLst>
                    </p:cTn>
                  </p:par>
                  <p:par>
                    <p:cTn id="115" fill="hold">
                      <p:stCondLst>
                        <p:cond delay="indefinite"/>
                      </p:stCondLst>
                      <p:childTnLst>
                        <p:par>
                          <p:cTn id="116" fill="hold">
                            <p:stCondLst>
                              <p:cond delay="0"/>
                            </p:stCondLst>
                            <p:childTnLst>
                              <p:par>
                                <p:cTn id="117" presetID="0" presetClass="path" presetSubtype="0" accel="50000" decel="50000" fill="hold" grpId="1" nodeType="clickEffect">
                                  <p:stCondLst>
                                    <p:cond delay="0"/>
                                  </p:stCondLst>
                                  <p:childTnLst>
                                    <p:animMotion origin="layout" path="M -0.00017 -1.11111E-6 C 0.0026 0.0088 0.01181 0.0382 0.01632 0.05347 C 0.02084 0.06875 0.02847 0.07477 0.02673 0.09213 C 0.025 0.10949 0.0007 0.14931 0.00591 0.15787 C 0.01112 0.16644 0.04635 0.14144 0.05798 0.14398 C 0.06962 0.14653 0.07343 0.16482 0.07535 0.17269 C 0.07726 0.18056 0.06997 0.1831 0.0698 0.19167 C 0.06962 0.20023 0.07396 0.2132 0.07396 0.22361 C 0.07396 0.23403 0.06562 0.24792 0.0698 0.25417 C 0.07396 0.26042 0.09115 0.25695 0.09896 0.26065 C 0.10678 0.26435 0.11546 0.27107 0.11702 0.27639 C 0.11858 0.28171 0.10834 0.27963 0.10869 0.29306 C 0.10903 0.30648 0.11945 0.33588 0.11876 0.35695 C 0.11806 0.37801 0.10539 0.38912 0.10417 0.41945 C 0.10296 0.44977 0.11007 0.51458 0.11164 0.53958 " pathEditMode="fixed" rAng="0" ptsTypes="aaaaaaaaaaaaaaa">
                                      <p:cBhvr>
                                        <p:cTn id="118" dur="2000" fill="hold"/>
                                        <p:tgtEl>
                                          <p:spTgt spid="27677"/>
                                        </p:tgtEl>
                                        <p:attrNameLst>
                                          <p:attrName>ppt_x</p:attrName>
                                          <p:attrName>ppt_y</p:attrName>
                                        </p:attrNameLst>
                                      </p:cBhvr>
                                      <p:rCtr x="60" y="270"/>
                                    </p:animMotion>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2" nodeType="clickEffect">
                                  <p:stCondLst>
                                    <p:cond delay="0"/>
                                  </p:stCondLst>
                                  <p:childTnLst>
                                    <p:set>
                                      <p:cBhvr>
                                        <p:cTn id="122" dur="1" fill="hold">
                                          <p:stCondLst>
                                            <p:cond delay="0"/>
                                          </p:stCondLst>
                                        </p:cTn>
                                        <p:tgtEl>
                                          <p:spTgt spid="27674"/>
                                        </p:tgtEl>
                                        <p:attrNameLst>
                                          <p:attrName>style.visibility</p:attrName>
                                        </p:attrNameLst>
                                      </p:cBhvr>
                                      <p:to>
                                        <p:strVal val="hidden"/>
                                      </p:to>
                                    </p:set>
                                  </p:childTnLst>
                                </p:cTn>
                              </p:par>
                              <p:par>
                                <p:cTn id="123" presetID="1" presetClass="exit" presetSubtype="0" fill="hold" grpId="2" nodeType="withEffect">
                                  <p:stCondLst>
                                    <p:cond delay="0"/>
                                  </p:stCondLst>
                                  <p:childTnLst>
                                    <p:set>
                                      <p:cBhvr>
                                        <p:cTn id="124" dur="1" fill="hold">
                                          <p:stCondLst>
                                            <p:cond delay="0"/>
                                          </p:stCondLst>
                                        </p:cTn>
                                        <p:tgtEl>
                                          <p:spTgt spid="27675"/>
                                        </p:tgtEl>
                                        <p:attrNameLst>
                                          <p:attrName>style.visibility</p:attrName>
                                        </p:attrNameLst>
                                      </p:cBhvr>
                                      <p:to>
                                        <p:strVal val="hidden"/>
                                      </p:to>
                                    </p:set>
                                  </p:childTnLst>
                                </p:cTn>
                              </p:par>
                              <p:par>
                                <p:cTn id="125" presetID="1" presetClass="exit" presetSubtype="0" fill="hold" grpId="2" nodeType="withEffect">
                                  <p:stCondLst>
                                    <p:cond delay="0"/>
                                  </p:stCondLst>
                                  <p:childTnLst>
                                    <p:set>
                                      <p:cBhvr>
                                        <p:cTn id="126" dur="1" fill="hold">
                                          <p:stCondLst>
                                            <p:cond delay="0"/>
                                          </p:stCondLst>
                                        </p:cTn>
                                        <p:tgtEl>
                                          <p:spTgt spid="27676"/>
                                        </p:tgtEl>
                                        <p:attrNameLst>
                                          <p:attrName>style.visibility</p:attrName>
                                        </p:attrNameLst>
                                      </p:cBhvr>
                                      <p:to>
                                        <p:strVal val="hidden"/>
                                      </p:to>
                                    </p:set>
                                  </p:childTnLst>
                                </p:cTn>
                              </p:par>
                              <p:par>
                                <p:cTn id="127" presetID="1" presetClass="exit" presetSubtype="0" fill="hold" grpId="2" nodeType="withEffect">
                                  <p:stCondLst>
                                    <p:cond delay="0"/>
                                  </p:stCondLst>
                                  <p:childTnLst>
                                    <p:set>
                                      <p:cBhvr>
                                        <p:cTn id="128" dur="1" fill="hold">
                                          <p:stCondLst>
                                            <p:cond delay="0"/>
                                          </p:stCondLst>
                                        </p:cTn>
                                        <p:tgtEl>
                                          <p:spTgt spid="27677"/>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23" presetClass="entr" presetSubtype="16" fill="hold" grpId="0" nodeType="clickEffect">
                                  <p:stCondLst>
                                    <p:cond delay="0"/>
                                  </p:stCondLst>
                                  <p:childTnLst>
                                    <p:set>
                                      <p:cBhvr>
                                        <p:cTn id="132" dur="1" fill="hold">
                                          <p:stCondLst>
                                            <p:cond delay="0"/>
                                          </p:stCondLst>
                                        </p:cTn>
                                        <p:tgtEl>
                                          <p:spTgt spid="27683"/>
                                        </p:tgtEl>
                                        <p:attrNameLst>
                                          <p:attrName>style.visibility</p:attrName>
                                        </p:attrNameLst>
                                      </p:cBhvr>
                                      <p:to>
                                        <p:strVal val="visible"/>
                                      </p:to>
                                    </p:set>
                                    <p:anim calcmode="lin" valueType="num">
                                      <p:cBhvr>
                                        <p:cTn id="133" dur="500" fill="hold"/>
                                        <p:tgtEl>
                                          <p:spTgt spid="27683"/>
                                        </p:tgtEl>
                                        <p:attrNameLst>
                                          <p:attrName>ppt_w</p:attrName>
                                        </p:attrNameLst>
                                      </p:cBhvr>
                                      <p:tavLst>
                                        <p:tav tm="0">
                                          <p:val>
                                            <p:fltVal val="0"/>
                                          </p:val>
                                        </p:tav>
                                        <p:tav tm="100000">
                                          <p:val>
                                            <p:strVal val="#ppt_w"/>
                                          </p:val>
                                        </p:tav>
                                      </p:tavLst>
                                    </p:anim>
                                    <p:anim calcmode="lin" valueType="num">
                                      <p:cBhvr>
                                        <p:cTn id="134" dur="500" fill="hold"/>
                                        <p:tgtEl>
                                          <p:spTgt spid="27683"/>
                                        </p:tgtEl>
                                        <p:attrNameLst>
                                          <p:attrName>ppt_h</p:attrName>
                                        </p:attrNameLst>
                                      </p:cBhvr>
                                      <p:tavLst>
                                        <p:tav tm="0">
                                          <p:val>
                                            <p:fltVal val="0"/>
                                          </p:val>
                                        </p:tav>
                                        <p:tav tm="100000">
                                          <p:val>
                                            <p:strVal val="#ppt_h"/>
                                          </p:val>
                                        </p:tav>
                                      </p:tavLst>
                                    </p:anim>
                                  </p:childTnLst>
                                </p:cTn>
                              </p:par>
                              <p:par>
                                <p:cTn id="135" presetID="23" presetClass="entr" presetSubtype="16" fill="hold" grpId="0" nodeType="withEffect">
                                  <p:stCondLst>
                                    <p:cond delay="0"/>
                                  </p:stCondLst>
                                  <p:childTnLst>
                                    <p:set>
                                      <p:cBhvr>
                                        <p:cTn id="136" dur="1" fill="hold">
                                          <p:stCondLst>
                                            <p:cond delay="0"/>
                                          </p:stCondLst>
                                        </p:cTn>
                                        <p:tgtEl>
                                          <p:spTgt spid="27680"/>
                                        </p:tgtEl>
                                        <p:attrNameLst>
                                          <p:attrName>style.visibility</p:attrName>
                                        </p:attrNameLst>
                                      </p:cBhvr>
                                      <p:to>
                                        <p:strVal val="visible"/>
                                      </p:to>
                                    </p:set>
                                    <p:anim calcmode="lin" valueType="num">
                                      <p:cBhvr>
                                        <p:cTn id="137" dur="500" fill="hold"/>
                                        <p:tgtEl>
                                          <p:spTgt spid="27680"/>
                                        </p:tgtEl>
                                        <p:attrNameLst>
                                          <p:attrName>ppt_w</p:attrName>
                                        </p:attrNameLst>
                                      </p:cBhvr>
                                      <p:tavLst>
                                        <p:tav tm="0">
                                          <p:val>
                                            <p:fltVal val="0"/>
                                          </p:val>
                                        </p:tav>
                                        <p:tav tm="100000">
                                          <p:val>
                                            <p:strVal val="#ppt_w"/>
                                          </p:val>
                                        </p:tav>
                                      </p:tavLst>
                                    </p:anim>
                                    <p:anim calcmode="lin" valueType="num">
                                      <p:cBhvr>
                                        <p:cTn id="138" dur="500" fill="hold"/>
                                        <p:tgtEl>
                                          <p:spTgt spid="27680"/>
                                        </p:tgtEl>
                                        <p:attrNameLst>
                                          <p:attrName>ppt_h</p:attrName>
                                        </p:attrNameLst>
                                      </p:cBhvr>
                                      <p:tavLst>
                                        <p:tav tm="0">
                                          <p:val>
                                            <p:fltVal val="0"/>
                                          </p:val>
                                        </p:tav>
                                        <p:tav tm="100000">
                                          <p:val>
                                            <p:strVal val="#ppt_h"/>
                                          </p:val>
                                        </p:tav>
                                      </p:tavLst>
                                    </p:anim>
                                  </p:childTnLst>
                                </p:cTn>
                              </p:par>
                              <p:par>
                                <p:cTn id="139" presetID="23" presetClass="entr" presetSubtype="16" fill="hold" grpId="0" nodeType="withEffect">
                                  <p:stCondLst>
                                    <p:cond delay="0"/>
                                  </p:stCondLst>
                                  <p:childTnLst>
                                    <p:set>
                                      <p:cBhvr>
                                        <p:cTn id="140" dur="1" fill="hold">
                                          <p:stCondLst>
                                            <p:cond delay="0"/>
                                          </p:stCondLst>
                                        </p:cTn>
                                        <p:tgtEl>
                                          <p:spTgt spid="27681"/>
                                        </p:tgtEl>
                                        <p:attrNameLst>
                                          <p:attrName>style.visibility</p:attrName>
                                        </p:attrNameLst>
                                      </p:cBhvr>
                                      <p:to>
                                        <p:strVal val="visible"/>
                                      </p:to>
                                    </p:set>
                                    <p:anim calcmode="lin" valueType="num">
                                      <p:cBhvr>
                                        <p:cTn id="141" dur="500" fill="hold"/>
                                        <p:tgtEl>
                                          <p:spTgt spid="27681"/>
                                        </p:tgtEl>
                                        <p:attrNameLst>
                                          <p:attrName>ppt_w</p:attrName>
                                        </p:attrNameLst>
                                      </p:cBhvr>
                                      <p:tavLst>
                                        <p:tav tm="0">
                                          <p:val>
                                            <p:fltVal val="0"/>
                                          </p:val>
                                        </p:tav>
                                        <p:tav tm="100000">
                                          <p:val>
                                            <p:strVal val="#ppt_w"/>
                                          </p:val>
                                        </p:tav>
                                      </p:tavLst>
                                    </p:anim>
                                    <p:anim calcmode="lin" valueType="num">
                                      <p:cBhvr>
                                        <p:cTn id="142" dur="500" fill="hold"/>
                                        <p:tgtEl>
                                          <p:spTgt spid="27681"/>
                                        </p:tgtEl>
                                        <p:attrNameLst>
                                          <p:attrName>ppt_h</p:attrName>
                                        </p:attrNameLst>
                                      </p:cBhvr>
                                      <p:tavLst>
                                        <p:tav tm="0">
                                          <p:val>
                                            <p:fltVal val="0"/>
                                          </p:val>
                                        </p:tav>
                                        <p:tav tm="100000">
                                          <p:val>
                                            <p:strVal val="#ppt_h"/>
                                          </p:val>
                                        </p:tav>
                                      </p:tavLst>
                                    </p:anim>
                                  </p:childTnLst>
                                </p:cTn>
                              </p:par>
                              <p:par>
                                <p:cTn id="143" presetID="23" presetClass="entr" presetSubtype="16" fill="hold" grpId="0" nodeType="withEffect">
                                  <p:stCondLst>
                                    <p:cond delay="0"/>
                                  </p:stCondLst>
                                  <p:childTnLst>
                                    <p:set>
                                      <p:cBhvr>
                                        <p:cTn id="144" dur="1" fill="hold">
                                          <p:stCondLst>
                                            <p:cond delay="0"/>
                                          </p:stCondLst>
                                        </p:cTn>
                                        <p:tgtEl>
                                          <p:spTgt spid="27682"/>
                                        </p:tgtEl>
                                        <p:attrNameLst>
                                          <p:attrName>style.visibility</p:attrName>
                                        </p:attrNameLst>
                                      </p:cBhvr>
                                      <p:to>
                                        <p:strVal val="visible"/>
                                      </p:to>
                                    </p:set>
                                    <p:anim calcmode="lin" valueType="num">
                                      <p:cBhvr>
                                        <p:cTn id="145" dur="500" fill="hold"/>
                                        <p:tgtEl>
                                          <p:spTgt spid="27682"/>
                                        </p:tgtEl>
                                        <p:attrNameLst>
                                          <p:attrName>ppt_w</p:attrName>
                                        </p:attrNameLst>
                                      </p:cBhvr>
                                      <p:tavLst>
                                        <p:tav tm="0">
                                          <p:val>
                                            <p:fltVal val="0"/>
                                          </p:val>
                                        </p:tav>
                                        <p:tav tm="100000">
                                          <p:val>
                                            <p:strVal val="#ppt_w"/>
                                          </p:val>
                                        </p:tav>
                                      </p:tavLst>
                                    </p:anim>
                                    <p:anim calcmode="lin" valueType="num">
                                      <p:cBhvr>
                                        <p:cTn id="146" dur="500" fill="hold"/>
                                        <p:tgtEl>
                                          <p:spTgt spid="27682"/>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0" presetClass="path" presetSubtype="0" accel="50000" decel="50000" fill="hold" grpId="1" nodeType="clickEffect">
                                  <p:stCondLst>
                                    <p:cond delay="0"/>
                                  </p:stCondLst>
                                  <p:childTnLst>
                                    <p:animMotion origin="layout" path="M -0.00122 2.96296E-6 C 0.00122 0.00532 0.00816 0.0243 0.01354 0.03171 C 0.01892 0.03912 0.02361 0.03865 0.03142 0.04444 C 0.03924 0.05023 0.06111 0.05254 0.06007 0.06643 C 0.05903 0.08032 0.02292 0.11134 0.025 0.12754 C 0.02708 0.14375 0.06753 0.15486 0.07292 0.16435 C 0.0783 0.17384 0.05729 0.17523 0.05747 0.18495 C 0.05764 0.19444 0.07413 0.2125 0.07431 0.22268 C 0.07448 0.23287 0.0559 0.23912 0.05868 0.24514 C 0.06146 0.25046 0.08229 0.25231 0.09115 0.25694 C 0.10017 0.26134 0.11163 0.2669 0.11215 0.27222 C 0.1125 0.27754 0.09514 0.27453 0.09375 0.28773 C 0.09236 0.30092 0.10521 0.32986 0.10417 0.35115 C 0.10313 0.37245 0.08906 0.38518 0.0875 0.41504 C 0.08594 0.4449 0.09323 0.50625 0.09479 0.53032 " pathEditMode="fixed" rAng="0" ptsTypes="aaaaaaaaaaaaaaa">
                                      <p:cBhvr>
                                        <p:cTn id="150" dur="2000" fill="hold"/>
                                        <p:tgtEl>
                                          <p:spTgt spid="27683"/>
                                        </p:tgtEl>
                                        <p:attrNameLst>
                                          <p:attrName>ppt_x</p:attrName>
                                          <p:attrName>ppt_y</p:attrName>
                                        </p:attrNameLst>
                                      </p:cBhvr>
                                      <p:rCtr x="57" y="265"/>
                                    </p:animMotion>
                                  </p:childTnLst>
                                </p:cTn>
                              </p:par>
                              <p:par>
                                <p:cTn id="151" presetID="0" presetClass="path" presetSubtype="0" accel="50000" decel="50000" fill="hold" grpId="1" nodeType="withEffect">
                                  <p:stCondLst>
                                    <p:cond delay="0"/>
                                  </p:stCondLst>
                                  <p:childTnLst>
                                    <p:animMotion origin="layout" path="M -5.55556E-7 7.40741E-7 C 0.01007 0.07731 0.02031 0.15463 0.02083 0.19236 C 0.02135 0.23009 0.00278 0.21505 0.00278 0.22639 C 0.00278 0.2375 0.02448 0.25301 0.02083 0.26018 C 0.01719 0.26759 -0.01042 0.26481 -0.01944 0.26968 C -0.02847 0.27454 -0.03333 0.28194 -0.03333 0.29051 C -0.03333 0.29884 -0.01805 0.30903 -0.01944 0.3206 C -0.02083 0.33218 -0.04115 0.33218 -0.04167 0.36018 C -0.04219 0.38796 -0.025 0.46319 -0.02222 0.48843 C -0.01944 0.51366 -0.02378 0.50555 -0.025 0.51111 C -0.02621 0.5169 -0.0283 0.51782 -0.02917 0.52245 C -0.03003 0.52731 -0.02986 0.53495 -0.03055 0.53958 " pathEditMode="relative" rAng="0" ptsTypes="aaaaaaaaaaaA">
                                      <p:cBhvr>
                                        <p:cTn id="152" dur="2000" fill="hold"/>
                                        <p:tgtEl>
                                          <p:spTgt spid="27680"/>
                                        </p:tgtEl>
                                        <p:attrNameLst>
                                          <p:attrName>ppt_x</p:attrName>
                                          <p:attrName>ppt_y</p:attrName>
                                        </p:attrNameLst>
                                      </p:cBhvr>
                                      <p:rCtr x="-9" y="270"/>
                                    </p:animMotion>
                                  </p:childTnLst>
                                </p:cTn>
                              </p:par>
                              <p:par>
                                <p:cTn id="153" presetID="0" presetClass="path" presetSubtype="0" accel="50000" decel="50000" fill="hold" grpId="1" nodeType="withEffect">
                                  <p:stCondLst>
                                    <p:cond delay="0"/>
                                  </p:stCondLst>
                                  <p:childTnLst>
                                    <p:animMotion origin="layout" path="M 4.44444E-6 7.40741E-7 C -0.00539 0.05509 -0.01059 0.11042 -0.00973 0.14398 C -0.00886 0.17755 0.00607 0.18634 0.00555 0.20208 C 0.00503 0.21759 -0.01233 0.22407 -0.0125 0.23727 C -0.01268 0.25023 0.00677 0.26435 0.00416 0.28102 C 0.00156 0.29768 -0.02622 0.31296 -0.02778 0.33727 C -0.02934 0.3618 -0.00608 0.40231 -0.00556 0.42708 C -0.00504 0.45162 -0.0224 0.4662 -0.025 0.48495 C -0.02761 0.5037 -0.02431 0.52153 -0.02084 0.53958 " pathEditMode="relative" rAng="0" ptsTypes="aaaaaaaaA">
                                      <p:cBhvr>
                                        <p:cTn id="154" dur="2000" fill="hold"/>
                                        <p:tgtEl>
                                          <p:spTgt spid="27681"/>
                                        </p:tgtEl>
                                        <p:attrNameLst>
                                          <p:attrName>ppt_x</p:attrName>
                                          <p:attrName>ppt_y</p:attrName>
                                        </p:attrNameLst>
                                      </p:cBhvr>
                                      <p:rCtr x="-11" y="270"/>
                                    </p:animMotion>
                                  </p:childTnLst>
                                </p:cTn>
                              </p:par>
                              <p:par>
                                <p:cTn id="155" presetID="0" presetClass="path" presetSubtype="0" accel="50000" decel="50000" fill="hold" grpId="1" nodeType="withEffect">
                                  <p:stCondLst>
                                    <p:cond delay="0"/>
                                  </p:stCondLst>
                                  <p:childTnLst>
                                    <p:animMotion origin="layout" path="M 1.66667E-6 3.33333E-6 C 0.00781 0.01921 0.03732 0.09189 0.04687 0.11574 C 0.05642 0.13958 0.05851 0.13495 0.05694 0.14352 C 0.05538 0.15208 0.03732 0.15555 0.0375 0.16666 C 0.03767 0.17731 0.0618 0.19977 0.05833 0.20856 C 0.05486 0.21759 0.01996 0.21389 0.01667 0.22106 C 0.01337 0.22824 0.03229 0.25 0.03889 0.25254 C 0.04548 0.25532 0.05087 0.23449 0.05694 0.2368 C 0.06302 0.23935 0.07448 0.25879 0.075 0.26643 C 0.07552 0.27477 0.05955 0.27916 0.05972 0.28426 C 0.05989 0.28935 0.08125 0.2868 0.07639 0.29652 C 0.07153 0.30648 0.03351 0.32569 0.03055 0.34398 C 0.0276 0.36203 0.05781 0.38819 0.05833 0.40555 C 0.05885 0.42291 0.03316 0.43333 0.03333 0.44768 C 0.03351 0.46203 0.05816 0.48194 0.05972 0.49166 C 0.06128 0.50139 0.04548 0.49745 0.04305 0.50555 C 0.04062 0.51365 0.04496 0.53287 0.04548 0.54004 " pathEditMode="relative" rAng="0" ptsTypes="aaaaaaaaaaaaaaaaa">
                                      <p:cBhvr>
                                        <p:cTn id="156" dur="2000" fill="hold"/>
                                        <p:tgtEl>
                                          <p:spTgt spid="27682"/>
                                        </p:tgtEl>
                                        <p:attrNameLst>
                                          <p:attrName>ppt_x</p:attrName>
                                          <p:attrName>ppt_y</p:attrName>
                                        </p:attrNameLst>
                                      </p:cBhvr>
                                      <p:rCtr x="41" y="270"/>
                                    </p:animMotion>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2" nodeType="clickEffect">
                                  <p:stCondLst>
                                    <p:cond delay="0"/>
                                  </p:stCondLst>
                                  <p:childTnLst>
                                    <p:set>
                                      <p:cBhvr>
                                        <p:cTn id="160" dur="1" fill="hold">
                                          <p:stCondLst>
                                            <p:cond delay="0"/>
                                          </p:stCondLst>
                                        </p:cTn>
                                        <p:tgtEl>
                                          <p:spTgt spid="27680"/>
                                        </p:tgtEl>
                                        <p:attrNameLst>
                                          <p:attrName>style.visibility</p:attrName>
                                        </p:attrNameLst>
                                      </p:cBhvr>
                                      <p:to>
                                        <p:strVal val="hidden"/>
                                      </p:to>
                                    </p:set>
                                  </p:childTnLst>
                                </p:cTn>
                              </p:par>
                              <p:par>
                                <p:cTn id="161" presetID="1" presetClass="exit" presetSubtype="0" fill="hold" grpId="2" nodeType="withEffect">
                                  <p:stCondLst>
                                    <p:cond delay="0"/>
                                  </p:stCondLst>
                                  <p:childTnLst>
                                    <p:set>
                                      <p:cBhvr>
                                        <p:cTn id="162" dur="1" fill="hold">
                                          <p:stCondLst>
                                            <p:cond delay="0"/>
                                          </p:stCondLst>
                                        </p:cTn>
                                        <p:tgtEl>
                                          <p:spTgt spid="27681"/>
                                        </p:tgtEl>
                                        <p:attrNameLst>
                                          <p:attrName>style.visibility</p:attrName>
                                        </p:attrNameLst>
                                      </p:cBhvr>
                                      <p:to>
                                        <p:strVal val="hidden"/>
                                      </p:to>
                                    </p:set>
                                  </p:childTnLst>
                                </p:cTn>
                              </p:par>
                              <p:par>
                                <p:cTn id="163" presetID="1" presetClass="exit" presetSubtype="0" fill="hold" grpId="2" nodeType="withEffect">
                                  <p:stCondLst>
                                    <p:cond delay="0"/>
                                  </p:stCondLst>
                                  <p:childTnLst>
                                    <p:set>
                                      <p:cBhvr>
                                        <p:cTn id="164" dur="1" fill="hold">
                                          <p:stCondLst>
                                            <p:cond delay="0"/>
                                          </p:stCondLst>
                                        </p:cTn>
                                        <p:tgtEl>
                                          <p:spTgt spid="27682"/>
                                        </p:tgtEl>
                                        <p:attrNameLst>
                                          <p:attrName>style.visibility</p:attrName>
                                        </p:attrNameLst>
                                      </p:cBhvr>
                                      <p:to>
                                        <p:strVal val="hidden"/>
                                      </p:to>
                                    </p:set>
                                  </p:childTnLst>
                                </p:cTn>
                              </p:par>
                              <p:par>
                                <p:cTn id="165" presetID="1" presetClass="exit" presetSubtype="0" fill="hold" grpId="2" nodeType="withEffect">
                                  <p:stCondLst>
                                    <p:cond delay="0"/>
                                  </p:stCondLst>
                                  <p:childTnLst>
                                    <p:set>
                                      <p:cBhvr>
                                        <p:cTn id="166" dur="1" fill="hold">
                                          <p:stCondLst>
                                            <p:cond delay="0"/>
                                          </p:stCondLst>
                                        </p:cTn>
                                        <p:tgtEl>
                                          <p:spTgt spid="27683"/>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23" presetClass="entr" presetSubtype="16" fill="hold" grpId="0" nodeType="clickEffect">
                                  <p:stCondLst>
                                    <p:cond delay="0"/>
                                  </p:stCondLst>
                                  <p:childTnLst>
                                    <p:set>
                                      <p:cBhvr>
                                        <p:cTn id="170" dur="1" fill="hold">
                                          <p:stCondLst>
                                            <p:cond delay="0"/>
                                          </p:stCondLst>
                                        </p:cTn>
                                        <p:tgtEl>
                                          <p:spTgt spid="27684"/>
                                        </p:tgtEl>
                                        <p:attrNameLst>
                                          <p:attrName>style.visibility</p:attrName>
                                        </p:attrNameLst>
                                      </p:cBhvr>
                                      <p:to>
                                        <p:strVal val="visible"/>
                                      </p:to>
                                    </p:set>
                                    <p:anim calcmode="lin" valueType="num">
                                      <p:cBhvr>
                                        <p:cTn id="171" dur="500" fill="hold"/>
                                        <p:tgtEl>
                                          <p:spTgt spid="27684"/>
                                        </p:tgtEl>
                                        <p:attrNameLst>
                                          <p:attrName>ppt_w</p:attrName>
                                        </p:attrNameLst>
                                      </p:cBhvr>
                                      <p:tavLst>
                                        <p:tav tm="0">
                                          <p:val>
                                            <p:fltVal val="0"/>
                                          </p:val>
                                        </p:tav>
                                        <p:tav tm="100000">
                                          <p:val>
                                            <p:strVal val="#ppt_w"/>
                                          </p:val>
                                        </p:tav>
                                      </p:tavLst>
                                    </p:anim>
                                    <p:anim calcmode="lin" valueType="num">
                                      <p:cBhvr>
                                        <p:cTn id="172" dur="500" fill="hold"/>
                                        <p:tgtEl>
                                          <p:spTgt spid="27684"/>
                                        </p:tgtEl>
                                        <p:attrNameLst>
                                          <p:attrName>ppt_h</p:attrName>
                                        </p:attrNameLst>
                                      </p:cBhvr>
                                      <p:tavLst>
                                        <p:tav tm="0">
                                          <p:val>
                                            <p:fltVal val="0"/>
                                          </p:val>
                                        </p:tav>
                                        <p:tav tm="100000">
                                          <p:val>
                                            <p:strVal val="#ppt_h"/>
                                          </p:val>
                                        </p:tav>
                                      </p:tavLst>
                                    </p:anim>
                                  </p:childTnLst>
                                </p:cTn>
                              </p:par>
                              <p:par>
                                <p:cTn id="173" presetID="23" presetClass="entr" presetSubtype="16" fill="hold" grpId="0" nodeType="withEffect">
                                  <p:stCondLst>
                                    <p:cond delay="0"/>
                                  </p:stCondLst>
                                  <p:childTnLst>
                                    <p:set>
                                      <p:cBhvr>
                                        <p:cTn id="174" dur="1" fill="hold">
                                          <p:stCondLst>
                                            <p:cond delay="0"/>
                                          </p:stCondLst>
                                        </p:cTn>
                                        <p:tgtEl>
                                          <p:spTgt spid="27685"/>
                                        </p:tgtEl>
                                        <p:attrNameLst>
                                          <p:attrName>style.visibility</p:attrName>
                                        </p:attrNameLst>
                                      </p:cBhvr>
                                      <p:to>
                                        <p:strVal val="visible"/>
                                      </p:to>
                                    </p:set>
                                    <p:anim calcmode="lin" valueType="num">
                                      <p:cBhvr>
                                        <p:cTn id="175" dur="500" fill="hold"/>
                                        <p:tgtEl>
                                          <p:spTgt spid="27685"/>
                                        </p:tgtEl>
                                        <p:attrNameLst>
                                          <p:attrName>ppt_w</p:attrName>
                                        </p:attrNameLst>
                                      </p:cBhvr>
                                      <p:tavLst>
                                        <p:tav tm="0">
                                          <p:val>
                                            <p:fltVal val="0"/>
                                          </p:val>
                                        </p:tav>
                                        <p:tav tm="100000">
                                          <p:val>
                                            <p:strVal val="#ppt_w"/>
                                          </p:val>
                                        </p:tav>
                                      </p:tavLst>
                                    </p:anim>
                                    <p:anim calcmode="lin" valueType="num">
                                      <p:cBhvr>
                                        <p:cTn id="176" dur="500" fill="hold"/>
                                        <p:tgtEl>
                                          <p:spTgt spid="27685"/>
                                        </p:tgtEl>
                                        <p:attrNameLst>
                                          <p:attrName>ppt_h</p:attrName>
                                        </p:attrNameLst>
                                      </p:cBhvr>
                                      <p:tavLst>
                                        <p:tav tm="0">
                                          <p:val>
                                            <p:fltVal val="0"/>
                                          </p:val>
                                        </p:tav>
                                        <p:tav tm="100000">
                                          <p:val>
                                            <p:strVal val="#ppt_h"/>
                                          </p:val>
                                        </p:tav>
                                      </p:tavLst>
                                    </p:anim>
                                  </p:childTnLst>
                                </p:cTn>
                              </p:par>
                              <p:par>
                                <p:cTn id="177" presetID="23" presetClass="entr" presetSubtype="16" fill="hold" grpId="0" nodeType="withEffect">
                                  <p:stCondLst>
                                    <p:cond delay="0"/>
                                  </p:stCondLst>
                                  <p:childTnLst>
                                    <p:set>
                                      <p:cBhvr>
                                        <p:cTn id="178" dur="1" fill="hold">
                                          <p:stCondLst>
                                            <p:cond delay="0"/>
                                          </p:stCondLst>
                                        </p:cTn>
                                        <p:tgtEl>
                                          <p:spTgt spid="27686"/>
                                        </p:tgtEl>
                                        <p:attrNameLst>
                                          <p:attrName>style.visibility</p:attrName>
                                        </p:attrNameLst>
                                      </p:cBhvr>
                                      <p:to>
                                        <p:strVal val="visible"/>
                                      </p:to>
                                    </p:set>
                                    <p:anim calcmode="lin" valueType="num">
                                      <p:cBhvr>
                                        <p:cTn id="179" dur="500" fill="hold"/>
                                        <p:tgtEl>
                                          <p:spTgt spid="27686"/>
                                        </p:tgtEl>
                                        <p:attrNameLst>
                                          <p:attrName>ppt_w</p:attrName>
                                        </p:attrNameLst>
                                      </p:cBhvr>
                                      <p:tavLst>
                                        <p:tav tm="0">
                                          <p:val>
                                            <p:fltVal val="0"/>
                                          </p:val>
                                        </p:tav>
                                        <p:tav tm="100000">
                                          <p:val>
                                            <p:strVal val="#ppt_w"/>
                                          </p:val>
                                        </p:tav>
                                      </p:tavLst>
                                    </p:anim>
                                    <p:anim calcmode="lin" valueType="num">
                                      <p:cBhvr>
                                        <p:cTn id="180" dur="500" fill="hold"/>
                                        <p:tgtEl>
                                          <p:spTgt spid="27686"/>
                                        </p:tgtEl>
                                        <p:attrNameLst>
                                          <p:attrName>ppt_h</p:attrName>
                                        </p:attrNameLst>
                                      </p:cBhvr>
                                      <p:tavLst>
                                        <p:tav tm="0">
                                          <p:val>
                                            <p:fltVal val="0"/>
                                          </p:val>
                                        </p:tav>
                                        <p:tav tm="100000">
                                          <p:val>
                                            <p:strVal val="#ppt_h"/>
                                          </p:val>
                                        </p:tav>
                                      </p:tavLst>
                                    </p:anim>
                                  </p:childTnLst>
                                </p:cTn>
                              </p:par>
                              <p:par>
                                <p:cTn id="181" presetID="23" presetClass="entr" presetSubtype="16" fill="hold" grpId="0" nodeType="withEffect">
                                  <p:stCondLst>
                                    <p:cond delay="0"/>
                                  </p:stCondLst>
                                  <p:childTnLst>
                                    <p:set>
                                      <p:cBhvr>
                                        <p:cTn id="182" dur="1" fill="hold">
                                          <p:stCondLst>
                                            <p:cond delay="0"/>
                                          </p:stCondLst>
                                        </p:cTn>
                                        <p:tgtEl>
                                          <p:spTgt spid="27687"/>
                                        </p:tgtEl>
                                        <p:attrNameLst>
                                          <p:attrName>style.visibility</p:attrName>
                                        </p:attrNameLst>
                                      </p:cBhvr>
                                      <p:to>
                                        <p:strVal val="visible"/>
                                      </p:to>
                                    </p:set>
                                    <p:anim calcmode="lin" valueType="num">
                                      <p:cBhvr>
                                        <p:cTn id="183" dur="500" fill="hold"/>
                                        <p:tgtEl>
                                          <p:spTgt spid="27687"/>
                                        </p:tgtEl>
                                        <p:attrNameLst>
                                          <p:attrName>ppt_w</p:attrName>
                                        </p:attrNameLst>
                                      </p:cBhvr>
                                      <p:tavLst>
                                        <p:tav tm="0">
                                          <p:val>
                                            <p:fltVal val="0"/>
                                          </p:val>
                                        </p:tav>
                                        <p:tav tm="100000">
                                          <p:val>
                                            <p:strVal val="#ppt_w"/>
                                          </p:val>
                                        </p:tav>
                                      </p:tavLst>
                                    </p:anim>
                                    <p:anim calcmode="lin" valueType="num">
                                      <p:cBhvr>
                                        <p:cTn id="184" dur="500" fill="hold"/>
                                        <p:tgtEl>
                                          <p:spTgt spid="27687"/>
                                        </p:tgtEl>
                                        <p:attrNameLst>
                                          <p:attrName>ppt_h</p:attrName>
                                        </p:attrNameLst>
                                      </p:cBhvr>
                                      <p:tavLst>
                                        <p:tav tm="0">
                                          <p:val>
                                            <p:fltVal val="0"/>
                                          </p:val>
                                        </p:tav>
                                        <p:tav tm="100000">
                                          <p:val>
                                            <p:strVal val="#ppt_h"/>
                                          </p:val>
                                        </p:tav>
                                      </p:tavLst>
                                    </p:anim>
                                  </p:childTnLst>
                                </p:cTn>
                              </p:par>
                            </p:childTnLst>
                          </p:cTn>
                        </p:par>
                      </p:childTnLst>
                    </p:cTn>
                  </p:par>
                  <p:par>
                    <p:cTn id="185" fill="hold">
                      <p:stCondLst>
                        <p:cond delay="indefinite"/>
                      </p:stCondLst>
                      <p:childTnLst>
                        <p:par>
                          <p:cTn id="186" fill="hold">
                            <p:stCondLst>
                              <p:cond delay="0"/>
                            </p:stCondLst>
                            <p:childTnLst>
                              <p:par>
                                <p:cTn id="187" presetID="0" presetClass="path" presetSubtype="0" accel="50000" decel="50000" fill="hold" grpId="1" nodeType="clickEffect">
                                  <p:stCondLst>
                                    <p:cond delay="0"/>
                                  </p:stCondLst>
                                  <p:childTnLst>
                                    <p:animMotion origin="layout" path="M 1.94444E-6 -3.33333E-6 C -0.00104 0.03125 -0.00365 0.15162 -0.00747 0.18889 C -0.01129 0.22593 -0.02257 0.21181 -0.02257 0.22315 C -0.02257 0.23426 -0.00261 0.25463 -0.00747 0.25718 C -0.01215 0.25973 -0.0434 0.2338 -0.05104 0.23889 C -0.05851 0.24398 -0.05764 0.275 -0.05261 0.28797 C -0.04757 0.30093 -0.01979 0.30556 -0.02084 0.31736 C -0.02205 0.32894 -0.05573 0.3301 -0.05955 0.35811 C -0.0632 0.38635 -0.04566 0.46204 -0.0434 0.4875 C -0.04097 0.51297 -0.04462 0.50278 -0.04566 0.51042 C -0.0467 0.51806 -0.04861 0.52986 -0.04983 0.53334 C -0.05104 0.53681 -0.05226 0.53218 -0.05295 0.53195 " pathEditMode="relative" rAng="0" ptsTypes="aaaaaaaaaaaa">
                                      <p:cBhvr>
                                        <p:cTn id="188" dur="2000" fill="hold"/>
                                        <p:tgtEl>
                                          <p:spTgt spid="27684"/>
                                        </p:tgtEl>
                                        <p:attrNameLst>
                                          <p:attrName>ppt_x</p:attrName>
                                          <p:attrName>ppt_y</p:attrName>
                                        </p:attrNameLst>
                                      </p:cBhvr>
                                      <p:rCtr x="-32" y="268"/>
                                    </p:animMotion>
                                  </p:childTnLst>
                                </p:cTn>
                              </p:par>
                              <p:par>
                                <p:cTn id="189" presetID="0" presetClass="path" presetSubtype="0" accel="50000" decel="50000" fill="hold" grpId="1" nodeType="withEffect">
                                  <p:stCondLst>
                                    <p:cond delay="0"/>
                                  </p:stCondLst>
                                  <p:childTnLst>
                                    <p:animMotion origin="layout" path="M 3.05556E-6 1.85185E-6 C 0.00659 0.02106 0.03889 0.09375 0.03941 0.12778 C 0.03993 0.1618 0.0059 0.18611 0.00277 0.20393 C -0.00035 0.22176 0.02396 0.22731 0.02083 0.23449 C 0.01771 0.24166 -0.01025 0.24375 -0.0158 0.24768 C -0.02136 0.25162 -0.0132 0.25602 -0.01268 0.25879 C -0.01216 0.26157 -0.00834 0.25301 -0.01268 0.26435 C -0.01702 0.27569 -0.03663 0.30555 -0.03872 0.32685 C -0.0408 0.34815 -0.02518 0.37014 -0.02518 0.39213 C -0.02518 0.41412 -0.03802 0.44444 -0.03872 0.45879 C -0.03941 0.47315 -0.02952 0.47477 -0.02934 0.47824 C -0.02917 0.48171 -0.03594 0.4794 -0.03768 0.47963 " pathEditMode="relative" rAng="0" ptsTypes="aaaaaaaaaaaa">
                                      <p:cBhvr>
                                        <p:cTn id="190" dur="2000" fill="hold"/>
                                        <p:tgtEl>
                                          <p:spTgt spid="27685"/>
                                        </p:tgtEl>
                                        <p:attrNameLst>
                                          <p:attrName>ppt_x</p:attrName>
                                          <p:attrName>ppt_y</p:attrName>
                                        </p:attrNameLst>
                                      </p:cBhvr>
                                      <p:rCtr x="-1" y="241"/>
                                    </p:animMotion>
                                  </p:childTnLst>
                                </p:cTn>
                              </p:par>
                              <p:par>
                                <p:cTn id="191" presetID="0" presetClass="path" presetSubtype="0" accel="50000" decel="50000" fill="hold" grpId="1" nodeType="withEffect">
                                  <p:stCondLst>
                                    <p:cond delay="0"/>
                                  </p:stCondLst>
                                  <p:childTnLst>
                                    <p:animMotion origin="layout" path="M 1.66667E-6 1.85185E-6 C 0.02222 0.05092 0.04462 0.10208 0.05017 0.12685 C 0.05573 0.15162 0.02969 0.13727 0.03298 0.14722 C 0.03628 0.15694 0.06857 0.17708 0.06944 0.18541 C 0.07031 0.19398 0.04462 0.19097 0.03889 0.19699 C 0.03298 0.20324 0.03229 0.22083 0.0342 0.22291 C 0.03611 0.225 0.04479 0.20694 0.05017 0.20903 C 0.05555 0.21134 0.06562 0.22847 0.06614 0.23541 C 0.06649 0.24259 0.05243 0.24653 0.0526 0.25092 C 0.05278 0.25555 0.06493 0.25648 0.06736 0.2618 C 0.06979 0.26713 0.0658 0.27245 0.06771 0.28241 C 0.06962 0.29236 0.07917 0.30139 0.07917 0.32129 C 0.07917 0.3412 0.06736 0.38264 0.06771 0.40185 C 0.06805 0.42106 0.08177 0.42801 0.08177 0.43727 C 0.08177 0.44653 0.06927 0.45046 0.06771 0.45741 C 0.06614 0.46435 0.07101 0.475 0.07187 0.47963 " pathEditMode="relative" rAng="0" ptsTypes="aaaaaaaaaaaaaaaa">
                                      <p:cBhvr>
                                        <p:cTn id="192" dur="2000" fill="hold"/>
                                        <p:tgtEl>
                                          <p:spTgt spid="27686"/>
                                        </p:tgtEl>
                                        <p:attrNameLst>
                                          <p:attrName>ppt_x</p:attrName>
                                          <p:attrName>ppt_y</p:attrName>
                                        </p:attrNameLst>
                                      </p:cBhvr>
                                      <p:rCtr x="41" y="240"/>
                                    </p:animMotion>
                                  </p:childTnLst>
                                </p:cTn>
                              </p:par>
                              <p:par>
                                <p:cTn id="193" presetID="0" presetClass="path" presetSubtype="0" accel="50000" decel="50000" fill="hold" grpId="1" nodeType="withEffect">
                                  <p:stCondLst>
                                    <p:cond delay="0"/>
                                  </p:stCondLst>
                                  <p:childTnLst>
                                    <p:animMotion origin="layout" path="M -0.0007 3.33333E-6 C 0.00278 0.01157 0.01251 0.05532 0.0198 0.06944 C 0.02708 0.08356 0.03559 0.07592 0.0427 0.08472 C 0.04983 0.09352 0.06267 0.11088 0.06233 0.12222 C 0.06198 0.13356 0.0408 0.13958 0.04027 0.15277 C 0.03976 0.16574 0.05868 0.19143 0.0592 0.20046 C 0.05954 0.20972 0.04879 0.20555 0.04288 0.2074 C 0.03698 0.20972 0.02483 0.20162 0.02413 0.21296 C 0.02343 0.2243 0.03888 0.26227 0.03888 0.275 C 0.03888 0.28773 0.02395 0.28634 0.02413 0.28912 C 0.0243 0.29189 0.03473 0.29027 0.04027 0.29097 C 0.04584 0.29166 0.05157 0.29514 0.05782 0.29259 C 0.06407 0.29027 0.06857 0.26551 0.07796 0.27685 C 0.08733 0.28819 0.10747 0.33148 0.11355 0.36111 C 0.11962 0.39074 0.11528 0.42939 0.11441 0.45416 C 0.11355 0.47893 0.10955 0.49814 0.10834 0.50972 " pathEditMode="relative" rAng="0" ptsTypes="aaaaaaaaaaaaaaaa">
                                      <p:cBhvr>
                                        <p:cTn id="194" dur="2000" fill="hold"/>
                                        <p:tgtEl>
                                          <p:spTgt spid="27687"/>
                                        </p:tgtEl>
                                        <p:attrNameLst>
                                          <p:attrName>ppt_x</p:attrName>
                                          <p:attrName>ppt_y</p:attrName>
                                        </p:attrNameLst>
                                      </p:cBhvr>
                                      <p:rCtr x="60" y="255"/>
                                    </p:animMotion>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2" nodeType="clickEffect">
                                  <p:stCondLst>
                                    <p:cond delay="0"/>
                                  </p:stCondLst>
                                  <p:childTnLst>
                                    <p:set>
                                      <p:cBhvr>
                                        <p:cTn id="198" dur="1" fill="hold">
                                          <p:stCondLst>
                                            <p:cond delay="0"/>
                                          </p:stCondLst>
                                        </p:cTn>
                                        <p:tgtEl>
                                          <p:spTgt spid="27684"/>
                                        </p:tgtEl>
                                        <p:attrNameLst>
                                          <p:attrName>style.visibility</p:attrName>
                                        </p:attrNameLst>
                                      </p:cBhvr>
                                      <p:to>
                                        <p:strVal val="hidden"/>
                                      </p:to>
                                    </p:set>
                                  </p:childTnLst>
                                </p:cTn>
                              </p:par>
                              <p:par>
                                <p:cTn id="199" presetID="1" presetClass="exit" presetSubtype="0" fill="hold" grpId="2" nodeType="withEffect">
                                  <p:stCondLst>
                                    <p:cond delay="0"/>
                                  </p:stCondLst>
                                  <p:childTnLst>
                                    <p:set>
                                      <p:cBhvr>
                                        <p:cTn id="200" dur="1" fill="hold">
                                          <p:stCondLst>
                                            <p:cond delay="0"/>
                                          </p:stCondLst>
                                        </p:cTn>
                                        <p:tgtEl>
                                          <p:spTgt spid="27685"/>
                                        </p:tgtEl>
                                        <p:attrNameLst>
                                          <p:attrName>style.visibility</p:attrName>
                                        </p:attrNameLst>
                                      </p:cBhvr>
                                      <p:to>
                                        <p:strVal val="hidden"/>
                                      </p:to>
                                    </p:set>
                                  </p:childTnLst>
                                </p:cTn>
                              </p:par>
                              <p:par>
                                <p:cTn id="201" presetID="1" presetClass="exit" presetSubtype="0" fill="hold" grpId="2" nodeType="withEffect">
                                  <p:stCondLst>
                                    <p:cond delay="0"/>
                                  </p:stCondLst>
                                  <p:childTnLst>
                                    <p:set>
                                      <p:cBhvr>
                                        <p:cTn id="202" dur="1" fill="hold">
                                          <p:stCondLst>
                                            <p:cond delay="0"/>
                                          </p:stCondLst>
                                        </p:cTn>
                                        <p:tgtEl>
                                          <p:spTgt spid="27686"/>
                                        </p:tgtEl>
                                        <p:attrNameLst>
                                          <p:attrName>style.visibility</p:attrName>
                                        </p:attrNameLst>
                                      </p:cBhvr>
                                      <p:to>
                                        <p:strVal val="hidden"/>
                                      </p:to>
                                    </p:set>
                                  </p:childTnLst>
                                </p:cTn>
                              </p:par>
                              <p:par>
                                <p:cTn id="203" presetID="1" presetClass="exit" presetSubtype="0" fill="hold" grpId="2" nodeType="withEffect">
                                  <p:stCondLst>
                                    <p:cond delay="0"/>
                                  </p:stCondLst>
                                  <p:childTnLst>
                                    <p:set>
                                      <p:cBhvr>
                                        <p:cTn id="204" dur="1" fill="hold">
                                          <p:stCondLst>
                                            <p:cond delay="0"/>
                                          </p:stCondLst>
                                        </p:cTn>
                                        <p:tgtEl>
                                          <p:spTgt spid="27687"/>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27688"/>
                                        </p:tgtEl>
                                        <p:attrNameLst>
                                          <p:attrName>style.visibility</p:attrName>
                                        </p:attrNameLst>
                                      </p:cBhvr>
                                      <p:to>
                                        <p:strVal val="visible"/>
                                      </p:to>
                                    </p:set>
                                    <p:animEffect transition="in" filter="wipe(left)">
                                      <p:cBhvr>
                                        <p:cTn id="209" dur="500"/>
                                        <p:tgtEl>
                                          <p:spTgt spid="27688"/>
                                        </p:tgtEl>
                                      </p:cBhvr>
                                    </p:animEffec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nodeType="clickEffect">
                                  <p:stCondLst>
                                    <p:cond delay="0"/>
                                  </p:stCondLst>
                                  <p:childTnLst>
                                    <p:set>
                                      <p:cBhvr>
                                        <p:cTn id="213" dur="1" fill="hold">
                                          <p:stCondLst>
                                            <p:cond delay="0"/>
                                          </p:stCondLst>
                                        </p:cTn>
                                        <p:tgtEl>
                                          <p:spTgt spid="27689"/>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27692"/>
                                        </p:tgtEl>
                                        <p:attrNameLst>
                                          <p:attrName>style.visibility</p:attrName>
                                        </p:attrNameLst>
                                      </p:cBhvr>
                                      <p:to>
                                        <p:strVal val="visible"/>
                                      </p:to>
                                    </p:set>
                                    <p:animEffect transition="in" filter="wipe(left)">
                                      <p:cBhvr>
                                        <p:cTn id="218" dur="500"/>
                                        <p:tgtEl>
                                          <p:spTgt spid="27692"/>
                                        </p:tgtEl>
                                      </p:cBhvr>
                                    </p:animEffec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27690"/>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xit" presetSubtype="0" fill="hold" nodeType="clickEffect">
                                  <p:stCondLst>
                                    <p:cond delay="0"/>
                                  </p:stCondLst>
                                  <p:childTnLst>
                                    <p:set>
                                      <p:cBhvr>
                                        <p:cTn id="226" dur="1" fill="hold">
                                          <p:stCondLst>
                                            <p:cond delay="0"/>
                                          </p:stCondLst>
                                        </p:cTn>
                                        <p:tgtEl>
                                          <p:spTgt spid="27690"/>
                                        </p:tgtEl>
                                        <p:attrNameLst>
                                          <p:attrName>style.visibility</p:attrName>
                                        </p:attrNameLst>
                                      </p:cBhvr>
                                      <p:to>
                                        <p:strVal val="hidden"/>
                                      </p:to>
                                    </p:set>
                                  </p:childTnLst>
                                </p:cTn>
                              </p:par>
                              <p:par>
                                <p:cTn id="227" presetID="1" presetClass="entr" presetSubtype="0" fill="hold" nodeType="withEffect">
                                  <p:stCondLst>
                                    <p:cond delay="0"/>
                                  </p:stCondLst>
                                  <p:childTnLst>
                                    <p:set>
                                      <p:cBhvr>
                                        <p:cTn id="228" dur="1" fill="hold">
                                          <p:stCondLst>
                                            <p:cond delay="0"/>
                                          </p:stCondLst>
                                        </p:cTn>
                                        <p:tgtEl>
                                          <p:spTgt spid="27691"/>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23" presetClass="entr" presetSubtype="16" fill="hold" grpId="0" nodeType="clickEffect">
                                  <p:stCondLst>
                                    <p:cond delay="0"/>
                                  </p:stCondLst>
                                  <p:childTnLst>
                                    <p:set>
                                      <p:cBhvr>
                                        <p:cTn id="232" dur="1" fill="hold">
                                          <p:stCondLst>
                                            <p:cond delay="0"/>
                                          </p:stCondLst>
                                        </p:cTn>
                                        <p:tgtEl>
                                          <p:spTgt spid="34"/>
                                        </p:tgtEl>
                                        <p:attrNameLst>
                                          <p:attrName>style.visibility</p:attrName>
                                        </p:attrNameLst>
                                      </p:cBhvr>
                                      <p:to>
                                        <p:strVal val="visible"/>
                                      </p:to>
                                    </p:set>
                                    <p:anim calcmode="lin" valueType="num">
                                      <p:cBhvr>
                                        <p:cTn id="233" dur="500" fill="hold"/>
                                        <p:tgtEl>
                                          <p:spTgt spid="34"/>
                                        </p:tgtEl>
                                        <p:attrNameLst>
                                          <p:attrName>ppt_w</p:attrName>
                                        </p:attrNameLst>
                                      </p:cBhvr>
                                      <p:tavLst>
                                        <p:tav tm="0">
                                          <p:val>
                                            <p:fltVal val="0"/>
                                          </p:val>
                                        </p:tav>
                                        <p:tav tm="100000">
                                          <p:val>
                                            <p:strVal val="#ppt_w"/>
                                          </p:val>
                                        </p:tav>
                                      </p:tavLst>
                                    </p:anim>
                                    <p:anim calcmode="lin" valueType="num">
                                      <p:cBhvr>
                                        <p:cTn id="234" dur="500" fill="hold"/>
                                        <p:tgtEl>
                                          <p:spTgt spid="3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0" grpId="0" autoUpdateAnimBg="0"/>
      <p:bldP spid="27671" grpId="0" animBg="1"/>
      <p:bldP spid="27671" grpId="1" animBg="1"/>
      <p:bldP spid="27671" grpId="2" animBg="1"/>
      <p:bldP spid="27672" grpId="0" animBg="1"/>
      <p:bldP spid="27672" grpId="1" animBg="1"/>
      <p:bldP spid="27672" grpId="2" animBg="1"/>
      <p:bldP spid="27673" grpId="0" autoUpdateAnimBg="0"/>
      <p:bldP spid="27674" grpId="0" animBg="1"/>
      <p:bldP spid="27674" grpId="1" animBg="1"/>
      <p:bldP spid="27674" grpId="2" animBg="1"/>
      <p:bldP spid="27675" grpId="0" animBg="1"/>
      <p:bldP spid="27675" grpId="1" animBg="1"/>
      <p:bldP spid="27675" grpId="2" animBg="1"/>
      <p:bldP spid="27676" grpId="0" animBg="1"/>
      <p:bldP spid="27676" grpId="1" animBg="1"/>
      <p:bldP spid="27676" grpId="2" animBg="1"/>
      <p:bldP spid="27677" grpId="0" animBg="1"/>
      <p:bldP spid="27677" grpId="1" animBg="1"/>
      <p:bldP spid="27677" grpId="2" animBg="1"/>
      <p:bldP spid="27678" grpId="0"/>
      <p:bldP spid="27679" grpId="0"/>
      <p:bldP spid="27680" grpId="0" animBg="1"/>
      <p:bldP spid="27680" grpId="1" animBg="1"/>
      <p:bldP spid="27680" grpId="2" animBg="1"/>
      <p:bldP spid="27681" grpId="0" animBg="1"/>
      <p:bldP spid="27681" grpId="1" animBg="1"/>
      <p:bldP spid="27681" grpId="2" animBg="1"/>
      <p:bldP spid="27682" grpId="0" animBg="1"/>
      <p:bldP spid="27682" grpId="1" animBg="1"/>
      <p:bldP spid="27682" grpId="2" animBg="1"/>
      <p:bldP spid="27683" grpId="0" animBg="1"/>
      <p:bldP spid="27683" grpId="1" animBg="1"/>
      <p:bldP spid="27683" grpId="2" animBg="1"/>
      <p:bldP spid="27684" grpId="0" animBg="1"/>
      <p:bldP spid="27684" grpId="1" animBg="1"/>
      <p:bldP spid="27684" grpId="2" animBg="1"/>
      <p:bldP spid="27685" grpId="0" animBg="1"/>
      <p:bldP spid="27685" grpId="1" animBg="1"/>
      <p:bldP spid="27685" grpId="2" animBg="1"/>
      <p:bldP spid="27686" grpId="0" animBg="1"/>
      <p:bldP spid="27686" grpId="1" animBg="1"/>
      <p:bldP spid="27686" grpId="2" animBg="1"/>
      <p:bldP spid="27687" grpId="0" animBg="1"/>
      <p:bldP spid="27687" grpId="1" animBg="1"/>
      <p:bldP spid="27687" grpId="2" animBg="1"/>
      <p:bldP spid="27692" grpId="0" autoUpdateAnimBg="0"/>
      <p:bldP spid="27693" grpId="0"/>
      <p:bldP spid="27694" grpId="0" autoUpdateAnimBg="0"/>
      <p:bldP spid="27695" grpId="0" autoUpdateAnimBg="0"/>
      <p:bldP spid="3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p:cNvPicPr>
            <a:picLocks noChangeArrowheads="1"/>
          </p:cNvPicPr>
          <p:nvPr/>
        </p:nvPicPr>
        <p:blipFill>
          <a:blip r:embed="rId3"/>
          <a:srcRect l="14314" t="37204" r="63828" b="26837"/>
          <a:stretch>
            <a:fillRect/>
          </a:stretch>
        </p:blipFill>
        <p:spPr bwMode="auto">
          <a:xfrm>
            <a:off x="179388" y="549275"/>
            <a:ext cx="2482850" cy="2879725"/>
          </a:xfrm>
          <a:prstGeom prst="rect">
            <a:avLst/>
          </a:prstGeom>
          <a:noFill/>
          <a:ln w="9525">
            <a:noFill/>
            <a:miter lim="800000"/>
            <a:headEnd/>
            <a:tailEnd/>
          </a:ln>
        </p:spPr>
      </p:pic>
      <p:pic>
        <p:nvPicPr>
          <p:cNvPr id="155651" name="Picture 3"/>
          <p:cNvPicPr>
            <a:picLocks noChangeArrowheads="1"/>
          </p:cNvPicPr>
          <p:nvPr/>
        </p:nvPicPr>
        <p:blipFill>
          <a:blip r:embed="rId4"/>
          <a:srcRect l="14314" t="37204" r="63828" b="26837"/>
          <a:stretch>
            <a:fillRect/>
          </a:stretch>
        </p:blipFill>
        <p:spPr bwMode="auto">
          <a:xfrm>
            <a:off x="2632075" y="549275"/>
            <a:ext cx="2482850" cy="2879725"/>
          </a:xfrm>
          <a:prstGeom prst="rect">
            <a:avLst/>
          </a:prstGeom>
          <a:noFill/>
          <a:ln w="9525">
            <a:noFill/>
            <a:miter lim="800000"/>
            <a:headEnd/>
            <a:tailEnd/>
          </a:ln>
        </p:spPr>
      </p:pic>
      <p:pic>
        <p:nvPicPr>
          <p:cNvPr id="155652" name="Picture 4"/>
          <p:cNvPicPr>
            <a:picLocks noChangeArrowheads="1"/>
          </p:cNvPicPr>
          <p:nvPr/>
        </p:nvPicPr>
        <p:blipFill>
          <a:blip r:embed="rId5"/>
          <a:srcRect l="14267" t="37665" r="63496" b="27100"/>
          <a:stretch>
            <a:fillRect/>
          </a:stretch>
        </p:blipFill>
        <p:spPr bwMode="auto">
          <a:xfrm>
            <a:off x="193675" y="3429000"/>
            <a:ext cx="2482850" cy="2879725"/>
          </a:xfrm>
          <a:prstGeom prst="rect">
            <a:avLst/>
          </a:prstGeom>
          <a:noFill/>
          <a:ln w="9525">
            <a:noFill/>
            <a:miter lim="800000"/>
            <a:headEnd/>
            <a:tailEnd/>
          </a:ln>
        </p:spPr>
      </p:pic>
      <p:pic>
        <p:nvPicPr>
          <p:cNvPr id="155653" name="Picture 5"/>
          <p:cNvPicPr>
            <a:picLocks noChangeArrowheads="1"/>
          </p:cNvPicPr>
          <p:nvPr/>
        </p:nvPicPr>
        <p:blipFill>
          <a:blip r:embed="rId6"/>
          <a:srcRect l="14551" t="37138" r="63354" b="26575"/>
          <a:stretch>
            <a:fillRect/>
          </a:stretch>
        </p:blipFill>
        <p:spPr bwMode="auto">
          <a:xfrm>
            <a:off x="2632075" y="3429000"/>
            <a:ext cx="2482850" cy="2879725"/>
          </a:xfrm>
          <a:prstGeom prst="rect">
            <a:avLst/>
          </a:prstGeom>
          <a:noFill/>
          <a:ln w="9525">
            <a:noFill/>
            <a:miter lim="800000"/>
            <a:headEnd/>
            <a:tailEnd/>
          </a:ln>
        </p:spPr>
      </p:pic>
      <p:pic>
        <p:nvPicPr>
          <p:cNvPr id="155654" name="Picture 6" descr="105"/>
          <p:cNvPicPr>
            <a:picLocks noChangeAspect="1" noChangeArrowheads="1"/>
          </p:cNvPicPr>
          <p:nvPr/>
        </p:nvPicPr>
        <p:blipFill>
          <a:blip r:embed="rId7">
            <a:lum bright="-26000" contrast="54000"/>
          </a:blip>
          <a:srcRect l="53178" t="35367" r="5446" b="19621"/>
          <a:stretch>
            <a:fillRect/>
          </a:stretch>
        </p:blipFill>
        <p:spPr bwMode="auto">
          <a:xfrm>
            <a:off x="5967413" y="3141663"/>
            <a:ext cx="2520950" cy="1800225"/>
          </a:xfrm>
          <a:prstGeom prst="rect">
            <a:avLst/>
          </a:prstGeom>
          <a:noFill/>
          <a:ln w="9525">
            <a:noFill/>
            <a:miter lim="800000"/>
            <a:headEnd/>
            <a:tailEnd/>
          </a:ln>
        </p:spPr>
      </p:pic>
      <p:sp>
        <p:nvSpPr>
          <p:cNvPr id="155655" name="Rectangle 7"/>
          <p:cNvSpPr>
            <a:spLocks noChangeArrowheads="1"/>
          </p:cNvSpPr>
          <p:nvPr/>
        </p:nvSpPr>
        <p:spPr bwMode="auto">
          <a:xfrm>
            <a:off x="5365750" y="5157788"/>
            <a:ext cx="3527425" cy="1328737"/>
          </a:xfrm>
          <a:prstGeom prst="rect">
            <a:avLst/>
          </a:prstGeom>
          <a:noFill/>
          <a:ln w="9525" algn="ctr">
            <a:noFill/>
            <a:miter lim="800000"/>
            <a:headEnd/>
            <a:tailEnd/>
          </a:ln>
        </p:spPr>
        <p:txBody>
          <a:bodyPr>
            <a:spAutoFit/>
          </a:bodyPr>
          <a:lstStyle/>
          <a:p>
            <a:pPr>
              <a:lnSpc>
                <a:spcPct val="115000"/>
              </a:lnSpc>
              <a:buClr>
                <a:srgbClr val="FF3399"/>
              </a:buClr>
              <a:buFont typeface="Wingdings" pitchFamily="2" charset="2"/>
              <a:buNone/>
              <a:defRPr/>
            </a:pPr>
            <a:r>
              <a:rPr lang="en-US" altLang="zh-CN" sz="2400" b="1" dirty="0">
                <a:solidFill>
                  <a:srgbClr val="0000FF"/>
                </a:solidFill>
                <a:latin typeface="+mn-ea"/>
                <a:ea typeface="+mn-ea"/>
              </a:rPr>
              <a:t>    </a:t>
            </a:r>
            <a:r>
              <a:rPr lang="zh-CN" altLang="en-US" sz="2400" b="1" dirty="0">
                <a:solidFill>
                  <a:srgbClr val="0000FF"/>
                </a:solidFill>
                <a:latin typeface="+mn-ea"/>
                <a:ea typeface="+mn-ea"/>
              </a:rPr>
              <a:t>投入大量小球，小球在各个狭槽内的分布是确定的。</a:t>
            </a:r>
          </a:p>
        </p:txBody>
      </p:sp>
      <p:sp>
        <p:nvSpPr>
          <p:cNvPr id="155657" name="Rectangle 9"/>
          <p:cNvSpPr>
            <a:spLocks noChangeArrowheads="1"/>
          </p:cNvSpPr>
          <p:nvPr/>
        </p:nvSpPr>
        <p:spPr bwMode="auto">
          <a:xfrm>
            <a:off x="5473700" y="1006475"/>
            <a:ext cx="3284538" cy="1774825"/>
          </a:xfrm>
          <a:prstGeom prst="rect">
            <a:avLst/>
          </a:prstGeom>
          <a:noFill/>
          <a:ln w="9525" algn="ctr">
            <a:noFill/>
            <a:miter lim="800000"/>
            <a:headEnd/>
            <a:tailEnd/>
          </a:ln>
        </p:spPr>
        <p:txBody>
          <a:bodyPr>
            <a:spAutoFit/>
          </a:bodyPr>
          <a:lstStyle/>
          <a:p>
            <a:pPr>
              <a:lnSpc>
                <a:spcPct val="115000"/>
              </a:lnSpc>
              <a:buClr>
                <a:srgbClr val="FF3399"/>
              </a:buClr>
              <a:buFont typeface="Wingdings" pitchFamily="2" charset="2"/>
              <a:buNone/>
              <a:defRPr/>
            </a:pPr>
            <a:r>
              <a:rPr lang="en-US" altLang="zh-CN" sz="2400" b="1" dirty="0">
                <a:latin typeface="+mn-ea"/>
                <a:ea typeface="+mn-ea"/>
              </a:rPr>
              <a:t>   </a:t>
            </a:r>
            <a:r>
              <a:rPr lang="zh-CN" altLang="en-US" sz="2400" b="1" dirty="0">
                <a:latin typeface="+mn-ea"/>
                <a:ea typeface="+mn-ea"/>
              </a:rPr>
              <a:t>小球在各个狭槽内的分布有着</a:t>
            </a:r>
            <a:r>
              <a:rPr lang="zh-CN" altLang="en-US" sz="2400" b="1" dirty="0">
                <a:solidFill>
                  <a:srgbClr val="FF6600"/>
                </a:solidFill>
                <a:latin typeface="+mn-ea"/>
                <a:ea typeface="+mn-ea"/>
              </a:rPr>
              <a:t>必然性</a:t>
            </a:r>
            <a:r>
              <a:rPr lang="zh-CN" altLang="en-US" sz="2400" b="1" dirty="0">
                <a:latin typeface="+mn-ea"/>
                <a:ea typeface="+mn-ea"/>
              </a:rPr>
              <a:t>，这种必然性是寓于大量个别事件的</a:t>
            </a:r>
            <a:r>
              <a:rPr lang="zh-CN" altLang="en-US" sz="2400" b="1" dirty="0">
                <a:solidFill>
                  <a:srgbClr val="FF6600"/>
                </a:solidFill>
                <a:latin typeface="+mn-ea"/>
                <a:ea typeface="+mn-ea"/>
              </a:rPr>
              <a:t>偶然性</a:t>
            </a:r>
            <a:r>
              <a:rPr lang="zh-CN" altLang="en-US" sz="2400" b="1" dirty="0">
                <a:latin typeface="+mn-ea"/>
                <a:ea typeface="+mn-ea"/>
              </a:rPr>
              <a:t>中的。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5650"/>
                                        </p:tgtEl>
                                        <p:attrNameLst>
                                          <p:attrName>style.visibility</p:attrName>
                                        </p:attrNameLst>
                                      </p:cBhvr>
                                      <p:to>
                                        <p:strVal val="visible"/>
                                      </p:to>
                                    </p:set>
                                    <p:animEffect transition="in" filter="dissolve">
                                      <p:cBhvr>
                                        <p:cTn id="7" dur="500"/>
                                        <p:tgtEl>
                                          <p:spTgt spid="15565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5651"/>
                                        </p:tgtEl>
                                        <p:attrNameLst>
                                          <p:attrName>style.visibility</p:attrName>
                                        </p:attrNameLst>
                                      </p:cBhvr>
                                      <p:to>
                                        <p:strVal val="visible"/>
                                      </p:to>
                                    </p:set>
                                    <p:animEffect transition="in" filter="dissolve">
                                      <p:cBhvr>
                                        <p:cTn id="11" dur="1000"/>
                                        <p:tgtEl>
                                          <p:spTgt spid="155651"/>
                                        </p:tgtEl>
                                      </p:cBhvr>
                                    </p:animEffect>
                                  </p:childTnLst>
                                </p:cTn>
                              </p:par>
                            </p:childTnLst>
                          </p:cTn>
                        </p:par>
                        <p:par>
                          <p:cTn id="12" fill="hold">
                            <p:stCondLst>
                              <p:cond delay="1500"/>
                            </p:stCondLst>
                            <p:childTnLst>
                              <p:par>
                                <p:cTn id="13" presetID="9" presetClass="entr" presetSubtype="0" fill="hold" nodeType="afterEffect">
                                  <p:stCondLst>
                                    <p:cond delay="0"/>
                                  </p:stCondLst>
                                  <p:childTnLst>
                                    <p:set>
                                      <p:cBhvr>
                                        <p:cTn id="14" dur="1" fill="hold">
                                          <p:stCondLst>
                                            <p:cond delay="0"/>
                                          </p:stCondLst>
                                        </p:cTn>
                                        <p:tgtEl>
                                          <p:spTgt spid="155652"/>
                                        </p:tgtEl>
                                        <p:attrNameLst>
                                          <p:attrName>style.visibility</p:attrName>
                                        </p:attrNameLst>
                                      </p:cBhvr>
                                      <p:to>
                                        <p:strVal val="visible"/>
                                      </p:to>
                                    </p:set>
                                    <p:animEffect transition="in" filter="dissolve">
                                      <p:cBhvr>
                                        <p:cTn id="15" dur="1000"/>
                                        <p:tgtEl>
                                          <p:spTgt spid="155652"/>
                                        </p:tgtEl>
                                      </p:cBhvr>
                                    </p:animEffect>
                                  </p:childTnLst>
                                </p:cTn>
                              </p:par>
                            </p:childTnLst>
                          </p:cTn>
                        </p:par>
                        <p:par>
                          <p:cTn id="16" fill="hold">
                            <p:stCondLst>
                              <p:cond delay="2500"/>
                            </p:stCondLst>
                            <p:childTnLst>
                              <p:par>
                                <p:cTn id="17" presetID="9" presetClass="entr" presetSubtype="0" fill="hold" nodeType="afterEffect">
                                  <p:stCondLst>
                                    <p:cond delay="0"/>
                                  </p:stCondLst>
                                  <p:childTnLst>
                                    <p:set>
                                      <p:cBhvr>
                                        <p:cTn id="18" dur="1" fill="hold">
                                          <p:stCondLst>
                                            <p:cond delay="0"/>
                                          </p:stCondLst>
                                        </p:cTn>
                                        <p:tgtEl>
                                          <p:spTgt spid="155653"/>
                                        </p:tgtEl>
                                        <p:attrNameLst>
                                          <p:attrName>style.visibility</p:attrName>
                                        </p:attrNameLst>
                                      </p:cBhvr>
                                      <p:to>
                                        <p:strVal val="visible"/>
                                      </p:to>
                                    </p:set>
                                    <p:animEffect transition="in" filter="dissolve">
                                      <p:cBhvr>
                                        <p:cTn id="19" dur="1000"/>
                                        <p:tgtEl>
                                          <p:spTgt spid="155653"/>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55654"/>
                                        </p:tgtEl>
                                        <p:attrNameLst>
                                          <p:attrName>style.visibility</p:attrName>
                                        </p:attrNameLst>
                                      </p:cBhvr>
                                      <p:to>
                                        <p:strVal val="visible"/>
                                      </p:to>
                                    </p:set>
                                    <p:animEffect transition="in" filter="dissolve">
                                      <p:cBhvr>
                                        <p:cTn id="24" dur="500"/>
                                        <p:tgtEl>
                                          <p:spTgt spid="1556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5655"/>
                                        </p:tgtEl>
                                        <p:attrNameLst>
                                          <p:attrName>style.visibility</p:attrName>
                                        </p:attrNameLst>
                                      </p:cBhvr>
                                      <p:to>
                                        <p:strVal val="visible"/>
                                      </p:to>
                                    </p:set>
                                    <p:animEffect transition="in" filter="wipe(left)">
                                      <p:cBhvr>
                                        <p:cTn id="29" dur="500"/>
                                        <p:tgtEl>
                                          <p:spTgt spid="15565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5657"/>
                                        </p:tgtEl>
                                        <p:attrNameLst>
                                          <p:attrName>style.visibility</p:attrName>
                                        </p:attrNameLst>
                                      </p:cBhvr>
                                      <p:to>
                                        <p:strVal val="visible"/>
                                      </p:to>
                                    </p:set>
                                    <p:animEffect transition="in" filter="wipe(left)">
                                      <p:cBhvr>
                                        <p:cTn id="34" dur="500"/>
                                        <p:tgtEl>
                                          <p:spTgt spid="155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5" grpId="0"/>
      <p:bldP spid="15565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AutoShape 6"/>
          <p:cNvSpPr>
            <a:spLocks noChangeArrowheads="1"/>
          </p:cNvSpPr>
          <p:nvPr/>
        </p:nvSpPr>
        <p:spPr bwMode="auto">
          <a:xfrm>
            <a:off x="206375" y="428625"/>
            <a:ext cx="360363"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29703" name="Text Box 7"/>
          <p:cNvSpPr txBox="1">
            <a:spLocks noChangeArrowheads="1"/>
          </p:cNvSpPr>
          <p:nvPr/>
        </p:nvSpPr>
        <p:spPr bwMode="auto">
          <a:xfrm>
            <a:off x="539750" y="500063"/>
            <a:ext cx="4392613" cy="457200"/>
          </a:xfrm>
          <a:prstGeom prst="rect">
            <a:avLst/>
          </a:prstGeom>
          <a:noFill/>
          <a:ln w="9525">
            <a:noFill/>
            <a:miter lim="800000"/>
            <a:headEnd/>
            <a:tailEnd/>
          </a:ln>
        </p:spPr>
        <p:txBody>
          <a:bodyPr>
            <a:spAutoFit/>
          </a:bodyPr>
          <a:lstStyle/>
          <a:p>
            <a:pPr>
              <a:buFont typeface="Wingdings" pitchFamily="2" charset="2"/>
              <a:buNone/>
              <a:defRPr/>
            </a:pPr>
            <a:r>
              <a:rPr kumimoji="1" lang="zh-CN" altLang="en-US" sz="2400" b="1">
                <a:solidFill>
                  <a:srgbClr val="0000FF"/>
                </a:solidFill>
                <a:latin typeface="Times New Roman" pitchFamily="18" charset="0"/>
                <a:ea typeface="+mn-ea"/>
                <a:cs typeface="Times New Roman" pitchFamily="18" charset="0"/>
              </a:rPr>
              <a:t>统计规律的特征： </a:t>
            </a:r>
          </a:p>
        </p:txBody>
      </p:sp>
      <p:sp>
        <p:nvSpPr>
          <p:cNvPr id="29705" name="Rectangle 9"/>
          <p:cNvSpPr>
            <a:spLocks noChangeArrowheads="1"/>
          </p:cNvSpPr>
          <p:nvPr/>
        </p:nvSpPr>
        <p:spPr bwMode="auto">
          <a:xfrm>
            <a:off x="179388" y="1071563"/>
            <a:ext cx="8577262" cy="936625"/>
          </a:xfrm>
          <a:prstGeom prst="rect">
            <a:avLst/>
          </a:prstGeom>
          <a:noFill/>
          <a:ln w="9525">
            <a:noFill/>
            <a:miter lim="800000"/>
            <a:headEnd/>
            <a:tailEnd/>
          </a:ln>
        </p:spPr>
        <p:txBody>
          <a:bodyPr anchor="ctr">
            <a:spAutoFit/>
          </a:bodyPr>
          <a:lstStyle/>
          <a:p>
            <a:pPr indent="265113">
              <a:lnSpc>
                <a:spcPct val="120000"/>
              </a:lnSpc>
              <a:tabLst>
                <a:tab pos="4860925" algn="r"/>
              </a:tabLst>
              <a:defRPr/>
            </a:pPr>
            <a:r>
              <a:rPr lang="en-US" altLang="zh-CN" sz="2400" b="1">
                <a:latin typeface="Times New Roman" pitchFamily="18" charset="0"/>
                <a:ea typeface="+mn-ea"/>
                <a:cs typeface="Times New Roman" pitchFamily="18" charset="0"/>
              </a:rPr>
              <a:t>  ①  </a:t>
            </a:r>
            <a:r>
              <a:rPr lang="zh-CN" altLang="en-US" sz="2400" b="1">
                <a:latin typeface="Times New Roman" pitchFamily="18" charset="0"/>
                <a:ea typeface="+mn-ea"/>
                <a:cs typeface="Times New Roman" pitchFamily="18" charset="0"/>
              </a:rPr>
              <a:t>统计规律只适用于</a:t>
            </a:r>
            <a:r>
              <a:rPr lang="zh-CN" altLang="en-US" sz="2400" b="1">
                <a:solidFill>
                  <a:srgbClr val="FF6600"/>
                </a:solidFill>
                <a:latin typeface="Times New Roman" pitchFamily="18" charset="0"/>
                <a:ea typeface="+mn-ea"/>
                <a:cs typeface="Times New Roman" pitchFamily="18" charset="0"/>
              </a:rPr>
              <a:t>大量偶然事件</a:t>
            </a:r>
            <a:r>
              <a:rPr lang="zh-CN" altLang="en-US" sz="2400" b="1">
                <a:latin typeface="Times New Roman" pitchFamily="18" charset="0"/>
                <a:ea typeface="+mn-ea"/>
                <a:cs typeface="Times New Roman" pitchFamily="18" charset="0"/>
              </a:rPr>
              <a:t>在</a:t>
            </a:r>
            <a:r>
              <a:rPr lang="zh-CN" altLang="en-US" sz="2400" b="1">
                <a:solidFill>
                  <a:srgbClr val="FF6600"/>
                </a:solidFill>
                <a:latin typeface="Times New Roman" pitchFamily="18" charset="0"/>
                <a:ea typeface="+mn-ea"/>
                <a:cs typeface="Times New Roman" pitchFamily="18" charset="0"/>
              </a:rPr>
              <a:t>宏观上</a:t>
            </a:r>
            <a:r>
              <a:rPr lang="zh-CN" altLang="en-US" sz="2400" b="1">
                <a:latin typeface="Times New Roman" pitchFamily="18" charset="0"/>
                <a:ea typeface="+mn-ea"/>
                <a:cs typeface="Times New Roman" pitchFamily="18" charset="0"/>
              </a:rPr>
              <a:t>所体现出来的规律性，只适用于大量随机事件</a:t>
            </a:r>
            <a:r>
              <a:rPr lang="zh-CN" altLang="en-US" sz="2400">
                <a:latin typeface="Times New Roman" pitchFamily="18" charset="0"/>
                <a:ea typeface="+mn-ea"/>
                <a:cs typeface="Times New Roman" pitchFamily="18" charset="0"/>
              </a:rPr>
              <a:t> </a:t>
            </a:r>
            <a:r>
              <a:rPr lang="zh-CN" altLang="en-US" sz="2400" b="1">
                <a:latin typeface="Times New Roman" pitchFamily="18" charset="0"/>
                <a:ea typeface="+mn-ea"/>
                <a:cs typeface="Times New Roman" pitchFamily="18" charset="0"/>
              </a:rPr>
              <a:t>。</a:t>
            </a:r>
          </a:p>
        </p:txBody>
      </p:sp>
      <p:sp>
        <p:nvSpPr>
          <p:cNvPr id="29706" name="Rectangle 10"/>
          <p:cNvSpPr>
            <a:spLocks noChangeArrowheads="1"/>
          </p:cNvSpPr>
          <p:nvPr/>
        </p:nvSpPr>
        <p:spPr bwMode="auto">
          <a:xfrm>
            <a:off x="250825" y="2152650"/>
            <a:ext cx="8577263" cy="1379538"/>
          </a:xfrm>
          <a:prstGeom prst="rect">
            <a:avLst/>
          </a:prstGeom>
          <a:noFill/>
          <a:ln w="9525">
            <a:noFill/>
            <a:miter lim="800000"/>
            <a:headEnd/>
            <a:tailEnd/>
          </a:ln>
        </p:spPr>
        <p:txBody>
          <a:bodyPr anchor="ctr">
            <a:spAutoFit/>
          </a:bodyPr>
          <a:lstStyle/>
          <a:p>
            <a:pPr indent="265113">
              <a:lnSpc>
                <a:spcPct val="120000"/>
              </a:lnSpc>
              <a:tabLst>
                <a:tab pos="4860925" algn="r"/>
              </a:tabLst>
              <a:defRPr/>
            </a:pPr>
            <a:r>
              <a:rPr lang="en-US" altLang="zh-CN" sz="2400" b="1" dirty="0">
                <a:latin typeface="Times New Roman" pitchFamily="18" charset="0"/>
                <a:ea typeface="+mn-ea"/>
                <a:cs typeface="Times New Roman" pitchFamily="18" charset="0"/>
              </a:rPr>
              <a:t>②  </a:t>
            </a:r>
            <a:r>
              <a:rPr lang="zh-CN" altLang="en-US" sz="2400" b="1" dirty="0">
                <a:latin typeface="Times New Roman" pitchFamily="18" charset="0"/>
                <a:ea typeface="+mn-ea"/>
                <a:cs typeface="Times New Roman" pitchFamily="18" charset="0"/>
              </a:rPr>
              <a:t>统计规律是与单个粒子遵循的力学规律有着</a:t>
            </a:r>
            <a:r>
              <a:rPr lang="zh-CN" altLang="en-US" sz="2400" b="1" dirty="0">
                <a:solidFill>
                  <a:srgbClr val="FF6600"/>
                </a:solidFill>
                <a:latin typeface="Times New Roman" pitchFamily="18" charset="0"/>
                <a:ea typeface="+mn-ea"/>
                <a:cs typeface="Times New Roman" pitchFamily="18" charset="0"/>
              </a:rPr>
              <a:t>本质区别</a:t>
            </a:r>
            <a:r>
              <a:rPr lang="zh-CN" altLang="en-US" sz="2400" b="1" dirty="0">
                <a:latin typeface="Times New Roman" pitchFamily="18" charset="0"/>
                <a:ea typeface="+mn-ea"/>
                <a:cs typeface="Times New Roman" pitchFamily="18" charset="0"/>
              </a:rPr>
              <a:t>，它不是单个粒子力学规律的叠加，而是大量偶然事件在整体效果上的一种必然规律，表现出一定的</a:t>
            </a:r>
            <a:r>
              <a:rPr lang="zh-CN" altLang="en-US" sz="2400" b="1" dirty="0">
                <a:solidFill>
                  <a:srgbClr val="FF6600"/>
                </a:solidFill>
                <a:latin typeface="Times New Roman" pitchFamily="18" charset="0"/>
                <a:ea typeface="+mn-ea"/>
                <a:cs typeface="Times New Roman" pitchFamily="18" charset="0"/>
              </a:rPr>
              <a:t>宏观稳定性</a:t>
            </a:r>
            <a:r>
              <a:rPr lang="zh-CN" altLang="en-US" sz="2400" b="1" dirty="0">
                <a:latin typeface="Times New Roman" pitchFamily="18" charset="0"/>
                <a:ea typeface="+mn-ea"/>
                <a:cs typeface="Times New Roman" pitchFamily="18" charset="0"/>
              </a:rPr>
              <a:t>。</a:t>
            </a:r>
          </a:p>
        </p:txBody>
      </p:sp>
      <p:sp>
        <p:nvSpPr>
          <p:cNvPr id="29707" name="Rectangle 11"/>
          <p:cNvSpPr>
            <a:spLocks noChangeArrowheads="1"/>
          </p:cNvSpPr>
          <p:nvPr/>
        </p:nvSpPr>
        <p:spPr bwMode="auto">
          <a:xfrm>
            <a:off x="250825" y="3736975"/>
            <a:ext cx="8577263" cy="936625"/>
          </a:xfrm>
          <a:prstGeom prst="rect">
            <a:avLst/>
          </a:prstGeom>
          <a:noFill/>
          <a:ln w="9525">
            <a:noFill/>
            <a:miter lim="800000"/>
            <a:headEnd/>
            <a:tailEnd/>
          </a:ln>
        </p:spPr>
        <p:txBody>
          <a:bodyPr anchor="ctr">
            <a:spAutoFit/>
          </a:bodyPr>
          <a:lstStyle/>
          <a:p>
            <a:pPr indent="265113">
              <a:lnSpc>
                <a:spcPct val="120000"/>
              </a:lnSpc>
              <a:tabLst>
                <a:tab pos="4860925" algn="r"/>
              </a:tabLst>
              <a:defRPr/>
            </a:pPr>
            <a:r>
              <a:rPr lang="en-US" altLang="zh-CN" sz="2400" b="1">
                <a:latin typeface="Times New Roman" pitchFamily="18" charset="0"/>
                <a:ea typeface="+mn-ea"/>
                <a:cs typeface="Times New Roman" pitchFamily="18" charset="0"/>
              </a:rPr>
              <a:t>③ </a:t>
            </a:r>
            <a:r>
              <a:rPr lang="zh-CN" altLang="en-US" sz="2400" b="1">
                <a:latin typeface="Times New Roman" pitchFamily="18" charset="0"/>
                <a:ea typeface="+mn-ea"/>
                <a:cs typeface="Times New Roman" pitchFamily="18" charset="0"/>
              </a:rPr>
              <a:t>统计规律与</a:t>
            </a:r>
            <a:r>
              <a:rPr lang="zh-CN" altLang="en-US" sz="2400" b="1">
                <a:solidFill>
                  <a:srgbClr val="FF6600"/>
                </a:solidFill>
                <a:latin typeface="Times New Roman" pitchFamily="18" charset="0"/>
                <a:ea typeface="+mn-ea"/>
                <a:cs typeface="Times New Roman" pitchFamily="18" charset="0"/>
              </a:rPr>
              <a:t>系统所处的条件有关</a:t>
            </a:r>
            <a:r>
              <a:rPr lang="zh-CN" altLang="en-US" sz="2400" b="1">
                <a:latin typeface="Times New Roman" pitchFamily="18" charset="0"/>
                <a:ea typeface="+mn-ea"/>
                <a:cs typeface="Times New Roman" pitchFamily="18" charset="0"/>
              </a:rPr>
              <a:t>。但不管系统所处条件怎样改变，大量偶然事件整体服从</a:t>
            </a:r>
            <a:r>
              <a:rPr lang="zh-CN" altLang="en-US" sz="2400" b="1">
                <a:solidFill>
                  <a:srgbClr val="FF6600"/>
                </a:solidFill>
                <a:latin typeface="Times New Roman" pitchFamily="18" charset="0"/>
                <a:ea typeface="+mn-ea"/>
                <a:cs typeface="Times New Roman" pitchFamily="18" charset="0"/>
              </a:rPr>
              <a:t>统计规律不变</a:t>
            </a:r>
            <a:r>
              <a:rPr lang="zh-CN" altLang="en-US" sz="2400" b="1">
                <a:latin typeface="Times New Roman" pitchFamily="18" charset="0"/>
                <a:ea typeface="+mn-ea"/>
                <a:cs typeface="Times New Roman" pitchFamily="18" charset="0"/>
              </a:rPr>
              <a:t>。</a:t>
            </a:r>
          </a:p>
        </p:txBody>
      </p:sp>
      <p:sp>
        <p:nvSpPr>
          <p:cNvPr id="29708" name="Rectangle 12"/>
          <p:cNvSpPr>
            <a:spLocks noChangeArrowheads="1"/>
          </p:cNvSpPr>
          <p:nvPr/>
        </p:nvSpPr>
        <p:spPr bwMode="auto">
          <a:xfrm>
            <a:off x="250825" y="4929188"/>
            <a:ext cx="8577263" cy="936625"/>
          </a:xfrm>
          <a:prstGeom prst="rect">
            <a:avLst/>
          </a:prstGeom>
          <a:noFill/>
          <a:ln w="9525">
            <a:noFill/>
            <a:miter lim="800000"/>
            <a:headEnd/>
            <a:tailEnd/>
          </a:ln>
        </p:spPr>
        <p:txBody>
          <a:bodyPr anchor="ctr">
            <a:spAutoFit/>
          </a:bodyPr>
          <a:lstStyle/>
          <a:p>
            <a:pPr indent="265113">
              <a:lnSpc>
                <a:spcPct val="120000"/>
              </a:lnSpc>
              <a:tabLst>
                <a:tab pos="4860925" algn="r"/>
              </a:tabLst>
              <a:defRPr/>
            </a:pPr>
            <a:r>
              <a:rPr lang="en-US" altLang="zh-CN" sz="2400" b="1">
                <a:latin typeface="Times New Roman" pitchFamily="18" charset="0"/>
                <a:ea typeface="+mn-ea"/>
                <a:cs typeface="Times New Roman" pitchFamily="18" charset="0"/>
              </a:rPr>
              <a:t>④  </a:t>
            </a:r>
            <a:r>
              <a:rPr lang="zh-CN" altLang="en-US" sz="2400" b="1">
                <a:latin typeface="Times New Roman" pitchFamily="18" charset="0"/>
                <a:ea typeface="+mn-ea"/>
                <a:cs typeface="Times New Roman" pitchFamily="18" charset="0"/>
              </a:rPr>
              <a:t>统计规律总伴随有  “</a:t>
            </a:r>
            <a:r>
              <a:rPr lang="zh-CN" altLang="en-US" sz="2400" b="1">
                <a:solidFill>
                  <a:srgbClr val="FF6600"/>
                </a:solidFill>
                <a:latin typeface="Times New Roman" pitchFamily="18" charset="0"/>
                <a:ea typeface="+mn-ea"/>
                <a:cs typeface="Times New Roman" pitchFamily="18" charset="0"/>
              </a:rPr>
              <a:t>涨落</a:t>
            </a:r>
            <a:r>
              <a:rPr lang="zh-CN" altLang="en-US" sz="2400" b="1">
                <a:latin typeface="Times New Roman" pitchFamily="18" charset="0"/>
                <a:ea typeface="+mn-ea"/>
                <a:cs typeface="Times New Roman" pitchFamily="18" charset="0"/>
              </a:rPr>
              <a:t>”。涨落是指实际值偏离平均值的现象。构成整体的个别事件越少，涨落现象越明显。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p:cTn id="7" dur="500" fill="hold"/>
                                        <p:tgtEl>
                                          <p:spTgt spid="29702"/>
                                        </p:tgtEl>
                                        <p:attrNameLst>
                                          <p:attrName>ppt_w</p:attrName>
                                        </p:attrNameLst>
                                      </p:cBhvr>
                                      <p:tavLst>
                                        <p:tav tm="0">
                                          <p:val>
                                            <p:strVal val="4*#ppt_w"/>
                                          </p:val>
                                        </p:tav>
                                        <p:tav tm="100000">
                                          <p:val>
                                            <p:strVal val="#ppt_w"/>
                                          </p:val>
                                        </p:tav>
                                      </p:tavLst>
                                    </p:anim>
                                    <p:anim calcmode="lin" valueType="num">
                                      <p:cBhvr>
                                        <p:cTn id="8" dur="500" fill="hold"/>
                                        <p:tgtEl>
                                          <p:spTgt spid="29702"/>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703"/>
                                        </p:tgtEl>
                                        <p:attrNameLst>
                                          <p:attrName>style.visibility</p:attrName>
                                        </p:attrNameLst>
                                      </p:cBhvr>
                                      <p:to>
                                        <p:strVal val="visible"/>
                                      </p:to>
                                    </p:set>
                                    <p:animEffect transition="in" filter="wipe(left)">
                                      <p:cBhvr>
                                        <p:cTn id="13" dur="500"/>
                                        <p:tgtEl>
                                          <p:spTgt spid="2970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9705">
                                            <p:txEl>
                                              <p:pRg st="0" end="0"/>
                                            </p:txEl>
                                          </p:spTgt>
                                        </p:tgtEl>
                                        <p:attrNameLst>
                                          <p:attrName>style.visibility</p:attrName>
                                        </p:attrNameLst>
                                      </p:cBhvr>
                                      <p:to>
                                        <p:strVal val="visible"/>
                                      </p:to>
                                    </p:set>
                                    <p:animEffect transition="in" filter="dissolve">
                                      <p:cBhvr>
                                        <p:cTn id="18" dur="500"/>
                                        <p:tgtEl>
                                          <p:spTgt spid="2970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9706">
                                            <p:txEl>
                                              <p:pRg st="0" end="0"/>
                                            </p:txEl>
                                          </p:spTgt>
                                        </p:tgtEl>
                                        <p:attrNameLst>
                                          <p:attrName>style.visibility</p:attrName>
                                        </p:attrNameLst>
                                      </p:cBhvr>
                                      <p:to>
                                        <p:strVal val="visible"/>
                                      </p:to>
                                    </p:set>
                                    <p:animEffect transition="in" filter="dissolve">
                                      <p:cBhvr>
                                        <p:cTn id="23" dur="500"/>
                                        <p:tgtEl>
                                          <p:spTgt spid="2970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9707">
                                            <p:txEl>
                                              <p:pRg st="0" end="0"/>
                                            </p:txEl>
                                          </p:spTgt>
                                        </p:tgtEl>
                                        <p:attrNameLst>
                                          <p:attrName>style.visibility</p:attrName>
                                        </p:attrNameLst>
                                      </p:cBhvr>
                                      <p:to>
                                        <p:strVal val="visible"/>
                                      </p:to>
                                    </p:set>
                                    <p:animEffect transition="in" filter="dissolve">
                                      <p:cBhvr>
                                        <p:cTn id="28" dur="500"/>
                                        <p:tgtEl>
                                          <p:spTgt spid="2970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9708">
                                            <p:txEl>
                                              <p:pRg st="0" end="0"/>
                                            </p:txEl>
                                          </p:spTgt>
                                        </p:tgtEl>
                                        <p:attrNameLst>
                                          <p:attrName>style.visibility</p:attrName>
                                        </p:attrNameLst>
                                      </p:cBhvr>
                                      <p:to>
                                        <p:strVal val="visible"/>
                                      </p:to>
                                    </p:set>
                                    <p:animEffect transition="in" filter="dissolve">
                                      <p:cBhvr>
                                        <p:cTn id="33" dur="500"/>
                                        <p:tgtEl>
                                          <p:spTgt spid="297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animBg="1"/>
      <p:bldP spid="2970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2875" y="571500"/>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8.1.2    </a:t>
            </a:r>
            <a:r>
              <a:rPr kumimoji="1" lang="zh-CN" altLang="en-US" sz="2400" b="1">
                <a:solidFill>
                  <a:srgbClr val="0000FF"/>
                </a:solidFill>
              </a:rPr>
              <a:t>统计物理学的基本概念</a:t>
            </a:r>
            <a:r>
              <a:rPr kumimoji="1" lang="zh-CN" altLang="en-US" sz="2400"/>
              <a:t> </a:t>
            </a:r>
          </a:p>
        </p:txBody>
      </p:sp>
      <p:sp>
        <p:nvSpPr>
          <p:cNvPr id="3" name="Rectangle 4"/>
          <p:cNvSpPr>
            <a:spLocks noChangeArrowheads="1"/>
          </p:cNvSpPr>
          <p:nvPr/>
        </p:nvSpPr>
        <p:spPr bwMode="auto">
          <a:xfrm>
            <a:off x="142875" y="1143000"/>
            <a:ext cx="3805238" cy="512763"/>
          </a:xfrm>
          <a:prstGeom prst="rect">
            <a:avLst/>
          </a:prstGeom>
          <a:noFill/>
          <a:ln w="9525">
            <a:noFill/>
            <a:miter lim="800000"/>
            <a:headEnd/>
            <a:tailEnd/>
          </a:ln>
        </p:spPr>
        <p:txBody>
          <a:bodyPr>
            <a:spAutoFit/>
          </a:bodyPr>
          <a:lstStyle/>
          <a:p>
            <a:pPr>
              <a:lnSpc>
                <a:spcPct val="115000"/>
              </a:lnSpc>
            </a:pPr>
            <a:r>
              <a:rPr lang="zh-CN" altLang="en-US" sz="2400" b="1">
                <a:solidFill>
                  <a:srgbClr val="FF0000"/>
                </a:solidFill>
                <a:latin typeface="宋体" charset="-122"/>
              </a:rPr>
              <a:t>统计对象的要求：</a:t>
            </a:r>
          </a:p>
        </p:txBody>
      </p:sp>
      <p:sp>
        <p:nvSpPr>
          <p:cNvPr id="4" name="Rectangle 5"/>
          <p:cNvSpPr>
            <a:spLocks noChangeArrowheads="1"/>
          </p:cNvSpPr>
          <p:nvPr/>
        </p:nvSpPr>
        <p:spPr bwMode="auto">
          <a:xfrm>
            <a:off x="2643188" y="1143000"/>
            <a:ext cx="6215062" cy="517525"/>
          </a:xfrm>
          <a:prstGeom prst="rect">
            <a:avLst/>
          </a:prstGeom>
          <a:noFill/>
          <a:ln w="9525">
            <a:noFill/>
            <a:miter lim="800000"/>
            <a:headEnd/>
            <a:tailEnd/>
          </a:ln>
        </p:spPr>
        <p:txBody>
          <a:bodyPr>
            <a:spAutoFit/>
          </a:bodyPr>
          <a:lstStyle/>
          <a:p>
            <a:pPr>
              <a:lnSpc>
                <a:spcPct val="115000"/>
              </a:lnSpc>
            </a:pPr>
            <a:r>
              <a:rPr lang="en-US" altLang="zh-CN" sz="2400" b="1">
                <a:latin typeface="Times New Roman" pitchFamily="18" charset="0"/>
                <a:ea typeface="楷体_GB2312" pitchFamily="49" charset="-122"/>
              </a:rPr>
              <a:t>①</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单个事件为偶然事件，有不确定性。</a:t>
            </a:r>
          </a:p>
        </p:txBody>
      </p:sp>
      <p:sp>
        <p:nvSpPr>
          <p:cNvPr id="5" name="Rectangle 6"/>
          <p:cNvSpPr>
            <a:spLocks noChangeArrowheads="1"/>
          </p:cNvSpPr>
          <p:nvPr/>
        </p:nvSpPr>
        <p:spPr bwMode="auto">
          <a:xfrm>
            <a:off x="2643188" y="1641475"/>
            <a:ext cx="3600450" cy="463550"/>
          </a:xfrm>
          <a:prstGeom prst="rect">
            <a:avLst/>
          </a:prstGeom>
          <a:noFill/>
          <a:ln w="9525">
            <a:noFill/>
            <a:miter lim="800000"/>
            <a:headEnd/>
            <a:tailEnd/>
          </a:ln>
        </p:spPr>
        <p:txBody>
          <a:bodyPr>
            <a:spAutoFit/>
          </a:bodyPr>
          <a:lstStyle/>
          <a:p>
            <a:pPr>
              <a:lnSpc>
                <a:spcPct val="115000"/>
              </a:lnSpc>
            </a:pPr>
            <a:r>
              <a:rPr lang="en-US" altLang="zh-CN" sz="2400" b="1">
                <a:latin typeface="Times New Roman" pitchFamily="18" charset="0"/>
                <a:ea typeface="楷体_GB2312" pitchFamily="49" charset="-122"/>
              </a:rPr>
              <a:t>②</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事件是大量的。</a:t>
            </a:r>
          </a:p>
        </p:txBody>
      </p:sp>
      <p:sp>
        <p:nvSpPr>
          <p:cNvPr id="6" name="Text Box 5"/>
          <p:cNvSpPr txBox="1">
            <a:spLocks noChangeArrowheads="1"/>
          </p:cNvSpPr>
          <p:nvPr/>
        </p:nvSpPr>
        <p:spPr bwMode="auto">
          <a:xfrm>
            <a:off x="250825" y="2060575"/>
            <a:ext cx="1728788"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1</a:t>
            </a:r>
            <a:r>
              <a:rPr kumimoji="1" lang="zh-CN" altLang="en-US" sz="2400" b="1" dirty="0">
                <a:solidFill>
                  <a:srgbClr val="0000FF"/>
                </a:solidFill>
                <a:latin typeface="Times New Roman" pitchFamily="18" charset="0"/>
                <a:ea typeface="+mn-ea"/>
                <a:cs typeface="Times New Roman" pitchFamily="18" charset="0"/>
              </a:rPr>
              <a:t>、</a:t>
            </a:r>
            <a:r>
              <a:rPr kumimoji="1" lang="zh-CN" altLang="en-US" sz="2400" b="1" dirty="0">
                <a:solidFill>
                  <a:srgbClr val="0000FF"/>
                </a:solidFill>
                <a:latin typeface="+mn-ea"/>
                <a:ea typeface="+mn-ea"/>
              </a:rPr>
              <a:t>概率 </a:t>
            </a:r>
          </a:p>
        </p:txBody>
      </p:sp>
      <p:sp>
        <p:nvSpPr>
          <p:cNvPr id="7" name="Rectangle 7"/>
          <p:cNvSpPr>
            <a:spLocks noChangeArrowheads="1"/>
          </p:cNvSpPr>
          <p:nvPr/>
        </p:nvSpPr>
        <p:spPr bwMode="auto">
          <a:xfrm>
            <a:off x="323850" y="2492375"/>
            <a:ext cx="7920038" cy="1920875"/>
          </a:xfrm>
          <a:prstGeom prst="rect">
            <a:avLst/>
          </a:prstGeom>
          <a:noFill/>
          <a:ln w="9525">
            <a:noFill/>
            <a:miter lim="800000"/>
            <a:headEnd/>
            <a:tailEnd/>
          </a:ln>
        </p:spPr>
        <p:txBody>
          <a:bodyPr>
            <a:spAutoFit/>
          </a:bodyPr>
          <a:lstStyle/>
          <a:p>
            <a:pPr>
              <a:lnSpc>
                <a:spcPct val="125000"/>
              </a:lnSpc>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设在相同条件下重复同一试验（如掷骰子），在</a:t>
            </a:r>
            <a:r>
              <a:rPr lang="en-US" altLang="zh-CN" sz="2400" b="1" i="1">
                <a:latin typeface="Times New Roman" pitchFamily="18" charset="0"/>
                <a:cs typeface="Times New Roman" pitchFamily="18" charset="0"/>
              </a:rPr>
              <a:t>N</a:t>
            </a:r>
            <a:r>
              <a:rPr lang="zh-CN" altLang="en-US" sz="2400" b="1">
                <a:latin typeface="Times New Roman" pitchFamily="18" charset="0"/>
                <a:cs typeface="Times New Roman" pitchFamily="18" charset="0"/>
              </a:rPr>
              <a:t>次独立试验中</a:t>
            </a:r>
            <a:r>
              <a:rPr lang="en-US" altLang="zh-CN" sz="2400" b="1">
                <a:latin typeface="Times New Roman" pitchFamily="18" charset="0"/>
                <a:cs typeface="Times New Roman" pitchFamily="18" charset="0"/>
              </a:rPr>
              <a:t>(</a:t>
            </a:r>
            <a:r>
              <a:rPr lang="en-US" altLang="zh-CN" sz="2400" b="1" i="1">
                <a:latin typeface="Times New Roman" pitchFamily="18" charset="0"/>
                <a:cs typeface="Times New Roman" pitchFamily="18" charset="0"/>
              </a:rPr>
              <a:t>N→</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，第</a:t>
            </a:r>
            <a:r>
              <a:rPr lang="en-US" altLang="zh-CN" sz="2400" b="1" i="1">
                <a:latin typeface="Times New Roman" pitchFamily="18" charset="0"/>
                <a:cs typeface="Times New Roman" pitchFamily="18" charset="0"/>
              </a:rPr>
              <a:t>i</a:t>
            </a:r>
            <a:r>
              <a:rPr lang="zh-CN" altLang="en-US" sz="2400" b="1">
                <a:latin typeface="Times New Roman" pitchFamily="18" charset="0"/>
                <a:cs typeface="Times New Roman" pitchFamily="18" charset="0"/>
              </a:rPr>
              <a:t>种事件（如某一面朝上）出现 </a:t>
            </a:r>
            <a:r>
              <a:rPr lang="en-US" altLang="zh-CN" sz="2400" b="1" i="1">
                <a:solidFill>
                  <a:srgbClr val="FF6600"/>
                </a:solidFill>
                <a:latin typeface="Times New Roman" pitchFamily="18" charset="0"/>
                <a:cs typeface="Times New Roman" pitchFamily="18" charset="0"/>
              </a:rPr>
              <a:t>N</a:t>
            </a:r>
            <a:r>
              <a:rPr lang="en-US" altLang="zh-CN" sz="2400" b="1" i="1" baseline="-25000">
                <a:solidFill>
                  <a:srgbClr val="FF6600"/>
                </a:solidFill>
                <a:latin typeface="Times New Roman" pitchFamily="18" charset="0"/>
                <a:cs typeface="Times New Roman" pitchFamily="18" charset="0"/>
              </a:rPr>
              <a:t>i       </a:t>
            </a:r>
            <a:r>
              <a:rPr lang="zh-CN" altLang="en-US" sz="2400" b="1">
                <a:latin typeface="Times New Roman" pitchFamily="18" charset="0"/>
                <a:cs typeface="Times New Roman" pitchFamily="18" charset="0"/>
              </a:rPr>
              <a:t>次，而比值</a:t>
            </a:r>
            <a:r>
              <a:rPr lang="en-US" altLang="zh-CN" sz="2400" b="1" i="1">
                <a:solidFill>
                  <a:srgbClr val="FF6600"/>
                </a:solidFill>
                <a:latin typeface="Times New Roman" pitchFamily="18" charset="0"/>
                <a:cs typeface="Times New Roman" pitchFamily="18" charset="0"/>
              </a:rPr>
              <a:t>N</a:t>
            </a:r>
            <a:r>
              <a:rPr lang="en-US" altLang="zh-CN" sz="2400" b="1" i="1" baseline="-25000">
                <a:solidFill>
                  <a:srgbClr val="FF6600"/>
                </a:solidFill>
                <a:latin typeface="Times New Roman" pitchFamily="18" charset="0"/>
                <a:cs typeface="Times New Roman" pitchFamily="18" charset="0"/>
              </a:rPr>
              <a:t>i  </a:t>
            </a:r>
            <a:r>
              <a:rPr lang="en-US" altLang="zh-CN" sz="2400" b="1">
                <a:solidFill>
                  <a:srgbClr val="FF6600"/>
                </a:solidFill>
                <a:latin typeface="Times New Roman" pitchFamily="18" charset="0"/>
                <a:cs typeface="Times New Roman" pitchFamily="18" charset="0"/>
              </a:rPr>
              <a:t>/</a:t>
            </a:r>
            <a:r>
              <a:rPr lang="en-US" altLang="zh-CN" sz="2400" b="1" i="1">
                <a:solidFill>
                  <a:srgbClr val="FF6600"/>
                </a:solidFill>
                <a:latin typeface="Times New Roman" pitchFamily="18" charset="0"/>
                <a:cs typeface="Times New Roman" pitchFamily="18" charset="0"/>
              </a:rPr>
              <a:t>N</a:t>
            </a:r>
            <a:r>
              <a:rPr lang="zh-CN" altLang="en-US" sz="2400" b="1">
                <a:latin typeface="Times New Roman" pitchFamily="18" charset="0"/>
                <a:cs typeface="Times New Roman" pitchFamily="18" charset="0"/>
              </a:rPr>
              <a:t>趋于一确定值</a:t>
            </a:r>
            <a:r>
              <a:rPr lang="en-US" altLang="zh-CN" sz="2400" b="1" i="1">
                <a:solidFill>
                  <a:srgbClr val="FF6600"/>
                </a:solidFill>
                <a:latin typeface="Times New Roman" pitchFamily="18" charset="0"/>
                <a:cs typeface="Times New Roman" pitchFamily="18" charset="0"/>
              </a:rPr>
              <a:t>P</a:t>
            </a:r>
            <a:r>
              <a:rPr lang="en-US" altLang="zh-CN" sz="2400" b="1" i="1" baseline="-25000">
                <a:solidFill>
                  <a:srgbClr val="FF6600"/>
                </a:solidFill>
                <a:latin typeface="Times New Roman" pitchFamily="18" charset="0"/>
                <a:cs typeface="Times New Roman" pitchFamily="18" charset="0"/>
              </a:rPr>
              <a:t>i</a:t>
            </a:r>
            <a:r>
              <a:rPr lang="zh-CN" altLang="en-US" sz="2400" b="1">
                <a:latin typeface="Times New Roman" pitchFamily="18" charset="0"/>
                <a:cs typeface="Times New Roman" pitchFamily="18" charset="0"/>
              </a:rPr>
              <a:t>，反映了第</a:t>
            </a:r>
            <a:r>
              <a:rPr lang="en-US" altLang="zh-CN" sz="2400" b="1" i="1">
                <a:latin typeface="Times New Roman" pitchFamily="18" charset="0"/>
                <a:cs typeface="Times New Roman" pitchFamily="18" charset="0"/>
              </a:rPr>
              <a:t>i</a:t>
            </a:r>
            <a:r>
              <a:rPr lang="zh-CN" altLang="en-US" sz="2400" b="1">
                <a:latin typeface="Times New Roman" pitchFamily="18" charset="0"/>
                <a:cs typeface="Times New Roman" pitchFamily="18" charset="0"/>
              </a:rPr>
              <a:t>种事件出现的</a:t>
            </a:r>
            <a:r>
              <a:rPr lang="zh-CN" altLang="en-US" sz="2400" b="1">
                <a:solidFill>
                  <a:srgbClr val="FF6600"/>
                </a:solidFill>
                <a:latin typeface="Times New Roman" pitchFamily="18" charset="0"/>
                <a:cs typeface="Times New Roman" pitchFamily="18" charset="0"/>
              </a:rPr>
              <a:t>机会或可能性</a:t>
            </a:r>
            <a:r>
              <a:rPr lang="zh-CN" altLang="en-US" sz="2400" b="1">
                <a:latin typeface="Times New Roman" pitchFamily="18" charset="0"/>
                <a:cs typeface="Times New Roman" pitchFamily="18" charset="0"/>
              </a:rPr>
              <a:t>，事件</a:t>
            </a:r>
            <a:r>
              <a:rPr lang="en-US" altLang="zh-CN" sz="2400" b="1" i="1">
                <a:solidFill>
                  <a:srgbClr val="FF6600"/>
                </a:solidFill>
                <a:latin typeface="Times New Roman" pitchFamily="18" charset="0"/>
                <a:cs typeface="Times New Roman" pitchFamily="18" charset="0"/>
              </a:rPr>
              <a:t>i</a:t>
            </a:r>
            <a:r>
              <a:rPr lang="zh-CN" altLang="en-US" sz="2400" b="1">
                <a:latin typeface="Times New Roman" pitchFamily="18" charset="0"/>
                <a:cs typeface="Times New Roman" pitchFamily="18" charset="0"/>
              </a:rPr>
              <a:t>出现的</a:t>
            </a:r>
            <a:r>
              <a:rPr lang="zh-CN" altLang="en-US" sz="2400" b="1">
                <a:solidFill>
                  <a:srgbClr val="FF6600"/>
                </a:solidFill>
                <a:latin typeface="Times New Roman" pitchFamily="18" charset="0"/>
                <a:cs typeface="Times New Roman" pitchFamily="18" charset="0"/>
              </a:rPr>
              <a:t>概率</a:t>
            </a:r>
            <a:r>
              <a:rPr lang="zh-CN" altLang="en-US" sz="2400" b="1">
                <a:latin typeface="Times New Roman" pitchFamily="18" charset="0"/>
                <a:cs typeface="Times New Roman" pitchFamily="18" charset="0"/>
              </a:rPr>
              <a:t>就定义为 </a:t>
            </a:r>
          </a:p>
        </p:txBody>
      </p:sp>
      <p:sp>
        <p:nvSpPr>
          <p:cNvPr id="3082" name="Rectangle 9"/>
          <p:cNvSpPr>
            <a:spLocks noChangeArrowheads="1"/>
          </p:cNvSpPr>
          <p:nvPr/>
        </p:nvSpPr>
        <p:spPr bwMode="auto">
          <a:xfrm>
            <a:off x="0" y="3281363"/>
            <a:ext cx="184150" cy="369887"/>
          </a:xfrm>
          <a:prstGeom prst="rect">
            <a:avLst/>
          </a:prstGeom>
          <a:noFill/>
          <a:ln w="9525" algn="ctr">
            <a:noFill/>
            <a:miter lim="800000"/>
            <a:headEnd/>
            <a:tailEnd/>
          </a:ln>
        </p:spPr>
        <p:txBody>
          <a:bodyPr wrap="none" anchor="ctr">
            <a:spAutoFit/>
          </a:bodyPr>
          <a:lstStyle/>
          <a:p>
            <a:pPr algn="ctr"/>
            <a:endParaRPr lang="zh-CN" altLang="en-US"/>
          </a:p>
        </p:txBody>
      </p:sp>
      <p:graphicFrame>
        <p:nvGraphicFramePr>
          <p:cNvPr id="9" name="Object 8"/>
          <p:cNvGraphicFramePr>
            <a:graphicFrameLocks noChangeAspect="1"/>
          </p:cNvGraphicFramePr>
          <p:nvPr/>
        </p:nvGraphicFramePr>
        <p:xfrm>
          <a:off x="3348038" y="4365625"/>
          <a:ext cx="1368425" cy="719138"/>
        </p:xfrm>
        <a:graphic>
          <a:graphicData uri="http://schemas.openxmlformats.org/presentationml/2006/ole">
            <p:oleObj spid="_x0000_s3074" name="Equation" r:id="rId3" imgW="749160" imgH="393480" progId="">
              <p:embed/>
            </p:oleObj>
          </a:graphicData>
        </a:graphic>
      </p:graphicFrame>
      <p:sp>
        <p:nvSpPr>
          <p:cNvPr id="10" name="Rectangle 11"/>
          <p:cNvSpPr>
            <a:spLocks noChangeArrowheads="1"/>
          </p:cNvSpPr>
          <p:nvPr/>
        </p:nvSpPr>
        <p:spPr bwMode="auto">
          <a:xfrm>
            <a:off x="395288" y="5084763"/>
            <a:ext cx="8208962" cy="490537"/>
          </a:xfrm>
          <a:prstGeom prst="rect">
            <a:avLst/>
          </a:prstGeom>
          <a:noFill/>
          <a:ln w="9525">
            <a:noFill/>
            <a:miter lim="800000"/>
            <a:headEnd/>
            <a:tailEnd/>
          </a:ln>
        </p:spPr>
        <p:txBody>
          <a:bodyPr>
            <a:spAutoFit/>
          </a:bodyPr>
          <a:lstStyle/>
          <a:p>
            <a:pPr>
              <a:lnSpc>
                <a:spcPct val="125000"/>
              </a:lnSpc>
            </a:pPr>
            <a:r>
              <a:rPr lang="zh-CN" altLang="en-US" sz="2400" b="1">
                <a:latin typeface="宋体" charset="-122"/>
              </a:rPr>
              <a:t>在一定条件下全部可能的事件的概率之和必等于</a:t>
            </a:r>
            <a:r>
              <a:rPr lang="en-US" altLang="zh-CN" sz="2400" b="1">
                <a:latin typeface="宋体" charset="-122"/>
              </a:rPr>
              <a:t>1</a:t>
            </a:r>
            <a:r>
              <a:rPr lang="zh-CN" altLang="en-US" sz="2400" b="1">
                <a:latin typeface="宋体" charset="-122"/>
              </a:rPr>
              <a:t>，即 </a:t>
            </a:r>
          </a:p>
        </p:txBody>
      </p:sp>
      <p:sp>
        <p:nvSpPr>
          <p:cNvPr id="11" name="Rectangle 12"/>
          <p:cNvSpPr>
            <a:spLocks noChangeArrowheads="1"/>
          </p:cNvSpPr>
          <p:nvPr/>
        </p:nvSpPr>
        <p:spPr bwMode="auto">
          <a:xfrm>
            <a:off x="4470400" y="5759450"/>
            <a:ext cx="3744913" cy="504825"/>
          </a:xfrm>
          <a:prstGeom prst="rect">
            <a:avLst/>
          </a:prstGeom>
          <a:noFill/>
          <a:ln w="9525">
            <a:noFill/>
            <a:miter lim="800000"/>
            <a:headEnd/>
            <a:tailEnd/>
          </a:ln>
        </p:spPr>
        <p:txBody>
          <a:bodyPr>
            <a:spAutoFit/>
          </a:bodyPr>
          <a:lstStyle/>
          <a:p>
            <a:pPr>
              <a:lnSpc>
                <a:spcPct val="125000"/>
              </a:lnSpc>
            </a:pPr>
            <a:r>
              <a:rPr lang="zh-CN" altLang="en-US" sz="2400" b="1"/>
              <a:t>概率的归一化条件</a:t>
            </a:r>
            <a:r>
              <a:rPr lang="zh-CN" altLang="en-US"/>
              <a:t> </a:t>
            </a:r>
          </a:p>
        </p:txBody>
      </p:sp>
      <p:sp>
        <p:nvSpPr>
          <p:cNvPr id="3085" name="Rectangle 14"/>
          <p:cNvSpPr>
            <a:spLocks noChangeArrowheads="1"/>
          </p:cNvSpPr>
          <p:nvPr/>
        </p:nvSpPr>
        <p:spPr bwMode="auto">
          <a:xfrm>
            <a:off x="0" y="3286125"/>
            <a:ext cx="184150" cy="369888"/>
          </a:xfrm>
          <a:prstGeom prst="rect">
            <a:avLst/>
          </a:prstGeom>
          <a:noFill/>
          <a:ln w="9525" algn="ctr">
            <a:noFill/>
            <a:miter lim="800000"/>
            <a:headEnd/>
            <a:tailEnd/>
          </a:ln>
        </p:spPr>
        <p:txBody>
          <a:bodyPr wrap="none" anchor="ctr">
            <a:spAutoFit/>
          </a:bodyPr>
          <a:lstStyle/>
          <a:p>
            <a:pPr algn="ctr"/>
            <a:endParaRPr lang="zh-CN" altLang="en-US"/>
          </a:p>
        </p:txBody>
      </p:sp>
      <p:graphicFrame>
        <p:nvGraphicFramePr>
          <p:cNvPr id="13" name="Object 13"/>
          <p:cNvGraphicFramePr>
            <a:graphicFrameLocks noChangeAspect="1"/>
          </p:cNvGraphicFramePr>
          <p:nvPr/>
        </p:nvGraphicFramePr>
        <p:xfrm>
          <a:off x="3059113" y="5803900"/>
          <a:ext cx="1116012" cy="696913"/>
        </p:xfrm>
        <a:graphic>
          <a:graphicData uri="http://schemas.openxmlformats.org/presentationml/2006/ole">
            <p:oleObj spid="_x0000_s3075" name="Equation" r:id="rId4" imgW="545760" imgH="34272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p:bldP spid="4" grpId="0"/>
      <p:bldP spid="5" grpId="0"/>
      <p:bldP spid="6" grpId="0"/>
      <p:bldP spid="7"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ChangeArrowheads="1"/>
          </p:cNvSpPr>
          <p:nvPr/>
        </p:nvSpPr>
        <p:spPr bwMode="auto">
          <a:xfrm>
            <a:off x="539750" y="1412875"/>
            <a:ext cx="8131175" cy="1406525"/>
          </a:xfrm>
          <a:prstGeom prst="rect">
            <a:avLst/>
          </a:prstGeom>
          <a:noFill/>
          <a:ln w="9525">
            <a:noFill/>
            <a:miter lim="800000"/>
            <a:headEnd/>
            <a:tailEnd/>
          </a:ln>
        </p:spPr>
        <p:txBody>
          <a:bodyPr>
            <a:spAutoFit/>
          </a:bodyPr>
          <a:lstStyle/>
          <a:p>
            <a:pPr>
              <a:lnSpc>
                <a:spcPct val="120000"/>
              </a:lnSpc>
            </a:pPr>
            <a:r>
              <a:rPr lang="en-US" altLang="zh-CN" sz="2400" b="1">
                <a:solidFill>
                  <a:srgbClr val="FF6600"/>
                </a:solidFill>
                <a:latin typeface="Times New Roman" pitchFamily="18" charset="0"/>
              </a:rPr>
              <a:t>        12 </a:t>
            </a:r>
            <a:r>
              <a:rPr lang="zh-CN" altLang="en-US" sz="2400" b="1">
                <a:latin typeface="Times New Roman" pitchFamily="18" charset="0"/>
              </a:rPr>
              <a:t>秒以下 </a:t>
            </a:r>
            <a:r>
              <a:rPr lang="en-US" altLang="zh-CN" sz="2400" b="1">
                <a:solidFill>
                  <a:srgbClr val="FF6600"/>
                </a:solidFill>
                <a:latin typeface="Times New Roman" pitchFamily="18" charset="0"/>
              </a:rPr>
              <a:t>0 </a:t>
            </a:r>
            <a:r>
              <a:rPr lang="zh-CN" altLang="en-US" sz="2400" b="1">
                <a:latin typeface="Times New Roman" pitchFamily="18" charset="0"/>
              </a:rPr>
              <a:t>次；</a:t>
            </a:r>
            <a:r>
              <a:rPr lang="en-US" altLang="zh-CN" sz="2400" b="1">
                <a:solidFill>
                  <a:srgbClr val="FF6600"/>
                </a:solidFill>
                <a:latin typeface="Times New Roman" pitchFamily="18" charset="0"/>
              </a:rPr>
              <a:t>14 </a:t>
            </a:r>
            <a:r>
              <a:rPr lang="zh-CN" altLang="en-US" sz="2400" b="1">
                <a:latin typeface="Times New Roman" pitchFamily="18" charset="0"/>
              </a:rPr>
              <a:t>秒以上 </a:t>
            </a:r>
            <a:r>
              <a:rPr lang="en-US" altLang="zh-CN" sz="2400" b="1">
                <a:solidFill>
                  <a:srgbClr val="FF6600"/>
                </a:solidFill>
                <a:latin typeface="Times New Roman" pitchFamily="18" charset="0"/>
              </a:rPr>
              <a:t>2 </a:t>
            </a:r>
            <a:r>
              <a:rPr lang="zh-CN" altLang="en-US" sz="2400" b="1">
                <a:latin typeface="Times New Roman" pitchFamily="18" charset="0"/>
              </a:rPr>
              <a:t>次；</a:t>
            </a:r>
            <a:r>
              <a:rPr lang="en-US" altLang="zh-CN" sz="2400" b="1">
                <a:solidFill>
                  <a:srgbClr val="FF6600"/>
                </a:solidFill>
                <a:latin typeface="Times New Roman" pitchFamily="18" charset="0"/>
              </a:rPr>
              <a:t>12 </a:t>
            </a:r>
            <a:r>
              <a:rPr lang="zh-CN" altLang="en-US" sz="2400" b="1">
                <a:latin typeface="Times New Roman" pitchFamily="18" charset="0"/>
              </a:rPr>
              <a:t>秒～ </a:t>
            </a:r>
            <a:r>
              <a:rPr lang="en-US" altLang="zh-CN" sz="2400" b="1">
                <a:solidFill>
                  <a:srgbClr val="FF6600"/>
                </a:solidFill>
                <a:latin typeface="Times New Roman" pitchFamily="18" charset="0"/>
              </a:rPr>
              <a:t>13</a:t>
            </a:r>
            <a:r>
              <a:rPr lang="en-US" altLang="zh-CN" sz="2400" b="1">
                <a:solidFill>
                  <a:srgbClr val="FF0000"/>
                </a:solidFill>
                <a:latin typeface="Times New Roman" pitchFamily="18" charset="0"/>
              </a:rPr>
              <a:t> </a:t>
            </a:r>
            <a:r>
              <a:rPr lang="zh-CN" altLang="en-US" sz="2400" b="1">
                <a:latin typeface="Times New Roman" pitchFamily="18" charset="0"/>
              </a:rPr>
              <a:t>秒 </a:t>
            </a:r>
            <a:r>
              <a:rPr lang="en-US" altLang="zh-CN" sz="2400" b="1">
                <a:solidFill>
                  <a:srgbClr val="FF6600"/>
                </a:solidFill>
                <a:latin typeface="Times New Roman" pitchFamily="18" charset="0"/>
              </a:rPr>
              <a:t>4800</a:t>
            </a:r>
            <a:r>
              <a:rPr lang="en-US" altLang="zh-CN" sz="2400" b="1">
                <a:solidFill>
                  <a:srgbClr val="FF0000"/>
                </a:solidFill>
                <a:latin typeface="Times New Roman" pitchFamily="18" charset="0"/>
              </a:rPr>
              <a:t> </a:t>
            </a:r>
            <a:r>
              <a:rPr lang="zh-CN" altLang="en-US" sz="2400" b="1">
                <a:latin typeface="Times New Roman" pitchFamily="18" charset="0"/>
              </a:rPr>
              <a:t>次；</a:t>
            </a:r>
            <a:r>
              <a:rPr lang="en-US" altLang="zh-CN" sz="2400" b="1">
                <a:solidFill>
                  <a:srgbClr val="FF6600"/>
                </a:solidFill>
                <a:latin typeface="Times New Roman" pitchFamily="18" charset="0"/>
              </a:rPr>
              <a:t>13</a:t>
            </a:r>
            <a:r>
              <a:rPr lang="zh-CN" altLang="en-US" sz="2400" b="1">
                <a:latin typeface="Times New Roman" pitchFamily="18" charset="0"/>
              </a:rPr>
              <a:t>秒～</a:t>
            </a:r>
            <a:r>
              <a:rPr lang="zh-CN" altLang="en-US" sz="2400" b="1">
                <a:solidFill>
                  <a:srgbClr val="FF6600"/>
                </a:solidFill>
                <a:latin typeface="Times New Roman" pitchFamily="18" charset="0"/>
              </a:rPr>
              <a:t> </a:t>
            </a:r>
            <a:r>
              <a:rPr lang="en-US" altLang="zh-CN" sz="2400" b="1">
                <a:solidFill>
                  <a:srgbClr val="FF6600"/>
                </a:solidFill>
                <a:latin typeface="Times New Roman" pitchFamily="18" charset="0"/>
              </a:rPr>
              <a:t>14 </a:t>
            </a:r>
            <a:r>
              <a:rPr lang="zh-CN" altLang="en-US" sz="2400" b="1">
                <a:latin typeface="Times New Roman" pitchFamily="18" charset="0"/>
              </a:rPr>
              <a:t>秒</a:t>
            </a:r>
            <a:r>
              <a:rPr lang="zh-CN" altLang="en-US" sz="2400" b="1">
                <a:solidFill>
                  <a:srgbClr val="FF6600"/>
                </a:solidFill>
                <a:latin typeface="Times New Roman" pitchFamily="18" charset="0"/>
              </a:rPr>
              <a:t> </a:t>
            </a:r>
            <a:r>
              <a:rPr lang="en-US" altLang="zh-CN" sz="2400" b="1">
                <a:solidFill>
                  <a:srgbClr val="FF6600"/>
                </a:solidFill>
                <a:latin typeface="Times New Roman" pitchFamily="18" charset="0"/>
              </a:rPr>
              <a:t>5198</a:t>
            </a:r>
            <a:r>
              <a:rPr lang="en-US" altLang="zh-CN" sz="2400" b="1">
                <a:solidFill>
                  <a:srgbClr val="FF0000"/>
                </a:solidFill>
                <a:latin typeface="Times New Roman" pitchFamily="18" charset="0"/>
              </a:rPr>
              <a:t> </a:t>
            </a:r>
            <a:r>
              <a:rPr lang="zh-CN" altLang="en-US" sz="2400" b="1">
                <a:latin typeface="Times New Roman" pitchFamily="18" charset="0"/>
              </a:rPr>
              <a:t>次。问刘翔跑进</a:t>
            </a:r>
            <a:r>
              <a:rPr lang="zh-CN" altLang="en-US" sz="2400" b="1">
                <a:solidFill>
                  <a:srgbClr val="FF6600"/>
                </a:solidFill>
                <a:latin typeface="Times New Roman" pitchFamily="18" charset="0"/>
              </a:rPr>
              <a:t> </a:t>
            </a:r>
            <a:r>
              <a:rPr lang="en-US" altLang="zh-CN" sz="2400" b="1">
                <a:solidFill>
                  <a:srgbClr val="FF6600"/>
                </a:solidFill>
                <a:latin typeface="Times New Roman" pitchFamily="18" charset="0"/>
              </a:rPr>
              <a:t>13</a:t>
            </a:r>
            <a:r>
              <a:rPr lang="en-US" altLang="zh-CN" sz="2400" b="1">
                <a:solidFill>
                  <a:srgbClr val="FF0000"/>
                </a:solidFill>
                <a:latin typeface="Times New Roman" pitchFamily="18" charset="0"/>
              </a:rPr>
              <a:t> </a:t>
            </a:r>
            <a:r>
              <a:rPr lang="zh-CN" altLang="en-US" sz="2400" b="1">
                <a:latin typeface="Times New Roman" pitchFamily="18" charset="0"/>
              </a:rPr>
              <a:t>秒内与 </a:t>
            </a:r>
            <a:r>
              <a:rPr lang="en-US" altLang="zh-CN" sz="2400" b="1">
                <a:solidFill>
                  <a:srgbClr val="FF6600"/>
                </a:solidFill>
                <a:latin typeface="Times New Roman" pitchFamily="18" charset="0"/>
              </a:rPr>
              <a:t>14</a:t>
            </a:r>
            <a:r>
              <a:rPr lang="en-US" altLang="zh-CN" sz="2400" b="1">
                <a:solidFill>
                  <a:srgbClr val="FF0000"/>
                </a:solidFill>
                <a:latin typeface="Times New Roman" pitchFamily="18" charset="0"/>
              </a:rPr>
              <a:t> </a:t>
            </a:r>
            <a:r>
              <a:rPr lang="zh-CN" altLang="en-US" sz="2400" b="1">
                <a:latin typeface="Times New Roman" pitchFamily="18" charset="0"/>
              </a:rPr>
              <a:t>秒外的统计概率是多少</a:t>
            </a:r>
            <a:r>
              <a:rPr lang="en-US" altLang="zh-CN" sz="2400" b="1">
                <a:latin typeface="Times New Roman" pitchFamily="18" charset="0"/>
              </a:rPr>
              <a:t>?</a:t>
            </a:r>
          </a:p>
        </p:txBody>
      </p:sp>
      <p:sp>
        <p:nvSpPr>
          <p:cNvPr id="372739" name="Rectangle 3"/>
          <p:cNvSpPr>
            <a:spLocks noChangeArrowheads="1"/>
          </p:cNvSpPr>
          <p:nvPr/>
        </p:nvSpPr>
        <p:spPr bwMode="auto">
          <a:xfrm>
            <a:off x="166688" y="519113"/>
            <a:ext cx="923925" cy="457200"/>
          </a:xfrm>
          <a:prstGeom prst="rect">
            <a:avLst/>
          </a:prstGeom>
          <a:noFill/>
          <a:ln w="9525">
            <a:noFill/>
            <a:miter lim="800000"/>
            <a:headEnd/>
            <a:tailEnd/>
          </a:ln>
        </p:spPr>
        <p:txBody>
          <a:bodyPr>
            <a:spAutoFit/>
          </a:bodyPr>
          <a:lstStyle/>
          <a:p>
            <a:r>
              <a:rPr kumimoji="1" lang="zh-CN" altLang="en-US" sz="2400" b="1">
                <a:solidFill>
                  <a:srgbClr val="FF3300"/>
                </a:solidFill>
                <a:latin typeface="宋体" charset="-122"/>
              </a:rPr>
              <a:t>例</a:t>
            </a:r>
          </a:p>
        </p:txBody>
      </p:sp>
      <p:sp>
        <p:nvSpPr>
          <p:cNvPr id="372740" name="Text Box 4"/>
          <p:cNvSpPr txBox="1">
            <a:spLocks noChangeArrowheads="1"/>
          </p:cNvSpPr>
          <p:nvPr/>
        </p:nvSpPr>
        <p:spPr bwMode="auto">
          <a:xfrm>
            <a:off x="611188" y="476250"/>
            <a:ext cx="8208962" cy="968375"/>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rPr>
              <a:t>对刘翔 </a:t>
            </a:r>
            <a:r>
              <a:rPr kumimoji="1" lang="en-US" altLang="zh-CN" sz="2400" b="1">
                <a:solidFill>
                  <a:srgbClr val="FF6600"/>
                </a:solidFill>
                <a:latin typeface="Times New Roman" pitchFamily="18" charset="0"/>
              </a:rPr>
              <a:t>110</a:t>
            </a:r>
            <a:r>
              <a:rPr kumimoji="1" lang="zh-CN" altLang="en-US" sz="2400" b="1">
                <a:solidFill>
                  <a:srgbClr val="FF6600"/>
                </a:solidFill>
                <a:latin typeface="Times New Roman" pitchFamily="18" charset="0"/>
              </a:rPr>
              <a:t>米</a:t>
            </a:r>
            <a:r>
              <a:rPr kumimoji="1" lang="zh-CN" altLang="en-US" sz="2400" b="1">
                <a:solidFill>
                  <a:srgbClr val="FF0000"/>
                </a:solidFill>
                <a:latin typeface="Times New Roman" pitchFamily="18" charset="0"/>
              </a:rPr>
              <a:t> </a:t>
            </a:r>
            <a:r>
              <a:rPr kumimoji="1" lang="zh-CN" altLang="en-US" sz="2400" b="1">
                <a:latin typeface="Times New Roman" pitchFamily="18" charset="0"/>
              </a:rPr>
              <a:t>跨栏成绩进行了 </a:t>
            </a:r>
            <a:r>
              <a:rPr kumimoji="1" lang="en-US" altLang="zh-CN" sz="2400" b="1" i="1">
                <a:solidFill>
                  <a:srgbClr val="FF6600"/>
                </a:solidFill>
                <a:latin typeface="Times New Roman" pitchFamily="18" charset="0"/>
              </a:rPr>
              <a:t>N</a:t>
            </a:r>
            <a:r>
              <a:rPr kumimoji="1" lang="en-US" altLang="zh-CN" sz="2400" b="1">
                <a:solidFill>
                  <a:srgbClr val="FF6600"/>
                </a:solidFill>
                <a:latin typeface="Times New Roman" pitchFamily="18" charset="0"/>
              </a:rPr>
              <a:t>=10000 </a:t>
            </a:r>
            <a:r>
              <a:rPr kumimoji="1" lang="zh-CN" altLang="en-US" sz="2400" b="1">
                <a:latin typeface="Times New Roman" pitchFamily="18" charset="0"/>
              </a:rPr>
              <a:t>次的实验测定，得到的统计结果为</a:t>
            </a:r>
            <a:r>
              <a:rPr kumimoji="1" lang="en-US" altLang="zh-CN" sz="2400" b="1">
                <a:latin typeface="Times New Roman" pitchFamily="18" charset="0"/>
              </a:rPr>
              <a:t>: </a:t>
            </a:r>
          </a:p>
        </p:txBody>
      </p:sp>
      <p:graphicFrame>
        <p:nvGraphicFramePr>
          <p:cNvPr id="372741" name="Object 5"/>
          <p:cNvGraphicFramePr>
            <a:graphicFrameLocks/>
          </p:cNvGraphicFramePr>
          <p:nvPr/>
        </p:nvGraphicFramePr>
        <p:xfrm>
          <a:off x="2676525" y="3832225"/>
          <a:ext cx="1576388" cy="730250"/>
        </p:xfrm>
        <a:graphic>
          <a:graphicData uri="http://schemas.openxmlformats.org/presentationml/2006/ole">
            <p:oleObj spid="_x0000_s4098" name="公式" r:id="rId3" imgW="876240" imgH="406080" progId="Equation.3">
              <p:embed/>
            </p:oleObj>
          </a:graphicData>
        </a:graphic>
      </p:graphicFrame>
      <p:graphicFrame>
        <p:nvGraphicFramePr>
          <p:cNvPr id="372742" name="Object 6"/>
          <p:cNvGraphicFramePr>
            <a:graphicFrameLocks/>
          </p:cNvGraphicFramePr>
          <p:nvPr/>
        </p:nvGraphicFramePr>
        <p:xfrm>
          <a:off x="2687638" y="4984750"/>
          <a:ext cx="1576387" cy="730250"/>
        </p:xfrm>
        <a:graphic>
          <a:graphicData uri="http://schemas.openxmlformats.org/presentationml/2006/ole">
            <p:oleObj spid="_x0000_s4099" name="公式" r:id="rId4" imgW="876240" imgH="406080" progId="Equation.3">
              <p:embed/>
            </p:oleObj>
          </a:graphicData>
        </a:graphic>
      </p:graphicFrame>
      <p:sp>
        <p:nvSpPr>
          <p:cNvPr id="372743" name="Rectangle 7"/>
          <p:cNvSpPr>
            <a:spLocks noChangeArrowheads="1"/>
          </p:cNvSpPr>
          <p:nvPr/>
        </p:nvSpPr>
        <p:spPr bwMode="auto">
          <a:xfrm>
            <a:off x="179388" y="2997200"/>
            <a:ext cx="923925" cy="457200"/>
          </a:xfrm>
          <a:prstGeom prst="rect">
            <a:avLst/>
          </a:prstGeom>
          <a:noFill/>
          <a:ln w="9525">
            <a:noFill/>
            <a:miter lim="800000"/>
            <a:headEnd/>
            <a:tailEnd/>
          </a:ln>
        </p:spPr>
        <p:txBody>
          <a:bodyPr>
            <a:spAutoFit/>
          </a:bodyPr>
          <a:lstStyle/>
          <a:p>
            <a:r>
              <a:rPr kumimoji="1" lang="zh-CN" altLang="en-US" sz="2400" b="1">
                <a:solidFill>
                  <a:srgbClr val="FF3300"/>
                </a:solidFill>
                <a:latin typeface="宋体" charset="-122"/>
              </a:rPr>
              <a:t>解：</a:t>
            </a:r>
          </a:p>
        </p:txBody>
      </p:sp>
      <p:sp>
        <p:nvSpPr>
          <p:cNvPr id="372744" name="Rectangle 8"/>
          <p:cNvSpPr>
            <a:spLocks noChangeArrowheads="1"/>
          </p:cNvSpPr>
          <p:nvPr/>
        </p:nvSpPr>
        <p:spPr bwMode="auto">
          <a:xfrm>
            <a:off x="898525" y="2997200"/>
            <a:ext cx="6769100" cy="476250"/>
          </a:xfrm>
          <a:prstGeom prst="rect">
            <a:avLst/>
          </a:prstGeom>
          <a:noFill/>
          <a:ln w="9525">
            <a:noFill/>
            <a:miter lim="800000"/>
            <a:headEnd/>
            <a:tailEnd/>
          </a:ln>
        </p:spPr>
        <p:txBody>
          <a:bodyPr>
            <a:spAutoFit/>
          </a:bodyPr>
          <a:lstStyle/>
          <a:p>
            <a:pPr>
              <a:lnSpc>
                <a:spcPct val="120000"/>
              </a:lnSpc>
              <a:defRPr/>
            </a:pPr>
            <a:r>
              <a:rPr lang="zh-CN" altLang="en-US" sz="2400" b="1" dirty="0">
                <a:latin typeface="+mn-ea"/>
                <a:ea typeface="+mn-ea"/>
              </a:rPr>
              <a:t>由</a:t>
            </a:r>
            <a:r>
              <a:rPr lang="zh-CN" altLang="en-US" sz="2400" b="1" dirty="0">
                <a:solidFill>
                  <a:srgbClr val="FF6600"/>
                </a:solidFill>
                <a:latin typeface="+mn-ea"/>
                <a:ea typeface="+mn-ea"/>
              </a:rPr>
              <a:t>概率</a:t>
            </a:r>
            <a:r>
              <a:rPr lang="zh-CN" altLang="en-US" sz="2400" b="1" dirty="0">
                <a:latin typeface="+mn-ea"/>
                <a:ea typeface="+mn-ea"/>
              </a:rPr>
              <a:t>的定义           ，得： </a:t>
            </a:r>
          </a:p>
        </p:txBody>
      </p:sp>
      <p:graphicFrame>
        <p:nvGraphicFramePr>
          <p:cNvPr id="372745" name="Object 9"/>
          <p:cNvGraphicFramePr>
            <a:graphicFrameLocks noChangeAspect="1"/>
          </p:cNvGraphicFramePr>
          <p:nvPr/>
        </p:nvGraphicFramePr>
        <p:xfrm>
          <a:off x="2928938" y="2909888"/>
          <a:ext cx="1463675" cy="733425"/>
        </p:xfrm>
        <a:graphic>
          <a:graphicData uri="http://schemas.openxmlformats.org/presentationml/2006/ole">
            <p:oleObj spid="_x0000_s4100" name="公式" r:id="rId5" imgW="812520" imgH="406080" progId="Equation.3">
              <p:embed/>
            </p:oleObj>
          </a:graphicData>
        </a:graphic>
      </p:graphicFrame>
      <p:graphicFrame>
        <p:nvGraphicFramePr>
          <p:cNvPr id="372746" name="Object 10"/>
          <p:cNvGraphicFramePr>
            <a:graphicFrameLocks/>
          </p:cNvGraphicFramePr>
          <p:nvPr/>
        </p:nvGraphicFramePr>
        <p:xfrm>
          <a:off x="4443413" y="3832225"/>
          <a:ext cx="1851025" cy="730250"/>
        </p:xfrm>
        <a:graphic>
          <a:graphicData uri="http://schemas.openxmlformats.org/presentationml/2006/ole">
            <p:oleObj spid="_x0000_s4101" name="公式" r:id="rId6" imgW="1028520" imgH="406080" progId="Equation.3">
              <p:embed/>
            </p:oleObj>
          </a:graphicData>
        </a:graphic>
      </p:graphicFrame>
      <p:graphicFrame>
        <p:nvGraphicFramePr>
          <p:cNvPr id="372747" name="Object 11"/>
          <p:cNvGraphicFramePr>
            <a:graphicFrameLocks/>
          </p:cNvGraphicFramePr>
          <p:nvPr/>
        </p:nvGraphicFramePr>
        <p:xfrm>
          <a:off x="4371975" y="4984750"/>
          <a:ext cx="2057400" cy="730250"/>
        </p:xfrm>
        <a:graphic>
          <a:graphicData uri="http://schemas.openxmlformats.org/presentationml/2006/ole">
            <p:oleObj spid="_x0000_s4102" name="公式" r:id="rId7" imgW="1143000" imgH="4060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2739"/>
                                        </p:tgtEl>
                                        <p:attrNameLst>
                                          <p:attrName>style.visibility</p:attrName>
                                        </p:attrNameLst>
                                      </p:cBhvr>
                                      <p:to>
                                        <p:strVal val="visible"/>
                                      </p:to>
                                    </p:set>
                                    <p:animEffect transition="in" filter="wipe(left)">
                                      <p:cBhvr>
                                        <p:cTn id="7" dur="500"/>
                                        <p:tgtEl>
                                          <p:spTgt spid="37273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72740"/>
                                        </p:tgtEl>
                                        <p:attrNameLst>
                                          <p:attrName>style.visibility</p:attrName>
                                        </p:attrNameLst>
                                      </p:cBhvr>
                                      <p:to>
                                        <p:strVal val="visible"/>
                                      </p:to>
                                    </p:set>
                                    <p:animEffect transition="in" filter="wipe(left)">
                                      <p:cBhvr>
                                        <p:cTn id="11" dur="500"/>
                                        <p:tgtEl>
                                          <p:spTgt spid="3727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72738"/>
                                        </p:tgtEl>
                                        <p:attrNameLst>
                                          <p:attrName>style.visibility</p:attrName>
                                        </p:attrNameLst>
                                      </p:cBhvr>
                                      <p:to>
                                        <p:strVal val="visible"/>
                                      </p:to>
                                    </p:set>
                                    <p:animEffect transition="in" filter="wipe(left)">
                                      <p:cBhvr>
                                        <p:cTn id="16" dur="500"/>
                                        <p:tgtEl>
                                          <p:spTgt spid="37273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72743"/>
                                        </p:tgtEl>
                                        <p:attrNameLst>
                                          <p:attrName>style.visibility</p:attrName>
                                        </p:attrNameLst>
                                      </p:cBhvr>
                                      <p:to>
                                        <p:strVal val="visible"/>
                                      </p:to>
                                    </p:set>
                                    <p:animEffect transition="in" filter="wipe(left)">
                                      <p:cBhvr>
                                        <p:cTn id="20" dur="500"/>
                                        <p:tgtEl>
                                          <p:spTgt spid="37274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72744"/>
                                        </p:tgtEl>
                                        <p:attrNameLst>
                                          <p:attrName>style.visibility</p:attrName>
                                        </p:attrNameLst>
                                      </p:cBhvr>
                                      <p:to>
                                        <p:strVal val="visible"/>
                                      </p:to>
                                    </p:set>
                                    <p:animEffect transition="in" filter="wipe(left)">
                                      <p:cBhvr>
                                        <p:cTn id="25" dur="500"/>
                                        <p:tgtEl>
                                          <p:spTgt spid="372744"/>
                                        </p:tgtEl>
                                      </p:cBhvr>
                                    </p:animEffect>
                                  </p:childTnLst>
                                </p:cTn>
                              </p:par>
                              <p:par>
                                <p:cTn id="26" presetID="22" presetClass="entr" presetSubtype="8" fill="hold" nodeType="withEffect">
                                  <p:stCondLst>
                                    <p:cond delay="0"/>
                                  </p:stCondLst>
                                  <p:childTnLst>
                                    <p:set>
                                      <p:cBhvr>
                                        <p:cTn id="27" dur="1" fill="hold">
                                          <p:stCondLst>
                                            <p:cond delay="0"/>
                                          </p:stCondLst>
                                        </p:cTn>
                                        <p:tgtEl>
                                          <p:spTgt spid="372745"/>
                                        </p:tgtEl>
                                        <p:attrNameLst>
                                          <p:attrName>style.visibility</p:attrName>
                                        </p:attrNameLst>
                                      </p:cBhvr>
                                      <p:to>
                                        <p:strVal val="visible"/>
                                      </p:to>
                                    </p:set>
                                    <p:animEffect transition="in" filter="wipe(left)">
                                      <p:cBhvr>
                                        <p:cTn id="28" dur="500"/>
                                        <p:tgtEl>
                                          <p:spTgt spid="37274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72741"/>
                                        </p:tgtEl>
                                        <p:attrNameLst>
                                          <p:attrName>style.visibility</p:attrName>
                                        </p:attrNameLst>
                                      </p:cBhvr>
                                      <p:to>
                                        <p:strVal val="visible"/>
                                      </p:to>
                                    </p:set>
                                    <p:animEffect transition="in" filter="wipe(left)">
                                      <p:cBhvr>
                                        <p:cTn id="33" dur="500"/>
                                        <p:tgtEl>
                                          <p:spTgt spid="37274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72746"/>
                                        </p:tgtEl>
                                        <p:attrNameLst>
                                          <p:attrName>style.visibility</p:attrName>
                                        </p:attrNameLst>
                                      </p:cBhvr>
                                      <p:to>
                                        <p:strVal val="visible"/>
                                      </p:to>
                                    </p:set>
                                    <p:animEffect transition="in" filter="wipe(left)">
                                      <p:cBhvr>
                                        <p:cTn id="38" dur="500"/>
                                        <p:tgtEl>
                                          <p:spTgt spid="37274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72742"/>
                                        </p:tgtEl>
                                        <p:attrNameLst>
                                          <p:attrName>style.visibility</p:attrName>
                                        </p:attrNameLst>
                                      </p:cBhvr>
                                      <p:to>
                                        <p:strVal val="visible"/>
                                      </p:to>
                                    </p:set>
                                    <p:animEffect transition="in" filter="wipe(left)">
                                      <p:cBhvr>
                                        <p:cTn id="43" dur="500"/>
                                        <p:tgtEl>
                                          <p:spTgt spid="37274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72747"/>
                                        </p:tgtEl>
                                        <p:attrNameLst>
                                          <p:attrName>style.visibility</p:attrName>
                                        </p:attrNameLst>
                                      </p:cBhvr>
                                      <p:to>
                                        <p:strVal val="visible"/>
                                      </p:to>
                                    </p:set>
                                    <p:animEffect transition="in" filter="wipe(left)">
                                      <p:cBhvr>
                                        <p:cTn id="48" dur="500"/>
                                        <p:tgtEl>
                                          <p:spTgt spid="372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8" grpId="0" autoUpdateAnimBg="0"/>
      <p:bldP spid="372739" grpId="0" autoUpdateAnimBg="0"/>
      <p:bldP spid="372740" grpId="0" autoUpdateAnimBg="0"/>
      <p:bldP spid="372743" grpId="0" autoUpdateAnimBg="0"/>
      <p:bldP spid="3727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79388" y="549275"/>
            <a:ext cx="2447925" cy="457200"/>
          </a:xfrm>
          <a:prstGeom prst="rect">
            <a:avLst/>
          </a:prstGeom>
          <a:noFill/>
          <a:ln w="9525">
            <a:noFill/>
            <a:miter lim="800000"/>
            <a:headEnd/>
            <a:tailEnd/>
          </a:ln>
        </p:spPr>
        <p:txBody>
          <a:bodyPr>
            <a:spAutoFit/>
          </a:bodyPr>
          <a:lstStyle/>
          <a:p>
            <a:pPr>
              <a:buFont typeface="Wingdings" pitchFamily="2" charset="2"/>
              <a:buNone/>
            </a:pPr>
            <a:r>
              <a:rPr kumimoji="1" lang="en-US" altLang="zh-CN" sz="2400" b="1">
                <a:solidFill>
                  <a:srgbClr val="0000FF"/>
                </a:solidFill>
                <a:latin typeface="Times New Roman" pitchFamily="18" charset="0"/>
                <a:cs typeface="Times New Roman" pitchFamily="18" charset="0"/>
              </a:rPr>
              <a:t>2</a:t>
            </a:r>
            <a:r>
              <a:rPr kumimoji="1" lang="zh-CN" altLang="en-US" sz="2400" b="1">
                <a:solidFill>
                  <a:srgbClr val="0000FF"/>
                </a:solidFill>
                <a:latin typeface="Times New Roman" pitchFamily="18" charset="0"/>
                <a:cs typeface="Times New Roman" pitchFamily="18" charset="0"/>
              </a:rPr>
              <a:t>、</a:t>
            </a:r>
            <a:r>
              <a:rPr kumimoji="1" lang="zh-CN" altLang="en-US" sz="2400" b="1">
                <a:solidFill>
                  <a:srgbClr val="0000FF"/>
                </a:solidFill>
                <a:latin typeface="Times New Roman" pitchFamily="18" charset="0"/>
              </a:rPr>
              <a:t>概率密度 </a:t>
            </a:r>
          </a:p>
        </p:txBody>
      </p:sp>
      <p:sp>
        <p:nvSpPr>
          <p:cNvPr id="177155" name="Rectangle 3"/>
          <p:cNvSpPr>
            <a:spLocks noChangeArrowheads="1"/>
          </p:cNvSpPr>
          <p:nvPr/>
        </p:nvSpPr>
        <p:spPr bwMode="auto">
          <a:xfrm>
            <a:off x="250825" y="1125538"/>
            <a:ext cx="8569325" cy="979487"/>
          </a:xfrm>
          <a:prstGeom prst="rect">
            <a:avLst/>
          </a:prstGeom>
          <a:noFill/>
          <a:ln w="9525">
            <a:noFill/>
            <a:miter lim="800000"/>
            <a:headEnd/>
            <a:tailEnd/>
          </a:ln>
        </p:spPr>
        <p:txBody>
          <a:bodyPr>
            <a:spAutoFit/>
          </a:bodyPr>
          <a:lstStyle/>
          <a:p>
            <a:pPr>
              <a:lnSpc>
                <a:spcPct val="120000"/>
              </a:lnSpc>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设一维连续随机变量 </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的值在区间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x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x </a:t>
            </a:r>
            <a:r>
              <a:rPr lang="en-US" altLang="zh-CN" sz="2400" b="1" dirty="0">
                <a:solidFill>
                  <a:srgbClr val="FF6600"/>
                </a:solidFill>
                <a:latin typeface="Times New Roman" pitchFamily="18" charset="0"/>
                <a:ea typeface="+mn-ea"/>
                <a:cs typeface="Times New Roman" pitchFamily="18" charset="0"/>
              </a:rPr>
              <a:t>+ </a:t>
            </a:r>
            <a:r>
              <a:rPr lang="en-US" altLang="zh-CN" sz="2400" b="1" dirty="0" err="1">
                <a:solidFill>
                  <a:srgbClr val="FF6600"/>
                </a:solidFill>
                <a:latin typeface="Times New Roman" pitchFamily="18" charset="0"/>
                <a:ea typeface="+mn-ea"/>
                <a:cs typeface="Times New Roman" pitchFamily="18" charset="0"/>
              </a:rPr>
              <a:t>d</a:t>
            </a:r>
            <a:r>
              <a:rPr lang="en-US" altLang="zh-CN" sz="2400" b="1" i="1" dirty="0" err="1">
                <a:solidFill>
                  <a:srgbClr val="FF6600"/>
                </a:solidFill>
                <a:latin typeface="Times New Roman" pitchFamily="18" charset="0"/>
                <a:ea typeface="+mn-ea"/>
                <a:cs typeface="Times New Roman" pitchFamily="18" charset="0"/>
              </a:rPr>
              <a:t>x</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中的</a:t>
            </a:r>
            <a:r>
              <a:rPr lang="zh-CN" altLang="en-US" sz="2400" b="1" dirty="0">
                <a:solidFill>
                  <a:srgbClr val="990099"/>
                </a:solidFill>
                <a:latin typeface="Times New Roman" pitchFamily="18" charset="0"/>
                <a:ea typeface="+mn-ea"/>
                <a:cs typeface="Times New Roman" pitchFamily="18" charset="0"/>
              </a:rPr>
              <a:t>概率</a:t>
            </a:r>
            <a:r>
              <a:rPr lang="zh-CN" altLang="en-US" sz="2400" b="1" dirty="0">
                <a:latin typeface="Times New Roman" pitchFamily="18" charset="0"/>
                <a:ea typeface="+mn-ea"/>
                <a:cs typeface="Times New Roman" pitchFamily="18" charset="0"/>
              </a:rPr>
              <a:t>为</a:t>
            </a:r>
            <a:r>
              <a:rPr lang="en-US" altLang="zh-CN" sz="2400" b="1" dirty="0" err="1">
                <a:solidFill>
                  <a:srgbClr val="FF6600"/>
                </a:solidFill>
                <a:latin typeface="Times New Roman" pitchFamily="18" charset="0"/>
                <a:ea typeface="+mn-ea"/>
                <a:cs typeface="Times New Roman" pitchFamily="18" charset="0"/>
              </a:rPr>
              <a:t>d</a:t>
            </a:r>
            <a:r>
              <a:rPr lang="en-US" altLang="zh-CN" sz="2400" b="1" i="1" dirty="0" err="1">
                <a:solidFill>
                  <a:srgbClr val="FF6600"/>
                </a:solidFill>
                <a:latin typeface="Times New Roman" pitchFamily="18" charset="0"/>
                <a:ea typeface="+mn-ea"/>
                <a:cs typeface="Times New Roman" pitchFamily="18" charset="0"/>
              </a:rPr>
              <a:t>P</a:t>
            </a:r>
            <a:r>
              <a:rPr lang="en-US" altLang="zh-CN" sz="2400" b="1" dirty="0">
                <a:solidFill>
                  <a:srgbClr val="FF6600"/>
                </a:solidFill>
                <a:latin typeface="Times New Roman" pitchFamily="18" charset="0"/>
                <a:ea typeface="+mn-ea"/>
                <a:cs typeface="Times New Roman" pitchFamily="18" charset="0"/>
              </a:rPr>
              <a:t>(</a:t>
            </a:r>
            <a:r>
              <a:rPr lang="en-US" altLang="zh-CN" sz="2400" b="1" i="1" dirty="0">
                <a:solidFill>
                  <a:srgbClr val="FF6600"/>
                </a:solidFill>
                <a:latin typeface="Times New Roman" pitchFamily="18" charset="0"/>
                <a:ea typeface="+mn-ea"/>
                <a:cs typeface="Times New Roman" pitchFamily="18" charset="0"/>
              </a:rPr>
              <a:t>x</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，可</a:t>
            </a:r>
            <a:r>
              <a:rPr lang="zh-CN" altLang="en-US" sz="2400" b="1" dirty="0">
                <a:solidFill>
                  <a:srgbClr val="0000FF"/>
                </a:solidFill>
                <a:latin typeface="Times New Roman" pitchFamily="18" charset="0"/>
                <a:ea typeface="+mn-ea"/>
                <a:cs typeface="Times New Roman" pitchFamily="18" charset="0"/>
              </a:rPr>
              <a:t>认为 </a:t>
            </a:r>
            <a:r>
              <a:rPr lang="en-US" altLang="zh-CN" sz="2400" b="1" dirty="0" err="1">
                <a:solidFill>
                  <a:srgbClr val="0000FF"/>
                </a:solidFill>
                <a:latin typeface="Times New Roman" pitchFamily="18" charset="0"/>
                <a:ea typeface="+mn-ea"/>
                <a:cs typeface="Times New Roman" pitchFamily="18" charset="0"/>
              </a:rPr>
              <a:t>d</a:t>
            </a:r>
            <a:r>
              <a:rPr lang="en-US" altLang="zh-CN" sz="2400" b="1" i="1" dirty="0" err="1">
                <a:solidFill>
                  <a:srgbClr val="0000FF"/>
                </a:solidFill>
                <a:latin typeface="Times New Roman" pitchFamily="18" charset="0"/>
                <a:ea typeface="+mn-ea"/>
                <a:cs typeface="Times New Roman" pitchFamily="18" charset="0"/>
              </a:rPr>
              <a:t>P</a:t>
            </a:r>
            <a:r>
              <a:rPr lang="en-US" altLang="zh-CN" sz="2400" b="1" dirty="0">
                <a:solidFill>
                  <a:srgbClr val="0000FF"/>
                </a:solidFill>
                <a:latin typeface="Times New Roman" pitchFamily="18" charset="0"/>
                <a:ea typeface="+mn-ea"/>
                <a:cs typeface="Times New Roman" pitchFamily="18" charset="0"/>
              </a:rPr>
              <a:t>(</a:t>
            </a:r>
            <a:r>
              <a:rPr lang="en-US" altLang="zh-CN" sz="2400" b="1" i="1" dirty="0">
                <a:solidFill>
                  <a:srgbClr val="0000FF"/>
                </a:solidFill>
                <a:latin typeface="Times New Roman" pitchFamily="18" charset="0"/>
                <a:ea typeface="+mn-ea"/>
                <a:cs typeface="Times New Roman" pitchFamily="18" charset="0"/>
              </a:rPr>
              <a:t>x</a:t>
            </a:r>
            <a:r>
              <a:rPr lang="en-US" altLang="zh-CN" sz="2400" b="1" dirty="0">
                <a:solidFill>
                  <a:srgbClr val="0000FF"/>
                </a:solidFill>
                <a:latin typeface="Times New Roman" pitchFamily="18" charset="0"/>
                <a:ea typeface="+mn-ea"/>
                <a:cs typeface="Times New Roman" pitchFamily="18" charset="0"/>
              </a:rPr>
              <a:t>) </a:t>
            </a:r>
            <a:r>
              <a:rPr lang="zh-CN" altLang="en-US" sz="2400" b="1" dirty="0">
                <a:solidFill>
                  <a:srgbClr val="0000FF"/>
                </a:solidFill>
                <a:latin typeface="Times New Roman" pitchFamily="18" charset="0"/>
                <a:ea typeface="+mn-ea"/>
                <a:cs typeface="Times New Roman" pitchFamily="18" charset="0"/>
              </a:rPr>
              <a:t>与区间宽度 </a:t>
            </a:r>
            <a:r>
              <a:rPr lang="en-US" altLang="zh-CN" sz="2400" b="1" dirty="0" err="1">
                <a:solidFill>
                  <a:srgbClr val="0000FF"/>
                </a:solidFill>
                <a:latin typeface="Times New Roman" pitchFamily="18" charset="0"/>
                <a:ea typeface="+mn-ea"/>
                <a:cs typeface="Times New Roman" pitchFamily="18" charset="0"/>
              </a:rPr>
              <a:t>d</a:t>
            </a:r>
            <a:r>
              <a:rPr lang="en-US" altLang="zh-CN" sz="2400" b="1" i="1" dirty="0" err="1">
                <a:solidFill>
                  <a:srgbClr val="0000FF"/>
                </a:solidFill>
                <a:latin typeface="Times New Roman" pitchFamily="18" charset="0"/>
                <a:ea typeface="+mn-ea"/>
                <a:cs typeface="Times New Roman" pitchFamily="18" charset="0"/>
              </a:rPr>
              <a:t>x</a:t>
            </a:r>
            <a:r>
              <a:rPr lang="en-US" altLang="zh-CN" sz="2400" b="1" i="1" dirty="0">
                <a:solidFill>
                  <a:srgbClr val="0000FF"/>
                </a:solidFill>
                <a:latin typeface="Times New Roman" pitchFamily="18" charset="0"/>
                <a:ea typeface="+mn-ea"/>
                <a:cs typeface="Times New Roman" pitchFamily="18" charset="0"/>
              </a:rPr>
              <a:t> </a:t>
            </a:r>
            <a:r>
              <a:rPr lang="zh-CN" altLang="en-US" sz="2400" b="1" dirty="0">
                <a:solidFill>
                  <a:srgbClr val="0000FF"/>
                </a:solidFill>
                <a:latin typeface="Times New Roman" pitchFamily="18" charset="0"/>
                <a:ea typeface="+mn-ea"/>
                <a:cs typeface="Times New Roman" pitchFamily="18" charset="0"/>
              </a:rPr>
              <a:t>成正比</a:t>
            </a:r>
            <a:r>
              <a:rPr lang="zh-CN" altLang="en-US" sz="2400" b="1" dirty="0">
                <a:latin typeface="Times New Roman" pitchFamily="18" charset="0"/>
                <a:ea typeface="+mn-ea"/>
                <a:cs typeface="Times New Roman" pitchFamily="18" charset="0"/>
              </a:rPr>
              <a:t>，即</a:t>
            </a:r>
          </a:p>
        </p:txBody>
      </p:sp>
      <p:graphicFrame>
        <p:nvGraphicFramePr>
          <p:cNvPr id="177163" name="Object 11"/>
          <p:cNvGraphicFramePr>
            <a:graphicFrameLocks noChangeAspect="1"/>
          </p:cNvGraphicFramePr>
          <p:nvPr/>
        </p:nvGraphicFramePr>
        <p:xfrm>
          <a:off x="3000375" y="2214563"/>
          <a:ext cx="2274888" cy="428625"/>
        </p:xfrm>
        <a:graphic>
          <a:graphicData uri="http://schemas.openxmlformats.org/presentationml/2006/ole">
            <p:oleObj spid="_x0000_s5122" name="公式" r:id="rId3" imgW="1079280" imgH="203040" progId="Equation.3">
              <p:embed/>
            </p:oleObj>
          </a:graphicData>
        </a:graphic>
      </p:graphicFrame>
      <p:sp>
        <p:nvSpPr>
          <p:cNvPr id="177164" name="Rectangle 12"/>
          <p:cNvSpPr>
            <a:spLocks noChangeArrowheads="1"/>
          </p:cNvSpPr>
          <p:nvPr/>
        </p:nvSpPr>
        <p:spPr bwMode="auto">
          <a:xfrm>
            <a:off x="179388" y="2714625"/>
            <a:ext cx="8640762" cy="1406525"/>
          </a:xfrm>
          <a:prstGeom prst="rect">
            <a:avLst/>
          </a:prstGeom>
          <a:noFill/>
          <a:ln w="9525">
            <a:noFill/>
            <a:miter lim="800000"/>
            <a:headEnd/>
            <a:tailEnd/>
          </a:ln>
        </p:spPr>
        <p:txBody>
          <a:bodyPr>
            <a:spAutoFit/>
          </a:bodyPr>
          <a:lstStyle/>
          <a:p>
            <a:pPr>
              <a:lnSpc>
                <a:spcPct val="120000"/>
              </a:lnSpc>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式中 </a:t>
            </a:r>
            <a:r>
              <a:rPr lang="en-US" altLang="zh-CN" sz="2400" b="1" i="1" dirty="0">
                <a:solidFill>
                  <a:srgbClr val="FF6600"/>
                </a:solidFill>
                <a:latin typeface="Times New Roman" pitchFamily="18" charset="0"/>
                <a:ea typeface="+mn-ea"/>
                <a:cs typeface="Times New Roman" pitchFamily="18" charset="0"/>
              </a:rPr>
              <a:t>f </a:t>
            </a:r>
            <a:r>
              <a:rPr lang="en-US" altLang="zh-CN" sz="2400" b="1" dirty="0">
                <a:solidFill>
                  <a:srgbClr val="FF6600"/>
                </a:solidFill>
                <a:latin typeface="Times New Roman" pitchFamily="18" charset="0"/>
                <a:ea typeface="+mn-ea"/>
                <a:cs typeface="Times New Roman" pitchFamily="18" charset="0"/>
              </a:rPr>
              <a:t>(</a:t>
            </a:r>
            <a:r>
              <a:rPr lang="en-US" altLang="zh-CN" sz="2400" b="1" i="1" dirty="0">
                <a:solidFill>
                  <a:srgbClr val="FF6600"/>
                </a:solidFill>
                <a:latin typeface="Times New Roman" pitchFamily="18" charset="0"/>
                <a:ea typeface="+mn-ea"/>
                <a:cs typeface="Times New Roman" pitchFamily="18" charset="0"/>
              </a:rPr>
              <a:t>x</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叫做 </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值在此区间上的概率密度，简称 </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的</a:t>
            </a:r>
            <a:r>
              <a:rPr lang="zh-CN" altLang="en-US" sz="2400" b="1" dirty="0">
                <a:solidFill>
                  <a:srgbClr val="FF6600"/>
                </a:solidFill>
                <a:latin typeface="Times New Roman" pitchFamily="18" charset="0"/>
                <a:ea typeface="+mn-ea"/>
                <a:cs typeface="Times New Roman" pitchFamily="18" charset="0"/>
              </a:rPr>
              <a:t>概率密度</a:t>
            </a:r>
            <a:r>
              <a:rPr lang="zh-CN" altLang="en-US" sz="2400" b="1" dirty="0">
                <a:latin typeface="Times New Roman" pitchFamily="18" charset="0"/>
                <a:ea typeface="+mn-ea"/>
                <a:cs typeface="Times New Roman" pitchFamily="18" charset="0"/>
              </a:rPr>
              <a:t>或</a:t>
            </a:r>
            <a:r>
              <a:rPr lang="zh-CN" altLang="en-US" sz="2400" b="1" dirty="0">
                <a:solidFill>
                  <a:srgbClr val="FF6600"/>
                </a:solidFill>
                <a:latin typeface="Times New Roman" pitchFamily="18" charset="0"/>
                <a:ea typeface="+mn-ea"/>
                <a:cs typeface="Times New Roman" pitchFamily="18" charset="0"/>
              </a:rPr>
              <a:t>分布函数</a:t>
            </a:r>
            <a:r>
              <a:rPr lang="zh-CN" altLang="en-US" sz="2400" b="1" dirty="0">
                <a:latin typeface="Times New Roman" pitchFamily="18" charset="0"/>
                <a:ea typeface="+mn-ea"/>
                <a:cs typeface="Times New Roman" pitchFamily="18" charset="0"/>
              </a:rPr>
              <a:t>，它的物理意义可理解为 </a:t>
            </a:r>
            <a:r>
              <a:rPr lang="en-US" altLang="zh-CN" sz="2400" b="1" i="1" dirty="0">
                <a:solidFill>
                  <a:srgbClr val="FF6600"/>
                </a:solidFill>
                <a:latin typeface="Times New Roman" pitchFamily="18" charset="0"/>
                <a:ea typeface="+mn-ea"/>
                <a:cs typeface="Times New Roman" pitchFamily="18" charset="0"/>
              </a:rPr>
              <a:t>x</a:t>
            </a:r>
            <a:r>
              <a:rPr lang="en-US" altLang="zh-CN" sz="2400" b="1" i="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值在其附近单位区间中出现的概率。</a:t>
            </a:r>
            <a:r>
              <a:rPr lang="zh-CN" altLang="en-US" sz="2400" dirty="0">
                <a:latin typeface="Times New Roman" pitchFamily="18" charset="0"/>
                <a:ea typeface="+mn-ea"/>
                <a:cs typeface="Times New Roman" pitchFamily="18" charset="0"/>
              </a:rPr>
              <a:t> </a:t>
            </a:r>
          </a:p>
        </p:txBody>
      </p:sp>
      <p:sp>
        <p:nvSpPr>
          <p:cNvPr id="177165" name="Rectangle 13"/>
          <p:cNvSpPr>
            <a:spLocks noChangeArrowheads="1"/>
          </p:cNvSpPr>
          <p:nvPr/>
        </p:nvSpPr>
        <p:spPr bwMode="auto">
          <a:xfrm>
            <a:off x="323850" y="4143375"/>
            <a:ext cx="8424863" cy="936625"/>
          </a:xfrm>
          <a:prstGeom prst="rect">
            <a:avLst/>
          </a:prstGeom>
          <a:noFill/>
          <a:ln w="9525">
            <a:noFill/>
            <a:miter lim="800000"/>
            <a:headEnd/>
            <a:tailEnd/>
          </a:ln>
        </p:spPr>
        <p:txBody>
          <a:bodyPr>
            <a:spAutoFit/>
          </a:bodyPr>
          <a:lstStyle/>
          <a:p>
            <a:pPr>
              <a:lnSpc>
                <a:spcPct val="120000"/>
              </a:lnSpc>
              <a:defRPr/>
            </a:pPr>
            <a:r>
              <a:rPr lang="en-US" altLang="zh-CN" sz="2400" b="1" dirty="0">
                <a:latin typeface="Times New Roman" pitchFamily="18" charset="0"/>
                <a:ea typeface="+mn-ea"/>
                <a:cs typeface="Times New Roman" pitchFamily="18" charset="0"/>
              </a:rPr>
              <a:t>          </a:t>
            </a:r>
            <a:r>
              <a:rPr lang="zh-CN" altLang="zh-CN" sz="2400" b="1" dirty="0">
                <a:latin typeface="Times New Roman" pitchFamily="18" charset="0"/>
                <a:ea typeface="+mn-ea"/>
                <a:cs typeface="Times New Roman" pitchFamily="18" charset="0"/>
              </a:rPr>
              <a:t>若变量</a:t>
            </a:r>
            <a:r>
              <a:rPr lang="zh-CN" altLang="en-US"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只出现在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a</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b </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中，且 </a:t>
            </a:r>
            <a:r>
              <a:rPr lang="en-US" altLang="zh-CN" sz="2400" b="1" i="1" dirty="0">
                <a:solidFill>
                  <a:srgbClr val="FF6600"/>
                </a:solidFill>
                <a:latin typeface="Times New Roman" pitchFamily="18" charset="0"/>
                <a:ea typeface="+mn-ea"/>
                <a:cs typeface="Times New Roman" pitchFamily="18" charset="0"/>
              </a:rPr>
              <a:t>a </a:t>
            </a:r>
            <a:r>
              <a:rPr lang="en-US" altLang="zh-CN" sz="2400" b="1" dirty="0">
                <a:solidFill>
                  <a:srgbClr val="FF6600"/>
                </a:solidFill>
                <a:latin typeface="Times New Roman" pitchFamily="18" charset="0"/>
                <a:ea typeface="+mn-ea"/>
                <a:cs typeface="Times New Roman" pitchFamily="18" charset="0"/>
              </a:rPr>
              <a:t>&lt; </a:t>
            </a:r>
            <a:r>
              <a:rPr lang="en-US" altLang="zh-CN" sz="2400" b="1" i="1" dirty="0">
                <a:solidFill>
                  <a:srgbClr val="FF6600"/>
                </a:solidFill>
                <a:latin typeface="Times New Roman" pitchFamily="18" charset="0"/>
                <a:ea typeface="+mn-ea"/>
                <a:cs typeface="Times New Roman" pitchFamily="18" charset="0"/>
              </a:rPr>
              <a:t>b</a:t>
            </a: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则</a:t>
            </a:r>
            <a:r>
              <a:rPr lang="zh-CN" altLang="en-US"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必出现在 </a:t>
            </a:r>
            <a:r>
              <a:rPr lang="en-US" altLang="zh-CN" sz="2400" b="1" dirty="0">
                <a:solidFill>
                  <a:srgbClr val="FF6600"/>
                </a:solidFill>
                <a:latin typeface="Times New Roman" pitchFamily="18" charset="0"/>
                <a:ea typeface="+mn-ea"/>
                <a:cs typeface="Times New Roman" pitchFamily="18" charset="0"/>
              </a:rPr>
              <a:t>(</a:t>
            </a:r>
            <a:r>
              <a:rPr lang="en-US" altLang="zh-CN" sz="2400" b="1" i="1" dirty="0">
                <a:solidFill>
                  <a:srgbClr val="FF6600"/>
                </a:solidFill>
                <a:latin typeface="Times New Roman" pitchFamily="18" charset="0"/>
                <a:ea typeface="+mn-ea"/>
                <a:cs typeface="Times New Roman" pitchFamily="18" charset="0"/>
              </a:rPr>
              <a:t>a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b</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中，即：</a:t>
            </a:r>
            <a:r>
              <a:rPr lang="en-US" altLang="zh-CN" sz="2400" b="1" i="1" dirty="0">
                <a:solidFill>
                  <a:srgbClr val="FF6600"/>
                </a:solidFill>
                <a:latin typeface="Times New Roman" pitchFamily="18" charset="0"/>
                <a:ea typeface="+mn-ea"/>
                <a:cs typeface="Times New Roman" pitchFamily="18" charset="0"/>
              </a:rPr>
              <a:t>x </a:t>
            </a:r>
            <a:r>
              <a:rPr lang="zh-CN" altLang="en-US" sz="2400" b="1" dirty="0">
                <a:latin typeface="Times New Roman" pitchFamily="18" charset="0"/>
                <a:ea typeface="+mn-ea"/>
                <a:cs typeface="Times New Roman" pitchFamily="18" charset="0"/>
              </a:rPr>
              <a:t>出现于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a </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b</a:t>
            </a:r>
            <a:r>
              <a:rPr lang="en-US" altLang="zh-CN" sz="2400" b="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中的概率为 </a:t>
            </a:r>
            <a:r>
              <a:rPr lang="en-US" altLang="zh-CN" sz="2400" b="1" dirty="0">
                <a:solidFill>
                  <a:srgbClr val="FF6600"/>
                </a:solidFill>
                <a:latin typeface="Times New Roman" pitchFamily="18" charset="0"/>
                <a:ea typeface="+mn-ea"/>
                <a:cs typeface="Times New Roman" pitchFamily="18" charset="0"/>
              </a:rPr>
              <a:t>1</a:t>
            </a: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，则有</a:t>
            </a:r>
          </a:p>
        </p:txBody>
      </p:sp>
      <p:graphicFrame>
        <p:nvGraphicFramePr>
          <p:cNvPr id="177166" name="Object 14"/>
          <p:cNvGraphicFramePr>
            <a:graphicFrameLocks noChangeAspect="1"/>
          </p:cNvGraphicFramePr>
          <p:nvPr/>
        </p:nvGraphicFramePr>
        <p:xfrm>
          <a:off x="2400300" y="5286375"/>
          <a:ext cx="1811338" cy="663575"/>
        </p:xfrm>
        <a:graphic>
          <a:graphicData uri="http://schemas.openxmlformats.org/presentationml/2006/ole">
            <p:oleObj spid="_x0000_s5123" name="公式" r:id="rId4" imgW="901440" imgH="330120" progId="Equation.3">
              <p:embed/>
            </p:oleObj>
          </a:graphicData>
        </a:graphic>
      </p:graphicFrame>
      <p:sp>
        <p:nvSpPr>
          <p:cNvPr id="177167" name="Rectangle 15"/>
          <p:cNvSpPr>
            <a:spLocks noChangeArrowheads="1"/>
          </p:cNvSpPr>
          <p:nvPr/>
        </p:nvSpPr>
        <p:spPr bwMode="auto">
          <a:xfrm>
            <a:off x="4427538" y="5373688"/>
            <a:ext cx="4321175" cy="493712"/>
          </a:xfrm>
          <a:prstGeom prst="rect">
            <a:avLst/>
          </a:prstGeom>
          <a:noFill/>
          <a:ln w="9525">
            <a:noFill/>
            <a:miter lim="800000"/>
            <a:headEnd/>
            <a:tailEnd/>
          </a:ln>
        </p:spPr>
        <p:txBody>
          <a:bodyPr>
            <a:spAutoFit/>
          </a:bodyPr>
          <a:lstStyle/>
          <a:p>
            <a:pPr>
              <a:lnSpc>
                <a:spcPct val="120000"/>
              </a:lnSpc>
              <a:defRPr/>
            </a:pPr>
            <a:r>
              <a:rPr lang="zh-CN" altLang="en-US" sz="2400" b="1" dirty="0">
                <a:latin typeface="+mn-ea"/>
                <a:ea typeface="+mn-ea"/>
              </a:rPr>
              <a:t>概率密度的归一化条件</a:t>
            </a:r>
            <a:r>
              <a:rPr lang="zh-CN" altLang="en-US" sz="2400" dirty="0">
                <a:latin typeface="+mn-ea"/>
                <a:ea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ipe(left)">
                                      <p:cBhvr>
                                        <p:cTn id="7" dur="5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Effect transition="in" filter="wipe(left)">
                                      <p:cBhvr>
                                        <p:cTn id="12" dur="500"/>
                                        <p:tgtEl>
                                          <p:spTgt spid="177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7163"/>
                                        </p:tgtEl>
                                        <p:attrNameLst>
                                          <p:attrName>style.visibility</p:attrName>
                                        </p:attrNameLst>
                                      </p:cBhvr>
                                      <p:to>
                                        <p:strVal val="visible"/>
                                      </p:to>
                                    </p:set>
                                    <p:animEffect transition="in" filter="wipe(left)">
                                      <p:cBhvr>
                                        <p:cTn id="17" dur="500"/>
                                        <p:tgtEl>
                                          <p:spTgt spid="1771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7164"/>
                                        </p:tgtEl>
                                        <p:attrNameLst>
                                          <p:attrName>style.visibility</p:attrName>
                                        </p:attrNameLst>
                                      </p:cBhvr>
                                      <p:to>
                                        <p:strVal val="visible"/>
                                      </p:to>
                                    </p:set>
                                    <p:animEffect transition="in" filter="wipe(left)">
                                      <p:cBhvr>
                                        <p:cTn id="22" dur="500"/>
                                        <p:tgtEl>
                                          <p:spTgt spid="1771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7165"/>
                                        </p:tgtEl>
                                        <p:attrNameLst>
                                          <p:attrName>style.visibility</p:attrName>
                                        </p:attrNameLst>
                                      </p:cBhvr>
                                      <p:to>
                                        <p:strVal val="visible"/>
                                      </p:to>
                                    </p:set>
                                    <p:animEffect transition="in" filter="wipe(left)">
                                      <p:cBhvr>
                                        <p:cTn id="27" dur="500"/>
                                        <p:tgtEl>
                                          <p:spTgt spid="1771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7166"/>
                                        </p:tgtEl>
                                        <p:attrNameLst>
                                          <p:attrName>style.visibility</p:attrName>
                                        </p:attrNameLst>
                                      </p:cBhvr>
                                      <p:to>
                                        <p:strVal val="visible"/>
                                      </p:to>
                                    </p:set>
                                    <p:animEffect transition="in" filter="wipe(left)">
                                      <p:cBhvr>
                                        <p:cTn id="32" dur="500"/>
                                        <p:tgtEl>
                                          <p:spTgt spid="17716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7167"/>
                                        </p:tgtEl>
                                        <p:attrNameLst>
                                          <p:attrName>style.visibility</p:attrName>
                                        </p:attrNameLst>
                                      </p:cBhvr>
                                      <p:to>
                                        <p:strVal val="visible"/>
                                      </p:to>
                                    </p:set>
                                    <p:animEffect transition="in" filter="wipe(left)">
                                      <p:cBhvr>
                                        <p:cTn id="37" dur="500"/>
                                        <p:tgtEl>
                                          <p:spTgt spid="177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p:bldP spid="177155" grpId="0"/>
      <p:bldP spid="177164" grpId="0"/>
      <p:bldP spid="177165" grpId="0"/>
      <p:bldP spid="17716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179388" y="428625"/>
            <a:ext cx="3816350" cy="457200"/>
          </a:xfrm>
          <a:prstGeom prst="rect">
            <a:avLst/>
          </a:prstGeom>
          <a:noFill/>
          <a:ln w="9525">
            <a:noFill/>
            <a:miter lim="800000"/>
            <a:headEnd/>
            <a:tailEnd/>
          </a:ln>
        </p:spPr>
        <p:txBody>
          <a:bodyPr>
            <a:spAutoFit/>
          </a:bodyPr>
          <a:lstStyle/>
          <a:p>
            <a:pPr>
              <a:buFont typeface="Wingdings" pitchFamily="2" charset="2"/>
              <a:buNone/>
            </a:pPr>
            <a:r>
              <a:rPr kumimoji="1" lang="en-US" altLang="zh-CN" sz="2400" b="1">
                <a:solidFill>
                  <a:srgbClr val="0000FF"/>
                </a:solidFill>
                <a:latin typeface="Times New Roman" pitchFamily="18" charset="0"/>
                <a:cs typeface="Times New Roman" pitchFamily="18" charset="0"/>
              </a:rPr>
              <a:t>3</a:t>
            </a:r>
            <a:r>
              <a:rPr kumimoji="1" lang="zh-CN" altLang="en-US" sz="2400" b="1">
                <a:solidFill>
                  <a:srgbClr val="0000FF"/>
                </a:solidFill>
                <a:latin typeface="Times New Roman" pitchFamily="18" charset="0"/>
                <a:cs typeface="Times New Roman" pitchFamily="18" charset="0"/>
              </a:rPr>
              <a:t>、</a:t>
            </a:r>
            <a:r>
              <a:rPr kumimoji="1" lang="zh-CN" altLang="en-US" sz="2400" b="1">
                <a:solidFill>
                  <a:srgbClr val="0000FF"/>
                </a:solidFill>
                <a:latin typeface="Times New Roman" pitchFamily="18" charset="0"/>
              </a:rPr>
              <a:t>统计平均值 </a:t>
            </a:r>
          </a:p>
        </p:txBody>
      </p:sp>
      <p:sp>
        <p:nvSpPr>
          <p:cNvPr id="178179" name="Rectangle 3"/>
          <p:cNvSpPr>
            <a:spLocks noChangeArrowheads="1"/>
          </p:cNvSpPr>
          <p:nvPr/>
        </p:nvSpPr>
        <p:spPr bwMode="auto">
          <a:xfrm>
            <a:off x="1571625" y="928688"/>
            <a:ext cx="1008063" cy="719137"/>
          </a:xfrm>
          <a:prstGeom prst="rect">
            <a:avLst/>
          </a:prstGeom>
          <a:solidFill>
            <a:schemeClr val="accent1"/>
          </a:solidFill>
          <a:ln w="9525">
            <a:noFill/>
            <a:miter lim="800000"/>
            <a:headEnd/>
            <a:tailEnd/>
          </a:ln>
        </p:spPr>
        <p:txBody>
          <a:bodyPr wrap="none" anchor="ctr"/>
          <a:lstStyle/>
          <a:p>
            <a:pPr algn="ctr"/>
            <a:r>
              <a:rPr lang="en-US" altLang="zh-CN" sz="2400" b="1" i="1">
                <a:latin typeface="Times New Roman" pitchFamily="18" charset="0"/>
              </a:rPr>
              <a:t>x</a:t>
            </a:r>
          </a:p>
        </p:txBody>
      </p:sp>
      <p:sp>
        <p:nvSpPr>
          <p:cNvPr id="178180" name="Rectangle 4"/>
          <p:cNvSpPr>
            <a:spLocks noChangeArrowheads="1"/>
          </p:cNvSpPr>
          <p:nvPr/>
        </p:nvSpPr>
        <p:spPr bwMode="auto">
          <a:xfrm>
            <a:off x="2597150" y="928688"/>
            <a:ext cx="1008063"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latin typeface="Times New Roman" pitchFamily="18" charset="0"/>
              </a:rPr>
              <a:t>x</a:t>
            </a:r>
            <a:r>
              <a:rPr lang="en-US" altLang="zh-CN" sz="2400" b="1" baseline="-25000">
                <a:latin typeface="Times New Roman" pitchFamily="18" charset="0"/>
              </a:rPr>
              <a:t>1</a:t>
            </a:r>
            <a:endParaRPr lang="en-US" altLang="zh-CN" sz="2400" b="1">
              <a:latin typeface="Times New Roman" pitchFamily="18" charset="0"/>
            </a:endParaRPr>
          </a:p>
        </p:txBody>
      </p:sp>
      <p:sp>
        <p:nvSpPr>
          <p:cNvPr id="178181" name="Rectangle 5"/>
          <p:cNvSpPr>
            <a:spLocks noChangeArrowheads="1"/>
          </p:cNvSpPr>
          <p:nvPr/>
        </p:nvSpPr>
        <p:spPr bwMode="auto">
          <a:xfrm>
            <a:off x="3603625" y="928688"/>
            <a:ext cx="1008063"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latin typeface="Times New Roman" pitchFamily="18" charset="0"/>
              </a:rPr>
              <a:t>x</a:t>
            </a:r>
            <a:r>
              <a:rPr lang="en-US" altLang="zh-CN" sz="2400" b="1" baseline="-25000">
                <a:latin typeface="Times New Roman" pitchFamily="18" charset="0"/>
              </a:rPr>
              <a:t>2</a:t>
            </a:r>
            <a:endParaRPr lang="en-US" altLang="zh-CN" sz="2400" b="1">
              <a:latin typeface="Times New Roman" pitchFamily="18" charset="0"/>
            </a:endParaRPr>
          </a:p>
        </p:txBody>
      </p:sp>
      <p:sp>
        <p:nvSpPr>
          <p:cNvPr id="178182" name="Rectangle 6"/>
          <p:cNvSpPr>
            <a:spLocks noChangeArrowheads="1"/>
          </p:cNvSpPr>
          <p:nvPr/>
        </p:nvSpPr>
        <p:spPr bwMode="auto">
          <a:xfrm>
            <a:off x="4595813" y="928688"/>
            <a:ext cx="1008062"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latin typeface="Times New Roman" pitchFamily="18" charset="0"/>
              </a:rPr>
              <a:t>x</a:t>
            </a:r>
            <a:r>
              <a:rPr lang="en-US" altLang="zh-CN" sz="2400" b="1" baseline="-25000">
                <a:latin typeface="Times New Roman" pitchFamily="18" charset="0"/>
              </a:rPr>
              <a:t>3</a:t>
            </a:r>
            <a:endParaRPr lang="en-US" altLang="zh-CN" sz="2400" b="1">
              <a:latin typeface="Times New Roman" pitchFamily="18" charset="0"/>
            </a:endParaRPr>
          </a:p>
        </p:txBody>
      </p:sp>
      <p:sp>
        <p:nvSpPr>
          <p:cNvPr id="178183" name="Rectangle 7"/>
          <p:cNvSpPr>
            <a:spLocks noChangeArrowheads="1"/>
          </p:cNvSpPr>
          <p:nvPr/>
        </p:nvSpPr>
        <p:spPr bwMode="auto">
          <a:xfrm>
            <a:off x="5603875" y="930275"/>
            <a:ext cx="1152525" cy="719138"/>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a:latin typeface="Times New Roman" pitchFamily="18" charset="0"/>
              </a:rPr>
              <a:t>… …</a:t>
            </a:r>
          </a:p>
        </p:txBody>
      </p:sp>
      <p:sp>
        <p:nvSpPr>
          <p:cNvPr id="178184" name="Rectangle 8"/>
          <p:cNvSpPr>
            <a:spLocks noChangeArrowheads="1"/>
          </p:cNvSpPr>
          <p:nvPr/>
        </p:nvSpPr>
        <p:spPr bwMode="auto">
          <a:xfrm>
            <a:off x="1571625" y="1666875"/>
            <a:ext cx="1008063" cy="712788"/>
          </a:xfrm>
          <a:prstGeom prst="rect">
            <a:avLst/>
          </a:prstGeom>
          <a:solidFill>
            <a:schemeClr val="accent1"/>
          </a:solidFill>
          <a:ln w="9525">
            <a:noFill/>
            <a:miter lim="800000"/>
            <a:headEnd/>
            <a:tailEnd/>
          </a:ln>
        </p:spPr>
        <p:txBody>
          <a:bodyPr wrap="none" anchor="ctr"/>
          <a:lstStyle/>
          <a:p>
            <a:pPr algn="ctr"/>
            <a:r>
              <a:rPr lang="zh-CN" altLang="en-US" sz="2400" b="1" i="1">
                <a:solidFill>
                  <a:srgbClr val="FF0000"/>
                </a:solidFill>
                <a:latin typeface="Times New Roman" pitchFamily="18" charset="0"/>
              </a:rPr>
              <a:t>Ｎ</a:t>
            </a:r>
          </a:p>
        </p:txBody>
      </p:sp>
      <p:sp>
        <p:nvSpPr>
          <p:cNvPr id="178185" name="Rectangle 9"/>
          <p:cNvSpPr>
            <a:spLocks noChangeArrowheads="1"/>
          </p:cNvSpPr>
          <p:nvPr/>
        </p:nvSpPr>
        <p:spPr bwMode="auto">
          <a:xfrm>
            <a:off x="2597150" y="1649413"/>
            <a:ext cx="1008063"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solidFill>
                  <a:srgbClr val="FF0000"/>
                </a:solidFill>
                <a:latin typeface="Times New Roman" pitchFamily="18" charset="0"/>
              </a:rPr>
              <a:t>n</a:t>
            </a:r>
            <a:r>
              <a:rPr lang="en-US" altLang="zh-CN" sz="2400" b="1" baseline="-25000">
                <a:solidFill>
                  <a:srgbClr val="FF0000"/>
                </a:solidFill>
                <a:latin typeface="Times New Roman" pitchFamily="18" charset="0"/>
              </a:rPr>
              <a:t>1</a:t>
            </a:r>
          </a:p>
        </p:txBody>
      </p:sp>
      <p:sp>
        <p:nvSpPr>
          <p:cNvPr id="178186" name="Rectangle 10"/>
          <p:cNvSpPr>
            <a:spLocks noChangeArrowheads="1"/>
          </p:cNvSpPr>
          <p:nvPr/>
        </p:nvSpPr>
        <p:spPr bwMode="auto">
          <a:xfrm>
            <a:off x="3603625" y="1649413"/>
            <a:ext cx="1008063"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solidFill>
                  <a:srgbClr val="FF0000"/>
                </a:solidFill>
                <a:latin typeface="Times New Roman" pitchFamily="18" charset="0"/>
              </a:rPr>
              <a:t>n</a:t>
            </a:r>
            <a:r>
              <a:rPr lang="en-US" altLang="zh-CN" sz="2400" b="1" baseline="-25000">
                <a:solidFill>
                  <a:srgbClr val="FF0000"/>
                </a:solidFill>
                <a:latin typeface="Times New Roman" pitchFamily="18" charset="0"/>
              </a:rPr>
              <a:t>2</a:t>
            </a:r>
          </a:p>
        </p:txBody>
      </p:sp>
      <p:sp>
        <p:nvSpPr>
          <p:cNvPr id="178187" name="Rectangle 11"/>
          <p:cNvSpPr>
            <a:spLocks noChangeArrowheads="1"/>
          </p:cNvSpPr>
          <p:nvPr/>
        </p:nvSpPr>
        <p:spPr bwMode="auto">
          <a:xfrm>
            <a:off x="4595813" y="1649413"/>
            <a:ext cx="1008062" cy="719137"/>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solidFill>
                  <a:srgbClr val="FF0000"/>
                </a:solidFill>
                <a:latin typeface="Times New Roman" pitchFamily="18" charset="0"/>
              </a:rPr>
              <a:t>n</a:t>
            </a:r>
            <a:r>
              <a:rPr lang="en-US" altLang="zh-CN" sz="2400" b="1" baseline="-25000">
                <a:solidFill>
                  <a:srgbClr val="FF0000"/>
                </a:solidFill>
                <a:latin typeface="Times New Roman" pitchFamily="18" charset="0"/>
              </a:rPr>
              <a:t>3</a:t>
            </a:r>
          </a:p>
        </p:txBody>
      </p:sp>
      <p:sp>
        <p:nvSpPr>
          <p:cNvPr id="178188" name="Rectangle 12"/>
          <p:cNvSpPr>
            <a:spLocks noChangeArrowheads="1"/>
          </p:cNvSpPr>
          <p:nvPr/>
        </p:nvSpPr>
        <p:spPr bwMode="auto">
          <a:xfrm>
            <a:off x="5603875" y="1651000"/>
            <a:ext cx="1152525" cy="719138"/>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a:solidFill>
                  <a:srgbClr val="FF0000"/>
                </a:solidFill>
                <a:latin typeface="Times New Roman" pitchFamily="18" charset="0"/>
              </a:rPr>
              <a:t>… …</a:t>
            </a:r>
          </a:p>
        </p:txBody>
      </p:sp>
      <p:sp>
        <p:nvSpPr>
          <p:cNvPr id="6162" name="Rectangle 13"/>
          <p:cNvSpPr>
            <a:spLocks noChangeArrowheads="1"/>
          </p:cNvSpPr>
          <p:nvPr/>
        </p:nvSpPr>
        <p:spPr bwMode="auto">
          <a:xfrm>
            <a:off x="0" y="3214688"/>
            <a:ext cx="9144000" cy="0"/>
          </a:xfrm>
          <a:prstGeom prst="rect">
            <a:avLst/>
          </a:prstGeom>
          <a:noFill/>
          <a:ln w="9525" algn="ctr">
            <a:noFill/>
            <a:miter lim="800000"/>
            <a:headEnd/>
            <a:tailEnd/>
          </a:ln>
        </p:spPr>
        <p:txBody>
          <a:bodyPr wrap="none" anchor="ctr">
            <a:spAutoFit/>
          </a:bodyPr>
          <a:lstStyle/>
          <a:p>
            <a:pPr algn="ctr"/>
            <a:endParaRPr lang="zh-CN" altLang="en-US"/>
          </a:p>
        </p:txBody>
      </p:sp>
      <p:sp>
        <p:nvSpPr>
          <p:cNvPr id="178193" name="Text Box 17"/>
          <p:cNvSpPr txBox="1">
            <a:spLocks noChangeArrowheads="1"/>
          </p:cNvSpPr>
          <p:nvPr/>
        </p:nvSpPr>
        <p:spPr bwMode="auto">
          <a:xfrm>
            <a:off x="214313" y="2697163"/>
            <a:ext cx="3463925" cy="517525"/>
          </a:xfrm>
          <a:prstGeom prst="rect">
            <a:avLst/>
          </a:prstGeom>
          <a:noFill/>
          <a:ln w="9525">
            <a:noFill/>
            <a:miter lim="800000"/>
            <a:headEnd/>
            <a:tailEnd/>
          </a:ln>
        </p:spPr>
        <p:txBody>
          <a:bodyPr>
            <a:spAutoFit/>
          </a:bodyPr>
          <a:lstStyle/>
          <a:p>
            <a:pPr>
              <a:lnSpc>
                <a:spcPct val="115000"/>
              </a:lnSpc>
              <a:defRPr/>
            </a:pPr>
            <a:r>
              <a:rPr lang="en-US" altLang="zh-CN" sz="2400" b="1" i="1" dirty="0">
                <a:solidFill>
                  <a:srgbClr val="FF3300"/>
                </a:solidFill>
                <a:latin typeface="Times New Roman" pitchFamily="18" charset="0"/>
                <a:ea typeface="+mn-ea"/>
                <a:cs typeface="Times New Roman" pitchFamily="18" charset="0"/>
              </a:rPr>
              <a:t>x</a:t>
            </a:r>
            <a:r>
              <a:rPr lang="en-US" altLang="zh-CN" sz="2400" b="1" i="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的统计平均值为</a:t>
            </a:r>
            <a:r>
              <a:rPr lang="en-US" altLang="zh-CN" sz="2400" b="1" dirty="0">
                <a:latin typeface="Times New Roman" pitchFamily="18" charset="0"/>
                <a:ea typeface="+mn-ea"/>
                <a:cs typeface="Times New Roman" pitchFamily="18" charset="0"/>
              </a:rPr>
              <a:t>:</a:t>
            </a:r>
          </a:p>
        </p:txBody>
      </p:sp>
      <p:graphicFrame>
        <p:nvGraphicFramePr>
          <p:cNvPr id="178194" name="Object 18"/>
          <p:cNvGraphicFramePr>
            <a:graphicFrameLocks noChangeAspect="1"/>
          </p:cNvGraphicFramePr>
          <p:nvPr/>
        </p:nvGraphicFramePr>
        <p:xfrm>
          <a:off x="3071813" y="2571750"/>
          <a:ext cx="4972050" cy="774700"/>
        </p:xfrm>
        <a:graphic>
          <a:graphicData uri="http://schemas.openxmlformats.org/presentationml/2006/ole">
            <p:oleObj spid="_x0000_s6146" name="公式" r:id="rId3" imgW="2781000" imgH="431640" progId="Equation.3">
              <p:embed/>
            </p:oleObj>
          </a:graphicData>
        </a:graphic>
      </p:graphicFrame>
      <p:sp>
        <p:nvSpPr>
          <p:cNvPr id="178195" name="Text Box 19"/>
          <p:cNvSpPr txBox="1">
            <a:spLocks noChangeArrowheads="1"/>
          </p:cNvSpPr>
          <p:nvPr/>
        </p:nvSpPr>
        <p:spPr bwMode="auto">
          <a:xfrm>
            <a:off x="214313" y="3429000"/>
            <a:ext cx="5973762" cy="457200"/>
          </a:xfrm>
          <a:prstGeom prst="rect">
            <a:avLst/>
          </a:prstGeom>
          <a:noFill/>
          <a:ln w="9525">
            <a:noFill/>
            <a:miter lim="800000"/>
            <a:headEnd/>
            <a:tailEnd/>
          </a:ln>
        </p:spPr>
        <p:txBody>
          <a:bodyPr>
            <a:spAutoFit/>
          </a:bodyPr>
          <a:lstStyle/>
          <a:p>
            <a:pPr>
              <a:spcBef>
                <a:spcPct val="50000"/>
              </a:spcBef>
              <a:defRPr/>
            </a:pPr>
            <a:r>
              <a:rPr lang="zh-CN" altLang="en-US" sz="2400" b="1" dirty="0">
                <a:latin typeface="Times New Roman" pitchFamily="18" charset="0"/>
                <a:ea typeface="+mn-ea"/>
                <a:cs typeface="Times New Roman" pitchFamily="18" charset="0"/>
              </a:rPr>
              <a:t>测量总次数越多，该统计平均值越精确：</a:t>
            </a:r>
          </a:p>
        </p:txBody>
      </p:sp>
      <p:graphicFrame>
        <p:nvGraphicFramePr>
          <p:cNvPr id="178196" name="Object 20"/>
          <p:cNvGraphicFramePr>
            <a:graphicFrameLocks noChangeAspect="1"/>
          </p:cNvGraphicFramePr>
          <p:nvPr/>
        </p:nvGraphicFramePr>
        <p:xfrm>
          <a:off x="1357313" y="4000500"/>
          <a:ext cx="3684587" cy="776288"/>
        </p:xfrm>
        <a:graphic>
          <a:graphicData uri="http://schemas.openxmlformats.org/presentationml/2006/ole">
            <p:oleObj spid="_x0000_s6147" name="公式" r:id="rId4" imgW="2057400" imgH="431640" progId="Equation.3">
              <p:embed/>
            </p:oleObj>
          </a:graphicData>
        </a:graphic>
      </p:graphicFrame>
      <p:graphicFrame>
        <p:nvGraphicFramePr>
          <p:cNvPr id="178197" name="Object 21"/>
          <p:cNvGraphicFramePr>
            <a:graphicFrameLocks noChangeAspect="1"/>
          </p:cNvGraphicFramePr>
          <p:nvPr/>
        </p:nvGraphicFramePr>
        <p:xfrm>
          <a:off x="5143500" y="3929063"/>
          <a:ext cx="1114425" cy="798512"/>
        </p:xfrm>
        <a:graphic>
          <a:graphicData uri="http://schemas.openxmlformats.org/presentationml/2006/ole">
            <p:oleObj spid="_x0000_s6148" name="公式" r:id="rId5" imgW="622080" imgH="444240" progId="Equation.3">
              <p:embed/>
            </p:oleObj>
          </a:graphicData>
        </a:graphic>
      </p:graphicFrame>
      <p:graphicFrame>
        <p:nvGraphicFramePr>
          <p:cNvPr id="178198" name="Object 22"/>
          <p:cNvGraphicFramePr>
            <a:graphicFrameLocks noChangeAspect="1"/>
          </p:cNvGraphicFramePr>
          <p:nvPr/>
        </p:nvGraphicFramePr>
        <p:xfrm>
          <a:off x="6929438" y="4000500"/>
          <a:ext cx="1465262" cy="733425"/>
        </p:xfrm>
        <a:graphic>
          <a:graphicData uri="http://schemas.openxmlformats.org/presentationml/2006/ole">
            <p:oleObj spid="_x0000_s6149" name="公式" r:id="rId6" imgW="812520" imgH="406080" progId="Equation.3">
              <p:embed/>
            </p:oleObj>
          </a:graphicData>
        </a:graphic>
      </p:graphicFrame>
      <p:sp>
        <p:nvSpPr>
          <p:cNvPr id="178199" name="Text Box 23"/>
          <p:cNvSpPr txBox="1">
            <a:spLocks noChangeArrowheads="1"/>
          </p:cNvSpPr>
          <p:nvPr/>
        </p:nvSpPr>
        <p:spPr bwMode="auto">
          <a:xfrm>
            <a:off x="285750" y="4929188"/>
            <a:ext cx="5534025" cy="517525"/>
          </a:xfrm>
          <a:prstGeom prst="rect">
            <a:avLst/>
          </a:prstGeom>
          <a:noFill/>
          <a:ln w="9525">
            <a:noFill/>
            <a:miter lim="800000"/>
            <a:headEnd/>
            <a:tailEnd/>
          </a:ln>
        </p:spPr>
        <p:txBody>
          <a:bodyPr>
            <a:spAutoFit/>
          </a:bodyPr>
          <a:lstStyle/>
          <a:p>
            <a:pPr>
              <a:lnSpc>
                <a:spcPct val="115000"/>
              </a:lnSpc>
              <a:defRPr/>
            </a:pPr>
            <a:r>
              <a:rPr lang="zh-CN" altLang="en-US" sz="2400" b="1" dirty="0">
                <a:latin typeface="Times New Roman" pitchFamily="18" charset="0"/>
                <a:ea typeface="+mn-ea"/>
                <a:cs typeface="Times New Roman" pitchFamily="18" charset="0"/>
              </a:rPr>
              <a:t>若 </a:t>
            </a:r>
            <a:r>
              <a:rPr lang="en-US" altLang="zh-CN" sz="2400" b="1" i="1" dirty="0">
                <a:solidFill>
                  <a:srgbClr val="FF3300"/>
                </a:solidFill>
                <a:latin typeface="Times New Roman" pitchFamily="18" charset="0"/>
                <a:ea typeface="+mn-ea"/>
                <a:cs typeface="Times New Roman" pitchFamily="18" charset="0"/>
              </a:rPr>
              <a:t>x</a:t>
            </a:r>
            <a:r>
              <a:rPr lang="en-US" altLang="zh-CN" sz="2400" b="1" i="1" dirty="0">
                <a:solidFill>
                  <a:srgbClr val="FF66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连续变化，则 </a:t>
            </a:r>
            <a:r>
              <a:rPr lang="en-US" altLang="zh-CN" sz="2400" b="1" i="1" dirty="0">
                <a:solidFill>
                  <a:srgbClr val="FF3300"/>
                </a:solidFill>
                <a:latin typeface="Times New Roman" pitchFamily="18" charset="0"/>
                <a:ea typeface="+mn-ea"/>
                <a:cs typeface="Times New Roman" pitchFamily="18" charset="0"/>
              </a:rPr>
              <a:t>x</a:t>
            </a:r>
            <a:r>
              <a:rPr lang="en-US" altLang="zh-CN" sz="2400" b="1" i="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的统计平均值为</a:t>
            </a:r>
            <a:r>
              <a:rPr lang="en-US" altLang="zh-CN" sz="2400" b="1" dirty="0">
                <a:latin typeface="Times New Roman" pitchFamily="18" charset="0"/>
                <a:ea typeface="+mn-ea"/>
                <a:cs typeface="Times New Roman" pitchFamily="18" charset="0"/>
              </a:rPr>
              <a:t>:</a:t>
            </a:r>
          </a:p>
        </p:txBody>
      </p:sp>
      <p:graphicFrame>
        <p:nvGraphicFramePr>
          <p:cNvPr id="178200" name="Object 24"/>
          <p:cNvGraphicFramePr>
            <a:graphicFrameLocks noChangeAspect="1"/>
          </p:cNvGraphicFramePr>
          <p:nvPr/>
        </p:nvGraphicFramePr>
        <p:xfrm>
          <a:off x="2928938" y="5572125"/>
          <a:ext cx="3267075" cy="571500"/>
        </p:xfrm>
        <a:graphic>
          <a:graphicData uri="http://schemas.openxmlformats.org/presentationml/2006/ole">
            <p:oleObj spid="_x0000_s6150" name="公式" r:id="rId7" imgW="1676160" imgH="291960" progId="Equation.3">
              <p:embed/>
            </p:oleObj>
          </a:graphicData>
        </a:graphic>
      </p:graphicFrame>
      <p:sp>
        <p:nvSpPr>
          <p:cNvPr id="178201" name="Rectangle 25"/>
          <p:cNvSpPr>
            <a:spLocks noChangeArrowheads="1"/>
          </p:cNvSpPr>
          <p:nvPr/>
        </p:nvSpPr>
        <p:spPr bwMode="auto">
          <a:xfrm>
            <a:off x="6756400" y="930275"/>
            <a:ext cx="1008063" cy="719138"/>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latin typeface="Times New Roman" pitchFamily="18" charset="0"/>
              </a:rPr>
              <a:t>x</a:t>
            </a:r>
            <a:r>
              <a:rPr lang="en-US" altLang="zh-CN" sz="2400" b="1" baseline="-25000">
                <a:latin typeface="Symbol" pitchFamily="18" charset="2"/>
              </a:rPr>
              <a:t>n</a:t>
            </a:r>
          </a:p>
        </p:txBody>
      </p:sp>
      <p:sp>
        <p:nvSpPr>
          <p:cNvPr id="178202" name="Rectangle 26"/>
          <p:cNvSpPr>
            <a:spLocks noChangeArrowheads="1"/>
          </p:cNvSpPr>
          <p:nvPr/>
        </p:nvSpPr>
        <p:spPr bwMode="auto">
          <a:xfrm>
            <a:off x="6756400" y="1651000"/>
            <a:ext cx="1008063" cy="719138"/>
          </a:xfrm>
          <a:prstGeom prst="rect">
            <a:avLst/>
          </a:prstGeom>
          <a:solidFill>
            <a:srgbClr val="FFCC00">
              <a:alpha val="50195"/>
            </a:srgbClr>
          </a:solidFill>
          <a:ln w="9525">
            <a:solidFill>
              <a:schemeClr val="bg1"/>
            </a:solidFill>
            <a:miter lim="800000"/>
            <a:headEnd/>
            <a:tailEnd/>
          </a:ln>
        </p:spPr>
        <p:txBody>
          <a:bodyPr wrap="none" anchor="ctr"/>
          <a:lstStyle/>
          <a:p>
            <a:pPr algn="ctr"/>
            <a:r>
              <a:rPr lang="en-US" altLang="zh-CN" sz="2400" b="1" i="1">
                <a:solidFill>
                  <a:srgbClr val="FF0000"/>
                </a:solidFill>
                <a:latin typeface="Times New Roman" pitchFamily="18" charset="0"/>
              </a:rPr>
              <a:t>n</a:t>
            </a:r>
            <a:r>
              <a:rPr lang="en-US" altLang="zh-CN" sz="2400" b="1" baseline="-25000">
                <a:solidFill>
                  <a:srgbClr val="FF0000"/>
                </a:solidFill>
                <a:latin typeface="Symbol" pitchFamily="18" charset="2"/>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8"/>
                                        </p:tgtEl>
                                        <p:attrNameLst>
                                          <p:attrName>style.visibility</p:attrName>
                                        </p:attrNameLst>
                                      </p:cBhvr>
                                      <p:to>
                                        <p:strVal val="visible"/>
                                      </p:to>
                                    </p:set>
                                    <p:animEffect transition="in" filter="wipe(left)">
                                      <p:cBhvr>
                                        <p:cTn id="7" dur="500"/>
                                        <p:tgtEl>
                                          <p:spTgt spid="178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Effect transition="in" filter="wipe(left)">
                                      <p:cBhvr>
                                        <p:cTn id="12" dur="500"/>
                                        <p:tgtEl>
                                          <p:spTgt spid="17817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78184"/>
                                        </p:tgtEl>
                                        <p:attrNameLst>
                                          <p:attrName>style.visibility</p:attrName>
                                        </p:attrNameLst>
                                      </p:cBhvr>
                                      <p:to>
                                        <p:strVal val="visible"/>
                                      </p:to>
                                    </p:set>
                                    <p:animEffect transition="in" filter="wipe(left)">
                                      <p:cBhvr>
                                        <p:cTn id="16" dur="500"/>
                                        <p:tgtEl>
                                          <p:spTgt spid="17818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8180"/>
                                        </p:tgtEl>
                                        <p:attrNameLst>
                                          <p:attrName>style.visibility</p:attrName>
                                        </p:attrNameLst>
                                      </p:cBhvr>
                                      <p:to>
                                        <p:strVal val="visible"/>
                                      </p:to>
                                    </p:set>
                                    <p:animEffect transition="in" filter="wipe(left)">
                                      <p:cBhvr>
                                        <p:cTn id="21" dur="500"/>
                                        <p:tgtEl>
                                          <p:spTgt spid="17818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78181"/>
                                        </p:tgtEl>
                                        <p:attrNameLst>
                                          <p:attrName>style.visibility</p:attrName>
                                        </p:attrNameLst>
                                      </p:cBhvr>
                                      <p:to>
                                        <p:strVal val="visible"/>
                                      </p:to>
                                    </p:set>
                                    <p:animEffect transition="in" filter="wipe(left)">
                                      <p:cBhvr>
                                        <p:cTn id="25" dur="500"/>
                                        <p:tgtEl>
                                          <p:spTgt spid="178181"/>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78182"/>
                                        </p:tgtEl>
                                        <p:attrNameLst>
                                          <p:attrName>style.visibility</p:attrName>
                                        </p:attrNameLst>
                                      </p:cBhvr>
                                      <p:to>
                                        <p:strVal val="visible"/>
                                      </p:to>
                                    </p:set>
                                    <p:animEffect transition="in" filter="wipe(left)">
                                      <p:cBhvr>
                                        <p:cTn id="29" dur="500"/>
                                        <p:tgtEl>
                                          <p:spTgt spid="178182"/>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78183"/>
                                        </p:tgtEl>
                                        <p:attrNameLst>
                                          <p:attrName>style.visibility</p:attrName>
                                        </p:attrNameLst>
                                      </p:cBhvr>
                                      <p:to>
                                        <p:strVal val="visible"/>
                                      </p:to>
                                    </p:set>
                                    <p:animEffect transition="in" filter="wipe(left)">
                                      <p:cBhvr>
                                        <p:cTn id="33" dur="500"/>
                                        <p:tgtEl>
                                          <p:spTgt spid="178183"/>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178201"/>
                                        </p:tgtEl>
                                        <p:attrNameLst>
                                          <p:attrName>style.visibility</p:attrName>
                                        </p:attrNameLst>
                                      </p:cBhvr>
                                      <p:to>
                                        <p:strVal val="visible"/>
                                      </p:to>
                                    </p:set>
                                    <p:animEffect transition="in" filter="wipe(left)">
                                      <p:cBhvr>
                                        <p:cTn id="37" dur="500"/>
                                        <p:tgtEl>
                                          <p:spTgt spid="1782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8185"/>
                                        </p:tgtEl>
                                        <p:attrNameLst>
                                          <p:attrName>style.visibility</p:attrName>
                                        </p:attrNameLst>
                                      </p:cBhvr>
                                      <p:to>
                                        <p:strVal val="visible"/>
                                      </p:to>
                                    </p:set>
                                    <p:animEffect transition="in" filter="wipe(left)">
                                      <p:cBhvr>
                                        <p:cTn id="42" dur="500"/>
                                        <p:tgtEl>
                                          <p:spTgt spid="178185"/>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78186"/>
                                        </p:tgtEl>
                                        <p:attrNameLst>
                                          <p:attrName>style.visibility</p:attrName>
                                        </p:attrNameLst>
                                      </p:cBhvr>
                                      <p:to>
                                        <p:strVal val="visible"/>
                                      </p:to>
                                    </p:set>
                                    <p:animEffect transition="in" filter="wipe(left)">
                                      <p:cBhvr>
                                        <p:cTn id="46" dur="500"/>
                                        <p:tgtEl>
                                          <p:spTgt spid="178186"/>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178187"/>
                                        </p:tgtEl>
                                        <p:attrNameLst>
                                          <p:attrName>style.visibility</p:attrName>
                                        </p:attrNameLst>
                                      </p:cBhvr>
                                      <p:to>
                                        <p:strVal val="visible"/>
                                      </p:to>
                                    </p:set>
                                    <p:animEffect transition="in" filter="wipe(left)">
                                      <p:cBhvr>
                                        <p:cTn id="50" dur="500"/>
                                        <p:tgtEl>
                                          <p:spTgt spid="178187"/>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178188"/>
                                        </p:tgtEl>
                                        <p:attrNameLst>
                                          <p:attrName>style.visibility</p:attrName>
                                        </p:attrNameLst>
                                      </p:cBhvr>
                                      <p:to>
                                        <p:strVal val="visible"/>
                                      </p:to>
                                    </p:set>
                                    <p:animEffect transition="in" filter="wipe(left)">
                                      <p:cBhvr>
                                        <p:cTn id="54" dur="500"/>
                                        <p:tgtEl>
                                          <p:spTgt spid="178188"/>
                                        </p:tgtEl>
                                      </p:cBhvr>
                                    </p:animEffect>
                                  </p:childTnLst>
                                </p:cTn>
                              </p:par>
                            </p:childTnLst>
                          </p:cTn>
                        </p:par>
                        <p:par>
                          <p:cTn id="55" fill="hold">
                            <p:stCondLst>
                              <p:cond delay="2000"/>
                            </p:stCondLst>
                            <p:childTnLst>
                              <p:par>
                                <p:cTn id="56" presetID="22" presetClass="entr" presetSubtype="8" fill="hold" grpId="0" nodeType="afterEffect">
                                  <p:stCondLst>
                                    <p:cond delay="0"/>
                                  </p:stCondLst>
                                  <p:childTnLst>
                                    <p:set>
                                      <p:cBhvr>
                                        <p:cTn id="57" dur="1" fill="hold">
                                          <p:stCondLst>
                                            <p:cond delay="0"/>
                                          </p:stCondLst>
                                        </p:cTn>
                                        <p:tgtEl>
                                          <p:spTgt spid="178202"/>
                                        </p:tgtEl>
                                        <p:attrNameLst>
                                          <p:attrName>style.visibility</p:attrName>
                                        </p:attrNameLst>
                                      </p:cBhvr>
                                      <p:to>
                                        <p:strVal val="visible"/>
                                      </p:to>
                                    </p:set>
                                    <p:animEffect transition="in" filter="wipe(left)">
                                      <p:cBhvr>
                                        <p:cTn id="58" dur="500"/>
                                        <p:tgtEl>
                                          <p:spTgt spid="17820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78193"/>
                                        </p:tgtEl>
                                        <p:attrNameLst>
                                          <p:attrName>style.visibility</p:attrName>
                                        </p:attrNameLst>
                                      </p:cBhvr>
                                      <p:to>
                                        <p:strVal val="visible"/>
                                      </p:to>
                                    </p:set>
                                    <p:animEffect transition="in" filter="wipe(left)">
                                      <p:cBhvr>
                                        <p:cTn id="63" dur="500"/>
                                        <p:tgtEl>
                                          <p:spTgt spid="17819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78194"/>
                                        </p:tgtEl>
                                        <p:attrNameLst>
                                          <p:attrName>style.visibility</p:attrName>
                                        </p:attrNameLst>
                                      </p:cBhvr>
                                      <p:to>
                                        <p:strVal val="visible"/>
                                      </p:to>
                                    </p:set>
                                    <p:animEffect transition="in" filter="wipe(left)">
                                      <p:cBhvr>
                                        <p:cTn id="68" dur="500"/>
                                        <p:tgtEl>
                                          <p:spTgt spid="17819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78195"/>
                                        </p:tgtEl>
                                        <p:attrNameLst>
                                          <p:attrName>style.visibility</p:attrName>
                                        </p:attrNameLst>
                                      </p:cBhvr>
                                      <p:to>
                                        <p:strVal val="visible"/>
                                      </p:to>
                                    </p:set>
                                    <p:animEffect transition="in" filter="wipe(left)">
                                      <p:cBhvr>
                                        <p:cTn id="73" dur="500"/>
                                        <p:tgtEl>
                                          <p:spTgt spid="17819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78196"/>
                                        </p:tgtEl>
                                        <p:attrNameLst>
                                          <p:attrName>style.visibility</p:attrName>
                                        </p:attrNameLst>
                                      </p:cBhvr>
                                      <p:to>
                                        <p:strVal val="visible"/>
                                      </p:to>
                                    </p:set>
                                    <p:animEffect transition="in" filter="wipe(left)">
                                      <p:cBhvr>
                                        <p:cTn id="78" dur="500"/>
                                        <p:tgtEl>
                                          <p:spTgt spid="17819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78197"/>
                                        </p:tgtEl>
                                        <p:attrNameLst>
                                          <p:attrName>style.visibility</p:attrName>
                                        </p:attrNameLst>
                                      </p:cBhvr>
                                      <p:to>
                                        <p:strVal val="visible"/>
                                      </p:to>
                                    </p:set>
                                    <p:animEffect transition="in" filter="wipe(left)">
                                      <p:cBhvr>
                                        <p:cTn id="83" dur="500"/>
                                        <p:tgtEl>
                                          <p:spTgt spid="17819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78198"/>
                                        </p:tgtEl>
                                        <p:attrNameLst>
                                          <p:attrName>style.visibility</p:attrName>
                                        </p:attrNameLst>
                                      </p:cBhvr>
                                      <p:to>
                                        <p:strVal val="visible"/>
                                      </p:to>
                                    </p:set>
                                    <p:animEffect transition="in" filter="wipe(left)">
                                      <p:cBhvr>
                                        <p:cTn id="88" dur="500"/>
                                        <p:tgtEl>
                                          <p:spTgt spid="17819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78199"/>
                                        </p:tgtEl>
                                        <p:attrNameLst>
                                          <p:attrName>style.visibility</p:attrName>
                                        </p:attrNameLst>
                                      </p:cBhvr>
                                      <p:to>
                                        <p:strVal val="visible"/>
                                      </p:to>
                                    </p:set>
                                    <p:animEffect transition="in" filter="wipe(left)">
                                      <p:cBhvr>
                                        <p:cTn id="93" dur="500"/>
                                        <p:tgtEl>
                                          <p:spTgt spid="17819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78200"/>
                                        </p:tgtEl>
                                        <p:attrNameLst>
                                          <p:attrName>style.visibility</p:attrName>
                                        </p:attrNameLst>
                                      </p:cBhvr>
                                      <p:to>
                                        <p:strVal val="visible"/>
                                      </p:to>
                                    </p:set>
                                    <p:animEffect transition="in" filter="wipe(left)">
                                      <p:cBhvr>
                                        <p:cTn id="98" dur="500"/>
                                        <p:tgtEl>
                                          <p:spTgt spid="178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P spid="178179" grpId="0" animBg="1"/>
      <p:bldP spid="178180" grpId="0" animBg="1"/>
      <p:bldP spid="178181" grpId="0" animBg="1"/>
      <p:bldP spid="178182" grpId="0" animBg="1"/>
      <p:bldP spid="178183" grpId="0" animBg="1"/>
      <p:bldP spid="178184" grpId="0" animBg="1"/>
      <p:bldP spid="178185" grpId="0" animBg="1"/>
      <p:bldP spid="178186" grpId="0" animBg="1"/>
      <p:bldP spid="178187" grpId="0" animBg="1"/>
      <p:bldP spid="178188" grpId="0" animBg="1"/>
      <p:bldP spid="178193" grpId="0"/>
      <p:bldP spid="178195" grpId="0"/>
      <p:bldP spid="178199" grpId="0"/>
      <p:bldP spid="178201" grpId="0" animBg="1"/>
      <p:bldP spid="17820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2"/>
          <p:cNvSpPr txBox="1">
            <a:spLocks noChangeArrowheads="1"/>
          </p:cNvSpPr>
          <p:nvPr/>
        </p:nvSpPr>
        <p:spPr bwMode="auto">
          <a:xfrm>
            <a:off x="179388" y="1412875"/>
            <a:ext cx="8702675" cy="1312863"/>
          </a:xfrm>
          <a:prstGeom prst="rect">
            <a:avLst/>
          </a:prstGeom>
          <a:noFill/>
          <a:ln w="9525">
            <a:noFill/>
            <a:miter lim="800000"/>
            <a:headEnd/>
            <a:tailEnd/>
          </a:ln>
        </p:spPr>
        <p:txBody>
          <a:bodyPr>
            <a:spAutoFit/>
          </a:bodyPr>
          <a:lstStyle/>
          <a:p>
            <a:pPr>
              <a:lnSpc>
                <a:spcPct val="115000"/>
              </a:lnSpc>
            </a:pP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描述系统</a:t>
            </a:r>
            <a:r>
              <a:rPr lang="zh-CN" altLang="en-US" sz="2400" b="1">
                <a:solidFill>
                  <a:srgbClr val="FF6600"/>
                </a:solidFill>
                <a:latin typeface="楷体_GB2312" pitchFamily="49" charset="-122"/>
                <a:ea typeface="楷体_GB2312" pitchFamily="49" charset="-122"/>
              </a:rPr>
              <a:t>整体特征</a:t>
            </a:r>
            <a:r>
              <a:rPr lang="zh-CN" altLang="en-US" sz="2400" b="1">
                <a:latin typeface="楷体_GB2312" pitchFamily="49" charset="-122"/>
                <a:ea typeface="楷体_GB2312" pitchFamily="49" charset="-122"/>
              </a:rPr>
              <a:t>的物理量。如系统的总质量、气体的压强、体积、温度、内能等。宏观量是可以直接用仪器测量的物理量，而且一般能被人的感官所觉察。</a:t>
            </a:r>
          </a:p>
        </p:txBody>
      </p:sp>
      <p:sp>
        <p:nvSpPr>
          <p:cNvPr id="194563" name="Rectangle 3"/>
          <p:cNvSpPr>
            <a:spLocks noChangeArrowheads="1"/>
          </p:cNvSpPr>
          <p:nvPr/>
        </p:nvSpPr>
        <p:spPr bwMode="auto">
          <a:xfrm>
            <a:off x="179388" y="468313"/>
            <a:ext cx="5116512" cy="479425"/>
          </a:xfrm>
          <a:prstGeom prst="rect">
            <a:avLst/>
          </a:prstGeom>
          <a:noFill/>
          <a:ln w="9525" algn="ctr">
            <a:noFill/>
            <a:miter lim="800000"/>
            <a:headEnd/>
            <a:tailEnd/>
          </a:ln>
        </p:spPr>
        <p:txBody>
          <a:bodyPr>
            <a:spAutoFit/>
          </a:bodyPr>
          <a:lstStyle/>
          <a:p>
            <a:pPr>
              <a:lnSpc>
                <a:spcPct val="115000"/>
              </a:lnSpc>
            </a:pPr>
            <a:r>
              <a:rPr lang="en-US" altLang="zh-CN" sz="2400" b="1">
                <a:solidFill>
                  <a:srgbClr val="0000FF"/>
                </a:solidFill>
                <a:latin typeface="Times New Roman" pitchFamily="18" charset="0"/>
                <a:cs typeface="Times New Roman" pitchFamily="18" charset="0"/>
              </a:rPr>
              <a:t>4</a:t>
            </a:r>
            <a:r>
              <a:rPr lang="zh-CN" altLang="en-US" sz="2400" b="1">
                <a:solidFill>
                  <a:srgbClr val="0000FF"/>
                </a:solidFill>
                <a:latin typeface="Times New Roman" pitchFamily="18" charset="0"/>
                <a:cs typeface="Times New Roman" pitchFamily="18" charset="0"/>
              </a:rPr>
              <a:t>、</a:t>
            </a:r>
            <a:r>
              <a:rPr lang="zh-CN" altLang="en-US" sz="2400" b="1">
                <a:solidFill>
                  <a:srgbClr val="0000FF"/>
                </a:solidFill>
                <a:latin typeface="Times New Roman" pitchFamily="18" charset="0"/>
              </a:rPr>
              <a:t>宏观量与微观量</a:t>
            </a:r>
          </a:p>
        </p:txBody>
      </p:sp>
      <p:sp>
        <p:nvSpPr>
          <p:cNvPr id="194564" name="Rectangle 4"/>
          <p:cNvSpPr>
            <a:spLocks noChangeArrowheads="1"/>
          </p:cNvSpPr>
          <p:nvPr/>
        </p:nvSpPr>
        <p:spPr bwMode="auto">
          <a:xfrm>
            <a:off x="107950" y="981075"/>
            <a:ext cx="2430463" cy="517525"/>
          </a:xfrm>
          <a:prstGeom prst="rect">
            <a:avLst/>
          </a:prstGeom>
          <a:noFill/>
          <a:ln w="9525" algn="ctr">
            <a:noFill/>
            <a:miter lim="800000"/>
            <a:headEnd/>
            <a:tailEnd/>
          </a:ln>
        </p:spPr>
        <p:txBody>
          <a:bodyPr>
            <a:spAutoFit/>
          </a:bodyPr>
          <a:lstStyle/>
          <a:p>
            <a:pPr>
              <a:lnSpc>
                <a:spcPct val="115000"/>
              </a:lnSpc>
              <a:defRPr/>
            </a:pPr>
            <a:r>
              <a:rPr lang="en-US" altLang="zh-CN" sz="2400" b="1" dirty="0">
                <a:solidFill>
                  <a:srgbClr val="FF0000"/>
                </a:solidFill>
                <a:latin typeface="+mn-ea"/>
                <a:ea typeface="+mn-ea"/>
              </a:rPr>
              <a:t>①  </a:t>
            </a:r>
            <a:r>
              <a:rPr lang="zh-CN" altLang="en-US" sz="2400" b="1" dirty="0">
                <a:solidFill>
                  <a:srgbClr val="FF0000"/>
                </a:solidFill>
                <a:latin typeface="+mn-ea"/>
                <a:ea typeface="+mn-ea"/>
              </a:rPr>
              <a:t>宏观量</a:t>
            </a:r>
          </a:p>
        </p:txBody>
      </p:sp>
      <p:sp>
        <p:nvSpPr>
          <p:cNvPr id="194565" name="Rectangle 5"/>
          <p:cNvSpPr>
            <a:spLocks noChangeArrowheads="1"/>
          </p:cNvSpPr>
          <p:nvPr/>
        </p:nvSpPr>
        <p:spPr bwMode="auto">
          <a:xfrm>
            <a:off x="179388" y="2708275"/>
            <a:ext cx="2386012" cy="517525"/>
          </a:xfrm>
          <a:prstGeom prst="rect">
            <a:avLst/>
          </a:prstGeom>
          <a:noFill/>
          <a:ln w="9525" algn="ctr">
            <a:noFill/>
            <a:miter lim="800000"/>
            <a:headEnd/>
            <a:tailEnd/>
          </a:ln>
        </p:spPr>
        <p:txBody>
          <a:bodyPr>
            <a:spAutoFit/>
          </a:bodyPr>
          <a:lstStyle/>
          <a:p>
            <a:pPr>
              <a:lnSpc>
                <a:spcPct val="115000"/>
              </a:lnSpc>
              <a:defRPr/>
            </a:pPr>
            <a:r>
              <a:rPr lang="en-US" altLang="zh-CN" sz="2400" b="1">
                <a:solidFill>
                  <a:srgbClr val="FF0000"/>
                </a:solidFill>
                <a:latin typeface="+mn-ea"/>
                <a:ea typeface="+mn-ea"/>
              </a:rPr>
              <a:t>②  </a:t>
            </a:r>
            <a:r>
              <a:rPr lang="zh-CN" altLang="en-US" sz="2400" b="1">
                <a:solidFill>
                  <a:srgbClr val="FF0000"/>
                </a:solidFill>
                <a:latin typeface="+mn-ea"/>
                <a:ea typeface="+mn-ea"/>
              </a:rPr>
              <a:t>微观量</a:t>
            </a:r>
          </a:p>
        </p:txBody>
      </p:sp>
      <p:sp>
        <p:nvSpPr>
          <p:cNvPr id="194566" name="Rectangle 6"/>
          <p:cNvSpPr>
            <a:spLocks noChangeArrowheads="1"/>
          </p:cNvSpPr>
          <p:nvPr/>
        </p:nvSpPr>
        <p:spPr bwMode="auto">
          <a:xfrm>
            <a:off x="250825" y="3213100"/>
            <a:ext cx="8464550" cy="941388"/>
          </a:xfrm>
          <a:prstGeom prst="rect">
            <a:avLst/>
          </a:prstGeom>
          <a:noFill/>
          <a:ln w="9525" algn="ctr">
            <a:noFill/>
            <a:miter lim="800000"/>
            <a:headEnd/>
            <a:tailEnd/>
          </a:ln>
        </p:spPr>
        <p:txBody>
          <a:bodyPr>
            <a:spAutoFit/>
          </a:bodyPr>
          <a:lstStyle/>
          <a:p>
            <a:pPr>
              <a:lnSpc>
                <a:spcPct val="115000"/>
              </a:lnSpc>
            </a:pPr>
            <a:r>
              <a:rPr lang="en-US" altLang="zh-CN" sz="2400" b="1">
                <a:latin typeface="Times New Roman" pitchFamily="18" charset="0"/>
                <a:ea typeface="楷体_GB2312" pitchFamily="49" charset="-122"/>
              </a:rPr>
              <a:t>        </a:t>
            </a:r>
            <a:r>
              <a:rPr lang="zh-CN" altLang="en-US" sz="2400" b="1">
                <a:latin typeface="Times New Roman" pitchFamily="18" charset="0"/>
                <a:ea typeface="楷体_GB2312" pitchFamily="49" charset="-122"/>
              </a:rPr>
              <a:t>描述</a:t>
            </a:r>
            <a:r>
              <a:rPr lang="zh-CN" altLang="en-US" sz="2400" b="1">
                <a:solidFill>
                  <a:srgbClr val="FF6600"/>
                </a:solidFill>
                <a:latin typeface="Times New Roman" pitchFamily="18" charset="0"/>
                <a:ea typeface="楷体_GB2312" pitchFamily="49" charset="-122"/>
              </a:rPr>
              <a:t>单个粒子行为</a:t>
            </a:r>
            <a:r>
              <a:rPr lang="zh-CN" altLang="en-US" sz="2400" b="1">
                <a:latin typeface="Times New Roman" pitchFamily="18" charset="0"/>
                <a:ea typeface="楷体_GB2312" pitchFamily="49" charset="-122"/>
              </a:rPr>
              <a:t>的物理量。如单个粒子的质量、速度、动量、动能等。微观量一般不能直接测量。</a:t>
            </a:r>
          </a:p>
        </p:txBody>
      </p:sp>
      <p:sp>
        <p:nvSpPr>
          <p:cNvPr id="194567" name="Rectangle 7"/>
          <p:cNvSpPr>
            <a:spLocks noChangeArrowheads="1"/>
          </p:cNvSpPr>
          <p:nvPr/>
        </p:nvSpPr>
        <p:spPr bwMode="auto">
          <a:xfrm>
            <a:off x="127000" y="4140200"/>
            <a:ext cx="4949825" cy="517525"/>
          </a:xfrm>
          <a:prstGeom prst="rect">
            <a:avLst/>
          </a:prstGeom>
          <a:noFill/>
          <a:ln w="9525" algn="ctr">
            <a:noFill/>
            <a:miter lim="800000"/>
            <a:headEnd/>
            <a:tailEnd/>
          </a:ln>
        </p:spPr>
        <p:txBody>
          <a:bodyPr>
            <a:spAutoFit/>
          </a:bodyPr>
          <a:lstStyle/>
          <a:p>
            <a:pPr>
              <a:lnSpc>
                <a:spcPct val="115000"/>
              </a:lnSpc>
              <a:defRPr/>
            </a:pPr>
            <a:r>
              <a:rPr lang="en-US" altLang="zh-CN" sz="2400" b="1">
                <a:solidFill>
                  <a:srgbClr val="FF0000"/>
                </a:solidFill>
                <a:latin typeface="+mn-ea"/>
                <a:ea typeface="+mn-ea"/>
              </a:rPr>
              <a:t>③  </a:t>
            </a:r>
            <a:r>
              <a:rPr lang="zh-CN" altLang="en-US" sz="2400" b="1">
                <a:solidFill>
                  <a:srgbClr val="FF0000"/>
                </a:solidFill>
                <a:latin typeface="+mn-ea"/>
                <a:ea typeface="+mn-ea"/>
              </a:rPr>
              <a:t>宏观量与微观量的关系</a:t>
            </a:r>
          </a:p>
        </p:txBody>
      </p:sp>
      <p:sp>
        <p:nvSpPr>
          <p:cNvPr id="194568" name="Rectangle 8"/>
          <p:cNvSpPr>
            <a:spLocks noChangeArrowheads="1"/>
          </p:cNvSpPr>
          <p:nvPr/>
        </p:nvSpPr>
        <p:spPr bwMode="auto">
          <a:xfrm>
            <a:off x="107950" y="4652963"/>
            <a:ext cx="8686800" cy="900112"/>
          </a:xfrm>
          <a:prstGeom prst="rect">
            <a:avLst/>
          </a:prstGeom>
          <a:noFill/>
          <a:ln w="9525" algn="ctr">
            <a:noFill/>
            <a:miter lim="800000"/>
            <a:headEnd/>
            <a:tailEnd/>
          </a:ln>
        </p:spPr>
        <p:txBody>
          <a:bodyPr>
            <a:spAutoFit/>
          </a:bodyPr>
          <a:lstStyle/>
          <a:p>
            <a:pPr>
              <a:lnSpc>
                <a:spcPct val="115000"/>
              </a:lnSpc>
            </a:pPr>
            <a:r>
              <a:rPr lang="en-US" altLang="zh-CN" sz="2400" b="1">
                <a:latin typeface="Symbol" pitchFamily="18" charset="2"/>
                <a:ea typeface="楷体_GB2312" pitchFamily="49" charset="-122"/>
              </a:rPr>
              <a:t>        </a:t>
            </a:r>
            <a:r>
              <a:rPr lang="zh-CN" altLang="en-US" sz="2400" b="1">
                <a:latin typeface="Symbol" pitchFamily="18" charset="2"/>
                <a:ea typeface="楷体_GB2312" pitchFamily="49" charset="-122"/>
              </a:rPr>
              <a:t>给定某一宏观状态，系统的微观状态仍可以是各式各样的，但不同的宏观状态所对应的微观状态数不同。</a:t>
            </a:r>
          </a:p>
        </p:txBody>
      </p:sp>
      <p:sp>
        <p:nvSpPr>
          <p:cNvPr id="194569" name="Text Box 9"/>
          <p:cNvSpPr txBox="1">
            <a:spLocks noChangeArrowheads="1"/>
          </p:cNvSpPr>
          <p:nvPr/>
        </p:nvSpPr>
        <p:spPr bwMode="auto">
          <a:xfrm>
            <a:off x="1143000" y="5638800"/>
            <a:ext cx="6357938" cy="933450"/>
          </a:xfrm>
          <a:prstGeom prst="rect">
            <a:avLst/>
          </a:prstGeom>
          <a:noFill/>
          <a:ln w="9525">
            <a:noFill/>
            <a:miter lim="800000"/>
            <a:headEnd/>
            <a:tailEnd/>
          </a:ln>
        </p:spPr>
        <p:txBody>
          <a:bodyPr>
            <a:spAutoFit/>
          </a:bodyPr>
          <a:lstStyle/>
          <a:p>
            <a:pPr>
              <a:lnSpc>
                <a:spcPct val="115000"/>
              </a:lnSpc>
              <a:defRPr/>
            </a:pPr>
            <a:r>
              <a:rPr lang="zh-CN" altLang="en-US" sz="2400" b="1" dirty="0">
                <a:solidFill>
                  <a:srgbClr val="0000FF"/>
                </a:solidFill>
                <a:latin typeface="+mn-ea"/>
                <a:ea typeface="+mn-ea"/>
              </a:rPr>
              <a:t>系统的宏观量都是所有可能的微观状态中相应的微观量的统计平均值 。        </a:t>
            </a:r>
          </a:p>
        </p:txBody>
      </p:sp>
      <p:sp>
        <p:nvSpPr>
          <p:cNvPr id="10" name="AutoShape 6"/>
          <p:cNvSpPr>
            <a:spLocks noChangeArrowheads="1"/>
          </p:cNvSpPr>
          <p:nvPr/>
        </p:nvSpPr>
        <p:spPr bwMode="auto">
          <a:xfrm>
            <a:off x="706438" y="5616575"/>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3"/>
                                        </p:tgtEl>
                                        <p:attrNameLst>
                                          <p:attrName>style.visibility</p:attrName>
                                        </p:attrNameLst>
                                      </p:cBhvr>
                                      <p:to>
                                        <p:strVal val="visible"/>
                                      </p:to>
                                    </p:set>
                                    <p:animEffect transition="in" filter="wipe(left)">
                                      <p:cBhvr>
                                        <p:cTn id="7" dur="500"/>
                                        <p:tgtEl>
                                          <p:spTgt spid="1945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64"/>
                                        </p:tgtEl>
                                        <p:attrNameLst>
                                          <p:attrName>style.visibility</p:attrName>
                                        </p:attrNameLst>
                                      </p:cBhvr>
                                      <p:to>
                                        <p:strVal val="visible"/>
                                      </p:to>
                                    </p:set>
                                    <p:animEffect transition="in" filter="wipe(left)">
                                      <p:cBhvr>
                                        <p:cTn id="12" dur="500"/>
                                        <p:tgtEl>
                                          <p:spTgt spid="1945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62"/>
                                        </p:tgtEl>
                                        <p:attrNameLst>
                                          <p:attrName>style.visibility</p:attrName>
                                        </p:attrNameLst>
                                      </p:cBhvr>
                                      <p:to>
                                        <p:strVal val="visible"/>
                                      </p:to>
                                    </p:set>
                                    <p:animEffect transition="in" filter="wipe(left)">
                                      <p:cBhvr>
                                        <p:cTn id="17" dur="500"/>
                                        <p:tgtEl>
                                          <p:spTgt spid="1945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65"/>
                                        </p:tgtEl>
                                        <p:attrNameLst>
                                          <p:attrName>style.visibility</p:attrName>
                                        </p:attrNameLst>
                                      </p:cBhvr>
                                      <p:to>
                                        <p:strVal val="visible"/>
                                      </p:to>
                                    </p:set>
                                    <p:animEffect transition="in" filter="wipe(left)">
                                      <p:cBhvr>
                                        <p:cTn id="22" dur="500"/>
                                        <p:tgtEl>
                                          <p:spTgt spid="1945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566"/>
                                        </p:tgtEl>
                                        <p:attrNameLst>
                                          <p:attrName>style.visibility</p:attrName>
                                        </p:attrNameLst>
                                      </p:cBhvr>
                                      <p:to>
                                        <p:strVal val="visible"/>
                                      </p:to>
                                    </p:set>
                                    <p:animEffect transition="in" filter="wipe(left)">
                                      <p:cBhvr>
                                        <p:cTn id="27" dur="500"/>
                                        <p:tgtEl>
                                          <p:spTgt spid="1945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4567"/>
                                        </p:tgtEl>
                                        <p:attrNameLst>
                                          <p:attrName>style.visibility</p:attrName>
                                        </p:attrNameLst>
                                      </p:cBhvr>
                                      <p:to>
                                        <p:strVal val="visible"/>
                                      </p:to>
                                    </p:set>
                                    <p:animEffect transition="in" filter="wipe(left)">
                                      <p:cBhvr>
                                        <p:cTn id="32" dur="500"/>
                                        <p:tgtEl>
                                          <p:spTgt spid="19456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4568"/>
                                        </p:tgtEl>
                                        <p:attrNameLst>
                                          <p:attrName>style.visibility</p:attrName>
                                        </p:attrNameLst>
                                      </p:cBhvr>
                                      <p:to>
                                        <p:strVal val="visible"/>
                                      </p:to>
                                    </p:set>
                                    <p:animEffect transition="in" filter="wipe(left)">
                                      <p:cBhvr>
                                        <p:cTn id="37" dur="500"/>
                                        <p:tgtEl>
                                          <p:spTgt spid="194568"/>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strVal val="4*#ppt_w"/>
                                          </p:val>
                                        </p:tav>
                                        <p:tav tm="100000">
                                          <p:val>
                                            <p:strVal val="#ppt_w"/>
                                          </p:val>
                                        </p:tav>
                                      </p:tavLst>
                                    </p:anim>
                                    <p:anim calcmode="lin" valueType="num">
                                      <p:cBhvr>
                                        <p:cTn id="43" dur="500" fill="hold"/>
                                        <p:tgtEl>
                                          <p:spTgt spid="10"/>
                                        </p:tgtEl>
                                        <p:attrNameLst>
                                          <p:attrName>ppt_h</p:attrName>
                                        </p:attrNameLst>
                                      </p:cBhvr>
                                      <p:tavLst>
                                        <p:tav tm="0">
                                          <p:val>
                                            <p:strVal val="4*#ppt_h"/>
                                          </p:val>
                                        </p:tav>
                                        <p:tav tm="100000">
                                          <p:val>
                                            <p:strVal val="#ppt_h"/>
                                          </p:val>
                                        </p:tav>
                                      </p:tavLst>
                                    </p:anim>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94569"/>
                                        </p:tgtEl>
                                        <p:attrNameLst>
                                          <p:attrName>style.visibility</p:attrName>
                                        </p:attrNameLst>
                                      </p:cBhvr>
                                      <p:to>
                                        <p:strVal val="visible"/>
                                      </p:to>
                                    </p:set>
                                    <p:animEffect transition="in" filter="wipe(left)">
                                      <p:cBhvr>
                                        <p:cTn id="47" dur="500"/>
                                        <p:tgtEl>
                                          <p:spTgt spid="194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p:bldP spid="194563" grpId="0"/>
      <p:bldP spid="194564" grpId="0"/>
      <p:bldP spid="194565" grpId="0"/>
      <p:bldP spid="194566" grpId="0"/>
      <p:bldP spid="194567" grpId="0"/>
      <p:bldP spid="194568" grpId="0"/>
      <p:bldP spid="194569" grpId="0"/>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179388" y="357188"/>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8.1.3   </a:t>
            </a:r>
            <a:r>
              <a:rPr kumimoji="1" lang="zh-CN" altLang="en-US" sz="2400" b="1">
                <a:solidFill>
                  <a:srgbClr val="0000FF"/>
                </a:solidFill>
                <a:latin typeface="Times New Roman" pitchFamily="18" charset="0"/>
              </a:rPr>
              <a:t>统计方法对气体的应用</a:t>
            </a:r>
            <a:r>
              <a:rPr kumimoji="1" lang="zh-CN" altLang="en-US" sz="2400">
                <a:latin typeface="Times New Roman" pitchFamily="18" charset="0"/>
              </a:rPr>
              <a:t> </a:t>
            </a:r>
          </a:p>
        </p:txBody>
      </p:sp>
      <p:sp>
        <p:nvSpPr>
          <p:cNvPr id="32773" name="Rectangle 5"/>
          <p:cNvSpPr>
            <a:spLocks noChangeArrowheads="1"/>
          </p:cNvSpPr>
          <p:nvPr/>
        </p:nvSpPr>
        <p:spPr bwMode="auto">
          <a:xfrm>
            <a:off x="107950" y="958850"/>
            <a:ext cx="8569325" cy="457200"/>
          </a:xfrm>
          <a:prstGeom prst="rect">
            <a:avLst/>
          </a:prstGeom>
          <a:noFill/>
          <a:ln w="9525">
            <a:noFill/>
            <a:miter lim="800000"/>
            <a:headEnd/>
            <a:tailEnd/>
          </a:ln>
        </p:spPr>
        <p:txBody>
          <a:bodyPr>
            <a:spAutoFit/>
          </a:bodyPr>
          <a:lstStyle/>
          <a:p>
            <a:pPr>
              <a:defRPr/>
            </a:pPr>
            <a:r>
              <a:rPr lang="en-US" altLang="zh-CN" sz="2400" b="1" dirty="0">
                <a:solidFill>
                  <a:srgbClr val="FF0000"/>
                </a:solidFill>
                <a:latin typeface="Times New Roman" pitchFamily="18" charset="0"/>
                <a:ea typeface="+mn-ea"/>
                <a:cs typeface="Times New Roman" pitchFamily="18" charset="0"/>
              </a:rPr>
              <a:t>(1) </a:t>
            </a:r>
            <a:r>
              <a:rPr lang="zh-CN" altLang="en-US" sz="2400" b="1" dirty="0">
                <a:solidFill>
                  <a:srgbClr val="FF0000"/>
                </a:solidFill>
                <a:latin typeface="Times New Roman" pitchFamily="18" charset="0"/>
                <a:ea typeface="+mn-ea"/>
                <a:cs typeface="Times New Roman" pitchFamily="18" charset="0"/>
              </a:rPr>
              <a:t>平衡状态下气体分子沿各个方向运动的机会均等</a:t>
            </a:r>
          </a:p>
        </p:txBody>
      </p:sp>
      <p:graphicFrame>
        <p:nvGraphicFramePr>
          <p:cNvPr id="32776" name="Object 8"/>
          <p:cNvGraphicFramePr>
            <a:graphicFrameLocks noChangeAspect="1"/>
          </p:cNvGraphicFramePr>
          <p:nvPr/>
        </p:nvGraphicFramePr>
        <p:xfrm>
          <a:off x="900113" y="2109788"/>
          <a:ext cx="6046787" cy="1008062"/>
        </p:xfrm>
        <a:graphic>
          <a:graphicData uri="http://schemas.openxmlformats.org/presentationml/2006/ole">
            <p:oleObj spid="_x0000_s7170" name="公式" r:id="rId3" imgW="3352680" imgH="558720" progId="Equation.3">
              <p:embed/>
            </p:oleObj>
          </a:graphicData>
        </a:graphic>
      </p:graphicFrame>
      <p:graphicFrame>
        <p:nvGraphicFramePr>
          <p:cNvPr id="32777" name="Object 9"/>
          <p:cNvGraphicFramePr>
            <a:graphicFrameLocks noChangeAspect="1"/>
          </p:cNvGraphicFramePr>
          <p:nvPr/>
        </p:nvGraphicFramePr>
        <p:xfrm>
          <a:off x="900113" y="3190875"/>
          <a:ext cx="6021387" cy="1008063"/>
        </p:xfrm>
        <a:graphic>
          <a:graphicData uri="http://schemas.openxmlformats.org/presentationml/2006/ole">
            <p:oleObj spid="_x0000_s7171" name="公式" r:id="rId4" imgW="3340080" imgH="558720" progId="Equation.3">
              <p:embed/>
            </p:oleObj>
          </a:graphicData>
        </a:graphic>
      </p:graphicFrame>
      <p:graphicFrame>
        <p:nvGraphicFramePr>
          <p:cNvPr id="32778" name="Object 10"/>
          <p:cNvGraphicFramePr>
            <a:graphicFrameLocks noChangeAspect="1"/>
          </p:cNvGraphicFramePr>
          <p:nvPr/>
        </p:nvGraphicFramePr>
        <p:xfrm>
          <a:off x="957263" y="4198938"/>
          <a:ext cx="5930900" cy="1008062"/>
        </p:xfrm>
        <a:graphic>
          <a:graphicData uri="http://schemas.openxmlformats.org/presentationml/2006/ole">
            <p:oleObj spid="_x0000_s7172" name="公式" r:id="rId5" imgW="3288960" imgH="558720" progId="Equation.3">
              <p:embed/>
            </p:oleObj>
          </a:graphicData>
        </a:graphic>
      </p:graphicFrame>
      <p:graphicFrame>
        <p:nvGraphicFramePr>
          <p:cNvPr id="32779" name="Object 11"/>
          <p:cNvGraphicFramePr>
            <a:graphicFrameLocks noChangeAspect="1"/>
          </p:cNvGraphicFramePr>
          <p:nvPr/>
        </p:nvGraphicFramePr>
        <p:xfrm>
          <a:off x="3000375" y="5880100"/>
          <a:ext cx="1714500" cy="549275"/>
        </p:xfrm>
        <a:graphic>
          <a:graphicData uri="http://schemas.openxmlformats.org/presentationml/2006/ole">
            <p:oleObj spid="_x0000_s7173" name="Equation" r:id="rId6" imgW="749160" imgH="241200" progId="">
              <p:embed/>
            </p:oleObj>
          </a:graphicData>
        </a:graphic>
      </p:graphicFrame>
      <p:sp>
        <p:nvSpPr>
          <p:cNvPr id="32781" name="Rectangle 13"/>
          <p:cNvSpPr>
            <a:spLocks noChangeArrowheads="1"/>
          </p:cNvSpPr>
          <p:nvPr/>
        </p:nvSpPr>
        <p:spPr bwMode="auto">
          <a:xfrm>
            <a:off x="179388" y="1533525"/>
            <a:ext cx="6696075" cy="457200"/>
          </a:xfrm>
          <a:prstGeom prst="rect">
            <a:avLst/>
          </a:prstGeom>
          <a:noFill/>
          <a:ln w="9525">
            <a:noFill/>
            <a:miter lim="800000"/>
            <a:headEnd/>
            <a:tailEnd/>
          </a:ln>
        </p:spPr>
        <p:txBody>
          <a:bodyPr>
            <a:spAutoFit/>
          </a:bodyPr>
          <a:lstStyle/>
          <a:p>
            <a:pPr>
              <a:buClr>
                <a:srgbClr val="FF6600"/>
              </a:buClr>
              <a:buFont typeface="Wingdings" pitchFamily="2" charset="2"/>
              <a:buChar char="Ø"/>
            </a:pP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平衡态下，</a:t>
            </a:r>
            <a:r>
              <a:rPr lang="zh-CN" altLang="en-US" sz="2400" b="1">
                <a:solidFill>
                  <a:srgbClr val="FF6600"/>
                </a:solidFill>
                <a:latin typeface="楷体_GB2312" pitchFamily="49" charset="-122"/>
                <a:ea typeface="楷体_GB2312" pitchFamily="49" charset="-122"/>
              </a:rPr>
              <a:t>速率</a:t>
            </a:r>
            <a:r>
              <a:rPr lang="zh-CN" altLang="en-US" sz="2400" b="1">
                <a:latin typeface="楷体_GB2312" pitchFamily="49" charset="-122"/>
                <a:ea typeface="楷体_GB2312" pitchFamily="49" charset="-122"/>
              </a:rPr>
              <a:t>的统计平均值为：</a:t>
            </a:r>
          </a:p>
        </p:txBody>
      </p:sp>
      <p:sp>
        <p:nvSpPr>
          <p:cNvPr id="32782" name="Rectangle 14"/>
          <p:cNvSpPr>
            <a:spLocks noChangeArrowheads="1"/>
          </p:cNvSpPr>
          <p:nvPr/>
        </p:nvSpPr>
        <p:spPr bwMode="auto">
          <a:xfrm>
            <a:off x="571500" y="5349875"/>
            <a:ext cx="8215313" cy="517525"/>
          </a:xfrm>
          <a:prstGeom prst="rect">
            <a:avLst/>
          </a:prstGeom>
          <a:noFill/>
          <a:ln w="9525">
            <a:noFill/>
            <a:miter lim="800000"/>
            <a:headEnd/>
            <a:tailEnd/>
          </a:ln>
        </p:spPr>
        <p:txBody>
          <a:bodyPr anchor="ctr">
            <a:spAutoFit/>
          </a:bodyPr>
          <a:lstStyle/>
          <a:p>
            <a:pPr>
              <a:lnSpc>
                <a:spcPct val="115000"/>
              </a:lnSpc>
            </a:pPr>
            <a:r>
              <a:rPr lang="zh-CN" altLang="en-US" sz="2400" b="1">
                <a:latin typeface="楷体_GB2312" pitchFamily="49" charset="-122"/>
                <a:ea typeface="楷体_GB2312" pitchFamily="49" charset="-122"/>
                <a:cs typeface="Times New Roman" pitchFamily="18" charset="0"/>
              </a:rPr>
              <a:t>气体处于</a:t>
            </a:r>
            <a:r>
              <a:rPr lang="zh-CN" altLang="en-US" sz="2400" b="1">
                <a:solidFill>
                  <a:srgbClr val="FF6600"/>
                </a:solidFill>
                <a:latin typeface="楷体_GB2312" pitchFamily="49" charset="-122"/>
                <a:ea typeface="楷体_GB2312" pitchFamily="49" charset="-122"/>
                <a:cs typeface="Times New Roman" pitchFamily="18" charset="0"/>
              </a:rPr>
              <a:t>平衡状态</a:t>
            </a:r>
            <a:r>
              <a:rPr lang="zh-CN" altLang="en-US" sz="2400" b="1">
                <a:latin typeface="楷体_GB2312" pitchFamily="49" charset="-122"/>
                <a:ea typeface="楷体_GB2312" pitchFamily="49" charset="-122"/>
                <a:cs typeface="Times New Roman" pitchFamily="18" charset="0"/>
              </a:rPr>
              <a:t>时，气体分子沿各个方向运动的</a:t>
            </a:r>
            <a:r>
              <a:rPr lang="zh-CN" altLang="en-US" sz="2400" b="1">
                <a:solidFill>
                  <a:srgbClr val="FF6600"/>
                </a:solidFill>
                <a:latin typeface="楷体_GB2312" pitchFamily="49" charset="-122"/>
                <a:ea typeface="楷体_GB2312" pitchFamily="49" charset="-122"/>
                <a:cs typeface="Times New Roman" pitchFamily="18" charset="0"/>
              </a:rPr>
              <a:t>概率相等</a:t>
            </a:r>
            <a:endParaRPr lang="zh-CN" altLang="en-US" sz="2400" b="1">
              <a:latin typeface="楷体_GB2312" pitchFamily="49" charset="-122"/>
              <a:ea typeface="楷体_GB2312"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left)">
                                      <p:cBhvr>
                                        <p:cTn id="7" dur="2000"/>
                                        <p:tgtEl>
                                          <p:spTgt spid="327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773">
                                            <p:txEl>
                                              <p:pRg st="0" end="0"/>
                                            </p:txEl>
                                          </p:spTgt>
                                        </p:tgtEl>
                                        <p:attrNameLst>
                                          <p:attrName>style.visibility</p:attrName>
                                        </p:attrNameLst>
                                      </p:cBhvr>
                                      <p:to>
                                        <p:strVal val="visible"/>
                                      </p:to>
                                    </p:set>
                                    <p:animEffect transition="in" filter="dissolve">
                                      <p:cBhvr>
                                        <p:cTn id="12" dur="500"/>
                                        <p:tgtEl>
                                          <p:spTgt spid="3277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2781">
                                            <p:txEl>
                                              <p:pRg st="0" end="0"/>
                                            </p:txEl>
                                          </p:spTgt>
                                        </p:tgtEl>
                                        <p:attrNameLst>
                                          <p:attrName>style.visibility</p:attrName>
                                        </p:attrNameLst>
                                      </p:cBhvr>
                                      <p:to>
                                        <p:strVal val="visible"/>
                                      </p:to>
                                    </p:set>
                                    <p:animEffect transition="in" filter="dissolve">
                                      <p:cBhvr>
                                        <p:cTn id="17" dur="500"/>
                                        <p:tgtEl>
                                          <p:spTgt spid="3278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776"/>
                                        </p:tgtEl>
                                        <p:attrNameLst>
                                          <p:attrName>style.visibility</p:attrName>
                                        </p:attrNameLst>
                                      </p:cBhvr>
                                      <p:to>
                                        <p:strVal val="visible"/>
                                      </p:to>
                                    </p:set>
                                    <p:animEffect transition="in" filter="wipe(left)">
                                      <p:cBhvr>
                                        <p:cTn id="22" dur="500"/>
                                        <p:tgtEl>
                                          <p:spTgt spid="327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777"/>
                                        </p:tgtEl>
                                        <p:attrNameLst>
                                          <p:attrName>style.visibility</p:attrName>
                                        </p:attrNameLst>
                                      </p:cBhvr>
                                      <p:to>
                                        <p:strVal val="visible"/>
                                      </p:to>
                                    </p:set>
                                    <p:animEffect transition="in" filter="wipe(left)">
                                      <p:cBhvr>
                                        <p:cTn id="27" dur="500"/>
                                        <p:tgtEl>
                                          <p:spTgt spid="327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2778"/>
                                        </p:tgtEl>
                                        <p:attrNameLst>
                                          <p:attrName>style.visibility</p:attrName>
                                        </p:attrNameLst>
                                      </p:cBhvr>
                                      <p:to>
                                        <p:strVal val="visible"/>
                                      </p:to>
                                    </p:set>
                                    <p:animEffect transition="in" filter="wipe(left)">
                                      <p:cBhvr>
                                        <p:cTn id="32" dur="500"/>
                                        <p:tgtEl>
                                          <p:spTgt spid="327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782"/>
                                        </p:tgtEl>
                                        <p:attrNameLst>
                                          <p:attrName>style.visibility</p:attrName>
                                        </p:attrNameLst>
                                      </p:cBhvr>
                                      <p:to>
                                        <p:strVal val="visible"/>
                                      </p:to>
                                    </p:set>
                                    <p:animEffect transition="in" filter="wipe(left)">
                                      <p:cBhvr>
                                        <p:cTn id="37" dur="500"/>
                                        <p:tgtEl>
                                          <p:spTgt spid="327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2779"/>
                                        </p:tgtEl>
                                        <p:attrNameLst>
                                          <p:attrName>style.visibility</p:attrName>
                                        </p:attrNameLst>
                                      </p:cBhvr>
                                      <p:to>
                                        <p:strVal val="visible"/>
                                      </p:to>
                                    </p:set>
                                    <p:animEffect transition="in" filter="wipe(left)">
                                      <p:cBhvr>
                                        <p:cTn id="42" dur="500"/>
                                        <p:tgtEl>
                                          <p:spTgt spid="32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utoUpdateAnimBg="0"/>
      <p:bldP spid="3278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107950" y="549275"/>
            <a:ext cx="7947025" cy="457200"/>
          </a:xfrm>
          <a:prstGeom prst="rect">
            <a:avLst/>
          </a:prstGeom>
          <a:noFill/>
          <a:ln w="9525" algn="ctr">
            <a:noFill/>
            <a:miter lim="800000"/>
            <a:headEnd/>
            <a:tailEnd/>
          </a:ln>
        </p:spPr>
        <p:txBody>
          <a:bodyPr>
            <a:spAutoFit/>
          </a:bodyPr>
          <a:lstStyle/>
          <a:p>
            <a:pPr>
              <a:buClr>
                <a:srgbClr val="CC0000"/>
              </a:buClr>
              <a:buFont typeface="Wingdings" pitchFamily="2" charset="2"/>
              <a:buChar char="Ø"/>
              <a:defRPr/>
            </a:pPr>
            <a:r>
              <a:rPr lang="en-US" altLang="zh-CN" sz="2400" b="1" dirty="0">
                <a:solidFill>
                  <a:srgbClr val="FF0000"/>
                </a:solidFill>
                <a:latin typeface="+mn-ea"/>
                <a:ea typeface="+mn-ea"/>
              </a:rPr>
              <a:t> </a:t>
            </a:r>
            <a:r>
              <a:rPr lang="zh-CN" altLang="en-US" sz="2400" b="1" dirty="0">
                <a:latin typeface="+mn-ea"/>
                <a:ea typeface="+mn-ea"/>
              </a:rPr>
              <a:t>平衡态下，</a:t>
            </a:r>
            <a:r>
              <a:rPr lang="zh-CN" altLang="en-US" sz="2400" b="1" dirty="0">
                <a:solidFill>
                  <a:srgbClr val="FF6600"/>
                </a:solidFill>
                <a:latin typeface="+mn-ea"/>
                <a:ea typeface="+mn-ea"/>
              </a:rPr>
              <a:t>速度分量平方</a:t>
            </a:r>
            <a:r>
              <a:rPr lang="zh-CN" altLang="en-US" sz="2400" b="1" dirty="0">
                <a:latin typeface="+mn-ea"/>
                <a:ea typeface="+mn-ea"/>
              </a:rPr>
              <a:t>的统计平均值</a:t>
            </a:r>
            <a:endParaRPr lang="zh-CN" altLang="en-US" sz="2400" b="1" dirty="0">
              <a:solidFill>
                <a:srgbClr val="FF0000"/>
              </a:solidFill>
              <a:latin typeface="+mn-ea"/>
              <a:ea typeface="+mn-ea"/>
            </a:endParaRPr>
          </a:p>
        </p:txBody>
      </p:sp>
      <p:graphicFrame>
        <p:nvGraphicFramePr>
          <p:cNvPr id="196611" name="Object 3"/>
          <p:cNvGraphicFramePr>
            <a:graphicFrameLocks noChangeAspect="1"/>
          </p:cNvGraphicFramePr>
          <p:nvPr/>
        </p:nvGraphicFramePr>
        <p:xfrm>
          <a:off x="684213" y="1374775"/>
          <a:ext cx="1749425" cy="962025"/>
        </p:xfrm>
        <a:graphic>
          <a:graphicData uri="http://schemas.openxmlformats.org/presentationml/2006/ole">
            <p:oleObj spid="_x0000_s8194" name="公式" r:id="rId3" imgW="965160" imgH="533160" progId="Equation.3">
              <p:embed/>
            </p:oleObj>
          </a:graphicData>
        </a:graphic>
      </p:graphicFrame>
      <p:graphicFrame>
        <p:nvGraphicFramePr>
          <p:cNvPr id="196613" name="Object 5"/>
          <p:cNvGraphicFramePr>
            <a:graphicFrameLocks noChangeAspect="1"/>
          </p:cNvGraphicFramePr>
          <p:nvPr/>
        </p:nvGraphicFramePr>
        <p:xfrm>
          <a:off x="6804025" y="1712913"/>
          <a:ext cx="1630363" cy="525462"/>
        </p:xfrm>
        <a:graphic>
          <a:graphicData uri="http://schemas.openxmlformats.org/presentationml/2006/ole">
            <p:oleObj spid="_x0000_s8195" name="公式" r:id="rId4" imgW="901440" imgH="291960" progId="Equation.3">
              <p:embed/>
            </p:oleObj>
          </a:graphicData>
        </a:graphic>
      </p:graphicFrame>
      <p:graphicFrame>
        <p:nvGraphicFramePr>
          <p:cNvPr id="196615" name="Object 7"/>
          <p:cNvGraphicFramePr>
            <a:graphicFrameLocks noChangeAspect="1"/>
          </p:cNvGraphicFramePr>
          <p:nvPr/>
        </p:nvGraphicFramePr>
        <p:xfrm>
          <a:off x="2484438" y="1389063"/>
          <a:ext cx="4224337" cy="960437"/>
        </p:xfrm>
        <a:graphic>
          <a:graphicData uri="http://schemas.openxmlformats.org/presentationml/2006/ole">
            <p:oleObj spid="_x0000_s8196" name="公式" r:id="rId5" imgW="2349360" imgH="533160" progId="Equation.3">
              <p:embed/>
            </p:oleObj>
          </a:graphicData>
        </a:graphic>
      </p:graphicFrame>
      <p:graphicFrame>
        <p:nvGraphicFramePr>
          <p:cNvPr id="196619" name="Object 11"/>
          <p:cNvGraphicFramePr>
            <a:graphicFrameLocks noChangeAspect="1"/>
          </p:cNvGraphicFramePr>
          <p:nvPr/>
        </p:nvGraphicFramePr>
        <p:xfrm>
          <a:off x="3286125" y="3500438"/>
          <a:ext cx="2473325" cy="808037"/>
        </p:xfrm>
        <a:graphic>
          <a:graphicData uri="http://schemas.openxmlformats.org/presentationml/2006/ole">
            <p:oleObj spid="_x0000_s8197" name="Equation" r:id="rId6" imgW="1193760" imgH="393480" progId="">
              <p:embed/>
            </p:oleObj>
          </a:graphicData>
        </a:graphic>
      </p:graphicFrame>
      <p:sp>
        <p:nvSpPr>
          <p:cNvPr id="196620" name="Rectangle 12"/>
          <p:cNvSpPr>
            <a:spLocks noChangeArrowheads="1"/>
          </p:cNvSpPr>
          <p:nvPr/>
        </p:nvSpPr>
        <p:spPr bwMode="auto">
          <a:xfrm>
            <a:off x="642938" y="2500313"/>
            <a:ext cx="7604125" cy="887412"/>
          </a:xfrm>
          <a:prstGeom prst="rect">
            <a:avLst/>
          </a:prstGeom>
          <a:noFill/>
          <a:ln w="9525">
            <a:noFill/>
            <a:miter lim="800000"/>
            <a:headEnd/>
            <a:tailEnd/>
          </a:ln>
        </p:spPr>
        <p:txBody>
          <a:bodyPr anchor="ctr">
            <a:spAutoFit/>
          </a:bodyPr>
          <a:lstStyle/>
          <a:p>
            <a:pPr>
              <a:lnSpc>
                <a:spcPct val="115000"/>
              </a:lnSpc>
              <a:defRPr/>
            </a:pPr>
            <a:r>
              <a:rPr lang="zh-CN" altLang="en-US" sz="2400" b="1">
                <a:latin typeface="+mn-ea"/>
                <a:ea typeface="+mn-ea"/>
                <a:cs typeface="Times New Roman" pitchFamily="18" charset="0"/>
              </a:rPr>
              <a:t>    由于气体处于</a:t>
            </a:r>
            <a:r>
              <a:rPr lang="zh-CN" altLang="en-US" sz="2400" b="1">
                <a:solidFill>
                  <a:srgbClr val="FF6600"/>
                </a:solidFill>
                <a:latin typeface="+mn-ea"/>
                <a:ea typeface="+mn-ea"/>
                <a:cs typeface="Times New Roman" pitchFamily="18" charset="0"/>
              </a:rPr>
              <a:t>平衡状态</a:t>
            </a:r>
            <a:r>
              <a:rPr lang="zh-CN" altLang="en-US" sz="2400" b="1">
                <a:latin typeface="+mn-ea"/>
                <a:ea typeface="+mn-ea"/>
                <a:cs typeface="Times New Roman" pitchFamily="18" charset="0"/>
              </a:rPr>
              <a:t>时，气体分子沿各个方向运动的</a:t>
            </a:r>
            <a:r>
              <a:rPr lang="zh-CN" altLang="en-US" sz="2400" b="1">
                <a:solidFill>
                  <a:srgbClr val="FF6600"/>
                </a:solidFill>
                <a:latin typeface="+mn-ea"/>
                <a:ea typeface="+mn-ea"/>
                <a:cs typeface="Times New Roman" pitchFamily="18" charset="0"/>
              </a:rPr>
              <a:t>概率相等</a:t>
            </a:r>
            <a:r>
              <a:rPr lang="zh-CN" altLang="en-US" sz="2400" b="1">
                <a:latin typeface="+mn-ea"/>
                <a:ea typeface="+mn-ea"/>
                <a:cs typeface="Times New Roman" pitchFamily="18" charset="0"/>
              </a:rPr>
              <a:t>，故有 </a:t>
            </a:r>
          </a:p>
        </p:txBody>
      </p:sp>
      <p:sp>
        <p:nvSpPr>
          <p:cNvPr id="196621" name="AutoShape 13"/>
          <p:cNvSpPr>
            <a:spLocks noChangeArrowheads="1"/>
          </p:cNvSpPr>
          <p:nvPr/>
        </p:nvSpPr>
        <p:spPr bwMode="auto">
          <a:xfrm>
            <a:off x="206375" y="422116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
        <p:nvSpPr>
          <p:cNvPr id="196622" name="Text Box 14"/>
          <p:cNvSpPr txBox="1">
            <a:spLocks noChangeArrowheads="1"/>
          </p:cNvSpPr>
          <p:nvPr/>
        </p:nvSpPr>
        <p:spPr bwMode="auto">
          <a:xfrm>
            <a:off x="611188" y="4292600"/>
            <a:ext cx="1512887" cy="457200"/>
          </a:xfrm>
          <a:prstGeom prst="rect">
            <a:avLst/>
          </a:prstGeom>
          <a:noFill/>
          <a:ln w="9525">
            <a:noFill/>
            <a:miter lim="800000"/>
            <a:headEnd/>
            <a:tailEnd/>
          </a:ln>
        </p:spPr>
        <p:txBody>
          <a:bodyPr>
            <a:spAutoFit/>
          </a:bodyPr>
          <a:lstStyle/>
          <a:p>
            <a:pPr>
              <a:buFont typeface="Wingdings" pitchFamily="2" charset="2"/>
              <a:buNone/>
            </a:pPr>
            <a:r>
              <a:rPr kumimoji="1" lang="zh-CN" altLang="en-US" sz="2400" b="1">
                <a:solidFill>
                  <a:srgbClr val="FF3300"/>
                </a:solidFill>
                <a:latin typeface="宋体" charset="-122"/>
              </a:rPr>
              <a:t>注意</a:t>
            </a:r>
          </a:p>
        </p:txBody>
      </p:sp>
      <p:grpSp>
        <p:nvGrpSpPr>
          <p:cNvPr id="2" name="组合 14"/>
          <p:cNvGrpSpPr>
            <a:grpSpLocks/>
          </p:cNvGrpSpPr>
          <p:nvPr/>
        </p:nvGrpSpPr>
        <p:grpSpPr bwMode="auto">
          <a:xfrm>
            <a:off x="468313" y="4714875"/>
            <a:ext cx="7742237" cy="1533525"/>
            <a:chOff x="468313" y="4883150"/>
            <a:chExt cx="7742237" cy="1532727"/>
          </a:xfrm>
        </p:grpSpPr>
        <p:sp>
          <p:nvSpPr>
            <p:cNvPr id="8205" name="Rectangle 16"/>
            <p:cNvSpPr>
              <a:spLocks noChangeArrowheads="1"/>
            </p:cNvSpPr>
            <p:nvPr/>
          </p:nvSpPr>
          <p:spPr bwMode="auto">
            <a:xfrm>
              <a:off x="468313" y="4883150"/>
              <a:ext cx="7742237" cy="1532727"/>
            </a:xfrm>
            <a:prstGeom prst="rect">
              <a:avLst/>
            </a:prstGeom>
            <a:noFill/>
            <a:ln w="9525">
              <a:noFill/>
              <a:miter lim="800000"/>
              <a:headEnd/>
              <a:tailEnd/>
            </a:ln>
          </p:spPr>
          <p:txBody>
            <a:bodyPr anchor="ctr">
              <a:spAutoFit/>
            </a:bodyPr>
            <a:lstStyle/>
            <a:p>
              <a:pPr>
                <a:lnSpc>
                  <a:spcPct val="130000"/>
                </a:lnSpc>
                <a:defRPr/>
              </a:pPr>
              <a:r>
                <a:rPr lang="zh-CN" altLang="en-US" sz="2400" b="1" dirty="0">
                  <a:latin typeface="+mn-ea"/>
                  <a:ea typeface="+mn-ea"/>
                  <a:cs typeface="Times New Roman" pitchFamily="18" charset="0"/>
                </a:rPr>
                <a:t>    以上各式中的           以及  都是统计平均值，是对大量分子而言，即总分子数必须充分大，就某一个分子而言，其等式不见得成立。 </a:t>
              </a:r>
            </a:p>
          </p:txBody>
        </p:sp>
        <p:graphicFrame>
          <p:nvGraphicFramePr>
            <p:cNvPr id="8198" name="Object 17"/>
            <p:cNvGraphicFramePr>
              <a:graphicFrameLocks/>
            </p:cNvGraphicFramePr>
            <p:nvPr/>
          </p:nvGraphicFramePr>
          <p:xfrm>
            <a:off x="3143240" y="4975239"/>
            <a:ext cx="1533525" cy="525463"/>
          </p:xfrm>
          <a:graphic>
            <a:graphicData uri="http://schemas.openxmlformats.org/presentationml/2006/ole">
              <p:oleObj spid="_x0000_s8198" name="公式" r:id="rId7" imgW="850680" imgH="291960" progId="Equation.3">
                <p:embed/>
              </p:oleObj>
            </a:graphicData>
          </a:graphic>
        </p:graphicFrame>
        <p:graphicFrame>
          <p:nvGraphicFramePr>
            <p:cNvPr id="8199" name="Object 18"/>
            <p:cNvGraphicFramePr>
              <a:graphicFrameLocks/>
            </p:cNvGraphicFramePr>
            <p:nvPr/>
          </p:nvGraphicFramePr>
          <p:xfrm>
            <a:off x="5357818" y="5072074"/>
            <a:ext cx="227012" cy="295275"/>
          </p:xfrm>
          <a:graphic>
            <a:graphicData uri="http://schemas.openxmlformats.org/presentationml/2006/ole">
              <p:oleObj spid="_x0000_s8199" name="公式" r:id="rId8" imgW="126720" imgH="1648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0"/>
                                        </p:tgtEl>
                                        <p:attrNameLst>
                                          <p:attrName>style.visibility</p:attrName>
                                        </p:attrNameLst>
                                      </p:cBhvr>
                                      <p:to>
                                        <p:strVal val="visible"/>
                                      </p:to>
                                    </p:set>
                                    <p:animEffect transition="in" filter="wipe(left)">
                                      <p:cBhvr>
                                        <p:cTn id="7" dur="500"/>
                                        <p:tgtEl>
                                          <p:spTgt spid="1966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6611"/>
                                        </p:tgtEl>
                                        <p:attrNameLst>
                                          <p:attrName>style.visibility</p:attrName>
                                        </p:attrNameLst>
                                      </p:cBhvr>
                                      <p:to>
                                        <p:strVal val="visible"/>
                                      </p:to>
                                    </p:set>
                                    <p:animEffect transition="in" filter="wipe(left)">
                                      <p:cBhvr>
                                        <p:cTn id="12" dur="500"/>
                                        <p:tgtEl>
                                          <p:spTgt spid="1966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6615"/>
                                        </p:tgtEl>
                                        <p:attrNameLst>
                                          <p:attrName>style.visibility</p:attrName>
                                        </p:attrNameLst>
                                      </p:cBhvr>
                                      <p:to>
                                        <p:strVal val="visible"/>
                                      </p:to>
                                    </p:set>
                                    <p:animEffect transition="in" filter="wipe(left)">
                                      <p:cBhvr>
                                        <p:cTn id="17" dur="500"/>
                                        <p:tgtEl>
                                          <p:spTgt spid="1966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6613"/>
                                        </p:tgtEl>
                                        <p:attrNameLst>
                                          <p:attrName>style.visibility</p:attrName>
                                        </p:attrNameLst>
                                      </p:cBhvr>
                                      <p:to>
                                        <p:strVal val="visible"/>
                                      </p:to>
                                    </p:set>
                                    <p:animEffect transition="in" filter="wipe(left)">
                                      <p:cBhvr>
                                        <p:cTn id="22" dur="500"/>
                                        <p:tgtEl>
                                          <p:spTgt spid="1966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6620"/>
                                        </p:tgtEl>
                                        <p:attrNameLst>
                                          <p:attrName>style.visibility</p:attrName>
                                        </p:attrNameLst>
                                      </p:cBhvr>
                                      <p:to>
                                        <p:strVal val="visible"/>
                                      </p:to>
                                    </p:set>
                                    <p:animEffect transition="in" filter="wipe(left)">
                                      <p:cBhvr>
                                        <p:cTn id="27" dur="500"/>
                                        <p:tgtEl>
                                          <p:spTgt spid="1966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96619"/>
                                        </p:tgtEl>
                                        <p:attrNameLst>
                                          <p:attrName>style.visibility</p:attrName>
                                        </p:attrNameLst>
                                      </p:cBhvr>
                                      <p:to>
                                        <p:strVal val="visible"/>
                                      </p:to>
                                    </p:set>
                                    <p:animEffect transition="in" filter="wipe(left)">
                                      <p:cBhvr>
                                        <p:cTn id="32" dur="500"/>
                                        <p:tgtEl>
                                          <p:spTgt spid="196619"/>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196621"/>
                                        </p:tgtEl>
                                        <p:attrNameLst>
                                          <p:attrName>style.visibility</p:attrName>
                                        </p:attrNameLst>
                                      </p:cBhvr>
                                      <p:to>
                                        <p:strVal val="visible"/>
                                      </p:to>
                                    </p:set>
                                    <p:anim calcmode="lin" valueType="num">
                                      <p:cBhvr>
                                        <p:cTn id="37" dur="500" fill="hold"/>
                                        <p:tgtEl>
                                          <p:spTgt spid="196621"/>
                                        </p:tgtEl>
                                        <p:attrNameLst>
                                          <p:attrName>ppt_w</p:attrName>
                                        </p:attrNameLst>
                                      </p:cBhvr>
                                      <p:tavLst>
                                        <p:tav tm="0">
                                          <p:val>
                                            <p:strVal val="4*#ppt_w"/>
                                          </p:val>
                                        </p:tav>
                                        <p:tav tm="100000">
                                          <p:val>
                                            <p:strVal val="#ppt_w"/>
                                          </p:val>
                                        </p:tav>
                                      </p:tavLst>
                                    </p:anim>
                                    <p:anim calcmode="lin" valueType="num">
                                      <p:cBhvr>
                                        <p:cTn id="38" dur="500" fill="hold"/>
                                        <p:tgtEl>
                                          <p:spTgt spid="196621"/>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6622"/>
                                        </p:tgtEl>
                                        <p:attrNameLst>
                                          <p:attrName>style.visibility</p:attrName>
                                        </p:attrNameLst>
                                      </p:cBhvr>
                                      <p:to>
                                        <p:strVal val="visible"/>
                                      </p:to>
                                    </p:set>
                                    <p:animEffect transition="in" filter="wipe(left)">
                                      <p:cBhvr>
                                        <p:cTn id="43" dur="500"/>
                                        <p:tgtEl>
                                          <p:spTgt spid="19662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p:bldP spid="196620" grpId="0"/>
      <p:bldP spid="196621" grpId="0" animBg="1"/>
      <p:bldP spid="1966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p:cNvSpPr>
            <a:spLocks noChangeArrowheads="1"/>
          </p:cNvSpPr>
          <p:nvPr/>
        </p:nvSpPr>
        <p:spPr bwMode="auto">
          <a:xfrm>
            <a:off x="142875" y="928688"/>
            <a:ext cx="7446963" cy="534987"/>
          </a:xfrm>
          <a:prstGeom prst="rect">
            <a:avLst/>
          </a:prstGeom>
          <a:noFill/>
          <a:ln w="9525">
            <a:noFill/>
            <a:miter lim="800000"/>
            <a:headEnd/>
            <a:tailEnd/>
          </a:ln>
        </p:spPr>
        <p:txBody>
          <a:bodyPr>
            <a:spAutoFit/>
          </a:bodyPr>
          <a:lstStyle/>
          <a:p>
            <a:pPr>
              <a:lnSpc>
                <a:spcPct val="120000"/>
              </a:lnSpc>
              <a:defRPr/>
            </a:pPr>
            <a:r>
              <a:rPr lang="en-US" altLang="zh-CN" sz="2400" b="1" dirty="0">
                <a:solidFill>
                  <a:srgbClr val="FF0000"/>
                </a:solidFill>
                <a:latin typeface="Times New Roman" pitchFamily="18" charset="0"/>
                <a:ea typeface="+mn-ea"/>
                <a:cs typeface="Times New Roman" pitchFamily="18" charset="0"/>
              </a:rPr>
              <a:t>(2) </a:t>
            </a:r>
            <a:r>
              <a:rPr lang="zh-CN" altLang="en-US" sz="2400" b="1" dirty="0">
                <a:solidFill>
                  <a:srgbClr val="FF0000"/>
                </a:solidFill>
                <a:latin typeface="Times New Roman" pitchFamily="18" charset="0"/>
                <a:ea typeface="+mn-ea"/>
                <a:cs typeface="Times New Roman" pitchFamily="18" charset="0"/>
              </a:rPr>
              <a:t>平衡状态下气体中各处的分子数密度相同</a:t>
            </a:r>
          </a:p>
        </p:txBody>
      </p:sp>
      <p:sp>
        <p:nvSpPr>
          <p:cNvPr id="34827" name="Text Box 11"/>
          <p:cNvSpPr txBox="1">
            <a:spLocks noChangeArrowheads="1"/>
          </p:cNvSpPr>
          <p:nvPr/>
        </p:nvSpPr>
        <p:spPr bwMode="auto">
          <a:xfrm>
            <a:off x="500063" y="1857375"/>
            <a:ext cx="7821612" cy="2424113"/>
          </a:xfrm>
          <a:prstGeom prst="rect">
            <a:avLst/>
          </a:prstGeom>
          <a:noFill/>
          <a:ln w="9525">
            <a:noFill/>
            <a:miter lim="800000"/>
            <a:headEnd/>
            <a:tailEnd/>
          </a:ln>
        </p:spPr>
        <p:txBody>
          <a:bodyPr>
            <a:spAutoFit/>
          </a:bodyPr>
          <a:lstStyle/>
          <a:p>
            <a:pPr>
              <a:lnSpc>
                <a:spcPct val="130000"/>
              </a:lnSpc>
              <a:defRPr/>
            </a:pPr>
            <a:r>
              <a:rPr lang="en-US" altLang="zh-CN" sz="2400" b="1" dirty="0">
                <a:latin typeface="+mn-ea"/>
                <a:ea typeface="+mn-ea"/>
              </a:rPr>
              <a:t>    </a:t>
            </a:r>
            <a:r>
              <a:rPr lang="zh-CN" altLang="en-US" sz="2400" b="1" dirty="0">
                <a:latin typeface="+mn-ea"/>
                <a:ea typeface="+mn-ea"/>
              </a:rPr>
              <a:t>由于平衡状态下气体分子沿各个方向运动的机会均等，一个指定气体分子可以出现在任意位置，且任意位置对这个分子都没有特别的选择性，且不受其他分子出现在哪一位置的影响。所以，</a:t>
            </a:r>
            <a:r>
              <a:rPr lang="zh-CN" altLang="en-US" sz="2400" b="1" dirty="0">
                <a:solidFill>
                  <a:srgbClr val="FF6600"/>
                </a:solidFill>
                <a:latin typeface="+mn-ea"/>
                <a:ea typeface="+mn-ea"/>
              </a:rPr>
              <a:t>平衡状态下气体中各处的分子数密度相同。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Effect transition="in" filter="dissolve">
                                      <p:cBhvr>
                                        <p:cTn id="7" dur="500"/>
                                        <p:tgtEl>
                                          <p:spTgt spid="348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7"/>
                                        </p:tgtEl>
                                        <p:attrNameLst>
                                          <p:attrName>style.visibility</p:attrName>
                                        </p:attrNameLst>
                                      </p:cBhvr>
                                      <p:to>
                                        <p:strVal val="visible"/>
                                      </p:to>
                                    </p:set>
                                    <p:animEffect transition="in" filter="wipe(left)">
                                      <p:cBhvr>
                                        <p:cTn id="12" dur="500"/>
                                        <p:tgtEl>
                                          <p:spTgt spid="34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Text Box 6"/>
          <p:cNvSpPr txBox="1">
            <a:spLocks noChangeArrowheads="1"/>
          </p:cNvSpPr>
          <p:nvPr/>
        </p:nvSpPr>
        <p:spPr bwMode="auto">
          <a:xfrm>
            <a:off x="684213" y="476250"/>
            <a:ext cx="8013700" cy="1006475"/>
          </a:xfrm>
          <a:prstGeom prst="rect">
            <a:avLst/>
          </a:prstGeom>
          <a:noFill/>
          <a:ln w="9525">
            <a:noFill/>
            <a:miter lim="800000"/>
            <a:headEnd/>
            <a:tailEnd/>
          </a:ln>
        </p:spPr>
        <p:txBody>
          <a:bodyPr>
            <a:spAutoFit/>
          </a:bodyPr>
          <a:lstStyle/>
          <a:p>
            <a:pPr>
              <a:lnSpc>
                <a:spcPct val="125000"/>
              </a:lnSpc>
            </a:pPr>
            <a:r>
              <a:rPr kumimoji="1" lang="zh-CN" altLang="en-US" sz="2400" b="1">
                <a:latin typeface="Times New Roman" pitchFamily="18" charset="0"/>
              </a:rPr>
              <a:t>在容器中有 </a:t>
            </a:r>
            <a:r>
              <a:rPr kumimoji="1" lang="en-US" altLang="zh-CN" sz="2400" b="1" i="1">
                <a:solidFill>
                  <a:srgbClr val="FF0000"/>
                </a:solidFill>
                <a:latin typeface="Times New Roman" pitchFamily="18" charset="0"/>
              </a:rPr>
              <a:t>N </a:t>
            </a:r>
            <a:r>
              <a:rPr kumimoji="1" lang="zh-CN" altLang="en-US" sz="2400" b="1">
                <a:latin typeface="Times New Roman" pitchFamily="18" charset="0"/>
              </a:rPr>
              <a:t>个理想气体分子，设想把容器划分为</a:t>
            </a:r>
            <a:r>
              <a:rPr kumimoji="1" lang="zh-CN" altLang="en-US" sz="2400" b="1">
                <a:solidFill>
                  <a:srgbClr val="FF6600"/>
                </a:solidFill>
                <a:latin typeface="Times New Roman" pitchFamily="18" charset="0"/>
              </a:rPr>
              <a:t>等容积</a:t>
            </a:r>
            <a:r>
              <a:rPr kumimoji="1" lang="zh-CN" altLang="en-US" sz="2400" b="1">
                <a:latin typeface="Times New Roman" pitchFamily="18" charset="0"/>
              </a:rPr>
              <a:t>的两部分</a:t>
            </a:r>
            <a:r>
              <a:rPr kumimoji="1" lang="en-US" altLang="zh-CN" sz="2400" b="1">
                <a:latin typeface="Times New Roman" pitchFamily="18" charset="0"/>
              </a:rPr>
              <a:t>(</a:t>
            </a:r>
            <a:r>
              <a:rPr kumimoji="1" lang="zh-CN" altLang="en-US" sz="2400" b="1">
                <a:latin typeface="Times New Roman" pitchFamily="18" charset="0"/>
              </a:rPr>
              <a:t>如图所示</a:t>
            </a:r>
            <a:r>
              <a:rPr kumimoji="1" lang="en-US" altLang="zh-CN" sz="2400" b="1">
                <a:latin typeface="Times New Roman" pitchFamily="18" charset="0"/>
              </a:rPr>
              <a:t>)</a:t>
            </a:r>
            <a:r>
              <a:rPr kumimoji="1" lang="en-US" altLang="zh-CN" sz="2400">
                <a:latin typeface="Times New Roman" pitchFamily="18" charset="0"/>
              </a:rPr>
              <a:t> </a:t>
            </a:r>
            <a:r>
              <a:rPr kumimoji="1" lang="zh-CN" altLang="en-US" sz="2400" b="1">
                <a:latin typeface="Times New Roman" pitchFamily="18" charset="0"/>
                <a:ea typeface="楷体_GB2312" pitchFamily="49" charset="-122"/>
              </a:rPr>
              <a:t>。</a:t>
            </a:r>
            <a:r>
              <a:rPr kumimoji="1" lang="zh-CN" altLang="en-US" sz="2400" b="1">
                <a:solidFill>
                  <a:srgbClr val="66FFFF"/>
                </a:solidFill>
                <a:latin typeface="Times New Roman" pitchFamily="18" charset="0"/>
                <a:ea typeface="楷体_GB2312" pitchFamily="49" charset="-122"/>
              </a:rPr>
              <a:t> </a:t>
            </a:r>
            <a:r>
              <a:rPr kumimoji="1" lang="zh-CN" altLang="en-US" sz="2400" b="1">
                <a:solidFill>
                  <a:schemeClr val="bg1"/>
                </a:solidFill>
                <a:latin typeface="Times New Roman" pitchFamily="18" charset="0"/>
                <a:ea typeface="楷体_GB2312" pitchFamily="49" charset="-122"/>
              </a:rPr>
              <a:t>                                  </a:t>
            </a:r>
          </a:p>
        </p:txBody>
      </p:sp>
      <p:sp>
        <p:nvSpPr>
          <p:cNvPr id="34823" name="Rectangle 7"/>
          <p:cNvSpPr>
            <a:spLocks noChangeArrowheads="1"/>
          </p:cNvSpPr>
          <p:nvPr/>
        </p:nvSpPr>
        <p:spPr bwMode="auto">
          <a:xfrm>
            <a:off x="179388" y="520700"/>
            <a:ext cx="488950" cy="457200"/>
          </a:xfrm>
          <a:prstGeom prst="rect">
            <a:avLst/>
          </a:prstGeom>
          <a:noFill/>
          <a:ln w="9525">
            <a:noFill/>
            <a:miter lim="800000"/>
            <a:headEnd/>
            <a:tailEnd/>
          </a:ln>
        </p:spPr>
        <p:txBody>
          <a:bodyPr wrap="none">
            <a:spAutoFit/>
          </a:bodyPr>
          <a:lstStyle/>
          <a:p>
            <a:r>
              <a:rPr kumimoji="1" lang="zh-CN" altLang="en-US" sz="2400" b="1">
                <a:solidFill>
                  <a:srgbClr val="FF0000"/>
                </a:solidFill>
                <a:latin typeface="Times New Roman" pitchFamily="18" charset="0"/>
              </a:rPr>
              <a:t>例</a:t>
            </a:r>
          </a:p>
        </p:txBody>
      </p:sp>
      <p:sp>
        <p:nvSpPr>
          <p:cNvPr id="34824" name="Rectangle 8"/>
          <p:cNvSpPr>
            <a:spLocks noChangeArrowheads="1"/>
          </p:cNvSpPr>
          <p:nvPr/>
        </p:nvSpPr>
        <p:spPr bwMode="auto">
          <a:xfrm>
            <a:off x="179388" y="1574800"/>
            <a:ext cx="488950" cy="457200"/>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求</a:t>
            </a:r>
          </a:p>
        </p:txBody>
      </p:sp>
      <p:sp>
        <p:nvSpPr>
          <p:cNvPr id="34826" name="Text Box 10"/>
          <p:cNvSpPr txBox="1">
            <a:spLocks noChangeArrowheads="1"/>
          </p:cNvSpPr>
          <p:nvPr/>
        </p:nvSpPr>
        <p:spPr bwMode="auto">
          <a:xfrm>
            <a:off x="611188" y="1527175"/>
            <a:ext cx="5545137" cy="1844675"/>
          </a:xfrm>
          <a:prstGeom prst="rect">
            <a:avLst/>
          </a:prstGeom>
          <a:noFill/>
          <a:ln w="9525">
            <a:noFill/>
            <a:miter lim="800000"/>
            <a:headEnd/>
            <a:tailEnd/>
          </a:ln>
        </p:spPr>
        <p:txBody>
          <a:bodyPr>
            <a:spAutoFit/>
          </a:bodyPr>
          <a:lstStyle/>
          <a:p>
            <a:pPr>
              <a:lnSpc>
                <a:spcPct val="120000"/>
              </a:lnSpc>
            </a:pPr>
            <a:r>
              <a:rPr kumimoji="1" lang="en-US" altLang="zh-CN" sz="2400" b="1">
                <a:latin typeface="Times New Roman" pitchFamily="18" charset="0"/>
              </a:rPr>
              <a:t>① </a:t>
            </a:r>
            <a:r>
              <a:rPr kumimoji="1" lang="zh-CN" altLang="en-US" sz="2400" b="1">
                <a:latin typeface="Times New Roman" pitchFamily="18" charset="0"/>
              </a:rPr>
              <a:t>计算 </a:t>
            </a:r>
            <a:r>
              <a:rPr kumimoji="1" lang="en-US" altLang="zh-CN" sz="2400" b="1" i="1">
                <a:solidFill>
                  <a:srgbClr val="FF0000"/>
                </a:solidFill>
                <a:latin typeface="Times New Roman" pitchFamily="18" charset="0"/>
              </a:rPr>
              <a:t>N </a:t>
            </a:r>
            <a:r>
              <a:rPr kumimoji="1" lang="zh-CN" altLang="en-US" sz="2400" b="1">
                <a:latin typeface="Times New Roman" pitchFamily="18" charset="0"/>
              </a:rPr>
              <a:t>个理想气体分子同时出现在左边的概率；</a:t>
            </a:r>
          </a:p>
          <a:p>
            <a:pPr>
              <a:lnSpc>
                <a:spcPct val="120000"/>
              </a:lnSpc>
            </a:pPr>
            <a:r>
              <a:rPr kumimoji="1" lang="zh-CN" altLang="en-US" sz="2400" b="1">
                <a:latin typeface="Times New Roman" pitchFamily="18" charset="0"/>
              </a:rPr>
              <a:t>② 计算 </a:t>
            </a:r>
            <a:r>
              <a:rPr kumimoji="1" lang="en-US" altLang="zh-CN" sz="2400" b="1" i="1">
                <a:solidFill>
                  <a:srgbClr val="FF0000"/>
                </a:solidFill>
                <a:latin typeface="Times New Roman" pitchFamily="18" charset="0"/>
              </a:rPr>
              <a:t>N </a:t>
            </a:r>
            <a:r>
              <a:rPr kumimoji="1" lang="zh-CN" altLang="en-US" sz="2400" b="1">
                <a:latin typeface="Times New Roman" pitchFamily="18" charset="0"/>
              </a:rPr>
              <a:t>个理想气体分子中有且仅有</a:t>
            </a:r>
            <a:r>
              <a:rPr kumimoji="1" lang="en-US" altLang="zh-CN" sz="2400" b="1" i="1">
                <a:solidFill>
                  <a:srgbClr val="FF0000"/>
                </a:solidFill>
                <a:latin typeface="Times New Roman" pitchFamily="18" charset="0"/>
              </a:rPr>
              <a:t>u </a:t>
            </a:r>
            <a:r>
              <a:rPr kumimoji="1" lang="zh-CN" altLang="en-US" sz="2400" b="1">
                <a:latin typeface="Times New Roman" pitchFamily="18" charset="0"/>
              </a:rPr>
              <a:t>个分子出现在左边的概率。</a:t>
            </a:r>
          </a:p>
        </p:txBody>
      </p:sp>
      <p:grpSp>
        <p:nvGrpSpPr>
          <p:cNvPr id="2" name="Group 44"/>
          <p:cNvGrpSpPr>
            <a:grpSpLocks/>
          </p:cNvGrpSpPr>
          <p:nvPr/>
        </p:nvGrpSpPr>
        <p:grpSpPr bwMode="auto">
          <a:xfrm>
            <a:off x="6516688" y="1671638"/>
            <a:ext cx="2159000" cy="1368425"/>
            <a:chOff x="4105" y="2659"/>
            <a:chExt cx="1360" cy="862"/>
          </a:xfrm>
        </p:grpSpPr>
        <p:grpSp>
          <p:nvGrpSpPr>
            <p:cNvPr id="9228" name="Group 15"/>
            <p:cNvGrpSpPr>
              <a:grpSpLocks/>
            </p:cNvGrpSpPr>
            <p:nvPr/>
          </p:nvGrpSpPr>
          <p:grpSpPr bwMode="auto">
            <a:xfrm>
              <a:off x="4105" y="2659"/>
              <a:ext cx="1360" cy="862"/>
              <a:chOff x="4105" y="2659"/>
              <a:chExt cx="1360" cy="862"/>
            </a:xfrm>
          </p:grpSpPr>
          <p:sp>
            <p:nvSpPr>
              <p:cNvPr id="9241" name="Rectangle 12"/>
              <p:cNvSpPr>
                <a:spLocks noChangeArrowheads="1"/>
              </p:cNvSpPr>
              <p:nvPr/>
            </p:nvSpPr>
            <p:spPr bwMode="auto">
              <a:xfrm>
                <a:off x="4105" y="2659"/>
                <a:ext cx="1360" cy="862"/>
              </a:xfrm>
              <a:prstGeom prst="rect">
                <a:avLst/>
              </a:prstGeom>
              <a:solidFill>
                <a:srgbClr val="800000"/>
              </a:solidFill>
              <a:ln w="19050" algn="ctr">
                <a:solidFill>
                  <a:schemeClr val="tx1"/>
                </a:solidFill>
                <a:miter lim="800000"/>
                <a:headEnd/>
                <a:tailEnd/>
              </a:ln>
            </p:spPr>
            <p:txBody>
              <a:bodyPr wrap="none" anchor="ctr"/>
              <a:lstStyle/>
              <a:p>
                <a:pPr algn="ctr"/>
                <a:endParaRPr lang="zh-CN" altLang="en-US"/>
              </a:p>
            </p:txBody>
          </p:sp>
          <p:sp>
            <p:nvSpPr>
              <p:cNvPr id="9242" name="Rectangle 13"/>
              <p:cNvSpPr>
                <a:spLocks noChangeArrowheads="1"/>
              </p:cNvSpPr>
              <p:nvPr/>
            </p:nvSpPr>
            <p:spPr bwMode="auto">
              <a:xfrm>
                <a:off x="4195" y="2750"/>
                <a:ext cx="1180" cy="680"/>
              </a:xfrm>
              <a:prstGeom prst="rect">
                <a:avLst/>
              </a:prstGeom>
              <a:solidFill>
                <a:schemeClr val="bg1"/>
              </a:solidFill>
              <a:ln w="19050" algn="ctr">
                <a:solidFill>
                  <a:schemeClr val="tx1"/>
                </a:solidFill>
                <a:miter lim="800000"/>
                <a:headEnd/>
                <a:tailEnd/>
              </a:ln>
            </p:spPr>
            <p:txBody>
              <a:bodyPr wrap="none" anchor="ctr"/>
              <a:lstStyle/>
              <a:p>
                <a:pPr algn="ctr"/>
                <a:endParaRPr lang="zh-CN" altLang="en-US"/>
              </a:p>
            </p:txBody>
          </p:sp>
          <p:sp>
            <p:nvSpPr>
              <p:cNvPr id="9243" name="Line 14"/>
              <p:cNvSpPr>
                <a:spLocks noChangeShapeType="1"/>
              </p:cNvSpPr>
              <p:nvPr/>
            </p:nvSpPr>
            <p:spPr bwMode="auto">
              <a:xfrm>
                <a:off x="4785" y="2758"/>
                <a:ext cx="0" cy="680"/>
              </a:xfrm>
              <a:prstGeom prst="line">
                <a:avLst/>
              </a:prstGeom>
              <a:noFill/>
              <a:ln w="38100">
                <a:solidFill>
                  <a:srgbClr val="800000"/>
                </a:solidFill>
                <a:prstDash val="dash"/>
                <a:round/>
                <a:headEnd/>
                <a:tailEnd/>
              </a:ln>
            </p:spPr>
            <p:txBody>
              <a:bodyPr/>
              <a:lstStyle/>
              <a:p>
                <a:endParaRPr lang="zh-CN" altLang="en-US"/>
              </a:p>
            </p:txBody>
          </p:sp>
        </p:grpSp>
        <p:sp>
          <p:nvSpPr>
            <p:cNvPr id="9229" name="Oval 17"/>
            <p:cNvSpPr>
              <a:spLocks noChangeArrowheads="1"/>
            </p:cNvSpPr>
            <p:nvPr/>
          </p:nvSpPr>
          <p:spPr bwMode="auto">
            <a:xfrm>
              <a:off x="4377" y="2840"/>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0" name="Oval 18"/>
            <p:cNvSpPr>
              <a:spLocks noChangeArrowheads="1"/>
            </p:cNvSpPr>
            <p:nvPr/>
          </p:nvSpPr>
          <p:spPr bwMode="auto">
            <a:xfrm>
              <a:off x="4422" y="3113"/>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1" name="Oval 19"/>
            <p:cNvSpPr>
              <a:spLocks noChangeArrowheads="1"/>
            </p:cNvSpPr>
            <p:nvPr/>
          </p:nvSpPr>
          <p:spPr bwMode="auto">
            <a:xfrm>
              <a:off x="4604" y="2976"/>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2" name="Oval 20"/>
            <p:cNvSpPr>
              <a:spLocks noChangeArrowheads="1"/>
            </p:cNvSpPr>
            <p:nvPr/>
          </p:nvSpPr>
          <p:spPr bwMode="auto">
            <a:xfrm>
              <a:off x="4332" y="3022"/>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3" name="Oval 21"/>
            <p:cNvSpPr>
              <a:spLocks noChangeArrowheads="1"/>
            </p:cNvSpPr>
            <p:nvPr/>
          </p:nvSpPr>
          <p:spPr bwMode="auto">
            <a:xfrm>
              <a:off x="4558" y="3203"/>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4" name="Oval 22"/>
            <p:cNvSpPr>
              <a:spLocks noChangeArrowheads="1"/>
            </p:cNvSpPr>
            <p:nvPr/>
          </p:nvSpPr>
          <p:spPr bwMode="auto">
            <a:xfrm>
              <a:off x="4332" y="3249"/>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5" name="Oval 28"/>
            <p:cNvSpPr>
              <a:spLocks noChangeArrowheads="1"/>
            </p:cNvSpPr>
            <p:nvPr/>
          </p:nvSpPr>
          <p:spPr bwMode="auto">
            <a:xfrm>
              <a:off x="5012" y="2931"/>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6" name="Oval 29"/>
            <p:cNvSpPr>
              <a:spLocks noChangeArrowheads="1"/>
            </p:cNvSpPr>
            <p:nvPr/>
          </p:nvSpPr>
          <p:spPr bwMode="auto">
            <a:xfrm>
              <a:off x="4967" y="3067"/>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7" name="Oval 30"/>
            <p:cNvSpPr>
              <a:spLocks noChangeArrowheads="1"/>
            </p:cNvSpPr>
            <p:nvPr/>
          </p:nvSpPr>
          <p:spPr bwMode="auto">
            <a:xfrm>
              <a:off x="5103" y="3113"/>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8" name="Oval 31"/>
            <p:cNvSpPr>
              <a:spLocks noChangeArrowheads="1"/>
            </p:cNvSpPr>
            <p:nvPr/>
          </p:nvSpPr>
          <p:spPr bwMode="auto">
            <a:xfrm>
              <a:off x="5193" y="2840"/>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39" name="Oval 37"/>
            <p:cNvSpPr>
              <a:spLocks noChangeArrowheads="1"/>
            </p:cNvSpPr>
            <p:nvPr/>
          </p:nvSpPr>
          <p:spPr bwMode="auto">
            <a:xfrm>
              <a:off x="5193" y="3249"/>
              <a:ext cx="46" cy="45"/>
            </a:xfrm>
            <a:prstGeom prst="ellipse">
              <a:avLst/>
            </a:prstGeom>
            <a:solidFill>
              <a:srgbClr val="0000FF"/>
            </a:solidFill>
            <a:ln w="9525" algn="ctr">
              <a:noFill/>
              <a:round/>
              <a:headEnd/>
              <a:tailEnd/>
            </a:ln>
          </p:spPr>
          <p:txBody>
            <a:bodyPr wrap="none" anchor="ctr"/>
            <a:lstStyle/>
            <a:p>
              <a:pPr algn="ctr"/>
              <a:endParaRPr lang="zh-CN" altLang="en-US"/>
            </a:p>
          </p:txBody>
        </p:sp>
        <p:sp>
          <p:nvSpPr>
            <p:cNvPr id="9240" name="Oval 38"/>
            <p:cNvSpPr>
              <a:spLocks noChangeArrowheads="1"/>
            </p:cNvSpPr>
            <p:nvPr/>
          </p:nvSpPr>
          <p:spPr bwMode="auto">
            <a:xfrm>
              <a:off x="4921" y="3249"/>
              <a:ext cx="46" cy="45"/>
            </a:xfrm>
            <a:prstGeom prst="ellipse">
              <a:avLst/>
            </a:prstGeom>
            <a:solidFill>
              <a:srgbClr val="0000FF"/>
            </a:solidFill>
            <a:ln w="9525" algn="ctr">
              <a:noFill/>
              <a:round/>
              <a:headEnd/>
              <a:tailEnd/>
            </a:ln>
          </p:spPr>
          <p:txBody>
            <a:bodyPr wrap="none" anchor="ctr"/>
            <a:lstStyle/>
            <a:p>
              <a:pPr algn="ctr"/>
              <a:endParaRPr lang="zh-CN" altLang="en-US"/>
            </a:p>
          </p:txBody>
        </p:sp>
      </p:grpSp>
      <p:sp>
        <p:nvSpPr>
          <p:cNvPr id="34861" name="Text Box 45"/>
          <p:cNvSpPr txBox="1">
            <a:spLocks noChangeArrowheads="1"/>
          </p:cNvSpPr>
          <p:nvPr/>
        </p:nvSpPr>
        <p:spPr bwMode="auto">
          <a:xfrm>
            <a:off x="179388" y="3678238"/>
            <a:ext cx="796925"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rPr>
              <a:t>解</a:t>
            </a:r>
          </a:p>
        </p:txBody>
      </p:sp>
      <p:sp>
        <p:nvSpPr>
          <p:cNvPr id="34862" name="Text Box 46"/>
          <p:cNvSpPr txBox="1">
            <a:spLocks noChangeArrowheads="1"/>
          </p:cNvSpPr>
          <p:nvPr/>
        </p:nvSpPr>
        <p:spPr bwMode="auto">
          <a:xfrm>
            <a:off x="741363" y="3573463"/>
            <a:ext cx="8064500" cy="968375"/>
          </a:xfrm>
          <a:prstGeom prst="rect">
            <a:avLst/>
          </a:prstGeom>
          <a:noFill/>
          <a:ln w="9525">
            <a:noFill/>
            <a:miter lim="800000"/>
            <a:headEnd/>
            <a:tailEnd/>
          </a:ln>
        </p:spPr>
        <p:txBody>
          <a:bodyPr>
            <a:spAutoFit/>
          </a:bodyPr>
          <a:lstStyle/>
          <a:p>
            <a:pPr>
              <a:lnSpc>
                <a:spcPct val="120000"/>
              </a:lnSpc>
            </a:pPr>
            <a:r>
              <a:rPr lang="zh-CN" altLang="en-US" sz="2400" b="1">
                <a:latin typeface="Times New Roman" pitchFamily="18" charset="0"/>
                <a:ea typeface="楷体_GB2312" pitchFamily="49" charset="-122"/>
              </a:rPr>
              <a:t>一个指定气体分子出现在容器左边或右边的概率相等，且都等于 </a:t>
            </a:r>
            <a:r>
              <a:rPr lang="en-US" altLang="zh-CN" sz="2400" b="1">
                <a:solidFill>
                  <a:srgbClr val="FF6600"/>
                </a:solidFill>
                <a:latin typeface="Times New Roman" pitchFamily="18" charset="0"/>
                <a:ea typeface="楷体_GB2312" pitchFamily="49" charset="-122"/>
              </a:rPr>
              <a:t>1/2</a:t>
            </a:r>
            <a:r>
              <a:rPr lang="en-US" altLang="zh-CN" sz="2400" b="1">
                <a:latin typeface="Times New Roman" pitchFamily="18" charset="0"/>
                <a:ea typeface="楷体_GB2312" pitchFamily="49" charset="-122"/>
              </a:rPr>
              <a:t> </a:t>
            </a:r>
            <a:r>
              <a:rPr lang="zh-CN" altLang="en-US" sz="2400" b="1">
                <a:latin typeface="Times New Roman" pitchFamily="18" charset="0"/>
                <a:ea typeface="楷体_GB2312" pitchFamily="49" charset="-122"/>
              </a:rPr>
              <a:t>，即</a:t>
            </a:r>
          </a:p>
        </p:txBody>
      </p:sp>
      <p:graphicFrame>
        <p:nvGraphicFramePr>
          <p:cNvPr id="34863" name="Object 47"/>
          <p:cNvGraphicFramePr>
            <a:graphicFrameLocks noChangeAspect="1"/>
          </p:cNvGraphicFramePr>
          <p:nvPr/>
        </p:nvGraphicFramePr>
        <p:xfrm>
          <a:off x="3127375" y="4135438"/>
          <a:ext cx="1516063" cy="730250"/>
        </p:xfrm>
        <a:graphic>
          <a:graphicData uri="http://schemas.openxmlformats.org/presentationml/2006/ole">
            <p:oleObj spid="_x0000_s9218" name="公式" r:id="rId3" imgW="838080" imgH="406080" progId="Equation.3">
              <p:embed/>
            </p:oleObj>
          </a:graphicData>
        </a:graphic>
      </p:graphicFrame>
      <p:sp>
        <p:nvSpPr>
          <p:cNvPr id="34864" name="Text Box 48"/>
          <p:cNvSpPr txBox="1">
            <a:spLocks noChangeArrowheads="1"/>
          </p:cNvSpPr>
          <p:nvPr/>
        </p:nvSpPr>
        <p:spPr bwMode="auto">
          <a:xfrm>
            <a:off x="755650" y="4827588"/>
            <a:ext cx="7920038" cy="968375"/>
          </a:xfrm>
          <a:prstGeom prst="rect">
            <a:avLst/>
          </a:prstGeom>
          <a:noFill/>
          <a:ln w="9525">
            <a:noFill/>
            <a:miter lim="800000"/>
            <a:headEnd/>
            <a:tailEnd/>
          </a:ln>
        </p:spPr>
        <p:txBody>
          <a:bodyPr>
            <a:spAutoFit/>
          </a:bodyPr>
          <a:lstStyle/>
          <a:p>
            <a:pPr>
              <a:lnSpc>
                <a:spcPct val="120000"/>
              </a:lnSpc>
            </a:pPr>
            <a:r>
              <a:rPr lang="zh-CN" altLang="en-US" sz="2400" b="1">
                <a:latin typeface="Times New Roman" pitchFamily="18" charset="0"/>
                <a:ea typeface="楷体_GB2312" pitchFamily="49" charset="-122"/>
              </a:rPr>
              <a:t>每一个分子出现在左边或右边不影响其他分子出现在哪一边，所以 </a:t>
            </a:r>
            <a:r>
              <a:rPr lang="en-US" altLang="zh-CN" sz="2400" b="1" i="1">
                <a:solidFill>
                  <a:srgbClr val="FF6600"/>
                </a:solidFill>
                <a:latin typeface="Times New Roman" pitchFamily="18" charset="0"/>
                <a:ea typeface="楷体_GB2312" pitchFamily="49" charset="-122"/>
              </a:rPr>
              <a:t>N</a:t>
            </a:r>
            <a:r>
              <a:rPr lang="en-US" altLang="zh-CN" sz="2400" b="1" i="1">
                <a:latin typeface="Times New Roman" pitchFamily="18" charset="0"/>
                <a:ea typeface="楷体_GB2312" pitchFamily="49" charset="-122"/>
              </a:rPr>
              <a:t> </a:t>
            </a:r>
            <a:r>
              <a:rPr lang="zh-CN" altLang="en-US" sz="2400" b="1">
                <a:latin typeface="Times New Roman" pitchFamily="18" charset="0"/>
                <a:ea typeface="楷体_GB2312" pitchFamily="49" charset="-122"/>
              </a:rPr>
              <a:t>个分子同时出现在左边的概率为</a:t>
            </a:r>
          </a:p>
        </p:txBody>
      </p:sp>
      <p:graphicFrame>
        <p:nvGraphicFramePr>
          <p:cNvPr id="34865" name="Object 49"/>
          <p:cNvGraphicFramePr>
            <a:graphicFrameLocks noChangeAspect="1"/>
          </p:cNvGraphicFramePr>
          <p:nvPr/>
        </p:nvGraphicFramePr>
        <p:xfrm>
          <a:off x="3068638" y="5722938"/>
          <a:ext cx="1790700" cy="730250"/>
        </p:xfrm>
        <a:graphic>
          <a:graphicData uri="http://schemas.openxmlformats.org/presentationml/2006/ole">
            <p:oleObj spid="_x0000_s9219" name="公式" r:id="rId4" imgW="99036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wipe(left)">
                                      <p:cBhvr>
                                        <p:cTn id="7" dur="500"/>
                                        <p:tgtEl>
                                          <p:spTgt spid="348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822"/>
                                        </p:tgtEl>
                                        <p:attrNameLst>
                                          <p:attrName>style.visibility</p:attrName>
                                        </p:attrNameLst>
                                      </p:cBhvr>
                                      <p:to>
                                        <p:strVal val="visible"/>
                                      </p:to>
                                    </p:set>
                                    <p:animEffect transition="in" filter="wipe(left)">
                                      <p:cBhvr>
                                        <p:cTn id="11" dur="500"/>
                                        <p:tgtEl>
                                          <p:spTgt spid="34822"/>
                                        </p:tgtEl>
                                      </p:cBhvr>
                                    </p:animEffect>
                                  </p:childTnLst>
                                </p:cTn>
                              </p:par>
                              <p:par>
                                <p:cTn id="12" presetID="9"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4824"/>
                                        </p:tgtEl>
                                        <p:attrNameLst>
                                          <p:attrName>style.visibility</p:attrName>
                                        </p:attrNameLst>
                                      </p:cBhvr>
                                      <p:to>
                                        <p:strVal val="visible"/>
                                      </p:to>
                                    </p:set>
                                    <p:animEffect transition="in" filter="wipe(left)">
                                      <p:cBhvr>
                                        <p:cTn id="19" dur="500"/>
                                        <p:tgtEl>
                                          <p:spTgt spid="34824"/>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34826"/>
                                        </p:tgtEl>
                                        <p:attrNameLst>
                                          <p:attrName>style.visibility</p:attrName>
                                        </p:attrNameLst>
                                      </p:cBhvr>
                                      <p:to>
                                        <p:strVal val="visible"/>
                                      </p:to>
                                    </p:set>
                                    <p:animEffect transition="in" filter="wipe(left)">
                                      <p:cBhvr>
                                        <p:cTn id="23" dur="500"/>
                                        <p:tgtEl>
                                          <p:spTgt spid="3482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4861"/>
                                        </p:tgtEl>
                                        <p:attrNameLst>
                                          <p:attrName>style.visibility</p:attrName>
                                        </p:attrNameLst>
                                      </p:cBhvr>
                                      <p:to>
                                        <p:strVal val="visible"/>
                                      </p:to>
                                    </p:set>
                                    <p:animEffect transition="in" filter="wipe(left)">
                                      <p:cBhvr>
                                        <p:cTn id="28" dur="500"/>
                                        <p:tgtEl>
                                          <p:spTgt spid="3486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4862"/>
                                        </p:tgtEl>
                                        <p:attrNameLst>
                                          <p:attrName>style.visibility</p:attrName>
                                        </p:attrNameLst>
                                      </p:cBhvr>
                                      <p:to>
                                        <p:strVal val="visible"/>
                                      </p:to>
                                    </p:set>
                                    <p:animEffect transition="in" filter="wipe(left)">
                                      <p:cBhvr>
                                        <p:cTn id="33" dur="500"/>
                                        <p:tgtEl>
                                          <p:spTgt spid="3486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4863"/>
                                        </p:tgtEl>
                                        <p:attrNameLst>
                                          <p:attrName>style.visibility</p:attrName>
                                        </p:attrNameLst>
                                      </p:cBhvr>
                                      <p:to>
                                        <p:strVal val="visible"/>
                                      </p:to>
                                    </p:set>
                                    <p:animEffect transition="in" filter="wipe(left)">
                                      <p:cBhvr>
                                        <p:cTn id="38" dur="500"/>
                                        <p:tgtEl>
                                          <p:spTgt spid="3486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4864"/>
                                        </p:tgtEl>
                                        <p:attrNameLst>
                                          <p:attrName>style.visibility</p:attrName>
                                        </p:attrNameLst>
                                      </p:cBhvr>
                                      <p:to>
                                        <p:strVal val="visible"/>
                                      </p:to>
                                    </p:set>
                                    <p:animEffect transition="in" filter="wipe(left)">
                                      <p:cBhvr>
                                        <p:cTn id="43" dur="500"/>
                                        <p:tgtEl>
                                          <p:spTgt spid="3486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4865"/>
                                        </p:tgtEl>
                                        <p:attrNameLst>
                                          <p:attrName>style.visibility</p:attrName>
                                        </p:attrNameLst>
                                      </p:cBhvr>
                                      <p:to>
                                        <p:strVal val="visible"/>
                                      </p:to>
                                    </p:set>
                                    <p:animEffect transition="in" filter="wipe(left)">
                                      <p:cBhvr>
                                        <p:cTn id="48" dur="500"/>
                                        <p:tgtEl>
                                          <p:spTgt spid="34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p:bldP spid="34823" grpId="0"/>
      <p:bldP spid="34824" grpId="0"/>
      <p:bldP spid="34826" grpId="0"/>
      <p:bldP spid="34861" grpId="0"/>
      <p:bldP spid="34862" grpId="0"/>
      <p:bldP spid="3486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95" name="Text Box 23"/>
          <p:cNvSpPr txBox="1">
            <a:spLocks noChangeArrowheads="1"/>
          </p:cNvSpPr>
          <p:nvPr/>
        </p:nvSpPr>
        <p:spPr bwMode="auto">
          <a:xfrm>
            <a:off x="395288" y="831850"/>
            <a:ext cx="7677150" cy="1481138"/>
          </a:xfrm>
          <a:prstGeom prst="rect">
            <a:avLst/>
          </a:prstGeom>
          <a:noFill/>
          <a:ln w="9525">
            <a:noFill/>
            <a:miter lim="800000"/>
            <a:headEnd/>
            <a:tailEnd/>
          </a:ln>
        </p:spPr>
        <p:txBody>
          <a:bodyPr>
            <a:spAutoFit/>
          </a:bodyPr>
          <a:lstStyle/>
          <a:p>
            <a:pPr>
              <a:lnSpc>
                <a:spcPct val="130000"/>
              </a:lnSpc>
            </a:pPr>
            <a:r>
              <a:rPr lang="en-US" altLang="zh-CN" sz="2400" b="1">
                <a:latin typeface="Times New Roman" pitchFamily="18" charset="0"/>
                <a:ea typeface="楷体_GB2312" pitchFamily="49" charset="-122"/>
              </a:rPr>
              <a:t>        </a:t>
            </a:r>
            <a:r>
              <a:rPr lang="en-US" altLang="zh-CN" sz="2400" b="1" i="1">
                <a:solidFill>
                  <a:srgbClr val="FF0000"/>
                </a:solidFill>
                <a:latin typeface="Times New Roman" pitchFamily="18" charset="0"/>
                <a:ea typeface="楷体_GB2312" pitchFamily="49" charset="-122"/>
              </a:rPr>
              <a:t>N </a:t>
            </a:r>
            <a:r>
              <a:rPr lang="zh-CN" altLang="en-US" sz="2400" b="1">
                <a:latin typeface="Times New Roman" pitchFamily="18" charset="0"/>
                <a:ea typeface="楷体_GB2312" pitchFamily="49" charset="-122"/>
              </a:rPr>
              <a:t>个分子在容器中的微观分布共有 </a:t>
            </a:r>
            <a:r>
              <a:rPr lang="en-US" altLang="zh-CN" sz="2400" b="1">
                <a:solidFill>
                  <a:srgbClr val="FF0000"/>
                </a:solidFill>
                <a:latin typeface="Times New Roman" pitchFamily="18" charset="0"/>
                <a:ea typeface="楷体_GB2312" pitchFamily="49" charset="-122"/>
              </a:rPr>
              <a:t>2</a:t>
            </a:r>
            <a:r>
              <a:rPr lang="en-US" altLang="zh-CN" sz="2400" b="1" i="1" baseline="30000">
                <a:solidFill>
                  <a:srgbClr val="FF0000"/>
                </a:solidFill>
                <a:latin typeface="Times New Roman" pitchFamily="18" charset="0"/>
                <a:ea typeface="楷体_GB2312" pitchFamily="49" charset="-122"/>
              </a:rPr>
              <a:t>N </a:t>
            </a:r>
            <a:r>
              <a:rPr lang="zh-CN" altLang="en-US" sz="2400" b="1">
                <a:latin typeface="Times New Roman" pitchFamily="18" charset="0"/>
                <a:ea typeface="楷体_GB2312" pitchFamily="49" charset="-122"/>
              </a:rPr>
              <a:t>种可能的情形。根据等概率假设，每一种分布都是等可能性的。即基本事件的总数是 </a:t>
            </a:r>
            <a:r>
              <a:rPr lang="en-US" altLang="zh-CN" sz="2400" b="1">
                <a:solidFill>
                  <a:srgbClr val="FF0000"/>
                </a:solidFill>
                <a:latin typeface="Times New Roman" pitchFamily="18" charset="0"/>
                <a:ea typeface="楷体_GB2312" pitchFamily="49" charset="-122"/>
              </a:rPr>
              <a:t>2</a:t>
            </a:r>
            <a:r>
              <a:rPr lang="en-US" altLang="zh-CN" sz="2400" b="1" i="1" baseline="30000">
                <a:solidFill>
                  <a:srgbClr val="FF0000"/>
                </a:solidFill>
                <a:latin typeface="Times New Roman" pitchFamily="18" charset="0"/>
                <a:ea typeface="楷体_GB2312" pitchFamily="49" charset="-122"/>
              </a:rPr>
              <a:t>N </a:t>
            </a:r>
            <a:r>
              <a:rPr lang="zh-CN" altLang="en-US" sz="2400" b="1">
                <a:latin typeface="Times New Roman" pitchFamily="18" charset="0"/>
                <a:ea typeface="楷体_GB2312" pitchFamily="49" charset="-122"/>
              </a:rPr>
              <a:t>。</a:t>
            </a:r>
            <a:r>
              <a:rPr lang="zh-CN" altLang="en-US" sz="2400">
                <a:latin typeface="Times New Roman" pitchFamily="18" charset="0"/>
                <a:ea typeface="楷体_GB2312" pitchFamily="49" charset="-122"/>
              </a:rPr>
              <a:t> </a:t>
            </a:r>
          </a:p>
        </p:txBody>
      </p:sp>
      <p:grpSp>
        <p:nvGrpSpPr>
          <p:cNvPr id="2" name="Group 24"/>
          <p:cNvGrpSpPr>
            <a:grpSpLocks/>
          </p:cNvGrpSpPr>
          <p:nvPr/>
        </p:nvGrpSpPr>
        <p:grpSpPr bwMode="auto">
          <a:xfrm>
            <a:off x="539750" y="2416175"/>
            <a:ext cx="8135938" cy="1001713"/>
            <a:chOff x="431" y="2795"/>
            <a:chExt cx="5125" cy="631"/>
          </a:xfrm>
        </p:grpSpPr>
        <p:sp>
          <p:nvSpPr>
            <p:cNvPr id="10247" name="Text Box 25"/>
            <p:cNvSpPr txBox="1">
              <a:spLocks noChangeArrowheads="1"/>
            </p:cNvSpPr>
            <p:nvPr/>
          </p:nvSpPr>
          <p:spPr bwMode="auto">
            <a:xfrm>
              <a:off x="431" y="2795"/>
              <a:ext cx="5125" cy="631"/>
            </a:xfrm>
            <a:prstGeom prst="rect">
              <a:avLst/>
            </a:prstGeom>
            <a:noFill/>
            <a:ln w="9525">
              <a:noFill/>
              <a:miter lim="800000"/>
              <a:headEnd/>
              <a:tailEnd/>
            </a:ln>
          </p:spPr>
          <p:txBody>
            <a:bodyPr>
              <a:spAutoFit/>
            </a:bodyPr>
            <a:lstStyle/>
            <a:p>
              <a:pPr>
                <a:lnSpc>
                  <a:spcPct val="130000"/>
                </a:lnSpc>
              </a:pPr>
              <a:r>
                <a:rPr lang="en-US" altLang="zh-CN" sz="2400" b="1">
                  <a:latin typeface="Times New Roman" pitchFamily="18" charset="0"/>
                  <a:ea typeface="楷体_GB2312" pitchFamily="49" charset="-122"/>
                </a:rPr>
                <a:t>“</a:t>
              </a:r>
              <a:r>
                <a:rPr lang="en-US" altLang="zh-CN" sz="2400" b="1" i="1">
                  <a:solidFill>
                    <a:srgbClr val="FF6600"/>
                  </a:solidFill>
                  <a:latin typeface="Times New Roman" pitchFamily="18" charset="0"/>
                  <a:ea typeface="楷体_GB2312" pitchFamily="49" charset="-122"/>
                </a:rPr>
                <a:t>u </a:t>
              </a:r>
              <a:r>
                <a:rPr lang="zh-CN" altLang="en-US" sz="2400" b="1">
                  <a:solidFill>
                    <a:srgbClr val="FF6600"/>
                  </a:solidFill>
                  <a:latin typeface="Times New Roman" pitchFamily="18" charset="0"/>
                  <a:ea typeface="楷体_GB2312" pitchFamily="49" charset="-122"/>
                </a:rPr>
                <a:t>个分子出现在左边</a:t>
              </a:r>
              <a:r>
                <a:rPr lang="zh-CN" altLang="en-US" sz="2400" b="1">
                  <a:latin typeface="Times New Roman" pitchFamily="18" charset="0"/>
                  <a:ea typeface="楷体_GB2312" pitchFamily="49" charset="-122"/>
                </a:rPr>
                <a:t>”这一事件，是指 </a:t>
              </a:r>
              <a:r>
                <a:rPr lang="en-US" altLang="zh-CN" sz="2400" b="1" i="1">
                  <a:solidFill>
                    <a:srgbClr val="FF6600"/>
                  </a:solidFill>
                  <a:latin typeface="Times New Roman" pitchFamily="18" charset="0"/>
                  <a:ea typeface="楷体_GB2312" pitchFamily="49" charset="-122"/>
                </a:rPr>
                <a:t>N </a:t>
              </a:r>
              <a:r>
                <a:rPr lang="zh-CN" altLang="en-US" sz="2400" b="1">
                  <a:latin typeface="Times New Roman" pitchFamily="18" charset="0"/>
                  <a:ea typeface="楷体_GB2312" pitchFamily="49" charset="-122"/>
                </a:rPr>
                <a:t>个分子中任选 </a:t>
              </a:r>
              <a:r>
                <a:rPr lang="en-US" altLang="zh-CN" sz="2400" b="1" i="1">
                  <a:solidFill>
                    <a:srgbClr val="FF6600"/>
                  </a:solidFill>
                  <a:latin typeface="Times New Roman" pitchFamily="18" charset="0"/>
                  <a:ea typeface="楷体_GB2312" pitchFamily="49" charset="-122"/>
                </a:rPr>
                <a:t>u</a:t>
              </a:r>
              <a:r>
                <a:rPr lang="zh-CN" altLang="en-US" sz="2400" b="1">
                  <a:latin typeface="Times New Roman" pitchFamily="18" charset="0"/>
                  <a:ea typeface="楷体_GB2312" pitchFamily="49" charset="-122"/>
                </a:rPr>
                <a:t>个分子置于左边。则这一事件包含了种      基本事件。</a:t>
              </a:r>
              <a:r>
                <a:rPr lang="zh-CN" altLang="en-US" sz="2400">
                  <a:latin typeface="Times New Roman" pitchFamily="18" charset="0"/>
                  <a:ea typeface="楷体_GB2312" pitchFamily="49" charset="-122"/>
                </a:rPr>
                <a:t> </a:t>
              </a:r>
            </a:p>
          </p:txBody>
        </p:sp>
        <p:graphicFrame>
          <p:nvGraphicFramePr>
            <p:cNvPr id="10243" name="Object 26"/>
            <p:cNvGraphicFramePr>
              <a:graphicFrameLocks noChangeAspect="1"/>
            </p:cNvGraphicFramePr>
            <p:nvPr/>
          </p:nvGraphicFramePr>
          <p:xfrm>
            <a:off x="3784" y="3142"/>
            <a:ext cx="274" cy="259"/>
          </p:xfrm>
          <a:graphic>
            <a:graphicData uri="http://schemas.openxmlformats.org/presentationml/2006/ole">
              <p:oleObj spid="_x0000_s10243" name="Equation" r:id="rId3" imgW="241200" imgH="228600" progId="">
                <p:embed/>
              </p:oleObj>
            </a:graphicData>
          </a:graphic>
        </p:graphicFrame>
      </p:grpSp>
      <p:sp>
        <p:nvSpPr>
          <p:cNvPr id="131099" name="Text Box 27"/>
          <p:cNvSpPr txBox="1">
            <a:spLocks noChangeArrowheads="1"/>
          </p:cNvSpPr>
          <p:nvPr/>
        </p:nvSpPr>
        <p:spPr bwMode="auto">
          <a:xfrm>
            <a:off x="539750" y="3711575"/>
            <a:ext cx="4824413" cy="530225"/>
          </a:xfrm>
          <a:prstGeom prst="rect">
            <a:avLst/>
          </a:prstGeom>
          <a:noFill/>
          <a:ln w="9525">
            <a:noFill/>
            <a:miter lim="800000"/>
            <a:headEnd/>
            <a:tailEnd/>
          </a:ln>
        </p:spPr>
        <p:txBody>
          <a:bodyPr>
            <a:spAutoFit/>
          </a:bodyPr>
          <a:lstStyle/>
          <a:p>
            <a:pPr>
              <a:lnSpc>
                <a:spcPct val="120000"/>
              </a:lnSpc>
            </a:pPr>
            <a:r>
              <a:rPr lang="en-US" altLang="zh-CN" sz="2400" b="1">
                <a:solidFill>
                  <a:srgbClr val="FF6600"/>
                </a:solidFill>
                <a:latin typeface="Times New Roman" pitchFamily="18" charset="0"/>
                <a:ea typeface="楷体_GB2312" pitchFamily="49" charset="-122"/>
              </a:rPr>
              <a:t> </a:t>
            </a:r>
            <a:r>
              <a:rPr lang="en-US" altLang="zh-CN" sz="2400" b="1" i="1">
                <a:solidFill>
                  <a:srgbClr val="FF6600"/>
                </a:solidFill>
                <a:latin typeface="Times New Roman" pitchFamily="18" charset="0"/>
                <a:ea typeface="楷体_GB2312" pitchFamily="49" charset="-122"/>
              </a:rPr>
              <a:t>u</a:t>
            </a:r>
            <a:r>
              <a:rPr lang="en-US" altLang="zh-CN" sz="2400" b="1" i="1">
                <a:solidFill>
                  <a:srgbClr val="FF0000"/>
                </a:solidFill>
                <a:latin typeface="Times New Roman" pitchFamily="18" charset="0"/>
                <a:ea typeface="楷体_GB2312" pitchFamily="49" charset="-122"/>
              </a:rPr>
              <a:t> </a:t>
            </a:r>
            <a:r>
              <a:rPr lang="zh-CN" altLang="en-US" sz="2400" b="1">
                <a:latin typeface="Times New Roman" pitchFamily="18" charset="0"/>
                <a:ea typeface="楷体_GB2312" pitchFamily="49" charset="-122"/>
              </a:rPr>
              <a:t>个分子出现在左边的概率 </a:t>
            </a:r>
          </a:p>
        </p:txBody>
      </p:sp>
      <p:graphicFrame>
        <p:nvGraphicFramePr>
          <p:cNvPr id="131100" name="Object 28"/>
          <p:cNvGraphicFramePr>
            <a:graphicFrameLocks noChangeAspect="1"/>
          </p:cNvGraphicFramePr>
          <p:nvPr/>
        </p:nvGraphicFramePr>
        <p:xfrm>
          <a:off x="2643188" y="4429125"/>
          <a:ext cx="3122612" cy="798513"/>
        </p:xfrm>
        <a:graphic>
          <a:graphicData uri="http://schemas.openxmlformats.org/presentationml/2006/ole">
            <p:oleObj spid="_x0000_s10242" name="公式" r:id="rId4" imgW="1726920" imgH="4442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95"/>
                                        </p:tgtEl>
                                        <p:attrNameLst>
                                          <p:attrName>style.visibility</p:attrName>
                                        </p:attrNameLst>
                                      </p:cBhvr>
                                      <p:to>
                                        <p:strVal val="visible"/>
                                      </p:to>
                                    </p:set>
                                    <p:animEffect transition="in" filter="wipe(left)">
                                      <p:cBhvr>
                                        <p:cTn id="7" dur="500"/>
                                        <p:tgtEl>
                                          <p:spTgt spid="1310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099"/>
                                        </p:tgtEl>
                                        <p:attrNameLst>
                                          <p:attrName>style.visibility</p:attrName>
                                        </p:attrNameLst>
                                      </p:cBhvr>
                                      <p:to>
                                        <p:strVal val="visible"/>
                                      </p:to>
                                    </p:set>
                                    <p:animEffect transition="in" filter="wipe(left)">
                                      <p:cBhvr>
                                        <p:cTn id="17" dur="500"/>
                                        <p:tgtEl>
                                          <p:spTgt spid="1310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1100"/>
                                        </p:tgtEl>
                                        <p:attrNameLst>
                                          <p:attrName>style.visibility</p:attrName>
                                        </p:attrNameLst>
                                      </p:cBhvr>
                                      <p:to>
                                        <p:strVal val="visible"/>
                                      </p:to>
                                    </p:set>
                                    <p:animEffect transition="in" filter="wipe(left)">
                                      <p:cBhvr>
                                        <p:cTn id="22" dur="500"/>
                                        <p:tgtEl>
                                          <p:spTgt spid="131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95" grpId="0"/>
      <p:bldP spid="1310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ChangeArrowheads="1"/>
          </p:cNvSpPr>
          <p:nvPr/>
        </p:nvSpPr>
        <p:spPr bwMode="auto">
          <a:xfrm>
            <a:off x="663575" y="471488"/>
            <a:ext cx="5265738" cy="457200"/>
          </a:xfrm>
          <a:prstGeom prst="rect">
            <a:avLst/>
          </a:prstGeom>
          <a:noFill/>
          <a:ln w="9525" algn="ctr">
            <a:noFill/>
            <a:miter lim="800000"/>
            <a:headEnd/>
            <a:tailEnd/>
          </a:ln>
        </p:spPr>
        <p:txBody>
          <a:bodyPr>
            <a:spAutoFit/>
          </a:bodyPr>
          <a:lstStyle/>
          <a:p>
            <a:pPr>
              <a:buClr>
                <a:srgbClr val="CC0000"/>
              </a:buClr>
              <a:defRPr/>
            </a:pPr>
            <a:r>
              <a:rPr lang="zh-CN" altLang="en-US" sz="2400" b="1" dirty="0">
                <a:solidFill>
                  <a:srgbClr val="FF0000"/>
                </a:solidFill>
                <a:latin typeface="+mn-ea"/>
                <a:ea typeface="+mn-ea"/>
              </a:rPr>
              <a:t>研究多粒子体系热运动的基本思路</a:t>
            </a:r>
          </a:p>
        </p:txBody>
      </p:sp>
      <p:sp>
        <p:nvSpPr>
          <p:cNvPr id="35845" name="Rectangle 5"/>
          <p:cNvSpPr>
            <a:spLocks noChangeArrowheads="1"/>
          </p:cNvSpPr>
          <p:nvPr/>
        </p:nvSpPr>
        <p:spPr bwMode="auto">
          <a:xfrm>
            <a:off x="285750" y="2786063"/>
            <a:ext cx="8643938" cy="2492375"/>
          </a:xfrm>
          <a:prstGeom prst="rect">
            <a:avLst/>
          </a:prstGeom>
          <a:noFill/>
          <a:ln w="9525" algn="ctr">
            <a:noFill/>
            <a:miter lim="800000"/>
            <a:headEnd/>
            <a:tailEnd/>
          </a:ln>
        </p:spPr>
        <p:txBody>
          <a:bodyPr>
            <a:spAutoFit/>
          </a:bodyPr>
          <a:lstStyle/>
          <a:p>
            <a:pPr>
              <a:lnSpc>
                <a:spcPct val="130000"/>
              </a:lnSpc>
              <a:buClr>
                <a:srgbClr val="CC0000"/>
              </a:buClr>
              <a:buFont typeface="Wingdings" pitchFamily="2" charset="2"/>
              <a:buNone/>
              <a:defRPr/>
            </a:pPr>
            <a:r>
              <a:rPr lang="en-US" altLang="zh-CN" sz="2400" b="1" dirty="0">
                <a:solidFill>
                  <a:schemeClr val="tx2"/>
                </a:solidFill>
                <a:latin typeface="+mn-ea"/>
                <a:ea typeface="+mn-ea"/>
              </a:rPr>
              <a:t>   </a:t>
            </a:r>
            <a:r>
              <a:rPr lang="zh-CN" altLang="en-US" sz="2400" b="1" dirty="0">
                <a:solidFill>
                  <a:schemeClr val="tx2"/>
                </a:solidFill>
                <a:latin typeface="+mn-ea"/>
                <a:ea typeface="+mn-ea"/>
              </a:rPr>
              <a:t>所以，对于大量气体分子组成的多粒子体系，只有从分子运动的基本概念出发，采用</a:t>
            </a:r>
            <a:r>
              <a:rPr lang="zh-CN" altLang="en-US" sz="2400" b="1" dirty="0">
                <a:solidFill>
                  <a:srgbClr val="0000FF"/>
                </a:solidFill>
                <a:latin typeface="+mn-ea"/>
                <a:ea typeface="+mn-ea"/>
              </a:rPr>
              <a:t>统计方法</a:t>
            </a:r>
            <a:r>
              <a:rPr lang="zh-CN" altLang="en-US" sz="2400" b="1" dirty="0">
                <a:solidFill>
                  <a:schemeClr val="tx2"/>
                </a:solidFill>
                <a:latin typeface="+mn-ea"/>
                <a:ea typeface="+mn-ea"/>
              </a:rPr>
              <a:t>，求出大量分子运动的某些微观量的</a:t>
            </a:r>
            <a:r>
              <a:rPr lang="zh-CN" altLang="en-US" sz="2400" b="1" dirty="0">
                <a:solidFill>
                  <a:srgbClr val="0000FF"/>
                </a:solidFill>
                <a:latin typeface="+mn-ea"/>
                <a:ea typeface="+mn-ea"/>
              </a:rPr>
              <a:t>统计平均值</a:t>
            </a:r>
            <a:r>
              <a:rPr lang="zh-CN" altLang="en-US" sz="2400" b="1" dirty="0">
                <a:solidFill>
                  <a:schemeClr val="tx2"/>
                </a:solidFill>
                <a:latin typeface="+mn-ea"/>
                <a:ea typeface="+mn-ea"/>
              </a:rPr>
              <a:t>，才能确定宏观量与微观量间的联系，并进一步找到分子热运动遵守的</a:t>
            </a:r>
            <a:r>
              <a:rPr lang="zh-CN" altLang="en-US" sz="2400" b="1" dirty="0">
                <a:solidFill>
                  <a:srgbClr val="0000FF"/>
                </a:solidFill>
                <a:latin typeface="+mn-ea"/>
                <a:ea typeface="+mn-ea"/>
              </a:rPr>
              <a:t>统计规律</a:t>
            </a:r>
            <a:r>
              <a:rPr lang="zh-CN" altLang="en-US" sz="2400" b="1" dirty="0">
                <a:solidFill>
                  <a:schemeClr val="tx2"/>
                </a:solidFill>
                <a:latin typeface="+mn-ea"/>
                <a:ea typeface="+mn-ea"/>
              </a:rPr>
              <a:t>，从而解释与</a:t>
            </a:r>
            <a:r>
              <a:rPr lang="zh-CN" altLang="en-US" sz="2400" b="1" dirty="0">
                <a:solidFill>
                  <a:srgbClr val="0000FF"/>
                </a:solidFill>
                <a:latin typeface="+mn-ea"/>
                <a:ea typeface="+mn-ea"/>
              </a:rPr>
              <a:t>揭示宏观热现象的微观本质。</a:t>
            </a:r>
          </a:p>
        </p:txBody>
      </p:sp>
      <p:sp>
        <p:nvSpPr>
          <p:cNvPr id="35847" name="Rectangle 7"/>
          <p:cNvSpPr>
            <a:spLocks noChangeArrowheads="1"/>
          </p:cNvSpPr>
          <p:nvPr/>
        </p:nvSpPr>
        <p:spPr bwMode="auto">
          <a:xfrm>
            <a:off x="395288" y="1052513"/>
            <a:ext cx="8497887" cy="1668462"/>
          </a:xfrm>
          <a:prstGeom prst="rect">
            <a:avLst/>
          </a:prstGeom>
          <a:noFill/>
          <a:ln w="9525">
            <a:noFill/>
            <a:miter lim="800000"/>
            <a:headEnd/>
            <a:tailEnd/>
          </a:ln>
        </p:spPr>
        <p:txBody>
          <a:bodyPr>
            <a:spAutoFit/>
          </a:bodyPr>
          <a:lstStyle/>
          <a:p>
            <a:pPr>
              <a:lnSpc>
                <a:spcPct val="150000"/>
              </a:lnSpc>
              <a:spcBef>
                <a:spcPct val="50000"/>
              </a:spcBef>
              <a:defRPr/>
            </a:pPr>
            <a:r>
              <a:rPr lang="en-US" altLang="zh-CN" sz="2400" b="1" dirty="0">
                <a:latin typeface="+mn-ea"/>
                <a:ea typeface="+mn-ea"/>
              </a:rPr>
              <a:t>①  </a:t>
            </a:r>
            <a:r>
              <a:rPr lang="zh-CN" altLang="en-US" sz="2400" b="1" dirty="0">
                <a:latin typeface="+mn-ea"/>
                <a:ea typeface="+mn-ea"/>
              </a:rPr>
              <a:t>单个粒子作机械运动，遵从</a:t>
            </a:r>
            <a:r>
              <a:rPr lang="zh-CN" altLang="en-US" sz="2400" b="1" dirty="0">
                <a:solidFill>
                  <a:srgbClr val="0000FF"/>
                </a:solidFill>
                <a:latin typeface="+mn-ea"/>
                <a:ea typeface="+mn-ea"/>
              </a:rPr>
              <a:t>力学规律</a:t>
            </a:r>
            <a:r>
              <a:rPr lang="zh-CN" altLang="en-US" sz="2400" b="1" dirty="0">
                <a:latin typeface="+mn-ea"/>
                <a:ea typeface="+mn-ea"/>
              </a:rPr>
              <a:t>，用力学方法研究。</a:t>
            </a:r>
          </a:p>
          <a:p>
            <a:pPr>
              <a:lnSpc>
                <a:spcPct val="150000"/>
              </a:lnSpc>
              <a:defRPr/>
            </a:pPr>
            <a:r>
              <a:rPr lang="zh-CN" altLang="en-US" sz="2400" b="1" dirty="0">
                <a:latin typeface="+mn-ea"/>
                <a:ea typeface="+mn-ea"/>
              </a:rPr>
              <a:t>②  大量粒子的热运动不能归结为个别粒子机械运动的简单叠加，有自身固有的内在规律</a:t>
            </a:r>
            <a:r>
              <a:rPr lang="en-US" altLang="zh-CN" sz="2400" b="1" dirty="0">
                <a:latin typeface="+mn-ea"/>
                <a:ea typeface="+mn-ea"/>
              </a:rPr>
              <a:t>—— </a:t>
            </a:r>
            <a:r>
              <a:rPr lang="zh-CN" altLang="en-US" sz="2400" b="1" dirty="0">
                <a:solidFill>
                  <a:srgbClr val="0000FF"/>
                </a:solidFill>
                <a:latin typeface="+mn-ea"/>
                <a:ea typeface="+mn-ea"/>
              </a:rPr>
              <a:t>统计规律</a:t>
            </a:r>
            <a:r>
              <a:rPr lang="zh-CN" altLang="en-US" sz="2400" b="1" dirty="0">
                <a:latin typeface="+mn-ea"/>
                <a:ea typeface="+mn-ea"/>
              </a:rPr>
              <a:t>。</a:t>
            </a:r>
          </a:p>
        </p:txBody>
      </p:sp>
      <p:sp>
        <p:nvSpPr>
          <p:cNvPr id="5" name="AutoShape 4"/>
          <p:cNvSpPr>
            <a:spLocks noChangeArrowheads="1"/>
          </p:cNvSpPr>
          <p:nvPr/>
        </p:nvSpPr>
        <p:spPr bwMode="auto">
          <a:xfrm>
            <a:off x="282575" y="428625"/>
            <a:ext cx="360363"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
        <p:nvSpPr>
          <p:cNvPr id="6" name="AutoShape 10">
            <a:hlinkClick r:id="rId2" action="ppaction://hlinkpres?slideindex=2&amp;slidetitle=幻灯片 2" highlightClick="1"/>
          </p:cNvPr>
          <p:cNvSpPr>
            <a:spLocks noChangeArrowheads="1"/>
          </p:cNvSpPr>
          <p:nvPr/>
        </p:nvSpPr>
        <p:spPr bwMode="auto">
          <a:xfrm>
            <a:off x="8072438" y="6000750"/>
            <a:ext cx="287337" cy="287338"/>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4*#ppt_w"/>
                                          </p:val>
                                        </p:tav>
                                        <p:tav tm="100000">
                                          <p:val>
                                            <p:strVal val="#ppt_w"/>
                                          </p:val>
                                        </p:tav>
                                      </p:tavLst>
                                    </p:anim>
                                    <p:anim calcmode="lin" valueType="num">
                                      <p:cBhvr>
                                        <p:cTn id="8" dur="500" fill="hold"/>
                                        <p:tgtEl>
                                          <p:spTgt spid="5"/>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dissolve">
                                      <p:cBhvr>
                                        <p:cTn id="12" dur="500"/>
                                        <p:tgtEl>
                                          <p:spTgt spid="358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5847">
                                            <p:txEl>
                                              <p:pRg st="0" end="0"/>
                                            </p:txEl>
                                          </p:spTgt>
                                        </p:tgtEl>
                                        <p:attrNameLst>
                                          <p:attrName>style.visibility</p:attrName>
                                        </p:attrNameLst>
                                      </p:cBhvr>
                                      <p:to>
                                        <p:strVal val="visible"/>
                                      </p:to>
                                    </p:set>
                                    <p:animEffect transition="in" filter="dissolve">
                                      <p:cBhvr>
                                        <p:cTn id="17" dur="500"/>
                                        <p:tgtEl>
                                          <p:spTgt spid="358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5847">
                                            <p:txEl>
                                              <p:pRg st="1" end="1"/>
                                            </p:txEl>
                                          </p:spTgt>
                                        </p:tgtEl>
                                        <p:attrNameLst>
                                          <p:attrName>style.visibility</p:attrName>
                                        </p:attrNameLst>
                                      </p:cBhvr>
                                      <p:to>
                                        <p:strVal val="visible"/>
                                      </p:to>
                                    </p:set>
                                    <p:animEffect transition="in" filter="dissolve">
                                      <p:cBhvr>
                                        <p:cTn id="22" dur="500"/>
                                        <p:tgtEl>
                                          <p:spTgt spid="3584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5845"/>
                                        </p:tgtEl>
                                        <p:attrNameLst>
                                          <p:attrName>style.visibility</p:attrName>
                                        </p:attrNameLst>
                                      </p:cBhvr>
                                      <p:to>
                                        <p:strVal val="visible"/>
                                      </p:to>
                                    </p:set>
                                    <p:animEffect transition="in" filter="dissolve">
                                      <p:cBhvr>
                                        <p:cTn id="27" dur="500"/>
                                        <p:tgtEl>
                                          <p:spTgt spid="358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5" grpId="0"/>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4">
            <a:hlinkClick r:id="rId2" action="ppaction://hlinkpres?slideindex=1&amp;slidetitle="/>
          </p:cNvPr>
          <p:cNvSpPr txBox="1">
            <a:spLocks noChangeArrowheads="1"/>
          </p:cNvSpPr>
          <p:nvPr/>
        </p:nvSpPr>
        <p:spPr bwMode="auto">
          <a:xfrm>
            <a:off x="2051050" y="533400"/>
            <a:ext cx="5329238" cy="519113"/>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§8.2    </a:t>
            </a:r>
            <a:r>
              <a:rPr lang="zh-CN" altLang="en-US" sz="2800" b="1">
                <a:solidFill>
                  <a:srgbClr val="0000FF"/>
                </a:solidFill>
                <a:latin typeface="黑体" pitchFamily="2" charset="-122"/>
                <a:ea typeface="黑体" pitchFamily="2" charset="-122"/>
              </a:rPr>
              <a:t>理想气体的压强</a:t>
            </a:r>
          </a:p>
        </p:txBody>
      </p:sp>
      <p:sp>
        <p:nvSpPr>
          <p:cNvPr id="5125" name="Text Box 5"/>
          <p:cNvSpPr txBox="1">
            <a:spLocks noChangeArrowheads="1"/>
          </p:cNvSpPr>
          <p:nvPr/>
        </p:nvSpPr>
        <p:spPr bwMode="auto">
          <a:xfrm>
            <a:off x="107950" y="1214438"/>
            <a:ext cx="57880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8.2.1  </a:t>
            </a:r>
            <a:r>
              <a:rPr kumimoji="1" lang="zh-CN" altLang="en-US" sz="2400" b="1" dirty="0">
                <a:solidFill>
                  <a:srgbClr val="0000FF"/>
                </a:solidFill>
                <a:latin typeface="Times New Roman" pitchFamily="18" charset="0"/>
                <a:ea typeface="+mn-ea"/>
                <a:cs typeface="Times New Roman" pitchFamily="18" charset="0"/>
              </a:rPr>
              <a:t>理想气体的微观模型</a:t>
            </a:r>
            <a:r>
              <a:rPr kumimoji="1" lang="zh-CN" altLang="en-US" sz="2400" dirty="0">
                <a:latin typeface="Times New Roman" pitchFamily="18" charset="0"/>
                <a:ea typeface="+mn-ea"/>
                <a:cs typeface="Times New Roman" pitchFamily="18" charset="0"/>
              </a:rPr>
              <a:t> </a:t>
            </a:r>
          </a:p>
        </p:txBody>
      </p:sp>
      <p:sp>
        <p:nvSpPr>
          <p:cNvPr id="5126" name="Text Box 6"/>
          <p:cNvSpPr txBox="1">
            <a:spLocks noChangeArrowheads="1"/>
          </p:cNvSpPr>
          <p:nvPr/>
        </p:nvSpPr>
        <p:spPr bwMode="auto">
          <a:xfrm>
            <a:off x="439738" y="1773238"/>
            <a:ext cx="5203825" cy="457200"/>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忽略分子大小</a:t>
            </a:r>
            <a:r>
              <a:rPr kumimoji="1" lang="en-US" altLang="zh-CN" sz="2400" b="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看作质点</a:t>
            </a:r>
            <a:r>
              <a:rPr kumimoji="1" lang="en-US" altLang="zh-CN" sz="2400" b="1" dirty="0">
                <a:latin typeface="Times New Roman" pitchFamily="18" charset="0"/>
                <a:ea typeface="+mn-ea"/>
                <a:cs typeface="Times New Roman" pitchFamily="18" charset="0"/>
              </a:rPr>
              <a:t>)</a:t>
            </a:r>
          </a:p>
        </p:txBody>
      </p:sp>
      <p:sp>
        <p:nvSpPr>
          <p:cNvPr id="5127" name="Text Box 7"/>
          <p:cNvSpPr txBox="1">
            <a:spLocks noChangeArrowheads="1"/>
          </p:cNvSpPr>
          <p:nvPr/>
        </p:nvSpPr>
        <p:spPr bwMode="auto">
          <a:xfrm>
            <a:off x="439738" y="2900363"/>
            <a:ext cx="4133850" cy="457200"/>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忽略分子间的作用力 </a:t>
            </a:r>
          </a:p>
        </p:txBody>
      </p:sp>
      <p:sp>
        <p:nvSpPr>
          <p:cNvPr id="5128" name="Text Box 8"/>
          <p:cNvSpPr txBox="1">
            <a:spLocks noChangeArrowheads="1"/>
          </p:cNvSpPr>
          <p:nvPr/>
        </p:nvSpPr>
        <p:spPr bwMode="auto">
          <a:xfrm>
            <a:off x="403225" y="4043363"/>
            <a:ext cx="4679950" cy="457200"/>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碰撞为完全弹性 </a:t>
            </a:r>
          </a:p>
        </p:txBody>
      </p:sp>
      <p:sp>
        <p:nvSpPr>
          <p:cNvPr id="5129" name="Text Box 9"/>
          <p:cNvSpPr txBox="1">
            <a:spLocks noChangeArrowheads="1"/>
          </p:cNvSpPr>
          <p:nvPr/>
        </p:nvSpPr>
        <p:spPr bwMode="auto">
          <a:xfrm>
            <a:off x="2357438" y="2324100"/>
            <a:ext cx="4210050" cy="461963"/>
          </a:xfrm>
          <a:prstGeom prst="rect">
            <a:avLst/>
          </a:prstGeom>
          <a:noFill/>
          <a:ln w="9525">
            <a:noFill/>
            <a:miter lim="800000"/>
            <a:headEnd/>
            <a:tailEnd/>
          </a:ln>
        </p:spPr>
        <p:txBody>
          <a:bodyPr wrap="none">
            <a:spAutoFit/>
          </a:bodyPr>
          <a:lstStyle/>
          <a:p>
            <a:r>
              <a:rPr kumimoji="1" lang="en-US" altLang="zh-CN" sz="2400" b="1">
                <a:solidFill>
                  <a:srgbClr val="FF6600"/>
                </a:solidFill>
                <a:latin typeface="楷体_GB2312" pitchFamily="49" charset="-122"/>
                <a:ea typeface="楷体_GB2312" pitchFamily="49" charset="-122"/>
                <a:cs typeface="Times New Roman" pitchFamily="18" charset="0"/>
              </a:rPr>
              <a:t>(</a:t>
            </a:r>
            <a:r>
              <a:rPr kumimoji="1" lang="zh-CN" altLang="en-US" sz="2400" b="1">
                <a:solidFill>
                  <a:srgbClr val="FF6600"/>
                </a:solidFill>
                <a:latin typeface="楷体_GB2312" pitchFamily="49" charset="-122"/>
                <a:ea typeface="楷体_GB2312" pitchFamily="49" charset="-122"/>
                <a:cs typeface="Times New Roman" pitchFamily="18" charset="0"/>
              </a:rPr>
              <a:t>分子线度</a:t>
            </a:r>
            <a:r>
              <a:rPr kumimoji="1" lang="en-US" altLang="zh-CN" sz="2400" b="1">
                <a:solidFill>
                  <a:srgbClr val="FF6600"/>
                </a:solidFill>
                <a:latin typeface="楷体_GB2312" pitchFamily="49" charset="-122"/>
                <a:ea typeface="楷体_GB2312" pitchFamily="49" charset="-122"/>
                <a:cs typeface="Times New Roman" pitchFamily="18" charset="0"/>
              </a:rPr>
              <a:t>&lt;&lt;</a:t>
            </a:r>
            <a:r>
              <a:rPr kumimoji="1" lang="zh-CN" altLang="en-US" sz="2400" b="1">
                <a:solidFill>
                  <a:srgbClr val="FF6600"/>
                </a:solidFill>
                <a:latin typeface="楷体_GB2312" pitchFamily="49" charset="-122"/>
                <a:ea typeface="楷体_GB2312" pitchFamily="49" charset="-122"/>
                <a:cs typeface="Times New Roman" pitchFamily="18" charset="0"/>
              </a:rPr>
              <a:t>分子间平均距离</a:t>
            </a:r>
            <a:r>
              <a:rPr kumimoji="1" lang="en-US" altLang="zh-CN" sz="2400" b="1">
                <a:solidFill>
                  <a:srgbClr val="FF6600"/>
                </a:solidFill>
                <a:latin typeface="楷体_GB2312" pitchFamily="49" charset="-122"/>
                <a:ea typeface="楷体_GB2312" pitchFamily="49" charset="-122"/>
                <a:cs typeface="Times New Roman" pitchFamily="18" charset="0"/>
              </a:rPr>
              <a:t>)</a:t>
            </a:r>
          </a:p>
        </p:txBody>
      </p:sp>
      <p:sp>
        <p:nvSpPr>
          <p:cNvPr id="5130" name="Text Box 10"/>
          <p:cNvSpPr txBox="1">
            <a:spLocks noChangeArrowheads="1"/>
          </p:cNvSpPr>
          <p:nvPr/>
        </p:nvSpPr>
        <p:spPr bwMode="auto">
          <a:xfrm>
            <a:off x="2357438" y="3467100"/>
            <a:ext cx="4518025" cy="461963"/>
          </a:xfrm>
          <a:prstGeom prst="rect">
            <a:avLst/>
          </a:prstGeom>
          <a:noFill/>
          <a:ln w="9525">
            <a:noFill/>
            <a:miter lim="800000"/>
            <a:headEnd/>
            <a:tailEnd/>
          </a:ln>
        </p:spPr>
        <p:txBody>
          <a:bodyPr wrap="none">
            <a:spAutoFit/>
          </a:bodyPr>
          <a:lstStyle/>
          <a:p>
            <a:r>
              <a:rPr kumimoji="1" lang="en-US" altLang="zh-CN" sz="2400" b="1">
                <a:solidFill>
                  <a:srgbClr val="FF6600"/>
                </a:solidFill>
                <a:latin typeface="楷体_GB2312" pitchFamily="49" charset="-122"/>
                <a:ea typeface="楷体_GB2312" pitchFamily="49" charset="-122"/>
                <a:cs typeface="Times New Roman" pitchFamily="18" charset="0"/>
              </a:rPr>
              <a:t>(</a:t>
            </a:r>
            <a:r>
              <a:rPr kumimoji="1" lang="zh-CN" altLang="en-US" sz="2400" b="1">
                <a:solidFill>
                  <a:srgbClr val="FF6600"/>
                </a:solidFill>
                <a:latin typeface="楷体_GB2312" pitchFamily="49" charset="-122"/>
                <a:ea typeface="楷体_GB2312" pitchFamily="49" charset="-122"/>
                <a:cs typeface="Times New Roman" pitchFamily="18" charset="0"/>
              </a:rPr>
              <a:t>分子与分子或器壁碰撞时除外</a:t>
            </a:r>
            <a:r>
              <a:rPr kumimoji="1" lang="en-US" altLang="zh-CN" sz="2400" b="1">
                <a:solidFill>
                  <a:srgbClr val="FF6600"/>
                </a:solidFill>
                <a:latin typeface="楷体_GB2312" pitchFamily="49" charset="-122"/>
                <a:ea typeface="楷体_GB2312" pitchFamily="49" charset="-122"/>
                <a:cs typeface="Times New Roman" pitchFamily="18" charset="0"/>
              </a:rPr>
              <a:t>)</a:t>
            </a:r>
          </a:p>
        </p:txBody>
      </p:sp>
      <p:sp>
        <p:nvSpPr>
          <p:cNvPr id="5131" name="Text Box 11"/>
          <p:cNvSpPr txBox="1">
            <a:spLocks noChangeArrowheads="1"/>
          </p:cNvSpPr>
          <p:nvPr/>
        </p:nvSpPr>
        <p:spPr bwMode="auto">
          <a:xfrm>
            <a:off x="785813" y="4737100"/>
            <a:ext cx="7072312" cy="969963"/>
          </a:xfrm>
          <a:prstGeom prst="rect">
            <a:avLst/>
          </a:prstGeom>
          <a:gradFill rotWithShape="1">
            <a:gsLst>
              <a:gs pos="0">
                <a:srgbClr val="FFFF00"/>
              </a:gs>
              <a:gs pos="100000">
                <a:srgbClr val="66FFFF"/>
              </a:gs>
            </a:gsLst>
            <a:lin ang="0" scaled="1"/>
          </a:gradFill>
          <a:ln w="9525" algn="ctr">
            <a:noFill/>
            <a:miter lim="800000"/>
            <a:headEnd/>
            <a:tailEnd/>
          </a:ln>
        </p:spPr>
        <p:txBody>
          <a:bodyPr>
            <a:spAutoFit/>
          </a:bodyPr>
          <a:lstStyle/>
          <a:p>
            <a:pPr>
              <a:lnSpc>
                <a:spcPct val="125000"/>
              </a:lnSpc>
              <a:defRPr/>
            </a:pPr>
            <a:r>
              <a:rPr kumimoji="1" lang="zh-CN" altLang="en-US" sz="2400" b="1" dirty="0">
                <a:solidFill>
                  <a:srgbClr val="FF0000"/>
                </a:solidFill>
                <a:latin typeface="Times New Roman" pitchFamily="18" charset="0"/>
                <a:ea typeface="+mn-ea"/>
                <a:cs typeface="Times New Roman" pitchFamily="18" charset="0"/>
              </a:rPr>
              <a:t>        理想气体</a:t>
            </a:r>
            <a:r>
              <a:rPr kumimoji="1" lang="zh-CN" altLang="en-US" sz="2400" b="1" dirty="0">
                <a:latin typeface="Times New Roman" pitchFamily="18" charset="0"/>
                <a:ea typeface="+mn-ea"/>
                <a:cs typeface="Times New Roman" pitchFamily="18" charset="0"/>
              </a:rPr>
              <a:t>可看作是许多个自由地、无规则运动着的弹性小球的集合。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wipe(left)">
                                      <p:cBhvr>
                                        <p:cTn id="7" dur="20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transition="in" filter="wipe(left)">
                                      <p:cBhvr>
                                        <p:cTn id="12" dur="500"/>
                                        <p:tgtEl>
                                          <p:spTgt spid="51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9"/>
                                        </p:tgtEl>
                                        <p:attrNameLst>
                                          <p:attrName>style.visibility</p:attrName>
                                        </p:attrNameLst>
                                      </p:cBhvr>
                                      <p:to>
                                        <p:strVal val="visible"/>
                                      </p:to>
                                    </p:set>
                                    <p:animEffect transition="in" filter="wipe(left)">
                                      <p:cBhvr>
                                        <p:cTn id="17" dur="500"/>
                                        <p:tgtEl>
                                          <p:spTgt spid="51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7"/>
                                        </p:tgtEl>
                                        <p:attrNameLst>
                                          <p:attrName>style.visibility</p:attrName>
                                        </p:attrNameLst>
                                      </p:cBhvr>
                                      <p:to>
                                        <p:strVal val="visible"/>
                                      </p:to>
                                    </p:set>
                                    <p:animEffect transition="in" filter="wipe(left)">
                                      <p:cBhvr>
                                        <p:cTn id="22" dur="500"/>
                                        <p:tgtEl>
                                          <p:spTgt spid="51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30"/>
                                        </p:tgtEl>
                                        <p:attrNameLst>
                                          <p:attrName>style.visibility</p:attrName>
                                        </p:attrNameLst>
                                      </p:cBhvr>
                                      <p:to>
                                        <p:strVal val="visible"/>
                                      </p:to>
                                    </p:set>
                                    <p:animEffect transition="in" filter="wipe(left)">
                                      <p:cBhvr>
                                        <p:cTn id="27" dur="500"/>
                                        <p:tgtEl>
                                          <p:spTgt spid="51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28"/>
                                        </p:tgtEl>
                                        <p:attrNameLst>
                                          <p:attrName>style.visibility</p:attrName>
                                        </p:attrNameLst>
                                      </p:cBhvr>
                                      <p:to>
                                        <p:strVal val="visible"/>
                                      </p:to>
                                    </p:set>
                                    <p:animEffect transition="in" filter="wipe(left)">
                                      <p:cBhvr>
                                        <p:cTn id="32" dur="500"/>
                                        <p:tgtEl>
                                          <p:spTgt spid="51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31"/>
                                        </p:tgtEl>
                                        <p:attrNameLst>
                                          <p:attrName>style.visibility</p:attrName>
                                        </p:attrNameLst>
                                      </p:cBhvr>
                                      <p:to>
                                        <p:strVal val="visible"/>
                                      </p:to>
                                    </p:set>
                                    <p:animEffect transition="in" filter="wipe(left)">
                                      <p:cBhvr>
                                        <p:cTn id="37" dur="500"/>
                                        <p:tgtEl>
                                          <p:spTgt spid="5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utoUpdateAnimBg="0"/>
      <p:bldP spid="5126" grpId="0" autoUpdateAnimBg="0"/>
      <p:bldP spid="5127" grpId="0" autoUpdateAnimBg="0"/>
      <p:bldP spid="5128" grpId="0" autoUpdateAnimBg="0"/>
      <p:bldP spid="5129" grpId="0" autoUpdateAnimBg="0"/>
      <p:bldP spid="5130" grpId="0" autoUpdateAnimBg="0"/>
      <p:bldP spid="5131"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Text Box 3"/>
          <p:cNvSpPr txBox="1">
            <a:spLocks noChangeArrowheads="1"/>
          </p:cNvSpPr>
          <p:nvPr/>
        </p:nvSpPr>
        <p:spPr bwMode="auto">
          <a:xfrm>
            <a:off x="592138" y="1773238"/>
            <a:ext cx="3259137" cy="457200"/>
          </a:xfrm>
          <a:prstGeom prst="rect">
            <a:avLst/>
          </a:prstGeom>
          <a:noFill/>
          <a:ln w="9525">
            <a:noFill/>
            <a:miter lim="800000"/>
            <a:headEnd/>
            <a:tailEnd/>
          </a:ln>
        </p:spPr>
        <p:txBody>
          <a:bodyPr>
            <a:spAutoFit/>
          </a:bodyPr>
          <a:lstStyle/>
          <a:p>
            <a:r>
              <a:rPr lang="zh-CN" altLang="en-US" sz="2400" b="1">
                <a:latin typeface="Times New Roman" pitchFamily="18" charset="0"/>
              </a:rPr>
              <a:t>单个分子与器壁碰撞</a:t>
            </a:r>
          </a:p>
        </p:txBody>
      </p:sp>
      <p:sp>
        <p:nvSpPr>
          <p:cNvPr id="141316" name="AutoShape 4"/>
          <p:cNvSpPr>
            <a:spLocks noChangeArrowheads="1"/>
          </p:cNvSpPr>
          <p:nvPr/>
        </p:nvSpPr>
        <p:spPr bwMode="auto">
          <a:xfrm>
            <a:off x="539750" y="2492375"/>
            <a:ext cx="649288" cy="215900"/>
          </a:xfrm>
          <a:prstGeom prst="rightArrow">
            <a:avLst>
              <a:gd name="adj1" fmla="val 50000"/>
              <a:gd name="adj2" fmla="val 75184"/>
            </a:avLst>
          </a:prstGeom>
          <a:solidFill>
            <a:schemeClr val="accent1"/>
          </a:solidFill>
          <a:ln w="9525">
            <a:solidFill>
              <a:schemeClr val="tx1"/>
            </a:solidFill>
            <a:miter lim="800000"/>
            <a:headEnd/>
            <a:tailEnd/>
          </a:ln>
        </p:spPr>
        <p:txBody>
          <a:bodyPr wrap="none" anchor="ctr"/>
          <a:lstStyle/>
          <a:p>
            <a:endParaRPr lang="zh-CN" altLang="en-US"/>
          </a:p>
        </p:txBody>
      </p:sp>
      <p:sp>
        <p:nvSpPr>
          <p:cNvPr id="141317" name="Text Box 5"/>
          <p:cNvSpPr txBox="1">
            <a:spLocks noChangeArrowheads="1"/>
          </p:cNvSpPr>
          <p:nvPr/>
        </p:nvSpPr>
        <p:spPr bwMode="auto">
          <a:xfrm>
            <a:off x="1403350" y="2276475"/>
            <a:ext cx="5113338" cy="1006475"/>
          </a:xfrm>
          <a:prstGeom prst="rect">
            <a:avLst/>
          </a:prstGeom>
          <a:noFill/>
          <a:ln w="9525">
            <a:noFill/>
            <a:miter lim="800000"/>
            <a:headEnd/>
            <a:tailEnd/>
          </a:ln>
        </p:spPr>
        <p:txBody>
          <a:bodyPr>
            <a:spAutoFit/>
          </a:bodyPr>
          <a:lstStyle/>
          <a:p>
            <a:pPr>
              <a:lnSpc>
                <a:spcPct val="125000"/>
              </a:lnSpc>
            </a:pPr>
            <a:r>
              <a:rPr lang="zh-CN" altLang="en-US" sz="2400" b="1">
                <a:latin typeface="Times New Roman" pitchFamily="18" charset="0"/>
              </a:rPr>
              <a:t>冲力作用瞬间完成，大小、位置具有偶然性；</a:t>
            </a:r>
          </a:p>
        </p:txBody>
      </p:sp>
      <p:sp>
        <p:nvSpPr>
          <p:cNvPr id="141318" name="Text Box 6"/>
          <p:cNvSpPr txBox="1">
            <a:spLocks noChangeArrowheads="1"/>
          </p:cNvSpPr>
          <p:nvPr/>
        </p:nvSpPr>
        <p:spPr bwMode="auto">
          <a:xfrm>
            <a:off x="611188" y="3500438"/>
            <a:ext cx="5832475" cy="457200"/>
          </a:xfrm>
          <a:prstGeom prst="rect">
            <a:avLst/>
          </a:prstGeom>
          <a:noFill/>
          <a:ln w="9525">
            <a:noFill/>
            <a:miter lim="800000"/>
            <a:headEnd/>
            <a:tailEnd/>
          </a:ln>
        </p:spPr>
        <p:txBody>
          <a:bodyPr>
            <a:spAutoFit/>
          </a:bodyPr>
          <a:lstStyle/>
          <a:p>
            <a:r>
              <a:rPr lang="zh-CN" altLang="en-US" sz="2400" b="1">
                <a:latin typeface="Times New Roman" pitchFamily="18" charset="0"/>
              </a:rPr>
              <a:t>大量分子（整个气体系统）与器壁碰撞</a:t>
            </a:r>
          </a:p>
        </p:txBody>
      </p:sp>
      <p:sp>
        <p:nvSpPr>
          <p:cNvPr id="141319" name="AutoShape 7"/>
          <p:cNvSpPr>
            <a:spLocks noChangeArrowheads="1"/>
          </p:cNvSpPr>
          <p:nvPr/>
        </p:nvSpPr>
        <p:spPr bwMode="auto">
          <a:xfrm>
            <a:off x="539750" y="4432300"/>
            <a:ext cx="649288" cy="215900"/>
          </a:xfrm>
          <a:prstGeom prst="rightArrow">
            <a:avLst>
              <a:gd name="adj1" fmla="val 50000"/>
              <a:gd name="adj2" fmla="val 75184"/>
            </a:avLst>
          </a:prstGeom>
          <a:solidFill>
            <a:schemeClr val="accent1"/>
          </a:solidFill>
          <a:ln w="9525">
            <a:solidFill>
              <a:schemeClr val="tx1"/>
            </a:solidFill>
            <a:miter lim="800000"/>
            <a:headEnd/>
            <a:tailEnd/>
          </a:ln>
        </p:spPr>
        <p:txBody>
          <a:bodyPr wrap="none" anchor="ctr"/>
          <a:lstStyle/>
          <a:p>
            <a:endParaRPr lang="zh-CN" altLang="en-US"/>
          </a:p>
        </p:txBody>
      </p:sp>
      <p:sp>
        <p:nvSpPr>
          <p:cNvPr id="141320" name="Text Box 8"/>
          <p:cNvSpPr txBox="1">
            <a:spLocks noChangeArrowheads="1"/>
          </p:cNvSpPr>
          <p:nvPr/>
        </p:nvSpPr>
        <p:spPr bwMode="auto">
          <a:xfrm>
            <a:off x="1331913" y="4175125"/>
            <a:ext cx="5113337" cy="549275"/>
          </a:xfrm>
          <a:prstGeom prst="rect">
            <a:avLst/>
          </a:prstGeom>
          <a:noFill/>
          <a:ln w="9525">
            <a:noFill/>
            <a:miter lim="800000"/>
            <a:headEnd/>
            <a:tailEnd/>
          </a:ln>
        </p:spPr>
        <p:txBody>
          <a:bodyPr>
            <a:spAutoFit/>
          </a:bodyPr>
          <a:lstStyle/>
          <a:p>
            <a:pPr>
              <a:lnSpc>
                <a:spcPct val="125000"/>
              </a:lnSpc>
            </a:pPr>
            <a:r>
              <a:rPr lang="zh-CN" altLang="en-US" sz="2400" b="1">
                <a:latin typeface="Times New Roman" pitchFamily="18" charset="0"/>
              </a:rPr>
              <a:t>冲力的作用是持续的、不变的</a:t>
            </a:r>
          </a:p>
        </p:txBody>
      </p:sp>
      <p:pic>
        <p:nvPicPr>
          <p:cNvPr id="141321" name="Picture 9" descr="fzmove"/>
          <p:cNvPicPr>
            <a:picLocks noChangeAspect="1" noChangeArrowheads="1"/>
          </p:cNvPicPr>
          <p:nvPr/>
        </p:nvPicPr>
        <p:blipFill>
          <a:blip r:embed="rId2"/>
          <a:srcRect/>
          <a:stretch>
            <a:fillRect/>
          </a:stretch>
        </p:blipFill>
        <p:spPr bwMode="auto">
          <a:xfrm>
            <a:off x="6804025" y="3789363"/>
            <a:ext cx="1944688" cy="1944687"/>
          </a:xfrm>
          <a:prstGeom prst="rect">
            <a:avLst/>
          </a:prstGeom>
          <a:noFill/>
          <a:ln w="9525">
            <a:noFill/>
            <a:miter lim="800000"/>
            <a:headEnd/>
            <a:tailEnd/>
          </a:ln>
        </p:spPr>
      </p:pic>
      <p:pic>
        <p:nvPicPr>
          <p:cNvPr id="141322" name="Picture 10" descr="cbde01"/>
          <p:cNvPicPr>
            <a:picLocks noChangeAspect="1" noChangeArrowheads="1" noCrop="1"/>
          </p:cNvPicPr>
          <p:nvPr/>
        </p:nvPicPr>
        <p:blipFill>
          <a:blip r:embed="rId3"/>
          <a:srcRect/>
          <a:stretch>
            <a:fillRect/>
          </a:stretch>
        </p:blipFill>
        <p:spPr bwMode="auto">
          <a:xfrm>
            <a:off x="6732588" y="1484313"/>
            <a:ext cx="1944687" cy="1944687"/>
          </a:xfrm>
          <a:prstGeom prst="rect">
            <a:avLst/>
          </a:prstGeom>
          <a:noFill/>
          <a:ln w="9525">
            <a:noFill/>
            <a:miter lim="800000"/>
            <a:headEnd/>
            <a:tailEnd/>
          </a:ln>
        </p:spPr>
      </p:pic>
      <p:sp>
        <p:nvSpPr>
          <p:cNvPr id="141323" name="AutoShape 11"/>
          <p:cNvSpPr>
            <a:spLocks noChangeArrowheads="1"/>
          </p:cNvSpPr>
          <p:nvPr/>
        </p:nvSpPr>
        <p:spPr bwMode="auto">
          <a:xfrm>
            <a:off x="250825" y="5373688"/>
            <a:ext cx="938213" cy="215900"/>
          </a:xfrm>
          <a:prstGeom prst="rightArrow">
            <a:avLst>
              <a:gd name="adj1" fmla="val 50000"/>
              <a:gd name="adj2" fmla="val 108640"/>
            </a:avLst>
          </a:prstGeom>
          <a:solidFill>
            <a:schemeClr val="accent2"/>
          </a:solidFill>
          <a:ln w="9525">
            <a:solidFill>
              <a:schemeClr val="tx1"/>
            </a:solidFill>
            <a:miter lim="800000"/>
            <a:headEnd/>
            <a:tailEnd/>
          </a:ln>
        </p:spPr>
        <p:txBody>
          <a:bodyPr wrap="none" anchor="ctr"/>
          <a:lstStyle/>
          <a:p>
            <a:endParaRPr lang="zh-CN" altLang="en-US"/>
          </a:p>
        </p:txBody>
      </p:sp>
      <p:sp>
        <p:nvSpPr>
          <p:cNvPr id="141324" name="Text Box 12"/>
          <p:cNvSpPr txBox="1">
            <a:spLocks noChangeArrowheads="1"/>
          </p:cNvSpPr>
          <p:nvPr/>
        </p:nvSpPr>
        <p:spPr bwMode="auto">
          <a:xfrm>
            <a:off x="1384300" y="5156200"/>
            <a:ext cx="3416300" cy="1006475"/>
          </a:xfrm>
          <a:prstGeom prst="rect">
            <a:avLst/>
          </a:prstGeom>
          <a:noFill/>
          <a:ln w="9525">
            <a:noFill/>
            <a:miter lim="800000"/>
            <a:headEnd/>
            <a:tailEnd/>
          </a:ln>
        </p:spPr>
        <p:txBody>
          <a:bodyPr>
            <a:spAutoFit/>
          </a:bodyPr>
          <a:lstStyle/>
          <a:p>
            <a:pPr>
              <a:lnSpc>
                <a:spcPct val="125000"/>
              </a:lnSpc>
            </a:pPr>
            <a:r>
              <a:rPr lang="zh-CN" altLang="en-US" sz="2400" b="1">
                <a:solidFill>
                  <a:srgbClr val="0000FF"/>
                </a:solidFill>
                <a:latin typeface="Times New Roman" pitchFamily="18" charset="0"/>
              </a:rPr>
              <a:t>压强是气体分子给容器壁冲量的统计平均量</a:t>
            </a:r>
          </a:p>
        </p:txBody>
      </p:sp>
      <p:grpSp>
        <p:nvGrpSpPr>
          <p:cNvPr id="2" name="Group 13"/>
          <p:cNvGrpSpPr>
            <a:grpSpLocks/>
          </p:cNvGrpSpPr>
          <p:nvPr/>
        </p:nvGrpSpPr>
        <p:grpSpPr bwMode="auto">
          <a:xfrm>
            <a:off x="4572000" y="5181600"/>
            <a:ext cx="1828800" cy="533400"/>
            <a:chOff x="2976" y="3120"/>
            <a:chExt cx="1152" cy="336"/>
          </a:xfrm>
        </p:grpSpPr>
        <p:sp>
          <p:nvSpPr>
            <p:cNvPr id="103439" name="AutoShape 14"/>
            <p:cNvSpPr>
              <a:spLocks noChangeArrowheads="1"/>
            </p:cNvSpPr>
            <p:nvPr/>
          </p:nvSpPr>
          <p:spPr bwMode="auto">
            <a:xfrm>
              <a:off x="3072" y="3120"/>
              <a:ext cx="1008" cy="336"/>
            </a:xfrm>
            <a:prstGeom prst="wedgeRoundRectCallout">
              <a:avLst>
                <a:gd name="adj1" fmla="val -43750"/>
                <a:gd name="adj2" fmla="val 70000"/>
                <a:gd name="adj3" fmla="val 16667"/>
              </a:avLst>
            </a:prstGeom>
            <a:solidFill>
              <a:srgbClr val="00FFFF">
                <a:alpha val="50195"/>
              </a:srgbClr>
            </a:solidFill>
            <a:ln w="9525">
              <a:solidFill>
                <a:srgbClr val="FF6600"/>
              </a:solidFill>
              <a:miter lim="800000"/>
              <a:headEnd/>
              <a:tailEnd/>
            </a:ln>
          </p:spPr>
          <p:txBody>
            <a:bodyPr/>
            <a:lstStyle/>
            <a:p>
              <a:endParaRPr lang="zh-CN" altLang="zh-CN" sz="2400" b="1">
                <a:latin typeface="Times New Roman" pitchFamily="18" charset="0"/>
              </a:endParaRPr>
            </a:p>
          </p:txBody>
        </p:sp>
        <p:sp>
          <p:nvSpPr>
            <p:cNvPr id="103440" name="Text Box 15"/>
            <p:cNvSpPr txBox="1">
              <a:spLocks noChangeArrowheads="1"/>
            </p:cNvSpPr>
            <p:nvPr/>
          </p:nvSpPr>
          <p:spPr bwMode="auto">
            <a:xfrm>
              <a:off x="2976" y="3120"/>
              <a:ext cx="1152" cy="288"/>
            </a:xfrm>
            <a:prstGeom prst="rect">
              <a:avLst/>
            </a:prstGeom>
            <a:noFill/>
            <a:ln w="9525">
              <a:noFill/>
              <a:miter lim="800000"/>
              <a:headEnd/>
              <a:tailEnd/>
            </a:ln>
          </p:spPr>
          <p:txBody>
            <a:bodyPr>
              <a:spAutoFit/>
            </a:bodyPr>
            <a:lstStyle/>
            <a:p>
              <a:pPr>
                <a:spcBef>
                  <a:spcPct val="50000"/>
                </a:spcBef>
              </a:pPr>
              <a:r>
                <a:rPr kumimoji="1" lang="en-US" altLang="zh-CN" sz="2400" b="1">
                  <a:solidFill>
                    <a:srgbClr val="0000FF"/>
                  </a:solidFill>
                  <a:latin typeface="宋体" charset="-122"/>
                </a:rPr>
                <a:t>  </a:t>
              </a:r>
              <a:r>
                <a:rPr kumimoji="1" lang="zh-CN" altLang="en-US" sz="2400" b="1">
                  <a:solidFill>
                    <a:srgbClr val="FF0000"/>
                  </a:solidFill>
                  <a:latin typeface="宋体" charset="-122"/>
                </a:rPr>
                <a:t>微观解释</a:t>
              </a:r>
            </a:p>
          </p:txBody>
        </p:sp>
      </p:grpSp>
      <p:sp>
        <p:nvSpPr>
          <p:cNvPr id="141328" name="Text Box 16"/>
          <p:cNvSpPr txBox="1">
            <a:spLocks noChangeArrowheads="1"/>
          </p:cNvSpPr>
          <p:nvPr/>
        </p:nvSpPr>
        <p:spPr bwMode="auto">
          <a:xfrm>
            <a:off x="179388" y="404813"/>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8.2.2  </a:t>
            </a:r>
            <a:r>
              <a:rPr kumimoji="1" lang="zh-CN" altLang="en-US" sz="2400" b="1">
                <a:solidFill>
                  <a:srgbClr val="0000FF"/>
                </a:solidFill>
              </a:rPr>
              <a:t>理想气体压强公式及其统计意义</a:t>
            </a:r>
            <a:r>
              <a:rPr kumimoji="1" lang="zh-CN" altLang="en-US"/>
              <a:t> </a:t>
            </a:r>
          </a:p>
        </p:txBody>
      </p:sp>
      <p:sp>
        <p:nvSpPr>
          <p:cNvPr id="141329" name="Text Box 17"/>
          <p:cNvSpPr txBox="1">
            <a:spLocks noChangeArrowheads="1"/>
          </p:cNvSpPr>
          <p:nvPr/>
        </p:nvSpPr>
        <p:spPr bwMode="auto">
          <a:xfrm>
            <a:off x="395288" y="1052513"/>
            <a:ext cx="1439862" cy="558800"/>
          </a:xfrm>
          <a:prstGeom prst="rect">
            <a:avLst/>
          </a:prstGeom>
          <a:solidFill>
            <a:srgbClr val="00FF00"/>
          </a:solidFill>
          <a:ln w="9525" algn="ctr">
            <a:solidFill>
              <a:schemeClr val="tx1"/>
            </a:solidFill>
            <a:miter lim="800000"/>
            <a:headEnd/>
            <a:tailEnd/>
          </a:ln>
        </p:spPr>
        <p:txBody>
          <a:bodyPr>
            <a:spAutoFit/>
          </a:bodyPr>
          <a:lstStyle/>
          <a:p>
            <a:pPr>
              <a:lnSpc>
                <a:spcPct val="125000"/>
              </a:lnSpc>
            </a:pPr>
            <a:r>
              <a:rPr kumimoji="1" lang="zh-CN" altLang="en-US" sz="2400" b="1">
                <a:solidFill>
                  <a:srgbClr val="FF0000"/>
                </a:solidFill>
                <a:latin typeface="宋体" charset="-122"/>
              </a:rPr>
              <a:t>定性解释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28"/>
                                        </p:tgtEl>
                                        <p:attrNameLst>
                                          <p:attrName>style.visibility</p:attrName>
                                        </p:attrNameLst>
                                      </p:cBhvr>
                                      <p:to>
                                        <p:strVal val="visible"/>
                                      </p:to>
                                    </p:set>
                                    <p:animEffect transition="in" filter="wipe(left)">
                                      <p:cBhvr>
                                        <p:cTn id="7" dur="2000"/>
                                        <p:tgtEl>
                                          <p:spTgt spid="141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29"/>
                                        </p:tgtEl>
                                        <p:attrNameLst>
                                          <p:attrName>style.visibility</p:attrName>
                                        </p:attrNameLst>
                                      </p:cBhvr>
                                      <p:to>
                                        <p:strVal val="visible"/>
                                      </p:to>
                                    </p:set>
                                    <p:animEffect transition="in" filter="wipe(left)">
                                      <p:cBhvr>
                                        <p:cTn id="12" dur="500"/>
                                        <p:tgtEl>
                                          <p:spTgt spid="1413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gtEl>
                                        <p:attrNameLst>
                                          <p:attrName>style.visibility</p:attrName>
                                        </p:attrNameLst>
                                      </p:cBhvr>
                                      <p:to>
                                        <p:strVal val="visible"/>
                                      </p:to>
                                    </p:set>
                                    <p:animEffect transition="in" filter="wipe(left)">
                                      <p:cBhvr>
                                        <p:cTn id="17" dur="500"/>
                                        <p:tgtEl>
                                          <p:spTgt spid="1413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16"/>
                                        </p:tgtEl>
                                        <p:attrNameLst>
                                          <p:attrName>style.visibility</p:attrName>
                                        </p:attrNameLst>
                                      </p:cBhvr>
                                      <p:to>
                                        <p:strVal val="visible"/>
                                      </p:to>
                                    </p:set>
                                    <p:animEffect transition="in" filter="wipe(left)">
                                      <p:cBhvr>
                                        <p:cTn id="22" dur="500"/>
                                        <p:tgtEl>
                                          <p:spTgt spid="14131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41317"/>
                                        </p:tgtEl>
                                        <p:attrNameLst>
                                          <p:attrName>style.visibility</p:attrName>
                                        </p:attrNameLst>
                                      </p:cBhvr>
                                      <p:to>
                                        <p:strVal val="visible"/>
                                      </p:to>
                                    </p:set>
                                    <p:animEffect transition="in" filter="wipe(left)">
                                      <p:cBhvr>
                                        <p:cTn id="26" dur="500"/>
                                        <p:tgtEl>
                                          <p:spTgt spid="141317"/>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41322"/>
                                        </p:tgtEl>
                                        <p:attrNameLst>
                                          <p:attrName>style.visibility</p:attrName>
                                        </p:attrNameLst>
                                      </p:cBhvr>
                                      <p:to>
                                        <p:strVal val="visible"/>
                                      </p:to>
                                    </p:set>
                                    <p:animEffect transition="in" filter="box(out)">
                                      <p:cBhvr>
                                        <p:cTn id="31" dur="500"/>
                                        <p:tgtEl>
                                          <p:spTgt spid="1413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1318"/>
                                        </p:tgtEl>
                                        <p:attrNameLst>
                                          <p:attrName>style.visibility</p:attrName>
                                        </p:attrNameLst>
                                      </p:cBhvr>
                                      <p:to>
                                        <p:strVal val="visible"/>
                                      </p:to>
                                    </p:set>
                                    <p:animEffect transition="in" filter="wipe(left)">
                                      <p:cBhvr>
                                        <p:cTn id="36" dur="500"/>
                                        <p:tgtEl>
                                          <p:spTgt spid="1413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1319"/>
                                        </p:tgtEl>
                                        <p:attrNameLst>
                                          <p:attrName>style.visibility</p:attrName>
                                        </p:attrNameLst>
                                      </p:cBhvr>
                                      <p:to>
                                        <p:strVal val="visible"/>
                                      </p:to>
                                    </p:set>
                                    <p:animEffect transition="in" filter="wipe(left)">
                                      <p:cBhvr>
                                        <p:cTn id="41" dur="500"/>
                                        <p:tgtEl>
                                          <p:spTgt spid="141319"/>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41320"/>
                                        </p:tgtEl>
                                        <p:attrNameLst>
                                          <p:attrName>style.visibility</p:attrName>
                                        </p:attrNameLst>
                                      </p:cBhvr>
                                      <p:to>
                                        <p:strVal val="visible"/>
                                      </p:to>
                                    </p:set>
                                    <p:animEffect transition="in" filter="wipe(left)">
                                      <p:cBhvr>
                                        <p:cTn id="45" dur="500"/>
                                        <p:tgtEl>
                                          <p:spTgt spid="14132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141321"/>
                                        </p:tgtEl>
                                        <p:attrNameLst>
                                          <p:attrName>style.visibility</p:attrName>
                                        </p:attrNameLst>
                                      </p:cBhvr>
                                      <p:to>
                                        <p:strVal val="visible"/>
                                      </p:to>
                                    </p:set>
                                    <p:animEffect transition="in" filter="box(out)">
                                      <p:cBhvr>
                                        <p:cTn id="50" dur="500"/>
                                        <p:tgtEl>
                                          <p:spTgt spid="14132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41323"/>
                                        </p:tgtEl>
                                        <p:attrNameLst>
                                          <p:attrName>style.visibility</p:attrName>
                                        </p:attrNameLst>
                                      </p:cBhvr>
                                      <p:to>
                                        <p:strVal val="visible"/>
                                      </p:to>
                                    </p:set>
                                    <p:animEffect transition="in" filter="wipe(left)">
                                      <p:cBhvr>
                                        <p:cTn id="55" dur="500"/>
                                        <p:tgtEl>
                                          <p:spTgt spid="141323"/>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41324"/>
                                        </p:tgtEl>
                                        <p:attrNameLst>
                                          <p:attrName>style.visibility</p:attrName>
                                        </p:attrNameLst>
                                      </p:cBhvr>
                                      <p:to>
                                        <p:strVal val="visible"/>
                                      </p:to>
                                    </p:set>
                                    <p:animEffect transition="in" filter="wipe(left)">
                                      <p:cBhvr>
                                        <p:cTn id="59" dur="500"/>
                                        <p:tgtEl>
                                          <p:spTgt spid="141324"/>
                                        </p:tgtEl>
                                      </p:cBhvr>
                                    </p:animEffect>
                                  </p:childTnLst>
                                </p:cTn>
                              </p:par>
                            </p:childTnLst>
                          </p:cTn>
                        </p:par>
                      </p:childTnLst>
                    </p:cTn>
                  </p:par>
                  <p:par>
                    <p:cTn id="60" fill="hold">
                      <p:stCondLst>
                        <p:cond delay="indefinite"/>
                      </p:stCondLst>
                      <p:childTnLst>
                        <p:par>
                          <p:cTn id="61" fill="hold">
                            <p:stCondLst>
                              <p:cond delay="0"/>
                            </p:stCondLst>
                            <p:childTnLst>
                              <p:par>
                                <p:cTn id="62" presetID="7" presetClass="entr" presetSubtype="2"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 calcmode="lin" valueType="num">
                                      <p:cBhvr additive="base">
                                        <p:cTn id="64" dur="5000" fill="hold"/>
                                        <p:tgtEl>
                                          <p:spTgt spid="2"/>
                                        </p:tgtEl>
                                        <p:attrNameLst>
                                          <p:attrName>ppt_x</p:attrName>
                                        </p:attrNameLst>
                                      </p:cBhvr>
                                      <p:tavLst>
                                        <p:tav tm="0">
                                          <p:val>
                                            <p:strVal val="1+#ppt_w/2"/>
                                          </p:val>
                                        </p:tav>
                                        <p:tav tm="100000">
                                          <p:val>
                                            <p:strVal val="#ppt_x"/>
                                          </p:val>
                                        </p:tav>
                                      </p:tavLst>
                                    </p:anim>
                                    <p:anim calcmode="lin" valueType="num">
                                      <p:cBhvr additive="base">
                                        <p:cTn id="65" dur="5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utoUpdateAnimBg="0"/>
      <p:bldP spid="141316" grpId="0" animBg="1"/>
      <p:bldP spid="141317" grpId="0" autoUpdateAnimBg="0"/>
      <p:bldP spid="141318" grpId="0" autoUpdateAnimBg="0"/>
      <p:bldP spid="141319" grpId="0" animBg="1"/>
      <p:bldP spid="141320" grpId="0" autoUpdateAnimBg="0"/>
      <p:bldP spid="141323" grpId="0" animBg="1"/>
      <p:bldP spid="141324" grpId="0" autoUpdateAnimBg="0"/>
      <p:bldP spid="141328" grpId="0" autoUpdateAnimBg="0"/>
      <p:bldP spid="1413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611188" y="1125538"/>
            <a:ext cx="6121400" cy="457200"/>
          </a:xfrm>
          <a:prstGeom prst="rect">
            <a:avLst/>
          </a:prstGeom>
          <a:noFill/>
          <a:ln w="12700" cap="sq">
            <a:noFill/>
            <a:miter lim="800000"/>
            <a:headEnd type="none" w="sm" len="sm"/>
            <a:tailEnd type="none" w="sm" len="sm"/>
          </a:ln>
        </p:spPr>
        <p:txBody>
          <a:bodyPr>
            <a:spAutoFit/>
          </a:bodyPr>
          <a:lstStyle/>
          <a:p>
            <a:r>
              <a:rPr kumimoji="1" lang="zh-CN" altLang="en-US" sz="2400" b="1">
                <a:solidFill>
                  <a:srgbClr val="0000FF"/>
                </a:solidFill>
                <a:latin typeface="宋体" charset="-122"/>
              </a:rPr>
              <a:t>理想气体压强公式的推导：</a:t>
            </a:r>
          </a:p>
        </p:txBody>
      </p:sp>
      <p:sp>
        <p:nvSpPr>
          <p:cNvPr id="142339" name="Line 3"/>
          <p:cNvSpPr>
            <a:spLocks noChangeShapeType="1"/>
          </p:cNvSpPr>
          <p:nvPr/>
        </p:nvSpPr>
        <p:spPr bwMode="auto">
          <a:xfrm flipV="1">
            <a:off x="6608763" y="2579688"/>
            <a:ext cx="806450" cy="533400"/>
          </a:xfrm>
          <a:prstGeom prst="line">
            <a:avLst/>
          </a:prstGeom>
          <a:noFill/>
          <a:ln w="38100">
            <a:solidFill>
              <a:srgbClr val="990099"/>
            </a:solidFill>
            <a:round/>
            <a:headEnd/>
            <a:tailEnd type="triangle" w="med" len="med"/>
          </a:ln>
        </p:spPr>
        <p:txBody>
          <a:bodyPr/>
          <a:lstStyle/>
          <a:p>
            <a:endParaRPr lang="zh-CN" altLang="en-US"/>
          </a:p>
        </p:txBody>
      </p:sp>
      <p:graphicFrame>
        <p:nvGraphicFramePr>
          <p:cNvPr id="142340" name="Object 4"/>
          <p:cNvGraphicFramePr>
            <a:graphicFrameLocks noChangeAspect="1"/>
          </p:cNvGraphicFramePr>
          <p:nvPr/>
        </p:nvGraphicFramePr>
        <p:xfrm>
          <a:off x="6767513" y="2254250"/>
          <a:ext cx="376237" cy="612775"/>
        </p:xfrm>
        <a:graphic>
          <a:graphicData uri="http://schemas.openxmlformats.org/presentationml/2006/ole">
            <p:oleObj spid="_x0000_s11266" name="公式" r:id="rId3" imgW="139680" imgH="228600" progId="Equation.3">
              <p:embed/>
            </p:oleObj>
          </a:graphicData>
        </a:graphic>
      </p:graphicFrame>
      <p:sp>
        <p:nvSpPr>
          <p:cNvPr id="142341" name="Line 5"/>
          <p:cNvSpPr>
            <a:spLocks noChangeShapeType="1"/>
          </p:cNvSpPr>
          <p:nvPr/>
        </p:nvSpPr>
        <p:spPr bwMode="auto">
          <a:xfrm flipV="1">
            <a:off x="7400925" y="2581275"/>
            <a:ext cx="0" cy="790575"/>
          </a:xfrm>
          <a:prstGeom prst="line">
            <a:avLst/>
          </a:prstGeom>
          <a:noFill/>
          <a:ln w="19050">
            <a:solidFill>
              <a:schemeClr val="tx1"/>
            </a:solidFill>
            <a:prstDash val="dash"/>
            <a:round/>
            <a:headEnd/>
            <a:tailEnd/>
          </a:ln>
        </p:spPr>
        <p:txBody>
          <a:bodyPr/>
          <a:lstStyle/>
          <a:p>
            <a:endParaRPr lang="zh-CN" altLang="en-US"/>
          </a:p>
        </p:txBody>
      </p:sp>
      <p:sp>
        <p:nvSpPr>
          <p:cNvPr id="142342" name="Line 6"/>
          <p:cNvSpPr>
            <a:spLocks noChangeShapeType="1"/>
          </p:cNvSpPr>
          <p:nvPr/>
        </p:nvSpPr>
        <p:spPr bwMode="auto">
          <a:xfrm>
            <a:off x="6551613" y="3127375"/>
            <a:ext cx="1079500" cy="0"/>
          </a:xfrm>
          <a:prstGeom prst="line">
            <a:avLst/>
          </a:prstGeom>
          <a:noFill/>
          <a:ln w="19050">
            <a:solidFill>
              <a:srgbClr val="FF0000"/>
            </a:solidFill>
            <a:round/>
            <a:headEnd/>
            <a:tailEnd type="triangle" w="med" len="med"/>
          </a:ln>
        </p:spPr>
        <p:txBody>
          <a:bodyPr/>
          <a:lstStyle/>
          <a:p>
            <a:endParaRPr lang="zh-CN" altLang="en-US"/>
          </a:p>
        </p:txBody>
      </p:sp>
      <p:sp>
        <p:nvSpPr>
          <p:cNvPr id="142343" name="Line 7"/>
          <p:cNvSpPr>
            <a:spLocks noChangeShapeType="1"/>
          </p:cNvSpPr>
          <p:nvPr/>
        </p:nvSpPr>
        <p:spPr bwMode="auto">
          <a:xfrm flipH="1">
            <a:off x="6335713" y="3141663"/>
            <a:ext cx="231775" cy="231775"/>
          </a:xfrm>
          <a:prstGeom prst="line">
            <a:avLst/>
          </a:prstGeom>
          <a:noFill/>
          <a:ln w="19050">
            <a:solidFill>
              <a:srgbClr val="0000FF"/>
            </a:solidFill>
            <a:round/>
            <a:headEnd/>
            <a:tailEnd type="triangle" w="med" len="med"/>
          </a:ln>
        </p:spPr>
        <p:txBody>
          <a:bodyPr/>
          <a:lstStyle/>
          <a:p>
            <a:endParaRPr lang="zh-CN" altLang="en-US"/>
          </a:p>
        </p:txBody>
      </p:sp>
      <p:sp>
        <p:nvSpPr>
          <p:cNvPr id="142344" name="Line 8"/>
          <p:cNvSpPr>
            <a:spLocks noChangeShapeType="1"/>
          </p:cNvSpPr>
          <p:nvPr/>
        </p:nvSpPr>
        <p:spPr bwMode="auto">
          <a:xfrm>
            <a:off x="6335713" y="3371850"/>
            <a:ext cx="1079500" cy="0"/>
          </a:xfrm>
          <a:prstGeom prst="line">
            <a:avLst/>
          </a:prstGeom>
          <a:noFill/>
          <a:ln w="19050">
            <a:solidFill>
              <a:schemeClr val="tx1"/>
            </a:solidFill>
            <a:prstDash val="dash"/>
            <a:round/>
            <a:headEnd/>
            <a:tailEnd/>
          </a:ln>
        </p:spPr>
        <p:txBody>
          <a:bodyPr/>
          <a:lstStyle/>
          <a:p>
            <a:endParaRPr lang="zh-CN" altLang="en-US"/>
          </a:p>
        </p:txBody>
      </p:sp>
      <p:sp>
        <p:nvSpPr>
          <p:cNvPr id="142345" name="Line 9"/>
          <p:cNvSpPr>
            <a:spLocks noChangeShapeType="1"/>
          </p:cNvSpPr>
          <p:nvPr/>
        </p:nvSpPr>
        <p:spPr bwMode="auto">
          <a:xfrm flipH="1">
            <a:off x="7400925" y="3140075"/>
            <a:ext cx="231775" cy="231775"/>
          </a:xfrm>
          <a:prstGeom prst="line">
            <a:avLst/>
          </a:prstGeom>
          <a:noFill/>
          <a:ln w="19050">
            <a:solidFill>
              <a:schemeClr val="tx1"/>
            </a:solidFill>
            <a:prstDash val="dash"/>
            <a:round/>
            <a:headEnd/>
            <a:tailEnd/>
          </a:ln>
        </p:spPr>
        <p:txBody>
          <a:bodyPr/>
          <a:lstStyle/>
          <a:p>
            <a:endParaRPr lang="zh-CN" altLang="en-US"/>
          </a:p>
        </p:txBody>
      </p:sp>
      <p:sp>
        <p:nvSpPr>
          <p:cNvPr id="142346" name="Line 10"/>
          <p:cNvSpPr>
            <a:spLocks noChangeShapeType="1"/>
          </p:cNvSpPr>
          <p:nvPr/>
        </p:nvSpPr>
        <p:spPr bwMode="auto">
          <a:xfrm flipV="1">
            <a:off x="6565900" y="2378075"/>
            <a:ext cx="0" cy="790575"/>
          </a:xfrm>
          <a:prstGeom prst="line">
            <a:avLst/>
          </a:prstGeom>
          <a:noFill/>
          <a:ln w="19050">
            <a:solidFill>
              <a:srgbClr val="006666"/>
            </a:solidFill>
            <a:round/>
            <a:headEnd/>
            <a:tailEnd type="triangle" w="med" len="med"/>
          </a:ln>
        </p:spPr>
        <p:txBody>
          <a:bodyPr/>
          <a:lstStyle/>
          <a:p>
            <a:endParaRPr lang="zh-CN" altLang="en-US"/>
          </a:p>
        </p:txBody>
      </p:sp>
      <p:sp>
        <p:nvSpPr>
          <p:cNvPr id="142347" name="Line 11"/>
          <p:cNvSpPr>
            <a:spLocks noChangeShapeType="1"/>
          </p:cNvSpPr>
          <p:nvPr/>
        </p:nvSpPr>
        <p:spPr bwMode="auto">
          <a:xfrm flipV="1">
            <a:off x="7616825" y="2349500"/>
            <a:ext cx="0" cy="790575"/>
          </a:xfrm>
          <a:prstGeom prst="line">
            <a:avLst/>
          </a:prstGeom>
          <a:noFill/>
          <a:ln w="19050">
            <a:solidFill>
              <a:schemeClr val="tx1"/>
            </a:solidFill>
            <a:prstDash val="dash"/>
            <a:round/>
            <a:headEnd/>
            <a:tailEnd/>
          </a:ln>
        </p:spPr>
        <p:txBody>
          <a:bodyPr/>
          <a:lstStyle/>
          <a:p>
            <a:endParaRPr lang="zh-CN" altLang="en-US"/>
          </a:p>
        </p:txBody>
      </p:sp>
      <p:sp>
        <p:nvSpPr>
          <p:cNvPr id="142348" name="Line 12"/>
          <p:cNvSpPr>
            <a:spLocks noChangeShapeType="1"/>
          </p:cNvSpPr>
          <p:nvPr/>
        </p:nvSpPr>
        <p:spPr bwMode="auto">
          <a:xfrm flipV="1">
            <a:off x="6335713" y="2579688"/>
            <a:ext cx="0" cy="790575"/>
          </a:xfrm>
          <a:prstGeom prst="line">
            <a:avLst/>
          </a:prstGeom>
          <a:noFill/>
          <a:ln w="19050">
            <a:solidFill>
              <a:schemeClr val="tx1"/>
            </a:solidFill>
            <a:prstDash val="dash"/>
            <a:round/>
            <a:headEnd/>
            <a:tailEnd/>
          </a:ln>
        </p:spPr>
        <p:txBody>
          <a:bodyPr/>
          <a:lstStyle/>
          <a:p>
            <a:endParaRPr lang="zh-CN" altLang="en-US"/>
          </a:p>
        </p:txBody>
      </p:sp>
      <p:sp>
        <p:nvSpPr>
          <p:cNvPr id="142349" name="Line 13"/>
          <p:cNvSpPr>
            <a:spLocks noChangeShapeType="1"/>
          </p:cNvSpPr>
          <p:nvPr/>
        </p:nvSpPr>
        <p:spPr bwMode="auto">
          <a:xfrm>
            <a:off x="6335713" y="2595563"/>
            <a:ext cx="1079500" cy="0"/>
          </a:xfrm>
          <a:prstGeom prst="line">
            <a:avLst/>
          </a:prstGeom>
          <a:noFill/>
          <a:ln w="19050">
            <a:solidFill>
              <a:schemeClr val="tx1"/>
            </a:solidFill>
            <a:prstDash val="dash"/>
            <a:round/>
            <a:headEnd/>
            <a:tailEnd/>
          </a:ln>
        </p:spPr>
        <p:txBody>
          <a:bodyPr/>
          <a:lstStyle/>
          <a:p>
            <a:endParaRPr lang="zh-CN" altLang="en-US"/>
          </a:p>
        </p:txBody>
      </p:sp>
      <p:sp>
        <p:nvSpPr>
          <p:cNvPr id="142350" name="Line 14"/>
          <p:cNvSpPr>
            <a:spLocks noChangeShapeType="1"/>
          </p:cNvSpPr>
          <p:nvPr/>
        </p:nvSpPr>
        <p:spPr bwMode="auto">
          <a:xfrm>
            <a:off x="6551613" y="2408238"/>
            <a:ext cx="1079500" cy="0"/>
          </a:xfrm>
          <a:prstGeom prst="line">
            <a:avLst/>
          </a:prstGeom>
          <a:noFill/>
          <a:ln w="19050">
            <a:solidFill>
              <a:schemeClr val="tx1"/>
            </a:solidFill>
            <a:prstDash val="dash"/>
            <a:round/>
            <a:headEnd/>
            <a:tailEnd/>
          </a:ln>
        </p:spPr>
        <p:txBody>
          <a:bodyPr/>
          <a:lstStyle/>
          <a:p>
            <a:endParaRPr lang="zh-CN" altLang="en-US"/>
          </a:p>
        </p:txBody>
      </p:sp>
      <p:sp>
        <p:nvSpPr>
          <p:cNvPr id="142351" name="Line 15"/>
          <p:cNvSpPr>
            <a:spLocks noChangeShapeType="1"/>
          </p:cNvSpPr>
          <p:nvPr/>
        </p:nvSpPr>
        <p:spPr bwMode="auto">
          <a:xfrm flipH="1">
            <a:off x="6321425" y="2393950"/>
            <a:ext cx="231775" cy="231775"/>
          </a:xfrm>
          <a:prstGeom prst="line">
            <a:avLst/>
          </a:prstGeom>
          <a:noFill/>
          <a:ln w="19050">
            <a:solidFill>
              <a:schemeClr val="tx1"/>
            </a:solidFill>
            <a:prstDash val="dash"/>
            <a:round/>
            <a:headEnd/>
            <a:tailEnd/>
          </a:ln>
        </p:spPr>
        <p:txBody>
          <a:bodyPr/>
          <a:lstStyle/>
          <a:p>
            <a:endParaRPr lang="zh-CN" altLang="en-US"/>
          </a:p>
        </p:txBody>
      </p:sp>
      <p:sp>
        <p:nvSpPr>
          <p:cNvPr id="142352" name="Line 16"/>
          <p:cNvSpPr>
            <a:spLocks noChangeShapeType="1"/>
          </p:cNvSpPr>
          <p:nvPr/>
        </p:nvSpPr>
        <p:spPr bwMode="auto">
          <a:xfrm flipH="1">
            <a:off x="7386638" y="2406650"/>
            <a:ext cx="231775" cy="231775"/>
          </a:xfrm>
          <a:prstGeom prst="line">
            <a:avLst/>
          </a:prstGeom>
          <a:noFill/>
          <a:ln w="19050">
            <a:solidFill>
              <a:schemeClr val="tx1"/>
            </a:solidFill>
            <a:prstDash val="dash"/>
            <a:round/>
            <a:headEnd/>
            <a:tailEnd/>
          </a:ln>
        </p:spPr>
        <p:txBody>
          <a:bodyPr/>
          <a:lstStyle/>
          <a:p>
            <a:endParaRPr lang="zh-CN" altLang="en-US"/>
          </a:p>
        </p:txBody>
      </p:sp>
      <p:sp>
        <p:nvSpPr>
          <p:cNvPr id="142353" name="Oval 17"/>
          <p:cNvSpPr>
            <a:spLocks noChangeArrowheads="1"/>
          </p:cNvSpPr>
          <p:nvPr/>
        </p:nvSpPr>
        <p:spPr bwMode="auto">
          <a:xfrm>
            <a:off x="6551613" y="3084513"/>
            <a:ext cx="71437" cy="71437"/>
          </a:xfrm>
          <a:prstGeom prst="ellipse">
            <a:avLst/>
          </a:prstGeom>
          <a:solidFill>
            <a:srgbClr val="FF0000"/>
          </a:solidFill>
          <a:ln w="9525">
            <a:solidFill>
              <a:schemeClr val="accent2"/>
            </a:solidFill>
            <a:round/>
            <a:headEnd/>
            <a:tailEnd/>
          </a:ln>
        </p:spPr>
        <p:txBody>
          <a:bodyPr wrap="none" anchor="ctr"/>
          <a:lstStyle/>
          <a:p>
            <a:endParaRPr lang="zh-CN" altLang="en-US"/>
          </a:p>
        </p:txBody>
      </p:sp>
      <p:graphicFrame>
        <p:nvGraphicFramePr>
          <p:cNvPr id="142354" name="Object 18"/>
          <p:cNvGraphicFramePr>
            <a:graphicFrameLocks noChangeAspect="1"/>
          </p:cNvGraphicFramePr>
          <p:nvPr/>
        </p:nvGraphicFramePr>
        <p:xfrm>
          <a:off x="6024563" y="3227388"/>
          <a:ext cx="477837" cy="612775"/>
        </p:xfrm>
        <a:graphic>
          <a:graphicData uri="http://schemas.openxmlformats.org/presentationml/2006/ole">
            <p:oleObj spid="_x0000_s11267" name="公式" r:id="rId4" imgW="177480" imgH="228600" progId="Equation.3">
              <p:embed/>
            </p:oleObj>
          </a:graphicData>
        </a:graphic>
      </p:graphicFrame>
      <p:grpSp>
        <p:nvGrpSpPr>
          <p:cNvPr id="2" name="Group 19"/>
          <p:cNvGrpSpPr>
            <a:grpSpLocks/>
          </p:cNvGrpSpPr>
          <p:nvPr/>
        </p:nvGrpSpPr>
        <p:grpSpPr bwMode="auto">
          <a:xfrm>
            <a:off x="5343525" y="1412875"/>
            <a:ext cx="3692525" cy="3049588"/>
            <a:chOff x="3366" y="890"/>
            <a:chExt cx="2326" cy="1921"/>
          </a:xfrm>
        </p:grpSpPr>
        <p:sp>
          <p:nvSpPr>
            <p:cNvPr id="11307" name="Line 20"/>
            <p:cNvSpPr>
              <a:spLocks noChangeShapeType="1"/>
            </p:cNvSpPr>
            <p:nvPr/>
          </p:nvSpPr>
          <p:spPr bwMode="auto">
            <a:xfrm flipV="1">
              <a:off x="3892" y="1162"/>
              <a:ext cx="0" cy="1044"/>
            </a:xfrm>
            <a:prstGeom prst="line">
              <a:avLst/>
            </a:prstGeom>
            <a:noFill/>
            <a:ln w="28575">
              <a:solidFill>
                <a:schemeClr val="tx1"/>
              </a:solidFill>
              <a:round/>
              <a:headEnd/>
              <a:tailEnd type="triangle" w="med" len="med"/>
            </a:ln>
          </p:spPr>
          <p:txBody>
            <a:bodyPr/>
            <a:lstStyle/>
            <a:p>
              <a:endParaRPr lang="zh-CN" altLang="en-US"/>
            </a:p>
          </p:txBody>
        </p:sp>
        <p:sp>
          <p:nvSpPr>
            <p:cNvPr id="11308" name="Line 21"/>
            <p:cNvSpPr>
              <a:spLocks noChangeShapeType="1"/>
            </p:cNvSpPr>
            <p:nvPr/>
          </p:nvSpPr>
          <p:spPr bwMode="auto">
            <a:xfrm>
              <a:off x="3892" y="2206"/>
              <a:ext cx="1437" cy="0"/>
            </a:xfrm>
            <a:prstGeom prst="line">
              <a:avLst/>
            </a:prstGeom>
            <a:noFill/>
            <a:ln w="28575">
              <a:solidFill>
                <a:schemeClr val="tx1"/>
              </a:solidFill>
              <a:round/>
              <a:headEnd/>
              <a:tailEnd type="triangle" w="med" len="med"/>
            </a:ln>
          </p:spPr>
          <p:txBody>
            <a:bodyPr/>
            <a:lstStyle/>
            <a:p>
              <a:endParaRPr lang="zh-CN" altLang="en-US"/>
            </a:p>
          </p:txBody>
        </p:sp>
        <p:sp>
          <p:nvSpPr>
            <p:cNvPr id="11309" name="Line 22"/>
            <p:cNvSpPr>
              <a:spLocks noChangeShapeType="1"/>
            </p:cNvSpPr>
            <p:nvPr/>
          </p:nvSpPr>
          <p:spPr bwMode="auto">
            <a:xfrm flipH="1">
              <a:off x="3483" y="2206"/>
              <a:ext cx="409" cy="409"/>
            </a:xfrm>
            <a:prstGeom prst="line">
              <a:avLst/>
            </a:prstGeom>
            <a:noFill/>
            <a:ln w="28575">
              <a:solidFill>
                <a:schemeClr val="tx1"/>
              </a:solidFill>
              <a:round/>
              <a:headEnd/>
              <a:tailEnd type="triangle" w="med" len="med"/>
            </a:ln>
          </p:spPr>
          <p:txBody>
            <a:bodyPr/>
            <a:lstStyle/>
            <a:p>
              <a:endParaRPr lang="zh-CN" altLang="en-US"/>
            </a:p>
          </p:txBody>
        </p:sp>
        <p:sp>
          <p:nvSpPr>
            <p:cNvPr id="11310" name="Text Box 23"/>
            <p:cNvSpPr txBox="1">
              <a:spLocks noChangeArrowheads="1"/>
            </p:cNvSpPr>
            <p:nvPr/>
          </p:nvSpPr>
          <p:spPr bwMode="auto">
            <a:xfrm>
              <a:off x="5316" y="2024"/>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11311" name="Text Box 24"/>
            <p:cNvSpPr txBox="1">
              <a:spLocks noChangeArrowheads="1"/>
            </p:cNvSpPr>
            <p:nvPr/>
          </p:nvSpPr>
          <p:spPr bwMode="auto">
            <a:xfrm>
              <a:off x="3833" y="890"/>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11312" name="Text Box 25"/>
            <p:cNvSpPr txBox="1">
              <a:spLocks noChangeArrowheads="1"/>
            </p:cNvSpPr>
            <p:nvPr/>
          </p:nvSpPr>
          <p:spPr bwMode="auto">
            <a:xfrm>
              <a:off x="3366" y="2523"/>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11313" name="Text Box 26"/>
            <p:cNvSpPr txBox="1">
              <a:spLocks noChangeArrowheads="1"/>
            </p:cNvSpPr>
            <p:nvPr/>
          </p:nvSpPr>
          <p:spPr bwMode="auto">
            <a:xfrm>
              <a:off x="3801" y="2188"/>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grpSp>
      <p:graphicFrame>
        <p:nvGraphicFramePr>
          <p:cNvPr id="142363" name="Object 27"/>
          <p:cNvGraphicFramePr>
            <a:graphicFrameLocks noChangeAspect="1"/>
          </p:cNvGraphicFramePr>
          <p:nvPr/>
        </p:nvGraphicFramePr>
        <p:xfrm>
          <a:off x="7704138" y="2830513"/>
          <a:ext cx="477837" cy="612775"/>
        </p:xfrm>
        <a:graphic>
          <a:graphicData uri="http://schemas.openxmlformats.org/presentationml/2006/ole">
            <p:oleObj spid="_x0000_s11268" name="公式" r:id="rId5" imgW="177480" imgH="228600" progId="Equation.3">
              <p:embed/>
            </p:oleObj>
          </a:graphicData>
        </a:graphic>
      </p:graphicFrame>
      <p:graphicFrame>
        <p:nvGraphicFramePr>
          <p:cNvPr id="142364" name="Object 28"/>
          <p:cNvGraphicFramePr>
            <a:graphicFrameLocks noChangeAspect="1"/>
          </p:cNvGraphicFramePr>
          <p:nvPr/>
        </p:nvGraphicFramePr>
        <p:xfrm>
          <a:off x="6286500" y="1714500"/>
          <a:ext cx="477838" cy="646113"/>
        </p:xfrm>
        <a:graphic>
          <a:graphicData uri="http://schemas.openxmlformats.org/presentationml/2006/ole">
            <p:oleObj spid="_x0000_s11269" name="公式" r:id="rId6" imgW="177480" imgH="241200" progId="Equation.3">
              <p:embed/>
            </p:oleObj>
          </a:graphicData>
        </a:graphic>
      </p:graphicFrame>
      <p:sp>
        <p:nvSpPr>
          <p:cNvPr id="142365" name="AutoShape 29"/>
          <p:cNvSpPr>
            <a:spLocks noChangeArrowheads="1"/>
          </p:cNvSpPr>
          <p:nvPr/>
        </p:nvSpPr>
        <p:spPr bwMode="auto">
          <a:xfrm>
            <a:off x="5783263" y="2292350"/>
            <a:ext cx="2087562" cy="1584325"/>
          </a:xfrm>
          <a:prstGeom prst="cube">
            <a:avLst>
              <a:gd name="adj" fmla="val 25000"/>
            </a:avLst>
          </a:prstGeom>
          <a:solidFill>
            <a:schemeClr val="accent1">
              <a:alpha val="70195"/>
            </a:schemeClr>
          </a:solidFill>
          <a:ln w="9525">
            <a:solidFill>
              <a:schemeClr val="tx1"/>
            </a:solidFill>
            <a:miter lim="800000"/>
            <a:headEnd/>
            <a:tailEnd/>
          </a:ln>
        </p:spPr>
        <p:txBody>
          <a:bodyPr wrap="none" anchor="ctr"/>
          <a:lstStyle/>
          <a:p>
            <a:endParaRPr lang="zh-CN" altLang="en-US"/>
          </a:p>
        </p:txBody>
      </p:sp>
      <p:sp>
        <p:nvSpPr>
          <p:cNvPr id="142366" name="Line 30"/>
          <p:cNvSpPr>
            <a:spLocks noChangeShapeType="1"/>
          </p:cNvSpPr>
          <p:nvPr/>
        </p:nvSpPr>
        <p:spPr bwMode="auto">
          <a:xfrm>
            <a:off x="7969250" y="2314575"/>
            <a:ext cx="287338" cy="0"/>
          </a:xfrm>
          <a:prstGeom prst="line">
            <a:avLst/>
          </a:prstGeom>
          <a:noFill/>
          <a:ln w="9525">
            <a:solidFill>
              <a:schemeClr val="tx1"/>
            </a:solidFill>
            <a:round/>
            <a:headEnd/>
            <a:tailEnd/>
          </a:ln>
        </p:spPr>
        <p:txBody>
          <a:bodyPr/>
          <a:lstStyle/>
          <a:p>
            <a:endParaRPr lang="zh-CN" altLang="en-US"/>
          </a:p>
        </p:txBody>
      </p:sp>
      <p:sp>
        <p:nvSpPr>
          <p:cNvPr id="142367" name="Line 31"/>
          <p:cNvSpPr>
            <a:spLocks noChangeShapeType="1"/>
          </p:cNvSpPr>
          <p:nvPr/>
        </p:nvSpPr>
        <p:spPr bwMode="auto">
          <a:xfrm flipV="1">
            <a:off x="8101013" y="2314575"/>
            <a:ext cx="0" cy="466725"/>
          </a:xfrm>
          <a:prstGeom prst="line">
            <a:avLst/>
          </a:prstGeom>
          <a:noFill/>
          <a:ln w="9525">
            <a:solidFill>
              <a:schemeClr val="tx1"/>
            </a:solidFill>
            <a:round/>
            <a:headEnd/>
            <a:tailEnd type="triangle" w="med" len="med"/>
          </a:ln>
        </p:spPr>
        <p:txBody>
          <a:bodyPr/>
          <a:lstStyle/>
          <a:p>
            <a:endParaRPr lang="zh-CN" altLang="en-US"/>
          </a:p>
        </p:txBody>
      </p:sp>
      <p:sp>
        <p:nvSpPr>
          <p:cNvPr id="142368" name="Line 32"/>
          <p:cNvSpPr>
            <a:spLocks noChangeShapeType="1"/>
          </p:cNvSpPr>
          <p:nvPr/>
        </p:nvSpPr>
        <p:spPr bwMode="auto">
          <a:xfrm>
            <a:off x="8101013" y="3068638"/>
            <a:ext cx="0" cy="433387"/>
          </a:xfrm>
          <a:prstGeom prst="line">
            <a:avLst/>
          </a:prstGeom>
          <a:noFill/>
          <a:ln w="9525">
            <a:solidFill>
              <a:schemeClr val="tx1"/>
            </a:solidFill>
            <a:round/>
            <a:headEnd/>
            <a:tailEnd type="triangle" w="med" len="med"/>
          </a:ln>
        </p:spPr>
        <p:txBody>
          <a:bodyPr/>
          <a:lstStyle/>
          <a:p>
            <a:endParaRPr lang="zh-CN" altLang="en-US"/>
          </a:p>
        </p:txBody>
      </p:sp>
      <p:sp>
        <p:nvSpPr>
          <p:cNvPr id="142369" name="Text Box 33"/>
          <p:cNvSpPr txBox="1">
            <a:spLocks noChangeArrowheads="1"/>
          </p:cNvSpPr>
          <p:nvPr/>
        </p:nvSpPr>
        <p:spPr bwMode="auto">
          <a:xfrm>
            <a:off x="7956550" y="2709863"/>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c</a:t>
            </a:r>
          </a:p>
        </p:txBody>
      </p:sp>
      <p:sp>
        <p:nvSpPr>
          <p:cNvPr id="142370" name="Line 34"/>
          <p:cNvSpPr>
            <a:spLocks noChangeShapeType="1"/>
          </p:cNvSpPr>
          <p:nvPr/>
        </p:nvSpPr>
        <p:spPr bwMode="auto">
          <a:xfrm>
            <a:off x="7597775" y="3895725"/>
            <a:ext cx="287338" cy="0"/>
          </a:xfrm>
          <a:prstGeom prst="line">
            <a:avLst/>
          </a:prstGeom>
          <a:noFill/>
          <a:ln w="9525">
            <a:solidFill>
              <a:schemeClr val="tx1"/>
            </a:solidFill>
            <a:round/>
            <a:headEnd/>
            <a:tailEnd/>
          </a:ln>
        </p:spPr>
        <p:txBody>
          <a:bodyPr/>
          <a:lstStyle/>
          <a:p>
            <a:endParaRPr lang="zh-CN" altLang="en-US"/>
          </a:p>
        </p:txBody>
      </p:sp>
      <p:sp>
        <p:nvSpPr>
          <p:cNvPr id="142371" name="Line 35"/>
          <p:cNvSpPr>
            <a:spLocks noChangeAspect="1" noChangeShapeType="1"/>
          </p:cNvSpPr>
          <p:nvPr/>
        </p:nvSpPr>
        <p:spPr bwMode="auto">
          <a:xfrm flipH="1">
            <a:off x="7702550" y="3489325"/>
            <a:ext cx="395288" cy="395288"/>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142372" name="Text Box 36"/>
          <p:cNvSpPr txBox="1">
            <a:spLocks noChangeArrowheads="1"/>
          </p:cNvSpPr>
          <p:nvPr/>
        </p:nvSpPr>
        <p:spPr bwMode="auto">
          <a:xfrm>
            <a:off x="7956550" y="35020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b</a:t>
            </a:r>
          </a:p>
        </p:txBody>
      </p:sp>
      <p:sp>
        <p:nvSpPr>
          <p:cNvPr id="142373" name="Line 37"/>
          <p:cNvSpPr>
            <a:spLocks noChangeAspect="1" noChangeShapeType="1"/>
          </p:cNvSpPr>
          <p:nvPr/>
        </p:nvSpPr>
        <p:spPr bwMode="auto">
          <a:xfrm flipH="1">
            <a:off x="7235825" y="3970338"/>
            <a:ext cx="179388" cy="179387"/>
          </a:xfrm>
          <a:prstGeom prst="line">
            <a:avLst/>
          </a:prstGeom>
          <a:noFill/>
          <a:ln w="9525">
            <a:solidFill>
              <a:schemeClr val="tx1"/>
            </a:solidFill>
            <a:round/>
            <a:headEnd/>
            <a:tailEnd/>
          </a:ln>
        </p:spPr>
        <p:txBody>
          <a:bodyPr/>
          <a:lstStyle/>
          <a:p>
            <a:endParaRPr lang="zh-CN" altLang="en-US"/>
          </a:p>
        </p:txBody>
      </p:sp>
      <p:sp>
        <p:nvSpPr>
          <p:cNvPr id="142374" name="Line 38"/>
          <p:cNvSpPr>
            <a:spLocks noChangeShapeType="1"/>
          </p:cNvSpPr>
          <p:nvPr/>
        </p:nvSpPr>
        <p:spPr bwMode="auto">
          <a:xfrm>
            <a:off x="6659563" y="4030663"/>
            <a:ext cx="708025" cy="0"/>
          </a:xfrm>
          <a:prstGeom prst="line">
            <a:avLst/>
          </a:prstGeom>
          <a:noFill/>
          <a:ln w="9525">
            <a:solidFill>
              <a:schemeClr val="tx1"/>
            </a:solidFill>
            <a:round/>
            <a:headEnd/>
            <a:tailEnd type="triangle" w="med" len="med"/>
          </a:ln>
        </p:spPr>
        <p:txBody>
          <a:bodyPr/>
          <a:lstStyle/>
          <a:p>
            <a:endParaRPr lang="zh-CN" altLang="en-US"/>
          </a:p>
        </p:txBody>
      </p:sp>
      <p:sp>
        <p:nvSpPr>
          <p:cNvPr id="142375" name="AutoShape 39"/>
          <p:cNvSpPr>
            <a:spLocks noChangeArrowheads="1"/>
          </p:cNvSpPr>
          <p:nvPr/>
        </p:nvSpPr>
        <p:spPr bwMode="auto">
          <a:xfrm>
            <a:off x="5783263" y="2290763"/>
            <a:ext cx="2087562" cy="1584325"/>
          </a:xfrm>
          <a:prstGeom prst="cube">
            <a:avLst>
              <a:gd name="adj" fmla="val 25000"/>
            </a:avLst>
          </a:prstGeom>
          <a:noFill/>
          <a:ln w="9525">
            <a:solidFill>
              <a:schemeClr val="tx1"/>
            </a:solidFill>
            <a:miter lim="800000"/>
            <a:headEnd/>
            <a:tailEnd/>
          </a:ln>
        </p:spPr>
        <p:txBody>
          <a:bodyPr wrap="none" anchor="ctr"/>
          <a:lstStyle/>
          <a:p>
            <a:endParaRPr lang="zh-CN" altLang="en-US"/>
          </a:p>
        </p:txBody>
      </p:sp>
      <p:sp>
        <p:nvSpPr>
          <p:cNvPr id="142376" name="Line 40"/>
          <p:cNvSpPr>
            <a:spLocks noChangeShapeType="1"/>
          </p:cNvSpPr>
          <p:nvPr/>
        </p:nvSpPr>
        <p:spPr bwMode="auto">
          <a:xfrm>
            <a:off x="5651500" y="4025900"/>
            <a:ext cx="649288" cy="0"/>
          </a:xfrm>
          <a:prstGeom prst="line">
            <a:avLst/>
          </a:prstGeom>
          <a:noFill/>
          <a:ln w="9525">
            <a:solidFill>
              <a:schemeClr val="tx1"/>
            </a:solidFill>
            <a:round/>
            <a:headEnd type="triangle" w="med" len="med"/>
            <a:tailEnd/>
          </a:ln>
        </p:spPr>
        <p:txBody>
          <a:bodyPr/>
          <a:lstStyle/>
          <a:p>
            <a:endParaRPr lang="zh-CN" altLang="en-US"/>
          </a:p>
        </p:txBody>
      </p:sp>
      <p:sp>
        <p:nvSpPr>
          <p:cNvPr id="142377" name="Text Box 41"/>
          <p:cNvSpPr txBox="1">
            <a:spLocks noChangeArrowheads="1"/>
          </p:cNvSpPr>
          <p:nvPr/>
        </p:nvSpPr>
        <p:spPr bwMode="auto">
          <a:xfrm>
            <a:off x="6313488" y="38195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a</a:t>
            </a:r>
          </a:p>
        </p:txBody>
      </p:sp>
      <p:sp>
        <p:nvSpPr>
          <p:cNvPr id="142378" name="Text Box 42"/>
          <p:cNvSpPr txBox="1">
            <a:spLocks noChangeArrowheads="1"/>
          </p:cNvSpPr>
          <p:nvPr/>
        </p:nvSpPr>
        <p:spPr bwMode="auto">
          <a:xfrm>
            <a:off x="376238" y="1916113"/>
            <a:ext cx="4195762" cy="457200"/>
          </a:xfrm>
          <a:prstGeom prst="rect">
            <a:avLst/>
          </a:prstGeom>
          <a:noFill/>
          <a:ln w="9525">
            <a:noFill/>
            <a:miter lim="800000"/>
            <a:headEnd/>
            <a:tailEnd/>
          </a:ln>
        </p:spPr>
        <p:txBody>
          <a:bodyPr>
            <a:spAutoFit/>
          </a:bodyPr>
          <a:lstStyle/>
          <a:p>
            <a:r>
              <a:rPr lang="zh-CN" altLang="en-US" sz="2400" b="1">
                <a:latin typeface="Times New Roman" pitchFamily="18" charset="0"/>
              </a:rPr>
              <a:t>建立三维直角坐标系 </a:t>
            </a:r>
            <a:r>
              <a:rPr lang="en-US" altLang="zh-CN" sz="2400" b="1" i="1">
                <a:latin typeface="Times New Roman" pitchFamily="18" charset="0"/>
              </a:rPr>
              <a:t>Oxyz</a:t>
            </a:r>
            <a:r>
              <a:rPr lang="en-US" altLang="zh-CN" sz="2400" b="1">
                <a:latin typeface="Times New Roman" pitchFamily="18" charset="0"/>
              </a:rPr>
              <a:t> </a:t>
            </a:r>
          </a:p>
        </p:txBody>
      </p:sp>
      <p:graphicFrame>
        <p:nvGraphicFramePr>
          <p:cNvPr id="142379" name="Object 43"/>
          <p:cNvGraphicFramePr>
            <a:graphicFrameLocks noChangeAspect="1"/>
          </p:cNvGraphicFramePr>
          <p:nvPr/>
        </p:nvGraphicFramePr>
        <p:xfrm>
          <a:off x="1303338" y="2492375"/>
          <a:ext cx="376237" cy="612775"/>
        </p:xfrm>
        <a:graphic>
          <a:graphicData uri="http://schemas.openxmlformats.org/presentationml/2006/ole">
            <p:oleObj spid="_x0000_s11270" name="公式" r:id="rId7" imgW="139680" imgH="228600" progId="Equation.3">
              <p:embed/>
            </p:oleObj>
          </a:graphicData>
        </a:graphic>
      </p:graphicFrame>
      <p:sp>
        <p:nvSpPr>
          <p:cNvPr id="142380" name="AutoShape 44"/>
          <p:cNvSpPr>
            <a:spLocks noChangeArrowheads="1"/>
          </p:cNvSpPr>
          <p:nvPr/>
        </p:nvSpPr>
        <p:spPr bwMode="auto">
          <a:xfrm>
            <a:off x="1735138" y="2708275"/>
            <a:ext cx="504825" cy="144463"/>
          </a:xfrm>
          <a:prstGeom prst="rightArrow">
            <a:avLst>
              <a:gd name="adj1" fmla="val 50000"/>
              <a:gd name="adj2" fmla="val 87362"/>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42381" name="Object 45"/>
          <p:cNvGraphicFramePr>
            <a:graphicFrameLocks noChangeAspect="1"/>
          </p:cNvGraphicFramePr>
          <p:nvPr/>
        </p:nvGraphicFramePr>
        <p:xfrm>
          <a:off x="2403475" y="2493963"/>
          <a:ext cx="1881188" cy="646112"/>
        </p:xfrm>
        <a:graphic>
          <a:graphicData uri="http://schemas.openxmlformats.org/presentationml/2006/ole">
            <p:oleObj spid="_x0000_s11271" name="公式" r:id="rId8" imgW="698400" imgH="241200" progId="Equation.3">
              <p:embed/>
            </p:oleObj>
          </a:graphicData>
        </a:graphic>
      </p:graphicFrame>
      <p:sp>
        <p:nvSpPr>
          <p:cNvPr id="142382" name="Text Box 46"/>
          <p:cNvSpPr txBox="1">
            <a:spLocks noChangeArrowheads="1"/>
          </p:cNvSpPr>
          <p:nvPr/>
        </p:nvSpPr>
        <p:spPr bwMode="auto">
          <a:xfrm>
            <a:off x="395288" y="3332163"/>
            <a:ext cx="4916487" cy="457200"/>
          </a:xfrm>
          <a:prstGeom prst="rect">
            <a:avLst/>
          </a:prstGeom>
          <a:noFill/>
          <a:ln w="9525">
            <a:noFill/>
            <a:miter lim="800000"/>
            <a:headEnd/>
            <a:tailEnd/>
          </a:ln>
        </p:spPr>
        <p:txBody>
          <a:bodyPr>
            <a:spAutoFit/>
          </a:bodyPr>
          <a:lstStyle/>
          <a:p>
            <a:r>
              <a:rPr lang="en-US" altLang="zh-CN" sz="2400" b="1" i="1">
                <a:latin typeface="Times New Roman" pitchFamily="18" charset="0"/>
              </a:rPr>
              <a:t>x</a:t>
            </a:r>
            <a:r>
              <a:rPr lang="en-US" altLang="zh-CN" sz="2400" b="1">
                <a:latin typeface="Times New Roman" pitchFamily="18" charset="0"/>
              </a:rPr>
              <a:t>, </a:t>
            </a:r>
            <a:r>
              <a:rPr lang="en-US" altLang="zh-CN" sz="2400" b="1" i="1">
                <a:latin typeface="Times New Roman" pitchFamily="18" charset="0"/>
              </a:rPr>
              <a:t>y</a:t>
            </a:r>
            <a:r>
              <a:rPr lang="en-US" altLang="zh-CN" sz="2400" b="1">
                <a:latin typeface="Times New Roman" pitchFamily="18" charset="0"/>
              </a:rPr>
              <a:t>, </a:t>
            </a:r>
            <a:r>
              <a:rPr lang="en-US" altLang="zh-CN" sz="2400" b="1" i="1">
                <a:latin typeface="Times New Roman" pitchFamily="18" charset="0"/>
              </a:rPr>
              <a:t>z</a:t>
            </a:r>
            <a:r>
              <a:rPr lang="en-US" altLang="zh-CN" sz="2400" b="1">
                <a:latin typeface="Times New Roman" pitchFamily="18" charset="0"/>
              </a:rPr>
              <a:t> </a:t>
            </a:r>
            <a:r>
              <a:rPr lang="zh-CN" altLang="en-US" sz="2400" b="1">
                <a:latin typeface="Times New Roman" pitchFamily="18" charset="0"/>
              </a:rPr>
              <a:t>方向规律相同，压强相同</a:t>
            </a:r>
          </a:p>
        </p:txBody>
      </p:sp>
      <p:sp>
        <p:nvSpPr>
          <p:cNvPr id="142383" name="AutoShape 47"/>
          <p:cNvSpPr>
            <a:spLocks noChangeArrowheads="1"/>
          </p:cNvSpPr>
          <p:nvPr/>
        </p:nvSpPr>
        <p:spPr bwMode="auto">
          <a:xfrm>
            <a:off x="468313" y="4319588"/>
            <a:ext cx="647700" cy="144462"/>
          </a:xfrm>
          <a:prstGeom prst="rightArrow">
            <a:avLst>
              <a:gd name="adj1" fmla="val 50000"/>
              <a:gd name="adj2" fmla="val 112088"/>
            </a:avLst>
          </a:prstGeom>
          <a:solidFill>
            <a:schemeClr val="accent1"/>
          </a:solidFill>
          <a:ln w="9525">
            <a:solidFill>
              <a:schemeClr val="tx1"/>
            </a:solidFill>
            <a:miter lim="800000"/>
            <a:headEnd/>
            <a:tailEnd/>
          </a:ln>
        </p:spPr>
        <p:txBody>
          <a:bodyPr wrap="none" anchor="ctr"/>
          <a:lstStyle/>
          <a:p>
            <a:endParaRPr lang="zh-CN" altLang="en-US"/>
          </a:p>
        </p:txBody>
      </p:sp>
      <p:sp>
        <p:nvSpPr>
          <p:cNvPr id="142384" name="Text Box 48"/>
          <p:cNvSpPr txBox="1">
            <a:spLocks noChangeArrowheads="1"/>
          </p:cNvSpPr>
          <p:nvPr/>
        </p:nvSpPr>
        <p:spPr bwMode="auto">
          <a:xfrm>
            <a:off x="1279525" y="4149725"/>
            <a:ext cx="2284413" cy="457200"/>
          </a:xfrm>
          <a:prstGeom prst="rect">
            <a:avLst/>
          </a:prstGeom>
          <a:noFill/>
          <a:ln w="9525">
            <a:noFill/>
            <a:miter lim="800000"/>
            <a:headEnd/>
            <a:tailEnd/>
          </a:ln>
        </p:spPr>
        <p:txBody>
          <a:bodyPr>
            <a:spAutoFit/>
          </a:bodyPr>
          <a:lstStyle/>
          <a:p>
            <a:r>
              <a:rPr lang="zh-CN" altLang="en-US" sz="2400" b="1">
                <a:solidFill>
                  <a:srgbClr val="FF3300"/>
                </a:solidFill>
                <a:latin typeface="Times New Roman" pitchFamily="18" charset="0"/>
              </a:rPr>
              <a:t>分析 </a:t>
            </a:r>
            <a:r>
              <a:rPr lang="en-US" altLang="zh-CN" sz="2400" b="1" i="1">
                <a:solidFill>
                  <a:srgbClr val="FF3300"/>
                </a:solidFill>
                <a:latin typeface="Times New Roman" pitchFamily="18" charset="0"/>
              </a:rPr>
              <a:t>x</a:t>
            </a:r>
            <a:r>
              <a:rPr lang="en-US" altLang="zh-CN" sz="2400" b="1">
                <a:solidFill>
                  <a:srgbClr val="FF3300"/>
                </a:solidFill>
                <a:latin typeface="Times New Roman" pitchFamily="18" charset="0"/>
              </a:rPr>
              <a:t> </a:t>
            </a:r>
            <a:r>
              <a:rPr lang="zh-CN" altLang="en-US" sz="2400" b="1">
                <a:solidFill>
                  <a:srgbClr val="FF3300"/>
                </a:solidFill>
                <a:latin typeface="Times New Roman" pitchFamily="18" charset="0"/>
              </a:rPr>
              <a:t>方向</a:t>
            </a:r>
          </a:p>
        </p:txBody>
      </p:sp>
      <p:sp>
        <p:nvSpPr>
          <p:cNvPr id="142385" name="Text Box 49"/>
          <p:cNvSpPr txBox="1">
            <a:spLocks noChangeArrowheads="1"/>
          </p:cNvSpPr>
          <p:nvPr/>
        </p:nvSpPr>
        <p:spPr bwMode="auto">
          <a:xfrm>
            <a:off x="250825" y="476250"/>
            <a:ext cx="1584325" cy="558800"/>
          </a:xfrm>
          <a:prstGeom prst="rect">
            <a:avLst/>
          </a:prstGeom>
          <a:solidFill>
            <a:srgbClr val="00FF00"/>
          </a:solidFill>
          <a:ln w="9525" algn="ctr">
            <a:solidFill>
              <a:schemeClr val="tx1"/>
            </a:solidFill>
            <a:miter lim="800000"/>
            <a:headEnd/>
            <a:tailEnd/>
          </a:ln>
        </p:spPr>
        <p:txBody>
          <a:bodyPr>
            <a:spAutoFit/>
          </a:bodyPr>
          <a:lstStyle/>
          <a:p>
            <a:pPr>
              <a:lnSpc>
                <a:spcPct val="125000"/>
              </a:lnSpc>
            </a:pPr>
            <a:r>
              <a:rPr kumimoji="1" lang="zh-CN" altLang="en-US" sz="2400" b="1">
                <a:solidFill>
                  <a:srgbClr val="FF0000"/>
                </a:solidFill>
                <a:latin typeface="宋体" charset="-122"/>
              </a:rPr>
              <a:t>定量关系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85"/>
                                        </p:tgtEl>
                                        <p:attrNameLst>
                                          <p:attrName>style.visibility</p:attrName>
                                        </p:attrNameLst>
                                      </p:cBhvr>
                                      <p:to>
                                        <p:strVal val="visible"/>
                                      </p:to>
                                    </p:set>
                                    <p:animEffect transition="in" filter="wipe(left)">
                                      <p:cBhvr>
                                        <p:cTn id="7" dur="500"/>
                                        <p:tgtEl>
                                          <p:spTgt spid="14238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2338"/>
                                        </p:tgtEl>
                                        <p:attrNameLst>
                                          <p:attrName>style.visibility</p:attrName>
                                        </p:attrNameLst>
                                      </p:cBhvr>
                                      <p:to>
                                        <p:strVal val="visible"/>
                                      </p:to>
                                    </p:set>
                                    <p:animEffect transition="in" filter="wipe(left)">
                                      <p:cBhvr>
                                        <p:cTn id="11" dur="500"/>
                                        <p:tgtEl>
                                          <p:spTgt spid="142338"/>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42365"/>
                                        </p:tgtEl>
                                        <p:attrNameLst>
                                          <p:attrName>style.visibility</p:attrName>
                                        </p:attrNameLst>
                                      </p:cBhvr>
                                      <p:to>
                                        <p:strVal val="visible"/>
                                      </p:to>
                                    </p:set>
                                    <p:animEffect transition="in" filter="box(out)">
                                      <p:cBhvr>
                                        <p:cTn id="16" dur="500"/>
                                        <p:tgtEl>
                                          <p:spTgt spid="1423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2378"/>
                                        </p:tgtEl>
                                        <p:attrNameLst>
                                          <p:attrName>style.visibility</p:attrName>
                                        </p:attrNameLst>
                                      </p:cBhvr>
                                      <p:to>
                                        <p:strVal val="visible"/>
                                      </p:to>
                                    </p:set>
                                    <p:animEffect transition="in" filter="wipe(left)">
                                      <p:cBhvr>
                                        <p:cTn id="21" dur="500"/>
                                        <p:tgtEl>
                                          <p:spTgt spid="142378"/>
                                        </p:tgtEl>
                                      </p:cBhvr>
                                    </p:animEffect>
                                  </p:childTnLst>
                                </p:cTn>
                              </p:par>
                            </p:childTnLst>
                          </p:cTn>
                        </p:par>
                        <p:par>
                          <p:cTn id="22" fill="hold">
                            <p:stCondLst>
                              <p:cond delay="500"/>
                            </p:stCondLst>
                            <p:childTnLst>
                              <p:par>
                                <p:cTn id="23" presetID="4" presetClass="entr" presetSubtype="32"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ox(ou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42377"/>
                                        </p:tgtEl>
                                        <p:attrNameLst>
                                          <p:attrName>style.visibility</p:attrName>
                                        </p:attrNameLst>
                                      </p:cBhvr>
                                      <p:to>
                                        <p:strVal val="visible"/>
                                      </p:to>
                                    </p:set>
                                    <p:animEffect transition="in" filter="wipe(down)">
                                      <p:cBhvr>
                                        <p:cTn id="30" dur="500"/>
                                        <p:tgtEl>
                                          <p:spTgt spid="142377"/>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42376"/>
                                        </p:tgtEl>
                                        <p:attrNameLst>
                                          <p:attrName>style.visibility</p:attrName>
                                        </p:attrNameLst>
                                      </p:cBhvr>
                                      <p:to>
                                        <p:strVal val="visible"/>
                                      </p:to>
                                    </p:set>
                                    <p:animEffect transition="in" filter="wipe(down)">
                                      <p:cBhvr>
                                        <p:cTn id="33" dur="500"/>
                                        <p:tgtEl>
                                          <p:spTgt spid="14237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42374"/>
                                        </p:tgtEl>
                                        <p:attrNameLst>
                                          <p:attrName>style.visibility</p:attrName>
                                        </p:attrNameLst>
                                      </p:cBhvr>
                                      <p:to>
                                        <p:strVal val="visible"/>
                                      </p:to>
                                    </p:set>
                                    <p:animEffect transition="in" filter="wipe(down)">
                                      <p:cBhvr>
                                        <p:cTn id="36" dur="500"/>
                                        <p:tgtEl>
                                          <p:spTgt spid="14237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42373"/>
                                        </p:tgtEl>
                                        <p:attrNameLst>
                                          <p:attrName>style.visibility</p:attrName>
                                        </p:attrNameLst>
                                      </p:cBhvr>
                                      <p:to>
                                        <p:strVal val="visible"/>
                                      </p:to>
                                    </p:set>
                                    <p:animEffect transition="in" filter="wipe(down)">
                                      <p:cBhvr>
                                        <p:cTn id="39" dur="500"/>
                                        <p:tgtEl>
                                          <p:spTgt spid="142373"/>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42370"/>
                                        </p:tgtEl>
                                        <p:attrNameLst>
                                          <p:attrName>style.visibility</p:attrName>
                                        </p:attrNameLst>
                                      </p:cBhvr>
                                      <p:to>
                                        <p:strVal val="visible"/>
                                      </p:to>
                                    </p:set>
                                    <p:animEffect transition="in" filter="wipe(down)">
                                      <p:cBhvr>
                                        <p:cTn id="42" dur="500"/>
                                        <p:tgtEl>
                                          <p:spTgt spid="142370"/>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42371"/>
                                        </p:tgtEl>
                                        <p:attrNameLst>
                                          <p:attrName>style.visibility</p:attrName>
                                        </p:attrNameLst>
                                      </p:cBhvr>
                                      <p:to>
                                        <p:strVal val="visible"/>
                                      </p:to>
                                    </p:set>
                                    <p:animEffect transition="in" filter="wipe(down)">
                                      <p:cBhvr>
                                        <p:cTn id="45" dur="500"/>
                                        <p:tgtEl>
                                          <p:spTgt spid="14237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42372"/>
                                        </p:tgtEl>
                                        <p:attrNameLst>
                                          <p:attrName>style.visibility</p:attrName>
                                        </p:attrNameLst>
                                      </p:cBhvr>
                                      <p:to>
                                        <p:strVal val="visible"/>
                                      </p:to>
                                    </p:set>
                                    <p:animEffect transition="in" filter="wipe(down)">
                                      <p:cBhvr>
                                        <p:cTn id="48" dur="500"/>
                                        <p:tgtEl>
                                          <p:spTgt spid="142372"/>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42368"/>
                                        </p:tgtEl>
                                        <p:attrNameLst>
                                          <p:attrName>style.visibility</p:attrName>
                                        </p:attrNameLst>
                                      </p:cBhvr>
                                      <p:to>
                                        <p:strVal val="visible"/>
                                      </p:to>
                                    </p:set>
                                    <p:animEffect transition="in" filter="wipe(down)">
                                      <p:cBhvr>
                                        <p:cTn id="51" dur="500"/>
                                        <p:tgtEl>
                                          <p:spTgt spid="142368"/>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42369"/>
                                        </p:tgtEl>
                                        <p:attrNameLst>
                                          <p:attrName>style.visibility</p:attrName>
                                        </p:attrNameLst>
                                      </p:cBhvr>
                                      <p:to>
                                        <p:strVal val="visible"/>
                                      </p:to>
                                    </p:set>
                                    <p:animEffect transition="in" filter="wipe(down)">
                                      <p:cBhvr>
                                        <p:cTn id="54" dur="500"/>
                                        <p:tgtEl>
                                          <p:spTgt spid="14236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42367"/>
                                        </p:tgtEl>
                                        <p:attrNameLst>
                                          <p:attrName>style.visibility</p:attrName>
                                        </p:attrNameLst>
                                      </p:cBhvr>
                                      <p:to>
                                        <p:strVal val="visible"/>
                                      </p:to>
                                    </p:set>
                                    <p:animEffect transition="in" filter="wipe(down)">
                                      <p:cBhvr>
                                        <p:cTn id="57" dur="500"/>
                                        <p:tgtEl>
                                          <p:spTgt spid="142367"/>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42366"/>
                                        </p:tgtEl>
                                        <p:attrNameLst>
                                          <p:attrName>style.visibility</p:attrName>
                                        </p:attrNameLst>
                                      </p:cBhvr>
                                      <p:to>
                                        <p:strVal val="visible"/>
                                      </p:to>
                                    </p:set>
                                    <p:animEffect transition="in" filter="wipe(down)">
                                      <p:cBhvr>
                                        <p:cTn id="60" dur="500"/>
                                        <p:tgtEl>
                                          <p:spTgt spid="142366"/>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142365"/>
                                        </p:tgtEl>
                                        <p:attrNameLst>
                                          <p:attrName>style.visibility</p:attrName>
                                        </p:attrNameLst>
                                      </p:cBhvr>
                                      <p:to>
                                        <p:strVal val="hidden"/>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142375"/>
                                        </p:tgtEl>
                                        <p:attrNameLst>
                                          <p:attrName>style.visibility</p:attrName>
                                        </p:attrNameLst>
                                      </p:cBhvr>
                                      <p:to>
                                        <p:strVal val="visible"/>
                                      </p:to>
                                    </p:set>
                                  </p:childTnLst>
                                </p:cTn>
                              </p:par>
                            </p:childTnLst>
                          </p:cTn>
                        </p:par>
                        <p:par>
                          <p:cTn id="68" fill="hold">
                            <p:stCondLst>
                              <p:cond delay="0"/>
                            </p:stCondLst>
                            <p:childTnLst>
                              <p:par>
                                <p:cTn id="69" presetID="22" presetClass="entr" presetSubtype="1" fill="hold" grpId="0" nodeType="afterEffect">
                                  <p:stCondLst>
                                    <p:cond delay="0"/>
                                  </p:stCondLst>
                                  <p:childTnLst>
                                    <p:set>
                                      <p:cBhvr>
                                        <p:cTn id="70" dur="1" fill="hold">
                                          <p:stCondLst>
                                            <p:cond delay="0"/>
                                          </p:stCondLst>
                                        </p:cTn>
                                        <p:tgtEl>
                                          <p:spTgt spid="142353"/>
                                        </p:tgtEl>
                                        <p:attrNameLst>
                                          <p:attrName>style.visibility</p:attrName>
                                        </p:attrNameLst>
                                      </p:cBhvr>
                                      <p:to>
                                        <p:strVal val="visible"/>
                                      </p:to>
                                    </p:set>
                                    <p:animEffect transition="in" filter="wipe(up)">
                                      <p:cBhvr>
                                        <p:cTn id="71" dur="500"/>
                                        <p:tgtEl>
                                          <p:spTgt spid="14235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142340"/>
                                        </p:tgtEl>
                                        <p:attrNameLst>
                                          <p:attrName>style.visibility</p:attrName>
                                        </p:attrNameLst>
                                      </p:cBhvr>
                                      <p:to>
                                        <p:strVal val="visible"/>
                                      </p:to>
                                    </p:set>
                                    <p:animEffect transition="in" filter="wipe(up)">
                                      <p:cBhvr>
                                        <p:cTn id="76" dur="500"/>
                                        <p:tgtEl>
                                          <p:spTgt spid="142340"/>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42339"/>
                                        </p:tgtEl>
                                        <p:attrNameLst>
                                          <p:attrName>style.visibility</p:attrName>
                                        </p:attrNameLst>
                                      </p:cBhvr>
                                      <p:to>
                                        <p:strVal val="visible"/>
                                      </p:to>
                                    </p:set>
                                    <p:animEffect transition="in" filter="wipe(left)">
                                      <p:cBhvr>
                                        <p:cTn id="79" dur="500"/>
                                        <p:tgtEl>
                                          <p:spTgt spid="142339"/>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142379"/>
                                        </p:tgtEl>
                                        <p:attrNameLst>
                                          <p:attrName>style.visibility</p:attrName>
                                        </p:attrNameLst>
                                      </p:cBhvr>
                                      <p:to>
                                        <p:strVal val="visible"/>
                                      </p:to>
                                    </p:set>
                                    <p:animEffect transition="in" filter="wipe(left)">
                                      <p:cBhvr>
                                        <p:cTn id="83" dur="500"/>
                                        <p:tgtEl>
                                          <p:spTgt spid="142379"/>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142380"/>
                                        </p:tgtEl>
                                        <p:attrNameLst>
                                          <p:attrName>style.visibility</p:attrName>
                                        </p:attrNameLst>
                                      </p:cBhvr>
                                      <p:to>
                                        <p:strVal val="visible"/>
                                      </p:to>
                                    </p:set>
                                    <p:animEffect transition="in" filter="wipe(left)">
                                      <p:cBhvr>
                                        <p:cTn id="87" dur="500"/>
                                        <p:tgtEl>
                                          <p:spTgt spid="142380"/>
                                        </p:tgtEl>
                                      </p:cBhvr>
                                    </p:animEffect>
                                  </p:childTnLst>
                                </p:cTn>
                              </p:par>
                            </p:childTnLst>
                          </p:cTn>
                        </p:par>
                        <p:par>
                          <p:cTn id="88" fill="hold">
                            <p:stCondLst>
                              <p:cond delay="1500"/>
                            </p:stCondLst>
                            <p:childTnLst>
                              <p:par>
                                <p:cTn id="89" presetID="22" presetClass="entr" presetSubtype="8" fill="hold" nodeType="afterEffect">
                                  <p:stCondLst>
                                    <p:cond delay="0"/>
                                  </p:stCondLst>
                                  <p:childTnLst>
                                    <p:set>
                                      <p:cBhvr>
                                        <p:cTn id="90" dur="1" fill="hold">
                                          <p:stCondLst>
                                            <p:cond delay="0"/>
                                          </p:stCondLst>
                                        </p:cTn>
                                        <p:tgtEl>
                                          <p:spTgt spid="142381"/>
                                        </p:tgtEl>
                                        <p:attrNameLst>
                                          <p:attrName>style.visibility</p:attrName>
                                        </p:attrNameLst>
                                      </p:cBhvr>
                                      <p:to>
                                        <p:strVal val="visible"/>
                                      </p:to>
                                    </p:set>
                                    <p:animEffect transition="in" filter="wipe(left)">
                                      <p:cBhvr>
                                        <p:cTn id="91" dur="500"/>
                                        <p:tgtEl>
                                          <p:spTgt spid="14238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142341"/>
                                        </p:tgtEl>
                                        <p:attrNameLst>
                                          <p:attrName>style.visibility</p:attrName>
                                        </p:attrNameLst>
                                      </p:cBhvr>
                                      <p:to>
                                        <p:strVal val="visible"/>
                                      </p:to>
                                    </p:set>
                                    <p:animEffect transition="in" filter="wipe(up)">
                                      <p:cBhvr>
                                        <p:cTn id="96" dur="500"/>
                                        <p:tgtEl>
                                          <p:spTgt spid="142341"/>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142345"/>
                                        </p:tgtEl>
                                        <p:attrNameLst>
                                          <p:attrName>style.visibility</p:attrName>
                                        </p:attrNameLst>
                                      </p:cBhvr>
                                      <p:to>
                                        <p:strVal val="visible"/>
                                      </p:to>
                                    </p:set>
                                    <p:animEffect transition="in" filter="wipe(up)">
                                      <p:cBhvr>
                                        <p:cTn id="99" dur="500"/>
                                        <p:tgtEl>
                                          <p:spTgt spid="142345"/>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142347"/>
                                        </p:tgtEl>
                                        <p:attrNameLst>
                                          <p:attrName>style.visibility</p:attrName>
                                        </p:attrNameLst>
                                      </p:cBhvr>
                                      <p:to>
                                        <p:strVal val="visible"/>
                                      </p:to>
                                    </p:set>
                                    <p:animEffect transition="in" filter="wipe(up)">
                                      <p:cBhvr>
                                        <p:cTn id="102" dur="500"/>
                                        <p:tgtEl>
                                          <p:spTgt spid="142347"/>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42352"/>
                                        </p:tgtEl>
                                        <p:attrNameLst>
                                          <p:attrName>style.visibility</p:attrName>
                                        </p:attrNameLst>
                                      </p:cBhvr>
                                      <p:to>
                                        <p:strVal val="visible"/>
                                      </p:to>
                                    </p:set>
                                    <p:animEffect transition="in" filter="wipe(up)">
                                      <p:cBhvr>
                                        <p:cTn id="105" dur="500"/>
                                        <p:tgtEl>
                                          <p:spTgt spid="142352"/>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142349"/>
                                        </p:tgtEl>
                                        <p:attrNameLst>
                                          <p:attrName>style.visibility</p:attrName>
                                        </p:attrNameLst>
                                      </p:cBhvr>
                                      <p:to>
                                        <p:strVal val="visible"/>
                                      </p:to>
                                    </p:set>
                                    <p:animEffect transition="in" filter="wipe(up)">
                                      <p:cBhvr>
                                        <p:cTn id="108" dur="500"/>
                                        <p:tgtEl>
                                          <p:spTgt spid="142349"/>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142350"/>
                                        </p:tgtEl>
                                        <p:attrNameLst>
                                          <p:attrName>style.visibility</p:attrName>
                                        </p:attrNameLst>
                                      </p:cBhvr>
                                      <p:to>
                                        <p:strVal val="visible"/>
                                      </p:to>
                                    </p:set>
                                    <p:animEffect transition="in" filter="wipe(up)">
                                      <p:cBhvr>
                                        <p:cTn id="111" dur="500"/>
                                        <p:tgtEl>
                                          <p:spTgt spid="142350"/>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142351"/>
                                        </p:tgtEl>
                                        <p:attrNameLst>
                                          <p:attrName>style.visibility</p:attrName>
                                        </p:attrNameLst>
                                      </p:cBhvr>
                                      <p:to>
                                        <p:strVal val="visible"/>
                                      </p:to>
                                    </p:set>
                                    <p:animEffect transition="in" filter="wipe(up)">
                                      <p:cBhvr>
                                        <p:cTn id="114" dur="500"/>
                                        <p:tgtEl>
                                          <p:spTgt spid="142351"/>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142348"/>
                                        </p:tgtEl>
                                        <p:attrNameLst>
                                          <p:attrName>style.visibility</p:attrName>
                                        </p:attrNameLst>
                                      </p:cBhvr>
                                      <p:to>
                                        <p:strVal val="visible"/>
                                      </p:to>
                                    </p:set>
                                    <p:animEffect transition="in" filter="wipe(up)">
                                      <p:cBhvr>
                                        <p:cTn id="117" dur="500"/>
                                        <p:tgtEl>
                                          <p:spTgt spid="142348"/>
                                        </p:tgtEl>
                                      </p:cBhvr>
                                    </p:animEffect>
                                  </p:childTnLst>
                                </p:cTn>
                              </p:par>
                              <p:par>
                                <p:cTn id="118" presetID="22" presetClass="entr" presetSubtype="2" fill="hold" grpId="0" nodeType="withEffect">
                                  <p:stCondLst>
                                    <p:cond delay="0"/>
                                  </p:stCondLst>
                                  <p:childTnLst>
                                    <p:set>
                                      <p:cBhvr>
                                        <p:cTn id="119" dur="1" fill="hold">
                                          <p:stCondLst>
                                            <p:cond delay="0"/>
                                          </p:stCondLst>
                                        </p:cTn>
                                        <p:tgtEl>
                                          <p:spTgt spid="142343"/>
                                        </p:tgtEl>
                                        <p:attrNameLst>
                                          <p:attrName>style.visibility</p:attrName>
                                        </p:attrNameLst>
                                      </p:cBhvr>
                                      <p:to>
                                        <p:strVal val="visible"/>
                                      </p:to>
                                    </p:set>
                                    <p:animEffect transition="in" filter="wipe(right)">
                                      <p:cBhvr>
                                        <p:cTn id="120" dur="500"/>
                                        <p:tgtEl>
                                          <p:spTgt spid="142343"/>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142346"/>
                                        </p:tgtEl>
                                        <p:attrNameLst>
                                          <p:attrName>style.visibility</p:attrName>
                                        </p:attrNameLst>
                                      </p:cBhvr>
                                      <p:to>
                                        <p:strVal val="visible"/>
                                      </p:to>
                                    </p:set>
                                    <p:animEffect transition="in" filter="wipe(down)">
                                      <p:cBhvr>
                                        <p:cTn id="123" dur="500"/>
                                        <p:tgtEl>
                                          <p:spTgt spid="142346"/>
                                        </p:tgtEl>
                                      </p:cBhvr>
                                    </p:animEffect>
                                  </p:childTnLst>
                                </p:cTn>
                              </p:par>
                              <p:par>
                                <p:cTn id="124" presetID="22" presetClass="entr" presetSubtype="1" fill="hold" nodeType="withEffect">
                                  <p:stCondLst>
                                    <p:cond delay="0"/>
                                  </p:stCondLst>
                                  <p:childTnLst>
                                    <p:set>
                                      <p:cBhvr>
                                        <p:cTn id="125" dur="1" fill="hold">
                                          <p:stCondLst>
                                            <p:cond delay="0"/>
                                          </p:stCondLst>
                                        </p:cTn>
                                        <p:tgtEl>
                                          <p:spTgt spid="142364"/>
                                        </p:tgtEl>
                                        <p:attrNameLst>
                                          <p:attrName>style.visibility</p:attrName>
                                        </p:attrNameLst>
                                      </p:cBhvr>
                                      <p:to>
                                        <p:strVal val="visible"/>
                                      </p:to>
                                    </p:set>
                                    <p:animEffect transition="in" filter="wipe(up)">
                                      <p:cBhvr>
                                        <p:cTn id="126" dur="500"/>
                                        <p:tgtEl>
                                          <p:spTgt spid="142364"/>
                                        </p:tgtEl>
                                      </p:cBhvr>
                                    </p:animEffect>
                                  </p:childTnLst>
                                </p:cTn>
                              </p:par>
                              <p:par>
                                <p:cTn id="127" presetID="22" presetClass="entr" presetSubtype="1" fill="hold" nodeType="withEffect">
                                  <p:stCondLst>
                                    <p:cond delay="0"/>
                                  </p:stCondLst>
                                  <p:childTnLst>
                                    <p:set>
                                      <p:cBhvr>
                                        <p:cTn id="128" dur="1" fill="hold">
                                          <p:stCondLst>
                                            <p:cond delay="0"/>
                                          </p:stCondLst>
                                        </p:cTn>
                                        <p:tgtEl>
                                          <p:spTgt spid="142354"/>
                                        </p:tgtEl>
                                        <p:attrNameLst>
                                          <p:attrName>style.visibility</p:attrName>
                                        </p:attrNameLst>
                                      </p:cBhvr>
                                      <p:to>
                                        <p:strVal val="visible"/>
                                      </p:to>
                                    </p:set>
                                    <p:animEffect transition="in" filter="wipe(up)">
                                      <p:cBhvr>
                                        <p:cTn id="129" dur="500"/>
                                        <p:tgtEl>
                                          <p:spTgt spid="142354"/>
                                        </p:tgtEl>
                                      </p:cBhvr>
                                    </p:animEffect>
                                  </p:childTnLst>
                                </p:cTn>
                              </p:par>
                              <p:par>
                                <p:cTn id="130" presetID="22" presetClass="entr" presetSubtype="1" fill="hold" grpId="0" nodeType="withEffect">
                                  <p:stCondLst>
                                    <p:cond delay="0"/>
                                  </p:stCondLst>
                                  <p:childTnLst>
                                    <p:set>
                                      <p:cBhvr>
                                        <p:cTn id="131" dur="1" fill="hold">
                                          <p:stCondLst>
                                            <p:cond delay="0"/>
                                          </p:stCondLst>
                                        </p:cTn>
                                        <p:tgtEl>
                                          <p:spTgt spid="142344"/>
                                        </p:tgtEl>
                                        <p:attrNameLst>
                                          <p:attrName>style.visibility</p:attrName>
                                        </p:attrNameLst>
                                      </p:cBhvr>
                                      <p:to>
                                        <p:strVal val="visible"/>
                                      </p:to>
                                    </p:set>
                                    <p:animEffect transition="in" filter="wipe(up)">
                                      <p:cBhvr>
                                        <p:cTn id="132" dur="500"/>
                                        <p:tgtEl>
                                          <p:spTgt spid="142344"/>
                                        </p:tgtEl>
                                      </p:cBhvr>
                                    </p:animEffect>
                                  </p:childTnLst>
                                </p:cTn>
                              </p:par>
                              <p:par>
                                <p:cTn id="133" presetID="22" presetClass="entr" presetSubtype="1" fill="hold" nodeType="withEffect">
                                  <p:stCondLst>
                                    <p:cond delay="0"/>
                                  </p:stCondLst>
                                  <p:childTnLst>
                                    <p:set>
                                      <p:cBhvr>
                                        <p:cTn id="134" dur="1" fill="hold">
                                          <p:stCondLst>
                                            <p:cond delay="0"/>
                                          </p:stCondLst>
                                        </p:cTn>
                                        <p:tgtEl>
                                          <p:spTgt spid="142363"/>
                                        </p:tgtEl>
                                        <p:attrNameLst>
                                          <p:attrName>style.visibility</p:attrName>
                                        </p:attrNameLst>
                                      </p:cBhvr>
                                      <p:to>
                                        <p:strVal val="visible"/>
                                      </p:to>
                                    </p:set>
                                    <p:animEffect transition="in" filter="wipe(up)">
                                      <p:cBhvr>
                                        <p:cTn id="135" dur="500"/>
                                        <p:tgtEl>
                                          <p:spTgt spid="142363"/>
                                        </p:tgtEl>
                                      </p:cBhvr>
                                    </p:animEffect>
                                  </p:childTnLst>
                                </p:cTn>
                              </p:par>
                              <p:par>
                                <p:cTn id="136" presetID="22" presetClass="entr" presetSubtype="8" fill="hold" grpId="0" nodeType="withEffect">
                                  <p:stCondLst>
                                    <p:cond delay="0"/>
                                  </p:stCondLst>
                                  <p:childTnLst>
                                    <p:set>
                                      <p:cBhvr>
                                        <p:cTn id="137" dur="1" fill="hold">
                                          <p:stCondLst>
                                            <p:cond delay="0"/>
                                          </p:stCondLst>
                                        </p:cTn>
                                        <p:tgtEl>
                                          <p:spTgt spid="142342"/>
                                        </p:tgtEl>
                                        <p:attrNameLst>
                                          <p:attrName>style.visibility</p:attrName>
                                        </p:attrNameLst>
                                      </p:cBhvr>
                                      <p:to>
                                        <p:strVal val="visible"/>
                                      </p:to>
                                    </p:set>
                                    <p:animEffect transition="in" filter="wipe(left)">
                                      <p:cBhvr>
                                        <p:cTn id="138" dur="500"/>
                                        <p:tgtEl>
                                          <p:spTgt spid="142342"/>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42382"/>
                                        </p:tgtEl>
                                        <p:attrNameLst>
                                          <p:attrName>style.visibility</p:attrName>
                                        </p:attrNameLst>
                                      </p:cBhvr>
                                      <p:to>
                                        <p:strVal val="visible"/>
                                      </p:to>
                                    </p:set>
                                    <p:animEffect transition="in" filter="wipe(left)">
                                      <p:cBhvr>
                                        <p:cTn id="143" dur="500"/>
                                        <p:tgtEl>
                                          <p:spTgt spid="142382"/>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142383"/>
                                        </p:tgtEl>
                                        <p:attrNameLst>
                                          <p:attrName>style.visibility</p:attrName>
                                        </p:attrNameLst>
                                      </p:cBhvr>
                                      <p:to>
                                        <p:strVal val="visible"/>
                                      </p:to>
                                    </p:set>
                                    <p:animEffect transition="in" filter="wipe(left)">
                                      <p:cBhvr>
                                        <p:cTn id="148" dur="500"/>
                                        <p:tgtEl>
                                          <p:spTgt spid="142383"/>
                                        </p:tgtEl>
                                      </p:cBhvr>
                                    </p:animEffect>
                                  </p:childTnLst>
                                </p:cTn>
                              </p:par>
                            </p:childTnLst>
                          </p:cTn>
                        </p:par>
                        <p:par>
                          <p:cTn id="149" fill="hold">
                            <p:stCondLst>
                              <p:cond delay="500"/>
                            </p:stCondLst>
                            <p:childTnLst>
                              <p:par>
                                <p:cTn id="150" presetID="22" presetClass="entr" presetSubtype="8" fill="hold" grpId="0" nodeType="afterEffect">
                                  <p:stCondLst>
                                    <p:cond delay="0"/>
                                  </p:stCondLst>
                                  <p:childTnLst>
                                    <p:set>
                                      <p:cBhvr>
                                        <p:cTn id="151" dur="1" fill="hold">
                                          <p:stCondLst>
                                            <p:cond delay="0"/>
                                          </p:stCondLst>
                                        </p:cTn>
                                        <p:tgtEl>
                                          <p:spTgt spid="142384"/>
                                        </p:tgtEl>
                                        <p:attrNameLst>
                                          <p:attrName>style.visibility</p:attrName>
                                        </p:attrNameLst>
                                      </p:cBhvr>
                                      <p:to>
                                        <p:strVal val="visible"/>
                                      </p:to>
                                    </p:set>
                                    <p:animEffect transition="in" filter="wipe(left)">
                                      <p:cBhvr>
                                        <p:cTn id="152" dur="500"/>
                                        <p:tgtEl>
                                          <p:spTgt spid="142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p:bldP spid="142339" grpId="0" animBg="1"/>
      <p:bldP spid="142341" grpId="0" animBg="1"/>
      <p:bldP spid="142342" grpId="0" animBg="1"/>
      <p:bldP spid="142343" grpId="0" animBg="1"/>
      <p:bldP spid="142344" grpId="0" animBg="1"/>
      <p:bldP spid="142345" grpId="0" animBg="1"/>
      <p:bldP spid="142346" grpId="0" animBg="1"/>
      <p:bldP spid="142347" grpId="0" animBg="1"/>
      <p:bldP spid="142348" grpId="0" animBg="1"/>
      <p:bldP spid="142349" grpId="0" animBg="1"/>
      <p:bldP spid="142350" grpId="0" animBg="1"/>
      <p:bldP spid="142351" grpId="0" animBg="1"/>
      <p:bldP spid="142352" grpId="0" animBg="1"/>
      <p:bldP spid="142353" grpId="0" animBg="1"/>
      <p:bldP spid="142365" grpId="0" animBg="1"/>
      <p:bldP spid="142365" grpId="1" animBg="1"/>
      <p:bldP spid="142366" grpId="0" animBg="1"/>
      <p:bldP spid="142367" grpId="0" animBg="1"/>
      <p:bldP spid="142368" grpId="0" animBg="1"/>
      <p:bldP spid="142369" grpId="0"/>
      <p:bldP spid="142370" grpId="0" animBg="1"/>
      <p:bldP spid="142371" grpId="0" animBg="1"/>
      <p:bldP spid="142372" grpId="0"/>
      <p:bldP spid="142373" grpId="0" animBg="1"/>
      <p:bldP spid="142374" grpId="0" animBg="1"/>
      <p:bldP spid="142375" grpId="0" animBg="1"/>
      <p:bldP spid="142376" grpId="0" animBg="1"/>
      <p:bldP spid="142377" grpId="0"/>
      <p:bldP spid="142378" grpId="0"/>
      <p:bldP spid="142380" grpId="0" animBg="1"/>
      <p:bldP spid="142382" grpId="0"/>
      <p:bldP spid="142383" grpId="0" animBg="1"/>
      <p:bldP spid="142384" grpId="0"/>
      <p:bldP spid="14238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971550" y="1054100"/>
            <a:ext cx="6985000" cy="457200"/>
          </a:xfrm>
          <a:prstGeom prst="rect">
            <a:avLst/>
          </a:prstGeom>
          <a:noFill/>
          <a:ln w="9525">
            <a:noFill/>
            <a:miter lim="800000"/>
            <a:headEnd/>
            <a:tailEnd/>
          </a:ln>
        </p:spPr>
        <p:txBody>
          <a:bodyPr>
            <a:spAutoFit/>
          </a:bodyPr>
          <a:lstStyle/>
          <a:p>
            <a:r>
              <a:rPr lang="en-US" altLang="zh-CN" sz="2400" b="1" i="1">
                <a:latin typeface="Times New Roman" pitchFamily="18" charset="0"/>
              </a:rPr>
              <a:t>x</a:t>
            </a:r>
            <a:r>
              <a:rPr lang="en-US" altLang="zh-CN" sz="2400" b="1">
                <a:latin typeface="Times New Roman" pitchFamily="18" charset="0"/>
              </a:rPr>
              <a:t> </a:t>
            </a:r>
            <a:r>
              <a:rPr lang="zh-CN" altLang="en-US" sz="2400" b="1">
                <a:latin typeface="Times New Roman" pitchFamily="18" charset="0"/>
              </a:rPr>
              <a:t>方向速度分量为 </a:t>
            </a:r>
            <a:r>
              <a:rPr lang="en-US" altLang="zh-CN" sz="2400" b="1" i="1">
                <a:latin typeface="Times New Roman" pitchFamily="18" charset="0"/>
              </a:rPr>
              <a:t>v</a:t>
            </a:r>
            <a:r>
              <a:rPr lang="en-US" altLang="zh-CN" sz="2400" b="1" i="1" baseline="-25000">
                <a:latin typeface="Times New Roman" pitchFamily="18" charset="0"/>
              </a:rPr>
              <a:t>ix</a:t>
            </a:r>
            <a:r>
              <a:rPr lang="en-US" altLang="zh-CN" sz="2400" b="1">
                <a:latin typeface="Times New Roman" pitchFamily="18" charset="0"/>
              </a:rPr>
              <a:t> </a:t>
            </a:r>
            <a:r>
              <a:rPr lang="zh-CN" altLang="en-US" sz="2400" b="1">
                <a:latin typeface="Times New Roman" pitchFamily="18" charset="0"/>
              </a:rPr>
              <a:t>的分子 </a:t>
            </a:r>
            <a:r>
              <a:rPr lang="en-US" altLang="zh-CN" sz="2400" b="1" i="1">
                <a:latin typeface="Times New Roman" pitchFamily="18" charset="0"/>
              </a:rPr>
              <a:t>i</a:t>
            </a:r>
            <a:r>
              <a:rPr lang="en-US" altLang="zh-CN" sz="2400" b="1">
                <a:latin typeface="Times New Roman" pitchFamily="18" charset="0"/>
              </a:rPr>
              <a:t> </a:t>
            </a:r>
            <a:r>
              <a:rPr lang="zh-CN" altLang="en-US" sz="2400" b="1">
                <a:latin typeface="Times New Roman" pitchFamily="18" charset="0"/>
              </a:rPr>
              <a:t>与气体分子 </a:t>
            </a:r>
            <a:r>
              <a:rPr lang="en-US" altLang="zh-CN" sz="2400" b="1" i="1">
                <a:latin typeface="Times New Roman" pitchFamily="18" charset="0"/>
              </a:rPr>
              <a:t>j</a:t>
            </a:r>
            <a:r>
              <a:rPr lang="en-US" altLang="zh-CN" sz="2400" b="1">
                <a:latin typeface="Times New Roman" pitchFamily="18" charset="0"/>
              </a:rPr>
              <a:t> </a:t>
            </a:r>
            <a:r>
              <a:rPr lang="zh-CN" altLang="en-US" sz="2400" b="1">
                <a:latin typeface="Times New Roman" pitchFamily="18" charset="0"/>
              </a:rPr>
              <a:t>碰撞，</a:t>
            </a:r>
          </a:p>
        </p:txBody>
      </p:sp>
      <p:graphicFrame>
        <p:nvGraphicFramePr>
          <p:cNvPr id="143363" name="Object 3"/>
          <p:cNvGraphicFramePr>
            <a:graphicFrameLocks noChangeAspect="1"/>
          </p:cNvGraphicFramePr>
          <p:nvPr/>
        </p:nvGraphicFramePr>
        <p:xfrm>
          <a:off x="2039938" y="1774825"/>
          <a:ext cx="434975" cy="522288"/>
        </p:xfrm>
        <a:graphic>
          <a:graphicData uri="http://schemas.openxmlformats.org/presentationml/2006/ole">
            <p:oleObj spid="_x0000_s12290" name="公式" r:id="rId3" imgW="190440" imgH="228600" progId="Equation.3">
              <p:embed/>
            </p:oleObj>
          </a:graphicData>
        </a:graphic>
      </p:graphicFrame>
      <p:graphicFrame>
        <p:nvGraphicFramePr>
          <p:cNvPr id="143364" name="Object 4"/>
          <p:cNvGraphicFramePr>
            <a:graphicFrameLocks noChangeAspect="1"/>
          </p:cNvGraphicFramePr>
          <p:nvPr/>
        </p:nvGraphicFramePr>
        <p:xfrm>
          <a:off x="3913188" y="1774825"/>
          <a:ext cx="463550" cy="550863"/>
        </p:xfrm>
        <a:graphic>
          <a:graphicData uri="http://schemas.openxmlformats.org/presentationml/2006/ole">
            <p:oleObj spid="_x0000_s12291" name="公式" r:id="rId4" imgW="203040" imgH="241200" progId="Equation.3">
              <p:embed/>
            </p:oleObj>
          </a:graphicData>
        </a:graphic>
      </p:graphicFrame>
      <p:sp>
        <p:nvSpPr>
          <p:cNvPr id="143365" name="AutoShape 5"/>
          <p:cNvSpPr>
            <a:spLocks noChangeArrowheads="1"/>
          </p:cNvSpPr>
          <p:nvPr/>
        </p:nvSpPr>
        <p:spPr bwMode="auto">
          <a:xfrm>
            <a:off x="2546350" y="1952625"/>
            <a:ext cx="1293813" cy="215900"/>
          </a:xfrm>
          <a:prstGeom prst="leftRightArrow">
            <a:avLst>
              <a:gd name="adj1" fmla="val 50000"/>
              <a:gd name="adj2" fmla="val 119853"/>
            </a:avLst>
          </a:prstGeom>
          <a:solidFill>
            <a:schemeClr val="accent1"/>
          </a:solidFill>
          <a:ln w="9525">
            <a:solidFill>
              <a:schemeClr val="tx1"/>
            </a:solidFill>
            <a:miter lim="800000"/>
            <a:headEnd/>
            <a:tailEnd/>
          </a:ln>
        </p:spPr>
        <p:txBody>
          <a:bodyPr wrap="none" anchor="ctr"/>
          <a:lstStyle/>
          <a:p>
            <a:endParaRPr lang="zh-CN" altLang="en-US"/>
          </a:p>
        </p:txBody>
      </p:sp>
      <p:sp>
        <p:nvSpPr>
          <p:cNvPr id="143366" name="Text Box 6"/>
          <p:cNvSpPr txBox="1">
            <a:spLocks noChangeArrowheads="1"/>
          </p:cNvSpPr>
          <p:nvPr/>
        </p:nvSpPr>
        <p:spPr bwMode="auto">
          <a:xfrm>
            <a:off x="2740025" y="1557338"/>
            <a:ext cx="968375" cy="457200"/>
          </a:xfrm>
          <a:prstGeom prst="rect">
            <a:avLst/>
          </a:prstGeom>
          <a:noFill/>
          <a:ln w="9525">
            <a:noFill/>
            <a:miter lim="800000"/>
            <a:headEnd/>
            <a:tailEnd/>
          </a:ln>
        </p:spPr>
        <p:txBody>
          <a:bodyPr>
            <a:spAutoFit/>
          </a:bodyPr>
          <a:lstStyle/>
          <a:p>
            <a:r>
              <a:rPr lang="zh-CN" altLang="en-US" sz="2400" b="1">
                <a:latin typeface="Times New Roman" pitchFamily="18" charset="0"/>
              </a:rPr>
              <a:t>互换</a:t>
            </a:r>
          </a:p>
        </p:txBody>
      </p:sp>
      <p:sp>
        <p:nvSpPr>
          <p:cNvPr id="143367" name="AutoShape 7"/>
          <p:cNvSpPr>
            <a:spLocks noChangeArrowheads="1"/>
          </p:cNvSpPr>
          <p:nvPr/>
        </p:nvSpPr>
        <p:spPr bwMode="auto">
          <a:xfrm>
            <a:off x="200025" y="9810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a:p>
        </p:txBody>
      </p:sp>
      <p:sp>
        <p:nvSpPr>
          <p:cNvPr id="143368" name="Text Box 8"/>
          <p:cNvSpPr txBox="1">
            <a:spLocks noChangeArrowheads="1"/>
          </p:cNvSpPr>
          <p:nvPr/>
        </p:nvSpPr>
        <p:spPr bwMode="auto">
          <a:xfrm>
            <a:off x="755650" y="2422525"/>
            <a:ext cx="4511675" cy="1920875"/>
          </a:xfrm>
          <a:prstGeom prst="rect">
            <a:avLst/>
          </a:prstGeom>
          <a:noFill/>
          <a:ln w="9525">
            <a:noFill/>
            <a:miter lim="800000"/>
            <a:headEnd/>
            <a:tailEnd/>
          </a:ln>
        </p:spPr>
        <p:txBody>
          <a:bodyPr>
            <a:spAutoFit/>
          </a:bodyPr>
          <a:lstStyle/>
          <a:p>
            <a:pPr>
              <a:lnSpc>
                <a:spcPct val="125000"/>
              </a:lnSpc>
            </a:pPr>
            <a:r>
              <a:rPr lang="zh-CN" altLang="en-US" sz="2400" b="1">
                <a:latin typeface="Times New Roman" pitchFamily="18" charset="0"/>
              </a:rPr>
              <a:t>　　由于</a:t>
            </a:r>
            <a:r>
              <a:rPr lang="zh-CN" altLang="en-US" sz="2400" b="1">
                <a:solidFill>
                  <a:srgbClr val="FF6600"/>
                </a:solidFill>
                <a:latin typeface="Times New Roman" pitchFamily="18" charset="0"/>
              </a:rPr>
              <a:t>气体分子是全同</a:t>
            </a:r>
            <a:r>
              <a:rPr lang="zh-CN" altLang="en-US" sz="2400" b="1">
                <a:latin typeface="Times New Roman" pitchFamily="18" charset="0"/>
              </a:rPr>
              <a:t>的，而且每次碰撞是弹性碰撞，因此气体分子间的碰撞对结果的影响可忽略。</a:t>
            </a:r>
          </a:p>
        </p:txBody>
      </p:sp>
      <p:sp>
        <p:nvSpPr>
          <p:cNvPr id="143369" name="AutoShape 9"/>
          <p:cNvSpPr>
            <a:spLocks noChangeArrowheads="1"/>
          </p:cNvSpPr>
          <p:nvPr/>
        </p:nvSpPr>
        <p:spPr bwMode="auto">
          <a:xfrm>
            <a:off x="344488" y="4873625"/>
            <a:ext cx="863600" cy="144463"/>
          </a:xfrm>
          <a:prstGeom prst="rightArrow">
            <a:avLst>
              <a:gd name="adj1" fmla="val 50000"/>
              <a:gd name="adj2" fmla="val 149450"/>
            </a:avLst>
          </a:prstGeom>
          <a:solidFill>
            <a:schemeClr val="accent1"/>
          </a:solidFill>
          <a:ln w="9525">
            <a:solidFill>
              <a:schemeClr val="tx1"/>
            </a:solidFill>
            <a:miter lim="800000"/>
            <a:headEnd/>
            <a:tailEnd/>
          </a:ln>
        </p:spPr>
        <p:txBody>
          <a:bodyPr wrap="none" anchor="ctr"/>
          <a:lstStyle/>
          <a:p>
            <a:endParaRPr lang="zh-CN" altLang="en-US"/>
          </a:p>
        </p:txBody>
      </p:sp>
      <p:sp>
        <p:nvSpPr>
          <p:cNvPr id="143370" name="Text Box 10"/>
          <p:cNvSpPr txBox="1">
            <a:spLocks noChangeArrowheads="1"/>
          </p:cNvSpPr>
          <p:nvPr/>
        </p:nvSpPr>
        <p:spPr bwMode="auto">
          <a:xfrm>
            <a:off x="1331913" y="4724400"/>
            <a:ext cx="7597775" cy="466725"/>
          </a:xfrm>
          <a:prstGeom prst="rect">
            <a:avLst/>
          </a:prstGeom>
          <a:noFill/>
          <a:ln w="9525">
            <a:solidFill>
              <a:srgbClr val="FF0000"/>
            </a:solidFill>
            <a:miter lim="800000"/>
            <a:headEnd/>
            <a:tailEnd/>
          </a:ln>
        </p:spPr>
        <p:txBody>
          <a:bodyPr>
            <a:spAutoFit/>
          </a:bodyPr>
          <a:lstStyle/>
          <a:p>
            <a:r>
              <a:rPr lang="zh-CN" altLang="en-US" sz="2400" b="1">
                <a:latin typeface="Times New Roman" pitchFamily="18" charset="0"/>
              </a:rPr>
              <a:t>可看作大量气体分子同时作来回运动却“没有”碰撞</a:t>
            </a:r>
          </a:p>
        </p:txBody>
      </p:sp>
      <p:sp>
        <p:nvSpPr>
          <p:cNvPr id="12301" name="Line 11"/>
          <p:cNvSpPr>
            <a:spLocks noChangeShapeType="1"/>
          </p:cNvSpPr>
          <p:nvPr/>
        </p:nvSpPr>
        <p:spPr bwMode="auto">
          <a:xfrm flipV="1">
            <a:off x="6178550" y="1844675"/>
            <a:ext cx="0" cy="1657350"/>
          </a:xfrm>
          <a:prstGeom prst="line">
            <a:avLst/>
          </a:prstGeom>
          <a:noFill/>
          <a:ln w="28575">
            <a:solidFill>
              <a:schemeClr val="tx1"/>
            </a:solidFill>
            <a:round/>
            <a:headEnd/>
            <a:tailEnd type="triangle" w="med" len="med"/>
          </a:ln>
        </p:spPr>
        <p:txBody>
          <a:bodyPr/>
          <a:lstStyle/>
          <a:p>
            <a:endParaRPr lang="zh-CN" altLang="en-US"/>
          </a:p>
        </p:txBody>
      </p:sp>
      <p:sp>
        <p:nvSpPr>
          <p:cNvPr id="12302" name="Line 12"/>
          <p:cNvSpPr>
            <a:spLocks noChangeShapeType="1"/>
          </p:cNvSpPr>
          <p:nvPr/>
        </p:nvSpPr>
        <p:spPr bwMode="auto">
          <a:xfrm>
            <a:off x="6178550" y="3502025"/>
            <a:ext cx="2281238" cy="0"/>
          </a:xfrm>
          <a:prstGeom prst="line">
            <a:avLst/>
          </a:prstGeom>
          <a:noFill/>
          <a:ln w="28575">
            <a:solidFill>
              <a:schemeClr val="tx1"/>
            </a:solidFill>
            <a:round/>
            <a:headEnd/>
            <a:tailEnd type="triangle" w="med" len="med"/>
          </a:ln>
        </p:spPr>
        <p:txBody>
          <a:bodyPr/>
          <a:lstStyle/>
          <a:p>
            <a:endParaRPr lang="zh-CN" altLang="en-US"/>
          </a:p>
        </p:txBody>
      </p:sp>
      <p:sp>
        <p:nvSpPr>
          <p:cNvPr id="12303" name="Line 13"/>
          <p:cNvSpPr>
            <a:spLocks noChangeShapeType="1"/>
          </p:cNvSpPr>
          <p:nvPr/>
        </p:nvSpPr>
        <p:spPr bwMode="auto">
          <a:xfrm flipH="1">
            <a:off x="5529263" y="3502025"/>
            <a:ext cx="649287" cy="649288"/>
          </a:xfrm>
          <a:prstGeom prst="line">
            <a:avLst/>
          </a:prstGeom>
          <a:noFill/>
          <a:ln w="28575">
            <a:solidFill>
              <a:schemeClr val="tx1"/>
            </a:solidFill>
            <a:round/>
            <a:headEnd/>
            <a:tailEnd type="triangle" w="med" len="med"/>
          </a:ln>
        </p:spPr>
        <p:txBody>
          <a:bodyPr/>
          <a:lstStyle/>
          <a:p>
            <a:endParaRPr lang="zh-CN" altLang="en-US"/>
          </a:p>
        </p:txBody>
      </p:sp>
      <p:sp>
        <p:nvSpPr>
          <p:cNvPr id="12304" name="Text Box 14"/>
          <p:cNvSpPr txBox="1">
            <a:spLocks noChangeArrowheads="1"/>
          </p:cNvSpPr>
          <p:nvPr/>
        </p:nvSpPr>
        <p:spPr bwMode="auto">
          <a:xfrm>
            <a:off x="8439150" y="321310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12305" name="Text Box 15"/>
          <p:cNvSpPr txBox="1">
            <a:spLocks noChangeArrowheads="1"/>
          </p:cNvSpPr>
          <p:nvPr/>
        </p:nvSpPr>
        <p:spPr bwMode="auto">
          <a:xfrm>
            <a:off x="6084888" y="1412875"/>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12306" name="Text Box 16"/>
          <p:cNvSpPr txBox="1">
            <a:spLocks noChangeArrowheads="1"/>
          </p:cNvSpPr>
          <p:nvPr/>
        </p:nvSpPr>
        <p:spPr bwMode="auto">
          <a:xfrm>
            <a:off x="5343525" y="4005263"/>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12307" name="Text Box 17"/>
          <p:cNvSpPr txBox="1">
            <a:spLocks noChangeArrowheads="1"/>
          </p:cNvSpPr>
          <p:nvPr/>
        </p:nvSpPr>
        <p:spPr bwMode="auto">
          <a:xfrm>
            <a:off x="6034088" y="347345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sp>
        <p:nvSpPr>
          <p:cNvPr id="12308" name="Line 18"/>
          <p:cNvSpPr>
            <a:spLocks noChangeShapeType="1"/>
          </p:cNvSpPr>
          <p:nvPr/>
        </p:nvSpPr>
        <p:spPr bwMode="auto">
          <a:xfrm>
            <a:off x="7969250" y="2314575"/>
            <a:ext cx="287338" cy="0"/>
          </a:xfrm>
          <a:prstGeom prst="line">
            <a:avLst/>
          </a:prstGeom>
          <a:noFill/>
          <a:ln w="9525">
            <a:solidFill>
              <a:schemeClr val="tx1"/>
            </a:solidFill>
            <a:round/>
            <a:headEnd/>
            <a:tailEnd/>
          </a:ln>
        </p:spPr>
        <p:txBody>
          <a:bodyPr/>
          <a:lstStyle/>
          <a:p>
            <a:endParaRPr lang="zh-CN" altLang="en-US"/>
          </a:p>
        </p:txBody>
      </p:sp>
      <p:sp>
        <p:nvSpPr>
          <p:cNvPr id="12309" name="Line 19"/>
          <p:cNvSpPr>
            <a:spLocks noChangeShapeType="1"/>
          </p:cNvSpPr>
          <p:nvPr/>
        </p:nvSpPr>
        <p:spPr bwMode="auto">
          <a:xfrm flipV="1">
            <a:off x="8101013" y="2314575"/>
            <a:ext cx="0" cy="466725"/>
          </a:xfrm>
          <a:prstGeom prst="line">
            <a:avLst/>
          </a:prstGeom>
          <a:noFill/>
          <a:ln w="9525">
            <a:solidFill>
              <a:schemeClr val="tx1"/>
            </a:solidFill>
            <a:round/>
            <a:headEnd/>
            <a:tailEnd type="triangle" w="med" len="med"/>
          </a:ln>
        </p:spPr>
        <p:txBody>
          <a:bodyPr/>
          <a:lstStyle/>
          <a:p>
            <a:endParaRPr lang="zh-CN" altLang="en-US"/>
          </a:p>
        </p:txBody>
      </p:sp>
      <p:sp>
        <p:nvSpPr>
          <p:cNvPr id="12310" name="Line 20"/>
          <p:cNvSpPr>
            <a:spLocks noChangeShapeType="1"/>
          </p:cNvSpPr>
          <p:nvPr/>
        </p:nvSpPr>
        <p:spPr bwMode="auto">
          <a:xfrm>
            <a:off x="8101013" y="3068638"/>
            <a:ext cx="0" cy="433387"/>
          </a:xfrm>
          <a:prstGeom prst="line">
            <a:avLst/>
          </a:prstGeom>
          <a:noFill/>
          <a:ln w="9525">
            <a:solidFill>
              <a:schemeClr val="tx1"/>
            </a:solidFill>
            <a:round/>
            <a:headEnd/>
            <a:tailEnd type="triangle" w="med" len="med"/>
          </a:ln>
        </p:spPr>
        <p:txBody>
          <a:bodyPr/>
          <a:lstStyle/>
          <a:p>
            <a:endParaRPr lang="zh-CN" altLang="en-US"/>
          </a:p>
        </p:txBody>
      </p:sp>
      <p:sp>
        <p:nvSpPr>
          <p:cNvPr id="12311" name="Text Box 21"/>
          <p:cNvSpPr txBox="1">
            <a:spLocks noChangeArrowheads="1"/>
          </p:cNvSpPr>
          <p:nvPr/>
        </p:nvSpPr>
        <p:spPr bwMode="auto">
          <a:xfrm>
            <a:off x="7956550" y="2709863"/>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c</a:t>
            </a:r>
          </a:p>
        </p:txBody>
      </p:sp>
      <p:sp>
        <p:nvSpPr>
          <p:cNvPr id="12312" name="Line 22"/>
          <p:cNvSpPr>
            <a:spLocks noChangeShapeType="1"/>
          </p:cNvSpPr>
          <p:nvPr/>
        </p:nvSpPr>
        <p:spPr bwMode="auto">
          <a:xfrm>
            <a:off x="7597775" y="3895725"/>
            <a:ext cx="287338" cy="0"/>
          </a:xfrm>
          <a:prstGeom prst="line">
            <a:avLst/>
          </a:prstGeom>
          <a:noFill/>
          <a:ln w="9525">
            <a:solidFill>
              <a:schemeClr val="tx1"/>
            </a:solidFill>
            <a:round/>
            <a:headEnd/>
            <a:tailEnd/>
          </a:ln>
        </p:spPr>
        <p:txBody>
          <a:bodyPr/>
          <a:lstStyle/>
          <a:p>
            <a:endParaRPr lang="zh-CN" altLang="en-US"/>
          </a:p>
        </p:txBody>
      </p:sp>
      <p:sp>
        <p:nvSpPr>
          <p:cNvPr id="12313" name="Line 23"/>
          <p:cNvSpPr>
            <a:spLocks noChangeAspect="1" noChangeShapeType="1"/>
          </p:cNvSpPr>
          <p:nvPr/>
        </p:nvSpPr>
        <p:spPr bwMode="auto">
          <a:xfrm flipH="1">
            <a:off x="7702550" y="3489325"/>
            <a:ext cx="395288" cy="395288"/>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12314" name="Text Box 24"/>
          <p:cNvSpPr txBox="1">
            <a:spLocks noChangeArrowheads="1"/>
          </p:cNvSpPr>
          <p:nvPr/>
        </p:nvSpPr>
        <p:spPr bwMode="auto">
          <a:xfrm>
            <a:off x="7956550" y="35020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b</a:t>
            </a:r>
          </a:p>
        </p:txBody>
      </p:sp>
      <p:sp>
        <p:nvSpPr>
          <p:cNvPr id="12315" name="Line 25"/>
          <p:cNvSpPr>
            <a:spLocks noChangeAspect="1" noChangeShapeType="1"/>
          </p:cNvSpPr>
          <p:nvPr/>
        </p:nvSpPr>
        <p:spPr bwMode="auto">
          <a:xfrm flipH="1">
            <a:off x="7235825" y="3970338"/>
            <a:ext cx="179388" cy="179387"/>
          </a:xfrm>
          <a:prstGeom prst="line">
            <a:avLst/>
          </a:prstGeom>
          <a:noFill/>
          <a:ln w="9525">
            <a:solidFill>
              <a:schemeClr val="tx1"/>
            </a:solidFill>
            <a:round/>
            <a:headEnd/>
            <a:tailEnd/>
          </a:ln>
        </p:spPr>
        <p:txBody>
          <a:bodyPr/>
          <a:lstStyle/>
          <a:p>
            <a:endParaRPr lang="zh-CN" altLang="en-US"/>
          </a:p>
        </p:txBody>
      </p:sp>
      <p:sp>
        <p:nvSpPr>
          <p:cNvPr id="12316" name="Line 26"/>
          <p:cNvSpPr>
            <a:spLocks noChangeShapeType="1"/>
          </p:cNvSpPr>
          <p:nvPr/>
        </p:nvSpPr>
        <p:spPr bwMode="auto">
          <a:xfrm>
            <a:off x="6659563" y="4030663"/>
            <a:ext cx="708025" cy="0"/>
          </a:xfrm>
          <a:prstGeom prst="line">
            <a:avLst/>
          </a:prstGeom>
          <a:noFill/>
          <a:ln w="9525">
            <a:solidFill>
              <a:schemeClr val="tx1"/>
            </a:solidFill>
            <a:round/>
            <a:headEnd/>
            <a:tailEnd type="triangle" w="med" len="med"/>
          </a:ln>
        </p:spPr>
        <p:txBody>
          <a:bodyPr/>
          <a:lstStyle/>
          <a:p>
            <a:endParaRPr lang="zh-CN" altLang="en-US"/>
          </a:p>
        </p:txBody>
      </p:sp>
      <p:sp>
        <p:nvSpPr>
          <p:cNvPr id="12317" name="Line 27"/>
          <p:cNvSpPr>
            <a:spLocks noChangeShapeType="1"/>
          </p:cNvSpPr>
          <p:nvPr/>
        </p:nvSpPr>
        <p:spPr bwMode="auto">
          <a:xfrm>
            <a:off x="5651500" y="4025900"/>
            <a:ext cx="649288" cy="0"/>
          </a:xfrm>
          <a:prstGeom prst="line">
            <a:avLst/>
          </a:prstGeom>
          <a:noFill/>
          <a:ln w="9525">
            <a:solidFill>
              <a:schemeClr val="tx1"/>
            </a:solidFill>
            <a:round/>
            <a:headEnd type="triangle" w="med" len="med"/>
            <a:tailEnd/>
          </a:ln>
        </p:spPr>
        <p:txBody>
          <a:bodyPr/>
          <a:lstStyle/>
          <a:p>
            <a:endParaRPr lang="zh-CN" altLang="en-US"/>
          </a:p>
        </p:txBody>
      </p:sp>
      <p:sp>
        <p:nvSpPr>
          <p:cNvPr id="12318" name="Text Box 28"/>
          <p:cNvSpPr txBox="1">
            <a:spLocks noChangeArrowheads="1"/>
          </p:cNvSpPr>
          <p:nvPr/>
        </p:nvSpPr>
        <p:spPr bwMode="auto">
          <a:xfrm>
            <a:off x="6313488" y="38195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a</a:t>
            </a:r>
          </a:p>
        </p:txBody>
      </p:sp>
      <p:sp>
        <p:nvSpPr>
          <p:cNvPr id="12319" name="Line 29"/>
          <p:cNvSpPr>
            <a:spLocks noChangeShapeType="1"/>
          </p:cNvSpPr>
          <p:nvPr/>
        </p:nvSpPr>
        <p:spPr bwMode="auto">
          <a:xfrm>
            <a:off x="6516688" y="3184525"/>
            <a:ext cx="1079500" cy="0"/>
          </a:xfrm>
          <a:prstGeom prst="line">
            <a:avLst/>
          </a:prstGeom>
          <a:noFill/>
          <a:ln w="19050">
            <a:solidFill>
              <a:srgbClr val="FF0000"/>
            </a:solidFill>
            <a:round/>
            <a:headEnd/>
            <a:tailEnd type="triangle" w="med" len="med"/>
          </a:ln>
        </p:spPr>
        <p:txBody>
          <a:bodyPr/>
          <a:lstStyle/>
          <a:p>
            <a:endParaRPr lang="zh-CN" altLang="en-US"/>
          </a:p>
        </p:txBody>
      </p:sp>
      <p:sp>
        <p:nvSpPr>
          <p:cNvPr id="12320" name="Oval 30"/>
          <p:cNvSpPr>
            <a:spLocks noChangeArrowheads="1"/>
          </p:cNvSpPr>
          <p:nvPr/>
        </p:nvSpPr>
        <p:spPr bwMode="auto">
          <a:xfrm>
            <a:off x="6516688" y="3141663"/>
            <a:ext cx="71437" cy="71437"/>
          </a:xfrm>
          <a:prstGeom prst="ellipse">
            <a:avLst/>
          </a:prstGeom>
          <a:solidFill>
            <a:srgbClr val="FF0000"/>
          </a:solidFill>
          <a:ln w="9525">
            <a:solidFill>
              <a:schemeClr val="accent2"/>
            </a:solidFill>
            <a:round/>
            <a:headEnd/>
            <a:tailEnd/>
          </a:ln>
        </p:spPr>
        <p:txBody>
          <a:bodyPr wrap="none" anchor="ctr"/>
          <a:lstStyle/>
          <a:p>
            <a:endParaRPr lang="zh-CN" altLang="en-US"/>
          </a:p>
        </p:txBody>
      </p:sp>
      <p:graphicFrame>
        <p:nvGraphicFramePr>
          <p:cNvPr id="12292" name="Object 31"/>
          <p:cNvGraphicFramePr>
            <a:graphicFrameLocks noChangeAspect="1"/>
          </p:cNvGraphicFramePr>
          <p:nvPr/>
        </p:nvGraphicFramePr>
        <p:xfrm>
          <a:off x="6877050" y="2600325"/>
          <a:ext cx="477838" cy="612775"/>
        </p:xfrm>
        <a:graphic>
          <a:graphicData uri="http://schemas.openxmlformats.org/presentationml/2006/ole">
            <p:oleObj spid="_x0000_s12292" name="公式" r:id="rId5" imgW="177480" imgH="228600" progId="Equation.3">
              <p:embed/>
            </p:oleObj>
          </a:graphicData>
        </a:graphic>
      </p:graphicFrame>
      <p:sp>
        <p:nvSpPr>
          <p:cNvPr id="12321" name="AutoShape 32"/>
          <p:cNvSpPr>
            <a:spLocks noChangeArrowheads="1"/>
          </p:cNvSpPr>
          <p:nvPr/>
        </p:nvSpPr>
        <p:spPr bwMode="auto">
          <a:xfrm>
            <a:off x="5772150" y="2349500"/>
            <a:ext cx="2087563" cy="1584325"/>
          </a:xfrm>
          <a:prstGeom prst="cube">
            <a:avLst>
              <a:gd name="adj" fmla="val 25000"/>
            </a:avLst>
          </a:prstGeom>
          <a:solidFill>
            <a:srgbClr val="C0C0C0">
              <a:alpha val="30196"/>
            </a:srgbClr>
          </a:solidFill>
          <a:ln w="9525">
            <a:solidFill>
              <a:srgbClr val="969696"/>
            </a:solidFill>
            <a:miter lim="800000"/>
            <a:headEnd/>
            <a:tailEnd/>
          </a:ln>
        </p:spPr>
        <p:txBody>
          <a:bodyPr wrap="none" anchor="ctr"/>
          <a:lstStyle/>
          <a:p>
            <a:endParaRPr lang="zh-CN" altLang="zh-CN" sz="2400" b="1">
              <a:latin typeface="Times New Roman" pitchFamily="18" charset="0"/>
            </a:endParaRPr>
          </a:p>
        </p:txBody>
      </p:sp>
      <p:sp>
        <p:nvSpPr>
          <p:cNvPr id="12322" name="Text Box 33"/>
          <p:cNvSpPr txBox="1">
            <a:spLocks noChangeArrowheads="1"/>
          </p:cNvSpPr>
          <p:nvPr/>
        </p:nvSpPr>
        <p:spPr bwMode="auto">
          <a:xfrm>
            <a:off x="7451725" y="2646363"/>
            <a:ext cx="412750" cy="366712"/>
          </a:xfrm>
          <a:prstGeom prst="rect">
            <a:avLst/>
          </a:prstGeom>
          <a:noFill/>
          <a:ln w="9525">
            <a:noFill/>
            <a:miter lim="800000"/>
            <a:headEnd/>
            <a:tailEnd/>
          </a:ln>
        </p:spPr>
        <p:txBody>
          <a:bodyPr wrap="none">
            <a:spAutoFit/>
          </a:bodyPr>
          <a:lstStyle/>
          <a:p>
            <a:r>
              <a:rPr lang="en-US" altLang="zh-CN" b="1" i="1">
                <a:latin typeface="Times New Roman" pitchFamily="18" charset="0"/>
              </a:rPr>
              <a:t>A</a:t>
            </a:r>
            <a:r>
              <a:rPr lang="en-US" altLang="zh-CN" b="1" baseline="-25000">
                <a:latin typeface="Times New Roman" pitchFamily="18" charset="0"/>
              </a:rPr>
              <a:t>1</a:t>
            </a:r>
            <a:endParaRPr lang="en-US" altLang="zh-CN" b="1">
              <a:latin typeface="Times New Roman" pitchFamily="18" charset="0"/>
            </a:endParaRPr>
          </a:p>
        </p:txBody>
      </p:sp>
      <p:graphicFrame>
        <p:nvGraphicFramePr>
          <p:cNvPr id="143394" name="Object 34"/>
          <p:cNvGraphicFramePr>
            <a:graphicFrameLocks noChangeAspect="1"/>
          </p:cNvGraphicFramePr>
          <p:nvPr/>
        </p:nvGraphicFramePr>
        <p:xfrm>
          <a:off x="3048000" y="5364163"/>
          <a:ext cx="3505200" cy="979487"/>
        </p:xfrm>
        <a:graphic>
          <a:graphicData uri="http://schemas.openxmlformats.org/presentationml/2006/ole">
            <p:oleObj spid="_x0000_s12293" name="Equation" r:id="rId6" imgW="1409400" imgH="393480" progId="Equation.3">
              <p:embed/>
            </p:oleObj>
          </a:graphicData>
        </a:graphic>
      </p:graphicFrame>
      <p:sp>
        <p:nvSpPr>
          <p:cNvPr id="143395" name="Text Box 35"/>
          <p:cNvSpPr txBox="1">
            <a:spLocks noChangeArrowheads="1"/>
          </p:cNvSpPr>
          <p:nvPr/>
        </p:nvSpPr>
        <p:spPr bwMode="auto">
          <a:xfrm>
            <a:off x="914400" y="5653088"/>
            <a:ext cx="2286000" cy="519112"/>
          </a:xfrm>
          <a:prstGeom prst="rect">
            <a:avLst/>
          </a:prstGeom>
          <a:noFill/>
          <a:ln w="9525">
            <a:noFill/>
            <a:miter lim="800000"/>
            <a:headEnd/>
            <a:tailEnd/>
          </a:ln>
        </p:spPr>
        <p:txBody>
          <a:bodyPr>
            <a:spAutoFit/>
          </a:bodyPr>
          <a:lstStyle/>
          <a:p>
            <a:pPr>
              <a:spcBef>
                <a:spcPct val="50000"/>
              </a:spcBef>
            </a:pPr>
            <a:r>
              <a:rPr lang="zh-CN" altLang="en-US" sz="2800" b="1">
                <a:solidFill>
                  <a:srgbClr val="0000FF"/>
                </a:solidFill>
                <a:latin typeface="Garamond" pitchFamily="18" charset="0"/>
              </a:rPr>
              <a:t>推导思路：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143367"/>
                                        </p:tgtEl>
                                        <p:attrNameLst>
                                          <p:attrName>style.visibility</p:attrName>
                                        </p:attrNameLst>
                                      </p:cBhvr>
                                      <p:to>
                                        <p:strVal val="visible"/>
                                      </p:to>
                                    </p:set>
                                    <p:anim calcmode="lin" valueType="num">
                                      <p:cBhvr>
                                        <p:cTn id="7" dur="500" fill="hold"/>
                                        <p:tgtEl>
                                          <p:spTgt spid="143367"/>
                                        </p:tgtEl>
                                        <p:attrNameLst>
                                          <p:attrName>ppt_w</p:attrName>
                                        </p:attrNameLst>
                                      </p:cBhvr>
                                      <p:tavLst>
                                        <p:tav tm="0">
                                          <p:val>
                                            <p:strVal val="4*#ppt_w"/>
                                          </p:val>
                                        </p:tav>
                                        <p:tav tm="100000">
                                          <p:val>
                                            <p:strVal val="#ppt_w"/>
                                          </p:val>
                                        </p:tav>
                                      </p:tavLst>
                                    </p:anim>
                                    <p:anim calcmode="lin" valueType="num">
                                      <p:cBhvr>
                                        <p:cTn id="8" dur="500" fill="hold"/>
                                        <p:tgtEl>
                                          <p:spTgt spid="14336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43362"/>
                                        </p:tgtEl>
                                        <p:attrNameLst>
                                          <p:attrName>style.visibility</p:attrName>
                                        </p:attrNameLst>
                                      </p:cBhvr>
                                      <p:to>
                                        <p:strVal val="visible"/>
                                      </p:to>
                                    </p:set>
                                    <p:animEffect transition="in" filter="wipe(left)">
                                      <p:cBhvr>
                                        <p:cTn id="12" dur="500"/>
                                        <p:tgtEl>
                                          <p:spTgt spid="1433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363"/>
                                        </p:tgtEl>
                                        <p:attrNameLst>
                                          <p:attrName>style.visibility</p:attrName>
                                        </p:attrNameLst>
                                      </p:cBhvr>
                                      <p:to>
                                        <p:strVal val="visible"/>
                                      </p:to>
                                    </p:set>
                                    <p:animEffect transition="in" filter="wipe(left)">
                                      <p:cBhvr>
                                        <p:cTn id="17" dur="500"/>
                                        <p:tgtEl>
                                          <p:spTgt spid="14336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43364"/>
                                        </p:tgtEl>
                                        <p:attrNameLst>
                                          <p:attrName>style.visibility</p:attrName>
                                        </p:attrNameLst>
                                      </p:cBhvr>
                                      <p:to>
                                        <p:strVal val="visible"/>
                                      </p:to>
                                    </p:set>
                                    <p:animEffect transition="in" filter="wipe(left)">
                                      <p:cBhvr>
                                        <p:cTn id="21" dur="500"/>
                                        <p:tgtEl>
                                          <p:spTgt spid="143364"/>
                                        </p:tgtEl>
                                      </p:cBhvr>
                                    </p:animEffect>
                                  </p:childTnLst>
                                </p:cTn>
                              </p:par>
                            </p:childTnLst>
                          </p:cTn>
                        </p:par>
                        <p:par>
                          <p:cTn id="22" fill="hold">
                            <p:stCondLst>
                              <p:cond delay="1000"/>
                            </p:stCondLst>
                            <p:childTnLst>
                              <p:par>
                                <p:cTn id="23" presetID="17" presetClass="entr" presetSubtype="10" fill="hold" grpId="0" nodeType="afterEffect">
                                  <p:stCondLst>
                                    <p:cond delay="0"/>
                                  </p:stCondLst>
                                  <p:childTnLst>
                                    <p:set>
                                      <p:cBhvr>
                                        <p:cTn id="24" dur="1" fill="hold">
                                          <p:stCondLst>
                                            <p:cond delay="0"/>
                                          </p:stCondLst>
                                        </p:cTn>
                                        <p:tgtEl>
                                          <p:spTgt spid="143365"/>
                                        </p:tgtEl>
                                        <p:attrNameLst>
                                          <p:attrName>style.visibility</p:attrName>
                                        </p:attrNameLst>
                                      </p:cBhvr>
                                      <p:to>
                                        <p:strVal val="visible"/>
                                      </p:to>
                                    </p:set>
                                    <p:anim calcmode="lin" valueType="num">
                                      <p:cBhvr>
                                        <p:cTn id="25" dur="500" fill="hold"/>
                                        <p:tgtEl>
                                          <p:spTgt spid="143365"/>
                                        </p:tgtEl>
                                        <p:attrNameLst>
                                          <p:attrName>ppt_w</p:attrName>
                                        </p:attrNameLst>
                                      </p:cBhvr>
                                      <p:tavLst>
                                        <p:tav tm="0">
                                          <p:val>
                                            <p:fltVal val="0"/>
                                          </p:val>
                                        </p:tav>
                                        <p:tav tm="100000">
                                          <p:val>
                                            <p:strVal val="#ppt_w"/>
                                          </p:val>
                                        </p:tav>
                                      </p:tavLst>
                                    </p:anim>
                                    <p:anim calcmode="lin" valueType="num">
                                      <p:cBhvr>
                                        <p:cTn id="26" dur="500" fill="hold"/>
                                        <p:tgtEl>
                                          <p:spTgt spid="143365"/>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17" presetClass="entr" presetSubtype="10" fill="hold" grpId="0" nodeType="afterEffect">
                                  <p:stCondLst>
                                    <p:cond delay="0"/>
                                  </p:stCondLst>
                                  <p:childTnLst>
                                    <p:set>
                                      <p:cBhvr>
                                        <p:cTn id="29" dur="1" fill="hold">
                                          <p:stCondLst>
                                            <p:cond delay="0"/>
                                          </p:stCondLst>
                                        </p:cTn>
                                        <p:tgtEl>
                                          <p:spTgt spid="143366"/>
                                        </p:tgtEl>
                                        <p:attrNameLst>
                                          <p:attrName>style.visibility</p:attrName>
                                        </p:attrNameLst>
                                      </p:cBhvr>
                                      <p:to>
                                        <p:strVal val="visible"/>
                                      </p:to>
                                    </p:set>
                                    <p:anim calcmode="lin" valueType="num">
                                      <p:cBhvr>
                                        <p:cTn id="30" dur="500" fill="hold"/>
                                        <p:tgtEl>
                                          <p:spTgt spid="143366"/>
                                        </p:tgtEl>
                                        <p:attrNameLst>
                                          <p:attrName>ppt_w</p:attrName>
                                        </p:attrNameLst>
                                      </p:cBhvr>
                                      <p:tavLst>
                                        <p:tav tm="0">
                                          <p:val>
                                            <p:fltVal val="0"/>
                                          </p:val>
                                        </p:tav>
                                        <p:tav tm="100000">
                                          <p:val>
                                            <p:strVal val="#ppt_w"/>
                                          </p:val>
                                        </p:tav>
                                      </p:tavLst>
                                    </p:anim>
                                    <p:anim calcmode="lin" valueType="num">
                                      <p:cBhvr>
                                        <p:cTn id="31" dur="500" fill="hold"/>
                                        <p:tgtEl>
                                          <p:spTgt spid="143366"/>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3368"/>
                                        </p:tgtEl>
                                        <p:attrNameLst>
                                          <p:attrName>style.visibility</p:attrName>
                                        </p:attrNameLst>
                                      </p:cBhvr>
                                      <p:to>
                                        <p:strVal val="visible"/>
                                      </p:to>
                                    </p:set>
                                    <p:animEffect transition="in" filter="wipe(left)">
                                      <p:cBhvr>
                                        <p:cTn id="36" dur="500"/>
                                        <p:tgtEl>
                                          <p:spTgt spid="14336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3369"/>
                                        </p:tgtEl>
                                        <p:attrNameLst>
                                          <p:attrName>style.visibility</p:attrName>
                                        </p:attrNameLst>
                                      </p:cBhvr>
                                      <p:to>
                                        <p:strVal val="visible"/>
                                      </p:to>
                                    </p:set>
                                    <p:animEffect transition="in" filter="wipe(left)">
                                      <p:cBhvr>
                                        <p:cTn id="41" dur="500"/>
                                        <p:tgtEl>
                                          <p:spTgt spid="143369"/>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43370"/>
                                        </p:tgtEl>
                                        <p:attrNameLst>
                                          <p:attrName>style.visibility</p:attrName>
                                        </p:attrNameLst>
                                      </p:cBhvr>
                                      <p:to>
                                        <p:strVal val="visible"/>
                                      </p:to>
                                    </p:set>
                                    <p:animEffect transition="in" filter="wipe(left)">
                                      <p:cBhvr>
                                        <p:cTn id="45" dur="500"/>
                                        <p:tgtEl>
                                          <p:spTgt spid="14337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3395"/>
                                        </p:tgtEl>
                                        <p:attrNameLst>
                                          <p:attrName>style.visibility</p:attrName>
                                        </p:attrNameLst>
                                      </p:cBhvr>
                                      <p:to>
                                        <p:strVal val="visible"/>
                                      </p:to>
                                    </p:set>
                                    <p:animEffect transition="in" filter="wipe(left)">
                                      <p:cBhvr>
                                        <p:cTn id="50" dur="500"/>
                                        <p:tgtEl>
                                          <p:spTgt spid="14339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43394"/>
                                        </p:tgtEl>
                                        <p:attrNameLst>
                                          <p:attrName>style.visibility</p:attrName>
                                        </p:attrNameLst>
                                      </p:cBhvr>
                                      <p:to>
                                        <p:strVal val="visible"/>
                                      </p:to>
                                    </p:set>
                                    <p:animEffect transition="in" filter="wipe(left)">
                                      <p:cBhvr>
                                        <p:cTn id="55" dur="500"/>
                                        <p:tgtEl>
                                          <p:spTgt spid="143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P spid="143365" grpId="0" animBg="1"/>
      <p:bldP spid="143366" grpId="0" autoUpdateAnimBg="0"/>
      <p:bldP spid="143367" grpId="0" animBg="1"/>
      <p:bldP spid="143368" grpId="0" autoUpdateAnimBg="0"/>
      <p:bldP spid="143369" grpId="0" animBg="1"/>
      <p:bldP spid="143370" grpId="0" animBg="1" autoUpdateAnimBg="0"/>
      <p:bldP spid="14339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Line 2"/>
          <p:cNvSpPr>
            <a:spLocks noChangeShapeType="1"/>
          </p:cNvSpPr>
          <p:nvPr/>
        </p:nvSpPr>
        <p:spPr bwMode="auto">
          <a:xfrm flipV="1">
            <a:off x="6178550" y="1844675"/>
            <a:ext cx="0" cy="1657350"/>
          </a:xfrm>
          <a:prstGeom prst="line">
            <a:avLst/>
          </a:prstGeom>
          <a:noFill/>
          <a:ln w="28575">
            <a:solidFill>
              <a:schemeClr val="tx1"/>
            </a:solidFill>
            <a:round/>
            <a:headEnd/>
            <a:tailEnd type="triangle" w="med" len="med"/>
          </a:ln>
        </p:spPr>
        <p:txBody>
          <a:bodyPr/>
          <a:lstStyle/>
          <a:p>
            <a:endParaRPr lang="zh-CN" altLang="en-US"/>
          </a:p>
        </p:txBody>
      </p:sp>
      <p:sp>
        <p:nvSpPr>
          <p:cNvPr id="13319" name="Line 3"/>
          <p:cNvSpPr>
            <a:spLocks noChangeShapeType="1"/>
          </p:cNvSpPr>
          <p:nvPr/>
        </p:nvSpPr>
        <p:spPr bwMode="auto">
          <a:xfrm>
            <a:off x="6178550" y="3502025"/>
            <a:ext cx="2281238" cy="0"/>
          </a:xfrm>
          <a:prstGeom prst="line">
            <a:avLst/>
          </a:prstGeom>
          <a:noFill/>
          <a:ln w="28575">
            <a:solidFill>
              <a:schemeClr val="tx1"/>
            </a:solidFill>
            <a:round/>
            <a:headEnd/>
            <a:tailEnd type="triangle" w="med" len="med"/>
          </a:ln>
        </p:spPr>
        <p:txBody>
          <a:bodyPr/>
          <a:lstStyle/>
          <a:p>
            <a:endParaRPr lang="zh-CN" altLang="en-US"/>
          </a:p>
        </p:txBody>
      </p:sp>
      <p:sp>
        <p:nvSpPr>
          <p:cNvPr id="13320" name="Line 4"/>
          <p:cNvSpPr>
            <a:spLocks noChangeShapeType="1"/>
          </p:cNvSpPr>
          <p:nvPr/>
        </p:nvSpPr>
        <p:spPr bwMode="auto">
          <a:xfrm flipH="1">
            <a:off x="5529263" y="3502025"/>
            <a:ext cx="649287" cy="649288"/>
          </a:xfrm>
          <a:prstGeom prst="line">
            <a:avLst/>
          </a:prstGeom>
          <a:noFill/>
          <a:ln w="28575">
            <a:solidFill>
              <a:schemeClr val="tx1"/>
            </a:solidFill>
            <a:round/>
            <a:headEnd/>
            <a:tailEnd type="triangle" w="med" len="med"/>
          </a:ln>
        </p:spPr>
        <p:txBody>
          <a:bodyPr/>
          <a:lstStyle/>
          <a:p>
            <a:endParaRPr lang="zh-CN" altLang="en-US"/>
          </a:p>
        </p:txBody>
      </p:sp>
      <p:sp>
        <p:nvSpPr>
          <p:cNvPr id="13321" name="Text Box 5"/>
          <p:cNvSpPr txBox="1">
            <a:spLocks noChangeArrowheads="1"/>
          </p:cNvSpPr>
          <p:nvPr/>
        </p:nvSpPr>
        <p:spPr bwMode="auto">
          <a:xfrm>
            <a:off x="8439150" y="321310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13322" name="Text Box 6"/>
          <p:cNvSpPr txBox="1">
            <a:spLocks noChangeArrowheads="1"/>
          </p:cNvSpPr>
          <p:nvPr/>
        </p:nvSpPr>
        <p:spPr bwMode="auto">
          <a:xfrm>
            <a:off x="6084888" y="1412875"/>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13323" name="Text Box 7"/>
          <p:cNvSpPr txBox="1">
            <a:spLocks noChangeArrowheads="1"/>
          </p:cNvSpPr>
          <p:nvPr/>
        </p:nvSpPr>
        <p:spPr bwMode="auto">
          <a:xfrm>
            <a:off x="5343525" y="4005263"/>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13324" name="Text Box 8"/>
          <p:cNvSpPr txBox="1">
            <a:spLocks noChangeArrowheads="1"/>
          </p:cNvSpPr>
          <p:nvPr/>
        </p:nvSpPr>
        <p:spPr bwMode="auto">
          <a:xfrm>
            <a:off x="6034088" y="347345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sp>
        <p:nvSpPr>
          <p:cNvPr id="13325" name="Line 9"/>
          <p:cNvSpPr>
            <a:spLocks noChangeShapeType="1"/>
          </p:cNvSpPr>
          <p:nvPr/>
        </p:nvSpPr>
        <p:spPr bwMode="auto">
          <a:xfrm>
            <a:off x="7969250" y="2314575"/>
            <a:ext cx="287338" cy="0"/>
          </a:xfrm>
          <a:prstGeom prst="line">
            <a:avLst/>
          </a:prstGeom>
          <a:noFill/>
          <a:ln w="9525">
            <a:solidFill>
              <a:schemeClr val="tx1"/>
            </a:solidFill>
            <a:round/>
            <a:headEnd/>
            <a:tailEnd/>
          </a:ln>
        </p:spPr>
        <p:txBody>
          <a:bodyPr/>
          <a:lstStyle/>
          <a:p>
            <a:endParaRPr lang="zh-CN" altLang="en-US"/>
          </a:p>
        </p:txBody>
      </p:sp>
      <p:sp>
        <p:nvSpPr>
          <p:cNvPr id="13326" name="Line 10"/>
          <p:cNvSpPr>
            <a:spLocks noChangeShapeType="1"/>
          </p:cNvSpPr>
          <p:nvPr/>
        </p:nvSpPr>
        <p:spPr bwMode="auto">
          <a:xfrm flipV="1">
            <a:off x="8101013" y="2314575"/>
            <a:ext cx="0" cy="466725"/>
          </a:xfrm>
          <a:prstGeom prst="line">
            <a:avLst/>
          </a:prstGeom>
          <a:noFill/>
          <a:ln w="9525">
            <a:solidFill>
              <a:schemeClr val="tx1"/>
            </a:solidFill>
            <a:round/>
            <a:headEnd/>
            <a:tailEnd type="triangle" w="med" len="med"/>
          </a:ln>
        </p:spPr>
        <p:txBody>
          <a:bodyPr/>
          <a:lstStyle/>
          <a:p>
            <a:endParaRPr lang="zh-CN" altLang="en-US"/>
          </a:p>
        </p:txBody>
      </p:sp>
      <p:sp>
        <p:nvSpPr>
          <p:cNvPr id="13327" name="Line 11"/>
          <p:cNvSpPr>
            <a:spLocks noChangeShapeType="1"/>
          </p:cNvSpPr>
          <p:nvPr/>
        </p:nvSpPr>
        <p:spPr bwMode="auto">
          <a:xfrm>
            <a:off x="8101013" y="3068638"/>
            <a:ext cx="0" cy="433387"/>
          </a:xfrm>
          <a:prstGeom prst="line">
            <a:avLst/>
          </a:prstGeom>
          <a:noFill/>
          <a:ln w="9525">
            <a:solidFill>
              <a:schemeClr val="tx1"/>
            </a:solidFill>
            <a:round/>
            <a:headEnd/>
            <a:tailEnd type="triangle" w="med" len="med"/>
          </a:ln>
        </p:spPr>
        <p:txBody>
          <a:bodyPr/>
          <a:lstStyle/>
          <a:p>
            <a:endParaRPr lang="zh-CN" altLang="en-US"/>
          </a:p>
        </p:txBody>
      </p:sp>
      <p:sp>
        <p:nvSpPr>
          <p:cNvPr id="13328" name="Text Box 12"/>
          <p:cNvSpPr txBox="1">
            <a:spLocks noChangeArrowheads="1"/>
          </p:cNvSpPr>
          <p:nvPr/>
        </p:nvSpPr>
        <p:spPr bwMode="auto">
          <a:xfrm>
            <a:off x="7956550" y="2709863"/>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c</a:t>
            </a:r>
          </a:p>
        </p:txBody>
      </p:sp>
      <p:sp>
        <p:nvSpPr>
          <p:cNvPr id="13329" name="Line 13"/>
          <p:cNvSpPr>
            <a:spLocks noChangeShapeType="1"/>
          </p:cNvSpPr>
          <p:nvPr/>
        </p:nvSpPr>
        <p:spPr bwMode="auto">
          <a:xfrm>
            <a:off x="7597775" y="3895725"/>
            <a:ext cx="287338" cy="0"/>
          </a:xfrm>
          <a:prstGeom prst="line">
            <a:avLst/>
          </a:prstGeom>
          <a:noFill/>
          <a:ln w="9525">
            <a:solidFill>
              <a:schemeClr val="tx1"/>
            </a:solidFill>
            <a:round/>
            <a:headEnd/>
            <a:tailEnd/>
          </a:ln>
        </p:spPr>
        <p:txBody>
          <a:bodyPr/>
          <a:lstStyle/>
          <a:p>
            <a:endParaRPr lang="zh-CN" altLang="en-US"/>
          </a:p>
        </p:txBody>
      </p:sp>
      <p:sp>
        <p:nvSpPr>
          <p:cNvPr id="13330" name="Line 14"/>
          <p:cNvSpPr>
            <a:spLocks noChangeAspect="1" noChangeShapeType="1"/>
          </p:cNvSpPr>
          <p:nvPr/>
        </p:nvSpPr>
        <p:spPr bwMode="auto">
          <a:xfrm flipH="1">
            <a:off x="7702550" y="3489325"/>
            <a:ext cx="395288" cy="395288"/>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13331" name="Text Box 15"/>
          <p:cNvSpPr txBox="1">
            <a:spLocks noChangeArrowheads="1"/>
          </p:cNvSpPr>
          <p:nvPr/>
        </p:nvSpPr>
        <p:spPr bwMode="auto">
          <a:xfrm>
            <a:off x="7956550" y="35020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b</a:t>
            </a:r>
          </a:p>
        </p:txBody>
      </p:sp>
      <p:sp>
        <p:nvSpPr>
          <p:cNvPr id="13332" name="Line 16"/>
          <p:cNvSpPr>
            <a:spLocks noChangeAspect="1" noChangeShapeType="1"/>
          </p:cNvSpPr>
          <p:nvPr/>
        </p:nvSpPr>
        <p:spPr bwMode="auto">
          <a:xfrm flipH="1">
            <a:off x="7235825" y="3970338"/>
            <a:ext cx="179388" cy="179387"/>
          </a:xfrm>
          <a:prstGeom prst="line">
            <a:avLst/>
          </a:prstGeom>
          <a:noFill/>
          <a:ln w="9525">
            <a:solidFill>
              <a:schemeClr val="tx1"/>
            </a:solidFill>
            <a:round/>
            <a:headEnd/>
            <a:tailEnd/>
          </a:ln>
        </p:spPr>
        <p:txBody>
          <a:bodyPr/>
          <a:lstStyle/>
          <a:p>
            <a:endParaRPr lang="zh-CN" altLang="en-US"/>
          </a:p>
        </p:txBody>
      </p:sp>
      <p:sp>
        <p:nvSpPr>
          <p:cNvPr id="13333" name="Line 17"/>
          <p:cNvSpPr>
            <a:spLocks noChangeShapeType="1"/>
          </p:cNvSpPr>
          <p:nvPr/>
        </p:nvSpPr>
        <p:spPr bwMode="auto">
          <a:xfrm>
            <a:off x="6659563" y="4030663"/>
            <a:ext cx="708025" cy="0"/>
          </a:xfrm>
          <a:prstGeom prst="line">
            <a:avLst/>
          </a:prstGeom>
          <a:noFill/>
          <a:ln w="9525">
            <a:solidFill>
              <a:schemeClr val="tx1"/>
            </a:solidFill>
            <a:round/>
            <a:headEnd/>
            <a:tailEnd type="triangle" w="med" len="med"/>
          </a:ln>
        </p:spPr>
        <p:txBody>
          <a:bodyPr/>
          <a:lstStyle/>
          <a:p>
            <a:endParaRPr lang="zh-CN" altLang="en-US"/>
          </a:p>
        </p:txBody>
      </p:sp>
      <p:sp>
        <p:nvSpPr>
          <p:cNvPr id="13334" name="Line 18"/>
          <p:cNvSpPr>
            <a:spLocks noChangeShapeType="1"/>
          </p:cNvSpPr>
          <p:nvPr/>
        </p:nvSpPr>
        <p:spPr bwMode="auto">
          <a:xfrm>
            <a:off x="5651500" y="4025900"/>
            <a:ext cx="649288" cy="0"/>
          </a:xfrm>
          <a:prstGeom prst="line">
            <a:avLst/>
          </a:prstGeom>
          <a:noFill/>
          <a:ln w="9525">
            <a:solidFill>
              <a:schemeClr val="tx1"/>
            </a:solidFill>
            <a:round/>
            <a:headEnd type="triangle" w="med" len="med"/>
            <a:tailEnd/>
          </a:ln>
        </p:spPr>
        <p:txBody>
          <a:bodyPr/>
          <a:lstStyle/>
          <a:p>
            <a:endParaRPr lang="zh-CN" altLang="en-US"/>
          </a:p>
        </p:txBody>
      </p:sp>
      <p:sp>
        <p:nvSpPr>
          <p:cNvPr id="13335" name="Text Box 19"/>
          <p:cNvSpPr txBox="1">
            <a:spLocks noChangeArrowheads="1"/>
          </p:cNvSpPr>
          <p:nvPr/>
        </p:nvSpPr>
        <p:spPr bwMode="auto">
          <a:xfrm>
            <a:off x="6313488" y="38195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a</a:t>
            </a:r>
          </a:p>
        </p:txBody>
      </p:sp>
      <p:sp>
        <p:nvSpPr>
          <p:cNvPr id="13336" name="Line 20"/>
          <p:cNvSpPr>
            <a:spLocks noChangeShapeType="1"/>
          </p:cNvSpPr>
          <p:nvPr/>
        </p:nvSpPr>
        <p:spPr bwMode="auto">
          <a:xfrm>
            <a:off x="6516688" y="3184525"/>
            <a:ext cx="1079500" cy="0"/>
          </a:xfrm>
          <a:prstGeom prst="line">
            <a:avLst/>
          </a:prstGeom>
          <a:noFill/>
          <a:ln w="19050">
            <a:solidFill>
              <a:srgbClr val="FF0000"/>
            </a:solidFill>
            <a:round/>
            <a:headEnd/>
            <a:tailEnd type="triangle" w="med" len="med"/>
          </a:ln>
        </p:spPr>
        <p:txBody>
          <a:bodyPr/>
          <a:lstStyle/>
          <a:p>
            <a:endParaRPr lang="zh-CN" altLang="en-US"/>
          </a:p>
        </p:txBody>
      </p:sp>
      <p:sp>
        <p:nvSpPr>
          <p:cNvPr id="13337" name="Oval 21"/>
          <p:cNvSpPr>
            <a:spLocks noChangeArrowheads="1"/>
          </p:cNvSpPr>
          <p:nvPr/>
        </p:nvSpPr>
        <p:spPr bwMode="auto">
          <a:xfrm>
            <a:off x="6516688" y="3141663"/>
            <a:ext cx="71437" cy="71437"/>
          </a:xfrm>
          <a:prstGeom prst="ellipse">
            <a:avLst/>
          </a:prstGeom>
          <a:solidFill>
            <a:srgbClr val="FF0000"/>
          </a:solidFill>
          <a:ln w="9525">
            <a:solidFill>
              <a:schemeClr val="accent2"/>
            </a:solidFill>
            <a:round/>
            <a:headEnd/>
            <a:tailEnd/>
          </a:ln>
        </p:spPr>
        <p:txBody>
          <a:bodyPr wrap="none" anchor="ctr"/>
          <a:lstStyle/>
          <a:p>
            <a:endParaRPr lang="zh-CN" altLang="en-US"/>
          </a:p>
        </p:txBody>
      </p:sp>
      <p:graphicFrame>
        <p:nvGraphicFramePr>
          <p:cNvPr id="13314" name="Object 22"/>
          <p:cNvGraphicFramePr>
            <a:graphicFrameLocks noChangeAspect="1"/>
          </p:cNvGraphicFramePr>
          <p:nvPr/>
        </p:nvGraphicFramePr>
        <p:xfrm>
          <a:off x="6877050" y="2600325"/>
          <a:ext cx="477838" cy="612775"/>
        </p:xfrm>
        <a:graphic>
          <a:graphicData uri="http://schemas.openxmlformats.org/presentationml/2006/ole">
            <p:oleObj spid="_x0000_s13314" name="公式" r:id="rId3" imgW="177480" imgH="228600" progId="Equation.3">
              <p:embed/>
            </p:oleObj>
          </a:graphicData>
        </a:graphic>
      </p:graphicFrame>
      <p:sp>
        <p:nvSpPr>
          <p:cNvPr id="13338" name="AutoShape 23"/>
          <p:cNvSpPr>
            <a:spLocks noChangeArrowheads="1"/>
          </p:cNvSpPr>
          <p:nvPr/>
        </p:nvSpPr>
        <p:spPr bwMode="auto">
          <a:xfrm>
            <a:off x="5772150" y="2349500"/>
            <a:ext cx="2087563" cy="1584325"/>
          </a:xfrm>
          <a:prstGeom prst="cube">
            <a:avLst>
              <a:gd name="adj" fmla="val 25000"/>
            </a:avLst>
          </a:prstGeom>
          <a:solidFill>
            <a:srgbClr val="C0C0C0">
              <a:alpha val="30196"/>
            </a:srgbClr>
          </a:solidFill>
          <a:ln w="9525">
            <a:solidFill>
              <a:srgbClr val="969696"/>
            </a:solidFill>
            <a:miter lim="800000"/>
            <a:headEnd/>
            <a:tailEnd/>
          </a:ln>
        </p:spPr>
        <p:txBody>
          <a:bodyPr wrap="none" anchor="ctr"/>
          <a:lstStyle/>
          <a:p>
            <a:endParaRPr lang="zh-CN" altLang="zh-CN" sz="2400" b="1">
              <a:latin typeface="Times New Roman" pitchFamily="18" charset="0"/>
            </a:endParaRPr>
          </a:p>
        </p:txBody>
      </p:sp>
      <p:sp>
        <p:nvSpPr>
          <p:cNvPr id="144408" name="Text Box 24"/>
          <p:cNvSpPr txBox="1">
            <a:spLocks noChangeArrowheads="1"/>
          </p:cNvSpPr>
          <p:nvPr/>
        </p:nvSpPr>
        <p:spPr bwMode="auto">
          <a:xfrm>
            <a:off x="539750" y="1027113"/>
            <a:ext cx="7348538" cy="457200"/>
          </a:xfrm>
          <a:prstGeom prst="rect">
            <a:avLst/>
          </a:prstGeom>
          <a:noFill/>
          <a:ln w="9525">
            <a:noFill/>
            <a:miter lim="800000"/>
            <a:headEnd/>
            <a:tailEnd/>
          </a:ln>
        </p:spPr>
        <p:txBody>
          <a:bodyPr wrap="none">
            <a:spAutoFit/>
          </a:bodyPr>
          <a:lstStyle/>
          <a:p>
            <a:r>
              <a:rPr lang="en-US" altLang="zh-CN" sz="2400" b="1" i="1">
                <a:latin typeface="Times New Roman" pitchFamily="18" charset="0"/>
              </a:rPr>
              <a:t>x</a:t>
            </a:r>
            <a:r>
              <a:rPr lang="en-US" altLang="zh-CN" sz="2400" b="1">
                <a:latin typeface="Times New Roman" pitchFamily="18" charset="0"/>
              </a:rPr>
              <a:t> </a:t>
            </a:r>
            <a:r>
              <a:rPr lang="zh-CN" altLang="en-US" sz="2400" b="1">
                <a:latin typeface="Times New Roman" pitchFamily="18" charset="0"/>
              </a:rPr>
              <a:t>方向速度分量为 </a:t>
            </a:r>
            <a:r>
              <a:rPr lang="en-US" altLang="zh-CN" sz="2400" b="1" i="1">
                <a:latin typeface="Times New Roman" pitchFamily="18" charset="0"/>
              </a:rPr>
              <a:t>v</a:t>
            </a:r>
            <a:r>
              <a:rPr lang="en-US" altLang="zh-CN" sz="2400" b="1" i="1" baseline="-25000">
                <a:latin typeface="Times New Roman" pitchFamily="18" charset="0"/>
              </a:rPr>
              <a:t>ix</a:t>
            </a:r>
            <a:r>
              <a:rPr lang="en-US" altLang="zh-CN" sz="2400" b="1" baseline="-25000">
                <a:latin typeface="Times New Roman" pitchFamily="18" charset="0"/>
              </a:rPr>
              <a:t> </a:t>
            </a:r>
            <a:r>
              <a:rPr lang="zh-CN" altLang="en-US" sz="2400" b="1">
                <a:latin typeface="Times New Roman" pitchFamily="18" charset="0"/>
              </a:rPr>
              <a:t>的</a:t>
            </a:r>
            <a:r>
              <a:rPr lang="zh-CN" altLang="en-US" sz="2400" b="1">
                <a:solidFill>
                  <a:srgbClr val="FF6600"/>
                </a:solidFill>
                <a:latin typeface="Times New Roman" pitchFamily="18" charset="0"/>
              </a:rPr>
              <a:t>分子 </a:t>
            </a:r>
            <a:r>
              <a:rPr lang="en-US" altLang="zh-CN" sz="2400" b="1" i="1">
                <a:solidFill>
                  <a:srgbClr val="FF6600"/>
                </a:solidFill>
                <a:latin typeface="Times New Roman" pitchFamily="18" charset="0"/>
              </a:rPr>
              <a:t>i</a:t>
            </a:r>
            <a:r>
              <a:rPr lang="en-US" altLang="zh-CN" sz="2400" b="1">
                <a:latin typeface="Times New Roman" pitchFamily="18" charset="0"/>
              </a:rPr>
              <a:t> </a:t>
            </a:r>
            <a:r>
              <a:rPr lang="zh-CN" altLang="en-US" sz="2400" b="1">
                <a:latin typeface="Times New Roman" pitchFamily="18" charset="0"/>
              </a:rPr>
              <a:t>与</a:t>
            </a:r>
            <a:r>
              <a:rPr lang="zh-CN" altLang="en-US" sz="2400" b="1">
                <a:solidFill>
                  <a:srgbClr val="FF6600"/>
                </a:solidFill>
                <a:latin typeface="Times New Roman" pitchFamily="18" charset="0"/>
              </a:rPr>
              <a:t> </a:t>
            </a:r>
            <a:r>
              <a:rPr lang="en-US" altLang="zh-CN" sz="2400" b="1" i="1">
                <a:solidFill>
                  <a:srgbClr val="FF6600"/>
                </a:solidFill>
                <a:latin typeface="Times New Roman" pitchFamily="18" charset="0"/>
              </a:rPr>
              <a:t>A</a:t>
            </a:r>
            <a:r>
              <a:rPr lang="en-US" altLang="zh-CN" sz="2400" b="1" baseline="-25000">
                <a:solidFill>
                  <a:srgbClr val="FF6600"/>
                </a:solidFill>
                <a:latin typeface="Times New Roman" pitchFamily="18" charset="0"/>
              </a:rPr>
              <a:t>1</a:t>
            </a:r>
            <a:r>
              <a:rPr lang="en-US" altLang="zh-CN" sz="2400" b="1">
                <a:latin typeface="Times New Roman" pitchFamily="18" charset="0"/>
              </a:rPr>
              <a:t> </a:t>
            </a:r>
            <a:r>
              <a:rPr lang="zh-CN" altLang="en-US" sz="2400" b="1">
                <a:latin typeface="Times New Roman" pitchFamily="18" charset="0"/>
              </a:rPr>
              <a:t>碰撞，动量变化：</a:t>
            </a:r>
          </a:p>
        </p:txBody>
      </p:sp>
      <p:sp>
        <p:nvSpPr>
          <p:cNvPr id="13340" name="Text Box 25"/>
          <p:cNvSpPr txBox="1">
            <a:spLocks noChangeArrowheads="1"/>
          </p:cNvSpPr>
          <p:nvPr/>
        </p:nvSpPr>
        <p:spPr bwMode="auto">
          <a:xfrm>
            <a:off x="7451725" y="2646363"/>
            <a:ext cx="412750" cy="366712"/>
          </a:xfrm>
          <a:prstGeom prst="rect">
            <a:avLst/>
          </a:prstGeom>
          <a:noFill/>
          <a:ln w="9525">
            <a:noFill/>
            <a:miter lim="800000"/>
            <a:headEnd/>
            <a:tailEnd/>
          </a:ln>
        </p:spPr>
        <p:txBody>
          <a:bodyPr wrap="none">
            <a:spAutoFit/>
          </a:bodyPr>
          <a:lstStyle/>
          <a:p>
            <a:r>
              <a:rPr lang="en-US" altLang="zh-CN" b="1" i="1">
                <a:latin typeface="Times New Roman" pitchFamily="18" charset="0"/>
              </a:rPr>
              <a:t>A</a:t>
            </a:r>
            <a:r>
              <a:rPr lang="en-US" altLang="zh-CN" b="1" baseline="-25000">
                <a:latin typeface="Times New Roman" pitchFamily="18" charset="0"/>
              </a:rPr>
              <a:t>1</a:t>
            </a:r>
            <a:endParaRPr lang="en-US" altLang="zh-CN" b="1">
              <a:latin typeface="Times New Roman" pitchFamily="18" charset="0"/>
            </a:endParaRPr>
          </a:p>
        </p:txBody>
      </p:sp>
      <p:graphicFrame>
        <p:nvGraphicFramePr>
          <p:cNvPr id="144410" name="Object 26"/>
          <p:cNvGraphicFramePr>
            <a:graphicFrameLocks noChangeAspect="1"/>
          </p:cNvGraphicFramePr>
          <p:nvPr/>
        </p:nvGraphicFramePr>
        <p:xfrm>
          <a:off x="1127125" y="1557338"/>
          <a:ext cx="4092575" cy="522287"/>
        </p:xfrm>
        <a:graphic>
          <a:graphicData uri="http://schemas.openxmlformats.org/presentationml/2006/ole">
            <p:oleObj spid="_x0000_s13315" name="公式" r:id="rId4" imgW="1790640" imgH="228600" progId="Equation.3">
              <p:embed/>
            </p:oleObj>
          </a:graphicData>
        </a:graphic>
      </p:graphicFrame>
      <p:sp>
        <p:nvSpPr>
          <p:cNvPr id="144411" name="AutoShape 27"/>
          <p:cNvSpPr>
            <a:spLocks noChangeArrowheads="1"/>
          </p:cNvSpPr>
          <p:nvPr/>
        </p:nvSpPr>
        <p:spPr bwMode="auto">
          <a:xfrm>
            <a:off x="323850" y="2349500"/>
            <a:ext cx="863600" cy="144463"/>
          </a:xfrm>
          <a:prstGeom prst="rightArrow">
            <a:avLst>
              <a:gd name="adj1" fmla="val 50000"/>
              <a:gd name="adj2" fmla="val 149450"/>
            </a:avLst>
          </a:prstGeom>
          <a:solidFill>
            <a:schemeClr val="accent1"/>
          </a:solidFill>
          <a:ln w="9525">
            <a:solidFill>
              <a:schemeClr val="tx1"/>
            </a:solidFill>
            <a:miter lim="800000"/>
            <a:headEnd/>
            <a:tailEnd/>
          </a:ln>
        </p:spPr>
        <p:txBody>
          <a:bodyPr wrap="none" anchor="ctr"/>
          <a:lstStyle/>
          <a:p>
            <a:endParaRPr lang="zh-CN" altLang="en-US"/>
          </a:p>
        </p:txBody>
      </p:sp>
      <p:sp>
        <p:nvSpPr>
          <p:cNvPr id="144412" name="Text Box 28"/>
          <p:cNvSpPr txBox="1">
            <a:spLocks noChangeArrowheads="1"/>
          </p:cNvSpPr>
          <p:nvPr/>
        </p:nvSpPr>
        <p:spPr bwMode="auto">
          <a:xfrm>
            <a:off x="1258888" y="2205038"/>
            <a:ext cx="2173287" cy="457200"/>
          </a:xfrm>
          <a:prstGeom prst="rect">
            <a:avLst/>
          </a:prstGeom>
          <a:noFill/>
          <a:ln w="9525">
            <a:noFill/>
            <a:miter lim="800000"/>
            <a:headEnd/>
            <a:tailEnd/>
          </a:ln>
        </p:spPr>
        <p:txBody>
          <a:bodyPr wrap="none">
            <a:spAutoFit/>
          </a:bodyPr>
          <a:lstStyle/>
          <a:p>
            <a:r>
              <a:rPr lang="zh-CN" altLang="en-US" sz="2400" b="1">
                <a:latin typeface="Times New Roman" pitchFamily="18" charset="0"/>
              </a:rPr>
              <a:t>对 </a:t>
            </a:r>
            <a:r>
              <a:rPr lang="en-US" altLang="zh-CN" sz="2400" b="1" i="1">
                <a:latin typeface="Times New Roman" pitchFamily="18" charset="0"/>
              </a:rPr>
              <a:t>A</a:t>
            </a:r>
            <a:r>
              <a:rPr lang="en-US" altLang="zh-CN" sz="2400" b="1" baseline="-25000">
                <a:latin typeface="Times New Roman" pitchFamily="18" charset="0"/>
              </a:rPr>
              <a:t>1</a:t>
            </a:r>
            <a:r>
              <a:rPr lang="en-US" altLang="zh-CN" sz="2400" b="1">
                <a:latin typeface="Times New Roman" pitchFamily="18" charset="0"/>
              </a:rPr>
              <a:t> </a:t>
            </a:r>
            <a:r>
              <a:rPr lang="zh-CN" altLang="en-US" sz="2400" b="1">
                <a:latin typeface="Times New Roman" pitchFamily="18" charset="0"/>
              </a:rPr>
              <a:t>的冲量：</a:t>
            </a:r>
          </a:p>
        </p:txBody>
      </p:sp>
      <p:graphicFrame>
        <p:nvGraphicFramePr>
          <p:cNvPr id="144413" name="Object 29"/>
          <p:cNvGraphicFramePr>
            <a:graphicFrameLocks noChangeAspect="1"/>
          </p:cNvGraphicFramePr>
          <p:nvPr/>
        </p:nvGraphicFramePr>
        <p:xfrm>
          <a:off x="1989138" y="2708275"/>
          <a:ext cx="2582862" cy="522288"/>
        </p:xfrm>
        <a:graphic>
          <a:graphicData uri="http://schemas.openxmlformats.org/presentationml/2006/ole">
            <p:oleObj spid="_x0000_s13316" name="公式" r:id="rId5" imgW="1130040" imgH="228600" progId="Equation.3">
              <p:embed/>
            </p:oleObj>
          </a:graphicData>
        </a:graphic>
      </p:graphicFrame>
      <p:sp>
        <p:nvSpPr>
          <p:cNvPr id="144414" name="AutoShape 30"/>
          <p:cNvSpPr>
            <a:spLocks noChangeArrowheads="1"/>
          </p:cNvSpPr>
          <p:nvPr/>
        </p:nvSpPr>
        <p:spPr bwMode="auto">
          <a:xfrm>
            <a:off x="107950" y="9810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a:p>
        </p:txBody>
      </p:sp>
      <p:sp>
        <p:nvSpPr>
          <p:cNvPr id="144415" name="AutoShape 31"/>
          <p:cNvSpPr>
            <a:spLocks noChangeArrowheads="1"/>
          </p:cNvSpPr>
          <p:nvPr/>
        </p:nvSpPr>
        <p:spPr bwMode="auto">
          <a:xfrm>
            <a:off x="107950" y="3359150"/>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a:p>
        </p:txBody>
      </p:sp>
      <p:sp>
        <p:nvSpPr>
          <p:cNvPr id="144416" name="Text Box 32"/>
          <p:cNvSpPr txBox="1">
            <a:spLocks noChangeArrowheads="1"/>
          </p:cNvSpPr>
          <p:nvPr/>
        </p:nvSpPr>
        <p:spPr bwMode="auto">
          <a:xfrm>
            <a:off x="1116013" y="4484688"/>
            <a:ext cx="4895850" cy="457200"/>
          </a:xfrm>
          <a:prstGeom prst="rect">
            <a:avLst/>
          </a:prstGeom>
          <a:noFill/>
          <a:ln w="9525">
            <a:noFill/>
            <a:miter lim="800000"/>
            <a:headEnd/>
            <a:tailEnd/>
          </a:ln>
        </p:spPr>
        <p:txBody>
          <a:bodyPr>
            <a:spAutoFit/>
          </a:bodyPr>
          <a:lstStyle/>
          <a:p>
            <a:r>
              <a:rPr lang="en-US" altLang="zh-CN" sz="2400" b="1">
                <a:solidFill>
                  <a:srgbClr val="FF6600"/>
                </a:solidFill>
                <a:latin typeface="Times New Roman" pitchFamily="18" charset="0"/>
              </a:rPr>
              <a:t>1</a:t>
            </a:r>
            <a:r>
              <a:rPr lang="zh-CN" altLang="en-US" sz="2400" b="1">
                <a:solidFill>
                  <a:srgbClr val="FF6600"/>
                </a:solidFill>
                <a:latin typeface="Times New Roman" pitchFamily="18" charset="0"/>
              </a:rPr>
              <a:t>秒钟</a:t>
            </a:r>
            <a:r>
              <a:rPr lang="zh-CN" altLang="en-US" sz="2400" b="1">
                <a:latin typeface="Times New Roman" pitchFamily="18" charset="0"/>
              </a:rPr>
              <a:t>内与 </a:t>
            </a:r>
            <a:r>
              <a:rPr lang="en-US" altLang="zh-CN" sz="2400" b="1" i="1">
                <a:latin typeface="Times New Roman" pitchFamily="18" charset="0"/>
              </a:rPr>
              <a:t>A</a:t>
            </a:r>
            <a:r>
              <a:rPr lang="en-US" altLang="zh-CN" sz="2400" b="1" baseline="-25000">
                <a:latin typeface="Times New Roman" pitchFamily="18" charset="0"/>
              </a:rPr>
              <a:t>1 </a:t>
            </a:r>
            <a:r>
              <a:rPr lang="zh-CN" altLang="en-US" sz="2400" b="1">
                <a:latin typeface="Times New Roman" pitchFamily="18" charset="0"/>
              </a:rPr>
              <a:t>发生</a:t>
            </a:r>
            <a:r>
              <a:rPr lang="zh-CN" altLang="en-US" sz="2400" b="1">
                <a:solidFill>
                  <a:srgbClr val="FF6600"/>
                </a:solidFill>
                <a:latin typeface="Times New Roman" pitchFamily="18" charset="0"/>
              </a:rPr>
              <a:t>碰撞的次数</a:t>
            </a:r>
            <a:r>
              <a:rPr lang="zh-CN" altLang="en-US" sz="2400" b="1">
                <a:latin typeface="Times New Roman" pitchFamily="18" charset="0"/>
              </a:rPr>
              <a:t>：</a:t>
            </a:r>
          </a:p>
        </p:txBody>
      </p:sp>
      <p:sp>
        <p:nvSpPr>
          <p:cNvPr id="144417" name="Text Box 33"/>
          <p:cNvSpPr txBox="1">
            <a:spLocks noChangeArrowheads="1"/>
          </p:cNvSpPr>
          <p:nvPr/>
        </p:nvSpPr>
        <p:spPr bwMode="auto">
          <a:xfrm>
            <a:off x="684213" y="3359150"/>
            <a:ext cx="4464050" cy="1006475"/>
          </a:xfrm>
          <a:prstGeom prst="rect">
            <a:avLst/>
          </a:prstGeom>
          <a:noFill/>
          <a:ln w="9525">
            <a:noFill/>
            <a:miter lim="800000"/>
            <a:headEnd/>
            <a:tailEnd/>
          </a:ln>
        </p:spPr>
        <p:txBody>
          <a:bodyPr>
            <a:spAutoFit/>
          </a:bodyPr>
          <a:lstStyle/>
          <a:p>
            <a:pPr>
              <a:lnSpc>
                <a:spcPct val="125000"/>
              </a:lnSpc>
            </a:pPr>
            <a:r>
              <a:rPr lang="zh-CN" altLang="en-US" sz="2400" b="1">
                <a:latin typeface="Times New Roman" pitchFamily="18" charset="0"/>
              </a:rPr>
              <a:t>连续</a:t>
            </a:r>
            <a:r>
              <a:rPr lang="zh-CN" altLang="en-US" sz="2400" b="1">
                <a:solidFill>
                  <a:srgbClr val="FF6600"/>
                </a:solidFill>
                <a:latin typeface="Times New Roman" pitchFamily="18" charset="0"/>
              </a:rPr>
              <a:t>两次</a:t>
            </a:r>
            <a:r>
              <a:rPr lang="zh-CN" altLang="en-US" sz="2400" b="1">
                <a:latin typeface="Times New Roman" pitchFamily="18" charset="0"/>
              </a:rPr>
              <a:t>与 </a:t>
            </a:r>
            <a:r>
              <a:rPr lang="en-US" altLang="zh-CN" sz="2400" b="1" i="1">
                <a:latin typeface="Times New Roman" pitchFamily="18" charset="0"/>
              </a:rPr>
              <a:t>A</a:t>
            </a:r>
            <a:r>
              <a:rPr lang="en-US" altLang="zh-CN" sz="2400" b="1" baseline="-25000">
                <a:latin typeface="Times New Roman" pitchFamily="18" charset="0"/>
              </a:rPr>
              <a:t>1 </a:t>
            </a:r>
            <a:r>
              <a:rPr lang="zh-CN" altLang="en-US" sz="2400" b="1">
                <a:latin typeface="Times New Roman" pitchFamily="18" charset="0"/>
              </a:rPr>
              <a:t>发生碰撞的时间间隔为：</a:t>
            </a:r>
          </a:p>
        </p:txBody>
      </p:sp>
      <p:graphicFrame>
        <p:nvGraphicFramePr>
          <p:cNvPr id="144418" name="Object 34"/>
          <p:cNvGraphicFramePr>
            <a:graphicFrameLocks noChangeAspect="1"/>
          </p:cNvGraphicFramePr>
          <p:nvPr/>
        </p:nvGraphicFramePr>
        <p:xfrm>
          <a:off x="2255838" y="5016500"/>
          <a:ext cx="1935162" cy="1090613"/>
        </p:xfrm>
        <a:graphic>
          <a:graphicData uri="http://schemas.openxmlformats.org/presentationml/2006/ole">
            <p:oleObj spid="_x0000_s13317" name="Equation" r:id="rId6" imgW="787320" imgH="444240" progId="Equation.3">
              <p:embed/>
            </p:oleObj>
          </a:graphicData>
        </a:graphic>
      </p:graphicFrame>
      <p:sp>
        <p:nvSpPr>
          <p:cNvPr id="144419" name="AutoShape 35"/>
          <p:cNvSpPr>
            <a:spLocks noChangeArrowheads="1"/>
          </p:cNvSpPr>
          <p:nvPr/>
        </p:nvSpPr>
        <p:spPr bwMode="auto">
          <a:xfrm>
            <a:off x="250825" y="4652963"/>
            <a:ext cx="863600" cy="144462"/>
          </a:xfrm>
          <a:prstGeom prst="rightArrow">
            <a:avLst>
              <a:gd name="adj1" fmla="val 50000"/>
              <a:gd name="adj2" fmla="val 149451"/>
            </a:avLst>
          </a:prstGeom>
          <a:solidFill>
            <a:schemeClr val="accent1"/>
          </a:solidFill>
          <a:ln w="9525">
            <a:solidFill>
              <a:schemeClr val="tx1"/>
            </a:solidFill>
            <a:miter lim="800000"/>
            <a:headEnd/>
            <a:tailEnd/>
          </a:ln>
        </p:spPr>
        <p:txBody>
          <a:bodyPr wrap="none" anchor="ctr"/>
          <a:lstStyle/>
          <a:p>
            <a:endParaRPr lang="zh-CN" altLang="en-US"/>
          </a:p>
        </p:txBody>
      </p:sp>
      <p:sp>
        <p:nvSpPr>
          <p:cNvPr id="144420" name="Text Box 36"/>
          <p:cNvSpPr txBox="1">
            <a:spLocks noChangeArrowheads="1"/>
          </p:cNvSpPr>
          <p:nvPr/>
        </p:nvSpPr>
        <p:spPr bwMode="auto">
          <a:xfrm>
            <a:off x="1835150" y="3908425"/>
            <a:ext cx="1531938" cy="457200"/>
          </a:xfrm>
          <a:prstGeom prst="rect">
            <a:avLst/>
          </a:prstGeom>
          <a:noFill/>
          <a:ln w="9525">
            <a:noFill/>
            <a:miter lim="800000"/>
            <a:headEnd/>
            <a:tailEnd/>
          </a:ln>
        </p:spPr>
        <p:txBody>
          <a:bodyPr>
            <a:spAutoFit/>
          </a:bodyPr>
          <a:lstStyle/>
          <a:p>
            <a:r>
              <a:rPr lang="en-US" altLang="zh-CN" sz="2400" b="1">
                <a:solidFill>
                  <a:schemeClr val="accent2"/>
                </a:solidFill>
                <a:latin typeface="Times New Roman" pitchFamily="18" charset="0"/>
              </a:rPr>
              <a:t>2</a:t>
            </a:r>
            <a:r>
              <a:rPr lang="en-US" altLang="zh-CN" sz="2400" b="1" i="1">
                <a:solidFill>
                  <a:schemeClr val="accent2"/>
                </a:solidFill>
                <a:latin typeface="Times New Roman" pitchFamily="18" charset="0"/>
              </a:rPr>
              <a:t>a </a:t>
            </a:r>
            <a:r>
              <a:rPr lang="en-US" altLang="zh-CN" sz="2400" b="1">
                <a:solidFill>
                  <a:schemeClr val="accent2"/>
                </a:solidFill>
                <a:latin typeface="Times New Roman" pitchFamily="18" charset="0"/>
              </a:rPr>
              <a:t>/ </a:t>
            </a:r>
            <a:r>
              <a:rPr lang="en-US" altLang="zh-CN" sz="2400" b="1" i="1">
                <a:solidFill>
                  <a:schemeClr val="accent2"/>
                </a:solidFill>
                <a:latin typeface="Times New Roman" pitchFamily="18" charset="0"/>
              </a:rPr>
              <a:t>v</a:t>
            </a:r>
            <a:r>
              <a:rPr lang="en-US" altLang="zh-CN" sz="2400" b="1" i="1" baseline="-25000">
                <a:solidFill>
                  <a:schemeClr val="accent2"/>
                </a:solidFill>
                <a:latin typeface="Times New Roman" pitchFamily="18" charset="0"/>
              </a:rPr>
              <a:t>ix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144414"/>
                                        </p:tgtEl>
                                        <p:attrNameLst>
                                          <p:attrName>style.visibility</p:attrName>
                                        </p:attrNameLst>
                                      </p:cBhvr>
                                      <p:to>
                                        <p:strVal val="visible"/>
                                      </p:to>
                                    </p:set>
                                    <p:anim calcmode="lin" valueType="num">
                                      <p:cBhvr>
                                        <p:cTn id="7" dur="500" fill="hold"/>
                                        <p:tgtEl>
                                          <p:spTgt spid="144414"/>
                                        </p:tgtEl>
                                        <p:attrNameLst>
                                          <p:attrName>ppt_w</p:attrName>
                                        </p:attrNameLst>
                                      </p:cBhvr>
                                      <p:tavLst>
                                        <p:tav tm="0">
                                          <p:val>
                                            <p:strVal val="4*#ppt_w"/>
                                          </p:val>
                                        </p:tav>
                                        <p:tav tm="100000">
                                          <p:val>
                                            <p:strVal val="#ppt_w"/>
                                          </p:val>
                                        </p:tav>
                                      </p:tavLst>
                                    </p:anim>
                                    <p:anim calcmode="lin" valueType="num">
                                      <p:cBhvr>
                                        <p:cTn id="8" dur="500" fill="hold"/>
                                        <p:tgtEl>
                                          <p:spTgt spid="144414"/>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44408"/>
                                        </p:tgtEl>
                                        <p:attrNameLst>
                                          <p:attrName>style.visibility</p:attrName>
                                        </p:attrNameLst>
                                      </p:cBhvr>
                                      <p:to>
                                        <p:strVal val="visible"/>
                                      </p:to>
                                    </p:set>
                                    <p:animEffect transition="in" filter="wipe(left)">
                                      <p:cBhvr>
                                        <p:cTn id="12" dur="500"/>
                                        <p:tgtEl>
                                          <p:spTgt spid="1444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4410"/>
                                        </p:tgtEl>
                                        <p:attrNameLst>
                                          <p:attrName>style.visibility</p:attrName>
                                        </p:attrNameLst>
                                      </p:cBhvr>
                                      <p:to>
                                        <p:strVal val="visible"/>
                                      </p:to>
                                    </p:set>
                                    <p:animEffect transition="in" filter="wipe(left)">
                                      <p:cBhvr>
                                        <p:cTn id="17" dur="500"/>
                                        <p:tgtEl>
                                          <p:spTgt spid="1444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4411"/>
                                        </p:tgtEl>
                                        <p:attrNameLst>
                                          <p:attrName>style.visibility</p:attrName>
                                        </p:attrNameLst>
                                      </p:cBhvr>
                                      <p:to>
                                        <p:strVal val="visible"/>
                                      </p:to>
                                    </p:set>
                                    <p:animEffect transition="in" filter="wipe(left)">
                                      <p:cBhvr>
                                        <p:cTn id="22" dur="500"/>
                                        <p:tgtEl>
                                          <p:spTgt spid="144411"/>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44412"/>
                                        </p:tgtEl>
                                        <p:attrNameLst>
                                          <p:attrName>style.visibility</p:attrName>
                                        </p:attrNameLst>
                                      </p:cBhvr>
                                      <p:to>
                                        <p:strVal val="visible"/>
                                      </p:to>
                                    </p:set>
                                    <p:animEffect transition="in" filter="wipe(left)">
                                      <p:cBhvr>
                                        <p:cTn id="26" dur="500"/>
                                        <p:tgtEl>
                                          <p:spTgt spid="1444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44413"/>
                                        </p:tgtEl>
                                        <p:attrNameLst>
                                          <p:attrName>style.visibility</p:attrName>
                                        </p:attrNameLst>
                                      </p:cBhvr>
                                      <p:to>
                                        <p:strVal val="visible"/>
                                      </p:to>
                                    </p:set>
                                    <p:animEffect transition="in" filter="wipe(left)">
                                      <p:cBhvr>
                                        <p:cTn id="31" dur="500"/>
                                        <p:tgtEl>
                                          <p:spTgt spid="144413"/>
                                        </p:tgtEl>
                                      </p:cBhvr>
                                    </p:animEffect>
                                  </p:childTnLst>
                                </p:cTn>
                              </p:par>
                            </p:childTnLst>
                          </p:cTn>
                        </p:par>
                      </p:childTnLst>
                    </p:cTn>
                  </p:par>
                  <p:par>
                    <p:cTn id="32" fill="hold">
                      <p:stCondLst>
                        <p:cond delay="indefinite"/>
                      </p:stCondLst>
                      <p:childTnLst>
                        <p:par>
                          <p:cTn id="33" fill="hold">
                            <p:stCondLst>
                              <p:cond delay="0"/>
                            </p:stCondLst>
                            <p:childTnLst>
                              <p:par>
                                <p:cTn id="34" presetID="23" presetClass="entr" presetSubtype="32" fill="hold" grpId="0" nodeType="clickEffect">
                                  <p:stCondLst>
                                    <p:cond delay="0"/>
                                  </p:stCondLst>
                                  <p:childTnLst>
                                    <p:set>
                                      <p:cBhvr>
                                        <p:cTn id="35" dur="1" fill="hold">
                                          <p:stCondLst>
                                            <p:cond delay="0"/>
                                          </p:stCondLst>
                                        </p:cTn>
                                        <p:tgtEl>
                                          <p:spTgt spid="144415"/>
                                        </p:tgtEl>
                                        <p:attrNameLst>
                                          <p:attrName>style.visibility</p:attrName>
                                        </p:attrNameLst>
                                      </p:cBhvr>
                                      <p:to>
                                        <p:strVal val="visible"/>
                                      </p:to>
                                    </p:set>
                                    <p:anim calcmode="lin" valueType="num">
                                      <p:cBhvr>
                                        <p:cTn id="36" dur="500" fill="hold"/>
                                        <p:tgtEl>
                                          <p:spTgt spid="144415"/>
                                        </p:tgtEl>
                                        <p:attrNameLst>
                                          <p:attrName>ppt_w</p:attrName>
                                        </p:attrNameLst>
                                      </p:cBhvr>
                                      <p:tavLst>
                                        <p:tav tm="0">
                                          <p:val>
                                            <p:strVal val="4*#ppt_w"/>
                                          </p:val>
                                        </p:tav>
                                        <p:tav tm="100000">
                                          <p:val>
                                            <p:strVal val="#ppt_w"/>
                                          </p:val>
                                        </p:tav>
                                      </p:tavLst>
                                    </p:anim>
                                    <p:anim calcmode="lin" valueType="num">
                                      <p:cBhvr>
                                        <p:cTn id="37" dur="500" fill="hold"/>
                                        <p:tgtEl>
                                          <p:spTgt spid="144415"/>
                                        </p:tgtEl>
                                        <p:attrNameLst>
                                          <p:attrName>ppt_h</p:attrName>
                                        </p:attrNameLst>
                                      </p:cBhvr>
                                      <p:tavLst>
                                        <p:tav tm="0">
                                          <p:val>
                                            <p:strVal val="4*#ppt_h"/>
                                          </p:val>
                                        </p:tav>
                                        <p:tav tm="100000">
                                          <p:val>
                                            <p:strVal val="#ppt_h"/>
                                          </p:val>
                                        </p:tav>
                                      </p:tavLst>
                                    </p:anim>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44417"/>
                                        </p:tgtEl>
                                        <p:attrNameLst>
                                          <p:attrName>style.visibility</p:attrName>
                                        </p:attrNameLst>
                                      </p:cBhvr>
                                      <p:to>
                                        <p:strVal val="visible"/>
                                      </p:to>
                                    </p:set>
                                    <p:animEffect transition="in" filter="wipe(left)">
                                      <p:cBhvr>
                                        <p:cTn id="41" dur="500"/>
                                        <p:tgtEl>
                                          <p:spTgt spid="1444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4420"/>
                                        </p:tgtEl>
                                        <p:attrNameLst>
                                          <p:attrName>style.visibility</p:attrName>
                                        </p:attrNameLst>
                                      </p:cBhvr>
                                      <p:to>
                                        <p:strVal val="visible"/>
                                      </p:to>
                                    </p:set>
                                    <p:animEffect transition="in" filter="wipe(left)">
                                      <p:cBhvr>
                                        <p:cTn id="46" dur="500"/>
                                        <p:tgtEl>
                                          <p:spTgt spid="1444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4419"/>
                                        </p:tgtEl>
                                        <p:attrNameLst>
                                          <p:attrName>style.visibility</p:attrName>
                                        </p:attrNameLst>
                                      </p:cBhvr>
                                      <p:to>
                                        <p:strVal val="visible"/>
                                      </p:to>
                                    </p:set>
                                    <p:animEffect transition="in" filter="wipe(left)">
                                      <p:cBhvr>
                                        <p:cTn id="51" dur="500"/>
                                        <p:tgtEl>
                                          <p:spTgt spid="144419"/>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44416"/>
                                        </p:tgtEl>
                                        <p:attrNameLst>
                                          <p:attrName>style.visibility</p:attrName>
                                        </p:attrNameLst>
                                      </p:cBhvr>
                                      <p:to>
                                        <p:strVal val="visible"/>
                                      </p:to>
                                    </p:set>
                                    <p:animEffect transition="in" filter="wipe(left)">
                                      <p:cBhvr>
                                        <p:cTn id="55" dur="500"/>
                                        <p:tgtEl>
                                          <p:spTgt spid="14441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44418"/>
                                        </p:tgtEl>
                                        <p:attrNameLst>
                                          <p:attrName>style.visibility</p:attrName>
                                        </p:attrNameLst>
                                      </p:cBhvr>
                                      <p:to>
                                        <p:strVal val="visible"/>
                                      </p:to>
                                    </p:set>
                                    <p:animEffect transition="in" filter="wipe(left)">
                                      <p:cBhvr>
                                        <p:cTn id="60" dur="500"/>
                                        <p:tgtEl>
                                          <p:spTgt spid="144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08" grpId="0"/>
      <p:bldP spid="144411" grpId="0" animBg="1"/>
      <p:bldP spid="144412" grpId="0"/>
      <p:bldP spid="144414" grpId="0" animBg="1"/>
      <p:bldP spid="144415" grpId="0" animBg="1"/>
      <p:bldP spid="144416" grpId="0"/>
      <p:bldP spid="144417" grpId="0"/>
      <p:bldP spid="144419" grpId="0" animBg="1"/>
      <p:bldP spid="1444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4" name="Line 2"/>
          <p:cNvSpPr>
            <a:spLocks noChangeShapeType="1"/>
          </p:cNvSpPr>
          <p:nvPr/>
        </p:nvSpPr>
        <p:spPr bwMode="auto">
          <a:xfrm flipV="1">
            <a:off x="6178550" y="1844675"/>
            <a:ext cx="0" cy="1657350"/>
          </a:xfrm>
          <a:prstGeom prst="line">
            <a:avLst/>
          </a:prstGeom>
          <a:noFill/>
          <a:ln w="28575">
            <a:solidFill>
              <a:schemeClr val="tx1"/>
            </a:solidFill>
            <a:round/>
            <a:headEnd/>
            <a:tailEnd type="triangle" w="med" len="med"/>
          </a:ln>
        </p:spPr>
        <p:txBody>
          <a:bodyPr/>
          <a:lstStyle/>
          <a:p>
            <a:endParaRPr lang="zh-CN" altLang="en-US"/>
          </a:p>
        </p:txBody>
      </p:sp>
      <p:sp>
        <p:nvSpPr>
          <p:cNvPr id="14345" name="Line 3"/>
          <p:cNvSpPr>
            <a:spLocks noChangeShapeType="1"/>
          </p:cNvSpPr>
          <p:nvPr/>
        </p:nvSpPr>
        <p:spPr bwMode="auto">
          <a:xfrm>
            <a:off x="6178550" y="3502025"/>
            <a:ext cx="2281238" cy="0"/>
          </a:xfrm>
          <a:prstGeom prst="line">
            <a:avLst/>
          </a:prstGeom>
          <a:noFill/>
          <a:ln w="28575">
            <a:solidFill>
              <a:schemeClr val="tx1"/>
            </a:solidFill>
            <a:round/>
            <a:headEnd/>
            <a:tailEnd type="triangle" w="med" len="med"/>
          </a:ln>
        </p:spPr>
        <p:txBody>
          <a:bodyPr/>
          <a:lstStyle/>
          <a:p>
            <a:endParaRPr lang="zh-CN" altLang="en-US"/>
          </a:p>
        </p:txBody>
      </p:sp>
      <p:sp>
        <p:nvSpPr>
          <p:cNvPr id="14346" name="Line 4"/>
          <p:cNvSpPr>
            <a:spLocks noChangeShapeType="1"/>
          </p:cNvSpPr>
          <p:nvPr/>
        </p:nvSpPr>
        <p:spPr bwMode="auto">
          <a:xfrm flipH="1">
            <a:off x="5529263" y="3502025"/>
            <a:ext cx="649287" cy="649288"/>
          </a:xfrm>
          <a:prstGeom prst="line">
            <a:avLst/>
          </a:prstGeom>
          <a:noFill/>
          <a:ln w="28575">
            <a:solidFill>
              <a:schemeClr val="tx1"/>
            </a:solidFill>
            <a:round/>
            <a:headEnd/>
            <a:tailEnd type="triangle" w="med" len="med"/>
          </a:ln>
        </p:spPr>
        <p:txBody>
          <a:bodyPr/>
          <a:lstStyle/>
          <a:p>
            <a:endParaRPr lang="zh-CN" altLang="en-US"/>
          </a:p>
        </p:txBody>
      </p:sp>
      <p:sp>
        <p:nvSpPr>
          <p:cNvPr id="14347" name="Text Box 5"/>
          <p:cNvSpPr txBox="1">
            <a:spLocks noChangeArrowheads="1"/>
          </p:cNvSpPr>
          <p:nvPr/>
        </p:nvSpPr>
        <p:spPr bwMode="auto">
          <a:xfrm>
            <a:off x="8439150" y="321310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14348" name="Text Box 6"/>
          <p:cNvSpPr txBox="1">
            <a:spLocks noChangeArrowheads="1"/>
          </p:cNvSpPr>
          <p:nvPr/>
        </p:nvSpPr>
        <p:spPr bwMode="auto">
          <a:xfrm>
            <a:off x="6084888" y="1412875"/>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14349" name="Text Box 7"/>
          <p:cNvSpPr txBox="1">
            <a:spLocks noChangeArrowheads="1"/>
          </p:cNvSpPr>
          <p:nvPr/>
        </p:nvSpPr>
        <p:spPr bwMode="auto">
          <a:xfrm>
            <a:off x="5343525" y="4005263"/>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14350" name="Text Box 8"/>
          <p:cNvSpPr txBox="1">
            <a:spLocks noChangeArrowheads="1"/>
          </p:cNvSpPr>
          <p:nvPr/>
        </p:nvSpPr>
        <p:spPr bwMode="auto">
          <a:xfrm>
            <a:off x="6034088" y="3473450"/>
            <a:ext cx="596900" cy="457200"/>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sp>
        <p:nvSpPr>
          <p:cNvPr id="14351" name="Line 9"/>
          <p:cNvSpPr>
            <a:spLocks noChangeShapeType="1"/>
          </p:cNvSpPr>
          <p:nvPr/>
        </p:nvSpPr>
        <p:spPr bwMode="auto">
          <a:xfrm>
            <a:off x="7969250" y="2314575"/>
            <a:ext cx="287338" cy="0"/>
          </a:xfrm>
          <a:prstGeom prst="line">
            <a:avLst/>
          </a:prstGeom>
          <a:noFill/>
          <a:ln w="9525">
            <a:solidFill>
              <a:schemeClr val="tx1"/>
            </a:solidFill>
            <a:round/>
            <a:headEnd/>
            <a:tailEnd/>
          </a:ln>
        </p:spPr>
        <p:txBody>
          <a:bodyPr/>
          <a:lstStyle/>
          <a:p>
            <a:endParaRPr lang="zh-CN" altLang="en-US"/>
          </a:p>
        </p:txBody>
      </p:sp>
      <p:sp>
        <p:nvSpPr>
          <p:cNvPr id="14352" name="Line 10"/>
          <p:cNvSpPr>
            <a:spLocks noChangeShapeType="1"/>
          </p:cNvSpPr>
          <p:nvPr/>
        </p:nvSpPr>
        <p:spPr bwMode="auto">
          <a:xfrm flipV="1">
            <a:off x="8101013" y="2314575"/>
            <a:ext cx="0" cy="466725"/>
          </a:xfrm>
          <a:prstGeom prst="line">
            <a:avLst/>
          </a:prstGeom>
          <a:noFill/>
          <a:ln w="9525">
            <a:solidFill>
              <a:schemeClr val="tx1"/>
            </a:solidFill>
            <a:round/>
            <a:headEnd/>
            <a:tailEnd type="triangle" w="med" len="med"/>
          </a:ln>
        </p:spPr>
        <p:txBody>
          <a:bodyPr/>
          <a:lstStyle/>
          <a:p>
            <a:endParaRPr lang="zh-CN" altLang="en-US"/>
          </a:p>
        </p:txBody>
      </p:sp>
      <p:sp>
        <p:nvSpPr>
          <p:cNvPr id="14353" name="Line 11"/>
          <p:cNvSpPr>
            <a:spLocks noChangeShapeType="1"/>
          </p:cNvSpPr>
          <p:nvPr/>
        </p:nvSpPr>
        <p:spPr bwMode="auto">
          <a:xfrm>
            <a:off x="8101013" y="3068638"/>
            <a:ext cx="0" cy="433387"/>
          </a:xfrm>
          <a:prstGeom prst="line">
            <a:avLst/>
          </a:prstGeom>
          <a:noFill/>
          <a:ln w="9525">
            <a:solidFill>
              <a:schemeClr val="tx1"/>
            </a:solidFill>
            <a:round/>
            <a:headEnd/>
            <a:tailEnd type="triangle" w="med" len="med"/>
          </a:ln>
        </p:spPr>
        <p:txBody>
          <a:bodyPr/>
          <a:lstStyle/>
          <a:p>
            <a:endParaRPr lang="zh-CN" altLang="en-US"/>
          </a:p>
        </p:txBody>
      </p:sp>
      <p:sp>
        <p:nvSpPr>
          <p:cNvPr id="14354" name="Text Box 12"/>
          <p:cNvSpPr txBox="1">
            <a:spLocks noChangeArrowheads="1"/>
          </p:cNvSpPr>
          <p:nvPr/>
        </p:nvSpPr>
        <p:spPr bwMode="auto">
          <a:xfrm>
            <a:off x="7956550" y="2709863"/>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c</a:t>
            </a:r>
          </a:p>
        </p:txBody>
      </p:sp>
      <p:sp>
        <p:nvSpPr>
          <p:cNvPr id="14355" name="Line 13"/>
          <p:cNvSpPr>
            <a:spLocks noChangeShapeType="1"/>
          </p:cNvSpPr>
          <p:nvPr/>
        </p:nvSpPr>
        <p:spPr bwMode="auto">
          <a:xfrm>
            <a:off x="7597775" y="3895725"/>
            <a:ext cx="287338" cy="0"/>
          </a:xfrm>
          <a:prstGeom prst="line">
            <a:avLst/>
          </a:prstGeom>
          <a:noFill/>
          <a:ln w="9525">
            <a:solidFill>
              <a:schemeClr val="tx1"/>
            </a:solidFill>
            <a:round/>
            <a:headEnd/>
            <a:tailEnd/>
          </a:ln>
        </p:spPr>
        <p:txBody>
          <a:bodyPr/>
          <a:lstStyle/>
          <a:p>
            <a:endParaRPr lang="zh-CN" altLang="en-US"/>
          </a:p>
        </p:txBody>
      </p:sp>
      <p:sp>
        <p:nvSpPr>
          <p:cNvPr id="14356" name="Line 14"/>
          <p:cNvSpPr>
            <a:spLocks noChangeAspect="1" noChangeShapeType="1"/>
          </p:cNvSpPr>
          <p:nvPr/>
        </p:nvSpPr>
        <p:spPr bwMode="auto">
          <a:xfrm flipH="1">
            <a:off x="7702550" y="3489325"/>
            <a:ext cx="395288" cy="395288"/>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14357" name="Text Box 15"/>
          <p:cNvSpPr txBox="1">
            <a:spLocks noChangeArrowheads="1"/>
          </p:cNvSpPr>
          <p:nvPr/>
        </p:nvSpPr>
        <p:spPr bwMode="auto">
          <a:xfrm>
            <a:off x="7956550" y="35020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b</a:t>
            </a:r>
          </a:p>
        </p:txBody>
      </p:sp>
      <p:sp>
        <p:nvSpPr>
          <p:cNvPr id="14358" name="Line 16"/>
          <p:cNvSpPr>
            <a:spLocks noChangeAspect="1" noChangeShapeType="1"/>
          </p:cNvSpPr>
          <p:nvPr/>
        </p:nvSpPr>
        <p:spPr bwMode="auto">
          <a:xfrm flipH="1">
            <a:off x="7235825" y="3970338"/>
            <a:ext cx="179388" cy="179387"/>
          </a:xfrm>
          <a:prstGeom prst="line">
            <a:avLst/>
          </a:prstGeom>
          <a:noFill/>
          <a:ln w="9525">
            <a:solidFill>
              <a:schemeClr val="tx1"/>
            </a:solidFill>
            <a:round/>
            <a:headEnd/>
            <a:tailEnd/>
          </a:ln>
        </p:spPr>
        <p:txBody>
          <a:bodyPr/>
          <a:lstStyle/>
          <a:p>
            <a:endParaRPr lang="zh-CN" altLang="en-US"/>
          </a:p>
        </p:txBody>
      </p:sp>
      <p:sp>
        <p:nvSpPr>
          <p:cNvPr id="14359" name="Line 17"/>
          <p:cNvSpPr>
            <a:spLocks noChangeShapeType="1"/>
          </p:cNvSpPr>
          <p:nvPr/>
        </p:nvSpPr>
        <p:spPr bwMode="auto">
          <a:xfrm>
            <a:off x="6659563" y="4030663"/>
            <a:ext cx="708025" cy="0"/>
          </a:xfrm>
          <a:prstGeom prst="line">
            <a:avLst/>
          </a:prstGeom>
          <a:noFill/>
          <a:ln w="9525">
            <a:solidFill>
              <a:schemeClr val="tx1"/>
            </a:solidFill>
            <a:round/>
            <a:headEnd/>
            <a:tailEnd type="triangle" w="med" len="med"/>
          </a:ln>
        </p:spPr>
        <p:txBody>
          <a:bodyPr/>
          <a:lstStyle/>
          <a:p>
            <a:endParaRPr lang="zh-CN" altLang="en-US"/>
          </a:p>
        </p:txBody>
      </p:sp>
      <p:sp>
        <p:nvSpPr>
          <p:cNvPr id="14360" name="Line 18"/>
          <p:cNvSpPr>
            <a:spLocks noChangeShapeType="1"/>
          </p:cNvSpPr>
          <p:nvPr/>
        </p:nvSpPr>
        <p:spPr bwMode="auto">
          <a:xfrm>
            <a:off x="5651500" y="4025900"/>
            <a:ext cx="649288" cy="0"/>
          </a:xfrm>
          <a:prstGeom prst="line">
            <a:avLst/>
          </a:prstGeom>
          <a:noFill/>
          <a:ln w="9525">
            <a:solidFill>
              <a:schemeClr val="tx1"/>
            </a:solidFill>
            <a:round/>
            <a:headEnd type="triangle" w="med" len="med"/>
            <a:tailEnd/>
          </a:ln>
        </p:spPr>
        <p:txBody>
          <a:bodyPr/>
          <a:lstStyle/>
          <a:p>
            <a:endParaRPr lang="zh-CN" altLang="en-US"/>
          </a:p>
        </p:txBody>
      </p:sp>
      <p:sp>
        <p:nvSpPr>
          <p:cNvPr id="14361" name="Text Box 19"/>
          <p:cNvSpPr txBox="1">
            <a:spLocks noChangeArrowheads="1"/>
          </p:cNvSpPr>
          <p:nvPr/>
        </p:nvSpPr>
        <p:spPr bwMode="auto">
          <a:xfrm>
            <a:off x="6313488" y="3819525"/>
            <a:ext cx="596900" cy="396875"/>
          </a:xfrm>
          <a:prstGeom prst="rect">
            <a:avLst/>
          </a:prstGeom>
          <a:noFill/>
          <a:ln w="9525">
            <a:noFill/>
            <a:miter lim="800000"/>
            <a:headEnd/>
            <a:tailEnd/>
          </a:ln>
        </p:spPr>
        <p:txBody>
          <a:bodyPr>
            <a:spAutoFit/>
          </a:bodyPr>
          <a:lstStyle/>
          <a:p>
            <a:r>
              <a:rPr lang="en-US" altLang="zh-CN" sz="2000" b="1" i="1">
                <a:latin typeface="Times New Roman" pitchFamily="18" charset="0"/>
              </a:rPr>
              <a:t>a</a:t>
            </a:r>
          </a:p>
        </p:txBody>
      </p:sp>
      <p:sp>
        <p:nvSpPr>
          <p:cNvPr id="14362" name="Line 20"/>
          <p:cNvSpPr>
            <a:spLocks noChangeShapeType="1"/>
          </p:cNvSpPr>
          <p:nvPr/>
        </p:nvSpPr>
        <p:spPr bwMode="auto">
          <a:xfrm>
            <a:off x="6516688" y="3184525"/>
            <a:ext cx="1079500" cy="0"/>
          </a:xfrm>
          <a:prstGeom prst="line">
            <a:avLst/>
          </a:prstGeom>
          <a:noFill/>
          <a:ln w="19050">
            <a:solidFill>
              <a:srgbClr val="FF0000"/>
            </a:solidFill>
            <a:round/>
            <a:headEnd/>
            <a:tailEnd type="triangle" w="med" len="med"/>
          </a:ln>
        </p:spPr>
        <p:txBody>
          <a:bodyPr/>
          <a:lstStyle/>
          <a:p>
            <a:endParaRPr lang="zh-CN" altLang="en-US"/>
          </a:p>
        </p:txBody>
      </p:sp>
      <p:sp>
        <p:nvSpPr>
          <p:cNvPr id="14363" name="Oval 21"/>
          <p:cNvSpPr>
            <a:spLocks noChangeArrowheads="1"/>
          </p:cNvSpPr>
          <p:nvPr/>
        </p:nvSpPr>
        <p:spPr bwMode="auto">
          <a:xfrm>
            <a:off x="6516688" y="3141663"/>
            <a:ext cx="71437" cy="71437"/>
          </a:xfrm>
          <a:prstGeom prst="ellipse">
            <a:avLst/>
          </a:prstGeom>
          <a:solidFill>
            <a:srgbClr val="FF0000"/>
          </a:solidFill>
          <a:ln w="9525">
            <a:solidFill>
              <a:schemeClr val="accent2"/>
            </a:solidFill>
            <a:round/>
            <a:headEnd/>
            <a:tailEnd/>
          </a:ln>
        </p:spPr>
        <p:txBody>
          <a:bodyPr wrap="none" anchor="ctr"/>
          <a:lstStyle/>
          <a:p>
            <a:endParaRPr lang="zh-CN" altLang="en-US"/>
          </a:p>
        </p:txBody>
      </p:sp>
      <p:graphicFrame>
        <p:nvGraphicFramePr>
          <p:cNvPr id="14338" name="Object 22"/>
          <p:cNvGraphicFramePr>
            <a:graphicFrameLocks noChangeAspect="1"/>
          </p:cNvGraphicFramePr>
          <p:nvPr/>
        </p:nvGraphicFramePr>
        <p:xfrm>
          <a:off x="6877050" y="2600325"/>
          <a:ext cx="477838" cy="612775"/>
        </p:xfrm>
        <a:graphic>
          <a:graphicData uri="http://schemas.openxmlformats.org/presentationml/2006/ole">
            <p:oleObj spid="_x0000_s14338" name="公式" r:id="rId3" imgW="177480" imgH="228600" progId="Equation.3">
              <p:embed/>
            </p:oleObj>
          </a:graphicData>
        </a:graphic>
      </p:graphicFrame>
      <p:sp>
        <p:nvSpPr>
          <p:cNvPr id="14364" name="AutoShape 23"/>
          <p:cNvSpPr>
            <a:spLocks noChangeArrowheads="1"/>
          </p:cNvSpPr>
          <p:nvPr/>
        </p:nvSpPr>
        <p:spPr bwMode="auto">
          <a:xfrm>
            <a:off x="5772150" y="2349500"/>
            <a:ext cx="2087563" cy="1584325"/>
          </a:xfrm>
          <a:prstGeom prst="cube">
            <a:avLst>
              <a:gd name="adj" fmla="val 25000"/>
            </a:avLst>
          </a:prstGeom>
          <a:solidFill>
            <a:srgbClr val="C0C0C0">
              <a:alpha val="30196"/>
            </a:srgbClr>
          </a:solidFill>
          <a:ln w="9525">
            <a:solidFill>
              <a:srgbClr val="969696"/>
            </a:solidFill>
            <a:miter lim="800000"/>
            <a:headEnd/>
            <a:tailEnd/>
          </a:ln>
        </p:spPr>
        <p:txBody>
          <a:bodyPr wrap="none" anchor="ctr"/>
          <a:lstStyle/>
          <a:p>
            <a:endParaRPr lang="zh-CN" altLang="zh-CN" sz="2400" b="1">
              <a:latin typeface="Times New Roman" pitchFamily="18" charset="0"/>
            </a:endParaRPr>
          </a:p>
        </p:txBody>
      </p:sp>
      <p:sp>
        <p:nvSpPr>
          <p:cNvPr id="14365" name="Text Box 24"/>
          <p:cNvSpPr txBox="1">
            <a:spLocks noChangeArrowheads="1"/>
          </p:cNvSpPr>
          <p:nvPr/>
        </p:nvSpPr>
        <p:spPr bwMode="auto">
          <a:xfrm>
            <a:off x="7451725" y="2646363"/>
            <a:ext cx="412750" cy="366712"/>
          </a:xfrm>
          <a:prstGeom prst="rect">
            <a:avLst/>
          </a:prstGeom>
          <a:noFill/>
          <a:ln w="9525">
            <a:noFill/>
            <a:miter lim="800000"/>
            <a:headEnd/>
            <a:tailEnd/>
          </a:ln>
        </p:spPr>
        <p:txBody>
          <a:bodyPr wrap="none">
            <a:spAutoFit/>
          </a:bodyPr>
          <a:lstStyle/>
          <a:p>
            <a:r>
              <a:rPr lang="en-US" altLang="zh-CN" b="1" i="1">
                <a:latin typeface="Times New Roman" pitchFamily="18" charset="0"/>
              </a:rPr>
              <a:t>A</a:t>
            </a:r>
            <a:r>
              <a:rPr lang="en-US" altLang="zh-CN" b="1" baseline="-25000">
                <a:latin typeface="Times New Roman" pitchFamily="18" charset="0"/>
              </a:rPr>
              <a:t>1</a:t>
            </a:r>
            <a:endParaRPr lang="en-US" altLang="zh-CN" b="1">
              <a:latin typeface="Times New Roman" pitchFamily="18" charset="0"/>
            </a:endParaRPr>
          </a:p>
        </p:txBody>
      </p:sp>
      <p:sp>
        <p:nvSpPr>
          <p:cNvPr id="145433" name="AutoShape 25"/>
          <p:cNvSpPr>
            <a:spLocks noChangeArrowheads="1"/>
          </p:cNvSpPr>
          <p:nvPr/>
        </p:nvSpPr>
        <p:spPr bwMode="auto">
          <a:xfrm>
            <a:off x="179388" y="981075"/>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a:p>
        </p:txBody>
      </p:sp>
      <p:sp>
        <p:nvSpPr>
          <p:cNvPr id="145434" name="Text Box 26"/>
          <p:cNvSpPr txBox="1">
            <a:spLocks noChangeArrowheads="1"/>
          </p:cNvSpPr>
          <p:nvPr/>
        </p:nvSpPr>
        <p:spPr bwMode="auto">
          <a:xfrm>
            <a:off x="827088" y="1052513"/>
            <a:ext cx="4895850" cy="457200"/>
          </a:xfrm>
          <a:prstGeom prst="rect">
            <a:avLst/>
          </a:prstGeom>
          <a:noFill/>
          <a:ln w="9525">
            <a:noFill/>
            <a:miter lim="800000"/>
            <a:headEnd/>
            <a:tailEnd/>
          </a:ln>
        </p:spPr>
        <p:txBody>
          <a:bodyPr>
            <a:spAutoFit/>
          </a:bodyPr>
          <a:lstStyle/>
          <a:p>
            <a:r>
              <a:rPr lang="en-US" altLang="zh-CN" sz="2400" b="1">
                <a:solidFill>
                  <a:srgbClr val="FF6600"/>
                </a:solidFill>
                <a:latin typeface="Times New Roman" pitchFamily="18" charset="0"/>
              </a:rPr>
              <a:t>1</a:t>
            </a:r>
            <a:r>
              <a:rPr lang="zh-CN" altLang="en-US" sz="2400" b="1">
                <a:solidFill>
                  <a:srgbClr val="FF6600"/>
                </a:solidFill>
                <a:latin typeface="Times New Roman" pitchFamily="18" charset="0"/>
              </a:rPr>
              <a:t>秒钟</a:t>
            </a:r>
            <a:r>
              <a:rPr lang="zh-CN" altLang="en-US" sz="2400" b="1">
                <a:latin typeface="Times New Roman" pitchFamily="18" charset="0"/>
              </a:rPr>
              <a:t>内</a:t>
            </a:r>
            <a:r>
              <a:rPr lang="zh-CN" altLang="en-US" sz="2400" b="1">
                <a:solidFill>
                  <a:srgbClr val="FF6600"/>
                </a:solidFill>
                <a:latin typeface="Times New Roman" pitchFamily="18" charset="0"/>
              </a:rPr>
              <a:t>分子 </a:t>
            </a:r>
            <a:r>
              <a:rPr lang="en-US" altLang="zh-CN" sz="2400" b="1" i="1">
                <a:solidFill>
                  <a:srgbClr val="FF6600"/>
                </a:solidFill>
                <a:latin typeface="Times New Roman" pitchFamily="18" charset="0"/>
              </a:rPr>
              <a:t>i</a:t>
            </a:r>
            <a:r>
              <a:rPr lang="en-US" altLang="zh-CN" sz="2400" b="1">
                <a:latin typeface="Times New Roman" pitchFamily="18" charset="0"/>
              </a:rPr>
              <a:t> </a:t>
            </a:r>
            <a:r>
              <a:rPr lang="zh-CN" altLang="en-US" sz="2400" b="1">
                <a:latin typeface="Times New Roman" pitchFamily="18" charset="0"/>
              </a:rPr>
              <a:t>对 </a:t>
            </a:r>
            <a:r>
              <a:rPr lang="en-US" altLang="zh-CN" sz="2400" b="1" i="1">
                <a:latin typeface="Times New Roman" pitchFamily="18" charset="0"/>
              </a:rPr>
              <a:t>A</a:t>
            </a:r>
            <a:r>
              <a:rPr lang="en-US" altLang="zh-CN" sz="2400" b="1" baseline="-25000">
                <a:latin typeface="Times New Roman" pitchFamily="18" charset="0"/>
              </a:rPr>
              <a:t>1 </a:t>
            </a:r>
            <a:r>
              <a:rPr lang="zh-CN" altLang="en-US" sz="2400" b="1">
                <a:latin typeface="Times New Roman" pitchFamily="18" charset="0"/>
              </a:rPr>
              <a:t>的冲量：</a:t>
            </a:r>
          </a:p>
        </p:txBody>
      </p:sp>
      <p:graphicFrame>
        <p:nvGraphicFramePr>
          <p:cNvPr id="145435" name="Object 27"/>
          <p:cNvGraphicFramePr>
            <a:graphicFrameLocks noChangeAspect="1"/>
          </p:cNvGraphicFramePr>
          <p:nvPr/>
        </p:nvGraphicFramePr>
        <p:xfrm>
          <a:off x="1814513" y="1639888"/>
          <a:ext cx="2332037" cy="866775"/>
        </p:xfrm>
        <a:graphic>
          <a:graphicData uri="http://schemas.openxmlformats.org/presentationml/2006/ole">
            <p:oleObj spid="_x0000_s14339" name="Equation" r:id="rId4" imgW="1091880" imgH="406080" progId="Equation.3">
              <p:embed/>
            </p:oleObj>
          </a:graphicData>
        </a:graphic>
      </p:graphicFrame>
      <p:sp>
        <p:nvSpPr>
          <p:cNvPr id="145436" name="AutoShape 28"/>
          <p:cNvSpPr>
            <a:spLocks noChangeArrowheads="1"/>
          </p:cNvSpPr>
          <p:nvPr/>
        </p:nvSpPr>
        <p:spPr bwMode="auto">
          <a:xfrm>
            <a:off x="179388" y="278130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a:p>
        </p:txBody>
      </p:sp>
      <p:sp>
        <p:nvSpPr>
          <p:cNvPr id="145437" name="Text Box 29"/>
          <p:cNvSpPr txBox="1">
            <a:spLocks noChangeArrowheads="1"/>
          </p:cNvSpPr>
          <p:nvPr/>
        </p:nvSpPr>
        <p:spPr bwMode="auto">
          <a:xfrm>
            <a:off x="735013" y="2873375"/>
            <a:ext cx="4394200" cy="457200"/>
          </a:xfrm>
          <a:prstGeom prst="rect">
            <a:avLst/>
          </a:prstGeom>
          <a:noFill/>
          <a:ln w="9525">
            <a:noFill/>
            <a:miter lim="800000"/>
            <a:headEnd/>
            <a:tailEnd/>
          </a:ln>
        </p:spPr>
        <p:txBody>
          <a:bodyPr wrap="none">
            <a:spAutoFit/>
          </a:bodyPr>
          <a:lstStyle/>
          <a:p>
            <a:r>
              <a:rPr lang="en-US" altLang="zh-CN" sz="2400" b="1">
                <a:solidFill>
                  <a:srgbClr val="FF6600"/>
                </a:solidFill>
                <a:latin typeface="Times New Roman" pitchFamily="18" charset="0"/>
              </a:rPr>
              <a:t>1</a:t>
            </a:r>
            <a:r>
              <a:rPr lang="zh-CN" altLang="en-US" sz="2400" b="1">
                <a:solidFill>
                  <a:srgbClr val="FF6600"/>
                </a:solidFill>
                <a:latin typeface="Times New Roman" pitchFamily="18" charset="0"/>
              </a:rPr>
              <a:t>秒钟</a:t>
            </a:r>
            <a:r>
              <a:rPr lang="zh-CN" altLang="en-US" sz="2400" b="1">
                <a:latin typeface="Times New Roman" pitchFamily="18" charset="0"/>
              </a:rPr>
              <a:t>内</a:t>
            </a:r>
            <a:r>
              <a:rPr lang="zh-CN" altLang="en-US" sz="2400" b="1">
                <a:solidFill>
                  <a:srgbClr val="FF6600"/>
                </a:solidFill>
                <a:latin typeface="Times New Roman" pitchFamily="18" charset="0"/>
              </a:rPr>
              <a:t>所有分子</a:t>
            </a:r>
            <a:r>
              <a:rPr lang="zh-CN" altLang="en-US" sz="2400" b="1">
                <a:latin typeface="Times New Roman" pitchFamily="18" charset="0"/>
              </a:rPr>
              <a:t>对</a:t>
            </a:r>
            <a:r>
              <a:rPr lang="en-US" altLang="zh-CN" sz="2400" b="1" i="1">
                <a:latin typeface="Times New Roman" pitchFamily="18" charset="0"/>
              </a:rPr>
              <a:t>A</a:t>
            </a:r>
            <a:r>
              <a:rPr lang="en-US" altLang="zh-CN" sz="2400" b="1" baseline="-25000">
                <a:latin typeface="Times New Roman" pitchFamily="18" charset="0"/>
              </a:rPr>
              <a:t>1</a:t>
            </a:r>
            <a:r>
              <a:rPr lang="en-US" altLang="zh-CN" sz="2400" b="1">
                <a:latin typeface="Times New Roman" pitchFamily="18" charset="0"/>
              </a:rPr>
              <a:t> </a:t>
            </a:r>
            <a:r>
              <a:rPr lang="zh-CN" altLang="en-US" sz="2400" b="1">
                <a:latin typeface="Times New Roman" pitchFamily="18" charset="0"/>
              </a:rPr>
              <a:t>的冲量：</a:t>
            </a:r>
          </a:p>
        </p:txBody>
      </p:sp>
      <p:graphicFrame>
        <p:nvGraphicFramePr>
          <p:cNvPr id="145438" name="Object 30"/>
          <p:cNvGraphicFramePr>
            <a:graphicFrameLocks noChangeAspect="1"/>
          </p:cNvGraphicFramePr>
          <p:nvPr/>
        </p:nvGraphicFramePr>
        <p:xfrm>
          <a:off x="1343025" y="3516313"/>
          <a:ext cx="3200400" cy="920750"/>
        </p:xfrm>
        <a:graphic>
          <a:graphicData uri="http://schemas.openxmlformats.org/presentationml/2006/ole">
            <p:oleObj spid="_x0000_s14340" name="Equation" r:id="rId5" imgW="1498320" imgH="431640" progId="Equation.3">
              <p:embed/>
            </p:oleObj>
          </a:graphicData>
        </a:graphic>
      </p:graphicFrame>
      <p:sp>
        <p:nvSpPr>
          <p:cNvPr id="145439" name="AutoShape 31"/>
          <p:cNvSpPr>
            <a:spLocks noChangeArrowheads="1"/>
          </p:cNvSpPr>
          <p:nvPr/>
        </p:nvSpPr>
        <p:spPr bwMode="auto">
          <a:xfrm>
            <a:off x="250825" y="4940300"/>
            <a:ext cx="863600" cy="144463"/>
          </a:xfrm>
          <a:prstGeom prst="rightArrow">
            <a:avLst>
              <a:gd name="adj1" fmla="val 50000"/>
              <a:gd name="adj2" fmla="val 149450"/>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45440" name="Object 32"/>
          <p:cNvGraphicFramePr>
            <a:graphicFrameLocks noChangeAspect="1"/>
          </p:cNvGraphicFramePr>
          <p:nvPr/>
        </p:nvGraphicFramePr>
        <p:xfrm>
          <a:off x="1584325" y="4581525"/>
          <a:ext cx="1941513" cy="998538"/>
        </p:xfrm>
        <a:graphic>
          <a:graphicData uri="http://schemas.openxmlformats.org/presentationml/2006/ole">
            <p:oleObj spid="_x0000_s14341" name="Equation" r:id="rId6" imgW="888840" imgH="457200" progId="Equation.3">
              <p:embed/>
            </p:oleObj>
          </a:graphicData>
        </a:graphic>
      </p:graphicFrame>
      <p:graphicFrame>
        <p:nvGraphicFramePr>
          <p:cNvPr id="145441" name="Object 33"/>
          <p:cNvGraphicFramePr>
            <a:graphicFrameLocks noChangeAspect="1"/>
          </p:cNvGraphicFramePr>
          <p:nvPr/>
        </p:nvGraphicFramePr>
        <p:xfrm>
          <a:off x="3657600" y="4581525"/>
          <a:ext cx="1663700" cy="942975"/>
        </p:xfrm>
        <a:graphic>
          <a:graphicData uri="http://schemas.openxmlformats.org/presentationml/2006/ole">
            <p:oleObj spid="_x0000_s14342" name="公式" r:id="rId7" imgW="761760" imgH="431640" progId="Equation.3">
              <p:embed/>
            </p:oleObj>
          </a:graphicData>
        </a:graphic>
      </p:graphicFrame>
      <p:graphicFrame>
        <p:nvGraphicFramePr>
          <p:cNvPr id="145442" name="Object 34"/>
          <p:cNvGraphicFramePr>
            <a:graphicFrameLocks noChangeAspect="1"/>
          </p:cNvGraphicFramePr>
          <p:nvPr/>
        </p:nvGraphicFramePr>
        <p:xfrm>
          <a:off x="5486400" y="4581525"/>
          <a:ext cx="1414463" cy="942975"/>
        </p:xfrm>
        <a:graphic>
          <a:graphicData uri="http://schemas.openxmlformats.org/presentationml/2006/ole">
            <p:oleObj spid="_x0000_s14343" name="公式" r:id="rId8" imgW="64764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145433"/>
                                        </p:tgtEl>
                                        <p:attrNameLst>
                                          <p:attrName>style.visibility</p:attrName>
                                        </p:attrNameLst>
                                      </p:cBhvr>
                                      <p:to>
                                        <p:strVal val="visible"/>
                                      </p:to>
                                    </p:set>
                                    <p:anim calcmode="lin" valueType="num">
                                      <p:cBhvr>
                                        <p:cTn id="7" dur="500" fill="hold"/>
                                        <p:tgtEl>
                                          <p:spTgt spid="145433"/>
                                        </p:tgtEl>
                                        <p:attrNameLst>
                                          <p:attrName>ppt_w</p:attrName>
                                        </p:attrNameLst>
                                      </p:cBhvr>
                                      <p:tavLst>
                                        <p:tav tm="0">
                                          <p:val>
                                            <p:strVal val="4*#ppt_w"/>
                                          </p:val>
                                        </p:tav>
                                        <p:tav tm="100000">
                                          <p:val>
                                            <p:strVal val="#ppt_w"/>
                                          </p:val>
                                        </p:tav>
                                      </p:tavLst>
                                    </p:anim>
                                    <p:anim calcmode="lin" valueType="num">
                                      <p:cBhvr>
                                        <p:cTn id="8" dur="500" fill="hold"/>
                                        <p:tgtEl>
                                          <p:spTgt spid="14543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45434"/>
                                        </p:tgtEl>
                                        <p:attrNameLst>
                                          <p:attrName>style.visibility</p:attrName>
                                        </p:attrNameLst>
                                      </p:cBhvr>
                                      <p:to>
                                        <p:strVal val="visible"/>
                                      </p:to>
                                    </p:set>
                                    <p:animEffect transition="in" filter="wipe(left)">
                                      <p:cBhvr>
                                        <p:cTn id="12" dur="500"/>
                                        <p:tgtEl>
                                          <p:spTgt spid="1454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5435"/>
                                        </p:tgtEl>
                                        <p:attrNameLst>
                                          <p:attrName>style.visibility</p:attrName>
                                        </p:attrNameLst>
                                      </p:cBhvr>
                                      <p:to>
                                        <p:strVal val="visible"/>
                                      </p:to>
                                    </p:set>
                                    <p:animEffect transition="in" filter="wipe(left)">
                                      <p:cBhvr>
                                        <p:cTn id="17" dur="500"/>
                                        <p:tgtEl>
                                          <p:spTgt spid="14543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32" fill="hold" grpId="0" nodeType="clickEffect">
                                  <p:stCondLst>
                                    <p:cond delay="0"/>
                                  </p:stCondLst>
                                  <p:childTnLst>
                                    <p:set>
                                      <p:cBhvr>
                                        <p:cTn id="21" dur="1" fill="hold">
                                          <p:stCondLst>
                                            <p:cond delay="0"/>
                                          </p:stCondLst>
                                        </p:cTn>
                                        <p:tgtEl>
                                          <p:spTgt spid="145436"/>
                                        </p:tgtEl>
                                        <p:attrNameLst>
                                          <p:attrName>style.visibility</p:attrName>
                                        </p:attrNameLst>
                                      </p:cBhvr>
                                      <p:to>
                                        <p:strVal val="visible"/>
                                      </p:to>
                                    </p:set>
                                    <p:anim calcmode="lin" valueType="num">
                                      <p:cBhvr>
                                        <p:cTn id="22" dur="500" fill="hold"/>
                                        <p:tgtEl>
                                          <p:spTgt spid="145436"/>
                                        </p:tgtEl>
                                        <p:attrNameLst>
                                          <p:attrName>ppt_w</p:attrName>
                                        </p:attrNameLst>
                                      </p:cBhvr>
                                      <p:tavLst>
                                        <p:tav tm="0">
                                          <p:val>
                                            <p:strVal val="4*#ppt_w"/>
                                          </p:val>
                                        </p:tav>
                                        <p:tav tm="100000">
                                          <p:val>
                                            <p:strVal val="#ppt_w"/>
                                          </p:val>
                                        </p:tav>
                                      </p:tavLst>
                                    </p:anim>
                                    <p:anim calcmode="lin" valueType="num">
                                      <p:cBhvr>
                                        <p:cTn id="23" dur="500" fill="hold"/>
                                        <p:tgtEl>
                                          <p:spTgt spid="145436"/>
                                        </p:tgtEl>
                                        <p:attrNameLst>
                                          <p:attrName>ppt_h</p:attrName>
                                        </p:attrNameLst>
                                      </p:cBhvr>
                                      <p:tavLst>
                                        <p:tav tm="0">
                                          <p:val>
                                            <p:strVal val="4*#ppt_h"/>
                                          </p:val>
                                        </p:tav>
                                        <p:tav tm="100000">
                                          <p:val>
                                            <p:strVal val="#ppt_h"/>
                                          </p:val>
                                        </p:tav>
                                      </p:tavLst>
                                    </p:anim>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45437"/>
                                        </p:tgtEl>
                                        <p:attrNameLst>
                                          <p:attrName>style.visibility</p:attrName>
                                        </p:attrNameLst>
                                      </p:cBhvr>
                                      <p:to>
                                        <p:strVal val="visible"/>
                                      </p:to>
                                    </p:set>
                                    <p:animEffect transition="in" filter="wipe(left)">
                                      <p:cBhvr>
                                        <p:cTn id="27" dur="500"/>
                                        <p:tgtEl>
                                          <p:spTgt spid="1454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5438"/>
                                        </p:tgtEl>
                                        <p:attrNameLst>
                                          <p:attrName>style.visibility</p:attrName>
                                        </p:attrNameLst>
                                      </p:cBhvr>
                                      <p:to>
                                        <p:strVal val="visible"/>
                                      </p:to>
                                    </p:set>
                                    <p:animEffect transition="in" filter="wipe(left)">
                                      <p:cBhvr>
                                        <p:cTn id="32" dur="500"/>
                                        <p:tgtEl>
                                          <p:spTgt spid="1454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5439"/>
                                        </p:tgtEl>
                                        <p:attrNameLst>
                                          <p:attrName>style.visibility</p:attrName>
                                        </p:attrNameLst>
                                      </p:cBhvr>
                                      <p:to>
                                        <p:strVal val="visible"/>
                                      </p:to>
                                    </p:set>
                                    <p:animEffect transition="in" filter="wipe(left)">
                                      <p:cBhvr>
                                        <p:cTn id="37" dur="500"/>
                                        <p:tgtEl>
                                          <p:spTgt spid="1454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5440"/>
                                        </p:tgtEl>
                                        <p:attrNameLst>
                                          <p:attrName>style.visibility</p:attrName>
                                        </p:attrNameLst>
                                      </p:cBhvr>
                                      <p:to>
                                        <p:strVal val="visible"/>
                                      </p:to>
                                    </p:set>
                                    <p:animEffect transition="in" filter="wipe(left)">
                                      <p:cBhvr>
                                        <p:cTn id="42" dur="500"/>
                                        <p:tgtEl>
                                          <p:spTgt spid="1454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5441"/>
                                        </p:tgtEl>
                                        <p:attrNameLst>
                                          <p:attrName>style.visibility</p:attrName>
                                        </p:attrNameLst>
                                      </p:cBhvr>
                                      <p:to>
                                        <p:strVal val="visible"/>
                                      </p:to>
                                    </p:set>
                                    <p:animEffect transition="in" filter="wipe(left)">
                                      <p:cBhvr>
                                        <p:cTn id="47" dur="500"/>
                                        <p:tgtEl>
                                          <p:spTgt spid="1454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5442"/>
                                        </p:tgtEl>
                                        <p:attrNameLst>
                                          <p:attrName>style.visibility</p:attrName>
                                        </p:attrNameLst>
                                      </p:cBhvr>
                                      <p:to>
                                        <p:strVal val="visible"/>
                                      </p:to>
                                    </p:set>
                                    <p:animEffect transition="in" filter="wipe(left)">
                                      <p:cBhvr>
                                        <p:cTn id="52" dur="500"/>
                                        <p:tgtEl>
                                          <p:spTgt spid="145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33" grpId="0" animBg="1"/>
      <p:bldP spid="145434" grpId="0"/>
      <p:bldP spid="145436" grpId="0" animBg="1"/>
      <p:bldP spid="145437" grpId="0"/>
      <p:bldP spid="14543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434" name="Object 2"/>
          <p:cNvGraphicFramePr>
            <a:graphicFrameLocks noChangeAspect="1"/>
          </p:cNvGraphicFramePr>
          <p:nvPr/>
        </p:nvGraphicFramePr>
        <p:xfrm>
          <a:off x="900113" y="1125538"/>
          <a:ext cx="1690687" cy="942975"/>
        </p:xfrm>
        <a:graphic>
          <a:graphicData uri="http://schemas.openxmlformats.org/presentationml/2006/ole">
            <p:oleObj spid="_x0000_s15362" name="公式" r:id="rId3" imgW="774360" imgH="431640" progId="Equation.3">
              <p:embed/>
            </p:oleObj>
          </a:graphicData>
        </a:graphic>
      </p:graphicFrame>
      <p:graphicFrame>
        <p:nvGraphicFramePr>
          <p:cNvPr id="146435" name="Object 3"/>
          <p:cNvGraphicFramePr>
            <a:graphicFrameLocks noChangeAspect="1"/>
          </p:cNvGraphicFramePr>
          <p:nvPr/>
        </p:nvGraphicFramePr>
        <p:xfrm>
          <a:off x="900113" y="2486025"/>
          <a:ext cx="1828800" cy="942975"/>
        </p:xfrm>
        <a:graphic>
          <a:graphicData uri="http://schemas.openxmlformats.org/presentationml/2006/ole">
            <p:oleObj spid="_x0000_s15363" name="公式" r:id="rId4" imgW="838080" imgH="431640" progId="Equation.3">
              <p:embed/>
            </p:oleObj>
          </a:graphicData>
        </a:graphic>
      </p:graphicFrame>
      <p:sp>
        <p:nvSpPr>
          <p:cNvPr id="146436" name="AutoShape 4"/>
          <p:cNvSpPr>
            <a:spLocks/>
          </p:cNvSpPr>
          <p:nvPr/>
        </p:nvSpPr>
        <p:spPr bwMode="auto">
          <a:xfrm>
            <a:off x="2771775" y="1557338"/>
            <a:ext cx="144463" cy="1511300"/>
          </a:xfrm>
          <a:prstGeom prst="rightBrace">
            <a:avLst>
              <a:gd name="adj1" fmla="val 87179"/>
              <a:gd name="adj2" fmla="val 50000"/>
            </a:avLst>
          </a:prstGeom>
          <a:noFill/>
          <a:ln w="9525">
            <a:solidFill>
              <a:schemeClr val="tx1"/>
            </a:solidFill>
            <a:round/>
            <a:headEnd/>
            <a:tailEnd/>
          </a:ln>
        </p:spPr>
        <p:txBody>
          <a:bodyPr wrap="none" anchor="ctr"/>
          <a:lstStyle/>
          <a:p>
            <a:endParaRPr lang="zh-CN" altLang="en-US"/>
          </a:p>
        </p:txBody>
      </p:sp>
      <p:sp>
        <p:nvSpPr>
          <p:cNvPr id="146437" name="AutoShape 5"/>
          <p:cNvSpPr>
            <a:spLocks noChangeArrowheads="1"/>
          </p:cNvSpPr>
          <p:nvPr/>
        </p:nvSpPr>
        <p:spPr bwMode="auto">
          <a:xfrm>
            <a:off x="3132138" y="2205038"/>
            <a:ext cx="647700" cy="2159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46438" name="Object 6"/>
          <p:cNvGraphicFramePr>
            <a:graphicFrameLocks noChangeAspect="1"/>
          </p:cNvGraphicFramePr>
          <p:nvPr/>
        </p:nvGraphicFramePr>
        <p:xfrm>
          <a:off x="4067175" y="1844675"/>
          <a:ext cx="3797300" cy="860425"/>
        </p:xfrm>
        <a:graphic>
          <a:graphicData uri="http://schemas.openxmlformats.org/presentationml/2006/ole">
            <p:oleObj spid="_x0000_s15364" name="公式" r:id="rId5" imgW="1739880" imgH="393480" progId="Equation.3">
              <p:embed/>
            </p:oleObj>
          </a:graphicData>
        </a:graphic>
      </p:graphicFrame>
      <p:grpSp>
        <p:nvGrpSpPr>
          <p:cNvPr id="2" name="Group 7"/>
          <p:cNvGrpSpPr>
            <a:grpSpLocks/>
          </p:cNvGrpSpPr>
          <p:nvPr/>
        </p:nvGrpSpPr>
        <p:grpSpPr bwMode="auto">
          <a:xfrm>
            <a:off x="950913" y="3429000"/>
            <a:ext cx="5637212" cy="854075"/>
            <a:chOff x="599" y="2160"/>
            <a:chExt cx="3551" cy="538"/>
          </a:xfrm>
        </p:grpSpPr>
        <p:sp>
          <p:nvSpPr>
            <p:cNvPr id="15374" name="Text Box 8"/>
            <p:cNvSpPr txBox="1">
              <a:spLocks noChangeArrowheads="1"/>
            </p:cNvSpPr>
            <p:nvPr/>
          </p:nvSpPr>
          <p:spPr bwMode="auto">
            <a:xfrm>
              <a:off x="599" y="2296"/>
              <a:ext cx="603" cy="288"/>
            </a:xfrm>
            <a:prstGeom prst="rect">
              <a:avLst/>
            </a:prstGeom>
            <a:noFill/>
            <a:ln w="9525">
              <a:noFill/>
              <a:miter lim="800000"/>
              <a:headEnd/>
              <a:tailEnd/>
            </a:ln>
          </p:spPr>
          <p:txBody>
            <a:bodyPr>
              <a:spAutoFit/>
            </a:bodyPr>
            <a:lstStyle/>
            <a:p>
              <a:r>
                <a:rPr lang="zh-CN" altLang="en-US" sz="2400" b="1">
                  <a:latin typeface="Times New Roman" pitchFamily="18" charset="0"/>
                </a:rPr>
                <a:t>其中</a:t>
              </a:r>
            </a:p>
          </p:txBody>
        </p:sp>
        <p:graphicFrame>
          <p:nvGraphicFramePr>
            <p:cNvPr id="15368" name="Object 9"/>
            <p:cNvGraphicFramePr>
              <a:graphicFrameLocks noChangeAspect="1"/>
            </p:cNvGraphicFramePr>
            <p:nvPr/>
          </p:nvGraphicFramePr>
          <p:xfrm>
            <a:off x="1202" y="2160"/>
            <a:ext cx="590" cy="538"/>
          </p:xfrm>
          <a:graphic>
            <a:graphicData uri="http://schemas.openxmlformats.org/presentationml/2006/ole">
              <p:oleObj spid="_x0000_s15368" name="公式" r:id="rId6" imgW="431640" imgH="393480" progId="Equation.3">
                <p:embed/>
              </p:oleObj>
            </a:graphicData>
          </a:graphic>
        </p:graphicFrame>
        <p:sp>
          <p:nvSpPr>
            <p:cNvPr id="15375" name="Text Box 10"/>
            <p:cNvSpPr txBox="1">
              <a:spLocks noChangeArrowheads="1"/>
            </p:cNvSpPr>
            <p:nvPr/>
          </p:nvSpPr>
          <p:spPr bwMode="auto">
            <a:xfrm>
              <a:off x="1927" y="2296"/>
              <a:ext cx="2223" cy="288"/>
            </a:xfrm>
            <a:prstGeom prst="rect">
              <a:avLst/>
            </a:prstGeom>
            <a:noFill/>
            <a:ln w="9525">
              <a:noFill/>
              <a:miter lim="800000"/>
              <a:headEnd/>
              <a:tailEnd/>
            </a:ln>
          </p:spPr>
          <p:txBody>
            <a:bodyPr>
              <a:spAutoFit/>
            </a:bodyPr>
            <a:lstStyle/>
            <a:p>
              <a:r>
                <a:rPr lang="zh-CN" altLang="en-US" sz="2400" b="1">
                  <a:latin typeface="Times New Roman" pitchFamily="18" charset="0"/>
                </a:rPr>
                <a:t>为</a:t>
              </a:r>
              <a:r>
                <a:rPr lang="zh-CN" altLang="en-US" sz="2400" b="1">
                  <a:solidFill>
                    <a:srgbClr val="FF6600"/>
                  </a:solidFill>
                  <a:latin typeface="Times New Roman" pitchFamily="18" charset="0"/>
                </a:rPr>
                <a:t>气体分子数密度</a:t>
              </a:r>
            </a:p>
          </p:txBody>
        </p:sp>
      </p:grpSp>
      <p:sp>
        <p:nvSpPr>
          <p:cNvPr id="146443" name="AutoShape 11"/>
          <p:cNvSpPr>
            <a:spLocks noChangeArrowheads="1"/>
          </p:cNvSpPr>
          <p:nvPr/>
        </p:nvSpPr>
        <p:spPr bwMode="auto">
          <a:xfrm rot="16200000" flipH="1">
            <a:off x="5102225" y="3114675"/>
            <a:ext cx="2449513" cy="16367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17694720 60000 65536"/>
              <a:gd name="T13" fmla="*/ 11796480 60000 65536"/>
              <a:gd name="T14" fmla="*/ 11796480 60000 65536"/>
              <a:gd name="T15" fmla="*/ 5898240 60000 65536"/>
              <a:gd name="T16" fmla="*/ 0 60000 65536"/>
              <a:gd name="T17" fmla="*/ 0 60000 65536"/>
              <a:gd name="T18" fmla="*/ 0 w 21600"/>
              <a:gd name="T19" fmla="*/ 20348 h 21600"/>
              <a:gd name="T20" fmla="*/ 20747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146" y="0"/>
                </a:moveTo>
                <a:lnTo>
                  <a:pt x="18691" y="5914"/>
                </a:lnTo>
                <a:lnTo>
                  <a:pt x="19544" y="5914"/>
                </a:lnTo>
                <a:lnTo>
                  <a:pt x="19544" y="20348"/>
                </a:lnTo>
                <a:lnTo>
                  <a:pt x="0" y="20348"/>
                </a:lnTo>
                <a:lnTo>
                  <a:pt x="0" y="21600"/>
                </a:lnTo>
                <a:lnTo>
                  <a:pt x="20747" y="21600"/>
                </a:lnTo>
                <a:lnTo>
                  <a:pt x="20747" y="5914"/>
                </a:lnTo>
                <a:lnTo>
                  <a:pt x="21600" y="5914"/>
                </a:lnTo>
                <a:close/>
              </a:path>
            </a:pathLst>
          </a:cu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46444" name="Object 12"/>
          <p:cNvGraphicFramePr>
            <a:graphicFrameLocks noChangeAspect="1"/>
          </p:cNvGraphicFramePr>
          <p:nvPr/>
        </p:nvGraphicFramePr>
        <p:xfrm>
          <a:off x="7212013" y="3429000"/>
          <a:ext cx="1431925" cy="836613"/>
        </p:xfrm>
        <a:graphic>
          <a:graphicData uri="http://schemas.openxmlformats.org/presentationml/2006/ole">
            <p:oleObj spid="_x0000_s15365" name="Equation" r:id="rId7" imgW="672840" imgH="393480" progId="">
              <p:embed/>
            </p:oleObj>
          </a:graphicData>
        </a:graphic>
      </p:graphicFrame>
      <p:graphicFrame>
        <p:nvGraphicFramePr>
          <p:cNvPr id="146445" name="Object 13"/>
          <p:cNvGraphicFramePr>
            <a:graphicFrameLocks noChangeAspect="1"/>
          </p:cNvGraphicFramePr>
          <p:nvPr/>
        </p:nvGraphicFramePr>
        <p:xfrm>
          <a:off x="3708400" y="4584700"/>
          <a:ext cx="1387475" cy="915988"/>
        </p:xfrm>
        <a:graphic>
          <a:graphicData uri="http://schemas.openxmlformats.org/presentationml/2006/ole">
            <p:oleObj spid="_x0000_s15366" name="Equation" r:id="rId8" imgW="596880" imgH="393480" progId="">
              <p:embed/>
            </p:oleObj>
          </a:graphicData>
        </a:graphic>
      </p:graphicFrame>
      <p:graphicFrame>
        <p:nvGraphicFramePr>
          <p:cNvPr id="15367" name="Object 14"/>
          <p:cNvGraphicFramePr>
            <a:graphicFrameLocks noChangeAspect="1"/>
          </p:cNvGraphicFramePr>
          <p:nvPr/>
        </p:nvGraphicFramePr>
        <p:xfrm>
          <a:off x="4514850" y="3321050"/>
          <a:ext cx="114300" cy="215900"/>
        </p:xfrm>
        <a:graphic>
          <a:graphicData uri="http://schemas.openxmlformats.org/presentationml/2006/ole">
            <p:oleObj spid="_x0000_s15367" name="公式" r:id="rId9" imgW="114120" imgH="215640" progId="Equation.3">
              <p:embed/>
            </p:oleObj>
          </a:graphicData>
        </a:graphic>
      </p:graphicFrame>
      <p:sp>
        <p:nvSpPr>
          <p:cNvPr id="146447" name="Text Box 15"/>
          <p:cNvSpPr txBox="1">
            <a:spLocks noChangeArrowheads="1"/>
          </p:cNvSpPr>
          <p:nvPr/>
        </p:nvSpPr>
        <p:spPr bwMode="auto">
          <a:xfrm>
            <a:off x="808038" y="4797425"/>
            <a:ext cx="2927350"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理想气体压强公式：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6434"/>
                                        </p:tgtEl>
                                        <p:attrNameLst>
                                          <p:attrName>style.visibility</p:attrName>
                                        </p:attrNameLst>
                                      </p:cBhvr>
                                      <p:to>
                                        <p:strVal val="visible"/>
                                      </p:to>
                                    </p:set>
                                    <p:animEffect transition="in" filter="wipe(left)">
                                      <p:cBhvr>
                                        <p:cTn id="7" dur="500"/>
                                        <p:tgtEl>
                                          <p:spTgt spid="1464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6435"/>
                                        </p:tgtEl>
                                        <p:attrNameLst>
                                          <p:attrName>style.visibility</p:attrName>
                                        </p:attrNameLst>
                                      </p:cBhvr>
                                      <p:to>
                                        <p:strVal val="visible"/>
                                      </p:to>
                                    </p:set>
                                    <p:animEffect transition="in" filter="wipe(left)">
                                      <p:cBhvr>
                                        <p:cTn id="12" dur="500"/>
                                        <p:tgtEl>
                                          <p:spTgt spid="1464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6436"/>
                                        </p:tgtEl>
                                        <p:attrNameLst>
                                          <p:attrName>style.visibility</p:attrName>
                                        </p:attrNameLst>
                                      </p:cBhvr>
                                      <p:to>
                                        <p:strVal val="visible"/>
                                      </p:to>
                                    </p:set>
                                    <p:animEffect transition="in" filter="blinds(horizontal)">
                                      <p:cBhvr>
                                        <p:cTn id="17" dur="500"/>
                                        <p:tgtEl>
                                          <p:spTgt spid="146436"/>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46437"/>
                                        </p:tgtEl>
                                        <p:attrNameLst>
                                          <p:attrName>style.visibility</p:attrName>
                                        </p:attrNameLst>
                                      </p:cBhvr>
                                      <p:to>
                                        <p:strVal val="visible"/>
                                      </p:to>
                                    </p:set>
                                    <p:animEffect transition="in" filter="wipe(left)">
                                      <p:cBhvr>
                                        <p:cTn id="21" dur="500"/>
                                        <p:tgtEl>
                                          <p:spTgt spid="146437"/>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46438"/>
                                        </p:tgtEl>
                                        <p:attrNameLst>
                                          <p:attrName>style.visibility</p:attrName>
                                        </p:attrNameLst>
                                      </p:cBhvr>
                                      <p:to>
                                        <p:strVal val="visible"/>
                                      </p:to>
                                    </p:set>
                                    <p:animEffect transition="in" filter="wipe(left)">
                                      <p:cBhvr>
                                        <p:cTn id="25" dur="500"/>
                                        <p:tgtEl>
                                          <p:spTgt spid="146438"/>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46443"/>
                                        </p:tgtEl>
                                        <p:attrNameLst>
                                          <p:attrName>style.visibility</p:attrName>
                                        </p:attrNameLst>
                                      </p:cBhvr>
                                      <p:to>
                                        <p:strVal val="visible"/>
                                      </p:to>
                                    </p:set>
                                    <p:animEffect transition="in" filter="wipe(up)">
                                      <p:cBhvr>
                                        <p:cTn id="34" dur="500"/>
                                        <p:tgtEl>
                                          <p:spTgt spid="146443"/>
                                        </p:tgtEl>
                                      </p:cBhvr>
                                    </p:animEffect>
                                  </p:childTnLst>
                                </p:cTn>
                              </p:par>
                              <p:par>
                                <p:cTn id="35" presetID="22" presetClass="entr" presetSubtype="8" fill="hold" nodeType="withEffect">
                                  <p:stCondLst>
                                    <p:cond delay="0"/>
                                  </p:stCondLst>
                                  <p:childTnLst>
                                    <p:set>
                                      <p:cBhvr>
                                        <p:cTn id="36" dur="1" fill="hold">
                                          <p:stCondLst>
                                            <p:cond delay="0"/>
                                          </p:stCondLst>
                                        </p:cTn>
                                        <p:tgtEl>
                                          <p:spTgt spid="146444"/>
                                        </p:tgtEl>
                                        <p:attrNameLst>
                                          <p:attrName>style.visibility</p:attrName>
                                        </p:attrNameLst>
                                      </p:cBhvr>
                                      <p:to>
                                        <p:strVal val="visible"/>
                                      </p:to>
                                    </p:set>
                                    <p:animEffect transition="in" filter="wipe(left)">
                                      <p:cBhvr>
                                        <p:cTn id="37" dur="500"/>
                                        <p:tgtEl>
                                          <p:spTgt spid="1464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6447"/>
                                        </p:tgtEl>
                                        <p:attrNameLst>
                                          <p:attrName>style.visibility</p:attrName>
                                        </p:attrNameLst>
                                      </p:cBhvr>
                                      <p:to>
                                        <p:strVal val="visible"/>
                                      </p:to>
                                    </p:set>
                                    <p:animEffect transition="in" filter="wipe(left)">
                                      <p:cBhvr>
                                        <p:cTn id="42" dur="500"/>
                                        <p:tgtEl>
                                          <p:spTgt spid="146447"/>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46445"/>
                                        </p:tgtEl>
                                        <p:attrNameLst>
                                          <p:attrName>style.visibility</p:attrName>
                                        </p:attrNameLst>
                                      </p:cBhvr>
                                      <p:to>
                                        <p:strVal val="visible"/>
                                      </p:to>
                                    </p:set>
                                    <p:animEffect transition="in" filter="wipe(left)">
                                      <p:cBhvr>
                                        <p:cTn id="46" dur="500"/>
                                        <p:tgtEl>
                                          <p:spTgt spid="146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animBg="1"/>
      <p:bldP spid="146437" grpId="0" animBg="1"/>
      <p:bldP spid="146443" grpId="0" animBg="1"/>
      <p:bldP spid="1464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90" name="Object 6"/>
          <p:cNvGraphicFramePr>
            <a:graphicFrameLocks noChangeAspect="1"/>
          </p:cNvGraphicFramePr>
          <p:nvPr/>
        </p:nvGraphicFramePr>
        <p:xfrm>
          <a:off x="1928813" y="1000125"/>
          <a:ext cx="1684337" cy="1000125"/>
        </p:xfrm>
        <a:graphic>
          <a:graphicData uri="http://schemas.openxmlformats.org/presentationml/2006/ole">
            <p:oleObj spid="_x0000_s16386" name="Equation" r:id="rId4" imgW="596880" imgH="393480" progId="">
              <p:embed/>
            </p:oleObj>
          </a:graphicData>
        </a:graphic>
      </p:graphicFrame>
      <p:graphicFrame>
        <p:nvGraphicFramePr>
          <p:cNvPr id="41992" name="Object 8"/>
          <p:cNvGraphicFramePr>
            <a:graphicFrameLocks noChangeAspect="1"/>
          </p:cNvGraphicFramePr>
          <p:nvPr/>
        </p:nvGraphicFramePr>
        <p:xfrm>
          <a:off x="4551363" y="1214438"/>
          <a:ext cx="469900" cy="503237"/>
        </p:xfrm>
        <a:graphic>
          <a:graphicData uri="http://schemas.openxmlformats.org/presentationml/2006/ole">
            <p:oleObj spid="_x0000_s16387" name="Equation" r:id="rId5" imgW="215640" imgH="228600" progId="">
              <p:embed/>
            </p:oleObj>
          </a:graphicData>
        </a:graphic>
      </p:graphicFrame>
      <p:sp>
        <p:nvSpPr>
          <p:cNvPr id="41993" name="Rectangle 9"/>
          <p:cNvSpPr>
            <a:spLocks noChangeArrowheads="1"/>
          </p:cNvSpPr>
          <p:nvPr/>
        </p:nvSpPr>
        <p:spPr bwMode="auto">
          <a:xfrm>
            <a:off x="5078413" y="1179513"/>
            <a:ext cx="3708400" cy="490537"/>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mn-ea"/>
                <a:ea typeface="+mn-ea"/>
              </a:rPr>
              <a:t>分子平均平动动能</a:t>
            </a:r>
          </a:p>
        </p:txBody>
      </p:sp>
      <p:sp>
        <p:nvSpPr>
          <p:cNvPr id="41994" name="Text Box 10"/>
          <p:cNvSpPr txBox="1">
            <a:spLocks noChangeArrowheads="1"/>
          </p:cNvSpPr>
          <p:nvPr/>
        </p:nvSpPr>
        <p:spPr bwMode="auto">
          <a:xfrm>
            <a:off x="431800" y="2132013"/>
            <a:ext cx="8064500" cy="2751137"/>
          </a:xfrm>
          <a:prstGeom prst="rect">
            <a:avLst/>
          </a:prstGeom>
          <a:noFill/>
          <a:ln w="9525">
            <a:noFill/>
            <a:miter lim="800000"/>
            <a:headEnd/>
            <a:tailEnd/>
          </a:ln>
        </p:spPr>
        <p:txBody>
          <a:bodyPr>
            <a:spAutoFit/>
          </a:bodyPr>
          <a:lstStyle/>
          <a:p>
            <a:pPr>
              <a:lnSpc>
                <a:spcPct val="120000"/>
              </a:lnSpc>
              <a:spcBef>
                <a:spcPct val="50000"/>
              </a:spcBef>
              <a:defRPr/>
            </a:pPr>
            <a:r>
              <a:rPr kumimoji="1" lang="en-US" altLang="zh-CN" sz="2400" b="1" dirty="0">
                <a:latin typeface="+mn-ea"/>
                <a:ea typeface="+mn-ea"/>
                <a:cs typeface="Times New Roman" pitchFamily="18" charset="0"/>
              </a:rPr>
              <a:t>     </a:t>
            </a:r>
            <a:r>
              <a:rPr kumimoji="1" lang="zh-CN" altLang="en-US" sz="2400" b="1" dirty="0">
                <a:latin typeface="+mn-ea"/>
                <a:ea typeface="+mn-ea"/>
                <a:cs typeface="Times New Roman" pitchFamily="18" charset="0"/>
              </a:rPr>
              <a:t>压强公式体现了分子动理论的研究方法，即认为</a:t>
            </a:r>
            <a:r>
              <a:rPr kumimoji="1" lang="zh-CN" altLang="en-US" sz="2400" b="1" dirty="0">
                <a:solidFill>
                  <a:srgbClr val="FF6600"/>
                </a:solidFill>
                <a:latin typeface="+mn-ea"/>
                <a:ea typeface="+mn-ea"/>
                <a:cs typeface="Times New Roman" pitchFamily="18" charset="0"/>
              </a:rPr>
              <a:t>单个气体分子服从力学规律</a:t>
            </a:r>
            <a:r>
              <a:rPr kumimoji="1" lang="zh-CN" altLang="en-US" sz="2400" b="1" dirty="0">
                <a:latin typeface="+mn-ea"/>
                <a:ea typeface="+mn-ea"/>
                <a:cs typeface="Times New Roman" pitchFamily="18" charset="0"/>
              </a:rPr>
              <a:t>（如推导中用了质点动量定理等），</a:t>
            </a:r>
            <a:r>
              <a:rPr kumimoji="1" lang="zh-CN" altLang="en-US" sz="2400" b="1" dirty="0">
                <a:solidFill>
                  <a:srgbClr val="FF6600"/>
                </a:solidFill>
                <a:latin typeface="+mn-ea"/>
                <a:ea typeface="+mn-ea"/>
                <a:cs typeface="Times New Roman" pitchFamily="18" charset="0"/>
              </a:rPr>
              <a:t>但考虑大量分子撞击器壁面的集体效果时，应用了气体分子速度与方向无关等统计概念和分组取和、求统计平均等方法</a:t>
            </a:r>
            <a:r>
              <a:rPr kumimoji="1" lang="zh-CN" altLang="en-US" sz="2400" b="1" dirty="0">
                <a:latin typeface="+mn-ea"/>
                <a:ea typeface="+mn-ea"/>
                <a:cs typeface="Times New Roman" pitchFamily="18" charset="0"/>
              </a:rPr>
              <a:t>。以上统计假设导出的压强公式显然是统计规律而不是单纯的力学规律。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990"/>
                                        </p:tgtEl>
                                        <p:attrNameLst>
                                          <p:attrName>style.visibility</p:attrName>
                                        </p:attrNameLst>
                                      </p:cBhvr>
                                      <p:to>
                                        <p:strVal val="visible"/>
                                      </p:to>
                                    </p:set>
                                    <p:animEffect transition="in" filter="wipe(left)">
                                      <p:cBhvr>
                                        <p:cTn id="7" dur="500"/>
                                        <p:tgtEl>
                                          <p:spTgt spid="4199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992"/>
                                        </p:tgtEl>
                                        <p:attrNameLst>
                                          <p:attrName>style.visibility</p:attrName>
                                        </p:attrNameLst>
                                      </p:cBhvr>
                                      <p:to>
                                        <p:strVal val="visible"/>
                                      </p:to>
                                    </p:set>
                                    <p:animEffect transition="in" filter="wipe(left)">
                                      <p:cBhvr>
                                        <p:cTn id="11" dur="500"/>
                                        <p:tgtEl>
                                          <p:spTgt spid="4199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1993"/>
                                        </p:tgtEl>
                                        <p:attrNameLst>
                                          <p:attrName>style.visibility</p:attrName>
                                        </p:attrNameLst>
                                      </p:cBhvr>
                                      <p:to>
                                        <p:strVal val="visible"/>
                                      </p:to>
                                    </p:set>
                                    <p:animEffect transition="in" filter="wipe(left)">
                                      <p:cBhvr>
                                        <p:cTn id="16" dur="500"/>
                                        <p:tgtEl>
                                          <p:spTgt spid="4199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1994"/>
                                        </p:tgtEl>
                                        <p:attrNameLst>
                                          <p:attrName>style.visibility</p:attrName>
                                        </p:attrNameLst>
                                      </p:cBhvr>
                                      <p:to>
                                        <p:strVal val="visible"/>
                                      </p:to>
                                    </p:set>
                                    <p:animEffect transition="in" filter="dissolve">
                                      <p:cBhvr>
                                        <p:cTn id="21" dur="500"/>
                                        <p:tgtEl>
                                          <p:spTgt spid="41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3" grpId="0"/>
      <p:bldP spid="4199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571500" y="1395413"/>
            <a:ext cx="1727200" cy="461962"/>
          </a:xfrm>
          <a:prstGeom prst="rect">
            <a:avLst/>
          </a:prstGeom>
          <a:noFill/>
          <a:ln w="9525">
            <a:noFill/>
            <a:miter lim="800000"/>
            <a:headEnd/>
            <a:tailEnd/>
          </a:ln>
        </p:spPr>
        <p:txBody>
          <a:bodyPr>
            <a:spAutoFit/>
          </a:bodyPr>
          <a:lstStyle/>
          <a:p>
            <a:r>
              <a:rPr lang="zh-CN" altLang="en-US" sz="2400" b="1">
                <a:solidFill>
                  <a:srgbClr val="0000FF"/>
                </a:solidFill>
                <a:latin typeface="Times New Roman" pitchFamily="18" charset="0"/>
              </a:rPr>
              <a:t>说 明</a:t>
            </a:r>
          </a:p>
        </p:txBody>
      </p:sp>
      <p:sp>
        <p:nvSpPr>
          <p:cNvPr id="147459" name="AutoShape 3"/>
          <p:cNvSpPr>
            <a:spLocks noChangeArrowheads="1"/>
          </p:cNvSpPr>
          <p:nvPr/>
        </p:nvSpPr>
        <p:spPr bwMode="auto">
          <a:xfrm>
            <a:off x="250825" y="1285875"/>
            <a:ext cx="320675" cy="571500"/>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grpSp>
        <p:nvGrpSpPr>
          <p:cNvPr id="2" name="Group 9"/>
          <p:cNvGrpSpPr>
            <a:grpSpLocks/>
          </p:cNvGrpSpPr>
          <p:nvPr/>
        </p:nvGrpSpPr>
        <p:grpSpPr bwMode="auto">
          <a:xfrm>
            <a:off x="214313" y="1935163"/>
            <a:ext cx="8596312" cy="933450"/>
            <a:chOff x="130" y="296"/>
            <a:chExt cx="5415" cy="588"/>
          </a:xfrm>
        </p:grpSpPr>
        <p:sp>
          <p:nvSpPr>
            <p:cNvPr id="17422" name="Text Box 10"/>
            <p:cNvSpPr txBox="1">
              <a:spLocks noChangeArrowheads="1"/>
            </p:cNvSpPr>
            <p:nvPr/>
          </p:nvSpPr>
          <p:spPr bwMode="auto">
            <a:xfrm>
              <a:off x="130" y="296"/>
              <a:ext cx="5415" cy="588"/>
            </a:xfrm>
            <a:prstGeom prst="rect">
              <a:avLst/>
            </a:prstGeom>
            <a:noFill/>
            <a:ln w="9525">
              <a:noFill/>
              <a:miter lim="800000"/>
              <a:headEnd/>
              <a:tailEnd/>
            </a:ln>
          </p:spPr>
          <p:txBody>
            <a:bodyPr>
              <a:spAutoFit/>
            </a:bodyPr>
            <a:lstStyle/>
            <a:p>
              <a:pPr>
                <a:lnSpc>
                  <a:spcPct val="115000"/>
                </a:lnSpc>
              </a:pPr>
              <a:r>
                <a:rPr lang="en-US" altLang="zh-CN" sz="2400" b="1">
                  <a:latin typeface="Times New Roman" pitchFamily="18" charset="0"/>
                  <a:ea typeface="楷体_GB2312" pitchFamily="49" charset="-122"/>
                </a:rPr>
                <a:t>(1) </a:t>
              </a:r>
              <a:r>
                <a:rPr lang="zh-CN" altLang="en-US" sz="2400" b="1">
                  <a:latin typeface="楷体_GB2312" pitchFamily="49" charset="-122"/>
                  <a:ea typeface="楷体_GB2312" pitchFamily="49" charset="-122"/>
                </a:rPr>
                <a:t>理想气体的压强 </a:t>
              </a:r>
              <a:r>
                <a:rPr lang="en-US" altLang="zh-CN" sz="2400" b="1" i="1">
                  <a:solidFill>
                    <a:srgbClr val="FF6600"/>
                  </a:solidFill>
                  <a:latin typeface="Times New Roman" pitchFamily="18" charset="0"/>
                  <a:ea typeface="楷体_GB2312" pitchFamily="49" charset="-122"/>
                </a:rPr>
                <a:t>p </a:t>
              </a:r>
              <a:r>
                <a:rPr lang="zh-CN" altLang="en-US" sz="2400" b="1">
                  <a:latin typeface="楷体_GB2312" pitchFamily="49" charset="-122"/>
                  <a:ea typeface="楷体_GB2312" pitchFamily="49" charset="-122"/>
                </a:rPr>
                <a:t>取决于单位体积内的分子数 </a:t>
              </a:r>
              <a:r>
                <a:rPr lang="en-US" altLang="zh-CN" sz="2400" b="1" i="1">
                  <a:solidFill>
                    <a:srgbClr val="FF6600"/>
                  </a:solidFill>
                  <a:latin typeface="Times New Roman" pitchFamily="18" charset="0"/>
                  <a:ea typeface="楷体_GB2312" pitchFamily="49" charset="-122"/>
                </a:rPr>
                <a:t>n </a:t>
              </a:r>
              <a:r>
                <a:rPr lang="zh-CN" altLang="en-US" sz="2400" b="1">
                  <a:latin typeface="楷体_GB2312" pitchFamily="49" charset="-122"/>
                  <a:ea typeface="楷体_GB2312" pitchFamily="49" charset="-122"/>
                </a:rPr>
                <a:t>和分子的平均平动动能   。  与 </a:t>
              </a:r>
              <a:r>
                <a:rPr lang="en-US" altLang="zh-CN" sz="2400" b="1" i="1">
                  <a:solidFill>
                    <a:srgbClr val="FF6600"/>
                  </a:solidFill>
                  <a:latin typeface="Times New Roman" pitchFamily="18" charset="0"/>
                  <a:ea typeface="楷体_GB2312" pitchFamily="49" charset="-122"/>
                </a:rPr>
                <a:t>n</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越大， </a:t>
              </a:r>
              <a:r>
                <a:rPr lang="en-US" altLang="zh-CN" sz="2400" b="1" i="1">
                  <a:solidFill>
                    <a:srgbClr val="FF6600"/>
                  </a:solidFill>
                  <a:latin typeface="Times New Roman" pitchFamily="18" charset="0"/>
                  <a:ea typeface="楷体_GB2312" pitchFamily="49" charset="-122"/>
                </a:rPr>
                <a:t>p </a:t>
              </a:r>
              <a:r>
                <a:rPr lang="en-US" altLang="zh-CN" sz="2400" b="1" i="1">
                  <a:latin typeface="Times New Roman" pitchFamily="18" charset="0"/>
                  <a:ea typeface="楷体_GB2312" pitchFamily="49" charset="-122"/>
                </a:rPr>
                <a:t> </a:t>
              </a:r>
              <a:r>
                <a:rPr lang="zh-CN" altLang="en-US" sz="2400" b="1">
                  <a:latin typeface="楷体_GB2312" pitchFamily="49" charset="-122"/>
                  <a:ea typeface="楷体_GB2312" pitchFamily="49" charset="-122"/>
                </a:rPr>
                <a:t>就越大。</a:t>
              </a:r>
            </a:p>
          </p:txBody>
        </p:sp>
        <p:graphicFrame>
          <p:nvGraphicFramePr>
            <p:cNvPr id="17413" name="Object 11"/>
            <p:cNvGraphicFramePr>
              <a:graphicFrameLocks/>
            </p:cNvGraphicFramePr>
            <p:nvPr/>
          </p:nvGraphicFramePr>
          <p:xfrm>
            <a:off x="1427" y="621"/>
            <a:ext cx="174" cy="260"/>
          </p:xfrm>
          <a:graphic>
            <a:graphicData uri="http://schemas.openxmlformats.org/presentationml/2006/ole">
              <p:oleObj spid="_x0000_s17413" name="Equation" r:id="rId3" imgW="152280" imgH="228600" progId="">
                <p:embed/>
              </p:oleObj>
            </a:graphicData>
          </a:graphic>
        </p:graphicFrame>
        <p:graphicFrame>
          <p:nvGraphicFramePr>
            <p:cNvPr id="17414" name="Object 12"/>
            <p:cNvGraphicFramePr>
              <a:graphicFrameLocks/>
            </p:cNvGraphicFramePr>
            <p:nvPr/>
          </p:nvGraphicFramePr>
          <p:xfrm>
            <a:off x="1835" y="621"/>
            <a:ext cx="174" cy="260"/>
          </p:xfrm>
          <a:graphic>
            <a:graphicData uri="http://schemas.openxmlformats.org/presentationml/2006/ole">
              <p:oleObj spid="_x0000_s17414" name="Equation" r:id="rId4" imgW="152280" imgH="228600" progId="">
                <p:embed/>
              </p:oleObj>
            </a:graphicData>
          </a:graphic>
        </p:graphicFrame>
      </p:grpSp>
      <p:grpSp>
        <p:nvGrpSpPr>
          <p:cNvPr id="3" name="Group 6"/>
          <p:cNvGrpSpPr>
            <a:grpSpLocks/>
          </p:cNvGrpSpPr>
          <p:nvPr/>
        </p:nvGrpSpPr>
        <p:grpSpPr bwMode="auto">
          <a:xfrm>
            <a:off x="214313" y="3078163"/>
            <a:ext cx="8488362" cy="1422400"/>
            <a:chOff x="198" y="2160"/>
            <a:chExt cx="5347" cy="896"/>
          </a:xfrm>
        </p:grpSpPr>
        <p:sp>
          <p:nvSpPr>
            <p:cNvPr id="17421" name="Text Box 7"/>
            <p:cNvSpPr txBox="1">
              <a:spLocks noChangeArrowheads="1"/>
            </p:cNvSpPr>
            <p:nvPr/>
          </p:nvSpPr>
          <p:spPr bwMode="auto">
            <a:xfrm>
              <a:off x="198" y="2160"/>
              <a:ext cx="5347" cy="896"/>
            </a:xfrm>
            <a:prstGeom prst="rect">
              <a:avLst/>
            </a:prstGeom>
            <a:noFill/>
            <a:ln w="9525">
              <a:noFill/>
              <a:miter lim="800000"/>
              <a:headEnd/>
              <a:tailEnd/>
            </a:ln>
          </p:spPr>
          <p:txBody>
            <a:bodyPr>
              <a:spAutoFit/>
            </a:bodyPr>
            <a:lstStyle/>
            <a:p>
              <a:pPr>
                <a:lnSpc>
                  <a:spcPct val="120000"/>
                </a:lnSpc>
              </a:pPr>
              <a:r>
                <a:rPr lang="en-US" altLang="zh-CN" sz="2400" b="1">
                  <a:latin typeface="Times New Roman" pitchFamily="18" charset="0"/>
                  <a:ea typeface="楷体_GB2312" pitchFamily="49" charset="-122"/>
                  <a:cs typeface="Times New Roman" pitchFamily="18" charset="0"/>
                </a:rPr>
                <a:t>(2)      </a:t>
              </a:r>
              <a:r>
                <a:rPr lang="zh-CN" altLang="en-US" sz="2400" b="1">
                  <a:latin typeface="楷体_GB2312" pitchFamily="49" charset="-122"/>
                  <a:ea typeface="楷体_GB2312" pitchFamily="49" charset="-122"/>
                  <a:cs typeface="Times New Roman" pitchFamily="18" charset="0"/>
                </a:rPr>
                <a:t>是单个分子具有的平均平动动能，它是对大量分子的统计平均值， </a:t>
              </a:r>
              <a:r>
                <a:rPr lang="en-US" altLang="zh-CN" sz="2400" b="1" i="1">
                  <a:solidFill>
                    <a:srgbClr val="FF6600"/>
                  </a:solidFill>
                  <a:latin typeface="Times New Roman" pitchFamily="18" charset="0"/>
                  <a:ea typeface="楷体_GB2312" pitchFamily="49" charset="-122"/>
                  <a:cs typeface="Times New Roman" pitchFamily="18" charset="0"/>
                </a:rPr>
                <a:t>n </a:t>
              </a:r>
              <a:r>
                <a:rPr lang="zh-CN" altLang="en-US" sz="2400" b="1">
                  <a:latin typeface="楷体_GB2312" pitchFamily="49" charset="-122"/>
                  <a:ea typeface="楷体_GB2312" pitchFamily="49" charset="-122"/>
                  <a:cs typeface="Times New Roman" pitchFamily="18" charset="0"/>
                </a:rPr>
                <a:t>也是统计平均值，故 </a:t>
              </a:r>
              <a:r>
                <a:rPr lang="en-US" altLang="zh-CN" sz="2400" b="1" i="1">
                  <a:solidFill>
                    <a:srgbClr val="FF6600"/>
                  </a:solidFill>
                  <a:latin typeface="Times New Roman" pitchFamily="18" charset="0"/>
                  <a:ea typeface="楷体_GB2312" pitchFamily="49" charset="-122"/>
                  <a:cs typeface="Times New Roman" pitchFamily="18" charset="0"/>
                </a:rPr>
                <a:t>p</a:t>
              </a:r>
              <a:r>
                <a:rPr lang="en-US" altLang="zh-CN" sz="2400" b="1" i="1">
                  <a:latin typeface="Times New Roman" pitchFamily="18" charset="0"/>
                  <a:ea typeface="楷体_GB2312" pitchFamily="49" charset="-122"/>
                  <a:cs typeface="Times New Roman" pitchFamily="18" charset="0"/>
                </a:rPr>
                <a:t> </a:t>
              </a:r>
              <a:r>
                <a:rPr lang="zh-CN" altLang="en-US" sz="2400" b="1">
                  <a:latin typeface="楷体_GB2312" pitchFamily="49" charset="-122"/>
                  <a:ea typeface="楷体_GB2312" pitchFamily="49" charset="-122"/>
                  <a:cs typeface="Times New Roman" pitchFamily="18" charset="0"/>
                </a:rPr>
                <a:t>是一个统计平均量，对个别分子或少量分子来说， </a:t>
              </a:r>
              <a:r>
                <a:rPr lang="en-US" altLang="zh-CN" sz="2400" b="1" i="1">
                  <a:solidFill>
                    <a:srgbClr val="FF6600"/>
                  </a:solidFill>
                  <a:latin typeface="Times New Roman" pitchFamily="18" charset="0"/>
                  <a:ea typeface="楷体_GB2312" pitchFamily="49" charset="-122"/>
                  <a:cs typeface="Times New Roman" pitchFamily="18" charset="0"/>
                </a:rPr>
                <a:t>p </a:t>
              </a:r>
              <a:r>
                <a:rPr lang="zh-CN" altLang="en-US" sz="2400" b="1">
                  <a:latin typeface="楷体_GB2312" pitchFamily="49" charset="-122"/>
                  <a:ea typeface="楷体_GB2312" pitchFamily="49" charset="-122"/>
                  <a:cs typeface="Times New Roman" pitchFamily="18" charset="0"/>
                </a:rPr>
                <a:t>是没有意义的。</a:t>
              </a:r>
              <a:r>
                <a:rPr lang="zh-CN" altLang="en-US" sz="2400">
                  <a:latin typeface="楷体_GB2312" pitchFamily="49" charset="-122"/>
                  <a:ea typeface="楷体_GB2312" pitchFamily="49" charset="-122"/>
                  <a:cs typeface="Times New Roman" pitchFamily="18" charset="0"/>
                </a:rPr>
                <a:t> </a:t>
              </a:r>
            </a:p>
          </p:txBody>
        </p:sp>
        <p:graphicFrame>
          <p:nvGraphicFramePr>
            <p:cNvPr id="17412" name="Object 8"/>
            <p:cNvGraphicFramePr>
              <a:graphicFrameLocks/>
            </p:cNvGraphicFramePr>
            <p:nvPr/>
          </p:nvGraphicFramePr>
          <p:xfrm>
            <a:off x="558" y="2205"/>
            <a:ext cx="174" cy="261"/>
          </p:xfrm>
          <a:graphic>
            <a:graphicData uri="http://schemas.openxmlformats.org/presentationml/2006/ole">
              <p:oleObj spid="_x0000_s17412" name="Equation" r:id="rId5" imgW="152280" imgH="228600" progId="">
                <p:embed/>
              </p:oleObj>
            </a:graphicData>
          </a:graphic>
        </p:graphicFrame>
      </p:grpSp>
      <p:graphicFrame>
        <p:nvGraphicFramePr>
          <p:cNvPr id="41990" name="Object 6"/>
          <p:cNvGraphicFramePr>
            <a:graphicFrameLocks noChangeAspect="1"/>
          </p:cNvGraphicFramePr>
          <p:nvPr/>
        </p:nvGraphicFramePr>
        <p:xfrm>
          <a:off x="3500438" y="714375"/>
          <a:ext cx="1571625" cy="933450"/>
        </p:xfrm>
        <a:graphic>
          <a:graphicData uri="http://schemas.openxmlformats.org/presentationml/2006/ole">
            <p:oleObj spid="_x0000_s17410" name="Equation" r:id="rId6" imgW="596880" imgH="393480" progId="">
              <p:embed/>
            </p:oleObj>
          </a:graphicData>
        </a:graphic>
      </p:graphicFrame>
      <p:grpSp>
        <p:nvGrpSpPr>
          <p:cNvPr id="4" name="Group 13"/>
          <p:cNvGrpSpPr>
            <a:grpSpLocks/>
          </p:cNvGrpSpPr>
          <p:nvPr/>
        </p:nvGrpSpPr>
        <p:grpSpPr bwMode="auto">
          <a:xfrm>
            <a:off x="214313" y="4608513"/>
            <a:ext cx="8461375" cy="1050925"/>
            <a:chOff x="215" y="3316"/>
            <a:chExt cx="5330" cy="662"/>
          </a:xfrm>
        </p:grpSpPr>
        <p:sp>
          <p:nvSpPr>
            <p:cNvPr id="17420" name="Text Box 14"/>
            <p:cNvSpPr txBox="1">
              <a:spLocks noChangeArrowheads="1"/>
            </p:cNvSpPr>
            <p:nvPr/>
          </p:nvSpPr>
          <p:spPr bwMode="auto">
            <a:xfrm>
              <a:off x="215" y="3358"/>
              <a:ext cx="5330" cy="620"/>
            </a:xfrm>
            <a:prstGeom prst="rect">
              <a:avLst/>
            </a:prstGeom>
            <a:noFill/>
            <a:ln w="9525">
              <a:noFill/>
              <a:miter lim="800000"/>
              <a:headEnd/>
              <a:tailEnd/>
            </a:ln>
          </p:spPr>
          <p:txBody>
            <a:bodyPr>
              <a:spAutoFit/>
            </a:bodyPr>
            <a:lstStyle/>
            <a:p>
              <a:pPr>
                <a:lnSpc>
                  <a:spcPct val="130000"/>
                </a:lnSpc>
              </a:pPr>
              <a:r>
                <a:rPr lang="en-US" altLang="zh-CN" sz="2400" b="1">
                  <a:latin typeface="Times New Roman" pitchFamily="18" charset="0"/>
                  <a:ea typeface="楷体_GB2312" pitchFamily="49" charset="-122"/>
                  <a:cs typeface="Times New Roman" pitchFamily="18" charset="0"/>
                </a:rPr>
                <a:t>(3)</a:t>
              </a:r>
              <a:r>
                <a:rPr lang="en-US" altLang="zh-CN" sz="2400" b="1">
                  <a:latin typeface="楷体_GB2312" pitchFamily="49" charset="-122"/>
                  <a:ea typeface="楷体_GB2312" pitchFamily="49" charset="-122"/>
                  <a:cs typeface="Times New Roman" pitchFamily="18" charset="0"/>
                </a:rPr>
                <a:t>       </a:t>
              </a:r>
              <a:r>
                <a:rPr lang="zh-CN" altLang="en-US" sz="2400" b="1">
                  <a:latin typeface="楷体_GB2312" pitchFamily="49" charset="-122"/>
                  <a:ea typeface="楷体_GB2312" pitchFamily="49" charset="-122"/>
                  <a:cs typeface="Times New Roman" pitchFamily="18" charset="0"/>
                </a:rPr>
                <a:t>不能通过实验直接验证，但由它出发能够解释或推证许多试验定律。</a:t>
              </a:r>
              <a:endParaRPr kumimoji="1" lang="zh-CN" altLang="en-US" sz="2400" b="1">
                <a:latin typeface="楷体_GB2312" pitchFamily="49" charset="-122"/>
                <a:ea typeface="楷体_GB2312" pitchFamily="49" charset="-122"/>
                <a:cs typeface="Times New Roman" pitchFamily="18" charset="0"/>
              </a:endParaRPr>
            </a:p>
          </p:txBody>
        </p:sp>
        <p:graphicFrame>
          <p:nvGraphicFramePr>
            <p:cNvPr id="17411" name="Object 15"/>
            <p:cNvGraphicFramePr>
              <a:graphicFrameLocks noChangeAspect="1"/>
            </p:cNvGraphicFramePr>
            <p:nvPr/>
          </p:nvGraphicFramePr>
          <p:xfrm>
            <a:off x="530" y="3316"/>
            <a:ext cx="644" cy="425"/>
          </p:xfrm>
          <a:graphic>
            <a:graphicData uri="http://schemas.openxmlformats.org/presentationml/2006/ole">
              <p:oleObj spid="_x0000_s17411" name="Equation" r:id="rId7" imgW="596880" imgH="39348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7459"/>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147458"/>
                                        </p:tgtEl>
                                        <p:attrNameLst>
                                          <p:attrName>style.visibility</p:attrName>
                                        </p:attrNameLst>
                                      </p:cBhvr>
                                      <p:to>
                                        <p:strVal val="visible"/>
                                      </p:to>
                                    </p:set>
                                    <p:animEffect transition="in" filter="wipe(left)">
                                      <p:cBhvr>
                                        <p:cTn id="10" dur="500"/>
                                        <p:tgtEl>
                                          <p:spTgt spid="14745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autoUpdateAnimBg="0"/>
      <p:bldP spid="14745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Rectangle 4"/>
          <p:cNvSpPr>
            <a:spLocks noChangeArrowheads="1"/>
          </p:cNvSpPr>
          <p:nvPr/>
        </p:nvSpPr>
        <p:spPr bwMode="auto">
          <a:xfrm>
            <a:off x="107950" y="601663"/>
            <a:ext cx="490538" cy="512762"/>
          </a:xfrm>
          <a:prstGeom prst="rect">
            <a:avLst/>
          </a:prstGeom>
          <a:noFill/>
          <a:ln w="9525">
            <a:noFill/>
            <a:miter lim="800000"/>
            <a:headEnd/>
            <a:tailEnd/>
          </a:ln>
        </p:spPr>
        <p:txBody>
          <a:bodyPr wrap="none">
            <a:spAutoFit/>
          </a:bodyPr>
          <a:lstStyle/>
          <a:p>
            <a:pPr>
              <a:lnSpc>
                <a:spcPct val="115000"/>
              </a:lnSpc>
            </a:pPr>
            <a:r>
              <a:rPr kumimoji="1" lang="zh-CN" altLang="en-US" sz="2400" b="1">
                <a:solidFill>
                  <a:srgbClr val="FF0000"/>
                </a:solidFill>
                <a:latin typeface="Times New Roman" pitchFamily="18" charset="0"/>
              </a:rPr>
              <a:t>例</a:t>
            </a:r>
          </a:p>
        </p:txBody>
      </p:sp>
      <p:sp>
        <p:nvSpPr>
          <p:cNvPr id="249861" name="Text Box 5"/>
          <p:cNvSpPr txBox="1">
            <a:spLocks noChangeArrowheads="1"/>
          </p:cNvSpPr>
          <p:nvPr/>
        </p:nvSpPr>
        <p:spPr bwMode="auto">
          <a:xfrm>
            <a:off x="612775" y="595313"/>
            <a:ext cx="8207375" cy="534987"/>
          </a:xfrm>
          <a:prstGeom prst="rect">
            <a:avLst/>
          </a:prstGeom>
          <a:noFill/>
          <a:ln w="9525">
            <a:noFill/>
            <a:miter lim="800000"/>
            <a:headEnd/>
            <a:tailEnd/>
          </a:ln>
        </p:spPr>
        <p:txBody>
          <a:bodyPr>
            <a:spAutoFit/>
          </a:bodyPr>
          <a:lstStyle/>
          <a:p>
            <a:pPr algn="just">
              <a:lnSpc>
                <a:spcPct val="120000"/>
              </a:lnSpc>
            </a:pPr>
            <a:r>
              <a:rPr kumimoji="1" lang="zh-CN" altLang="en-US" sz="2400" b="1">
                <a:latin typeface="Times New Roman" pitchFamily="18" charset="0"/>
                <a:cs typeface="Times New Roman" pitchFamily="18" charset="0"/>
              </a:rPr>
              <a:t>容器中有氧气，其压强 </a:t>
            </a:r>
            <a:r>
              <a:rPr kumimoji="1" lang="en-US" altLang="zh-CN" sz="2400" b="1" i="1">
                <a:solidFill>
                  <a:srgbClr val="FF3300"/>
                </a:solidFill>
                <a:latin typeface="Times New Roman" pitchFamily="18" charset="0"/>
                <a:cs typeface="Times New Roman" pitchFamily="18" charset="0"/>
              </a:rPr>
              <a:t>p </a:t>
            </a:r>
            <a:r>
              <a:rPr kumimoji="1" lang="en-US" altLang="zh-CN" sz="2400" b="1">
                <a:solidFill>
                  <a:srgbClr val="FF6600"/>
                </a:solidFill>
                <a:latin typeface="Times New Roman" pitchFamily="18" charset="0"/>
                <a:cs typeface="Times New Roman" pitchFamily="18" charset="0"/>
              </a:rPr>
              <a:t>= 1.013×10</a:t>
            </a:r>
            <a:r>
              <a:rPr kumimoji="1" lang="en-US" altLang="zh-CN" sz="2400" b="1" baseline="30000">
                <a:solidFill>
                  <a:srgbClr val="FF6600"/>
                </a:solidFill>
                <a:latin typeface="Times New Roman" pitchFamily="18" charset="0"/>
                <a:cs typeface="Times New Roman" pitchFamily="18" charset="0"/>
              </a:rPr>
              <a:t>5 </a:t>
            </a:r>
            <a:r>
              <a:rPr kumimoji="1" lang="en-US" altLang="zh-CN" sz="2400" b="1">
                <a:solidFill>
                  <a:srgbClr val="FF6600"/>
                </a:solidFill>
                <a:latin typeface="Times New Roman" pitchFamily="18" charset="0"/>
                <a:cs typeface="Times New Roman" pitchFamily="18" charset="0"/>
              </a:rPr>
              <a:t>Pa </a:t>
            </a:r>
            <a:r>
              <a:rPr kumimoji="1" lang="zh-CN" altLang="en-US" sz="2400" b="1">
                <a:latin typeface="Times New Roman" pitchFamily="18" charset="0"/>
                <a:cs typeface="Times New Roman" pitchFamily="18" charset="0"/>
              </a:rPr>
              <a:t>，温度 </a:t>
            </a:r>
            <a:r>
              <a:rPr kumimoji="1" lang="en-US" altLang="zh-CN" sz="2400" b="1" i="1">
                <a:solidFill>
                  <a:srgbClr val="FF6600"/>
                </a:solidFill>
                <a:latin typeface="Times New Roman" pitchFamily="18" charset="0"/>
                <a:cs typeface="Times New Roman" pitchFamily="18" charset="0"/>
              </a:rPr>
              <a:t>t </a:t>
            </a:r>
            <a:r>
              <a:rPr kumimoji="1" lang="en-US" altLang="zh-CN" sz="2400" b="1">
                <a:solidFill>
                  <a:srgbClr val="FF6600"/>
                </a:solidFill>
                <a:latin typeface="Times New Roman" pitchFamily="18" charset="0"/>
                <a:cs typeface="Times New Roman" pitchFamily="18" charset="0"/>
              </a:rPr>
              <a:t>= 27℃ </a:t>
            </a:r>
            <a:r>
              <a:rPr kumimoji="1" lang="zh-CN" altLang="en-US" sz="2400" b="1">
                <a:latin typeface="Times New Roman" pitchFamily="18" charset="0"/>
                <a:cs typeface="Times New Roman" pitchFamily="18" charset="0"/>
              </a:rPr>
              <a:t>。</a:t>
            </a:r>
          </a:p>
        </p:txBody>
      </p:sp>
      <p:sp>
        <p:nvSpPr>
          <p:cNvPr id="249862" name="Text Box 6"/>
          <p:cNvSpPr txBox="1">
            <a:spLocks noChangeArrowheads="1"/>
          </p:cNvSpPr>
          <p:nvPr/>
        </p:nvSpPr>
        <p:spPr bwMode="auto">
          <a:xfrm>
            <a:off x="107950" y="1236663"/>
            <a:ext cx="720725" cy="530225"/>
          </a:xfrm>
          <a:prstGeom prst="rect">
            <a:avLst/>
          </a:prstGeom>
          <a:noFill/>
          <a:ln w="9525">
            <a:noFill/>
            <a:miter lim="800000"/>
            <a:headEnd/>
            <a:tailEnd/>
          </a:ln>
        </p:spPr>
        <p:txBody>
          <a:bodyPr>
            <a:spAutoFit/>
          </a:bodyPr>
          <a:lstStyle/>
          <a:p>
            <a:pPr algn="just">
              <a:lnSpc>
                <a:spcPct val="120000"/>
              </a:lnSpc>
            </a:pPr>
            <a:r>
              <a:rPr kumimoji="1" lang="zh-CN" altLang="en-US" sz="2400" b="1">
                <a:solidFill>
                  <a:srgbClr val="FF0000"/>
                </a:solidFill>
                <a:latin typeface="Times New Roman" pitchFamily="18" charset="0"/>
                <a:cs typeface="Times New Roman" pitchFamily="18" charset="0"/>
              </a:rPr>
              <a:t>求</a:t>
            </a:r>
          </a:p>
        </p:txBody>
      </p:sp>
      <p:sp>
        <p:nvSpPr>
          <p:cNvPr id="249863" name="Text Box 7"/>
          <p:cNvSpPr txBox="1">
            <a:spLocks noChangeArrowheads="1"/>
          </p:cNvSpPr>
          <p:nvPr/>
        </p:nvSpPr>
        <p:spPr bwMode="auto">
          <a:xfrm>
            <a:off x="539750" y="1236663"/>
            <a:ext cx="8207375" cy="968375"/>
          </a:xfrm>
          <a:prstGeom prst="rect">
            <a:avLst/>
          </a:prstGeom>
          <a:noFill/>
          <a:ln w="9525">
            <a:noFill/>
            <a:miter lim="800000"/>
            <a:headEnd/>
            <a:tailEnd/>
          </a:ln>
        </p:spPr>
        <p:txBody>
          <a:bodyPr>
            <a:spAutoFit/>
          </a:bodyPr>
          <a:lstStyle/>
          <a:p>
            <a:pPr marL="457200" indent="-457200" algn="just">
              <a:lnSpc>
                <a:spcPct val="120000"/>
              </a:lnSpc>
              <a:buFontTx/>
              <a:buAutoNum type="arabicParenBoth"/>
            </a:pPr>
            <a:r>
              <a:rPr kumimoji="1" lang="zh-CN" altLang="en-US" sz="2400" b="1">
                <a:latin typeface="Times New Roman" pitchFamily="18" charset="0"/>
                <a:cs typeface="Times New Roman" pitchFamily="18" charset="0"/>
              </a:rPr>
              <a:t>单位体积中的分子数 </a:t>
            </a:r>
            <a:r>
              <a:rPr kumimoji="1" lang="en-US" altLang="zh-CN" sz="2400" b="1" i="1">
                <a:solidFill>
                  <a:srgbClr val="FF6600"/>
                </a:solidFill>
                <a:latin typeface="Times New Roman" pitchFamily="18" charset="0"/>
                <a:cs typeface="Times New Roman" pitchFamily="18" charset="0"/>
              </a:rPr>
              <a:t>n </a:t>
            </a:r>
            <a:r>
              <a:rPr kumimoji="1" lang="zh-CN" altLang="en-US" sz="2400" b="1">
                <a:latin typeface="Times New Roman" pitchFamily="18" charset="0"/>
                <a:cs typeface="Times New Roman" pitchFamily="18" charset="0"/>
              </a:rPr>
              <a:t>；     </a:t>
            </a:r>
            <a:r>
              <a:rPr kumimoji="1" lang="en-US" altLang="zh-CN" sz="2400" b="1">
                <a:latin typeface="Times New Roman" pitchFamily="18" charset="0"/>
              </a:rPr>
              <a:t>(2) </a:t>
            </a:r>
            <a:r>
              <a:rPr kumimoji="1" lang="zh-CN" altLang="en-US" sz="2400" b="1">
                <a:latin typeface="Times New Roman" pitchFamily="18" charset="0"/>
                <a:cs typeface="Times New Roman" pitchFamily="18" charset="0"/>
              </a:rPr>
              <a:t>氧分子质量 </a:t>
            </a:r>
            <a:r>
              <a:rPr kumimoji="1" lang="en-US" altLang="zh-CN" sz="2400" b="1" i="1">
                <a:solidFill>
                  <a:srgbClr val="FF6600"/>
                </a:solidFill>
                <a:latin typeface="Symbol" pitchFamily="18" charset="2"/>
                <a:cs typeface="Times New Roman" pitchFamily="18" charset="0"/>
              </a:rPr>
              <a:t>m</a:t>
            </a:r>
            <a:r>
              <a:rPr kumimoji="1" lang="en-US" altLang="zh-CN" sz="2400" b="1" i="1">
                <a:solidFill>
                  <a:srgbClr val="FF6600"/>
                </a:solidFill>
                <a:latin typeface="Times New Roman" pitchFamily="18" charset="0"/>
                <a:cs typeface="Times New Roman" pitchFamily="18" charset="0"/>
              </a:rPr>
              <a:t> </a:t>
            </a:r>
            <a:r>
              <a:rPr kumimoji="1" lang="zh-CN" altLang="en-US" sz="2400" b="1">
                <a:latin typeface="Times New Roman" pitchFamily="18" charset="0"/>
                <a:cs typeface="Times New Roman" pitchFamily="18" charset="0"/>
              </a:rPr>
              <a:t>；</a:t>
            </a:r>
            <a:endParaRPr kumimoji="1" lang="en-US" altLang="zh-CN" sz="2400" b="1">
              <a:latin typeface="Times New Roman" pitchFamily="18" charset="0"/>
              <a:cs typeface="Times New Roman" pitchFamily="18" charset="0"/>
            </a:endParaRPr>
          </a:p>
          <a:p>
            <a:pPr marL="457200" indent="-457200" algn="just">
              <a:lnSpc>
                <a:spcPct val="120000"/>
              </a:lnSpc>
            </a:pPr>
            <a:r>
              <a:rPr kumimoji="1" lang="en-US" altLang="zh-CN" sz="2400" b="1">
                <a:latin typeface="Times New Roman" pitchFamily="18" charset="0"/>
                <a:cs typeface="Times New Roman" pitchFamily="18" charset="0"/>
              </a:rPr>
              <a:t>(3) </a:t>
            </a:r>
            <a:r>
              <a:rPr kumimoji="1" lang="zh-CN" altLang="en-US" sz="2400" b="1">
                <a:latin typeface="Times New Roman" pitchFamily="18" charset="0"/>
                <a:cs typeface="Times New Roman" pitchFamily="18" charset="0"/>
              </a:rPr>
              <a:t>气体密度</a:t>
            </a:r>
            <a:r>
              <a:rPr kumimoji="1" lang="en-US" altLang="zh-CN" sz="2400" b="1" i="1">
                <a:solidFill>
                  <a:srgbClr val="FF6600"/>
                </a:solidFill>
                <a:latin typeface="Times New Roman" pitchFamily="18" charset="0"/>
                <a:cs typeface="Times New Roman" pitchFamily="18" charset="0"/>
              </a:rPr>
              <a:t>ρ</a:t>
            </a:r>
            <a:r>
              <a:rPr kumimoji="1" lang="zh-CN" altLang="en-US" sz="2400" b="1">
                <a:latin typeface="Times New Roman" pitchFamily="18" charset="0"/>
                <a:cs typeface="Times New Roman" pitchFamily="18" charset="0"/>
              </a:rPr>
              <a:t>；      </a:t>
            </a:r>
            <a:r>
              <a:rPr kumimoji="1" lang="en-US" altLang="zh-CN" sz="2400" b="1">
                <a:latin typeface="Times New Roman" pitchFamily="18" charset="0"/>
                <a:cs typeface="Times New Roman" pitchFamily="18" charset="0"/>
              </a:rPr>
              <a:t>(4) </a:t>
            </a:r>
            <a:r>
              <a:rPr kumimoji="1" lang="zh-CN" altLang="en-US" sz="2400" b="1">
                <a:latin typeface="Times New Roman" pitchFamily="18" charset="0"/>
                <a:cs typeface="Times New Roman" pitchFamily="18" charset="0"/>
              </a:rPr>
              <a:t>分子的平均平动动能。</a:t>
            </a:r>
          </a:p>
        </p:txBody>
      </p:sp>
      <p:sp>
        <p:nvSpPr>
          <p:cNvPr id="249864" name="Text Box 8"/>
          <p:cNvSpPr txBox="1">
            <a:spLocks noChangeArrowheads="1"/>
          </p:cNvSpPr>
          <p:nvPr/>
        </p:nvSpPr>
        <p:spPr bwMode="auto">
          <a:xfrm>
            <a:off x="161925" y="2293938"/>
            <a:ext cx="1125538"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FF0000"/>
                </a:solidFill>
                <a:latin typeface="Times New Roman" pitchFamily="18" charset="0"/>
              </a:rPr>
              <a:t>解</a:t>
            </a:r>
            <a:r>
              <a:rPr kumimoji="1" lang="zh-CN" altLang="en-US" sz="2400" b="1">
                <a:solidFill>
                  <a:srgbClr val="FFFF00"/>
                </a:solidFill>
                <a:latin typeface="Times New Roman" pitchFamily="18" charset="0"/>
              </a:rPr>
              <a:t> </a:t>
            </a:r>
            <a:endParaRPr kumimoji="1" lang="zh-CN" altLang="en-US" sz="2400" b="1">
              <a:latin typeface="Times New Roman" pitchFamily="18" charset="0"/>
            </a:endParaRPr>
          </a:p>
        </p:txBody>
      </p:sp>
      <p:graphicFrame>
        <p:nvGraphicFramePr>
          <p:cNvPr id="249865" name="Object 9"/>
          <p:cNvGraphicFramePr>
            <a:graphicFrameLocks/>
          </p:cNvGraphicFramePr>
          <p:nvPr/>
        </p:nvGraphicFramePr>
        <p:xfrm>
          <a:off x="1697038" y="3179763"/>
          <a:ext cx="1255712" cy="366712"/>
        </p:xfrm>
        <a:graphic>
          <a:graphicData uri="http://schemas.openxmlformats.org/presentationml/2006/ole">
            <p:oleObj spid="_x0000_s18434" name="Equation" r:id="rId3" imgW="698400" imgH="203040" progId="">
              <p:embed/>
            </p:oleObj>
          </a:graphicData>
        </a:graphic>
      </p:graphicFrame>
      <p:graphicFrame>
        <p:nvGraphicFramePr>
          <p:cNvPr id="249866" name="Object 10"/>
          <p:cNvGraphicFramePr>
            <a:graphicFrameLocks/>
          </p:cNvGraphicFramePr>
          <p:nvPr/>
        </p:nvGraphicFramePr>
        <p:xfrm>
          <a:off x="2559050" y="4076700"/>
          <a:ext cx="1076325" cy="728663"/>
        </p:xfrm>
        <a:graphic>
          <a:graphicData uri="http://schemas.openxmlformats.org/presentationml/2006/ole">
            <p:oleObj spid="_x0000_s18435" name="公式" r:id="rId4" imgW="596880" imgH="406080" progId="Equation.3">
              <p:embed/>
            </p:oleObj>
          </a:graphicData>
        </a:graphic>
      </p:graphicFrame>
      <p:sp>
        <p:nvSpPr>
          <p:cNvPr id="249871" name="Text Box 15"/>
          <p:cNvSpPr txBox="1">
            <a:spLocks noChangeArrowheads="1"/>
          </p:cNvSpPr>
          <p:nvPr/>
        </p:nvSpPr>
        <p:spPr bwMode="auto">
          <a:xfrm>
            <a:off x="882650" y="2338388"/>
            <a:ext cx="3833813" cy="461962"/>
          </a:xfrm>
          <a:prstGeom prst="rect">
            <a:avLst/>
          </a:prstGeom>
          <a:noFill/>
          <a:ln w="9525">
            <a:noFill/>
            <a:miter lim="800000"/>
            <a:headEnd/>
            <a:tailEnd/>
          </a:ln>
        </p:spPr>
        <p:txBody>
          <a:bodyPr>
            <a:spAutoFit/>
          </a:bodyPr>
          <a:lstStyle/>
          <a:p>
            <a:pPr>
              <a:spcBef>
                <a:spcPct val="50000"/>
              </a:spcBef>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由理想气体状态方程</a:t>
            </a:r>
          </a:p>
        </p:txBody>
      </p:sp>
      <p:graphicFrame>
        <p:nvGraphicFramePr>
          <p:cNvPr id="249873" name="Object 17"/>
          <p:cNvGraphicFramePr>
            <a:graphicFrameLocks/>
          </p:cNvGraphicFramePr>
          <p:nvPr/>
        </p:nvGraphicFramePr>
        <p:xfrm>
          <a:off x="3694113" y="4221163"/>
          <a:ext cx="2154237" cy="365125"/>
        </p:xfrm>
        <a:graphic>
          <a:graphicData uri="http://schemas.openxmlformats.org/presentationml/2006/ole">
            <p:oleObj spid="_x0000_s18436" name="公式" r:id="rId5" imgW="1193760" imgH="203040" progId="Equation.3">
              <p:embed/>
            </p:oleObj>
          </a:graphicData>
        </a:graphic>
      </p:graphicFrame>
      <p:sp>
        <p:nvSpPr>
          <p:cNvPr id="249876" name="AutoShape 20"/>
          <p:cNvSpPr>
            <a:spLocks noChangeArrowheads="1"/>
          </p:cNvSpPr>
          <p:nvPr/>
        </p:nvSpPr>
        <p:spPr bwMode="auto">
          <a:xfrm>
            <a:off x="3276600" y="3284538"/>
            <a:ext cx="503238" cy="142875"/>
          </a:xfrm>
          <a:prstGeom prst="rightArrow">
            <a:avLst>
              <a:gd name="adj1" fmla="val 50000"/>
              <a:gd name="adj2" fmla="val 88056"/>
            </a:avLst>
          </a:prstGeom>
          <a:solidFill>
            <a:srgbClr val="0000CC"/>
          </a:solidFill>
          <a:ln w="9525" algn="ctr">
            <a:solidFill>
              <a:schemeClr val="tx1"/>
            </a:solidFill>
            <a:miter lim="800000"/>
            <a:headEnd/>
            <a:tailEnd/>
          </a:ln>
        </p:spPr>
        <p:txBody>
          <a:bodyPr wrap="none" anchor="ctr"/>
          <a:lstStyle/>
          <a:p>
            <a:pPr algn="ctr"/>
            <a:endParaRPr lang="zh-CN" altLang="en-US"/>
          </a:p>
        </p:txBody>
      </p:sp>
      <p:graphicFrame>
        <p:nvGraphicFramePr>
          <p:cNvPr id="249877" name="Object 21"/>
          <p:cNvGraphicFramePr>
            <a:graphicFrameLocks/>
          </p:cNvGraphicFramePr>
          <p:nvPr/>
        </p:nvGraphicFramePr>
        <p:xfrm>
          <a:off x="3916363" y="3008313"/>
          <a:ext cx="1462087" cy="777875"/>
        </p:xfrm>
        <a:graphic>
          <a:graphicData uri="http://schemas.openxmlformats.org/presentationml/2006/ole">
            <p:oleObj spid="_x0000_s18437" name="Equation" r:id="rId6" imgW="812520" imgH="431640" progId="">
              <p:embed/>
            </p:oleObj>
          </a:graphicData>
        </a:graphic>
      </p:graphicFrame>
      <p:graphicFrame>
        <p:nvGraphicFramePr>
          <p:cNvPr id="249878" name="Object 22"/>
          <p:cNvGraphicFramePr>
            <a:graphicFrameLocks/>
          </p:cNvGraphicFramePr>
          <p:nvPr/>
        </p:nvGraphicFramePr>
        <p:xfrm>
          <a:off x="5435600" y="2989263"/>
          <a:ext cx="1119188" cy="800100"/>
        </p:xfrm>
        <a:graphic>
          <a:graphicData uri="http://schemas.openxmlformats.org/presentationml/2006/ole">
            <p:oleObj spid="_x0000_s18438" name="公式" r:id="rId7" imgW="622080" imgH="444240" progId="Equation.3">
              <p:embed/>
            </p:oleObj>
          </a:graphicData>
        </a:graphic>
      </p:graphicFrame>
      <p:sp>
        <p:nvSpPr>
          <p:cNvPr id="249879" name="AutoShape 23"/>
          <p:cNvSpPr>
            <a:spLocks noChangeArrowheads="1"/>
          </p:cNvSpPr>
          <p:nvPr/>
        </p:nvSpPr>
        <p:spPr bwMode="auto">
          <a:xfrm>
            <a:off x="1989138" y="4365625"/>
            <a:ext cx="503237" cy="142875"/>
          </a:xfrm>
          <a:prstGeom prst="rightArrow">
            <a:avLst>
              <a:gd name="adj1" fmla="val 50000"/>
              <a:gd name="adj2" fmla="val 88055"/>
            </a:avLst>
          </a:prstGeom>
          <a:solidFill>
            <a:srgbClr val="0000CC"/>
          </a:solidFill>
          <a:ln w="9525" algn="ctr">
            <a:solidFill>
              <a:schemeClr val="tx1"/>
            </a:solidFill>
            <a:miter lim="800000"/>
            <a:headEnd/>
            <a:tailEnd/>
          </a:ln>
        </p:spPr>
        <p:txBody>
          <a:bodyPr wrap="none" anchor="ctr"/>
          <a:lstStyle/>
          <a:p>
            <a:pPr algn="ctr"/>
            <a:endParaRPr lang="zh-CN" altLang="en-US"/>
          </a:p>
        </p:txBody>
      </p:sp>
      <p:sp>
        <p:nvSpPr>
          <p:cNvPr id="249880" name="Text Box 24"/>
          <p:cNvSpPr txBox="1">
            <a:spLocks noChangeArrowheads="1"/>
          </p:cNvSpPr>
          <p:nvPr/>
        </p:nvSpPr>
        <p:spPr bwMode="auto">
          <a:xfrm>
            <a:off x="900113" y="5035550"/>
            <a:ext cx="3446462" cy="457200"/>
          </a:xfrm>
          <a:prstGeom prst="rect">
            <a:avLst/>
          </a:prstGeom>
          <a:noFill/>
          <a:ln w="9525">
            <a:noFill/>
            <a:miter lim="800000"/>
            <a:headEnd/>
            <a:tailEnd/>
          </a:ln>
        </p:spPr>
        <p:txBody>
          <a:bodyPr>
            <a:spAutoFit/>
          </a:bodyPr>
          <a:lstStyle/>
          <a:p>
            <a:pPr>
              <a:spcBef>
                <a:spcPct val="50000"/>
              </a:spcBef>
              <a:defRPr/>
            </a:pPr>
            <a:r>
              <a:rPr kumimoji="1" lang="en-US" altLang="zh-CN" sz="2400" b="1">
                <a:latin typeface="Times New Roman" pitchFamily="18" charset="0"/>
                <a:ea typeface="+mn-ea"/>
                <a:cs typeface="Times New Roman" pitchFamily="18" charset="0"/>
              </a:rPr>
              <a:t>(2)   </a:t>
            </a:r>
            <a:r>
              <a:rPr kumimoji="1" lang="zh-CN" altLang="en-US" sz="2400" b="1">
                <a:latin typeface="Times New Roman" pitchFamily="18" charset="0"/>
                <a:ea typeface="+mn-ea"/>
                <a:cs typeface="Times New Roman" pitchFamily="18" charset="0"/>
              </a:rPr>
              <a:t>氧分子质量为</a:t>
            </a:r>
          </a:p>
        </p:txBody>
      </p:sp>
      <p:graphicFrame>
        <p:nvGraphicFramePr>
          <p:cNvPr id="249881" name="Object 25"/>
          <p:cNvGraphicFramePr>
            <a:graphicFrameLocks/>
          </p:cNvGraphicFramePr>
          <p:nvPr/>
        </p:nvGraphicFramePr>
        <p:xfrm>
          <a:off x="1466850" y="5583238"/>
          <a:ext cx="914400" cy="798512"/>
        </p:xfrm>
        <a:graphic>
          <a:graphicData uri="http://schemas.openxmlformats.org/presentationml/2006/ole">
            <p:oleObj spid="_x0000_s18439" name="公式" r:id="rId8" imgW="507960" imgH="444240" progId="Equation.3">
              <p:embed/>
            </p:oleObj>
          </a:graphicData>
        </a:graphic>
      </p:graphicFrame>
      <p:graphicFrame>
        <p:nvGraphicFramePr>
          <p:cNvPr id="249882" name="Object 26"/>
          <p:cNvGraphicFramePr>
            <a:graphicFrameLocks/>
          </p:cNvGraphicFramePr>
          <p:nvPr/>
        </p:nvGraphicFramePr>
        <p:xfrm>
          <a:off x="2501900" y="5572125"/>
          <a:ext cx="3567113" cy="730250"/>
        </p:xfrm>
        <a:graphic>
          <a:graphicData uri="http://schemas.openxmlformats.org/presentationml/2006/ole">
            <p:oleObj spid="_x0000_s18440" name="公式" r:id="rId9" imgW="198108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9860"/>
                                        </p:tgtEl>
                                        <p:attrNameLst>
                                          <p:attrName>style.visibility</p:attrName>
                                        </p:attrNameLst>
                                      </p:cBhvr>
                                      <p:to>
                                        <p:strVal val="visible"/>
                                      </p:to>
                                    </p:set>
                                    <p:animEffect transition="in" filter="wipe(left)">
                                      <p:cBhvr>
                                        <p:cTn id="7" dur="500"/>
                                        <p:tgtEl>
                                          <p:spTgt spid="2498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9861"/>
                                        </p:tgtEl>
                                        <p:attrNameLst>
                                          <p:attrName>style.visibility</p:attrName>
                                        </p:attrNameLst>
                                      </p:cBhvr>
                                      <p:to>
                                        <p:strVal val="visible"/>
                                      </p:to>
                                    </p:set>
                                    <p:animEffect transition="in" filter="wipe(left)">
                                      <p:cBhvr>
                                        <p:cTn id="12" dur="1000"/>
                                        <p:tgtEl>
                                          <p:spTgt spid="2498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9862"/>
                                        </p:tgtEl>
                                        <p:attrNameLst>
                                          <p:attrName>style.visibility</p:attrName>
                                        </p:attrNameLst>
                                      </p:cBhvr>
                                      <p:to>
                                        <p:strVal val="visible"/>
                                      </p:to>
                                    </p:set>
                                    <p:animEffect transition="in" filter="wipe(left)">
                                      <p:cBhvr>
                                        <p:cTn id="17" dur="1000"/>
                                        <p:tgtEl>
                                          <p:spTgt spid="2498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9863"/>
                                        </p:tgtEl>
                                        <p:attrNameLst>
                                          <p:attrName>style.visibility</p:attrName>
                                        </p:attrNameLst>
                                      </p:cBhvr>
                                      <p:to>
                                        <p:strVal val="visible"/>
                                      </p:to>
                                    </p:set>
                                    <p:animEffect transition="in" filter="wipe(left)">
                                      <p:cBhvr>
                                        <p:cTn id="22" dur="1000"/>
                                        <p:tgtEl>
                                          <p:spTgt spid="2498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9864"/>
                                        </p:tgtEl>
                                        <p:attrNameLst>
                                          <p:attrName>style.visibility</p:attrName>
                                        </p:attrNameLst>
                                      </p:cBhvr>
                                      <p:to>
                                        <p:strVal val="visible"/>
                                      </p:to>
                                    </p:set>
                                    <p:animEffect transition="in" filter="wipe(left)">
                                      <p:cBhvr>
                                        <p:cTn id="27" dur="1000"/>
                                        <p:tgtEl>
                                          <p:spTgt spid="2498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9871"/>
                                        </p:tgtEl>
                                        <p:attrNameLst>
                                          <p:attrName>style.visibility</p:attrName>
                                        </p:attrNameLst>
                                      </p:cBhvr>
                                      <p:to>
                                        <p:strVal val="visible"/>
                                      </p:to>
                                    </p:set>
                                    <p:animEffect transition="in" filter="wipe(left)">
                                      <p:cBhvr>
                                        <p:cTn id="32" dur="1000"/>
                                        <p:tgtEl>
                                          <p:spTgt spid="24987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9865"/>
                                        </p:tgtEl>
                                        <p:attrNameLst>
                                          <p:attrName>style.visibility</p:attrName>
                                        </p:attrNameLst>
                                      </p:cBhvr>
                                      <p:to>
                                        <p:strVal val="visible"/>
                                      </p:to>
                                    </p:set>
                                    <p:animEffect transition="in" filter="wipe(left)">
                                      <p:cBhvr>
                                        <p:cTn id="37" dur="1000"/>
                                        <p:tgtEl>
                                          <p:spTgt spid="24986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9876"/>
                                        </p:tgtEl>
                                        <p:attrNameLst>
                                          <p:attrName>style.visibility</p:attrName>
                                        </p:attrNameLst>
                                      </p:cBhvr>
                                      <p:to>
                                        <p:strVal val="visible"/>
                                      </p:to>
                                    </p:set>
                                    <p:animEffect transition="in" filter="wipe(left)">
                                      <p:cBhvr>
                                        <p:cTn id="42" dur="500"/>
                                        <p:tgtEl>
                                          <p:spTgt spid="2498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49877"/>
                                        </p:tgtEl>
                                        <p:attrNameLst>
                                          <p:attrName>style.visibility</p:attrName>
                                        </p:attrNameLst>
                                      </p:cBhvr>
                                      <p:to>
                                        <p:strVal val="visible"/>
                                      </p:to>
                                    </p:set>
                                    <p:animEffect transition="in" filter="wipe(left)">
                                      <p:cBhvr>
                                        <p:cTn id="47" dur="1000"/>
                                        <p:tgtEl>
                                          <p:spTgt spid="24987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9878"/>
                                        </p:tgtEl>
                                        <p:attrNameLst>
                                          <p:attrName>style.visibility</p:attrName>
                                        </p:attrNameLst>
                                      </p:cBhvr>
                                      <p:to>
                                        <p:strVal val="visible"/>
                                      </p:to>
                                    </p:set>
                                    <p:animEffect transition="in" filter="wipe(left)">
                                      <p:cBhvr>
                                        <p:cTn id="52" dur="1000"/>
                                        <p:tgtEl>
                                          <p:spTgt spid="24987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9879"/>
                                        </p:tgtEl>
                                        <p:attrNameLst>
                                          <p:attrName>style.visibility</p:attrName>
                                        </p:attrNameLst>
                                      </p:cBhvr>
                                      <p:to>
                                        <p:strVal val="visible"/>
                                      </p:to>
                                    </p:set>
                                    <p:animEffect transition="in" filter="wipe(left)">
                                      <p:cBhvr>
                                        <p:cTn id="57" dur="500"/>
                                        <p:tgtEl>
                                          <p:spTgt spid="24987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9866"/>
                                        </p:tgtEl>
                                        <p:attrNameLst>
                                          <p:attrName>style.visibility</p:attrName>
                                        </p:attrNameLst>
                                      </p:cBhvr>
                                      <p:to>
                                        <p:strVal val="visible"/>
                                      </p:to>
                                    </p:set>
                                    <p:animEffect transition="in" filter="wipe(left)">
                                      <p:cBhvr>
                                        <p:cTn id="62" dur="1000"/>
                                        <p:tgtEl>
                                          <p:spTgt spid="24986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49873"/>
                                        </p:tgtEl>
                                        <p:attrNameLst>
                                          <p:attrName>style.visibility</p:attrName>
                                        </p:attrNameLst>
                                      </p:cBhvr>
                                      <p:to>
                                        <p:strVal val="visible"/>
                                      </p:to>
                                    </p:set>
                                    <p:animEffect transition="in" filter="wipe(left)">
                                      <p:cBhvr>
                                        <p:cTn id="67" dur="1000"/>
                                        <p:tgtEl>
                                          <p:spTgt spid="24987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9880"/>
                                        </p:tgtEl>
                                        <p:attrNameLst>
                                          <p:attrName>style.visibility</p:attrName>
                                        </p:attrNameLst>
                                      </p:cBhvr>
                                      <p:to>
                                        <p:strVal val="visible"/>
                                      </p:to>
                                    </p:set>
                                    <p:animEffect transition="in" filter="wipe(left)">
                                      <p:cBhvr>
                                        <p:cTn id="72" dur="1000"/>
                                        <p:tgtEl>
                                          <p:spTgt spid="24988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49881"/>
                                        </p:tgtEl>
                                        <p:attrNameLst>
                                          <p:attrName>style.visibility</p:attrName>
                                        </p:attrNameLst>
                                      </p:cBhvr>
                                      <p:to>
                                        <p:strVal val="visible"/>
                                      </p:to>
                                    </p:set>
                                    <p:animEffect transition="in" filter="wipe(left)">
                                      <p:cBhvr>
                                        <p:cTn id="77" dur="1000"/>
                                        <p:tgtEl>
                                          <p:spTgt spid="24988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49882"/>
                                        </p:tgtEl>
                                        <p:attrNameLst>
                                          <p:attrName>style.visibility</p:attrName>
                                        </p:attrNameLst>
                                      </p:cBhvr>
                                      <p:to>
                                        <p:strVal val="visible"/>
                                      </p:to>
                                    </p:set>
                                    <p:animEffect transition="in" filter="wipe(left)">
                                      <p:cBhvr>
                                        <p:cTn id="82" dur="1000"/>
                                        <p:tgtEl>
                                          <p:spTgt spid="249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p:bldP spid="249861" grpId="0"/>
      <p:bldP spid="249862" grpId="0"/>
      <p:bldP spid="249863" grpId="0"/>
      <p:bldP spid="249864" grpId="0"/>
      <p:bldP spid="249871" grpId="0"/>
      <p:bldP spid="249876" grpId="0" animBg="1"/>
      <p:bldP spid="249879" grpId="0" animBg="1"/>
      <p:bldP spid="24988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15" name="Text Box 11"/>
          <p:cNvSpPr txBox="1">
            <a:spLocks noChangeArrowheads="1"/>
          </p:cNvSpPr>
          <p:nvPr/>
        </p:nvSpPr>
        <p:spPr bwMode="auto">
          <a:xfrm>
            <a:off x="179388" y="1223963"/>
            <a:ext cx="3522662" cy="457200"/>
          </a:xfrm>
          <a:prstGeom prst="rect">
            <a:avLst/>
          </a:prstGeom>
          <a:noFill/>
          <a:ln w="9525">
            <a:noFill/>
            <a:miter lim="800000"/>
            <a:headEnd/>
            <a:tailEnd/>
          </a:ln>
        </p:spPr>
        <p:txBody>
          <a:bodyPr>
            <a:spAutoFit/>
          </a:bodyPr>
          <a:lstStyle/>
          <a:p>
            <a:pPr>
              <a:spcBef>
                <a:spcPct val="50000"/>
              </a:spcBef>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气体密度为</a:t>
            </a:r>
          </a:p>
        </p:txBody>
      </p:sp>
      <p:graphicFrame>
        <p:nvGraphicFramePr>
          <p:cNvPr id="251916" name="Object 12"/>
          <p:cNvGraphicFramePr>
            <a:graphicFrameLocks/>
          </p:cNvGraphicFramePr>
          <p:nvPr/>
        </p:nvGraphicFramePr>
        <p:xfrm>
          <a:off x="1357313" y="1878013"/>
          <a:ext cx="866775" cy="295275"/>
        </p:xfrm>
        <a:graphic>
          <a:graphicData uri="http://schemas.openxmlformats.org/presentationml/2006/ole">
            <p:oleObj spid="_x0000_s19458" name="公式" r:id="rId3" imgW="482400" imgH="164880" progId="Equation.3">
              <p:embed/>
            </p:oleObj>
          </a:graphicData>
        </a:graphic>
      </p:graphicFrame>
      <p:graphicFrame>
        <p:nvGraphicFramePr>
          <p:cNvPr id="251921" name="Object 17"/>
          <p:cNvGraphicFramePr>
            <a:graphicFrameLocks/>
          </p:cNvGraphicFramePr>
          <p:nvPr/>
        </p:nvGraphicFramePr>
        <p:xfrm>
          <a:off x="2312988" y="1766888"/>
          <a:ext cx="4473575" cy="409575"/>
        </p:xfrm>
        <a:graphic>
          <a:graphicData uri="http://schemas.openxmlformats.org/presentationml/2006/ole">
            <p:oleObj spid="_x0000_s19459" name="公式" r:id="rId4" imgW="2489040" imgH="228600" progId="Equation.3">
              <p:embed/>
            </p:oleObj>
          </a:graphicData>
        </a:graphic>
      </p:graphicFrame>
      <p:sp>
        <p:nvSpPr>
          <p:cNvPr id="251925" name="Text Box 21"/>
          <p:cNvSpPr txBox="1">
            <a:spLocks noChangeArrowheads="1"/>
          </p:cNvSpPr>
          <p:nvPr/>
        </p:nvSpPr>
        <p:spPr bwMode="auto">
          <a:xfrm>
            <a:off x="161925" y="2582863"/>
            <a:ext cx="7124700" cy="461962"/>
          </a:xfrm>
          <a:prstGeom prst="rect">
            <a:avLst/>
          </a:prstGeom>
          <a:noFill/>
          <a:ln w="9525">
            <a:noFill/>
            <a:miter lim="800000"/>
            <a:headEnd/>
            <a:tailEnd/>
          </a:ln>
        </p:spPr>
        <p:txBody>
          <a:bodyPr>
            <a:spAutoFit/>
          </a:bodyPr>
          <a:lstStyle/>
          <a:p>
            <a:pPr>
              <a:spcBef>
                <a:spcPct val="50000"/>
              </a:spcBef>
              <a:defRPr/>
            </a:pPr>
            <a:r>
              <a:rPr kumimoji="1" lang="en-US" altLang="zh-CN" sz="2400" b="1" dirty="0">
                <a:latin typeface="Times New Roman" pitchFamily="18" charset="0"/>
                <a:ea typeface="+mn-ea"/>
                <a:cs typeface="Times New Roman" pitchFamily="18" charset="0"/>
              </a:rPr>
              <a:t>(4)  </a:t>
            </a:r>
            <a:r>
              <a:rPr kumimoji="1" lang="zh-CN" altLang="en-US" sz="2400" b="1" dirty="0">
                <a:latin typeface="Times New Roman" pitchFamily="18" charset="0"/>
                <a:ea typeface="+mn-ea"/>
                <a:cs typeface="Times New Roman" pitchFamily="18" charset="0"/>
              </a:rPr>
              <a:t>由                   得</a:t>
            </a:r>
            <a:r>
              <a:rPr kumimoji="1" lang="zh-CN" altLang="en-US" sz="2400" b="1" dirty="0">
                <a:latin typeface="Times New Roman" pitchFamily="18" charset="0"/>
                <a:cs typeface="Times New Roman" pitchFamily="18" charset="0"/>
              </a:rPr>
              <a:t>分子的平均平动动能为</a:t>
            </a:r>
          </a:p>
        </p:txBody>
      </p:sp>
      <p:graphicFrame>
        <p:nvGraphicFramePr>
          <p:cNvPr id="251928" name="Object 24"/>
          <p:cNvGraphicFramePr>
            <a:graphicFrameLocks/>
          </p:cNvGraphicFramePr>
          <p:nvPr/>
        </p:nvGraphicFramePr>
        <p:xfrm>
          <a:off x="1209675" y="2474913"/>
          <a:ext cx="1073150" cy="706437"/>
        </p:xfrm>
        <a:graphic>
          <a:graphicData uri="http://schemas.openxmlformats.org/presentationml/2006/ole">
            <p:oleObj spid="_x0000_s19460" name="Equation" r:id="rId5" imgW="596880" imgH="393480" progId="">
              <p:embed/>
            </p:oleObj>
          </a:graphicData>
        </a:graphic>
      </p:graphicFrame>
      <p:graphicFrame>
        <p:nvGraphicFramePr>
          <p:cNvPr id="251929" name="Object 25"/>
          <p:cNvGraphicFramePr>
            <a:graphicFrameLocks/>
          </p:cNvGraphicFramePr>
          <p:nvPr/>
        </p:nvGraphicFramePr>
        <p:xfrm>
          <a:off x="1449388" y="3548063"/>
          <a:ext cx="982662" cy="730250"/>
        </p:xfrm>
        <a:graphic>
          <a:graphicData uri="http://schemas.openxmlformats.org/presentationml/2006/ole">
            <p:oleObj spid="_x0000_s19461" name="公式" r:id="rId6" imgW="545760" imgH="406080" progId="Equation.3">
              <p:embed/>
            </p:oleObj>
          </a:graphicData>
        </a:graphic>
      </p:graphicFrame>
      <p:graphicFrame>
        <p:nvGraphicFramePr>
          <p:cNvPr id="251930" name="Object 26"/>
          <p:cNvGraphicFramePr>
            <a:graphicFrameLocks/>
          </p:cNvGraphicFramePr>
          <p:nvPr/>
        </p:nvGraphicFramePr>
        <p:xfrm>
          <a:off x="2419350" y="3548063"/>
          <a:ext cx="3652838" cy="754062"/>
        </p:xfrm>
        <a:graphic>
          <a:graphicData uri="http://schemas.openxmlformats.org/presentationml/2006/ole">
            <p:oleObj spid="_x0000_s19462" name="公式" r:id="rId7" imgW="2031840" imgH="419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15"/>
                                        </p:tgtEl>
                                        <p:attrNameLst>
                                          <p:attrName>style.visibility</p:attrName>
                                        </p:attrNameLst>
                                      </p:cBhvr>
                                      <p:to>
                                        <p:strVal val="visible"/>
                                      </p:to>
                                    </p:set>
                                    <p:animEffect transition="in" filter="wipe(left)">
                                      <p:cBhvr>
                                        <p:cTn id="7" dur="1000"/>
                                        <p:tgtEl>
                                          <p:spTgt spid="2519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1916"/>
                                        </p:tgtEl>
                                        <p:attrNameLst>
                                          <p:attrName>style.visibility</p:attrName>
                                        </p:attrNameLst>
                                      </p:cBhvr>
                                      <p:to>
                                        <p:strVal val="visible"/>
                                      </p:to>
                                    </p:set>
                                    <p:animEffect transition="in" filter="wipe(left)">
                                      <p:cBhvr>
                                        <p:cTn id="12" dur="1000"/>
                                        <p:tgtEl>
                                          <p:spTgt spid="2519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1921"/>
                                        </p:tgtEl>
                                        <p:attrNameLst>
                                          <p:attrName>style.visibility</p:attrName>
                                        </p:attrNameLst>
                                      </p:cBhvr>
                                      <p:to>
                                        <p:strVal val="visible"/>
                                      </p:to>
                                    </p:set>
                                    <p:animEffect transition="in" filter="wipe(left)">
                                      <p:cBhvr>
                                        <p:cTn id="17" dur="1000"/>
                                        <p:tgtEl>
                                          <p:spTgt spid="2519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1925"/>
                                        </p:tgtEl>
                                        <p:attrNameLst>
                                          <p:attrName>style.visibility</p:attrName>
                                        </p:attrNameLst>
                                      </p:cBhvr>
                                      <p:to>
                                        <p:strVal val="visible"/>
                                      </p:to>
                                    </p:set>
                                    <p:animEffect transition="in" filter="wipe(left)">
                                      <p:cBhvr>
                                        <p:cTn id="22" dur="1000"/>
                                        <p:tgtEl>
                                          <p:spTgt spid="251925"/>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251928"/>
                                        </p:tgtEl>
                                        <p:attrNameLst>
                                          <p:attrName>style.visibility</p:attrName>
                                        </p:attrNameLst>
                                      </p:cBhvr>
                                      <p:to>
                                        <p:strVal val="visible"/>
                                      </p:to>
                                    </p:set>
                                    <p:animEffect transition="in" filter="wipe(left)">
                                      <p:cBhvr>
                                        <p:cTn id="26" dur="1000"/>
                                        <p:tgtEl>
                                          <p:spTgt spid="2519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1929"/>
                                        </p:tgtEl>
                                        <p:attrNameLst>
                                          <p:attrName>style.visibility</p:attrName>
                                        </p:attrNameLst>
                                      </p:cBhvr>
                                      <p:to>
                                        <p:strVal val="visible"/>
                                      </p:to>
                                    </p:set>
                                    <p:animEffect transition="in" filter="wipe(left)">
                                      <p:cBhvr>
                                        <p:cTn id="31" dur="1000"/>
                                        <p:tgtEl>
                                          <p:spTgt spid="2519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51930"/>
                                        </p:tgtEl>
                                        <p:attrNameLst>
                                          <p:attrName>style.visibility</p:attrName>
                                        </p:attrNameLst>
                                      </p:cBhvr>
                                      <p:to>
                                        <p:strVal val="visible"/>
                                      </p:to>
                                    </p:set>
                                    <p:animEffect transition="in" filter="wipe(left)">
                                      <p:cBhvr>
                                        <p:cTn id="36" dur="1000"/>
                                        <p:tgtEl>
                                          <p:spTgt spid="251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5" grpId="0"/>
      <p:bldP spid="2519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762000" y="228600"/>
            <a:ext cx="8001000" cy="1463675"/>
          </a:xfrm>
          <a:prstGeom prst="rect">
            <a:avLst/>
          </a:prstGeom>
          <a:noFill/>
          <a:ln w="9525">
            <a:noFill/>
            <a:miter lim="800000"/>
            <a:headEnd/>
            <a:tailEnd/>
          </a:ln>
        </p:spPr>
        <p:txBody>
          <a:bodyPr>
            <a:spAutoFit/>
          </a:bodyPr>
          <a:lstStyle/>
          <a:p>
            <a:pPr>
              <a:lnSpc>
                <a:spcPct val="125000"/>
              </a:lnSpc>
            </a:pPr>
            <a:r>
              <a:rPr kumimoji="1" lang="zh-CN" altLang="en-US" sz="2400" b="1">
                <a:latin typeface="Times New Roman" pitchFamily="18" charset="0"/>
              </a:rPr>
              <a:t>一容积为 </a:t>
            </a:r>
            <a:r>
              <a:rPr kumimoji="1" lang="en-US" altLang="zh-CN" sz="2400" b="1" i="1">
                <a:solidFill>
                  <a:srgbClr val="FF6600"/>
                </a:solidFill>
                <a:latin typeface="Times New Roman" pitchFamily="18" charset="0"/>
              </a:rPr>
              <a:t>V</a:t>
            </a:r>
            <a:r>
              <a:rPr kumimoji="1" lang="en-US" altLang="zh-CN" sz="2400" b="1">
                <a:solidFill>
                  <a:srgbClr val="FF6600"/>
                </a:solidFill>
                <a:latin typeface="Times New Roman" pitchFamily="18" charset="0"/>
              </a:rPr>
              <a:t>=1.0m</a:t>
            </a:r>
            <a:r>
              <a:rPr kumimoji="1" lang="en-US" altLang="zh-CN" sz="2400" b="1" baseline="38000">
                <a:solidFill>
                  <a:srgbClr val="FF6600"/>
                </a:solidFill>
                <a:latin typeface="Times New Roman" pitchFamily="18" charset="0"/>
              </a:rPr>
              <a:t>3</a:t>
            </a:r>
            <a:r>
              <a:rPr kumimoji="1" lang="en-US" altLang="zh-CN" sz="2400" b="1" baseline="38000">
                <a:latin typeface="Times New Roman" pitchFamily="18" charset="0"/>
              </a:rPr>
              <a:t>  </a:t>
            </a:r>
            <a:r>
              <a:rPr kumimoji="1" lang="zh-CN" altLang="en-US" sz="2400" b="1">
                <a:latin typeface="Times New Roman" pitchFamily="18" charset="0"/>
              </a:rPr>
              <a:t>的容器内装有 </a:t>
            </a:r>
            <a:r>
              <a:rPr kumimoji="1" lang="en-US" altLang="zh-CN" sz="2400" b="1" i="1">
                <a:solidFill>
                  <a:srgbClr val="FF6600"/>
                </a:solidFill>
                <a:latin typeface="Times New Roman" pitchFamily="18" charset="0"/>
              </a:rPr>
              <a:t>N</a:t>
            </a:r>
            <a:r>
              <a:rPr kumimoji="1" lang="en-US" altLang="zh-CN" sz="2400" b="1" baseline="-25000">
                <a:solidFill>
                  <a:srgbClr val="FF6600"/>
                </a:solidFill>
                <a:latin typeface="Times New Roman" pitchFamily="18" charset="0"/>
              </a:rPr>
              <a:t>1</a:t>
            </a:r>
            <a:r>
              <a:rPr kumimoji="1" lang="en-US" altLang="zh-CN" sz="2400" b="1">
                <a:solidFill>
                  <a:srgbClr val="FF6600"/>
                </a:solidFill>
                <a:latin typeface="Times New Roman" pitchFamily="18" charset="0"/>
              </a:rPr>
              <a:t>=1.0×10</a:t>
            </a:r>
            <a:r>
              <a:rPr kumimoji="1" lang="en-US" altLang="zh-CN" sz="2400" b="1" baseline="38000">
                <a:solidFill>
                  <a:srgbClr val="FF6600"/>
                </a:solidFill>
                <a:latin typeface="Times New Roman" pitchFamily="18" charset="0"/>
              </a:rPr>
              <a:t>24</a:t>
            </a:r>
            <a:r>
              <a:rPr kumimoji="1" lang="en-US" altLang="zh-CN" sz="2400" b="1">
                <a:latin typeface="Times New Roman" pitchFamily="18" charset="0"/>
              </a:rPr>
              <a:t> </a:t>
            </a:r>
            <a:r>
              <a:rPr kumimoji="1" lang="zh-CN" altLang="en-US" sz="2400" b="1">
                <a:latin typeface="Times New Roman" pitchFamily="18" charset="0"/>
              </a:rPr>
              <a:t>个 </a:t>
            </a:r>
            <a:r>
              <a:rPr kumimoji="1" lang="zh-CN" altLang="en-US" sz="2400" b="1">
                <a:solidFill>
                  <a:srgbClr val="FF6600"/>
                </a:solidFill>
                <a:latin typeface="Times New Roman" pitchFamily="18" charset="0"/>
              </a:rPr>
              <a:t>氧</a:t>
            </a:r>
            <a:r>
              <a:rPr kumimoji="1" lang="zh-CN" altLang="en-US" sz="2400" b="1">
                <a:latin typeface="Times New Roman" pitchFamily="18" charset="0"/>
              </a:rPr>
              <a:t>分子，</a:t>
            </a:r>
            <a:r>
              <a:rPr kumimoji="1" lang="en-US" altLang="zh-CN" sz="2400" b="1" i="1">
                <a:solidFill>
                  <a:srgbClr val="FF6600"/>
                </a:solidFill>
                <a:latin typeface="Times New Roman" pitchFamily="18" charset="0"/>
              </a:rPr>
              <a:t>N</a:t>
            </a:r>
            <a:r>
              <a:rPr kumimoji="1" lang="en-US" altLang="zh-CN" sz="2400" b="1" baseline="-25000">
                <a:solidFill>
                  <a:srgbClr val="FF6600"/>
                </a:solidFill>
                <a:latin typeface="Times New Roman" pitchFamily="18" charset="0"/>
              </a:rPr>
              <a:t>2</a:t>
            </a:r>
            <a:r>
              <a:rPr kumimoji="1" lang="en-US" altLang="zh-CN" sz="2400" b="1">
                <a:solidFill>
                  <a:srgbClr val="FF6600"/>
                </a:solidFill>
                <a:latin typeface="Times New Roman" pitchFamily="18" charset="0"/>
              </a:rPr>
              <a:t>=3.0×10</a:t>
            </a:r>
            <a:r>
              <a:rPr kumimoji="1" lang="en-US" altLang="zh-CN" sz="2400" b="1" baseline="38000">
                <a:solidFill>
                  <a:srgbClr val="FF6600"/>
                </a:solidFill>
                <a:latin typeface="Times New Roman" pitchFamily="18" charset="0"/>
              </a:rPr>
              <a:t>24</a:t>
            </a:r>
            <a:r>
              <a:rPr kumimoji="1" lang="en-US" altLang="zh-CN" sz="2400" b="1">
                <a:latin typeface="Times New Roman" pitchFamily="18" charset="0"/>
              </a:rPr>
              <a:t> </a:t>
            </a:r>
            <a:r>
              <a:rPr kumimoji="1" lang="zh-CN" altLang="en-US" sz="2400" b="1">
                <a:latin typeface="Times New Roman" pitchFamily="18" charset="0"/>
              </a:rPr>
              <a:t>个</a:t>
            </a:r>
            <a:r>
              <a:rPr kumimoji="1" lang="zh-CN" altLang="en-US" sz="2400" b="1">
                <a:solidFill>
                  <a:srgbClr val="FF6600"/>
                </a:solidFill>
                <a:latin typeface="Times New Roman" pitchFamily="18" charset="0"/>
              </a:rPr>
              <a:t>氮</a:t>
            </a:r>
            <a:r>
              <a:rPr kumimoji="1" lang="zh-CN" altLang="en-US" sz="2400" b="1">
                <a:latin typeface="Times New Roman" pitchFamily="18" charset="0"/>
              </a:rPr>
              <a:t>分子的混合气体， 混合气体的压强</a:t>
            </a:r>
          </a:p>
          <a:p>
            <a:pPr>
              <a:lnSpc>
                <a:spcPct val="125000"/>
              </a:lnSpc>
            </a:pPr>
            <a:r>
              <a:rPr kumimoji="1" lang="zh-CN" altLang="en-US" sz="2400" b="1" i="1">
                <a:latin typeface="Times New Roman" pitchFamily="18" charset="0"/>
              </a:rPr>
              <a:t> </a:t>
            </a:r>
            <a:r>
              <a:rPr kumimoji="1" lang="en-US" altLang="zh-CN" sz="2400" b="1" i="1">
                <a:solidFill>
                  <a:srgbClr val="FF6600"/>
                </a:solidFill>
                <a:latin typeface="Times New Roman" pitchFamily="18" charset="0"/>
              </a:rPr>
              <a:t>p </a:t>
            </a:r>
            <a:r>
              <a:rPr kumimoji="1" lang="en-US" altLang="zh-CN" sz="2400" b="1">
                <a:solidFill>
                  <a:srgbClr val="FF6600"/>
                </a:solidFill>
                <a:latin typeface="Times New Roman" pitchFamily="18" charset="0"/>
              </a:rPr>
              <a:t>=2.58×10</a:t>
            </a:r>
            <a:r>
              <a:rPr kumimoji="1" lang="en-US" altLang="zh-CN" sz="2400" b="1" baseline="30000">
                <a:solidFill>
                  <a:srgbClr val="FF6600"/>
                </a:solidFill>
                <a:latin typeface="Times New Roman" pitchFamily="18" charset="0"/>
              </a:rPr>
              <a:t>4 </a:t>
            </a:r>
            <a:r>
              <a:rPr kumimoji="1" lang="en-US" altLang="zh-CN" sz="2400" b="1">
                <a:solidFill>
                  <a:srgbClr val="FF6600"/>
                </a:solidFill>
                <a:latin typeface="Times New Roman" pitchFamily="18" charset="0"/>
              </a:rPr>
              <a:t>Pa</a:t>
            </a:r>
            <a:r>
              <a:rPr kumimoji="1" lang="en-US" altLang="zh-CN" sz="2400" b="1">
                <a:latin typeface="Times New Roman" pitchFamily="18" charset="0"/>
              </a:rPr>
              <a:t>   </a:t>
            </a:r>
            <a:r>
              <a:rPr kumimoji="1" lang="zh-CN" altLang="en-US" sz="2400" b="1">
                <a:latin typeface="Times New Roman" pitchFamily="18" charset="0"/>
              </a:rPr>
              <a:t>。                                   </a:t>
            </a:r>
          </a:p>
        </p:txBody>
      </p:sp>
      <p:sp>
        <p:nvSpPr>
          <p:cNvPr id="148483" name="Text Box 3"/>
          <p:cNvSpPr txBox="1">
            <a:spLocks noChangeArrowheads="1"/>
          </p:cNvSpPr>
          <p:nvPr/>
        </p:nvSpPr>
        <p:spPr bwMode="auto">
          <a:xfrm>
            <a:off x="728663" y="2806700"/>
            <a:ext cx="2835275" cy="457200"/>
          </a:xfrm>
          <a:prstGeom prst="rect">
            <a:avLst/>
          </a:prstGeom>
          <a:noFill/>
          <a:ln w="9525">
            <a:noFill/>
            <a:miter lim="800000"/>
            <a:headEnd/>
            <a:tailEnd/>
          </a:ln>
        </p:spPr>
        <p:txBody>
          <a:bodyPr wrap="none">
            <a:spAutoFit/>
          </a:bodyPr>
          <a:lstStyle/>
          <a:p>
            <a:r>
              <a:rPr kumimoji="1" lang="en-US" altLang="zh-CN" sz="2400" b="1">
                <a:latin typeface="Times New Roman" pitchFamily="18" charset="0"/>
              </a:rPr>
              <a:t>(1) </a:t>
            </a:r>
            <a:r>
              <a:rPr kumimoji="1" lang="zh-CN" altLang="en-US" sz="2400" b="1">
                <a:latin typeface="Times New Roman" pitchFamily="18" charset="0"/>
              </a:rPr>
              <a:t>由压强公式 </a:t>
            </a:r>
            <a:r>
              <a:rPr kumimoji="1" lang="en-US" altLang="zh-CN" sz="2400" b="1">
                <a:latin typeface="Times New Roman" pitchFamily="18" charset="0"/>
              </a:rPr>
              <a:t>,   </a:t>
            </a:r>
            <a:r>
              <a:rPr kumimoji="1" lang="zh-CN" altLang="en-US" sz="2400" b="1">
                <a:latin typeface="Times New Roman" pitchFamily="18" charset="0"/>
              </a:rPr>
              <a:t>有</a:t>
            </a:r>
          </a:p>
        </p:txBody>
      </p:sp>
      <p:graphicFrame>
        <p:nvGraphicFramePr>
          <p:cNvPr id="148484" name="Object 4"/>
          <p:cNvGraphicFramePr>
            <a:graphicFrameLocks noChangeAspect="1"/>
          </p:cNvGraphicFramePr>
          <p:nvPr/>
        </p:nvGraphicFramePr>
        <p:xfrm>
          <a:off x="1933575" y="3470275"/>
          <a:ext cx="1101725" cy="823913"/>
        </p:xfrm>
        <a:graphic>
          <a:graphicData uri="http://schemas.openxmlformats.org/presentationml/2006/ole">
            <p:oleObj spid="_x0000_s20482" name="公式" r:id="rId3" imgW="1104840" imgH="825480" progId="Equation.3">
              <p:embed/>
            </p:oleObj>
          </a:graphicData>
        </a:graphic>
      </p:graphicFrame>
      <p:sp>
        <p:nvSpPr>
          <p:cNvPr id="148485" name="Rectangle 5"/>
          <p:cNvSpPr>
            <a:spLocks noChangeArrowheads="1"/>
          </p:cNvSpPr>
          <p:nvPr/>
        </p:nvSpPr>
        <p:spPr bwMode="auto">
          <a:xfrm>
            <a:off x="263525" y="268288"/>
            <a:ext cx="492125" cy="457200"/>
          </a:xfrm>
          <a:prstGeom prst="rect">
            <a:avLst/>
          </a:prstGeom>
          <a:noFill/>
          <a:ln w="9525">
            <a:noFill/>
            <a:miter lim="800000"/>
            <a:headEnd/>
            <a:tailEnd/>
          </a:ln>
        </p:spPr>
        <p:txBody>
          <a:bodyPr wrap="none">
            <a:spAutoFit/>
          </a:bodyPr>
          <a:lstStyle/>
          <a:p>
            <a:r>
              <a:rPr kumimoji="1" lang="zh-CN" altLang="en-US" sz="2400" b="1">
                <a:solidFill>
                  <a:srgbClr val="FF0000"/>
                </a:solidFill>
                <a:latin typeface="Times New Roman" pitchFamily="18" charset="0"/>
              </a:rPr>
              <a:t>例</a:t>
            </a:r>
          </a:p>
        </p:txBody>
      </p:sp>
      <p:sp>
        <p:nvSpPr>
          <p:cNvPr id="148486" name="Rectangle 6"/>
          <p:cNvSpPr>
            <a:spLocks noChangeArrowheads="1"/>
          </p:cNvSpPr>
          <p:nvPr/>
        </p:nvSpPr>
        <p:spPr bwMode="auto">
          <a:xfrm>
            <a:off x="250825" y="1808163"/>
            <a:ext cx="492125" cy="457200"/>
          </a:xfrm>
          <a:prstGeom prst="rect">
            <a:avLst/>
          </a:prstGeom>
          <a:noFill/>
          <a:ln w="9525">
            <a:noFill/>
            <a:miter lim="800000"/>
            <a:headEnd/>
            <a:tailEnd/>
          </a:ln>
        </p:spPr>
        <p:txBody>
          <a:bodyPr wrap="none">
            <a:spAutoFit/>
          </a:bodyPr>
          <a:lstStyle/>
          <a:p>
            <a:r>
              <a:rPr kumimoji="1" lang="zh-CN" altLang="en-US" sz="2400" b="1">
                <a:solidFill>
                  <a:srgbClr val="FF0000"/>
                </a:solidFill>
                <a:latin typeface="Times New Roman" pitchFamily="18" charset="0"/>
              </a:rPr>
              <a:t>求</a:t>
            </a:r>
          </a:p>
        </p:txBody>
      </p:sp>
      <p:sp>
        <p:nvSpPr>
          <p:cNvPr id="148487" name="Rectangle 7"/>
          <p:cNvSpPr>
            <a:spLocks noChangeArrowheads="1"/>
          </p:cNvSpPr>
          <p:nvPr/>
        </p:nvSpPr>
        <p:spPr bwMode="auto">
          <a:xfrm>
            <a:off x="728663" y="1738313"/>
            <a:ext cx="4032250" cy="1006475"/>
          </a:xfrm>
          <a:prstGeom prst="rect">
            <a:avLst/>
          </a:prstGeom>
          <a:noFill/>
          <a:ln w="9525">
            <a:noFill/>
            <a:miter lim="800000"/>
            <a:headEnd/>
            <a:tailEnd/>
          </a:ln>
        </p:spPr>
        <p:txBody>
          <a:bodyPr>
            <a:spAutoFit/>
          </a:bodyPr>
          <a:lstStyle/>
          <a:p>
            <a:pPr>
              <a:lnSpc>
                <a:spcPct val="125000"/>
              </a:lnSpc>
            </a:pPr>
            <a:r>
              <a:rPr kumimoji="1" lang="en-US" altLang="zh-CN" sz="2400" b="1">
                <a:latin typeface="Times New Roman" pitchFamily="18" charset="0"/>
              </a:rPr>
              <a:t>(1) </a:t>
            </a:r>
            <a:r>
              <a:rPr kumimoji="1" lang="zh-CN" altLang="en-US" sz="2400" b="1">
                <a:latin typeface="Times New Roman" pitchFamily="18" charset="0"/>
              </a:rPr>
              <a:t>分子的平均平动动能；  </a:t>
            </a:r>
          </a:p>
          <a:p>
            <a:pPr>
              <a:lnSpc>
                <a:spcPct val="125000"/>
              </a:lnSpc>
            </a:pPr>
            <a:r>
              <a:rPr kumimoji="1" lang="en-US" altLang="zh-CN" sz="2400" b="1">
                <a:latin typeface="Times New Roman" pitchFamily="18" charset="0"/>
              </a:rPr>
              <a:t>(2) </a:t>
            </a:r>
            <a:r>
              <a:rPr kumimoji="1" lang="zh-CN" altLang="en-US" sz="2400" b="1">
                <a:latin typeface="Times New Roman" pitchFamily="18" charset="0"/>
              </a:rPr>
              <a:t>混合气体的温度</a:t>
            </a:r>
          </a:p>
        </p:txBody>
      </p:sp>
      <p:sp>
        <p:nvSpPr>
          <p:cNvPr id="148488" name="Text Box 8"/>
          <p:cNvSpPr txBox="1">
            <a:spLocks noChangeArrowheads="1"/>
          </p:cNvSpPr>
          <p:nvPr/>
        </p:nvSpPr>
        <p:spPr bwMode="auto">
          <a:xfrm>
            <a:off x="287338" y="2806700"/>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解</a:t>
            </a:r>
          </a:p>
        </p:txBody>
      </p:sp>
      <p:graphicFrame>
        <p:nvGraphicFramePr>
          <p:cNvPr id="148489" name="Object 9"/>
          <p:cNvGraphicFramePr>
            <a:graphicFrameLocks noChangeAspect="1"/>
          </p:cNvGraphicFramePr>
          <p:nvPr/>
        </p:nvGraphicFramePr>
        <p:xfrm>
          <a:off x="3087688" y="3478213"/>
          <a:ext cx="2306637" cy="908050"/>
        </p:xfrm>
        <a:graphic>
          <a:graphicData uri="http://schemas.openxmlformats.org/presentationml/2006/ole">
            <p:oleObj spid="_x0000_s20483" name="公式" r:id="rId4" imgW="2323800" imgH="914400" progId="Equation.3">
              <p:embed/>
            </p:oleObj>
          </a:graphicData>
        </a:graphic>
      </p:graphicFrame>
      <p:graphicFrame>
        <p:nvGraphicFramePr>
          <p:cNvPr id="148490" name="Object 10"/>
          <p:cNvGraphicFramePr>
            <a:graphicFrameLocks noChangeAspect="1"/>
          </p:cNvGraphicFramePr>
          <p:nvPr/>
        </p:nvGraphicFramePr>
        <p:xfrm>
          <a:off x="5465763" y="3627438"/>
          <a:ext cx="2058987" cy="471487"/>
        </p:xfrm>
        <a:graphic>
          <a:graphicData uri="http://schemas.openxmlformats.org/presentationml/2006/ole">
            <p:oleObj spid="_x0000_s20484" name="公式" r:id="rId5" imgW="2057400" imgH="469800" progId="Equation.3">
              <p:embed/>
            </p:oleObj>
          </a:graphicData>
        </a:graphic>
      </p:graphicFrame>
      <p:sp>
        <p:nvSpPr>
          <p:cNvPr id="148491" name="Text Box 11"/>
          <p:cNvSpPr txBox="1">
            <a:spLocks noChangeArrowheads="1"/>
          </p:cNvSpPr>
          <p:nvPr/>
        </p:nvSpPr>
        <p:spPr bwMode="auto">
          <a:xfrm>
            <a:off x="728663" y="4652963"/>
            <a:ext cx="4389437"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(2) </a:t>
            </a:r>
            <a:r>
              <a:rPr kumimoji="1" lang="zh-CN" altLang="en-US" sz="2400" b="1">
                <a:latin typeface="Times New Roman" pitchFamily="18" charset="0"/>
              </a:rPr>
              <a:t>由理想气体的状态方程得</a:t>
            </a:r>
          </a:p>
        </p:txBody>
      </p:sp>
      <p:graphicFrame>
        <p:nvGraphicFramePr>
          <p:cNvPr id="148492" name="Object 12"/>
          <p:cNvGraphicFramePr>
            <a:graphicFrameLocks noChangeAspect="1"/>
          </p:cNvGraphicFramePr>
          <p:nvPr/>
        </p:nvGraphicFramePr>
        <p:xfrm>
          <a:off x="2047875" y="5135563"/>
          <a:ext cx="3086100" cy="1320800"/>
        </p:xfrm>
        <a:graphic>
          <a:graphicData uri="http://schemas.openxmlformats.org/presentationml/2006/ole">
            <p:oleObj spid="_x0000_s20485" name="公式" r:id="rId6" imgW="3085920" imgH="1320480" progId="Equation.3">
              <p:embed/>
            </p:oleObj>
          </a:graphicData>
        </a:graphic>
      </p:graphicFrame>
      <p:graphicFrame>
        <p:nvGraphicFramePr>
          <p:cNvPr id="148493" name="Object 13"/>
          <p:cNvGraphicFramePr>
            <a:graphicFrameLocks noChangeAspect="1"/>
          </p:cNvGraphicFramePr>
          <p:nvPr/>
        </p:nvGraphicFramePr>
        <p:xfrm>
          <a:off x="5348288" y="5351463"/>
          <a:ext cx="1155700" cy="393700"/>
        </p:xfrm>
        <a:graphic>
          <a:graphicData uri="http://schemas.openxmlformats.org/presentationml/2006/ole">
            <p:oleObj spid="_x0000_s20486" name="公式" r:id="rId7" imgW="1155600" imgH="393480" progId="Equation.3">
              <p:embed/>
            </p:oleObj>
          </a:graphicData>
        </a:graphic>
      </p:graphicFrame>
      <p:sp>
        <p:nvSpPr>
          <p:cNvPr id="20494" name="Rectangle 14"/>
          <p:cNvSpPr>
            <a:spLocks noChangeArrowheads="1"/>
          </p:cNvSpPr>
          <p:nvPr/>
        </p:nvSpPr>
        <p:spPr bwMode="auto">
          <a:xfrm>
            <a:off x="685800" y="609600"/>
            <a:ext cx="7772400" cy="1143000"/>
          </a:xfrm>
          <a:prstGeom prst="rect">
            <a:avLst/>
          </a:prstGeom>
          <a:noFill/>
          <a:ln w="9525">
            <a:noFill/>
            <a:miter lim="800000"/>
            <a:headEnd/>
            <a:tailEnd/>
          </a:ln>
        </p:spPr>
        <p:txBody>
          <a:bodyPr/>
          <a:lstStyle/>
          <a:p>
            <a:r>
              <a:rPr lang="en-US" altLang="zh-CN" sz="4400"/>
              <a:t>  </a:t>
            </a:r>
          </a:p>
        </p:txBody>
      </p:sp>
      <p:sp>
        <p:nvSpPr>
          <p:cNvPr id="15" name="AutoShape 28">
            <a:hlinkClick r:id="rId8" action="ppaction://hlinkpres?slideindex=2&amp;slidetitle=幻灯片 2" highlightClick="1"/>
          </p:cNvPr>
          <p:cNvSpPr>
            <a:spLocks noChangeArrowheads="1"/>
          </p:cNvSpPr>
          <p:nvPr/>
        </p:nvSpPr>
        <p:spPr bwMode="auto">
          <a:xfrm>
            <a:off x="8072438" y="6000750"/>
            <a:ext cx="287337" cy="287338"/>
          </a:xfrm>
          <a:prstGeom prst="actionButtonBeginning">
            <a:avLst/>
          </a:prstGeom>
          <a:solidFill>
            <a:srgbClr val="99CCFF"/>
          </a:solidFill>
          <a:ln w="9525">
            <a:noFill/>
            <a:miter lim="800000"/>
            <a:headEnd/>
            <a:tailEnd/>
          </a:ln>
        </p:spPr>
        <p:txBody>
          <a:bodyPr wrap="none" anchor="ctr"/>
          <a:lstStyle/>
          <a:p>
            <a:pPr algn="ctr">
              <a:defRPr/>
            </a:pPr>
            <a:endParaRPr lang="zh-CN" altLang="en-US" sz="2400">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5"/>
                                        </p:tgtEl>
                                        <p:attrNameLst>
                                          <p:attrName>style.visibility</p:attrName>
                                        </p:attrNameLst>
                                      </p:cBhvr>
                                      <p:to>
                                        <p:strVal val="visible"/>
                                      </p:to>
                                    </p:set>
                                    <p:animEffect transition="in" filter="wipe(left)">
                                      <p:cBhvr>
                                        <p:cTn id="7" dur="500"/>
                                        <p:tgtEl>
                                          <p:spTgt spid="14848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8482"/>
                                        </p:tgtEl>
                                        <p:attrNameLst>
                                          <p:attrName>style.visibility</p:attrName>
                                        </p:attrNameLst>
                                      </p:cBhvr>
                                      <p:to>
                                        <p:strVal val="visible"/>
                                      </p:to>
                                    </p:set>
                                    <p:animEffect transition="in" filter="wipe(left)">
                                      <p:cBhvr>
                                        <p:cTn id="11" dur="500"/>
                                        <p:tgtEl>
                                          <p:spTgt spid="14848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8486"/>
                                        </p:tgtEl>
                                        <p:attrNameLst>
                                          <p:attrName>style.visibility</p:attrName>
                                        </p:attrNameLst>
                                      </p:cBhvr>
                                      <p:to>
                                        <p:strVal val="visible"/>
                                      </p:to>
                                    </p:set>
                                    <p:animEffect transition="in" filter="wipe(left)">
                                      <p:cBhvr>
                                        <p:cTn id="16" dur="500"/>
                                        <p:tgtEl>
                                          <p:spTgt spid="14848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48487"/>
                                        </p:tgtEl>
                                        <p:attrNameLst>
                                          <p:attrName>style.visibility</p:attrName>
                                        </p:attrNameLst>
                                      </p:cBhvr>
                                      <p:to>
                                        <p:strVal val="visible"/>
                                      </p:to>
                                    </p:set>
                                    <p:animEffect transition="in" filter="wipe(left)">
                                      <p:cBhvr>
                                        <p:cTn id="20" dur="500"/>
                                        <p:tgtEl>
                                          <p:spTgt spid="14848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8488"/>
                                        </p:tgtEl>
                                        <p:attrNameLst>
                                          <p:attrName>style.visibility</p:attrName>
                                        </p:attrNameLst>
                                      </p:cBhvr>
                                      <p:to>
                                        <p:strVal val="visible"/>
                                      </p:to>
                                    </p:set>
                                    <p:animEffect transition="in" filter="wipe(left)">
                                      <p:cBhvr>
                                        <p:cTn id="25" dur="500"/>
                                        <p:tgtEl>
                                          <p:spTgt spid="14848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8483"/>
                                        </p:tgtEl>
                                        <p:attrNameLst>
                                          <p:attrName>style.visibility</p:attrName>
                                        </p:attrNameLst>
                                      </p:cBhvr>
                                      <p:to>
                                        <p:strVal val="visible"/>
                                      </p:to>
                                    </p:set>
                                    <p:animEffect transition="in" filter="wipe(left)">
                                      <p:cBhvr>
                                        <p:cTn id="30" dur="500"/>
                                        <p:tgtEl>
                                          <p:spTgt spid="14848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8484"/>
                                        </p:tgtEl>
                                        <p:attrNameLst>
                                          <p:attrName>style.visibility</p:attrName>
                                        </p:attrNameLst>
                                      </p:cBhvr>
                                      <p:to>
                                        <p:strVal val="visible"/>
                                      </p:to>
                                    </p:set>
                                    <p:animEffect transition="in" filter="wipe(left)">
                                      <p:cBhvr>
                                        <p:cTn id="35" dur="500"/>
                                        <p:tgtEl>
                                          <p:spTgt spid="14848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48489"/>
                                        </p:tgtEl>
                                        <p:attrNameLst>
                                          <p:attrName>style.visibility</p:attrName>
                                        </p:attrNameLst>
                                      </p:cBhvr>
                                      <p:to>
                                        <p:strVal val="visible"/>
                                      </p:to>
                                    </p:set>
                                    <p:animEffect transition="in" filter="wipe(left)">
                                      <p:cBhvr>
                                        <p:cTn id="40" dur="500"/>
                                        <p:tgtEl>
                                          <p:spTgt spid="1484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8490"/>
                                        </p:tgtEl>
                                        <p:attrNameLst>
                                          <p:attrName>style.visibility</p:attrName>
                                        </p:attrNameLst>
                                      </p:cBhvr>
                                      <p:to>
                                        <p:strVal val="visible"/>
                                      </p:to>
                                    </p:set>
                                    <p:animEffect transition="in" filter="wipe(left)">
                                      <p:cBhvr>
                                        <p:cTn id="45" dur="500"/>
                                        <p:tgtEl>
                                          <p:spTgt spid="14849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8491"/>
                                        </p:tgtEl>
                                        <p:attrNameLst>
                                          <p:attrName>style.visibility</p:attrName>
                                        </p:attrNameLst>
                                      </p:cBhvr>
                                      <p:to>
                                        <p:strVal val="visible"/>
                                      </p:to>
                                    </p:set>
                                    <p:animEffect transition="in" filter="wipe(left)">
                                      <p:cBhvr>
                                        <p:cTn id="50" dur="500"/>
                                        <p:tgtEl>
                                          <p:spTgt spid="14849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48492"/>
                                        </p:tgtEl>
                                        <p:attrNameLst>
                                          <p:attrName>style.visibility</p:attrName>
                                        </p:attrNameLst>
                                      </p:cBhvr>
                                      <p:to>
                                        <p:strVal val="visible"/>
                                      </p:to>
                                    </p:set>
                                    <p:animEffect transition="in" filter="wipe(left)">
                                      <p:cBhvr>
                                        <p:cTn id="55" dur="500"/>
                                        <p:tgtEl>
                                          <p:spTgt spid="14849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48493"/>
                                        </p:tgtEl>
                                        <p:attrNameLst>
                                          <p:attrName>style.visibility</p:attrName>
                                        </p:attrNameLst>
                                      </p:cBhvr>
                                      <p:to>
                                        <p:strVal val="visible"/>
                                      </p:to>
                                    </p:set>
                                    <p:animEffect transition="in" filter="wipe(left)">
                                      <p:cBhvr>
                                        <p:cTn id="60" dur="500"/>
                                        <p:tgtEl>
                                          <p:spTgt spid="14849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left)">
                                      <p:cBhvr>
                                        <p:cTn id="6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utoUpdateAnimBg="0"/>
      <p:bldP spid="148483" grpId="0" autoUpdateAnimBg="0"/>
      <p:bldP spid="148485" grpId="0" autoUpdateAnimBg="0"/>
      <p:bldP spid="148486" grpId="0" autoUpdateAnimBg="0"/>
      <p:bldP spid="148487" grpId="0" autoUpdateAnimBg="0"/>
      <p:bldP spid="148488" grpId="0" autoUpdateAnimBg="0"/>
      <p:bldP spid="148491" grpId="0" autoUpdateAnimBg="0"/>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3" name="Text Box 4">
            <a:hlinkClick r:id="rId3" action="ppaction://hlinkpres?slideindex=1&amp;slidetitle="/>
          </p:cNvPr>
          <p:cNvSpPr txBox="1">
            <a:spLocks noChangeArrowheads="1"/>
          </p:cNvSpPr>
          <p:nvPr/>
        </p:nvSpPr>
        <p:spPr bwMode="auto">
          <a:xfrm>
            <a:off x="2339975" y="476250"/>
            <a:ext cx="5688013" cy="519113"/>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§8.3     </a:t>
            </a:r>
            <a:r>
              <a:rPr lang="zh-CN" altLang="en-US" sz="2800" b="1">
                <a:solidFill>
                  <a:srgbClr val="0000FF"/>
                </a:solidFill>
                <a:latin typeface="黑体" pitchFamily="2" charset="-122"/>
                <a:ea typeface="黑体" pitchFamily="2" charset="-122"/>
              </a:rPr>
              <a:t>温度的微观本质</a:t>
            </a:r>
          </a:p>
        </p:txBody>
      </p:sp>
      <p:sp>
        <p:nvSpPr>
          <p:cNvPr id="8197" name="Text Box 5"/>
          <p:cNvSpPr txBox="1">
            <a:spLocks noChangeArrowheads="1"/>
          </p:cNvSpPr>
          <p:nvPr/>
        </p:nvSpPr>
        <p:spPr bwMode="auto">
          <a:xfrm>
            <a:off x="179388" y="1100138"/>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8.3.1  </a:t>
            </a:r>
            <a:r>
              <a:rPr kumimoji="1" lang="zh-CN" altLang="en-US" sz="2400" b="1">
                <a:solidFill>
                  <a:srgbClr val="0000FF"/>
                </a:solidFill>
                <a:latin typeface="Times New Roman" pitchFamily="18" charset="0"/>
              </a:rPr>
              <a:t>温度的微观解释</a:t>
            </a:r>
            <a:r>
              <a:rPr kumimoji="1" lang="zh-CN" altLang="en-US" sz="2400">
                <a:latin typeface="Times New Roman" pitchFamily="18" charset="0"/>
              </a:rPr>
              <a:t> </a:t>
            </a:r>
          </a:p>
        </p:txBody>
      </p:sp>
      <p:sp>
        <p:nvSpPr>
          <p:cNvPr id="8214" name="Rectangle 22"/>
          <p:cNvSpPr>
            <a:spLocks noChangeArrowheads="1"/>
          </p:cNvSpPr>
          <p:nvPr/>
        </p:nvSpPr>
        <p:spPr bwMode="auto">
          <a:xfrm>
            <a:off x="827088" y="1628775"/>
            <a:ext cx="5346700" cy="463550"/>
          </a:xfrm>
          <a:prstGeom prst="rect">
            <a:avLst/>
          </a:prstGeom>
          <a:noFill/>
          <a:ln w="9525">
            <a:noFill/>
            <a:miter lim="800000"/>
            <a:headEnd/>
            <a:tailEnd/>
          </a:ln>
        </p:spPr>
        <p:txBody>
          <a:bodyPr anchor="ctr">
            <a:spAutoFit/>
          </a:bodyPr>
          <a:lstStyle/>
          <a:p>
            <a:pPr>
              <a:lnSpc>
                <a:spcPct val="115000"/>
              </a:lnSpc>
              <a:defRPr/>
            </a:pPr>
            <a:r>
              <a:rPr lang="zh-CN" altLang="en-US" sz="2400" b="1" dirty="0">
                <a:latin typeface="+mn-ea"/>
                <a:ea typeface="+mn-ea"/>
              </a:rPr>
              <a:t>由理想气体状态方程</a:t>
            </a:r>
          </a:p>
        </p:txBody>
      </p:sp>
      <p:graphicFrame>
        <p:nvGraphicFramePr>
          <p:cNvPr id="8215" name="Object 23"/>
          <p:cNvGraphicFramePr>
            <a:graphicFrameLocks noChangeAspect="1"/>
          </p:cNvGraphicFramePr>
          <p:nvPr/>
        </p:nvGraphicFramePr>
        <p:xfrm>
          <a:off x="827088" y="2349500"/>
          <a:ext cx="1539875" cy="736600"/>
        </p:xfrm>
        <a:graphic>
          <a:graphicData uri="http://schemas.openxmlformats.org/presentationml/2006/ole">
            <p:oleObj spid="_x0000_s21506" name="公式" r:id="rId4" imgW="850680" imgH="406080" progId="Equation.3">
              <p:embed/>
            </p:oleObj>
          </a:graphicData>
        </a:graphic>
      </p:graphicFrame>
      <p:sp>
        <p:nvSpPr>
          <p:cNvPr id="8218" name="AutoShape 26"/>
          <p:cNvSpPr>
            <a:spLocks noChangeArrowheads="1"/>
          </p:cNvSpPr>
          <p:nvPr/>
        </p:nvSpPr>
        <p:spPr bwMode="auto">
          <a:xfrm>
            <a:off x="2482850" y="2636838"/>
            <a:ext cx="504825" cy="144462"/>
          </a:xfrm>
          <a:prstGeom prst="rightArrow">
            <a:avLst>
              <a:gd name="adj1" fmla="val 50000"/>
              <a:gd name="adj2" fmla="val 87363"/>
            </a:avLst>
          </a:prstGeom>
          <a:solidFill>
            <a:srgbClr val="3366FF"/>
          </a:solidFill>
          <a:ln w="9525" algn="ctr">
            <a:solidFill>
              <a:schemeClr val="tx1"/>
            </a:solidFill>
            <a:miter lim="800000"/>
            <a:headEnd/>
            <a:tailEnd/>
          </a:ln>
        </p:spPr>
        <p:txBody>
          <a:bodyPr wrap="none" anchor="ctr"/>
          <a:lstStyle/>
          <a:p>
            <a:pPr algn="ctr"/>
            <a:endParaRPr lang="zh-CN" altLang="en-US"/>
          </a:p>
        </p:txBody>
      </p:sp>
      <p:graphicFrame>
        <p:nvGraphicFramePr>
          <p:cNvPr id="8219" name="Object 27"/>
          <p:cNvGraphicFramePr>
            <a:graphicFrameLocks noChangeAspect="1"/>
          </p:cNvGraphicFramePr>
          <p:nvPr/>
        </p:nvGraphicFramePr>
        <p:xfrm>
          <a:off x="3130550" y="2343150"/>
          <a:ext cx="1482725" cy="798513"/>
        </p:xfrm>
        <a:graphic>
          <a:graphicData uri="http://schemas.openxmlformats.org/presentationml/2006/ole">
            <p:oleObj spid="_x0000_s21507" name="公式" r:id="rId5" imgW="825480" imgH="444240" progId="Equation.3">
              <p:embed/>
            </p:oleObj>
          </a:graphicData>
        </a:graphic>
      </p:graphicFrame>
      <p:sp>
        <p:nvSpPr>
          <p:cNvPr id="8220" name="AutoShape 28"/>
          <p:cNvSpPr>
            <a:spLocks noChangeArrowheads="1"/>
          </p:cNvSpPr>
          <p:nvPr/>
        </p:nvSpPr>
        <p:spPr bwMode="auto">
          <a:xfrm>
            <a:off x="4787900" y="2636838"/>
            <a:ext cx="2592388" cy="144462"/>
          </a:xfrm>
          <a:prstGeom prst="rightArrow">
            <a:avLst>
              <a:gd name="adj1" fmla="val 50000"/>
              <a:gd name="adj2" fmla="val 448628"/>
            </a:avLst>
          </a:prstGeom>
          <a:solidFill>
            <a:srgbClr val="3366FF"/>
          </a:solidFill>
          <a:ln w="9525" algn="ctr">
            <a:solidFill>
              <a:schemeClr val="tx1"/>
            </a:solidFill>
            <a:miter lim="800000"/>
            <a:headEnd/>
            <a:tailEnd/>
          </a:ln>
        </p:spPr>
        <p:txBody>
          <a:bodyPr wrap="none" anchor="ctr"/>
          <a:lstStyle/>
          <a:p>
            <a:pPr algn="ctr"/>
            <a:endParaRPr lang="zh-CN" altLang="en-US"/>
          </a:p>
        </p:txBody>
      </p:sp>
      <p:graphicFrame>
        <p:nvGraphicFramePr>
          <p:cNvPr id="8221" name="Object 29"/>
          <p:cNvGraphicFramePr>
            <a:graphicFrameLocks noChangeAspect="1"/>
          </p:cNvGraphicFramePr>
          <p:nvPr/>
        </p:nvGraphicFramePr>
        <p:xfrm>
          <a:off x="4770438" y="2347913"/>
          <a:ext cx="2543175" cy="360362"/>
        </p:xfrm>
        <a:graphic>
          <a:graphicData uri="http://schemas.openxmlformats.org/presentationml/2006/ole">
            <p:oleObj spid="_x0000_s21508" name="Equation" r:id="rId6" imgW="1688760" imgH="241200" progId="">
              <p:embed/>
            </p:oleObj>
          </a:graphicData>
        </a:graphic>
      </p:graphicFrame>
      <p:sp>
        <p:nvSpPr>
          <p:cNvPr id="8222" name="Rectangle 30"/>
          <p:cNvSpPr>
            <a:spLocks noChangeArrowheads="1"/>
          </p:cNvSpPr>
          <p:nvPr/>
        </p:nvSpPr>
        <p:spPr bwMode="auto">
          <a:xfrm>
            <a:off x="4922838" y="2708275"/>
            <a:ext cx="1881187" cy="382588"/>
          </a:xfrm>
          <a:prstGeom prst="rect">
            <a:avLst/>
          </a:prstGeom>
          <a:noFill/>
          <a:ln w="9525">
            <a:noFill/>
            <a:miter lim="800000"/>
            <a:headEnd/>
            <a:tailEnd/>
          </a:ln>
        </p:spPr>
        <p:txBody>
          <a:bodyPr>
            <a:spAutoFit/>
          </a:bodyPr>
          <a:lstStyle/>
          <a:p>
            <a:pPr>
              <a:lnSpc>
                <a:spcPct val="115000"/>
              </a:lnSpc>
            </a:pPr>
            <a:r>
              <a:rPr kumimoji="1" lang="zh-CN" altLang="en-US" b="1">
                <a:solidFill>
                  <a:srgbClr val="FF6600"/>
                </a:solidFill>
                <a:latin typeface="Times New Roman" pitchFamily="18" charset="0"/>
                <a:ea typeface="楷体_GB2312" pitchFamily="49" charset="-122"/>
              </a:rPr>
              <a:t>玻耳兹曼常量</a:t>
            </a:r>
          </a:p>
        </p:txBody>
      </p:sp>
      <p:graphicFrame>
        <p:nvGraphicFramePr>
          <p:cNvPr id="8223" name="Object 31"/>
          <p:cNvGraphicFramePr>
            <a:graphicFrameLocks noChangeAspect="1"/>
          </p:cNvGraphicFramePr>
          <p:nvPr/>
        </p:nvGraphicFramePr>
        <p:xfrm>
          <a:off x="7470775" y="2492375"/>
          <a:ext cx="1062038" cy="366713"/>
        </p:xfrm>
        <a:graphic>
          <a:graphicData uri="http://schemas.openxmlformats.org/presentationml/2006/ole">
            <p:oleObj spid="_x0000_s21509" name="公式" r:id="rId7" imgW="583920" imgH="203040" progId="Equation.3">
              <p:embed/>
            </p:oleObj>
          </a:graphicData>
        </a:graphic>
      </p:graphicFrame>
      <p:sp>
        <p:nvSpPr>
          <p:cNvPr id="8224" name="Text Box 32"/>
          <p:cNvSpPr txBox="1">
            <a:spLocks noChangeArrowheads="1"/>
          </p:cNvSpPr>
          <p:nvPr/>
        </p:nvSpPr>
        <p:spPr bwMode="auto">
          <a:xfrm>
            <a:off x="836613" y="3276600"/>
            <a:ext cx="8056562" cy="479425"/>
          </a:xfrm>
          <a:prstGeom prst="rect">
            <a:avLst/>
          </a:prstGeom>
          <a:noFill/>
          <a:ln w="9525">
            <a:noFill/>
            <a:miter lim="800000"/>
            <a:headEnd/>
            <a:tailEnd/>
          </a:ln>
        </p:spPr>
        <p:txBody>
          <a:bodyPr>
            <a:spAutoFit/>
          </a:bodyPr>
          <a:lstStyle/>
          <a:p>
            <a:pPr>
              <a:lnSpc>
                <a:spcPct val="115000"/>
              </a:lnSpc>
            </a:pPr>
            <a:r>
              <a:rPr kumimoji="1" lang="zh-CN" altLang="en-US" sz="2400" b="1">
                <a:solidFill>
                  <a:srgbClr val="FF0000"/>
                </a:solidFill>
                <a:latin typeface="Times New Roman" pitchFamily="18" charset="0"/>
                <a:ea typeface="楷体_GB2312" pitchFamily="49" charset="-122"/>
              </a:rPr>
              <a:t>在相同的温度和压强下，各种气体的分子数密度相等。</a:t>
            </a:r>
          </a:p>
        </p:txBody>
      </p:sp>
      <p:sp>
        <p:nvSpPr>
          <p:cNvPr id="8225" name="Rectangle 33"/>
          <p:cNvSpPr>
            <a:spLocks noChangeArrowheads="1"/>
          </p:cNvSpPr>
          <p:nvPr/>
        </p:nvSpPr>
        <p:spPr bwMode="auto">
          <a:xfrm>
            <a:off x="827088" y="3924300"/>
            <a:ext cx="5346700" cy="463550"/>
          </a:xfrm>
          <a:prstGeom prst="rect">
            <a:avLst/>
          </a:prstGeom>
          <a:noFill/>
          <a:ln w="9525">
            <a:noFill/>
            <a:miter lim="800000"/>
            <a:headEnd/>
            <a:tailEnd/>
          </a:ln>
        </p:spPr>
        <p:txBody>
          <a:bodyPr anchor="ctr">
            <a:spAutoFit/>
          </a:bodyPr>
          <a:lstStyle/>
          <a:p>
            <a:pPr>
              <a:lnSpc>
                <a:spcPct val="115000"/>
              </a:lnSpc>
              <a:defRPr/>
            </a:pPr>
            <a:r>
              <a:rPr lang="zh-CN" altLang="en-US" sz="2400" b="1">
                <a:latin typeface="+mn-ea"/>
                <a:ea typeface="+mn-ea"/>
              </a:rPr>
              <a:t>而理想气体压强公式</a:t>
            </a:r>
          </a:p>
        </p:txBody>
      </p:sp>
      <p:graphicFrame>
        <p:nvGraphicFramePr>
          <p:cNvPr id="8226" name="Object 34"/>
          <p:cNvGraphicFramePr>
            <a:graphicFrameLocks noChangeAspect="1"/>
          </p:cNvGraphicFramePr>
          <p:nvPr/>
        </p:nvGraphicFramePr>
        <p:xfrm>
          <a:off x="3929063" y="3708400"/>
          <a:ext cx="1285875" cy="812800"/>
        </p:xfrm>
        <a:graphic>
          <a:graphicData uri="http://schemas.openxmlformats.org/presentationml/2006/ole">
            <p:oleObj spid="_x0000_s21510" name="公式" r:id="rId8" imgW="634680" imgH="406080" progId="Equation.3">
              <p:embed/>
            </p:oleObj>
          </a:graphicData>
        </a:graphic>
      </p:graphicFrame>
      <p:sp>
        <p:nvSpPr>
          <p:cNvPr id="8227" name="Rectangle 35"/>
          <p:cNvSpPr>
            <a:spLocks noChangeArrowheads="1"/>
          </p:cNvSpPr>
          <p:nvPr/>
        </p:nvSpPr>
        <p:spPr bwMode="auto">
          <a:xfrm>
            <a:off x="827088" y="4572000"/>
            <a:ext cx="5346700" cy="463550"/>
          </a:xfrm>
          <a:prstGeom prst="rect">
            <a:avLst/>
          </a:prstGeom>
          <a:noFill/>
          <a:ln w="9525">
            <a:noFill/>
            <a:miter lim="800000"/>
            <a:headEnd/>
            <a:tailEnd/>
          </a:ln>
        </p:spPr>
        <p:txBody>
          <a:bodyPr anchor="ctr">
            <a:spAutoFit/>
          </a:bodyPr>
          <a:lstStyle/>
          <a:p>
            <a:pPr>
              <a:lnSpc>
                <a:spcPct val="115000"/>
              </a:lnSpc>
              <a:defRPr/>
            </a:pPr>
            <a:r>
              <a:rPr lang="zh-CN" altLang="en-US" sz="2400" b="1" dirty="0">
                <a:latin typeface="+mn-ea"/>
                <a:ea typeface="+mn-ea"/>
              </a:rPr>
              <a:t>则理想气体分子的</a:t>
            </a:r>
            <a:r>
              <a:rPr lang="zh-CN" altLang="en-US" sz="2400" b="1" dirty="0">
                <a:solidFill>
                  <a:srgbClr val="FF6600"/>
                </a:solidFill>
                <a:latin typeface="+mn-ea"/>
                <a:ea typeface="+mn-ea"/>
              </a:rPr>
              <a:t>平均平动动能</a:t>
            </a:r>
            <a:r>
              <a:rPr lang="zh-CN" altLang="en-US" sz="2400" b="1" dirty="0">
                <a:latin typeface="+mn-ea"/>
                <a:ea typeface="+mn-ea"/>
              </a:rPr>
              <a:t>为： </a:t>
            </a:r>
          </a:p>
        </p:txBody>
      </p:sp>
      <p:graphicFrame>
        <p:nvGraphicFramePr>
          <p:cNvPr id="8228" name="Object 36"/>
          <p:cNvGraphicFramePr>
            <a:graphicFrameLocks noChangeAspect="1"/>
          </p:cNvGraphicFramePr>
          <p:nvPr/>
        </p:nvGraphicFramePr>
        <p:xfrm>
          <a:off x="3489325" y="5143500"/>
          <a:ext cx="1277938" cy="730250"/>
        </p:xfrm>
        <a:graphic>
          <a:graphicData uri="http://schemas.openxmlformats.org/presentationml/2006/ole">
            <p:oleObj spid="_x0000_s21511" name="公式" r:id="rId9" imgW="711000" imgH="406080" progId="Equation.3">
              <p:embed/>
            </p:oleObj>
          </a:graphicData>
        </a:graphic>
      </p:graphicFrame>
      <p:graphicFrame>
        <p:nvGraphicFramePr>
          <p:cNvPr id="8229" name="Object 37"/>
          <p:cNvGraphicFramePr>
            <a:graphicFrameLocks noChangeAspect="1"/>
          </p:cNvGraphicFramePr>
          <p:nvPr/>
        </p:nvGraphicFramePr>
        <p:xfrm>
          <a:off x="4857750" y="5143500"/>
          <a:ext cx="866775" cy="728663"/>
        </p:xfrm>
        <a:graphic>
          <a:graphicData uri="http://schemas.openxmlformats.org/presentationml/2006/ole">
            <p:oleObj spid="_x0000_s21512" name="公式" r:id="rId10" imgW="482400" imgH="406080" progId="Equation.3">
              <p:embed/>
            </p:oleObj>
          </a:graphicData>
        </a:graphic>
      </p:graphicFrame>
      <p:sp>
        <p:nvSpPr>
          <p:cNvPr id="8230" name="Rectangle 38"/>
          <p:cNvSpPr>
            <a:spLocks noChangeArrowheads="1"/>
          </p:cNvSpPr>
          <p:nvPr/>
        </p:nvSpPr>
        <p:spPr bwMode="auto">
          <a:xfrm>
            <a:off x="647700" y="5868988"/>
            <a:ext cx="8388350" cy="512762"/>
          </a:xfrm>
          <a:prstGeom prst="rect">
            <a:avLst/>
          </a:prstGeom>
          <a:noFill/>
          <a:ln w="9525">
            <a:noFill/>
            <a:miter lim="800000"/>
            <a:headEnd/>
            <a:tailEnd/>
          </a:ln>
        </p:spPr>
        <p:txBody>
          <a:bodyPr>
            <a:spAutoFit/>
          </a:bodyPr>
          <a:lstStyle/>
          <a:p>
            <a:pPr>
              <a:lnSpc>
                <a:spcPct val="115000"/>
              </a:lnSpc>
            </a:pPr>
            <a:r>
              <a:rPr kumimoji="1" lang="zh-CN" altLang="en-US" sz="2400" b="1">
                <a:solidFill>
                  <a:srgbClr val="FF0000"/>
                </a:solidFill>
                <a:latin typeface="楷体_GB2312" pitchFamily="49" charset="-122"/>
                <a:ea typeface="楷体_GB2312" pitchFamily="49" charset="-122"/>
              </a:rPr>
              <a:t>每个分子平均平动动能只与温度有关，与气体的种类无关。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left)">
                                      <p:cBhvr>
                                        <p:cTn id="7" dur="20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14"/>
                                        </p:tgtEl>
                                        <p:attrNameLst>
                                          <p:attrName>style.visibility</p:attrName>
                                        </p:attrNameLst>
                                      </p:cBhvr>
                                      <p:to>
                                        <p:strVal val="visible"/>
                                      </p:to>
                                    </p:set>
                                    <p:animEffect transition="in" filter="wipe(left)">
                                      <p:cBhvr>
                                        <p:cTn id="12" dur="500"/>
                                        <p:tgtEl>
                                          <p:spTgt spid="82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215"/>
                                        </p:tgtEl>
                                        <p:attrNameLst>
                                          <p:attrName>style.visibility</p:attrName>
                                        </p:attrNameLst>
                                      </p:cBhvr>
                                      <p:to>
                                        <p:strVal val="visible"/>
                                      </p:to>
                                    </p:set>
                                    <p:animEffect transition="in" filter="wipe(left)">
                                      <p:cBhvr>
                                        <p:cTn id="17" dur="500"/>
                                        <p:tgtEl>
                                          <p:spTgt spid="82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18"/>
                                        </p:tgtEl>
                                        <p:attrNameLst>
                                          <p:attrName>style.visibility</p:attrName>
                                        </p:attrNameLst>
                                      </p:cBhvr>
                                      <p:to>
                                        <p:strVal val="visible"/>
                                      </p:to>
                                    </p:set>
                                    <p:animEffect transition="in" filter="wipe(left)">
                                      <p:cBhvr>
                                        <p:cTn id="22" dur="500"/>
                                        <p:tgtEl>
                                          <p:spTgt spid="821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219"/>
                                        </p:tgtEl>
                                        <p:attrNameLst>
                                          <p:attrName>style.visibility</p:attrName>
                                        </p:attrNameLst>
                                      </p:cBhvr>
                                      <p:to>
                                        <p:strVal val="visible"/>
                                      </p:to>
                                    </p:set>
                                    <p:animEffect transition="in" filter="wipe(left)">
                                      <p:cBhvr>
                                        <p:cTn id="26" dur="500"/>
                                        <p:tgtEl>
                                          <p:spTgt spid="82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220"/>
                                        </p:tgtEl>
                                        <p:attrNameLst>
                                          <p:attrName>style.visibility</p:attrName>
                                        </p:attrNameLst>
                                      </p:cBhvr>
                                      <p:to>
                                        <p:strVal val="visible"/>
                                      </p:to>
                                    </p:set>
                                    <p:animEffect transition="in" filter="wipe(left)">
                                      <p:cBhvr>
                                        <p:cTn id="31" dur="500"/>
                                        <p:tgtEl>
                                          <p:spTgt spid="82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8221"/>
                                        </p:tgtEl>
                                        <p:attrNameLst>
                                          <p:attrName>style.visibility</p:attrName>
                                        </p:attrNameLst>
                                      </p:cBhvr>
                                      <p:to>
                                        <p:strVal val="visible"/>
                                      </p:to>
                                    </p:set>
                                    <p:animEffect transition="in" filter="wipe(left)">
                                      <p:cBhvr>
                                        <p:cTn id="36" dur="500"/>
                                        <p:tgtEl>
                                          <p:spTgt spid="822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8222"/>
                                        </p:tgtEl>
                                        <p:attrNameLst>
                                          <p:attrName>style.visibility</p:attrName>
                                        </p:attrNameLst>
                                      </p:cBhvr>
                                      <p:to>
                                        <p:strVal val="visible"/>
                                      </p:to>
                                    </p:set>
                                    <p:animEffect transition="in" filter="wipe(left)">
                                      <p:cBhvr>
                                        <p:cTn id="40" dur="1000"/>
                                        <p:tgtEl>
                                          <p:spTgt spid="822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8223"/>
                                        </p:tgtEl>
                                        <p:attrNameLst>
                                          <p:attrName>style.visibility</p:attrName>
                                        </p:attrNameLst>
                                      </p:cBhvr>
                                      <p:to>
                                        <p:strVal val="visible"/>
                                      </p:to>
                                    </p:set>
                                    <p:animEffect transition="in" filter="wipe(left)">
                                      <p:cBhvr>
                                        <p:cTn id="45" dur="500"/>
                                        <p:tgtEl>
                                          <p:spTgt spid="82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224"/>
                                        </p:tgtEl>
                                        <p:attrNameLst>
                                          <p:attrName>style.visibility</p:attrName>
                                        </p:attrNameLst>
                                      </p:cBhvr>
                                      <p:to>
                                        <p:strVal val="visible"/>
                                      </p:to>
                                    </p:set>
                                    <p:animEffect transition="in" filter="wipe(left)">
                                      <p:cBhvr>
                                        <p:cTn id="50" dur="500"/>
                                        <p:tgtEl>
                                          <p:spTgt spid="82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225"/>
                                        </p:tgtEl>
                                        <p:attrNameLst>
                                          <p:attrName>style.visibility</p:attrName>
                                        </p:attrNameLst>
                                      </p:cBhvr>
                                      <p:to>
                                        <p:strVal val="visible"/>
                                      </p:to>
                                    </p:set>
                                    <p:animEffect transition="in" filter="wipe(left)">
                                      <p:cBhvr>
                                        <p:cTn id="55" dur="500"/>
                                        <p:tgtEl>
                                          <p:spTgt spid="82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8226"/>
                                        </p:tgtEl>
                                        <p:attrNameLst>
                                          <p:attrName>style.visibility</p:attrName>
                                        </p:attrNameLst>
                                      </p:cBhvr>
                                      <p:to>
                                        <p:strVal val="visible"/>
                                      </p:to>
                                    </p:set>
                                    <p:animEffect transition="in" filter="wipe(left)">
                                      <p:cBhvr>
                                        <p:cTn id="60" dur="500"/>
                                        <p:tgtEl>
                                          <p:spTgt spid="82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227"/>
                                        </p:tgtEl>
                                        <p:attrNameLst>
                                          <p:attrName>style.visibility</p:attrName>
                                        </p:attrNameLst>
                                      </p:cBhvr>
                                      <p:to>
                                        <p:strVal val="visible"/>
                                      </p:to>
                                    </p:set>
                                    <p:animEffect transition="in" filter="wipe(left)">
                                      <p:cBhvr>
                                        <p:cTn id="65" dur="500"/>
                                        <p:tgtEl>
                                          <p:spTgt spid="82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8228"/>
                                        </p:tgtEl>
                                        <p:attrNameLst>
                                          <p:attrName>style.visibility</p:attrName>
                                        </p:attrNameLst>
                                      </p:cBhvr>
                                      <p:to>
                                        <p:strVal val="visible"/>
                                      </p:to>
                                    </p:set>
                                    <p:animEffect transition="in" filter="wipe(left)">
                                      <p:cBhvr>
                                        <p:cTn id="70" dur="500"/>
                                        <p:tgtEl>
                                          <p:spTgt spid="822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8229"/>
                                        </p:tgtEl>
                                        <p:attrNameLst>
                                          <p:attrName>style.visibility</p:attrName>
                                        </p:attrNameLst>
                                      </p:cBhvr>
                                      <p:to>
                                        <p:strVal val="visible"/>
                                      </p:to>
                                    </p:set>
                                    <p:animEffect transition="in" filter="wipe(left)">
                                      <p:cBhvr>
                                        <p:cTn id="75" dur="500"/>
                                        <p:tgtEl>
                                          <p:spTgt spid="822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8230"/>
                                        </p:tgtEl>
                                        <p:attrNameLst>
                                          <p:attrName>style.visibility</p:attrName>
                                        </p:attrNameLst>
                                      </p:cBhvr>
                                      <p:to>
                                        <p:strVal val="visible"/>
                                      </p:to>
                                    </p:set>
                                    <p:animEffect transition="in" filter="wipe(left)">
                                      <p:cBhvr>
                                        <p:cTn id="80" dur="500"/>
                                        <p:tgtEl>
                                          <p:spTgt spid="8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P spid="8214" grpId="0"/>
      <p:bldP spid="8218" grpId="0" animBg="1"/>
      <p:bldP spid="8220" grpId="0" animBg="1"/>
      <p:bldP spid="8222" grpId="0"/>
      <p:bldP spid="8224" grpId="0" autoUpdateAnimBg="0"/>
      <p:bldP spid="8225" grpId="0"/>
      <p:bldP spid="8227" grpId="0"/>
      <p:bldP spid="82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32" name="Text Box 8"/>
          <p:cNvSpPr txBox="1">
            <a:spLocks noChangeArrowheads="1"/>
          </p:cNvSpPr>
          <p:nvPr/>
        </p:nvSpPr>
        <p:spPr bwMode="auto">
          <a:xfrm>
            <a:off x="663575" y="549275"/>
            <a:ext cx="1387475" cy="512763"/>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pPr>
            <a:r>
              <a:rPr kumimoji="1" lang="zh-CN" altLang="en-US" sz="2400" b="1">
                <a:solidFill>
                  <a:srgbClr val="FF3300"/>
                </a:solidFill>
                <a:latin typeface="Times New Roman" pitchFamily="18" charset="0"/>
              </a:rPr>
              <a:t>说明</a:t>
            </a:r>
          </a:p>
        </p:txBody>
      </p:sp>
      <p:sp>
        <p:nvSpPr>
          <p:cNvPr id="231433" name="Text Box 9"/>
          <p:cNvSpPr txBox="1">
            <a:spLocks noChangeArrowheads="1"/>
          </p:cNvSpPr>
          <p:nvPr/>
        </p:nvSpPr>
        <p:spPr bwMode="auto">
          <a:xfrm>
            <a:off x="250825" y="2476500"/>
            <a:ext cx="7821613" cy="968375"/>
          </a:xfrm>
          <a:prstGeom prst="rect">
            <a:avLst/>
          </a:prstGeom>
          <a:noFill/>
          <a:ln w="9525">
            <a:noFill/>
            <a:miter lim="800000"/>
            <a:headEnd/>
            <a:tailEnd/>
          </a:ln>
        </p:spPr>
        <p:txBody>
          <a:bodyPr>
            <a:spAutoFit/>
          </a:bodyPr>
          <a:lstStyle/>
          <a:p>
            <a:pPr marL="457200" indent="-457200">
              <a:lnSpc>
                <a:spcPct val="125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温度是统计概念，是</a:t>
            </a:r>
            <a:r>
              <a:rPr kumimoji="1" lang="zh-CN" altLang="en-US" sz="2400" b="1" dirty="0">
                <a:solidFill>
                  <a:srgbClr val="FF6600"/>
                </a:solidFill>
                <a:latin typeface="Times New Roman" pitchFamily="18" charset="0"/>
                <a:ea typeface="+mn-ea"/>
                <a:cs typeface="Times New Roman" pitchFamily="18" charset="0"/>
              </a:rPr>
              <a:t>大量分子热运动的集体表现</a:t>
            </a:r>
            <a:r>
              <a:rPr kumimoji="1" lang="zh-CN" altLang="en-US" sz="2400" b="1" dirty="0">
                <a:latin typeface="Times New Roman" pitchFamily="18" charset="0"/>
                <a:ea typeface="+mn-ea"/>
                <a:cs typeface="Times New Roman" pitchFamily="18" charset="0"/>
              </a:rPr>
              <a:t>。对于单个或少数分子来说，温度的概念就失去了意义。 </a:t>
            </a:r>
          </a:p>
        </p:txBody>
      </p:sp>
      <p:sp>
        <p:nvSpPr>
          <p:cNvPr id="231434" name="Text Box 10"/>
          <p:cNvSpPr txBox="1">
            <a:spLocks noChangeArrowheads="1"/>
          </p:cNvSpPr>
          <p:nvPr/>
        </p:nvSpPr>
        <p:spPr bwMode="auto">
          <a:xfrm>
            <a:off x="206375" y="1423988"/>
            <a:ext cx="7937500" cy="1016000"/>
          </a:xfrm>
          <a:prstGeom prst="rect">
            <a:avLst/>
          </a:prstGeom>
          <a:noFill/>
          <a:ln w="9525">
            <a:noFill/>
            <a:miter lim="800000"/>
            <a:headEnd/>
            <a:tailEnd/>
          </a:ln>
        </p:spPr>
        <p:txBody>
          <a:bodyPr>
            <a:spAutoFit/>
          </a:bodyPr>
          <a:lstStyle/>
          <a:p>
            <a:pPr marL="457200" indent="-457200">
              <a:lnSpc>
                <a:spcPct val="125000"/>
              </a:lnSpc>
              <a:buFontTx/>
              <a:buAutoNum type="arabicParenBoth"/>
              <a:defRPr/>
            </a:pPr>
            <a:r>
              <a:rPr kumimoji="1" lang="zh-CN" altLang="en-US" sz="2400" b="1" dirty="0">
                <a:latin typeface="Times New Roman" pitchFamily="18" charset="0"/>
                <a:ea typeface="+mn-ea"/>
                <a:cs typeface="Times New Roman" pitchFamily="18" charset="0"/>
              </a:rPr>
              <a:t>温度是大量分子热运动平均平动动能的度量</a:t>
            </a: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是物体内部分子</a:t>
            </a:r>
            <a:r>
              <a:rPr kumimoji="1" lang="zh-CN" altLang="en-US" sz="2400" b="1" dirty="0">
                <a:solidFill>
                  <a:srgbClr val="FF6600"/>
                </a:solidFill>
                <a:latin typeface="Times New Roman" pitchFamily="18" charset="0"/>
                <a:ea typeface="+mn-ea"/>
                <a:cs typeface="Times New Roman" pitchFamily="18" charset="0"/>
              </a:rPr>
              <a:t>热运动剧烈程度</a:t>
            </a:r>
            <a:r>
              <a:rPr kumimoji="1" lang="zh-CN" altLang="en-US" sz="2400" b="1" dirty="0">
                <a:latin typeface="Times New Roman" pitchFamily="18" charset="0"/>
                <a:ea typeface="+mn-ea"/>
                <a:cs typeface="Times New Roman" pitchFamily="18" charset="0"/>
              </a:rPr>
              <a:t>的标志。</a:t>
            </a:r>
          </a:p>
        </p:txBody>
      </p:sp>
      <p:sp>
        <p:nvSpPr>
          <p:cNvPr id="231436" name="AutoShape 12"/>
          <p:cNvSpPr>
            <a:spLocks noChangeArrowheads="1"/>
          </p:cNvSpPr>
          <p:nvPr/>
        </p:nvSpPr>
        <p:spPr bwMode="auto">
          <a:xfrm>
            <a:off x="250825" y="5492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endParaRPr lang="zh-CN" altLang="en-US"/>
          </a:p>
        </p:txBody>
      </p:sp>
      <p:sp>
        <p:nvSpPr>
          <p:cNvPr id="231437" name="Text Box 13"/>
          <p:cNvSpPr txBox="1">
            <a:spLocks noChangeArrowheads="1"/>
          </p:cNvSpPr>
          <p:nvPr/>
        </p:nvSpPr>
        <p:spPr bwMode="auto">
          <a:xfrm>
            <a:off x="142875" y="3643313"/>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8.3.2   </a:t>
            </a:r>
            <a:r>
              <a:rPr kumimoji="1" lang="zh-CN" altLang="en-US" sz="2400" b="1">
                <a:solidFill>
                  <a:srgbClr val="0000FF"/>
                </a:solidFill>
              </a:rPr>
              <a:t>方均根速率</a:t>
            </a:r>
            <a:r>
              <a:rPr kumimoji="1" lang="zh-CN" altLang="en-US" sz="2400"/>
              <a:t> </a:t>
            </a:r>
          </a:p>
        </p:txBody>
      </p:sp>
      <p:graphicFrame>
        <p:nvGraphicFramePr>
          <p:cNvPr id="231438" name="Object 14"/>
          <p:cNvGraphicFramePr>
            <a:graphicFrameLocks noChangeAspect="1"/>
          </p:cNvGraphicFramePr>
          <p:nvPr/>
        </p:nvGraphicFramePr>
        <p:xfrm>
          <a:off x="2643188" y="4214813"/>
          <a:ext cx="2300287" cy="844550"/>
        </p:xfrm>
        <a:graphic>
          <a:graphicData uri="http://schemas.openxmlformats.org/presentationml/2006/ole">
            <p:oleObj spid="_x0000_s22530" name="公式" r:id="rId3" imgW="1269720" imgH="469800" progId="Equation.3">
              <p:embed/>
            </p:oleObj>
          </a:graphicData>
        </a:graphic>
      </p:graphicFrame>
      <p:graphicFrame>
        <p:nvGraphicFramePr>
          <p:cNvPr id="231440" name="Object 16"/>
          <p:cNvGraphicFramePr>
            <a:graphicFrameLocks noChangeAspect="1"/>
          </p:cNvGraphicFramePr>
          <p:nvPr/>
        </p:nvGraphicFramePr>
        <p:xfrm>
          <a:off x="5072063" y="4214813"/>
          <a:ext cx="1104900" cy="798512"/>
        </p:xfrm>
        <a:graphic>
          <a:graphicData uri="http://schemas.openxmlformats.org/presentationml/2006/ole">
            <p:oleObj spid="_x0000_s22531" name="公式" r:id="rId4" imgW="609480" imgH="444240" progId="Equation.3">
              <p:embed/>
            </p:oleObj>
          </a:graphicData>
        </a:graphic>
      </p:graphicFrame>
      <p:sp>
        <p:nvSpPr>
          <p:cNvPr id="231441" name="Text Box 17"/>
          <p:cNvSpPr txBox="1">
            <a:spLocks noChangeArrowheads="1"/>
          </p:cNvSpPr>
          <p:nvPr/>
        </p:nvSpPr>
        <p:spPr bwMode="auto">
          <a:xfrm>
            <a:off x="571500" y="5286375"/>
            <a:ext cx="8064500" cy="457200"/>
          </a:xfrm>
          <a:prstGeom prst="rect">
            <a:avLst/>
          </a:prstGeom>
          <a:noFill/>
          <a:ln w="9525">
            <a:noFill/>
            <a:miter lim="800000"/>
            <a:headEnd/>
            <a:tailEnd/>
          </a:ln>
        </p:spPr>
        <p:txBody>
          <a:bodyPr>
            <a:spAutoFit/>
          </a:bodyPr>
          <a:lstStyle/>
          <a:p>
            <a:pPr>
              <a:defRPr/>
            </a:pPr>
            <a:r>
              <a:rPr kumimoji="1" lang="zh-CN" altLang="en-US" sz="2400" b="1" dirty="0">
                <a:solidFill>
                  <a:srgbClr val="FF0000"/>
                </a:solidFill>
                <a:latin typeface="+mn-ea"/>
                <a:ea typeface="+mn-ea"/>
              </a:rPr>
              <a:t>温度越高，气体分子质量越小，气体分子热运动越剧烈。</a:t>
            </a:r>
          </a:p>
        </p:txBody>
      </p:sp>
      <p:graphicFrame>
        <p:nvGraphicFramePr>
          <p:cNvPr id="22532" name="Object 15"/>
          <p:cNvGraphicFramePr>
            <a:graphicFrameLocks noChangeAspect="1"/>
          </p:cNvGraphicFramePr>
          <p:nvPr/>
        </p:nvGraphicFramePr>
        <p:xfrm>
          <a:off x="3357563" y="500063"/>
          <a:ext cx="2097087" cy="728662"/>
        </p:xfrm>
        <a:graphic>
          <a:graphicData uri="http://schemas.openxmlformats.org/presentationml/2006/ole">
            <p:oleObj spid="_x0000_s22532" name="公式" r:id="rId5" imgW="116820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31436"/>
                                        </p:tgtEl>
                                        <p:attrNameLst>
                                          <p:attrName>style.visibility</p:attrName>
                                        </p:attrNameLst>
                                      </p:cBhvr>
                                      <p:to>
                                        <p:strVal val="visible"/>
                                      </p:to>
                                    </p:set>
                                    <p:anim calcmode="lin" valueType="num">
                                      <p:cBhvr>
                                        <p:cTn id="7" dur="500" fill="hold"/>
                                        <p:tgtEl>
                                          <p:spTgt spid="231436"/>
                                        </p:tgtEl>
                                        <p:attrNameLst>
                                          <p:attrName>ppt_w</p:attrName>
                                        </p:attrNameLst>
                                      </p:cBhvr>
                                      <p:tavLst>
                                        <p:tav tm="0">
                                          <p:val>
                                            <p:strVal val="4*#ppt_w"/>
                                          </p:val>
                                        </p:tav>
                                        <p:tav tm="100000">
                                          <p:val>
                                            <p:strVal val="#ppt_w"/>
                                          </p:val>
                                        </p:tav>
                                      </p:tavLst>
                                    </p:anim>
                                    <p:anim calcmode="lin" valueType="num">
                                      <p:cBhvr>
                                        <p:cTn id="8" dur="500" fill="hold"/>
                                        <p:tgtEl>
                                          <p:spTgt spid="231436"/>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31432"/>
                                        </p:tgtEl>
                                        <p:attrNameLst>
                                          <p:attrName>style.visibility</p:attrName>
                                        </p:attrNameLst>
                                      </p:cBhvr>
                                      <p:to>
                                        <p:strVal val="visible"/>
                                      </p:to>
                                    </p:set>
                                    <p:animEffect transition="in" filter="wipe(left)">
                                      <p:cBhvr>
                                        <p:cTn id="12" dur="500"/>
                                        <p:tgtEl>
                                          <p:spTgt spid="2314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1434"/>
                                        </p:tgtEl>
                                        <p:attrNameLst>
                                          <p:attrName>style.visibility</p:attrName>
                                        </p:attrNameLst>
                                      </p:cBhvr>
                                      <p:to>
                                        <p:strVal val="visible"/>
                                      </p:to>
                                    </p:set>
                                    <p:animEffect transition="in" filter="wipe(left)">
                                      <p:cBhvr>
                                        <p:cTn id="17" dur="500"/>
                                        <p:tgtEl>
                                          <p:spTgt spid="2314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1433"/>
                                        </p:tgtEl>
                                        <p:attrNameLst>
                                          <p:attrName>style.visibility</p:attrName>
                                        </p:attrNameLst>
                                      </p:cBhvr>
                                      <p:to>
                                        <p:strVal val="visible"/>
                                      </p:to>
                                    </p:set>
                                    <p:animEffect transition="in" filter="wipe(left)">
                                      <p:cBhvr>
                                        <p:cTn id="22" dur="500"/>
                                        <p:tgtEl>
                                          <p:spTgt spid="2314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1437"/>
                                        </p:tgtEl>
                                        <p:attrNameLst>
                                          <p:attrName>style.visibility</p:attrName>
                                        </p:attrNameLst>
                                      </p:cBhvr>
                                      <p:to>
                                        <p:strVal val="visible"/>
                                      </p:to>
                                    </p:set>
                                    <p:animEffect transition="in" filter="wipe(left)">
                                      <p:cBhvr>
                                        <p:cTn id="27" dur="2000"/>
                                        <p:tgtEl>
                                          <p:spTgt spid="2314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1438"/>
                                        </p:tgtEl>
                                        <p:attrNameLst>
                                          <p:attrName>style.visibility</p:attrName>
                                        </p:attrNameLst>
                                      </p:cBhvr>
                                      <p:to>
                                        <p:strVal val="visible"/>
                                      </p:to>
                                    </p:set>
                                    <p:animEffect transition="in" filter="wipe(left)">
                                      <p:cBhvr>
                                        <p:cTn id="32" dur="1000"/>
                                        <p:tgtEl>
                                          <p:spTgt spid="2314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1440"/>
                                        </p:tgtEl>
                                        <p:attrNameLst>
                                          <p:attrName>style.visibility</p:attrName>
                                        </p:attrNameLst>
                                      </p:cBhvr>
                                      <p:to>
                                        <p:strVal val="visible"/>
                                      </p:to>
                                    </p:set>
                                    <p:animEffect transition="in" filter="wipe(left)">
                                      <p:cBhvr>
                                        <p:cTn id="37" dur="1000"/>
                                        <p:tgtEl>
                                          <p:spTgt spid="2314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1441"/>
                                        </p:tgtEl>
                                        <p:attrNameLst>
                                          <p:attrName>style.visibility</p:attrName>
                                        </p:attrNameLst>
                                      </p:cBhvr>
                                      <p:to>
                                        <p:strVal val="visible"/>
                                      </p:to>
                                    </p:set>
                                    <p:animEffect transition="in" filter="wipe(left)">
                                      <p:cBhvr>
                                        <p:cTn id="42" dur="2000"/>
                                        <p:tgtEl>
                                          <p:spTgt spid="231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2" grpId="0"/>
      <p:bldP spid="231433" grpId="0"/>
      <p:bldP spid="231434" grpId="0" autoUpdateAnimBg="0"/>
      <p:bldP spid="231436" grpId="0" animBg="1"/>
      <p:bldP spid="231437" grpId="0" autoUpdateAnimBg="0"/>
      <p:bldP spid="23144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2"/>
          <p:cNvSpPr>
            <a:spLocks noChangeArrowheads="1"/>
          </p:cNvSpPr>
          <p:nvPr/>
        </p:nvSpPr>
        <p:spPr bwMode="auto">
          <a:xfrm>
            <a:off x="0" y="3219450"/>
            <a:ext cx="9144000" cy="0"/>
          </a:xfrm>
          <a:prstGeom prst="rect">
            <a:avLst/>
          </a:prstGeom>
          <a:noFill/>
          <a:ln w="9525" algn="ctr">
            <a:noFill/>
            <a:miter lim="800000"/>
            <a:headEnd/>
            <a:tailEnd/>
          </a:ln>
        </p:spPr>
        <p:txBody>
          <a:bodyPr wrap="none" anchor="ctr">
            <a:spAutoFit/>
          </a:bodyPr>
          <a:lstStyle/>
          <a:p>
            <a:pPr algn="ctr"/>
            <a:endParaRPr lang="zh-CN" altLang="en-US"/>
          </a:p>
        </p:txBody>
      </p:sp>
      <p:sp>
        <p:nvSpPr>
          <p:cNvPr id="256003" name="Text Box 3"/>
          <p:cNvSpPr txBox="1">
            <a:spLocks noChangeArrowheads="1"/>
          </p:cNvSpPr>
          <p:nvPr/>
        </p:nvSpPr>
        <p:spPr bwMode="auto">
          <a:xfrm>
            <a:off x="107950" y="450850"/>
            <a:ext cx="5788025" cy="530225"/>
          </a:xfrm>
          <a:prstGeom prst="rect">
            <a:avLst/>
          </a:prstGeom>
          <a:noFill/>
          <a:ln w="9525">
            <a:noFill/>
            <a:miter lim="800000"/>
            <a:headEnd/>
            <a:tailEnd/>
          </a:ln>
        </p:spPr>
        <p:txBody>
          <a:bodyPr>
            <a:spAutoFit/>
          </a:bodyPr>
          <a:lstStyle/>
          <a:p>
            <a:pPr>
              <a:lnSpc>
                <a:spcPct val="120000"/>
              </a:lnSpc>
            </a:pPr>
            <a:r>
              <a:rPr kumimoji="1" lang="en-US" altLang="zh-CN" sz="2400" b="1">
                <a:solidFill>
                  <a:srgbClr val="0000FF"/>
                </a:solidFill>
                <a:latin typeface="Times New Roman" pitchFamily="18" charset="0"/>
              </a:rPr>
              <a:t>8.3.3   </a:t>
            </a:r>
            <a:r>
              <a:rPr kumimoji="1" lang="zh-CN" altLang="en-US" sz="2400" b="1">
                <a:solidFill>
                  <a:srgbClr val="0000FF"/>
                </a:solidFill>
              </a:rPr>
              <a:t>道尔顿分压定律</a:t>
            </a:r>
            <a:r>
              <a:rPr kumimoji="1" lang="zh-CN" altLang="en-US" sz="2400"/>
              <a:t> </a:t>
            </a:r>
          </a:p>
        </p:txBody>
      </p:sp>
      <p:sp>
        <p:nvSpPr>
          <p:cNvPr id="256004" name="Text Box 4"/>
          <p:cNvSpPr txBox="1">
            <a:spLocks noChangeArrowheads="1"/>
          </p:cNvSpPr>
          <p:nvPr/>
        </p:nvSpPr>
        <p:spPr bwMode="auto">
          <a:xfrm>
            <a:off x="1143000" y="1000125"/>
            <a:ext cx="6435725" cy="457200"/>
          </a:xfrm>
          <a:prstGeom prst="rect">
            <a:avLst/>
          </a:prstGeom>
          <a:gradFill rotWithShape="1">
            <a:gsLst>
              <a:gs pos="0">
                <a:srgbClr val="66FF66"/>
              </a:gs>
              <a:gs pos="50000">
                <a:srgbClr val="FFFF00"/>
              </a:gs>
              <a:gs pos="100000">
                <a:srgbClr val="66FF66"/>
              </a:gs>
            </a:gsLst>
            <a:lin ang="0" scaled="1"/>
          </a:gradFill>
          <a:ln w="9525">
            <a:noFill/>
            <a:miter lim="800000"/>
            <a:headEnd/>
            <a:tailEnd/>
          </a:ln>
        </p:spPr>
        <p:txBody>
          <a:bodyPr>
            <a:spAutoFit/>
          </a:bodyPr>
          <a:lstStyle/>
          <a:p>
            <a:pPr algn="ctr">
              <a:defRPr/>
            </a:pPr>
            <a:r>
              <a:rPr lang="zh-CN" altLang="en-US" sz="2400" b="1" dirty="0">
                <a:latin typeface="+mn-ea"/>
                <a:ea typeface="+mn-ea"/>
              </a:rPr>
              <a:t>混合气体的压强等于各种气体的分压强之和。</a:t>
            </a:r>
          </a:p>
        </p:txBody>
      </p:sp>
      <p:sp>
        <p:nvSpPr>
          <p:cNvPr id="256012" name="Text Box 12"/>
          <p:cNvSpPr txBox="1">
            <a:spLocks noChangeArrowheads="1"/>
          </p:cNvSpPr>
          <p:nvPr/>
        </p:nvSpPr>
        <p:spPr bwMode="auto">
          <a:xfrm>
            <a:off x="250825" y="1763713"/>
            <a:ext cx="1485900"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rPr>
              <a:t>证明：</a:t>
            </a:r>
          </a:p>
        </p:txBody>
      </p:sp>
      <p:sp>
        <p:nvSpPr>
          <p:cNvPr id="256013" name="Text Box 13"/>
          <p:cNvSpPr txBox="1">
            <a:spLocks noChangeArrowheads="1"/>
          </p:cNvSpPr>
          <p:nvPr/>
        </p:nvSpPr>
        <p:spPr bwMode="auto">
          <a:xfrm>
            <a:off x="1196975" y="1763713"/>
            <a:ext cx="4095750" cy="457200"/>
          </a:xfrm>
          <a:prstGeom prst="rect">
            <a:avLst/>
          </a:prstGeom>
          <a:noFill/>
          <a:ln w="9525">
            <a:noFill/>
            <a:miter lim="800000"/>
            <a:headEnd/>
            <a:tailEnd/>
          </a:ln>
        </p:spPr>
        <p:txBody>
          <a:bodyPr>
            <a:spAutoFit/>
          </a:bodyPr>
          <a:lstStyle/>
          <a:p>
            <a:pPr>
              <a:defRPr/>
            </a:pPr>
            <a:r>
              <a:rPr lang="zh-CN" altLang="en-US" sz="2400" b="1" dirty="0">
                <a:latin typeface="+mn-ea"/>
                <a:ea typeface="+mn-ea"/>
              </a:rPr>
              <a:t>混合气体的分子数密度：</a:t>
            </a:r>
          </a:p>
        </p:txBody>
      </p:sp>
      <p:graphicFrame>
        <p:nvGraphicFramePr>
          <p:cNvPr id="256014" name="Object 14"/>
          <p:cNvGraphicFramePr>
            <a:graphicFrameLocks noChangeAspect="1"/>
          </p:cNvGraphicFramePr>
          <p:nvPr/>
        </p:nvGraphicFramePr>
        <p:xfrm>
          <a:off x="5000625" y="1801813"/>
          <a:ext cx="2281238" cy="411162"/>
        </p:xfrm>
        <a:graphic>
          <a:graphicData uri="http://schemas.openxmlformats.org/presentationml/2006/ole">
            <p:oleObj spid="_x0000_s23554" name="公式" r:id="rId4" imgW="1269720" imgH="228600" progId="Equation.3">
              <p:embed/>
            </p:oleObj>
          </a:graphicData>
        </a:graphic>
      </p:graphicFrame>
      <p:sp>
        <p:nvSpPr>
          <p:cNvPr id="256015" name="Text Box 15"/>
          <p:cNvSpPr txBox="1">
            <a:spLocks noChangeArrowheads="1"/>
          </p:cNvSpPr>
          <p:nvPr/>
        </p:nvSpPr>
        <p:spPr bwMode="auto">
          <a:xfrm>
            <a:off x="1185863" y="2417763"/>
            <a:ext cx="4511675" cy="457200"/>
          </a:xfrm>
          <a:prstGeom prst="rect">
            <a:avLst/>
          </a:prstGeom>
          <a:noFill/>
          <a:ln w="9525">
            <a:noFill/>
            <a:miter lim="800000"/>
            <a:headEnd/>
            <a:tailEnd/>
          </a:ln>
        </p:spPr>
        <p:txBody>
          <a:bodyPr>
            <a:spAutoFit/>
          </a:bodyPr>
          <a:lstStyle/>
          <a:p>
            <a:pPr>
              <a:defRPr/>
            </a:pPr>
            <a:r>
              <a:rPr lang="zh-CN" altLang="en-US" sz="2400" b="1" dirty="0">
                <a:latin typeface="+mn-ea"/>
                <a:ea typeface="+mn-ea"/>
              </a:rPr>
              <a:t>混合气体各组分温度相同</a:t>
            </a:r>
          </a:p>
        </p:txBody>
      </p:sp>
      <p:graphicFrame>
        <p:nvGraphicFramePr>
          <p:cNvPr id="256016" name="Object 16"/>
          <p:cNvGraphicFramePr>
            <a:graphicFrameLocks noChangeAspect="1"/>
          </p:cNvGraphicFramePr>
          <p:nvPr/>
        </p:nvGraphicFramePr>
        <p:xfrm>
          <a:off x="2389188" y="2913063"/>
          <a:ext cx="1143000" cy="730250"/>
        </p:xfrm>
        <a:graphic>
          <a:graphicData uri="http://schemas.openxmlformats.org/presentationml/2006/ole">
            <p:oleObj spid="_x0000_s23555" name="公式" r:id="rId5" imgW="634680" imgH="406080" progId="Equation.3">
              <p:embed/>
            </p:oleObj>
          </a:graphicData>
        </a:graphic>
      </p:graphicFrame>
      <p:sp>
        <p:nvSpPr>
          <p:cNvPr id="256017" name="AutoShape 17"/>
          <p:cNvSpPr>
            <a:spLocks/>
          </p:cNvSpPr>
          <p:nvPr/>
        </p:nvSpPr>
        <p:spPr bwMode="auto">
          <a:xfrm>
            <a:off x="4751388" y="2636838"/>
            <a:ext cx="142875" cy="720725"/>
          </a:xfrm>
          <a:prstGeom prst="rightBrace">
            <a:avLst>
              <a:gd name="adj1" fmla="val 42037"/>
              <a:gd name="adj2" fmla="val 50000"/>
            </a:avLst>
          </a:prstGeom>
          <a:noFill/>
          <a:ln w="9525">
            <a:solidFill>
              <a:schemeClr val="tx1"/>
            </a:solidFill>
            <a:round/>
            <a:headEnd/>
            <a:tailEnd/>
          </a:ln>
        </p:spPr>
        <p:txBody>
          <a:bodyPr wrap="none" anchor="ctr"/>
          <a:lstStyle/>
          <a:p>
            <a:pPr algn="ctr"/>
            <a:endParaRPr lang="zh-CN" altLang="en-US"/>
          </a:p>
        </p:txBody>
      </p:sp>
      <p:sp>
        <p:nvSpPr>
          <p:cNvPr id="256018" name="AutoShape 18"/>
          <p:cNvSpPr>
            <a:spLocks noChangeArrowheads="1"/>
          </p:cNvSpPr>
          <p:nvPr/>
        </p:nvSpPr>
        <p:spPr bwMode="auto">
          <a:xfrm>
            <a:off x="5021263" y="2930525"/>
            <a:ext cx="576262" cy="144463"/>
          </a:xfrm>
          <a:prstGeom prst="rightArrow">
            <a:avLst>
              <a:gd name="adj1" fmla="val 50000"/>
              <a:gd name="adj2" fmla="val 99725"/>
            </a:avLst>
          </a:prstGeom>
          <a:solidFill>
            <a:schemeClr val="accent1"/>
          </a:solidFill>
          <a:ln w="9525">
            <a:solidFill>
              <a:schemeClr val="tx1"/>
            </a:solidFill>
            <a:miter lim="800000"/>
            <a:headEnd/>
            <a:tailEnd/>
          </a:ln>
        </p:spPr>
        <p:txBody>
          <a:bodyPr wrap="none" anchor="ctr"/>
          <a:lstStyle/>
          <a:p>
            <a:pPr algn="ctr"/>
            <a:endParaRPr lang="zh-CN" altLang="en-US"/>
          </a:p>
        </p:txBody>
      </p:sp>
      <p:graphicFrame>
        <p:nvGraphicFramePr>
          <p:cNvPr id="256019" name="Object 19"/>
          <p:cNvGraphicFramePr>
            <a:graphicFrameLocks noChangeAspect="1"/>
          </p:cNvGraphicFramePr>
          <p:nvPr/>
        </p:nvGraphicFramePr>
        <p:xfrm>
          <a:off x="5668963" y="2803525"/>
          <a:ext cx="2574925" cy="411163"/>
        </p:xfrm>
        <a:graphic>
          <a:graphicData uri="http://schemas.openxmlformats.org/presentationml/2006/ole">
            <p:oleObj spid="_x0000_s23556" name="公式" r:id="rId6" imgW="1434960" imgH="228600" progId="Equation.3">
              <p:embed/>
            </p:oleObj>
          </a:graphicData>
        </a:graphic>
      </p:graphicFrame>
      <p:sp>
        <p:nvSpPr>
          <p:cNvPr id="256020" name="Text Box 20"/>
          <p:cNvSpPr txBox="1">
            <a:spLocks noChangeArrowheads="1"/>
          </p:cNvSpPr>
          <p:nvPr/>
        </p:nvSpPr>
        <p:spPr bwMode="auto">
          <a:xfrm>
            <a:off x="642938" y="3614738"/>
            <a:ext cx="4078287" cy="457200"/>
          </a:xfrm>
          <a:prstGeom prst="rect">
            <a:avLst/>
          </a:prstGeom>
          <a:noFill/>
          <a:ln w="9525">
            <a:noFill/>
            <a:miter lim="800000"/>
            <a:headEnd/>
            <a:tailEnd/>
          </a:ln>
        </p:spPr>
        <p:txBody>
          <a:bodyPr>
            <a:spAutoFit/>
          </a:bodyPr>
          <a:lstStyle/>
          <a:p>
            <a:pPr>
              <a:defRPr/>
            </a:pPr>
            <a:r>
              <a:rPr lang="zh-CN" altLang="en-US" sz="2400" b="1" dirty="0">
                <a:latin typeface="+mn-ea"/>
                <a:ea typeface="+mn-ea"/>
              </a:rPr>
              <a:t>混合气体的压强为：</a:t>
            </a:r>
          </a:p>
        </p:txBody>
      </p:sp>
      <p:graphicFrame>
        <p:nvGraphicFramePr>
          <p:cNvPr id="256021" name="Object 21"/>
          <p:cNvGraphicFramePr>
            <a:graphicFrameLocks noChangeAspect="1"/>
          </p:cNvGraphicFramePr>
          <p:nvPr/>
        </p:nvGraphicFramePr>
        <p:xfrm>
          <a:off x="1395413" y="4149725"/>
          <a:ext cx="1138237" cy="731838"/>
        </p:xfrm>
        <a:graphic>
          <a:graphicData uri="http://schemas.openxmlformats.org/presentationml/2006/ole">
            <p:oleObj spid="_x0000_s23557" name="公式" r:id="rId7" imgW="634680" imgH="406080" progId="Equation.3">
              <p:embed/>
            </p:oleObj>
          </a:graphicData>
        </a:graphic>
      </p:graphicFrame>
      <p:graphicFrame>
        <p:nvGraphicFramePr>
          <p:cNvPr id="256022" name="Object 22"/>
          <p:cNvGraphicFramePr>
            <a:graphicFrameLocks noChangeAspect="1"/>
          </p:cNvGraphicFramePr>
          <p:nvPr/>
        </p:nvGraphicFramePr>
        <p:xfrm>
          <a:off x="2578100" y="4149725"/>
          <a:ext cx="2667000" cy="730250"/>
        </p:xfrm>
        <a:graphic>
          <a:graphicData uri="http://schemas.openxmlformats.org/presentationml/2006/ole">
            <p:oleObj spid="_x0000_s23558" name="公式" r:id="rId8" imgW="1485720" imgH="406080" progId="Equation.3">
              <p:embed/>
            </p:oleObj>
          </a:graphicData>
        </a:graphic>
      </p:graphicFrame>
      <p:graphicFrame>
        <p:nvGraphicFramePr>
          <p:cNvPr id="256023" name="Object 23"/>
          <p:cNvGraphicFramePr>
            <a:graphicFrameLocks noChangeAspect="1"/>
          </p:cNvGraphicFramePr>
          <p:nvPr/>
        </p:nvGraphicFramePr>
        <p:xfrm>
          <a:off x="1562100" y="4994275"/>
          <a:ext cx="3605213" cy="730250"/>
        </p:xfrm>
        <a:graphic>
          <a:graphicData uri="http://schemas.openxmlformats.org/presentationml/2006/ole">
            <p:oleObj spid="_x0000_s23559" name="公式" r:id="rId9" imgW="2006280" imgH="406080" progId="Equation.3">
              <p:embed/>
            </p:oleObj>
          </a:graphicData>
        </a:graphic>
      </p:graphicFrame>
      <p:graphicFrame>
        <p:nvGraphicFramePr>
          <p:cNvPr id="256024" name="Object 24"/>
          <p:cNvGraphicFramePr>
            <a:graphicFrameLocks noChangeAspect="1"/>
          </p:cNvGraphicFramePr>
          <p:nvPr/>
        </p:nvGraphicFramePr>
        <p:xfrm>
          <a:off x="1635125" y="5857875"/>
          <a:ext cx="2138363" cy="409575"/>
        </p:xfrm>
        <a:graphic>
          <a:graphicData uri="http://schemas.openxmlformats.org/presentationml/2006/ole">
            <p:oleObj spid="_x0000_s23560" name="公式" r:id="rId10" imgW="1193760" imgH="228600" progId="Equation.3">
              <p:embed/>
            </p:oleObj>
          </a:graphicData>
        </a:graphic>
      </p:graphicFrame>
      <p:pic>
        <p:nvPicPr>
          <p:cNvPr id="18" name="Picture 15" descr="C:\Documents and Settings\Administrator\桌面\37d3d539b6003af3e2736df7352ac65c1138b658.jpg"/>
          <p:cNvPicPr>
            <a:picLocks noChangeAspect="1" noChangeArrowheads="1"/>
          </p:cNvPicPr>
          <p:nvPr/>
        </p:nvPicPr>
        <p:blipFill>
          <a:blip r:embed="rId11"/>
          <a:srcRect/>
          <a:stretch>
            <a:fillRect/>
          </a:stretch>
        </p:blipFill>
        <p:spPr bwMode="auto">
          <a:xfrm>
            <a:off x="5786438" y="3500438"/>
            <a:ext cx="2619375" cy="26431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wipe(left)">
                                      <p:cBhvr>
                                        <p:cTn id="7" dur="2000"/>
                                        <p:tgtEl>
                                          <p:spTgt spid="256003"/>
                                        </p:tgtEl>
                                      </p:cBhvr>
                                    </p:animEffec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6004"/>
                                        </p:tgtEl>
                                        <p:attrNameLst>
                                          <p:attrName>style.visibility</p:attrName>
                                        </p:attrNameLst>
                                      </p:cBhvr>
                                      <p:to>
                                        <p:strVal val="visible"/>
                                      </p:to>
                                    </p:set>
                                    <p:animEffect transition="in" filter="wipe(left)">
                                      <p:cBhvr>
                                        <p:cTn id="16" dur="500"/>
                                        <p:tgtEl>
                                          <p:spTgt spid="25600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6012"/>
                                        </p:tgtEl>
                                        <p:attrNameLst>
                                          <p:attrName>style.visibility</p:attrName>
                                        </p:attrNameLst>
                                      </p:cBhvr>
                                      <p:to>
                                        <p:strVal val="visible"/>
                                      </p:to>
                                    </p:set>
                                    <p:animEffect transition="in" filter="wipe(left)">
                                      <p:cBhvr>
                                        <p:cTn id="21" dur="1000"/>
                                        <p:tgtEl>
                                          <p:spTgt spid="2560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6013"/>
                                        </p:tgtEl>
                                        <p:attrNameLst>
                                          <p:attrName>style.visibility</p:attrName>
                                        </p:attrNameLst>
                                      </p:cBhvr>
                                      <p:to>
                                        <p:strVal val="visible"/>
                                      </p:to>
                                    </p:set>
                                    <p:animEffect transition="in" filter="wipe(left)">
                                      <p:cBhvr>
                                        <p:cTn id="26" dur="1000"/>
                                        <p:tgtEl>
                                          <p:spTgt spid="2560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6014"/>
                                        </p:tgtEl>
                                        <p:attrNameLst>
                                          <p:attrName>style.visibility</p:attrName>
                                        </p:attrNameLst>
                                      </p:cBhvr>
                                      <p:to>
                                        <p:strVal val="visible"/>
                                      </p:to>
                                    </p:set>
                                    <p:animEffect transition="in" filter="wipe(left)">
                                      <p:cBhvr>
                                        <p:cTn id="31" dur="1000"/>
                                        <p:tgtEl>
                                          <p:spTgt spid="2560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6015"/>
                                        </p:tgtEl>
                                        <p:attrNameLst>
                                          <p:attrName>style.visibility</p:attrName>
                                        </p:attrNameLst>
                                      </p:cBhvr>
                                      <p:to>
                                        <p:strVal val="visible"/>
                                      </p:to>
                                    </p:set>
                                    <p:animEffect transition="in" filter="wipe(left)">
                                      <p:cBhvr>
                                        <p:cTn id="36" dur="1000"/>
                                        <p:tgtEl>
                                          <p:spTgt spid="2560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56016"/>
                                        </p:tgtEl>
                                        <p:attrNameLst>
                                          <p:attrName>style.visibility</p:attrName>
                                        </p:attrNameLst>
                                      </p:cBhvr>
                                      <p:to>
                                        <p:strVal val="visible"/>
                                      </p:to>
                                    </p:set>
                                    <p:animEffect transition="in" filter="wipe(left)">
                                      <p:cBhvr>
                                        <p:cTn id="41" dur="1000"/>
                                        <p:tgtEl>
                                          <p:spTgt spid="25601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56017"/>
                                        </p:tgtEl>
                                        <p:attrNameLst>
                                          <p:attrName>style.visibility</p:attrName>
                                        </p:attrNameLst>
                                      </p:cBhvr>
                                      <p:to>
                                        <p:strVal val="visible"/>
                                      </p:to>
                                    </p:set>
                                    <p:animEffect transition="in" filter="blinds(horizontal)">
                                      <p:cBhvr>
                                        <p:cTn id="46" dur="1000"/>
                                        <p:tgtEl>
                                          <p:spTgt spid="256017"/>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256018"/>
                                        </p:tgtEl>
                                        <p:attrNameLst>
                                          <p:attrName>style.visibility</p:attrName>
                                        </p:attrNameLst>
                                      </p:cBhvr>
                                      <p:to>
                                        <p:strVal val="visible"/>
                                      </p:to>
                                    </p:set>
                                    <p:animEffect transition="in" filter="wipe(left)">
                                      <p:cBhvr>
                                        <p:cTn id="50" dur="1000"/>
                                        <p:tgtEl>
                                          <p:spTgt spid="256018"/>
                                        </p:tgtEl>
                                      </p:cBhvr>
                                    </p:animEffect>
                                  </p:childTnLst>
                                </p:cTn>
                              </p:par>
                            </p:childTnLst>
                          </p:cTn>
                        </p:par>
                        <p:par>
                          <p:cTn id="51" fill="hold">
                            <p:stCondLst>
                              <p:cond delay="2000"/>
                            </p:stCondLst>
                            <p:childTnLst>
                              <p:par>
                                <p:cTn id="52" presetID="22" presetClass="entr" presetSubtype="8" fill="hold" nodeType="afterEffect">
                                  <p:stCondLst>
                                    <p:cond delay="0"/>
                                  </p:stCondLst>
                                  <p:childTnLst>
                                    <p:set>
                                      <p:cBhvr>
                                        <p:cTn id="53" dur="1" fill="hold">
                                          <p:stCondLst>
                                            <p:cond delay="0"/>
                                          </p:stCondLst>
                                        </p:cTn>
                                        <p:tgtEl>
                                          <p:spTgt spid="256019"/>
                                        </p:tgtEl>
                                        <p:attrNameLst>
                                          <p:attrName>style.visibility</p:attrName>
                                        </p:attrNameLst>
                                      </p:cBhvr>
                                      <p:to>
                                        <p:strVal val="visible"/>
                                      </p:to>
                                    </p:set>
                                    <p:animEffect transition="in" filter="wipe(left)">
                                      <p:cBhvr>
                                        <p:cTn id="54" dur="1000"/>
                                        <p:tgtEl>
                                          <p:spTgt spid="256019"/>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256020"/>
                                        </p:tgtEl>
                                        <p:attrNameLst>
                                          <p:attrName>style.visibility</p:attrName>
                                        </p:attrNameLst>
                                      </p:cBhvr>
                                      <p:to>
                                        <p:strVal val="visible"/>
                                      </p:to>
                                    </p:set>
                                    <p:animEffect transition="in" filter="wipe(left)">
                                      <p:cBhvr>
                                        <p:cTn id="58" dur="1000"/>
                                        <p:tgtEl>
                                          <p:spTgt spid="256020"/>
                                        </p:tgtEl>
                                      </p:cBhvr>
                                    </p:animEffect>
                                  </p:childTnLst>
                                </p:cTn>
                              </p:par>
                            </p:childTnLst>
                          </p:cTn>
                        </p:par>
                        <p:par>
                          <p:cTn id="59" fill="hold">
                            <p:stCondLst>
                              <p:cond delay="4000"/>
                            </p:stCondLst>
                            <p:childTnLst>
                              <p:par>
                                <p:cTn id="60" presetID="22" presetClass="entr" presetSubtype="8" fill="hold" nodeType="afterEffect">
                                  <p:stCondLst>
                                    <p:cond delay="0"/>
                                  </p:stCondLst>
                                  <p:childTnLst>
                                    <p:set>
                                      <p:cBhvr>
                                        <p:cTn id="61" dur="1" fill="hold">
                                          <p:stCondLst>
                                            <p:cond delay="0"/>
                                          </p:stCondLst>
                                        </p:cTn>
                                        <p:tgtEl>
                                          <p:spTgt spid="256021"/>
                                        </p:tgtEl>
                                        <p:attrNameLst>
                                          <p:attrName>style.visibility</p:attrName>
                                        </p:attrNameLst>
                                      </p:cBhvr>
                                      <p:to>
                                        <p:strVal val="visible"/>
                                      </p:to>
                                    </p:set>
                                    <p:animEffect transition="in" filter="wipe(left)">
                                      <p:cBhvr>
                                        <p:cTn id="62" dur="1000"/>
                                        <p:tgtEl>
                                          <p:spTgt spid="2560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56022"/>
                                        </p:tgtEl>
                                        <p:attrNameLst>
                                          <p:attrName>style.visibility</p:attrName>
                                        </p:attrNameLst>
                                      </p:cBhvr>
                                      <p:to>
                                        <p:strVal val="visible"/>
                                      </p:to>
                                    </p:set>
                                    <p:animEffect transition="in" filter="wipe(left)">
                                      <p:cBhvr>
                                        <p:cTn id="67" dur="1000"/>
                                        <p:tgtEl>
                                          <p:spTgt spid="25602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56023"/>
                                        </p:tgtEl>
                                        <p:attrNameLst>
                                          <p:attrName>style.visibility</p:attrName>
                                        </p:attrNameLst>
                                      </p:cBhvr>
                                      <p:to>
                                        <p:strVal val="visible"/>
                                      </p:to>
                                    </p:set>
                                    <p:animEffect transition="in" filter="wipe(left)">
                                      <p:cBhvr>
                                        <p:cTn id="72" dur="500"/>
                                        <p:tgtEl>
                                          <p:spTgt spid="2560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56024"/>
                                        </p:tgtEl>
                                        <p:attrNameLst>
                                          <p:attrName>style.visibility</p:attrName>
                                        </p:attrNameLst>
                                      </p:cBhvr>
                                      <p:to>
                                        <p:strVal val="visible"/>
                                      </p:to>
                                    </p:set>
                                    <p:animEffect transition="in" filter="wipe(left)">
                                      <p:cBhvr>
                                        <p:cTn id="77" dur="500"/>
                                        <p:tgtEl>
                                          <p:spTgt spid="256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autoUpdateAnimBg="0"/>
      <p:bldP spid="256004" grpId="0" animBg="1"/>
      <p:bldP spid="256012" grpId="0"/>
      <p:bldP spid="256013" grpId="0"/>
      <p:bldP spid="256015" grpId="0"/>
      <p:bldP spid="256017" grpId="0" animBg="1"/>
      <p:bldP spid="256018" grpId="0" animBg="1"/>
      <p:bldP spid="2560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ext Box 2"/>
          <p:cNvSpPr txBox="1">
            <a:spLocks noChangeArrowheads="1"/>
          </p:cNvSpPr>
          <p:nvPr/>
        </p:nvSpPr>
        <p:spPr bwMode="auto">
          <a:xfrm>
            <a:off x="684213" y="452438"/>
            <a:ext cx="8013700" cy="1406525"/>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rPr>
              <a:t>一容积为</a:t>
            </a:r>
            <a:r>
              <a:rPr kumimoji="1" lang="zh-CN" altLang="en-US" sz="2400" b="1">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V</a:t>
            </a:r>
            <a:r>
              <a:rPr kumimoji="1" lang="en-US" altLang="zh-CN" sz="2400" b="1">
                <a:solidFill>
                  <a:srgbClr val="FF0000"/>
                </a:solidFill>
                <a:latin typeface="Times New Roman" pitchFamily="18" charset="0"/>
                <a:ea typeface="楷体_GB2312" pitchFamily="49" charset="-122"/>
              </a:rPr>
              <a:t>=1.0m</a:t>
            </a:r>
            <a:r>
              <a:rPr kumimoji="1" lang="en-US" altLang="zh-CN" sz="2400" b="1" baseline="38000">
                <a:solidFill>
                  <a:srgbClr val="FF0000"/>
                </a:solidFill>
                <a:latin typeface="Times New Roman" pitchFamily="18" charset="0"/>
                <a:ea typeface="楷体_GB2312" pitchFamily="49" charset="-122"/>
              </a:rPr>
              <a:t>3 </a:t>
            </a:r>
            <a:r>
              <a:rPr kumimoji="1" lang="en-US" altLang="zh-CN" sz="2400" b="1" baseline="38000">
                <a:latin typeface="Times New Roman" pitchFamily="18" charset="0"/>
                <a:ea typeface="楷体_GB2312" pitchFamily="49" charset="-122"/>
              </a:rPr>
              <a:t> </a:t>
            </a:r>
            <a:r>
              <a:rPr kumimoji="1" lang="zh-CN" altLang="en-US" sz="2400" b="1">
                <a:latin typeface="Times New Roman" pitchFamily="18" charset="0"/>
              </a:rPr>
              <a:t>的容器内装有</a:t>
            </a:r>
            <a:r>
              <a:rPr kumimoji="1" lang="zh-CN" altLang="en-US" sz="2400" b="1">
                <a:solidFill>
                  <a:srgbClr val="FF0000"/>
                </a:solidFill>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N</a:t>
            </a:r>
            <a:r>
              <a:rPr kumimoji="1" lang="en-US" altLang="zh-CN" sz="2400" b="1" baseline="-25000">
                <a:solidFill>
                  <a:srgbClr val="FF0000"/>
                </a:solidFill>
                <a:latin typeface="Times New Roman" pitchFamily="18" charset="0"/>
                <a:ea typeface="楷体_GB2312" pitchFamily="49" charset="-122"/>
              </a:rPr>
              <a:t>1</a:t>
            </a:r>
            <a:r>
              <a:rPr kumimoji="1" lang="en-US" altLang="zh-CN" sz="2400" b="1">
                <a:solidFill>
                  <a:srgbClr val="FF0000"/>
                </a:solidFill>
                <a:latin typeface="Times New Roman" pitchFamily="18" charset="0"/>
                <a:ea typeface="楷体_GB2312" pitchFamily="49" charset="-122"/>
              </a:rPr>
              <a:t>=1.0×10</a:t>
            </a:r>
            <a:r>
              <a:rPr kumimoji="1" lang="en-US" altLang="zh-CN" sz="2400" b="1" baseline="38000">
                <a:solidFill>
                  <a:srgbClr val="FF0000"/>
                </a:solidFill>
                <a:latin typeface="Times New Roman" pitchFamily="18" charset="0"/>
                <a:ea typeface="楷体_GB2312" pitchFamily="49" charset="-122"/>
              </a:rPr>
              <a:t>24</a:t>
            </a:r>
            <a:r>
              <a:rPr kumimoji="1" lang="en-US" altLang="zh-CN" sz="2400" b="1">
                <a:solidFill>
                  <a:srgbClr val="FF00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个 </a:t>
            </a:r>
            <a:r>
              <a:rPr kumimoji="1" lang="zh-CN" altLang="en-US" sz="2400" b="1">
                <a:latin typeface="Times New Roman" pitchFamily="18" charset="0"/>
              </a:rPr>
              <a:t>氧分子</a:t>
            </a:r>
            <a:r>
              <a:rPr kumimoji="1" lang="en-US" altLang="zh-CN" sz="2400" b="1" i="1">
                <a:solidFill>
                  <a:srgbClr val="FF0000"/>
                </a:solidFill>
                <a:latin typeface="Times New Roman" pitchFamily="18" charset="0"/>
                <a:ea typeface="楷体_GB2312" pitchFamily="49" charset="-122"/>
              </a:rPr>
              <a:t>N</a:t>
            </a:r>
            <a:r>
              <a:rPr kumimoji="1" lang="en-US" altLang="zh-CN" sz="2400" b="1" baseline="-25000">
                <a:solidFill>
                  <a:srgbClr val="FF0000"/>
                </a:solidFill>
                <a:latin typeface="Times New Roman" pitchFamily="18" charset="0"/>
                <a:ea typeface="楷体_GB2312" pitchFamily="49" charset="-122"/>
              </a:rPr>
              <a:t>2</a:t>
            </a:r>
            <a:r>
              <a:rPr kumimoji="1" lang="en-US" altLang="zh-CN" sz="2400" b="1">
                <a:solidFill>
                  <a:srgbClr val="FF0000"/>
                </a:solidFill>
                <a:latin typeface="Times New Roman" pitchFamily="18" charset="0"/>
                <a:ea typeface="楷体_GB2312" pitchFamily="49" charset="-122"/>
              </a:rPr>
              <a:t>=3.0×10</a:t>
            </a:r>
            <a:r>
              <a:rPr kumimoji="1" lang="en-US" altLang="zh-CN" sz="2400" b="1" baseline="38000">
                <a:solidFill>
                  <a:srgbClr val="FF0000"/>
                </a:solidFill>
                <a:latin typeface="Times New Roman" pitchFamily="18" charset="0"/>
                <a:ea typeface="楷体_GB2312" pitchFamily="49" charset="-122"/>
              </a:rPr>
              <a:t>24</a:t>
            </a:r>
            <a:r>
              <a:rPr kumimoji="1" lang="en-US" altLang="zh-CN" sz="2400" b="1">
                <a:solidFill>
                  <a:srgbClr val="FF00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个</a:t>
            </a:r>
            <a:r>
              <a:rPr kumimoji="1" lang="zh-CN" altLang="en-US" sz="2400" b="1">
                <a:latin typeface="Times New Roman" pitchFamily="18" charset="0"/>
              </a:rPr>
              <a:t>氮分子的混合气体， 混合气体的压强</a:t>
            </a:r>
          </a:p>
          <a:p>
            <a:pPr>
              <a:lnSpc>
                <a:spcPct val="120000"/>
              </a:lnSpc>
            </a:pPr>
            <a:r>
              <a:rPr kumimoji="1" lang="zh-CN" altLang="en-US" sz="2400" b="1" i="1">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p </a:t>
            </a:r>
            <a:r>
              <a:rPr kumimoji="1" lang="en-US" altLang="zh-CN" sz="2400" b="1">
                <a:solidFill>
                  <a:srgbClr val="FF0000"/>
                </a:solidFill>
                <a:latin typeface="Times New Roman" pitchFamily="18" charset="0"/>
                <a:ea typeface="楷体_GB2312" pitchFamily="49" charset="-122"/>
              </a:rPr>
              <a:t>=2.58×10</a:t>
            </a:r>
            <a:r>
              <a:rPr kumimoji="1" lang="en-US" altLang="zh-CN" sz="2400" b="1" baseline="30000">
                <a:solidFill>
                  <a:srgbClr val="FF0000"/>
                </a:solidFill>
                <a:latin typeface="Times New Roman" pitchFamily="18" charset="0"/>
                <a:ea typeface="楷体_GB2312" pitchFamily="49" charset="-122"/>
              </a:rPr>
              <a:t>4 </a:t>
            </a:r>
            <a:r>
              <a:rPr kumimoji="1" lang="en-US" altLang="zh-CN" sz="2400" b="1">
                <a:solidFill>
                  <a:srgbClr val="FF0000"/>
                </a:solidFill>
                <a:latin typeface="Times New Roman" pitchFamily="18" charset="0"/>
                <a:ea typeface="楷体_GB2312" pitchFamily="49" charset="-122"/>
              </a:rPr>
              <a:t>Pa</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                                   </a:t>
            </a:r>
          </a:p>
        </p:txBody>
      </p:sp>
      <p:sp>
        <p:nvSpPr>
          <p:cNvPr id="229379" name="Text Box 3"/>
          <p:cNvSpPr txBox="1">
            <a:spLocks noChangeArrowheads="1"/>
          </p:cNvSpPr>
          <p:nvPr/>
        </p:nvSpPr>
        <p:spPr bwMode="auto">
          <a:xfrm>
            <a:off x="611188" y="2971800"/>
            <a:ext cx="2881312" cy="457200"/>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(1) </a:t>
            </a:r>
            <a:r>
              <a:rPr kumimoji="1" lang="zh-CN" altLang="en-US" sz="2400" b="1" dirty="0">
                <a:latin typeface="+mn-ea"/>
                <a:ea typeface="+mn-ea"/>
              </a:rPr>
              <a:t>由压强公式得</a:t>
            </a:r>
          </a:p>
        </p:txBody>
      </p:sp>
      <p:graphicFrame>
        <p:nvGraphicFramePr>
          <p:cNvPr id="229380" name="Object 4"/>
          <p:cNvGraphicFramePr>
            <a:graphicFrameLocks noChangeAspect="1"/>
          </p:cNvGraphicFramePr>
          <p:nvPr/>
        </p:nvGraphicFramePr>
        <p:xfrm>
          <a:off x="3398838" y="2913063"/>
          <a:ext cx="1028700" cy="730250"/>
        </p:xfrm>
        <a:graphic>
          <a:graphicData uri="http://schemas.openxmlformats.org/presentationml/2006/ole">
            <p:oleObj spid="_x0000_s24578" name="公式" r:id="rId4" imgW="571320" imgH="406080" progId="Equation.3">
              <p:embed/>
            </p:oleObj>
          </a:graphicData>
        </a:graphic>
      </p:graphicFrame>
      <p:sp>
        <p:nvSpPr>
          <p:cNvPr id="229381" name="Rectangle 5"/>
          <p:cNvSpPr>
            <a:spLocks noChangeArrowheads="1"/>
          </p:cNvSpPr>
          <p:nvPr/>
        </p:nvSpPr>
        <p:spPr bwMode="auto">
          <a:xfrm>
            <a:off x="179388" y="523875"/>
            <a:ext cx="488950" cy="457200"/>
          </a:xfrm>
          <a:prstGeom prst="rect">
            <a:avLst/>
          </a:prstGeom>
          <a:noFill/>
          <a:ln w="9525">
            <a:noFill/>
            <a:miter lim="800000"/>
            <a:headEnd/>
            <a:tailEnd/>
          </a:ln>
        </p:spPr>
        <p:txBody>
          <a:bodyPr wrap="none">
            <a:spAutoFit/>
          </a:bodyPr>
          <a:lstStyle/>
          <a:p>
            <a:r>
              <a:rPr kumimoji="1" lang="zh-CN" altLang="en-US" sz="2400" b="1">
                <a:solidFill>
                  <a:srgbClr val="FF0000"/>
                </a:solidFill>
                <a:latin typeface="Times New Roman" pitchFamily="18" charset="0"/>
              </a:rPr>
              <a:t>例</a:t>
            </a:r>
          </a:p>
        </p:txBody>
      </p:sp>
      <p:sp>
        <p:nvSpPr>
          <p:cNvPr id="229382" name="Rectangle 6"/>
          <p:cNvSpPr>
            <a:spLocks noChangeArrowheads="1"/>
          </p:cNvSpPr>
          <p:nvPr/>
        </p:nvSpPr>
        <p:spPr bwMode="auto">
          <a:xfrm>
            <a:off x="179388" y="1819275"/>
            <a:ext cx="488950" cy="457200"/>
          </a:xfrm>
          <a:prstGeom prst="rect">
            <a:avLst/>
          </a:prstGeom>
          <a:noFill/>
          <a:ln w="9525">
            <a:noFill/>
            <a:miter lim="800000"/>
            <a:headEnd/>
            <a:tailEnd/>
          </a:ln>
        </p:spPr>
        <p:txBody>
          <a:bodyPr wrap="none">
            <a:spAutoFit/>
          </a:bodyPr>
          <a:lstStyle/>
          <a:p>
            <a:r>
              <a:rPr kumimoji="1" lang="zh-CN" altLang="en-US" sz="2400" b="1">
                <a:solidFill>
                  <a:srgbClr val="FF0000"/>
                </a:solidFill>
                <a:latin typeface="Times New Roman" pitchFamily="18" charset="0"/>
              </a:rPr>
              <a:t>求</a:t>
            </a:r>
          </a:p>
        </p:txBody>
      </p:sp>
      <p:sp>
        <p:nvSpPr>
          <p:cNvPr id="229383" name="Rectangle 7"/>
          <p:cNvSpPr>
            <a:spLocks noChangeArrowheads="1"/>
          </p:cNvSpPr>
          <p:nvPr/>
        </p:nvSpPr>
        <p:spPr bwMode="auto">
          <a:xfrm>
            <a:off x="728663" y="1774825"/>
            <a:ext cx="4032250" cy="1006475"/>
          </a:xfrm>
          <a:prstGeom prst="rect">
            <a:avLst/>
          </a:prstGeom>
          <a:noFill/>
          <a:ln w="9525">
            <a:noFill/>
            <a:miter lim="800000"/>
            <a:headEnd/>
            <a:tailEnd/>
          </a:ln>
        </p:spPr>
        <p:txBody>
          <a:bodyPr>
            <a:spAutoFit/>
          </a:bodyPr>
          <a:lstStyle/>
          <a:p>
            <a:pPr>
              <a:lnSpc>
                <a:spcPct val="125000"/>
              </a:lnSpc>
            </a:pPr>
            <a:r>
              <a:rPr kumimoji="1" lang="en-US" altLang="zh-CN" sz="2400" b="1">
                <a:latin typeface="Times New Roman" pitchFamily="18" charset="0"/>
              </a:rPr>
              <a:t>(1) </a:t>
            </a:r>
            <a:r>
              <a:rPr kumimoji="1" lang="zh-CN" altLang="en-US" sz="2400" b="1">
                <a:latin typeface="Times New Roman" pitchFamily="18" charset="0"/>
              </a:rPr>
              <a:t>分子的平均平动动能；</a:t>
            </a:r>
            <a:r>
              <a:rPr kumimoji="1" lang="zh-CN" altLang="en-US" sz="2400" b="1">
                <a:latin typeface="Times New Roman" pitchFamily="18" charset="0"/>
                <a:ea typeface="楷体_GB2312" pitchFamily="49" charset="-122"/>
              </a:rPr>
              <a:t>  </a:t>
            </a:r>
          </a:p>
          <a:p>
            <a:pPr>
              <a:lnSpc>
                <a:spcPct val="125000"/>
              </a:lnSpc>
            </a:pPr>
            <a:r>
              <a:rPr kumimoji="1" lang="en-US" altLang="zh-CN" sz="2400" b="1">
                <a:latin typeface="Times New Roman" pitchFamily="18" charset="0"/>
              </a:rPr>
              <a:t>(2) </a:t>
            </a:r>
            <a:r>
              <a:rPr kumimoji="1" lang="zh-CN" altLang="en-US" sz="2400" b="1">
                <a:latin typeface="Times New Roman" pitchFamily="18" charset="0"/>
              </a:rPr>
              <a:t>混合气体的温度。</a:t>
            </a:r>
          </a:p>
        </p:txBody>
      </p:sp>
      <p:sp>
        <p:nvSpPr>
          <p:cNvPr id="229384" name="Text Box 8"/>
          <p:cNvSpPr txBox="1">
            <a:spLocks noChangeArrowheads="1"/>
          </p:cNvSpPr>
          <p:nvPr/>
        </p:nvSpPr>
        <p:spPr bwMode="auto">
          <a:xfrm>
            <a:off x="187325" y="2998788"/>
            <a:ext cx="488950"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解</a:t>
            </a:r>
          </a:p>
        </p:txBody>
      </p:sp>
      <p:graphicFrame>
        <p:nvGraphicFramePr>
          <p:cNvPr id="229385" name="Object 9"/>
          <p:cNvGraphicFramePr>
            <a:graphicFrameLocks noChangeAspect="1"/>
          </p:cNvGraphicFramePr>
          <p:nvPr/>
        </p:nvGraphicFramePr>
        <p:xfrm>
          <a:off x="4500563" y="2913063"/>
          <a:ext cx="2019300" cy="803275"/>
        </p:xfrm>
        <a:graphic>
          <a:graphicData uri="http://schemas.openxmlformats.org/presentationml/2006/ole">
            <p:oleObj spid="_x0000_s24579" name="公式" r:id="rId5" imgW="1117440" imgH="444240" progId="Equation.3">
              <p:embed/>
            </p:oleObj>
          </a:graphicData>
        </a:graphic>
      </p:graphicFrame>
      <p:graphicFrame>
        <p:nvGraphicFramePr>
          <p:cNvPr id="229386" name="Object 10"/>
          <p:cNvGraphicFramePr>
            <a:graphicFrameLocks noChangeAspect="1"/>
          </p:cNvGraphicFramePr>
          <p:nvPr/>
        </p:nvGraphicFramePr>
        <p:xfrm>
          <a:off x="6596063" y="3079750"/>
          <a:ext cx="1720850" cy="409575"/>
        </p:xfrm>
        <a:graphic>
          <a:graphicData uri="http://schemas.openxmlformats.org/presentationml/2006/ole">
            <p:oleObj spid="_x0000_s24580" name="公式" r:id="rId6" imgW="965160" imgH="228600" progId="Equation.3">
              <p:embed/>
            </p:oleObj>
          </a:graphicData>
        </a:graphic>
      </p:graphicFrame>
      <p:sp>
        <p:nvSpPr>
          <p:cNvPr id="229387" name="Text Box 11"/>
          <p:cNvSpPr txBox="1">
            <a:spLocks noChangeArrowheads="1"/>
          </p:cNvSpPr>
          <p:nvPr/>
        </p:nvSpPr>
        <p:spPr bwMode="auto">
          <a:xfrm>
            <a:off x="571500" y="3908425"/>
            <a:ext cx="4389438" cy="457200"/>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(2) </a:t>
            </a:r>
            <a:r>
              <a:rPr kumimoji="1" lang="zh-CN" altLang="en-US" sz="2400" b="1" dirty="0">
                <a:latin typeface="+mn-ea"/>
                <a:ea typeface="+mn-ea"/>
              </a:rPr>
              <a:t>由理想气体的状态方程得</a:t>
            </a:r>
          </a:p>
        </p:txBody>
      </p:sp>
      <p:graphicFrame>
        <p:nvGraphicFramePr>
          <p:cNvPr id="229388" name="Object 12"/>
          <p:cNvGraphicFramePr>
            <a:graphicFrameLocks noChangeAspect="1"/>
          </p:cNvGraphicFramePr>
          <p:nvPr/>
        </p:nvGraphicFramePr>
        <p:xfrm>
          <a:off x="1849438" y="5373688"/>
          <a:ext cx="2655887" cy="1144587"/>
        </p:xfrm>
        <a:graphic>
          <a:graphicData uri="http://schemas.openxmlformats.org/presentationml/2006/ole">
            <p:oleObj spid="_x0000_s24581" name="公式" r:id="rId7" imgW="1473120" imgH="634680" progId="Equation.3">
              <p:embed/>
            </p:oleObj>
          </a:graphicData>
        </a:graphic>
      </p:graphicFrame>
      <p:graphicFrame>
        <p:nvGraphicFramePr>
          <p:cNvPr id="229389" name="Object 13"/>
          <p:cNvGraphicFramePr>
            <a:graphicFrameLocks noChangeAspect="1"/>
          </p:cNvGraphicFramePr>
          <p:nvPr/>
        </p:nvGraphicFramePr>
        <p:xfrm>
          <a:off x="4618038" y="5611813"/>
          <a:ext cx="1033462" cy="366712"/>
        </p:xfrm>
        <a:graphic>
          <a:graphicData uri="http://schemas.openxmlformats.org/presentationml/2006/ole">
            <p:oleObj spid="_x0000_s24582" name="公式" r:id="rId8" imgW="571320" imgH="203040" progId="Equation.3">
              <p:embed/>
            </p:oleObj>
          </a:graphicData>
        </a:graphic>
      </p:graphicFrame>
      <p:graphicFrame>
        <p:nvGraphicFramePr>
          <p:cNvPr id="229391" name="Object 15"/>
          <p:cNvGraphicFramePr>
            <a:graphicFrameLocks noChangeAspect="1"/>
          </p:cNvGraphicFramePr>
          <p:nvPr/>
        </p:nvGraphicFramePr>
        <p:xfrm>
          <a:off x="2051050" y="4797425"/>
          <a:ext cx="1052513" cy="322263"/>
        </p:xfrm>
        <a:graphic>
          <a:graphicData uri="http://schemas.openxmlformats.org/presentationml/2006/ole">
            <p:oleObj spid="_x0000_s24583" name="公式" r:id="rId9" imgW="583920" imgH="177480" progId="Equation.3">
              <p:embed/>
            </p:oleObj>
          </a:graphicData>
        </a:graphic>
      </p:graphicFrame>
      <p:graphicFrame>
        <p:nvGraphicFramePr>
          <p:cNvPr id="229392" name="Object 16"/>
          <p:cNvGraphicFramePr>
            <a:graphicFrameLocks noChangeAspect="1"/>
          </p:cNvGraphicFramePr>
          <p:nvPr/>
        </p:nvGraphicFramePr>
        <p:xfrm>
          <a:off x="4000500" y="4572000"/>
          <a:ext cx="2857500" cy="809625"/>
        </p:xfrm>
        <a:graphic>
          <a:graphicData uri="http://schemas.openxmlformats.org/presentationml/2006/ole">
            <p:oleObj spid="_x0000_s24584" name="Equation" r:id="rId10" imgW="1511280" imgH="43164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381"/>
                                        </p:tgtEl>
                                        <p:attrNameLst>
                                          <p:attrName>style.visibility</p:attrName>
                                        </p:attrNameLst>
                                      </p:cBhvr>
                                      <p:to>
                                        <p:strVal val="visible"/>
                                      </p:to>
                                    </p:set>
                                    <p:animEffect transition="in" filter="wipe(left)">
                                      <p:cBhvr>
                                        <p:cTn id="7" dur="500"/>
                                        <p:tgtEl>
                                          <p:spTgt spid="22938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9378"/>
                                        </p:tgtEl>
                                        <p:attrNameLst>
                                          <p:attrName>style.visibility</p:attrName>
                                        </p:attrNameLst>
                                      </p:cBhvr>
                                      <p:to>
                                        <p:strVal val="visible"/>
                                      </p:to>
                                    </p:set>
                                    <p:animEffect transition="in" filter="wipe(left)">
                                      <p:cBhvr>
                                        <p:cTn id="11" dur="500"/>
                                        <p:tgtEl>
                                          <p:spTgt spid="2293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9382"/>
                                        </p:tgtEl>
                                        <p:attrNameLst>
                                          <p:attrName>style.visibility</p:attrName>
                                        </p:attrNameLst>
                                      </p:cBhvr>
                                      <p:to>
                                        <p:strVal val="visible"/>
                                      </p:to>
                                    </p:set>
                                    <p:animEffect transition="in" filter="wipe(left)">
                                      <p:cBhvr>
                                        <p:cTn id="16" dur="500"/>
                                        <p:tgtEl>
                                          <p:spTgt spid="22938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29383"/>
                                        </p:tgtEl>
                                        <p:attrNameLst>
                                          <p:attrName>style.visibility</p:attrName>
                                        </p:attrNameLst>
                                      </p:cBhvr>
                                      <p:to>
                                        <p:strVal val="visible"/>
                                      </p:to>
                                    </p:set>
                                    <p:animEffect transition="in" filter="wipe(left)">
                                      <p:cBhvr>
                                        <p:cTn id="20" dur="500"/>
                                        <p:tgtEl>
                                          <p:spTgt spid="22938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9384"/>
                                        </p:tgtEl>
                                        <p:attrNameLst>
                                          <p:attrName>style.visibility</p:attrName>
                                        </p:attrNameLst>
                                      </p:cBhvr>
                                      <p:to>
                                        <p:strVal val="visible"/>
                                      </p:to>
                                    </p:set>
                                    <p:animEffect transition="in" filter="wipe(left)">
                                      <p:cBhvr>
                                        <p:cTn id="25" dur="500"/>
                                        <p:tgtEl>
                                          <p:spTgt spid="22938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9379"/>
                                        </p:tgtEl>
                                        <p:attrNameLst>
                                          <p:attrName>style.visibility</p:attrName>
                                        </p:attrNameLst>
                                      </p:cBhvr>
                                      <p:to>
                                        <p:strVal val="visible"/>
                                      </p:to>
                                    </p:set>
                                    <p:animEffect transition="in" filter="wipe(left)">
                                      <p:cBhvr>
                                        <p:cTn id="30" dur="500"/>
                                        <p:tgtEl>
                                          <p:spTgt spid="2293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9380"/>
                                        </p:tgtEl>
                                        <p:attrNameLst>
                                          <p:attrName>style.visibility</p:attrName>
                                        </p:attrNameLst>
                                      </p:cBhvr>
                                      <p:to>
                                        <p:strVal val="visible"/>
                                      </p:to>
                                    </p:set>
                                    <p:animEffect transition="in" filter="wipe(left)">
                                      <p:cBhvr>
                                        <p:cTn id="35" dur="500"/>
                                        <p:tgtEl>
                                          <p:spTgt spid="22938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9385"/>
                                        </p:tgtEl>
                                        <p:attrNameLst>
                                          <p:attrName>style.visibility</p:attrName>
                                        </p:attrNameLst>
                                      </p:cBhvr>
                                      <p:to>
                                        <p:strVal val="visible"/>
                                      </p:to>
                                    </p:set>
                                    <p:animEffect transition="in" filter="wipe(left)">
                                      <p:cBhvr>
                                        <p:cTn id="40" dur="500"/>
                                        <p:tgtEl>
                                          <p:spTgt spid="22938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29386"/>
                                        </p:tgtEl>
                                        <p:attrNameLst>
                                          <p:attrName>style.visibility</p:attrName>
                                        </p:attrNameLst>
                                      </p:cBhvr>
                                      <p:to>
                                        <p:strVal val="visible"/>
                                      </p:to>
                                    </p:set>
                                    <p:animEffect transition="in" filter="wipe(left)">
                                      <p:cBhvr>
                                        <p:cTn id="45" dur="500"/>
                                        <p:tgtEl>
                                          <p:spTgt spid="22938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29387"/>
                                        </p:tgtEl>
                                        <p:attrNameLst>
                                          <p:attrName>style.visibility</p:attrName>
                                        </p:attrNameLst>
                                      </p:cBhvr>
                                      <p:to>
                                        <p:strVal val="visible"/>
                                      </p:to>
                                    </p:set>
                                    <p:animEffect transition="in" filter="wipe(left)">
                                      <p:cBhvr>
                                        <p:cTn id="50" dur="500"/>
                                        <p:tgtEl>
                                          <p:spTgt spid="22938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29391"/>
                                        </p:tgtEl>
                                        <p:attrNameLst>
                                          <p:attrName>style.visibility</p:attrName>
                                        </p:attrNameLst>
                                      </p:cBhvr>
                                      <p:to>
                                        <p:strVal val="visible"/>
                                      </p:to>
                                    </p:set>
                                    <p:animEffect transition="in" filter="wipe(left)">
                                      <p:cBhvr>
                                        <p:cTn id="55" dur="500"/>
                                        <p:tgtEl>
                                          <p:spTgt spid="22939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29392"/>
                                        </p:tgtEl>
                                        <p:attrNameLst>
                                          <p:attrName>style.visibility</p:attrName>
                                        </p:attrNameLst>
                                      </p:cBhvr>
                                      <p:to>
                                        <p:strVal val="visible"/>
                                      </p:to>
                                    </p:set>
                                    <p:animEffect transition="in" filter="wipe(left)">
                                      <p:cBhvr>
                                        <p:cTn id="60" dur="500"/>
                                        <p:tgtEl>
                                          <p:spTgt spid="22939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29388"/>
                                        </p:tgtEl>
                                        <p:attrNameLst>
                                          <p:attrName>style.visibility</p:attrName>
                                        </p:attrNameLst>
                                      </p:cBhvr>
                                      <p:to>
                                        <p:strVal val="visible"/>
                                      </p:to>
                                    </p:set>
                                    <p:animEffect transition="in" filter="wipe(left)">
                                      <p:cBhvr>
                                        <p:cTn id="65" dur="500"/>
                                        <p:tgtEl>
                                          <p:spTgt spid="22938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29389"/>
                                        </p:tgtEl>
                                        <p:attrNameLst>
                                          <p:attrName>style.visibility</p:attrName>
                                        </p:attrNameLst>
                                      </p:cBhvr>
                                      <p:to>
                                        <p:strVal val="visible"/>
                                      </p:to>
                                    </p:set>
                                    <p:animEffect transition="in" filter="wipe(left)">
                                      <p:cBhvr>
                                        <p:cTn id="70" dur="500"/>
                                        <p:tgtEl>
                                          <p:spTgt spid="229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p:bldP spid="229379" grpId="0"/>
      <p:bldP spid="229381" grpId="0"/>
      <p:bldP spid="229382" grpId="0"/>
      <p:bldP spid="229383" grpId="0"/>
      <p:bldP spid="229384" grpId="0"/>
      <p:bldP spid="22938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701675" y="458788"/>
            <a:ext cx="8145463" cy="933450"/>
          </a:xfrm>
          <a:prstGeom prst="rect">
            <a:avLst/>
          </a:prstGeom>
          <a:noFill/>
          <a:ln w="9525">
            <a:noFill/>
            <a:miter lim="800000"/>
            <a:headEnd/>
            <a:tailEnd/>
          </a:ln>
        </p:spPr>
        <p:txBody>
          <a:bodyPr>
            <a:spAutoFit/>
          </a:bodyPr>
          <a:lstStyle/>
          <a:p>
            <a:pPr>
              <a:lnSpc>
                <a:spcPct val="115000"/>
              </a:lnSpc>
            </a:pPr>
            <a:r>
              <a:rPr kumimoji="1" lang="zh-CN" altLang="en-US" sz="2400" b="1">
                <a:latin typeface="宋体" charset="-122"/>
              </a:rPr>
              <a:t>有一容积为 </a:t>
            </a:r>
            <a:r>
              <a:rPr kumimoji="1" lang="en-US" altLang="zh-CN" sz="2400" b="1">
                <a:solidFill>
                  <a:srgbClr val="FF6600"/>
                </a:solidFill>
                <a:latin typeface="Times New Roman" pitchFamily="18" charset="0"/>
              </a:rPr>
              <a:t>10cm</a:t>
            </a:r>
            <a:r>
              <a:rPr kumimoji="1" lang="en-US" altLang="zh-CN" sz="2400" b="1" baseline="40000">
                <a:solidFill>
                  <a:srgbClr val="FF6600"/>
                </a:solidFill>
                <a:latin typeface="Times New Roman" pitchFamily="18" charset="0"/>
              </a:rPr>
              <a:t>3 </a:t>
            </a:r>
            <a:r>
              <a:rPr kumimoji="1" lang="zh-CN" altLang="en-US" sz="2400" b="1">
                <a:latin typeface="宋体" charset="-122"/>
              </a:rPr>
              <a:t>的电子管，当温度为 </a:t>
            </a:r>
            <a:r>
              <a:rPr kumimoji="1" lang="en-US" altLang="zh-CN" sz="2400" b="1">
                <a:solidFill>
                  <a:srgbClr val="FF6600"/>
                </a:solidFill>
                <a:latin typeface="Times New Roman" pitchFamily="18" charset="0"/>
              </a:rPr>
              <a:t>300K</a:t>
            </a:r>
            <a:r>
              <a:rPr kumimoji="1" lang="en-US" altLang="zh-CN" sz="2400" b="1">
                <a:latin typeface="Times New Roman" pitchFamily="18" charset="0"/>
              </a:rPr>
              <a:t> </a:t>
            </a:r>
            <a:r>
              <a:rPr kumimoji="1" lang="zh-CN" altLang="en-US" sz="2400" b="1">
                <a:latin typeface="宋体" charset="-122"/>
              </a:rPr>
              <a:t>时用真空泵抽成高真空，使管内压强为 </a:t>
            </a:r>
            <a:r>
              <a:rPr kumimoji="1" lang="en-US" altLang="zh-CN" sz="2400" b="1">
                <a:solidFill>
                  <a:srgbClr val="FF6600"/>
                </a:solidFill>
                <a:latin typeface="Times New Roman" pitchFamily="18" charset="0"/>
              </a:rPr>
              <a:t>5×10</a:t>
            </a:r>
            <a:r>
              <a:rPr kumimoji="1" lang="en-US" altLang="zh-CN" sz="2400" b="1" baseline="40000">
                <a:solidFill>
                  <a:srgbClr val="FF6600"/>
                </a:solidFill>
                <a:latin typeface="Times New Roman" pitchFamily="18" charset="0"/>
              </a:rPr>
              <a:t>-6  </a:t>
            </a:r>
            <a:r>
              <a:rPr kumimoji="1" lang="en-US" altLang="zh-CN" sz="2400" b="1">
                <a:solidFill>
                  <a:srgbClr val="FF6600"/>
                </a:solidFill>
                <a:latin typeface="Times New Roman" pitchFamily="18" charset="0"/>
              </a:rPr>
              <a:t>mmHg</a:t>
            </a:r>
            <a:r>
              <a:rPr kumimoji="1" lang="en-US" altLang="zh-CN" sz="2400" b="1">
                <a:latin typeface="Times New Roman" pitchFamily="18" charset="0"/>
              </a:rPr>
              <a:t> </a:t>
            </a:r>
            <a:r>
              <a:rPr kumimoji="1" lang="zh-CN" altLang="en-US" sz="2400" b="1">
                <a:latin typeface="宋体" charset="-122"/>
              </a:rPr>
              <a:t>。          </a:t>
            </a:r>
          </a:p>
        </p:txBody>
      </p:sp>
      <p:sp>
        <p:nvSpPr>
          <p:cNvPr id="225283" name="Rectangle 3"/>
          <p:cNvSpPr>
            <a:spLocks noChangeArrowheads="1"/>
          </p:cNvSpPr>
          <p:nvPr/>
        </p:nvSpPr>
        <p:spPr bwMode="auto">
          <a:xfrm>
            <a:off x="682625" y="1416050"/>
            <a:ext cx="5238750" cy="933450"/>
          </a:xfrm>
          <a:prstGeom prst="rect">
            <a:avLst/>
          </a:prstGeom>
          <a:noFill/>
          <a:ln w="9525">
            <a:noFill/>
            <a:miter lim="800000"/>
            <a:headEnd/>
            <a:tailEnd/>
          </a:ln>
        </p:spPr>
        <p:txBody>
          <a:bodyPr>
            <a:spAutoFit/>
          </a:bodyPr>
          <a:lstStyle/>
          <a:p>
            <a:pPr marL="457200" indent="-457200">
              <a:lnSpc>
                <a:spcPct val="115000"/>
              </a:lnSpc>
            </a:pPr>
            <a:r>
              <a:rPr kumimoji="1" lang="en-US" altLang="zh-CN" sz="2400" b="1">
                <a:latin typeface="Times New Roman" pitchFamily="18" charset="0"/>
              </a:rPr>
              <a:t>(1)</a:t>
            </a:r>
            <a:r>
              <a:rPr kumimoji="1" lang="en-US" altLang="zh-CN" sz="2400" b="1">
                <a:latin typeface="宋体" charset="-122"/>
              </a:rPr>
              <a:t> </a:t>
            </a:r>
            <a:r>
              <a:rPr kumimoji="1" lang="zh-CN" altLang="en-US" sz="2400" b="1">
                <a:latin typeface="宋体" charset="-122"/>
              </a:rPr>
              <a:t>此时管内气体分子的数目；</a:t>
            </a:r>
          </a:p>
          <a:p>
            <a:pPr marL="457200" indent="-457200">
              <a:lnSpc>
                <a:spcPct val="115000"/>
              </a:lnSpc>
            </a:pPr>
            <a:r>
              <a:rPr kumimoji="1" lang="en-US" altLang="zh-CN" sz="2400" b="1">
                <a:latin typeface="Times New Roman" pitchFamily="18" charset="0"/>
              </a:rPr>
              <a:t>(2)</a:t>
            </a:r>
            <a:r>
              <a:rPr kumimoji="1" lang="en-US" altLang="zh-CN" sz="2400" b="1">
                <a:latin typeface="宋体" charset="-122"/>
              </a:rPr>
              <a:t> </a:t>
            </a:r>
            <a:r>
              <a:rPr kumimoji="1" lang="zh-CN" altLang="en-US" sz="2400" b="1">
                <a:latin typeface="宋体" charset="-122"/>
              </a:rPr>
              <a:t>这些分子的总平动动能。</a:t>
            </a:r>
          </a:p>
        </p:txBody>
      </p:sp>
      <p:sp>
        <p:nvSpPr>
          <p:cNvPr id="225284" name="Text Box 4"/>
          <p:cNvSpPr txBox="1">
            <a:spLocks noChangeArrowheads="1"/>
          </p:cNvSpPr>
          <p:nvPr/>
        </p:nvSpPr>
        <p:spPr bwMode="auto">
          <a:xfrm>
            <a:off x="115888" y="2330450"/>
            <a:ext cx="488950"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解</a:t>
            </a:r>
          </a:p>
        </p:txBody>
      </p:sp>
      <p:sp>
        <p:nvSpPr>
          <p:cNvPr id="225285" name="Text Box 5"/>
          <p:cNvSpPr txBox="1">
            <a:spLocks noChangeArrowheads="1"/>
          </p:cNvSpPr>
          <p:nvPr/>
        </p:nvSpPr>
        <p:spPr bwMode="auto">
          <a:xfrm>
            <a:off x="212725" y="458788"/>
            <a:ext cx="488950" cy="512762"/>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例</a:t>
            </a:r>
          </a:p>
        </p:txBody>
      </p:sp>
      <p:sp>
        <p:nvSpPr>
          <p:cNvPr id="225286" name="Text Box 6"/>
          <p:cNvSpPr txBox="1">
            <a:spLocks noChangeArrowheads="1"/>
          </p:cNvSpPr>
          <p:nvPr/>
        </p:nvSpPr>
        <p:spPr bwMode="auto">
          <a:xfrm>
            <a:off x="168275" y="1403350"/>
            <a:ext cx="488950"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求</a:t>
            </a:r>
          </a:p>
        </p:txBody>
      </p:sp>
      <p:graphicFrame>
        <p:nvGraphicFramePr>
          <p:cNvPr id="225287" name="Object 7"/>
          <p:cNvGraphicFramePr>
            <a:graphicFrameLocks noChangeAspect="1"/>
          </p:cNvGraphicFramePr>
          <p:nvPr/>
        </p:nvGraphicFramePr>
        <p:xfrm>
          <a:off x="1511300" y="2998788"/>
          <a:ext cx="1752600" cy="733425"/>
        </p:xfrm>
        <a:graphic>
          <a:graphicData uri="http://schemas.openxmlformats.org/presentationml/2006/ole">
            <p:oleObj spid="_x0000_s25602" name="公式" r:id="rId3" imgW="965160" imgH="406080" progId="Equation.3">
              <p:embed/>
            </p:oleObj>
          </a:graphicData>
        </a:graphic>
      </p:graphicFrame>
      <p:sp>
        <p:nvSpPr>
          <p:cNvPr id="225288" name="Text Box 8"/>
          <p:cNvSpPr txBox="1">
            <a:spLocks noChangeArrowheads="1"/>
          </p:cNvSpPr>
          <p:nvPr/>
        </p:nvSpPr>
        <p:spPr bwMode="auto">
          <a:xfrm>
            <a:off x="700088" y="2420938"/>
            <a:ext cx="4906962" cy="512762"/>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由理想气体状态方程得</a:t>
            </a:r>
          </a:p>
        </p:txBody>
      </p:sp>
      <p:sp>
        <p:nvSpPr>
          <p:cNvPr id="225289" name="Text Box 9"/>
          <p:cNvSpPr txBox="1">
            <a:spLocks noChangeArrowheads="1"/>
          </p:cNvSpPr>
          <p:nvPr/>
        </p:nvSpPr>
        <p:spPr bwMode="auto">
          <a:xfrm>
            <a:off x="790575" y="4130675"/>
            <a:ext cx="4816475" cy="512763"/>
          </a:xfrm>
          <a:prstGeom prst="rect">
            <a:avLst/>
          </a:prstGeom>
          <a:noFill/>
          <a:ln w="9525">
            <a:noFill/>
            <a:miter lim="800000"/>
            <a:headEnd/>
            <a:tailEnd/>
          </a:ln>
        </p:spPr>
        <p:txBody>
          <a:bodyPr>
            <a:spAutoFit/>
          </a:bodyPr>
          <a:lstStyle/>
          <a:p>
            <a:pPr>
              <a:lnSpc>
                <a:spcPct val="115000"/>
              </a:lnSpc>
              <a:defRPr/>
            </a:pPr>
            <a:r>
              <a:rPr kumimoji="1" lang="en-US" altLang="zh-CN" sz="2400" b="1">
                <a:latin typeface="Times New Roman" pitchFamily="18" charset="0"/>
                <a:ea typeface="+mn-ea"/>
                <a:cs typeface="Times New Roman" pitchFamily="18" charset="0"/>
              </a:rPr>
              <a:t>(2)  </a:t>
            </a:r>
            <a:r>
              <a:rPr kumimoji="1" lang="zh-CN" altLang="en-US" sz="2400" b="1">
                <a:latin typeface="Times New Roman" pitchFamily="18" charset="0"/>
                <a:ea typeface="+mn-ea"/>
                <a:cs typeface="Times New Roman" pitchFamily="18" charset="0"/>
              </a:rPr>
              <a:t>每个分子平均平动动能</a:t>
            </a:r>
          </a:p>
        </p:txBody>
      </p:sp>
      <p:graphicFrame>
        <p:nvGraphicFramePr>
          <p:cNvPr id="225290" name="Object 10"/>
          <p:cNvGraphicFramePr>
            <a:graphicFrameLocks/>
          </p:cNvGraphicFramePr>
          <p:nvPr/>
        </p:nvGraphicFramePr>
        <p:xfrm>
          <a:off x="4729163" y="4059238"/>
          <a:ext cx="1143000" cy="733425"/>
        </p:xfrm>
        <a:graphic>
          <a:graphicData uri="http://schemas.openxmlformats.org/presentationml/2006/ole">
            <p:oleObj spid="_x0000_s25603" name="公式" r:id="rId4" imgW="634680" imgH="406080" progId="Equation.3">
              <p:embed/>
            </p:oleObj>
          </a:graphicData>
        </a:graphic>
      </p:graphicFrame>
      <p:sp>
        <p:nvSpPr>
          <p:cNvPr id="225291" name="Text Box 11"/>
          <p:cNvSpPr txBox="1">
            <a:spLocks noChangeArrowheads="1"/>
          </p:cNvSpPr>
          <p:nvPr/>
        </p:nvSpPr>
        <p:spPr bwMode="auto">
          <a:xfrm>
            <a:off x="1287463" y="4868863"/>
            <a:ext cx="3279775" cy="517525"/>
          </a:xfrm>
          <a:prstGeom prst="rect">
            <a:avLst/>
          </a:prstGeom>
          <a:noFill/>
          <a:ln w="9525">
            <a:noFill/>
            <a:miter lim="800000"/>
            <a:headEnd/>
            <a:tailEnd/>
          </a:ln>
        </p:spPr>
        <p:txBody>
          <a:bodyPr wrap="none">
            <a:spAutoFit/>
          </a:bodyPr>
          <a:lstStyle/>
          <a:p>
            <a:pPr>
              <a:lnSpc>
                <a:spcPct val="115000"/>
              </a:lnSpc>
              <a:defRPr/>
            </a:pPr>
            <a:r>
              <a:rPr kumimoji="1" lang="en-US" altLang="zh-CN" sz="2400" b="1" i="1" dirty="0">
                <a:solidFill>
                  <a:srgbClr val="FF6600"/>
                </a:solidFill>
                <a:latin typeface="Times New Roman" pitchFamily="18" charset="0"/>
                <a:ea typeface="+mn-ea"/>
                <a:cs typeface="Times New Roman" pitchFamily="18" charset="0"/>
              </a:rPr>
              <a:t>N </a:t>
            </a:r>
            <a:r>
              <a:rPr kumimoji="1" lang="zh-CN" altLang="en-US" sz="2400" b="1" dirty="0">
                <a:latin typeface="Times New Roman" pitchFamily="18" charset="0"/>
                <a:ea typeface="+mn-ea"/>
                <a:cs typeface="Times New Roman" pitchFamily="18" charset="0"/>
              </a:rPr>
              <a:t>个分子总平动动能为</a:t>
            </a:r>
          </a:p>
        </p:txBody>
      </p:sp>
      <p:graphicFrame>
        <p:nvGraphicFramePr>
          <p:cNvPr id="225292" name="Object 12"/>
          <p:cNvGraphicFramePr>
            <a:graphicFrameLocks noChangeAspect="1"/>
          </p:cNvGraphicFramePr>
          <p:nvPr/>
        </p:nvGraphicFramePr>
        <p:xfrm>
          <a:off x="3000375" y="5357813"/>
          <a:ext cx="1784350" cy="730250"/>
        </p:xfrm>
        <a:graphic>
          <a:graphicData uri="http://schemas.openxmlformats.org/presentationml/2006/ole">
            <p:oleObj spid="_x0000_s25604" name="公式" r:id="rId5" imgW="990360" imgH="406080" progId="Equation.3">
              <p:embed/>
            </p:oleObj>
          </a:graphicData>
        </a:graphic>
      </p:graphicFrame>
      <p:graphicFrame>
        <p:nvGraphicFramePr>
          <p:cNvPr id="225294" name="Object 14"/>
          <p:cNvGraphicFramePr>
            <a:graphicFrameLocks noChangeAspect="1"/>
          </p:cNvGraphicFramePr>
          <p:nvPr/>
        </p:nvGraphicFramePr>
        <p:xfrm>
          <a:off x="3402013" y="2987675"/>
          <a:ext cx="4108450" cy="755650"/>
        </p:xfrm>
        <a:graphic>
          <a:graphicData uri="http://schemas.openxmlformats.org/presentationml/2006/ole">
            <p:oleObj spid="_x0000_s25605" name="公式" r:id="rId6" imgW="2260440" imgH="419040" progId="Equation.3">
              <p:embed/>
            </p:oleObj>
          </a:graphicData>
        </a:graphic>
      </p:graphicFrame>
      <p:graphicFrame>
        <p:nvGraphicFramePr>
          <p:cNvPr id="225295" name="Object 15"/>
          <p:cNvGraphicFramePr>
            <a:graphicFrameLocks noChangeAspect="1"/>
          </p:cNvGraphicFramePr>
          <p:nvPr/>
        </p:nvGraphicFramePr>
        <p:xfrm>
          <a:off x="4862513" y="5492750"/>
          <a:ext cx="1052512" cy="365125"/>
        </p:xfrm>
        <a:graphic>
          <a:graphicData uri="http://schemas.openxmlformats.org/presentationml/2006/ole">
            <p:oleObj spid="_x0000_s25606" name="公式" r:id="rId7" imgW="583920" imgH="203040" progId="Equation.3">
              <p:embed/>
            </p:oleObj>
          </a:graphicData>
        </a:graphic>
      </p:graphicFrame>
      <p:sp>
        <p:nvSpPr>
          <p:cNvPr id="225296" name="AutoShape 16">
            <a:hlinkClick r:id="rId8" action="ppaction://hlinksldjump" highlightClick="1"/>
          </p:cNvPr>
          <p:cNvSpPr>
            <a:spLocks noChangeArrowheads="1"/>
          </p:cNvSpPr>
          <p:nvPr/>
        </p:nvSpPr>
        <p:spPr bwMode="auto">
          <a:xfrm>
            <a:off x="8286750" y="6143625"/>
            <a:ext cx="287338" cy="287338"/>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5"/>
                                        </p:tgtEl>
                                        <p:attrNameLst>
                                          <p:attrName>style.visibility</p:attrName>
                                        </p:attrNameLst>
                                      </p:cBhvr>
                                      <p:to>
                                        <p:strVal val="visible"/>
                                      </p:to>
                                    </p:set>
                                    <p:animEffect transition="in" filter="wipe(left)">
                                      <p:cBhvr>
                                        <p:cTn id="7" dur="500"/>
                                        <p:tgtEl>
                                          <p:spTgt spid="22528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5282"/>
                                        </p:tgtEl>
                                        <p:attrNameLst>
                                          <p:attrName>style.visibility</p:attrName>
                                        </p:attrNameLst>
                                      </p:cBhvr>
                                      <p:to>
                                        <p:strVal val="visible"/>
                                      </p:to>
                                    </p:set>
                                    <p:animEffect transition="in" filter="wipe(left)">
                                      <p:cBhvr>
                                        <p:cTn id="11" dur="500"/>
                                        <p:tgtEl>
                                          <p:spTgt spid="22528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5286"/>
                                        </p:tgtEl>
                                        <p:attrNameLst>
                                          <p:attrName>style.visibility</p:attrName>
                                        </p:attrNameLst>
                                      </p:cBhvr>
                                      <p:to>
                                        <p:strVal val="visible"/>
                                      </p:to>
                                    </p:set>
                                    <p:animEffect transition="in" filter="wipe(left)">
                                      <p:cBhvr>
                                        <p:cTn id="16" dur="500"/>
                                        <p:tgtEl>
                                          <p:spTgt spid="22528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25283"/>
                                        </p:tgtEl>
                                        <p:attrNameLst>
                                          <p:attrName>style.visibility</p:attrName>
                                        </p:attrNameLst>
                                      </p:cBhvr>
                                      <p:to>
                                        <p:strVal val="visible"/>
                                      </p:to>
                                    </p:set>
                                    <p:animEffect transition="in" filter="wipe(left)">
                                      <p:cBhvr>
                                        <p:cTn id="20" dur="500"/>
                                        <p:tgtEl>
                                          <p:spTgt spid="22528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5284"/>
                                        </p:tgtEl>
                                        <p:attrNameLst>
                                          <p:attrName>style.visibility</p:attrName>
                                        </p:attrNameLst>
                                      </p:cBhvr>
                                      <p:to>
                                        <p:strVal val="visible"/>
                                      </p:to>
                                    </p:set>
                                    <p:animEffect transition="in" filter="wipe(left)">
                                      <p:cBhvr>
                                        <p:cTn id="25" dur="500"/>
                                        <p:tgtEl>
                                          <p:spTgt spid="22528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5288"/>
                                        </p:tgtEl>
                                        <p:attrNameLst>
                                          <p:attrName>style.visibility</p:attrName>
                                        </p:attrNameLst>
                                      </p:cBhvr>
                                      <p:to>
                                        <p:strVal val="visible"/>
                                      </p:to>
                                    </p:set>
                                    <p:animEffect transition="in" filter="wipe(left)">
                                      <p:cBhvr>
                                        <p:cTn id="30" dur="500"/>
                                        <p:tgtEl>
                                          <p:spTgt spid="22528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5287"/>
                                        </p:tgtEl>
                                        <p:attrNameLst>
                                          <p:attrName>style.visibility</p:attrName>
                                        </p:attrNameLst>
                                      </p:cBhvr>
                                      <p:to>
                                        <p:strVal val="visible"/>
                                      </p:to>
                                    </p:set>
                                    <p:animEffect transition="in" filter="wipe(left)">
                                      <p:cBhvr>
                                        <p:cTn id="35" dur="500"/>
                                        <p:tgtEl>
                                          <p:spTgt spid="22528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5294"/>
                                        </p:tgtEl>
                                        <p:attrNameLst>
                                          <p:attrName>style.visibility</p:attrName>
                                        </p:attrNameLst>
                                      </p:cBhvr>
                                      <p:to>
                                        <p:strVal val="visible"/>
                                      </p:to>
                                    </p:set>
                                    <p:animEffect transition="in" filter="wipe(left)">
                                      <p:cBhvr>
                                        <p:cTn id="40" dur="500"/>
                                        <p:tgtEl>
                                          <p:spTgt spid="22529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25289"/>
                                        </p:tgtEl>
                                        <p:attrNameLst>
                                          <p:attrName>style.visibility</p:attrName>
                                        </p:attrNameLst>
                                      </p:cBhvr>
                                      <p:to>
                                        <p:strVal val="visible"/>
                                      </p:to>
                                    </p:set>
                                    <p:animEffect transition="in" filter="wipe(left)">
                                      <p:cBhvr>
                                        <p:cTn id="45" dur="500"/>
                                        <p:tgtEl>
                                          <p:spTgt spid="22528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25290"/>
                                        </p:tgtEl>
                                        <p:attrNameLst>
                                          <p:attrName>style.visibility</p:attrName>
                                        </p:attrNameLst>
                                      </p:cBhvr>
                                      <p:to>
                                        <p:strVal val="visible"/>
                                      </p:to>
                                    </p:set>
                                    <p:animEffect transition="in" filter="wipe(left)">
                                      <p:cBhvr>
                                        <p:cTn id="50" dur="500"/>
                                        <p:tgtEl>
                                          <p:spTgt spid="22529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5291"/>
                                        </p:tgtEl>
                                        <p:attrNameLst>
                                          <p:attrName>style.visibility</p:attrName>
                                        </p:attrNameLst>
                                      </p:cBhvr>
                                      <p:to>
                                        <p:strVal val="visible"/>
                                      </p:to>
                                    </p:set>
                                    <p:animEffect transition="in" filter="wipe(left)">
                                      <p:cBhvr>
                                        <p:cTn id="55" dur="500"/>
                                        <p:tgtEl>
                                          <p:spTgt spid="22529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25292"/>
                                        </p:tgtEl>
                                        <p:attrNameLst>
                                          <p:attrName>style.visibility</p:attrName>
                                        </p:attrNameLst>
                                      </p:cBhvr>
                                      <p:to>
                                        <p:strVal val="visible"/>
                                      </p:to>
                                    </p:set>
                                    <p:animEffect transition="in" filter="wipe(left)">
                                      <p:cBhvr>
                                        <p:cTn id="60" dur="500"/>
                                        <p:tgtEl>
                                          <p:spTgt spid="22529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25295"/>
                                        </p:tgtEl>
                                        <p:attrNameLst>
                                          <p:attrName>style.visibility</p:attrName>
                                        </p:attrNameLst>
                                      </p:cBhvr>
                                      <p:to>
                                        <p:strVal val="visible"/>
                                      </p:to>
                                    </p:set>
                                    <p:animEffect transition="in" filter="wipe(left)">
                                      <p:cBhvr>
                                        <p:cTn id="65" dur="500"/>
                                        <p:tgtEl>
                                          <p:spTgt spid="22529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25296"/>
                                        </p:tgtEl>
                                        <p:attrNameLst>
                                          <p:attrName>style.visibility</p:attrName>
                                        </p:attrNameLst>
                                      </p:cBhvr>
                                      <p:to>
                                        <p:strVal val="visible"/>
                                      </p:to>
                                    </p:set>
                                    <p:animEffect transition="in" filter="wipe(left)">
                                      <p:cBhvr>
                                        <p:cTn id="70" dur="500"/>
                                        <p:tgtEl>
                                          <p:spTgt spid="225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p:bldP spid="225283" grpId="0"/>
      <p:bldP spid="225284" grpId="0"/>
      <p:bldP spid="225285" grpId="0"/>
      <p:bldP spid="225286" grpId="0"/>
      <p:bldP spid="225288" grpId="0" autoUpdateAnimBg="0"/>
      <p:bldP spid="225289" grpId="0" autoUpdateAnimBg="0"/>
      <p:bldP spid="225291" grpId="0" autoUpdateAnimBg="0"/>
      <p:bldP spid="22529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4">
            <a:hlinkClick r:id="rId3" action="ppaction://hlinkpres?slideindex=1&amp;slidetitle="/>
          </p:cNvPr>
          <p:cNvSpPr txBox="1">
            <a:spLocks noChangeArrowheads="1"/>
          </p:cNvSpPr>
          <p:nvPr/>
        </p:nvSpPr>
        <p:spPr bwMode="auto">
          <a:xfrm>
            <a:off x="2571750" y="500063"/>
            <a:ext cx="3960813" cy="519112"/>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§8.4    </a:t>
            </a:r>
            <a:r>
              <a:rPr lang="zh-CN" altLang="en-US" sz="2800" b="1">
                <a:solidFill>
                  <a:srgbClr val="0000FF"/>
                </a:solidFill>
                <a:latin typeface="黑体" pitchFamily="2" charset="-122"/>
                <a:ea typeface="黑体" pitchFamily="2" charset="-122"/>
              </a:rPr>
              <a:t>能量均分原理</a:t>
            </a:r>
          </a:p>
        </p:txBody>
      </p:sp>
      <p:sp>
        <p:nvSpPr>
          <p:cNvPr id="9221" name="Text Box 5"/>
          <p:cNvSpPr txBox="1">
            <a:spLocks noChangeArrowheads="1"/>
          </p:cNvSpPr>
          <p:nvPr/>
        </p:nvSpPr>
        <p:spPr bwMode="auto">
          <a:xfrm>
            <a:off x="179388" y="976313"/>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8.4.1  </a:t>
            </a:r>
            <a:r>
              <a:rPr kumimoji="1" lang="zh-CN" altLang="en-US" sz="2400" b="1">
                <a:solidFill>
                  <a:srgbClr val="0000FF"/>
                </a:solidFill>
              </a:rPr>
              <a:t>自由度</a:t>
            </a:r>
            <a:r>
              <a:rPr kumimoji="1" lang="zh-CN" altLang="en-US" sz="2400"/>
              <a:t> </a:t>
            </a:r>
          </a:p>
        </p:txBody>
      </p:sp>
      <p:sp>
        <p:nvSpPr>
          <p:cNvPr id="9256" name="Text Box 40"/>
          <p:cNvSpPr txBox="1">
            <a:spLocks noChangeArrowheads="1"/>
          </p:cNvSpPr>
          <p:nvPr/>
        </p:nvSpPr>
        <p:spPr bwMode="auto">
          <a:xfrm>
            <a:off x="1609725" y="1511300"/>
            <a:ext cx="7283450" cy="512763"/>
          </a:xfrm>
          <a:prstGeom prst="rect">
            <a:avLst/>
          </a:prstGeom>
          <a:noFill/>
          <a:ln w="9525">
            <a:noFill/>
            <a:miter lim="800000"/>
            <a:headEnd/>
            <a:tailEnd/>
          </a:ln>
        </p:spPr>
        <p:txBody>
          <a:bodyPr>
            <a:spAutoFit/>
          </a:bodyPr>
          <a:lstStyle/>
          <a:p>
            <a:pPr>
              <a:lnSpc>
                <a:spcPct val="115000"/>
              </a:lnSpc>
              <a:defRPr/>
            </a:pPr>
            <a:r>
              <a:rPr kumimoji="1" lang="zh-CN" altLang="en-US" sz="2400" b="1" dirty="0">
                <a:latin typeface="+mn-ea"/>
                <a:ea typeface="+mn-ea"/>
              </a:rPr>
              <a:t>确定一物体在空间的</a:t>
            </a:r>
            <a:r>
              <a:rPr kumimoji="1" lang="zh-CN" altLang="en-US" sz="2400" b="1" dirty="0">
                <a:solidFill>
                  <a:srgbClr val="FF6600"/>
                </a:solidFill>
                <a:latin typeface="+mn-ea"/>
                <a:ea typeface="+mn-ea"/>
              </a:rPr>
              <a:t>位置</a:t>
            </a:r>
            <a:r>
              <a:rPr kumimoji="1" lang="zh-CN" altLang="en-US" sz="2400" b="1" dirty="0">
                <a:latin typeface="+mn-ea"/>
                <a:ea typeface="+mn-ea"/>
              </a:rPr>
              <a:t>所需的</a:t>
            </a:r>
            <a:r>
              <a:rPr kumimoji="1" lang="zh-CN" altLang="en-US" sz="2400" b="1" dirty="0">
                <a:solidFill>
                  <a:srgbClr val="FF6600"/>
                </a:solidFill>
                <a:latin typeface="+mn-ea"/>
                <a:ea typeface="+mn-ea"/>
              </a:rPr>
              <a:t>独立坐标数目</a:t>
            </a:r>
            <a:r>
              <a:rPr kumimoji="1" lang="zh-CN" altLang="en-US" sz="2400" b="1" dirty="0">
                <a:latin typeface="+mn-ea"/>
                <a:ea typeface="+mn-ea"/>
              </a:rPr>
              <a:t>。</a:t>
            </a:r>
          </a:p>
        </p:txBody>
      </p:sp>
      <p:sp>
        <p:nvSpPr>
          <p:cNvPr id="9257" name="Text Box 41"/>
          <p:cNvSpPr txBox="1">
            <a:spLocks noChangeArrowheads="1"/>
          </p:cNvSpPr>
          <p:nvPr/>
        </p:nvSpPr>
        <p:spPr bwMode="auto">
          <a:xfrm>
            <a:off x="342900" y="1504950"/>
            <a:ext cx="1450975" cy="512763"/>
          </a:xfrm>
          <a:prstGeom prst="rect">
            <a:avLst/>
          </a:prstGeom>
          <a:noFill/>
          <a:ln w="9525">
            <a:noFill/>
            <a:miter lim="800000"/>
            <a:headEnd/>
            <a:tailEnd/>
          </a:ln>
        </p:spPr>
        <p:txBody>
          <a:bodyPr>
            <a:spAutoFit/>
          </a:bodyPr>
          <a:lstStyle/>
          <a:p>
            <a:pPr>
              <a:lnSpc>
                <a:spcPct val="115000"/>
              </a:lnSpc>
            </a:pPr>
            <a:r>
              <a:rPr kumimoji="1" lang="zh-CN" altLang="en-US" sz="2400" b="1">
                <a:solidFill>
                  <a:srgbClr val="FF0000"/>
                </a:solidFill>
                <a:latin typeface="宋体" charset="-122"/>
              </a:rPr>
              <a:t>自由度</a:t>
            </a:r>
            <a:r>
              <a:rPr kumimoji="1" lang="en-US" altLang="zh-CN" sz="2400" b="1">
                <a:solidFill>
                  <a:srgbClr val="FF0000"/>
                </a:solidFill>
                <a:latin typeface="宋体" charset="-122"/>
              </a:rPr>
              <a:t>:</a:t>
            </a:r>
          </a:p>
        </p:txBody>
      </p:sp>
      <p:sp>
        <p:nvSpPr>
          <p:cNvPr id="9259" name="Rectangle 43"/>
          <p:cNvSpPr>
            <a:spLocks noChangeArrowheads="1"/>
          </p:cNvSpPr>
          <p:nvPr/>
        </p:nvSpPr>
        <p:spPr bwMode="auto">
          <a:xfrm>
            <a:off x="1647825" y="2073275"/>
            <a:ext cx="2295525" cy="517525"/>
          </a:xfrm>
          <a:prstGeom prst="rect">
            <a:avLst/>
          </a:prstGeom>
          <a:noFill/>
          <a:ln w="9525" algn="ctr">
            <a:noFill/>
            <a:miter lim="800000"/>
            <a:headEnd/>
            <a:tailEnd/>
          </a:ln>
        </p:spPr>
        <p:txBody>
          <a:bodyPr>
            <a:spAutoFit/>
          </a:bodyPr>
          <a:lstStyle/>
          <a:p>
            <a:pPr>
              <a:lnSpc>
                <a:spcPct val="115000"/>
              </a:lnSpc>
              <a:defRPr/>
            </a:pPr>
            <a:r>
              <a:rPr lang="zh-CN" altLang="en-US" sz="2400" b="1" dirty="0">
                <a:latin typeface="+mn-ea"/>
                <a:ea typeface="+mn-ea"/>
              </a:rPr>
              <a:t>常用</a:t>
            </a:r>
            <a:r>
              <a:rPr lang="zh-CN" altLang="en-US" sz="2400" b="1" dirty="0">
                <a:latin typeface="Times New Roman" pitchFamily="18" charset="0"/>
                <a:ea typeface="+mn-ea"/>
                <a:cs typeface="Times New Roman" pitchFamily="18" charset="0"/>
              </a:rPr>
              <a:t> </a:t>
            </a:r>
            <a:r>
              <a:rPr lang="en-US" altLang="zh-CN" sz="2400" b="1" i="1" dirty="0" err="1">
                <a:solidFill>
                  <a:srgbClr val="FF6600"/>
                </a:solidFill>
                <a:latin typeface="Times New Roman" pitchFamily="18" charset="0"/>
                <a:ea typeface="+mn-ea"/>
                <a:cs typeface="Times New Roman" pitchFamily="18" charset="0"/>
              </a:rPr>
              <a:t>i</a:t>
            </a:r>
            <a:r>
              <a:rPr lang="en-US" altLang="zh-CN" sz="2400" b="1" i="1" dirty="0">
                <a:solidFill>
                  <a:srgbClr val="FF6600"/>
                </a:solidFill>
                <a:latin typeface="Times New Roman" pitchFamily="18" charset="0"/>
                <a:ea typeface="+mn-ea"/>
                <a:cs typeface="Times New Roman" pitchFamily="18" charset="0"/>
              </a:rPr>
              <a:t> </a:t>
            </a:r>
            <a:r>
              <a:rPr lang="en-US" altLang="zh-CN" sz="2400" b="1" i="1" dirty="0">
                <a:latin typeface="Times New Roman" pitchFamily="18" charset="0"/>
                <a:ea typeface="+mn-ea"/>
                <a:cs typeface="Times New Roman" pitchFamily="18" charset="0"/>
              </a:rPr>
              <a:t> </a:t>
            </a:r>
            <a:r>
              <a:rPr lang="zh-CN" altLang="en-US" sz="2400" b="1" dirty="0">
                <a:latin typeface="+mn-ea"/>
                <a:ea typeface="+mn-ea"/>
              </a:rPr>
              <a:t>表示。</a:t>
            </a:r>
          </a:p>
        </p:txBody>
      </p:sp>
      <p:sp>
        <p:nvSpPr>
          <p:cNvPr id="9260" name="Text Box 44"/>
          <p:cNvSpPr txBox="1">
            <a:spLocks noChangeArrowheads="1"/>
          </p:cNvSpPr>
          <p:nvPr/>
        </p:nvSpPr>
        <p:spPr bwMode="auto">
          <a:xfrm>
            <a:off x="395288" y="2559050"/>
            <a:ext cx="5832475" cy="457200"/>
          </a:xfrm>
          <a:prstGeom prst="rect">
            <a:avLst/>
          </a:prstGeom>
          <a:noFill/>
          <a:ln w="9525">
            <a:noFill/>
            <a:miter lim="800000"/>
            <a:headEnd/>
            <a:tailEnd/>
          </a:ln>
        </p:spPr>
        <p:txBody>
          <a:bodyPr>
            <a:spAutoFit/>
          </a:bodyPr>
          <a:lstStyle/>
          <a:p>
            <a:pPr>
              <a:buClr>
                <a:srgbClr val="FF6600"/>
              </a:buClr>
              <a:buFont typeface="Wingdings" pitchFamily="2" charset="2"/>
              <a:buChar char="Ø"/>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确定一个自由质点在空间的位置 </a:t>
            </a:r>
          </a:p>
        </p:txBody>
      </p:sp>
      <p:sp>
        <p:nvSpPr>
          <p:cNvPr id="9261" name="Text Box 45"/>
          <p:cNvSpPr txBox="1">
            <a:spLocks noChangeArrowheads="1"/>
          </p:cNvSpPr>
          <p:nvPr/>
        </p:nvSpPr>
        <p:spPr bwMode="auto">
          <a:xfrm>
            <a:off x="2214563" y="3019425"/>
            <a:ext cx="1171575" cy="457200"/>
          </a:xfrm>
          <a:prstGeom prst="rect">
            <a:avLst/>
          </a:prstGeom>
          <a:noFill/>
          <a:ln w="9525">
            <a:noFill/>
            <a:miter lim="800000"/>
            <a:headEnd/>
            <a:tailEnd/>
          </a:ln>
        </p:spPr>
        <p:txBody>
          <a:bodyPr>
            <a:spAutoFit/>
          </a:bodyPr>
          <a:lstStyle/>
          <a:p>
            <a:r>
              <a:rPr lang="en-US" altLang="zh-CN" sz="2400" b="1">
                <a:solidFill>
                  <a:schemeClr val="accent2"/>
                </a:solidFill>
                <a:latin typeface="Times New Roman" pitchFamily="18" charset="0"/>
              </a:rPr>
              <a:t>(</a:t>
            </a:r>
            <a:r>
              <a:rPr lang="en-US" altLang="zh-CN" sz="2400" b="1" i="1">
                <a:solidFill>
                  <a:schemeClr val="accent2"/>
                </a:solidFill>
                <a:latin typeface="Times New Roman" pitchFamily="18" charset="0"/>
              </a:rPr>
              <a:t>x</a:t>
            </a:r>
            <a:r>
              <a:rPr lang="en-US" altLang="zh-CN" sz="2400" b="1">
                <a:solidFill>
                  <a:schemeClr val="accent2"/>
                </a:solidFill>
                <a:latin typeface="Times New Roman" pitchFamily="18" charset="0"/>
              </a:rPr>
              <a:t>, </a:t>
            </a:r>
            <a:r>
              <a:rPr lang="en-US" altLang="zh-CN" sz="2400" b="1" i="1">
                <a:solidFill>
                  <a:schemeClr val="accent2"/>
                </a:solidFill>
                <a:latin typeface="Times New Roman" pitchFamily="18" charset="0"/>
              </a:rPr>
              <a:t>y, z</a:t>
            </a:r>
            <a:r>
              <a:rPr lang="en-US" altLang="zh-CN" sz="2400" b="1">
                <a:solidFill>
                  <a:schemeClr val="accent2"/>
                </a:solidFill>
                <a:latin typeface="Times New Roman" pitchFamily="18" charset="0"/>
              </a:rPr>
              <a:t>)</a:t>
            </a:r>
          </a:p>
        </p:txBody>
      </p:sp>
      <p:sp>
        <p:nvSpPr>
          <p:cNvPr id="9262" name="Text Box 46"/>
          <p:cNvSpPr txBox="1">
            <a:spLocks noChangeArrowheads="1"/>
          </p:cNvSpPr>
          <p:nvPr/>
        </p:nvSpPr>
        <p:spPr bwMode="auto">
          <a:xfrm>
            <a:off x="3429000" y="3019425"/>
            <a:ext cx="2601913"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自由度</a:t>
            </a:r>
            <a:r>
              <a:rPr lang="en-US" altLang="zh-CN" sz="2400" b="1">
                <a:latin typeface="Times New Roman" pitchFamily="18" charset="0"/>
                <a:ea typeface="楷体_GB2312" pitchFamily="49" charset="-122"/>
              </a:rPr>
              <a:t> </a:t>
            </a:r>
            <a:r>
              <a:rPr lang="en-US" altLang="zh-CN" sz="2400" b="1" i="1">
                <a:solidFill>
                  <a:srgbClr val="FF0000"/>
                </a:solidFill>
                <a:latin typeface="Times New Roman" pitchFamily="18" charset="0"/>
                <a:ea typeface="楷体_GB2312" pitchFamily="49" charset="-122"/>
              </a:rPr>
              <a:t>i</a:t>
            </a:r>
            <a:r>
              <a:rPr lang="zh-CN" altLang="en-US" sz="2400" b="1">
                <a:solidFill>
                  <a:srgbClr val="FF0000"/>
                </a:solidFill>
                <a:latin typeface="Times New Roman" pitchFamily="18" charset="0"/>
                <a:ea typeface="楷体_GB2312" pitchFamily="49" charset="-122"/>
              </a:rPr>
              <a:t>＝</a:t>
            </a:r>
            <a:r>
              <a:rPr lang="en-US" altLang="zh-CN" sz="2400" b="1">
                <a:solidFill>
                  <a:srgbClr val="FF0000"/>
                </a:solidFill>
                <a:latin typeface="Times New Roman" pitchFamily="18" charset="0"/>
                <a:ea typeface="楷体_GB2312" pitchFamily="49" charset="-122"/>
              </a:rPr>
              <a:t>3</a:t>
            </a:r>
          </a:p>
        </p:txBody>
      </p:sp>
      <p:sp>
        <p:nvSpPr>
          <p:cNvPr id="9263" name="Text Box 47"/>
          <p:cNvSpPr txBox="1">
            <a:spLocks noChangeArrowheads="1"/>
          </p:cNvSpPr>
          <p:nvPr/>
        </p:nvSpPr>
        <p:spPr bwMode="auto">
          <a:xfrm>
            <a:off x="396875" y="3592513"/>
            <a:ext cx="6696075" cy="457200"/>
          </a:xfrm>
          <a:prstGeom prst="rect">
            <a:avLst/>
          </a:prstGeom>
          <a:noFill/>
          <a:ln w="9525">
            <a:noFill/>
            <a:miter lim="800000"/>
            <a:headEnd/>
            <a:tailEnd/>
          </a:ln>
        </p:spPr>
        <p:txBody>
          <a:bodyPr>
            <a:spAutoFit/>
          </a:bodyPr>
          <a:lstStyle/>
          <a:p>
            <a:pPr>
              <a:buClr>
                <a:srgbClr val="FF6600"/>
              </a:buClr>
              <a:buFont typeface="Wingdings" pitchFamily="2" charset="2"/>
              <a:buChar char="Ø"/>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确定一个海平面上行驶的</a:t>
            </a:r>
            <a:r>
              <a:rPr lang="zh-CN" altLang="en-US" sz="2400" b="1">
                <a:solidFill>
                  <a:srgbClr val="FF0000"/>
                </a:solidFill>
                <a:latin typeface="Times New Roman" pitchFamily="18" charset="0"/>
                <a:ea typeface="楷体_GB2312" pitchFamily="49" charset="-122"/>
              </a:rPr>
              <a:t>轮船</a:t>
            </a:r>
            <a:r>
              <a:rPr lang="en-US" altLang="zh-CN" sz="2400" b="1">
                <a:latin typeface="Times New Roman" pitchFamily="18" charset="0"/>
                <a:ea typeface="楷体_GB2312" pitchFamily="49" charset="-122"/>
              </a:rPr>
              <a:t>(</a:t>
            </a:r>
            <a:r>
              <a:rPr lang="zh-CN" altLang="en-US" sz="2400" b="1">
                <a:latin typeface="Times New Roman" pitchFamily="18" charset="0"/>
                <a:ea typeface="楷体_GB2312" pitchFamily="49" charset="-122"/>
              </a:rPr>
              <a:t>看作</a:t>
            </a:r>
            <a:r>
              <a:rPr lang="zh-CN" altLang="en-US" sz="2400" b="1">
                <a:solidFill>
                  <a:srgbClr val="FF6600"/>
                </a:solidFill>
                <a:latin typeface="Times New Roman" pitchFamily="18" charset="0"/>
                <a:ea typeface="楷体_GB2312" pitchFamily="49" charset="-122"/>
              </a:rPr>
              <a:t>刚体</a:t>
            </a:r>
            <a:r>
              <a:rPr lang="en-US" altLang="zh-CN" sz="2400" b="1">
                <a:latin typeface="Times New Roman" pitchFamily="18" charset="0"/>
                <a:ea typeface="楷体_GB2312" pitchFamily="49" charset="-122"/>
              </a:rPr>
              <a:t>)</a:t>
            </a:r>
          </a:p>
        </p:txBody>
      </p:sp>
      <p:sp>
        <p:nvSpPr>
          <p:cNvPr id="9264" name="Text Box 48"/>
          <p:cNvSpPr txBox="1">
            <a:spLocks noChangeArrowheads="1"/>
          </p:cNvSpPr>
          <p:nvPr/>
        </p:nvSpPr>
        <p:spPr bwMode="auto">
          <a:xfrm>
            <a:off x="539750" y="4097338"/>
            <a:ext cx="7416800" cy="457200"/>
          </a:xfrm>
          <a:prstGeom prst="rect">
            <a:avLst/>
          </a:prstGeom>
          <a:noFill/>
          <a:ln w="9525">
            <a:noFill/>
            <a:miter lim="800000"/>
            <a:headEnd/>
            <a:tailEnd/>
          </a:ln>
        </p:spPr>
        <p:txBody>
          <a:bodyPr>
            <a:spAutoFit/>
          </a:bodyPr>
          <a:lstStyle/>
          <a:p>
            <a:pPr>
              <a:lnSpc>
                <a:spcPct val="120000"/>
              </a:lnSpc>
            </a:pPr>
            <a:r>
              <a:rPr lang="en-US" altLang="zh-CN" sz="2000" b="1">
                <a:latin typeface="Times New Roman" pitchFamily="18" charset="0"/>
              </a:rPr>
              <a:t> (</a:t>
            </a:r>
            <a:r>
              <a:rPr lang="zh-CN" altLang="en-US" sz="2000" b="1">
                <a:latin typeface="Times New Roman" pitchFamily="18" charset="0"/>
                <a:ea typeface="楷体_GB2312" pitchFamily="49" charset="-122"/>
              </a:rPr>
              <a:t>刚体的一般运动可分解为</a:t>
            </a:r>
            <a:r>
              <a:rPr lang="zh-CN" altLang="en-US" sz="2000" b="1">
                <a:solidFill>
                  <a:srgbClr val="006600"/>
                </a:solidFill>
                <a:latin typeface="Times New Roman" pitchFamily="18" charset="0"/>
                <a:ea typeface="楷体_GB2312" pitchFamily="49" charset="-122"/>
              </a:rPr>
              <a:t>质心的平动</a:t>
            </a:r>
            <a:r>
              <a:rPr lang="zh-CN" altLang="en-US" sz="2000" b="1">
                <a:latin typeface="Times New Roman" pitchFamily="18" charset="0"/>
                <a:ea typeface="楷体_GB2312" pitchFamily="49" charset="-122"/>
              </a:rPr>
              <a:t>和</a:t>
            </a:r>
            <a:r>
              <a:rPr lang="zh-CN" altLang="en-US" sz="2000" b="1">
                <a:solidFill>
                  <a:srgbClr val="006600"/>
                </a:solidFill>
                <a:latin typeface="Times New Roman" pitchFamily="18" charset="0"/>
                <a:ea typeface="楷体_GB2312" pitchFamily="49" charset="-122"/>
              </a:rPr>
              <a:t>绕通过质心轴的转动</a:t>
            </a:r>
            <a:r>
              <a:rPr lang="en-US" altLang="zh-CN" sz="2000" b="1">
                <a:solidFill>
                  <a:srgbClr val="006600"/>
                </a:solidFill>
                <a:latin typeface="Times New Roman" pitchFamily="18" charset="0"/>
                <a:ea typeface="楷体_GB2312" pitchFamily="49" charset="-122"/>
              </a:rPr>
              <a:t>)</a:t>
            </a:r>
          </a:p>
        </p:txBody>
      </p:sp>
      <p:pic>
        <p:nvPicPr>
          <p:cNvPr id="9265" name="Picture 49" descr="lc2_033"/>
          <p:cNvPicPr>
            <a:picLocks noChangeArrowheads="1"/>
          </p:cNvPicPr>
          <p:nvPr/>
        </p:nvPicPr>
        <p:blipFill>
          <a:blip r:embed="rId4"/>
          <a:srcRect/>
          <a:stretch>
            <a:fillRect/>
          </a:stretch>
        </p:blipFill>
        <p:spPr bwMode="auto">
          <a:xfrm>
            <a:off x="746125" y="4746625"/>
            <a:ext cx="1928813" cy="1582738"/>
          </a:xfrm>
          <a:prstGeom prst="rect">
            <a:avLst/>
          </a:prstGeom>
          <a:noFill/>
          <a:ln w="9525">
            <a:noFill/>
            <a:miter lim="800000"/>
            <a:headEnd/>
            <a:tailEnd/>
          </a:ln>
        </p:spPr>
      </p:pic>
      <p:sp>
        <p:nvSpPr>
          <p:cNvPr id="9266" name="AutoShape 50"/>
          <p:cNvSpPr>
            <a:spLocks noChangeArrowheads="1"/>
          </p:cNvSpPr>
          <p:nvPr/>
        </p:nvSpPr>
        <p:spPr bwMode="auto">
          <a:xfrm>
            <a:off x="2987675" y="5392738"/>
            <a:ext cx="576263" cy="215900"/>
          </a:xfrm>
          <a:prstGeom prst="rightArrow">
            <a:avLst>
              <a:gd name="adj1" fmla="val 50000"/>
              <a:gd name="adj2" fmla="val 66728"/>
            </a:avLst>
          </a:prstGeom>
          <a:solidFill>
            <a:srgbClr val="66CCFF"/>
          </a:solidFill>
          <a:ln w="9525">
            <a:solidFill>
              <a:schemeClr val="tx1"/>
            </a:solidFill>
            <a:miter lim="800000"/>
            <a:headEnd/>
            <a:tailEnd/>
          </a:ln>
        </p:spPr>
        <p:txBody>
          <a:bodyPr wrap="none" anchor="ctr"/>
          <a:lstStyle/>
          <a:p>
            <a:pPr algn="ctr"/>
            <a:endParaRPr lang="zh-CN" altLang="en-US"/>
          </a:p>
        </p:txBody>
      </p:sp>
      <p:sp>
        <p:nvSpPr>
          <p:cNvPr id="9267" name="Rectangle 51"/>
          <p:cNvSpPr>
            <a:spLocks noChangeAspect="1" noChangeArrowheads="1"/>
          </p:cNvSpPr>
          <p:nvPr/>
        </p:nvSpPr>
        <p:spPr bwMode="auto">
          <a:xfrm>
            <a:off x="3879850" y="4613275"/>
            <a:ext cx="1770063" cy="1604963"/>
          </a:xfrm>
          <a:prstGeom prst="rect">
            <a:avLst/>
          </a:prstGeom>
          <a:gradFill rotWithShape="0">
            <a:gsLst>
              <a:gs pos="0">
                <a:srgbClr val="99CCFF">
                  <a:alpha val="70000"/>
                </a:srgbClr>
              </a:gs>
              <a:gs pos="100000">
                <a:srgbClr val="9ECEFF">
                  <a:alpha val="70000"/>
                </a:srgbClr>
              </a:gs>
            </a:gsLst>
            <a:lin ang="5400000" scaled="1"/>
          </a:gradFill>
          <a:ln w="9525">
            <a:solidFill>
              <a:schemeClr val="accent1"/>
            </a:solidFill>
            <a:miter lim="800000"/>
            <a:headEnd/>
            <a:tailEnd/>
          </a:ln>
        </p:spPr>
        <p:txBody>
          <a:bodyPr wrap="none" anchor="ctr"/>
          <a:lstStyle/>
          <a:p>
            <a:pPr algn="ctr"/>
            <a:endParaRPr lang="zh-CN" altLang="zh-CN" sz="2400" b="1">
              <a:latin typeface="Times New Roman" pitchFamily="18" charset="0"/>
            </a:endParaRPr>
          </a:p>
        </p:txBody>
      </p:sp>
      <p:grpSp>
        <p:nvGrpSpPr>
          <p:cNvPr id="2" name="Group 52"/>
          <p:cNvGrpSpPr>
            <a:grpSpLocks/>
          </p:cNvGrpSpPr>
          <p:nvPr/>
        </p:nvGrpSpPr>
        <p:grpSpPr bwMode="auto">
          <a:xfrm>
            <a:off x="3563938" y="4395788"/>
            <a:ext cx="2449512" cy="2176462"/>
            <a:chOff x="3651" y="919"/>
            <a:chExt cx="2041" cy="1550"/>
          </a:xfrm>
        </p:grpSpPr>
        <p:sp>
          <p:nvSpPr>
            <p:cNvPr id="104482" name="Line 53"/>
            <p:cNvSpPr>
              <a:spLocks noChangeShapeType="1"/>
            </p:cNvSpPr>
            <p:nvPr/>
          </p:nvSpPr>
          <p:spPr bwMode="auto">
            <a:xfrm flipV="1">
              <a:off x="3892" y="1162"/>
              <a:ext cx="0" cy="1044"/>
            </a:xfrm>
            <a:prstGeom prst="line">
              <a:avLst/>
            </a:prstGeom>
            <a:noFill/>
            <a:ln w="28575">
              <a:solidFill>
                <a:schemeClr val="tx1"/>
              </a:solidFill>
              <a:round/>
              <a:headEnd/>
              <a:tailEnd type="triangle" w="med" len="med"/>
            </a:ln>
          </p:spPr>
          <p:txBody>
            <a:bodyPr/>
            <a:lstStyle/>
            <a:p>
              <a:endParaRPr lang="zh-CN" altLang="en-US"/>
            </a:p>
          </p:txBody>
        </p:sp>
        <p:sp>
          <p:nvSpPr>
            <p:cNvPr id="104483" name="Line 54"/>
            <p:cNvSpPr>
              <a:spLocks noChangeShapeType="1"/>
            </p:cNvSpPr>
            <p:nvPr/>
          </p:nvSpPr>
          <p:spPr bwMode="auto">
            <a:xfrm>
              <a:off x="3892" y="2206"/>
              <a:ext cx="1437" cy="0"/>
            </a:xfrm>
            <a:prstGeom prst="line">
              <a:avLst/>
            </a:prstGeom>
            <a:noFill/>
            <a:ln w="28575">
              <a:solidFill>
                <a:schemeClr val="tx1"/>
              </a:solidFill>
              <a:round/>
              <a:headEnd/>
              <a:tailEnd type="triangle" w="med" len="med"/>
            </a:ln>
          </p:spPr>
          <p:txBody>
            <a:bodyPr/>
            <a:lstStyle/>
            <a:p>
              <a:endParaRPr lang="zh-CN" altLang="en-US"/>
            </a:p>
          </p:txBody>
        </p:sp>
        <p:sp>
          <p:nvSpPr>
            <p:cNvPr id="104484" name="Text Box 55"/>
            <p:cNvSpPr txBox="1">
              <a:spLocks noChangeArrowheads="1"/>
            </p:cNvSpPr>
            <p:nvPr/>
          </p:nvSpPr>
          <p:spPr bwMode="auto">
            <a:xfrm>
              <a:off x="5316" y="2024"/>
              <a:ext cx="376" cy="325"/>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104485" name="Text Box 56"/>
            <p:cNvSpPr txBox="1">
              <a:spLocks noChangeArrowheads="1"/>
            </p:cNvSpPr>
            <p:nvPr/>
          </p:nvSpPr>
          <p:spPr bwMode="auto">
            <a:xfrm>
              <a:off x="3957" y="919"/>
              <a:ext cx="375" cy="326"/>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104486" name="Text Box 57"/>
            <p:cNvSpPr txBox="1">
              <a:spLocks noChangeArrowheads="1"/>
            </p:cNvSpPr>
            <p:nvPr/>
          </p:nvSpPr>
          <p:spPr bwMode="auto">
            <a:xfrm>
              <a:off x="3651" y="2144"/>
              <a:ext cx="376" cy="325"/>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grpSp>
      <p:sp>
        <p:nvSpPr>
          <p:cNvPr id="9274" name="Text Box 58"/>
          <p:cNvSpPr txBox="1">
            <a:spLocks noChangeArrowheads="1"/>
          </p:cNvSpPr>
          <p:nvPr/>
        </p:nvSpPr>
        <p:spPr bwMode="auto">
          <a:xfrm>
            <a:off x="4919663" y="4600575"/>
            <a:ext cx="831850" cy="366713"/>
          </a:xfrm>
          <a:prstGeom prst="rect">
            <a:avLst/>
          </a:prstGeom>
          <a:noFill/>
          <a:ln w="9525">
            <a:noFill/>
            <a:miter lim="800000"/>
            <a:headEnd/>
            <a:tailEnd/>
          </a:ln>
        </p:spPr>
        <p:txBody>
          <a:bodyPr>
            <a:spAutoFit/>
          </a:bodyPr>
          <a:lstStyle/>
          <a:p>
            <a:r>
              <a:rPr lang="zh-CN" altLang="en-US" b="1">
                <a:solidFill>
                  <a:schemeClr val="accent2"/>
                </a:solidFill>
                <a:latin typeface="Times New Roman" pitchFamily="18" charset="0"/>
                <a:ea typeface="楷体_GB2312" pitchFamily="49" charset="-122"/>
              </a:rPr>
              <a:t>海面</a:t>
            </a:r>
          </a:p>
        </p:txBody>
      </p:sp>
      <p:sp>
        <p:nvSpPr>
          <p:cNvPr id="9275" name="Freeform 59"/>
          <p:cNvSpPr>
            <a:spLocks/>
          </p:cNvSpPr>
          <p:nvPr/>
        </p:nvSpPr>
        <p:spPr bwMode="auto">
          <a:xfrm rot="9303143">
            <a:off x="4600575" y="4860925"/>
            <a:ext cx="165100" cy="733425"/>
          </a:xfrm>
          <a:custGeom>
            <a:avLst/>
            <a:gdLst>
              <a:gd name="T0" fmla="*/ 2147483647 w 166"/>
              <a:gd name="T1" fmla="*/ 0 h 496"/>
              <a:gd name="T2" fmla="*/ 0 w 166"/>
              <a:gd name="T3" fmla="*/ 2147483647 h 496"/>
              <a:gd name="T4" fmla="*/ 2147483647 w 166"/>
              <a:gd name="T5" fmla="*/ 2147483647 h 496"/>
              <a:gd name="T6" fmla="*/ 2147483647 w 166"/>
              <a:gd name="T7" fmla="*/ 2147483647 h 496"/>
              <a:gd name="T8" fmla="*/ 2147483647 w 166"/>
              <a:gd name="T9" fmla="*/ 0 h 496"/>
              <a:gd name="T10" fmla="*/ 0 60000 65536"/>
              <a:gd name="T11" fmla="*/ 0 60000 65536"/>
              <a:gd name="T12" fmla="*/ 0 60000 65536"/>
              <a:gd name="T13" fmla="*/ 0 60000 65536"/>
              <a:gd name="T14" fmla="*/ 0 60000 65536"/>
              <a:gd name="T15" fmla="*/ 0 w 166"/>
              <a:gd name="T16" fmla="*/ 0 h 496"/>
              <a:gd name="T17" fmla="*/ 166 w 166"/>
              <a:gd name="T18" fmla="*/ 496 h 496"/>
            </a:gdLst>
            <a:ahLst/>
            <a:cxnLst>
              <a:cxn ang="T10">
                <a:pos x="T0" y="T1"/>
              </a:cxn>
              <a:cxn ang="T11">
                <a:pos x="T2" y="T3"/>
              </a:cxn>
              <a:cxn ang="T12">
                <a:pos x="T4" y="T5"/>
              </a:cxn>
              <a:cxn ang="T13">
                <a:pos x="T6" y="T7"/>
              </a:cxn>
              <a:cxn ang="T14">
                <a:pos x="T8" y="T9"/>
              </a:cxn>
            </a:cxnLst>
            <a:rect l="T15" t="T16" r="T17" b="T18"/>
            <a:pathLst>
              <a:path w="166" h="496">
                <a:moveTo>
                  <a:pt x="82" y="0"/>
                </a:moveTo>
                <a:cubicBezTo>
                  <a:pt x="55" y="0"/>
                  <a:pt x="1" y="61"/>
                  <a:pt x="0" y="144"/>
                </a:cubicBezTo>
                <a:cubicBezTo>
                  <a:pt x="0" y="227"/>
                  <a:pt x="47" y="496"/>
                  <a:pt x="74" y="496"/>
                </a:cubicBezTo>
                <a:cubicBezTo>
                  <a:pt x="101" y="496"/>
                  <a:pt x="164" y="227"/>
                  <a:pt x="165" y="144"/>
                </a:cubicBezTo>
                <a:cubicBezTo>
                  <a:pt x="166" y="61"/>
                  <a:pt x="109" y="0"/>
                  <a:pt x="82" y="0"/>
                </a:cubicBezTo>
                <a:close/>
              </a:path>
            </a:pathLst>
          </a:custGeom>
          <a:blipFill dpi="0" rotWithShape="1">
            <a:blip r:embed="rId5">
              <a:alphaModFix amt="70000"/>
            </a:blip>
            <a:srcRect/>
            <a:tile tx="0" ty="0" sx="100000" sy="100000" flip="none" algn="tl"/>
          </a:blipFill>
          <a:ln w="9525">
            <a:solidFill>
              <a:schemeClr val="bg2"/>
            </a:solidFill>
            <a:round/>
            <a:headEnd/>
            <a:tailEnd/>
          </a:ln>
        </p:spPr>
        <p:txBody>
          <a:bodyPr/>
          <a:lstStyle/>
          <a:p>
            <a:pPr algn="ctr"/>
            <a:endParaRPr lang="zh-CN" altLang="en-US"/>
          </a:p>
        </p:txBody>
      </p:sp>
      <p:sp>
        <p:nvSpPr>
          <p:cNvPr id="9276" name="Line 60"/>
          <p:cNvSpPr>
            <a:spLocks noChangeShapeType="1"/>
          </p:cNvSpPr>
          <p:nvPr/>
        </p:nvSpPr>
        <p:spPr bwMode="auto">
          <a:xfrm flipV="1">
            <a:off x="3952875" y="5248275"/>
            <a:ext cx="739775" cy="892175"/>
          </a:xfrm>
          <a:prstGeom prst="line">
            <a:avLst/>
          </a:prstGeom>
          <a:noFill/>
          <a:ln w="9525">
            <a:solidFill>
              <a:srgbClr val="FF6600"/>
            </a:solidFill>
            <a:round/>
            <a:headEnd/>
            <a:tailEnd type="triangle" w="med" len="med"/>
          </a:ln>
        </p:spPr>
        <p:txBody>
          <a:bodyPr/>
          <a:lstStyle/>
          <a:p>
            <a:endParaRPr lang="zh-CN" altLang="en-US"/>
          </a:p>
        </p:txBody>
      </p:sp>
      <p:sp>
        <p:nvSpPr>
          <p:cNvPr id="9277" name="Oval 61"/>
          <p:cNvSpPr>
            <a:spLocks noChangeArrowheads="1"/>
          </p:cNvSpPr>
          <p:nvPr/>
        </p:nvSpPr>
        <p:spPr bwMode="auto">
          <a:xfrm>
            <a:off x="4672013" y="5251450"/>
            <a:ext cx="69850" cy="69850"/>
          </a:xfrm>
          <a:prstGeom prst="ellipse">
            <a:avLst/>
          </a:prstGeom>
          <a:solidFill>
            <a:srgbClr val="FF0000"/>
          </a:solidFill>
          <a:ln w="9525">
            <a:solidFill>
              <a:schemeClr val="tx1"/>
            </a:solidFill>
            <a:round/>
            <a:headEnd/>
            <a:tailEnd/>
          </a:ln>
        </p:spPr>
        <p:txBody>
          <a:bodyPr wrap="none" anchor="ctr"/>
          <a:lstStyle/>
          <a:p>
            <a:pPr algn="ctr"/>
            <a:endParaRPr lang="zh-CN" altLang="en-US"/>
          </a:p>
        </p:txBody>
      </p:sp>
      <p:sp>
        <p:nvSpPr>
          <p:cNvPr id="9278" name="Line 62"/>
          <p:cNvSpPr>
            <a:spLocks noChangeShapeType="1"/>
          </p:cNvSpPr>
          <p:nvPr/>
        </p:nvSpPr>
        <p:spPr bwMode="auto">
          <a:xfrm flipV="1">
            <a:off x="4672013" y="4675188"/>
            <a:ext cx="1587" cy="625475"/>
          </a:xfrm>
          <a:prstGeom prst="line">
            <a:avLst/>
          </a:prstGeom>
          <a:noFill/>
          <a:ln w="28575">
            <a:solidFill>
              <a:srgbClr val="FF0000"/>
            </a:solidFill>
            <a:round/>
            <a:headEnd/>
            <a:tailEnd type="triangle" w="med" len="med"/>
          </a:ln>
        </p:spPr>
        <p:txBody>
          <a:bodyPr/>
          <a:lstStyle/>
          <a:p>
            <a:endParaRPr lang="zh-CN" altLang="en-US"/>
          </a:p>
        </p:txBody>
      </p:sp>
      <p:sp>
        <p:nvSpPr>
          <p:cNvPr id="9279" name="Line 63"/>
          <p:cNvSpPr>
            <a:spLocks noChangeShapeType="1"/>
          </p:cNvSpPr>
          <p:nvPr/>
        </p:nvSpPr>
        <p:spPr bwMode="auto">
          <a:xfrm>
            <a:off x="4672013" y="5300663"/>
            <a:ext cx="766762" cy="1587"/>
          </a:xfrm>
          <a:prstGeom prst="line">
            <a:avLst/>
          </a:prstGeom>
          <a:noFill/>
          <a:ln w="28575">
            <a:solidFill>
              <a:srgbClr val="FF0000"/>
            </a:solidFill>
            <a:round/>
            <a:headEnd/>
            <a:tailEnd type="triangle" w="med" len="med"/>
          </a:ln>
        </p:spPr>
        <p:txBody>
          <a:bodyPr/>
          <a:lstStyle/>
          <a:p>
            <a:endParaRPr lang="zh-CN" altLang="en-US"/>
          </a:p>
        </p:txBody>
      </p:sp>
      <p:sp>
        <p:nvSpPr>
          <p:cNvPr id="9280" name="Text Box 64"/>
          <p:cNvSpPr txBox="1">
            <a:spLocks noChangeArrowheads="1"/>
          </p:cNvSpPr>
          <p:nvPr/>
        </p:nvSpPr>
        <p:spPr bwMode="auto">
          <a:xfrm>
            <a:off x="4743450" y="4891088"/>
            <a:ext cx="728663" cy="366712"/>
          </a:xfrm>
          <a:prstGeom prst="rect">
            <a:avLst/>
          </a:prstGeom>
          <a:noFill/>
          <a:ln w="9525">
            <a:noFill/>
            <a:miter lim="800000"/>
            <a:headEnd/>
            <a:tailEnd/>
          </a:ln>
        </p:spPr>
        <p:txBody>
          <a:bodyPr>
            <a:spAutoFit/>
          </a:bodyPr>
          <a:lstStyle/>
          <a:p>
            <a:r>
              <a:rPr lang="en-US" altLang="zh-CN" b="1">
                <a:solidFill>
                  <a:schemeClr val="accent2"/>
                </a:solidFill>
                <a:latin typeface="Times New Roman" pitchFamily="18" charset="0"/>
              </a:rPr>
              <a:t>(</a:t>
            </a:r>
            <a:r>
              <a:rPr lang="en-US" altLang="zh-CN" b="1" i="1">
                <a:solidFill>
                  <a:schemeClr val="accent2"/>
                </a:solidFill>
                <a:latin typeface="Times New Roman" pitchFamily="18" charset="0"/>
              </a:rPr>
              <a:t>x</a:t>
            </a:r>
            <a:r>
              <a:rPr lang="en-US" altLang="zh-CN" b="1">
                <a:solidFill>
                  <a:schemeClr val="accent2"/>
                </a:solidFill>
                <a:latin typeface="Times New Roman" pitchFamily="18" charset="0"/>
              </a:rPr>
              <a:t>, </a:t>
            </a:r>
            <a:r>
              <a:rPr lang="en-US" altLang="zh-CN" b="1" i="1">
                <a:solidFill>
                  <a:schemeClr val="accent2"/>
                </a:solidFill>
                <a:latin typeface="Times New Roman" pitchFamily="18" charset="0"/>
              </a:rPr>
              <a:t>y</a:t>
            </a:r>
            <a:r>
              <a:rPr lang="en-US" altLang="zh-CN" b="1">
                <a:solidFill>
                  <a:schemeClr val="accent2"/>
                </a:solidFill>
                <a:latin typeface="Times New Roman" pitchFamily="18" charset="0"/>
              </a:rPr>
              <a:t>)</a:t>
            </a:r>
          </a:p>
        </p:txBody>
      </p:sp>
      <p:sp>
        <p:nvSpPr>
          <p:cNvPr id="9281" name="Text Box 65"/>
          <p:cNvSpPr txBox="1">
            <a:spLocks noChangeArrowheads="1"/>
          </p:cNvSpPr>
          <p:nvPr/>
        </p:nvSpPr>
        <p:spPr bwMode="auto">
          <a:xfrm>
            <a:off x="4240213" y="5035550"/>
            <a:ext cx="450850"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O</a:t>
            </a:r>
            <a:r>
              <a:rPr lang="en-US" altLang="zh-CN" b="1">
                <a:solidFill>
                  <a:srgbClr val="FF0000"/>
                </a:solidFill>
                <a:latin typeface="Times New Roman" pitchFamily="18" charset="0"/>
              </a:rPr>
              <a:t>’</a:t>
            </a:r>
          </a:p>
        </p:txBody>
      </p:sp>
      <p:sp>
        <p:nvSpPr>
          <p:cNvPr id="9282" name="Text Box 66"/>
          <p:cNvSpPr txBox="1">
            <a:spLocks noChangeArrowheads="1"/>
          </p:cNvSpPr>
          <p:nvPr/>
        </p:nvSpPr>
        <p:spPr bwMode="auto">
          <a:xfrm>
            <a:off x="4672013" y="4530725"/>
            <a:ext cx="450850"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y</a:t>
            </a:r>
            <a:r>
              <a:rPr lang="en-US" altLang="zh-CN" b="1">
                <a:solidFill>
                  <a:srgbClr val="FF0000"/>
                </a:solidFill>
                <a:latin typeface="Times New Roman" pitchFamily="18" charset="0"/>
              </a:rPr>
              <a:t>’</a:t>
            </a:r>
          </a:p>
        </p:txBody>
      </p:sp>
      <p:sp>
        <p:nvSpPr>
          <p:cNvPr id="9283" name="Text Box 67"/>
          <p:cNvSpPr txBox="1">
            <a:spLocks noChangeArrowheads="1"/>
          </p:cNvSpPr>
          <p:nvPr/>
        </p:nvSpPr>
        <p:spPr bwMode="auto">
          <a:xfrm>
            <a:off x="5175250" y="5251450"/>
            <a:ext cx="450850"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x</a:t>
            </a:r>
            <a:r>
              <a:rPr lang="en-US" altLang="zh-CN" b="1">
                <a:solidFill>
                  <a:srgbClr val="FF0000"/>
                </a:solidFill>
                <a:latin typeface="Times New Roman" pitchFamily="18" charset="0"/>
              </a:rPr>
              <a:t>’</a:t>
            </a:r>
          </a:p>
        </p:txBody>
      </p:sp>
      <p:sp>
        <p:nvSpPr>
          <p:cNvPr id="9284" name="Line 68"/>
          <p:cNvSpPr>
            <a:spLocks noChangeShapeType="1"/>
          </p:cNvSpPr>
          <p:nvPr/>
        </p:nvSpPr>
        <p:spPr bwMode="auto">
          <a:xfrm rot="363184">
            <a:off x="4344988" y="4668838"/>
            <a:ext cx="687387" cy="1162050"/>
          </a:xfrm>
          <a:prstGeom prst="line">
            <a:avLst/>
          </a:prstGeom>
          <a:noFill/>
          <a:ln w="19050">
            <a:solidFill>
              <a:schemeClr val="accent2"/>
            </a:solidFill>
            <a:prstDash val="dash"/>
            <a:round/>
            <a:headEnd/>
            <a:tailEnd/>
          </a:ln>
        </p:spPr>
        <p:txBody>
          <a:bodyPr/>
          <a:lstStyle/>
          <a:p>
            <a:endParaRPr lang="zh-CN" altLang="en-US"/>
          </a:p>
        </p:txBody>
      </p:sp>
      <p:sp>
        <p:nvSpPr>
          <p:cNvPr id="9285" name="Text Box 69"/>
          <p:cNvSpPr txBox="1">
            <a:spLocks noChangeArrowheads="1"/>
          </p:cNvSpPr>
          <p:nvPr/>
        </p:nvSpPr>
        <p:spPr bwMode="auto">
          <a:xfrm>
            <a:off x="4311650" y="4524375"/>
            <a:ext cx="420688"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θ</a:t>
            </a:r>
          </a:p>
        </p:txBody>
      </p:sp>
      <p:sp>
        <p:nvSpPr>
          <p:cNvPr id="9286" name="Arc 70"/>
          <p:cNvSpPr>
            <a:spLocks/>
          </p:cNvSpPr>
          <p:nvPr/>
        </p:nvSpPr>
        <p:spPr bwMode="auto">
          <a:xfrm flipH="1">
            <a:off x="4591050" y="4891088"/>
            <a:ext cx="80963" cy="69850"/>
          </a:xfrm>
          <a:custGeom>
            <a:avLst/>
            <a:gdLst>
              <a:gd name="T0" fmla="*/ 0 w 19337"/>
              <a:gd name="T1" fmla="*/ 0 h 21600"/>
              <a:gd name="T2" fmla="*/ 2147483647 w 19337"/>
              <a:gd name="T3" fmla="*/ 1497477907 h 21600"/>
              <a:gd name="T4" fmla="*/ 0 w 19337"/>
              <a:gd name="T5" fmla="*/ 2147483647 h 21600"/>
              <a:gd name="T6" fmla="*/ 0 60000 65536"/>
              <a:gd name="T7" fmla="*/ 0 60000 65536"/>
              <a:gd name="T8" fmla="*/ 0 60000 65536"/>
              <a:gd name="T9" fmla="*/ 0 w 19337"/>
              <a:gd name="T10" fmla="*/ 0 h 21600"/>
              <a:gd name="T11" fmla="*/ 19337 w 19337"/>
              <a:gd name="T12" fmla="*/ 21600 h 21600"/>
            </a:gdLst>
            <a:ahLst/>
            <a:cxnLst>
              <a:cxn ang="T6">
                <a:pos x="T0" y="T1"/>
              </a:cxn>
              <a:cxn ang="T7">
                <a:pos x="T2" y="T3"/>
              </a:cxn>
              <a:cxn ang="T8">
                <a:pos x="T4" y="T5"/>
              </a:cxn>
            </a:cxnLst>
            <a:rect l="T9" t="T10" r="T11" b="T12"/>
            <a:pathLst>
              <a:path w="19337" h="21600" fill="none" extrusionOk="0">
                <a:moveTo>
                  <a:pt x="-1" y="0"/>
                </a:moveTo>
                <a:cubicBezTo>
                  <a:pt x="8195" y="0"/>
                  <a:pt x="15684" y="4637"/>
                  <a:pt x="19336" y="11974"/>
                </a:cubicBezTo>
              </a:path>
              <a:path w="19337" h="21600" stroke="0" extrusionOk="0">
                <a:moveTo>
                  <a:pt x="-1" y="0"/>
                </a:moveTo>
                <a:cubicBezTo>
                  <a:pt x="8195" y="0"/>
                  <a:pt x="15684" y="4637"/>
                  <a:pt x="19336" y="11974"/>
                </a:cubicBezTo>
                <a:lnTo>
                  <a:pt x="0" y="21600"/>
                </a:lnTo>
                <a:close/>
              </a:path>
            </a:pathLst>
          </a:custGeom>
          <a:noFill/>
          <a:ln w="9525">
            <a:solidFill>
              <a:srgbClr val="FF0000"/>
            </a:solidFill>
            <a:round/>
            <a:headEnd/>
            <a:tailEnd/>
          </a:ln>
        </p:spPr>
        <p:txBody>
          <a:bodyPr wrap="none" anchor="ctr"/>
          <a:lstStyle/>
          <a:p>
            <a:pPr algn="ctr"/>
            <a:endParaRPr lang="zh-CN" altLang="en-US"/>
          </a:p>
        </p:txBody>
      </p:sp>
      <p:sp>
        <p:nvSpPr>
          <p:cNvPr id="9287" name="Text Box 71"/>
          <p:cNvSpPr txBox="1">
            <a:spLocks noChangeArrowheads="1"/>
          </p:cNvSpPr>
          <p:nvPr/>
        </p:nvSpPr>
        <p:spPr bwMode="auto">
          <a:xfrm>
            <a:off x="6011863" y="4665663"/>
            <a:ext cx="2057400" cy="457200"/>
          </a:xfrm>
          <a:prstGeom prst="rect">
            <a:avLst/>
          </a:prstGeom>
          <a:noFill/>
          <a:ln w="9525">
            <a:noFill/>
            <a:miter lim="800000"/>
            <a:headEnd/>
            <a:tailEnd/>
          </a:ln>
        </p:spPr>
        <p:txBody>
          <a:bodyPr>
            <a:spAutoFit/>
          </a:bodyPr>
          <a:lstStyle/>
          <a:p>
            <a:r>
              <a:rPr lang="zh-CN" altLang="en-US" sz="2400" b="1">
                <a:latin typeface="楷体_GB2312" pitchFamily="49" charset="-122"/>
                <a:ea typeface="楷体_GB2312" pitchFamily="49" charset="-122"/>
              </a:rPr>
              <a:t>确定质心：</a:t>
            </a:r>
          </a:p>
        </p:txBody>
      </p:sp>
      <p:sp>
        <p:nvSpPr>
          <p:cNvPr id="9288" name="Text Box 72"/>
          <p:cNvSpPr txBox="1">
            <a:spLocks noChangeArrowheads="1"/>
          </p:cNvSpPr>
          <p:nvPr/>
        </p:nvSpPr>
        <p:spPr bwMode="auto">
          <a:xfrm>
            <a:off x="7626350" y="4662488"/>
            <a:ext cx="1182688" cy="457200"/>
          </a:xfrm>
          <a:prstGeom prst="rect">
            <a:avLst/>
          </a:prstGeom>
          <a:noFill/>
          <a:ln w="9525">
            <a:noFill/>
            <a:miter lim="800000"/>
            <a:headEnd/>
            <a:tailEnd/>
          </a:ln>
        </p:spPr>
        <p:txBody>
          <a:bodyPr>
            <a:spAutoFit/>
          </a:bodyPr>
          <a:lstStyle/>
          <a:p>
            <a:r>
              <a:rPr lang="en-US" altLang="zh-CN" sz="2400" b="1">
                <a:solidFill>
                  <a:schemeClr val="accent2"/>
                </a:solidFill>
                <a:latin typeface="Times New Roman" pitchFamily="18" charset="0"/>
              </a:rPr>
              <a:t>(</a:t>
            </a:r>
            <a:r>
              <a:rPr lang="en-US" altLang="zh-CN" sz="2400" b="1" i="1">
                <a:solidFill>
                  <a:schemeClr val="accent2"/>
                </a:solidFill>
                <a:latin typeface="Times New Roman" pitchFamily="18" charset="0"/>
              </a:rPr>
              <a:t>x</a:t>
            </a:r>
            <a:r>
              <a:rPr lang="en-US" altLang="zh-CN" sz="2400" b="1">
                <a:solidFill>
                  <a:schemeClr val="accent2"/>
                </a:solidFill>
                <a:latin typeface="Times New Roman" pitchFamily="18" charset="0"/>
              </a:rPr>
              <a:t>, </a:t>
            </a:r>
            <a:r>
              <a:rPr lang="en-US" altLang="zh-CN" sz="2400" b="1" i="1">
                <a:solidFill>
                  <a:schemeClr val="accent2"/>
                </a:solidFill>
                <a:latin typeface="Times New Roman" pitchFamily="18" charset="0"/>
              </a:rPr>
              <a:t>y</a:t>
            </a:r>
            <a:r>
              <a:rPr lang="en-US" altLang="zh-CN" sz="2400" b="1">
                <a:solidFill>
                  <a:schemeClr val="accent2"/>
                </a:solidFill>
                <a:latin typeface="Times New Roman" pitchFamily="18" charset="0"/>
              </a:rPr>
              <a:t>)</a:t>
            </a:r>
          </a:p>
        </p:txBody>
      </p:sp>
      <p:sp>
        <p:nvSpPr>
          <p:cNvPr id="9289" name="Text Box 73"/>
          <p:cNvSpPr txBox="1">
            <a:spLocks noChangeArrowheads="1"/>
          </p:cNvSpPr>
          <p:nvPr/>
        </p:nvSpPr>
        <p:spPr bwMode="auto">
          <a:xfrm>
            <a:off x="6053138" y="5222875"/>
            <a:ext cx="2057400" cy="457200"/>
          </a:xfrm>
          <a:prstGeom prst="rect">
            <a:avLst/>
          </a:prstGeom>
          <a:noFill/>
          <a:ln w="9525">
            <a:noFill/>
            <a:miter lim="800000"/>
            <a:headEnd/>
            <a:tailEnd/>
          </a:ln>
        </p:spPr>
        <p:txBody>
          <a:bodyPr>
            <a:spAutoFit/>
          </a:bodyPr>
          <a:lstStyle/>
          <a:p>
            <a:r>
              <a:rPr lang="zh-CN" altLang="en-US" sz="2400" b="1">
                <a:latin typeface="楷体_GB2312" pitchFamily="49" charset="-122"/>
                <a:ea typeface="楷体_GB2312" pitchFamily="49" charset="-122"/>
              </a:rPr>
              <a:t>确定方向：</a:t>
            </a:r>
          </a:p>
        </p:txBody>
      </p:sp>
      <p:sp>
        <p:nvSpPr>
          <p:cNvPr id="9290" name="Text Box 74"/>
          <p:cNvSpPr txBox="1">
            <a:spLocks noChangeArrowheads="1"/>
          </p:cNvSpPr>
          <p:nvPr/>
        </p:nvSpPr>
        <p:spPr bwMode="auto">
          <a:xfrm>
            <a:off x="7618413" y="5268913"/>
            <a:ext cx="1171575" cy="457200"/>
          </a:xfrm>
          <a:prstGeom prst="rect">
            <a:avLst/>
          </a:prstGeom>
          <a:noFill/>
          <a:ln w="9525">
            <a:noFill/>
            <a:miter lim="800000"/>
            <a:headEnd/>
            <a:tailEnd/>
          </a:ln>
        </p:spPr>
        <p:txBody>
          <a:bodyPr>
            <a:spAutoFit/>
          </a:bodyPr>
          <a:lstStyle/>
          <a:p>
            <a:r>
              <a:rPr lang="en-US" altLang="zh-CN" sz="2400" b="1" i="1">
                <a:solidFill>
                  <a:schemeClr val="accent2"/>
                </a:solidFill>
                <a:latin typeface="Times New Roman" pitchFamily="18" charset="0"/>
              </a:rPr>
              <a:t>θ</a:t>
            </a:r>
          </a:p>
        </p:txBody>
      </p:sp>
      <p:sp>
        <p:nvSpPr>
          <p:cNvPr id="9291" name="Text Box 75"/>
          <p:cNvSpPr txBox="1">
            <a:spLocks noChangeArrowheads="1"/>
          </p:cNvSpPr>
          <p:nvPr/>
        </p:nvSpPr>
        <p:spPr bwMode="auto">
          <a:xfrm>
            <a:off x="6143625" y="5805488"/>
            <a:ext cx="2732088"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自由度 </a:t>
            </a:r>
            <a:r>
              <a:rPr lang="en-US" altLang="zh-CN" sz="2400" b="1" i="1">
                <a:solidFill>
                  <a:srgbClr val="FF0000"/>
                </a:solidFill>
                <a:latin typeface="Times New Roman" pitchFamily="18" charset="0"/>
                <a:ea typeface="楷体_GB2312" pitchFamily="49" charset="-122"/>
              </a:rPr>
              <a:t>i </a:t>
            </a:r>
            <a:r>
              <a:rPr lang="en-US" altLang="zh-CN" sz="2400" b="1">
                <a:solidFill>
                  <a:srgbClr val="FF0000"/>
                </a:solidFill>
                <a:latin typeface="Times New Roman" pitchFamily="18" charset="0"/>
                <a:ea typeface="楷体_GB2312" pitchFamily="49" charset="-122"/>
              </a:rPr>
              <a:t>=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wipe(left)">
                                      <p:cBhvr>
                                        <p:cTn id="7" dur="2000"/>
                                        <p:tgtEl>
                                          <p:spTgt spid="92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57">
                                            <p:txEl>
                                              <p:pRg st="0" end="0"/>
                                            </p:txEl>
                                          </p:spTgt>
                                        </p:tgtEl>
                                        <p:attrNameLst>
                                          <p:attrName>style.visibility</p:attrName>
                                        </p:attrNameLst>
                                      </p:cBhvr>
                                      <p:to>
                                        <p:strVal val="visible"/>
                                      </p:to>
                                    </p:set>
                                    <p:animEffect transition="in" filter="wipe(left)">
                                      <p:cBhvr>
                                        <p:cTn id="12" dur="500"/>
                                        <p:tgtEl>
                                          <p:spTgt spid="925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56"/>
                                        </p:tgtEl>
                                        <p:attrNameLst>
                                          <p:attrName>style.visibility</p:attrName>
                                        </p:attrNameLst>
                                      </p:cBhvr>
                                      <p:to>
                                        <p:strVal val="visible"/>
                                      </p:to>
                                    </p:set>
                                    <p:animEffect transition="in" filter="wipe(left)">
                                      <p:cBhvr>
                                        <p:cTn id="17" dur="500"/>
                                        <p:tgtEl>
                                          <p:spTgt spid="92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59"/>
                                        </p:tgtEl>
                                        <p:attrNameLst>
                                          <p:attrName>style.visibility</p:attrName>
                                        </p:attrNameLst>
                                      </p:cBhvr>
                                      <p:to>
                                        <p:strVal val="visible"/>
                                      </p:to>
                                    </p:set>
                                    <p:animEffect transition="in" filter="wipe(left)">
                                      <p:cBhvr>
                                        <p:cTn id="22" dur="500"/>
                                        <p:tgtEl>
                                          <p:spTgt spid="92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60"/>
                                        </p:tgtEl>
                                        <p:attrNameLst>
                                          <p:attrName>style.visibility</p:attrName>
                                        </p:attrNameLst>
                                      </p:cBhvr>
                                      <p:to>
                                        <p:strVal val="visible"/>
                                      </p:to>
                                    </p:set>
                                    <p:animEffect transition="in" filter="wipe(left)">
                                      <p:cBhvr>
                                        <p:cTn id="27" dur="500"/>
                                        <p:tgtEl>
                                          <p:spTgt spid="92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61"/>
                                        </p:tgtEl>
                                        <p:attrNameLst>
                                          <p:attrName>style.visibility</p:attrName>
                                        </p:attrNameLst>
                                      </p:cBhvr>
                                      <p:to>
                                        <p:strVal val="visible"/>
                                      </p:to>
                                    </p:set>
                                    <p:animEffect transition="in" filter="wipe(left)">
                                      <p:cBhvr>
                                        <p:cTn id="32" dur="500"/>
                                        <p:tgtEl>
                                          <p:spTgt spid="92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262"/>
                                        </p:tgtEl>
                                        <p:attrNameLst>
                                          <p:attrName>style.visibility</p:attrName>
                                        </p:attrNameLst>
                                      </p:cBhvr>
                                      <p:to>
                                        <p:strVal val="visible"/>
                                      </p:to>
                                    </p:set>
                                    <p:animEffect transition="in" filter="wipe(left)">
                                      <p:cBhvr>
                                        <p:cTn id="37" dur="500"/>
                                        <p:tgtEl>
                                          <p:spTgt spid="92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263"/>
                                        </p:tgtEl>
                                        <p:attrNameLst>
                                          <p:attrName>style.visibility</p:attrName>
                                        </p:attrNameLst>
                                      </p:cBhvr>
                                      <p:to>
                                        <p:strVal val="visible"/>
                                      </p:to>
                                    </p:set>
                                    <p:animEffect transition="in" filter="wipe(left)">
                                      <p:cBhvr>
                                        <p:cTn id="42" dur="500"/>
                                        <p:tgtEl>
                                          <p:spTgt spid="926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64"/>
                                        </p:tgtEl>
                                        <p:attrNameLst>
                                          <p:attrName>style.visibility</p:attrName>
                                        </p:attrNameLst>
                                      </p:cBhvr>
                                      <p:to>
                                        <p:strVal val="visible"/>
                                      </p:to>
                                    </p:set>
                                    <p:animEffect transition="in" filter="wipe(left)">
                                      <p:cBhvr>
                                        <p:cTn id="47" dur="500"/>
                                        <p:tgtEl>
                                          <p:spTgt spid="9264"/>
                                        </p:tgtEl>
                                      </p:cBhvr>
                                    </p:animEffect>
                                  </p:child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9265"/>
                                        </p:tgtEl>
                                        <p:attrNameLst>
                                          <p:attrName>style.visibility</p:attrName>
                                        </p:attrNameLst>
                                      </p:cBhvr>
                                      <p:to>
                                        <p:strVal val="visible"/>
                                      </p:to>
                                    </p:set>
                                    <p:animEffect transition="in" filter="box(out)">
                                      <p:cBhvr>
                                        <p:cTn id="51" dur="500"/>
                                        <p:tgtEl>
                                          <p:spTgt spid="9265"/>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9266"/>
                                        </p:tgtEl>
                                        <p:attrNameLst>
                                          <p:attrName>style.visibility</p:attrName>
                                        </p:attrNameLst>
                                      </p:cBhvr>
                                      <p:to>
                                        <p:strVal val="visible"/>
                                      </p:to>
                                    </p:set>
                                    <p:animEffect transition="in" filter="wipe(left)">
                                      <p:cBhvr>
                                        <p:cTn id="55" dur="500"/>
                                        <p:tgtEl>
                                          <p:spTgt spid="9266"/>
                                        </p:tgtEl>
                                      </p:cBhvr>
                                    </p:animEffect>
                                  </p:childTnLst>
                                </p:cTn>
                              </p:par>
                            </p:childTnLst>
                          </p:cTn>
                        </p:par>
                        <p:par>
                          <p:cTn id="56" fill="hold">
                            <p:stCondLst>
                              <p:cond delay="1500"/>
                            </p:stCondLst>
                            <p:childTnLst>
                              <p:par>
                                <p:cTn id="57" presetID="4" presetClass="entr" presetSubtype="32" fill="hold" grpId="0" nodeType="afterEffect">
                                  <p:stCondLst>
                                    <p:cond delay="0"/>
                                  </p:stCondLst>
                                  <p:childTnLst>
                                    <p:set>
                                      <p:cBhvr>
                                        <p:cTn id="58" dur="1" fill="hold">
                                          <p:stCondLst>
                                            <p:cond delay="0"/>
                                          </p:stCondLst>
                                        </p:cTn>
                                        <p:tgtEl>
                                          <p:spTgt spid="9267"/>
                                        </p:tgtEl>
                                        <p:attrNameLst>
                                          <p:attrName>style.visibility</p:attrName>
                                        </p:attrNameLst>
                                      </p:cBhvr>
                                      <p:to>
                                        <p:strVal val="visible"/>
                                      </p:to>
                                    </p:set>
                                    <p:animEffect transition="in" filter="box(out)">
                                      <p:cBhvr>
                                        <p:cTn id="59" dur="500"/>
                                        <p:tgtEl>
                                          <p:spTgt spid="9267"/>
                                        </p:tgtEl>
                                      </p:cBhvr>
                                    </p:animEffect>
                                  </p:childTnLst>
                                </p:cTn>
                              </p:par>
                            </p:childTnLst>
                          </p:cTn>
                        </p:par>
                        <p:par>
                          <p:cTn id="60" fill="hold">
                            <p:stCondLst>
                              <p:cond delay="2000"/>
                            </p:stCondLst>
                            <p:childTnLst>
                              <p:par>
                                <p:cTn id="61" presetID="22" presetClass="entr" presetSubtype="8" fill="hold" grpId="0" nodeType="afterEffect">
                                  <p:stCondLst>
                                    <p:cond delay="0"/>
                                  </p:stCondLst>
                                  <p:childTnLst>
                                    <p:set>
                                      <p:cBhvr>
                                        <p:cTn id="62" dur="1" fill="hold">
                                          <p:stCondLst>
                                            <p:cond delay="0"/>
                                          </p:stCondLst>
                                        </p:cTn>
                                        <p:tgtEl>
                                          <p:spTgt spid="9274"/>
                                        </p:tgtEl>
                                        <p:attrNameLst>
                                          <p:attrName>style.visibility</p:attrName>
                                        </p:attrNameLst>
                                      </p:cBhvr>
                                      <p:to>
                                        <p:strVal val="visible"/>
                                      </p:to>
                                    </p:set>
                                    <p:animEffect transition="in" filter="wipe(left)">
                                      <p:cBhvr>
                                        <p:cTn id="63" dur="500"/>
                                        <p:tgtEl>
                                          <p:spTgt spid="9274"/>
                                        </p:tgtEl>
                                      </p:cBhvr>
                                    </p:animEffect>
                                  </p:childTnLst>
                                </p:cTn>
                              </p:par>
                            </p:childTnLst>
                          </p:cTn>
                        </p:par>
                        <p:par>
                          <p:cTn id="64" fill="hold">
                            <p:stCondLst>
                              <p:cond delay="2500"/>
                            </p:stCondLst>
                            <p:childTnLst>
                              <p:par>
                                <p:cTn id="65" presetID="22" presetClass="entr" presetSubtype="4" fill="hold" grpId="0" nodeType="afterEffect">
                                  <p:stCondLst>
                                    <p:cond delay="0"/>
                                  </p:stCondLst>
                                  <p:childTnLst>
                                    <p:set>
                                      <p:cBhvr>
                                        <p:cTn id="66" dur="1" fill="hold">
                                          <p:stCondLst>
                                            <p:cond delay="0"/>
                                          </p:stCondLst>
                                        </p:cTn>
                                        <p:tgtEl>
                                          <p:spTgt spid="9275"/>
                                        </p:tgtEl>
                                        <p:attrNameLst>
                                          <p:attrName>style.visibility</p:attrName>
                                        </p:attrNameLst>
                                      </p:cBhvr>
                                      <p:to>
                                        <p:strVal val="visible"/>
                                      </p:to>
                                    </p:set>
                                    <p:animEffect transition="in" filter="wipe(down)">
                                      <p:cBhvr>
                                        <p:cTn id="67" dur="500"/>
                                        <p:tgtEl>
                                          <p:spTgt spid="9275"/>
                                        </p:tgtEl>
                                      </p:cBhvr>
                                    </p:animEffect>
                                  </p:childTnLst>
                                </p:cTn>
                              </p:par>
                            </p:childTnLst>
                          </p:cTn>
                        </p:par>
                        <p:par>
                          <p:cTn id="68" fill="hold">
                            <p:stCondLst>
                              <p:cond delay="3000"/>
                            </p:stCondLst>
                            <p:childTnLst>
                              <p:par>
                                <p:cTn id="69" presetID="32" presetClass="emph" presetSubtype="0" fill="hold" grpId="1" nodeType="afterEffect">
                                  <p:stCondLst>
                                    <p:cond delay="0"/>
                                  </p:stCondLst>
                                  <p:childTnLst>
                                    <p:animClr clrSpc="rgb" dir="cw">
                                      <p:cBhvr override="childStyle">
                                        <p:cTn id="70" dur="100" fill="hold"/>
                                        <p:tgtEl>
                                          <p:spTgt spid="9275"/>
                                        </p:tgtEl>
                                        <p:attrNameLst>
                                          <p:attrName>style.color</p:attrName>
                                        </p:attrNameLst>
                                      </p:cBhvr>
                                      <p:to>
                                        <a:srgbClr val="FF9933"/>
                                      </p:to>
                                    </p:animClr>
                                    <p:animClr clrSpc="rgb" dir="cw">
                                      <p:cBhvr>
                                        <p:cTn id="71" dur="100" fill="hold"/>
                                        <p:tgtEl>
                                          <p:spTgt spid="9275"/>
                                        </p:tgtEl>
                                        <p:attrNameLst>
                                          <p:attrName>fillcolor</p:attrName>
                                        </p:attrNameLst>
                                      </p:cBhvr>
                                      <p:to>
                                        <a:srgbClr val="FF9933"/>
                                      </p:to>
                                    </p:animClr>
                                    <p:set>
                                      <p:cBhvr>
                                        <p:cTn id="72" dur="100" fill="hold"/>
                                        <p:tgtEl>
                                          <p:spTgt spid="9275"/>
                                        </p:tgtEl>
                                        <p:attrNameLst>
                                          <p:attrName>fill.type</p:attrName>
                                        </p:attrNameLst>
                                      </p:cBhvr>
                                      <p:to>
                                        <p:strVal val="solid"/>
                                      </p:to>
                                    </p:set>
                                    <p:set>
                                      <p:cBhvr>
                                        <p:cTn id="73" dur="100" fill="hold"/>
                                        <p:tgtEl>
                                          <p:spTgt spid="9275"/>
                                        </p:tgtEl>
                                        <p:attrNameLst>
                                          <p:attrName>fill.on</p:attrName>
                                        </p:attrNameLst>
                                      </p:cBhvr>
                                      <p:to>
                                        <p:strVal val="true"/>
                                      </p:to>
                                    </p:set>
                                    <p:animRot by="120000">
                                      <p:cBhvr>
                                        <p:cTn id="74" dur="100" fill="hold">
                                          <p:stCondLst>
                                            <p:cond delay="0"/>
                                          </p:stCondLst>
                                        </p:cTn>
                                        <p:tgtEl>
                                          <p:spTgt spid="9275"/>
                                        </p:tgtEl>
                                        <p:attrNameLst>
                                          <p:attrName>r</p:attrName>
                                        </p:attrNameLst>
                                      </p:cBhvr>
                                    </p:animRot>
                                    <p:animRot by="-240000">
                                      <p:cBhvr>
                                        <p:cTn id="75" dur="200" fill="hold">
                                          <p:stCondLst>
                                            <p:cond delay="200"/>
                                          </p:stCondLst>
                                        </p:cTn>
                                        <p:tgtEl>
                                          <p:spTgt spid="9275"/>
                                        </p:tgtEl>
                                        <p:attrNameLst>
                                          <p:attrName>r</p:attrName>
                                        </p:attrNameLst>
                                      </p:cBhvr>
                                    </p:animRot>
                                    <p:animRot by="240000">
                                      <p:cBhvr>
                                        <p:cTn id="76" dur="200" fill="hold">
                                          <p:stCondLst>
                                            <p:cond delay="400"/>
                                          </p:stCondLst>
                                        </p:cTn>
                                        <p:tgtEl>
                                          <p:spTgt spid="9275"/>
                                        </p:tgtEl>
                                        <p:attrNameLst>
                                          <p:attrName>r</p:attrName>
                                        </p:attrNameLst>
                                      </p:cBhvr>
                                    </p:animRot>
                                    <p:animRot by="-240000">
                                      <p:cBhvr>
                                        <p:cTn id="77" dur="200" fill="hold">
                                          <p:stCondLst>
                                            <p:cond delay="600"/>
                                          </p:stCondLst>
                                        </p:cTn>
                                        <p:tgtEl>
                                          <p:spTgt spid="9275"/>
                                        </p:tgtEl>
                                        <p:attrNameLst>
                                          <p:attrName>r</p:attrName>
                                        </p:attrNameLst>
                                      </p:cBhvr>
                                    </p:animRot>
                                    <p:animRot by="120000">
                                      <p:cBhvr>
                                        <p:cTn id="78" dur="200" fill="hold">
                                          <p:stCondLst>
                                            <p:cond delay="800"/>
                                          </p:stCondLst>
                                        </p:cTn>
                                        <p:tgtEl>
                                          <p:spTgt spid="9275"/>
                                        </p:tgtEl>
                                        <p:attrNameLst>
                                          <p:attrName>r</p:attrName>
                                        </p:attrNameLst>
                                      </p:cBhvr>
                                    </p:animRot>
                                  </p:childTnLst>
                                </p:cTn>
                              </p:par>
                            </p:childTnLst>
                          </p:cTn>
                        </p:par>
                      </p:childTnLst>
                    </p:cTn>
                  </p:par>
                  <p:par>
                    <p:cTn id="79" fill="hold">
                      <p:stCondLst>
                        <p:cond delay="indefinite"/>
                      </p:stCondLst>
                      <p:childTnLst>
                        <p:par>
                          <p:cTn id="80" fill="hold">
                            <p:stCondLst>
                              <p:cond delay="0"/>
                            </p:stCondLst>
                            <p:childTnLst>
                              <p:par>
                                <p:cTn id="81" presetID="4" presetClass="entr" presetSubtype="32"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box(out)">
                                      <p:cBhvr>
                                        <p:cTn id="83" dur="500"/>
                                        <p:tgtEl>
                                          <p:spTgt spid="2"/>
                                        </p:tgtEl>
                                      </p:cBhvr>
                                    </p:animEffect>
                                  </p:childTnLst>
                                </p:cTn>
                              </p:par>
                            </p:childTnLst>
                          </p:cTn>
                        </p:par>
                        <p:par>
                          <p:cTn id="84" fill="hold">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9277"/>
                                        </p:tgtEl>
                                        <p:attrNameLst>
                                          <p:attrName>style.visibility</p:attrName>
                                        </p:attrNameLst>
                                      </p:cBhvr>
                                      <p:to>
                                        <p:strVal val="visible"/>
                                      </p:to>
                                    </p:set>
                                    <p:animEffect transition="in" filter="wipe(up)">
                                      <p:cBhvr>
                                        <p:cTn id="87" dur="500"/>
                                        <p:tgtEl>
                                          <p:spTgt spid="927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9276"/>
                                        </p:tgtEl>
                                        <p:attrNameLst>
                                          <p:attrName>style.visibility</p:attrName>
                                        </p:attrNameLst>
                                      </p:cBhvr>
                                      <p:to>
                                        <p:strVal val="visible"/>
                                      </p:to>
                                    </p:set>
                                    <p:animEffect transition="in" filter="wipe(left)">
                                      <p:cBhvr>
                                        <p:cTn id="92" dur="500"/>
                                        <p:tgtEl>
                                          <p:spTgt spid="9276"/>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9280"/>
                                        </p:tgtEl>
                                        <p:attrNameLst>
                                          <p:attrName>style.visibility</p:attrName>
                                        </p:attrNameLst>
                                      </p:cBhvr>
                                      <p:to>
                                        <p:strVal val="visible"/>
                                      </p:to>
                                    </p:set>
                                    <p:animEffect transition="in" filter="wipe(left)">
                                      <p:cBhvr>
                                        <p:cTn id="96" dur="500"/>
                                        <p:tgtEl>
                                          <p:spTgt spid="928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9287"/>
                                        </p:tgtEl>
                                        <p:attrNameLst>
                                          <p:attrName>style.visibility</p:attrName>
                                        </p:attrNameLst>
                                      </p:cBhvr>
                                      <p:to>
                                        <p:strVal val="visible"/>
                                      </p:to>
                                    </p:set>
                                    <p:animEffect transition="in" filter="wipe(left)">
                                      <p:cBhvr>
                                        <p:cTn id="101" dur="500"/>
                                        <p:tgtEl>
                                          <p:spTgt spid="928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9288"/>
                                        </p:tgtEl>
                                        <p:attrNameLst>
                                          <p:attrName>style.visibility</p:attrName>
                                        </p:attrNameLst>
                                      </p:cBhvr>
                                      <p:to>
                                        <p:strVal val="visible"/>
                                      </p:to>
                                    </p:set>
                                    <p:animEffect transition="in" filter="wipe(left)">
                                      <p:cBhvr>
                                        <p:cTn id="106" dur="500"/>
                                        <p:tgtEl>
                                          <p:spTgt spid="928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9278"/>
                                        </p:tgtEl>
                                        <p:attrNameLst>
                                          <p:attrName>style.visibility</p:attrName>
                                        </p:attrNameLst>
                                      </p:cBhvr>
                                      <p:to>
                                        <p:strVal val="visible"/>
                                      </p:to>
                                    </p:set>
                                    <p:animEffect transition="in" filter="wipe(down)">
                                      <p:cBhvr>
                                        <p:cTn id="111" dur="500"/>
                                        <p:tgtEl>
                                          <p:spTgt spid="9278"/>
                                        </p:tgtEl>
                                      </p:cBhvr>
                                    </p:animEffect>
                                  </p:childTnLst>
                                </p:cTn>
                              </p:par>
                              <p:par>
                                <p:cTn id="112" presetID="22" presetClass="entr" presetSubtype="8" fill="hold" grpId="0" nodeType="withEffect">
                                  <p:stCondLst>
                                    <p:cond delay="0"/>
                                  </p:stCondLst>
                                  <p:childTnLst>
                                    <p:set>
                                      <p:cBhvr>
                                        <p:cTn id="113" dur="1" fill="hold">
                                          <p:stCondLst>
                                            <p:cond delay="0"/>
                                          </p:stCondLst>
                                        </p:cTn>
                                        <p:tgtEl>
                                          <p:spTgt spid="9279"/>
                                        </p:tgtEl>
                                        <p:attrNameLst>
                                          <p:attrName>style.visibility</p:attrName>
                                        </p:attrNameLst>
                                      </p:cBhvr>
                                      <p:to>
                                        <p:strVal val="visible"/>
                                      </p:to>
                                    </p:set>
                                    <p:animEffect transition="in" filter="wipe(left)">
                                      <p:cBhvr>
                                        <p:cTn id="114" dur="500"/>
                                        <p:tgtEl>
                                          <p:spTgt spid="9279"/>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9283"/>
                                        </p:tgtEl>
                                        <p:attrNameLst>
                                          <p:attrName>style.visibility</p:attrName>
                                        </p:attrNameLst>
                                      </p:cBhvr>
                                      <p:to>
                                        <p:strVal val="visible"/>
                                      </p:to>
                                    </p:set>
                                    <p:animEffect transition="in" filter="wipe(up)">
                                      <p:cBhvr>
                                        <p:cTn id="117" dur="500"/>
                                        <p:tgtEl>
                                          <p:spTgt spid="9283"/>
                                        </p:tgtEl>
                                      </p:cBhvr>
                                    </p:animEffect>
                                  </p:childTnLst>
                                </p:cTn>
                              </p:par>
                              <p:par>
                                <p:cTn id="118" presetID="22" presetClass="entr" presetSubtype="1" fill="hold" grpId="0" nodeType="withEffect">
                                  <p:stCondLst>
                                    <p:cond delay="0"/>
                                  </p:stCondLst>
                                  <p:childTnLst>
                                    <p:set>
                                      <p:cBhvr>
                                        <p:cTn id="119" dur="1" fill="hold">
                                          <p:stCondLst>
                                            <p:cond delay="0"/>
                                          </p:stCondLst>
                                        </p:cTn>
                                        <p:tgtEl>
                                          <p:spTgt spid="9282"/>
                                        </p:tgtEl>
                                        <p:attrNameLst>
                                          <p:attrName>style.visibility</p:attrName>
                                        </p:attrNameLst>
                                      </p:cBhvr>
                                      <p:to>
                                        <p:strVal val="visible"/>
                                      </p:to>
                                    </p:set>
                                    <p:animEffect transition="in" filter="wipe(up)">
                                      <p:cBhvr>
                                        <p:cTn id="120" dur="500"/>
                                        <p:tgtEl>
                                          <p:spTgt spid="9282"/>
                                        </p:tgtEl>
                                      </p:cBhvr>
                                    </p:animEffect>
                                  </p:childTnLst>
                                </p:cTn>
                              </p:par>
                              <p:par>
                                <p:cTn id="121" presetID="22" presetClass="entr" presetSubtype="1" fill="hold" grpId="0" nodeType="withEffect">
                                  <p:stCondLst>
                                    <p:cond delay="0"/>
                                  </p:stCondLst>
                                  <p:childTnLst>
                                    <p:set>
                                      <p:cBhvr>
                                        <p:cTn id="122" dur="1" fill="hold">
                                          <p:stCondLst>
                                            <p:cond delay="0"/>
                                          </p:stCondLst>
                                        </p:cTn>
                                        <p:tgtEl>
                                          <p:spTgt spid="9281"/>
                                        </p:tgtEl>
                                        <p:attrNameLst>
                                          <p:attrName>style.visibility</p:attrName>
                                        </p:attrNameLst>
                                      </p:cBhvr>
                                      <p:to>
                                        <p:strVal val="visible"/>
                                      </p:to>
                                    </p:set>
                                    <p:animEffect transition="in" filter="wipe(up)">
                                      <p:cBhvr>
                                        <p:cTn id="123" dur="500"/>
                                        <p:tgtEl>
                                          <p:spTgt spid="9281"/>
                                        </p:tgtEl>
                                      </p:cBhvr>
                                    </p:animEffect>
                                  </p:childTnLst>
                                </p:cTn>
                              </p:par>
                            </p:childTnLst>
                          </p:cTn>
                        </p:par>
                        <p:par>
                          <p:cTn id="124" fill="hold">
                            <p:stCondLst>
                              <p:cond delay="500"/>
                            </p:stCondLst>
                            <p:childTnLst>
                              <p:par>
                                <p:cTn id="125" presetID="22" presetClass="entr" presetSubtype="8" fill="hold" grpId="0" nodeType="afterEffect">
                                  <p:stCondLst>
                                    <p:cond delay="0"/>
                                  </p:stCondLst>
                                  <p:childTnLst>
                                    <p:set>
                                      <p:cBhvr>
                                        <p:cTn id="126" dur="1" fill="hold">
                                          <p:stCondLst>
                                            <p:cond delay="0"/>
                                          </p:stCondLst>
                                        </p:cTn>
                                        <p:tgtEl>
                                          <p:spTgt spid="9284"/>
                                        </p:tgtEl>
                                        <p:attrNameLst>
                                          <p:attrName>style.visibility</p:attrName>
                                        </p:attrNameLst>
                                      </p:cBhvr>
                                      <p:to>
                                        <p:strVal val="visible"/>
                                      </p:to>
                                    </p:set>
                                    <p:animEffect transition="in" filter="wipe(left)">
                                      <p:cBhvr>
                                        <p:cTn id="127" dur="500"/>
                                        <p:tgtEl>
                                          <p:spTgt spid="928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9286"/>
                                        </p:tgtEl>
                                        <p:attrNameLst>
                                          <p:attrName>style.visibility</p:attrName>
                                        </p:attrNameLst>
                                      </p:cBhvr>
                                      <p:to>
                                        <p:strVal val="visible"/>
                                      </p:to>
                                    </p:set>
                                    <p:animEffect transition="in" filter="wipe(left)">
                                      <p:cBhvr>
                                        <p:cTn id="132" dur="500"/>
                                        <p:tgtEl>
                                          <p:spTgt spid="9286"/>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9285"/>
                                        </p:tgtEl>
                                        <p:attrNameLst>
                                          <p:attrName>style.visibility</p:attrName>
                                        </p:attrNameLst>
                                      </p:cBhvr>
                                      <p:to>
                                        <p:strVal val="visible"/>
                                      </p:to>
                                    </p:set>
                                    <p:animEffect transition="in" filter="wipe(left)">
                                      <p:cBhvr>
                                        <p:cTn id="135" dur="500"/>
                                        <p:tgtEl>
                                          <p:spTgt spid="928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9289"/>
                                        </p:tgtEl>
                                        <p:attrNameLst>
                                          <p:attrName>style.visibility</p:attrName>
                                        </p:attrNameLst>
                                      </p:cBhvr>
                                      <p:to>
                                        <p:strVal val="visible"/>
                                      </p:to>
                                    </p:set>
                                    <p:animEffect transition="in" filter="wipe(left)">
                                      <p:cBhvr>
                                        <p:cTn id="140" dur="500"/>
                                        <p:tgtEl>
                                          <p:spTgt spid="9289"/>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9290"/>
                                        </p:tgtEl>
                                        <p:attrNameLst>
                                          <p:attrName>style.visibility</p:attrName>
                                        </p:attrNameLst>
                                      </p:cBhvr>
                                      <p:to>
                                        <p:strVal val="visible"/>
                                      </p:to>
                                    </p:set>
                                    <p:animEffect transition="in" filter="wipe(left)">
                                      <p:cBhvr>
                                        <p:cTn id="145" dur="500"/>
                                        <p:tgtEl>
                                          <p:spTgt spid="9290"/>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9291"/>
                                        </p:tgtEl>
                                        <p:attrNameLst>
                                          <p:attrName>style.visibility</p:attrName>
                                        </p:attrNameLst>
                                      </p:cBhvr>
                                      <p:to>
                                        <p:strVal val="visible"/>
                                      </p:to>
                                    </p:set>
                                    <p:animEffect transition="in" filter="wipe(left)">
                                      <p:cBhvr>
                                        <p:cTn id="150" dur="500"/>
                                        <p:tgtEl>
                                          <p:spTgt spid="9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utoUpdateAnimBg="0"/>
      <p:bldP spid="9256" grpId="0" autoUpdateAnimBg="0"/>
      <p:bldP spid="9259" grpId="0"/>
      <p:bldP spid="9260" grpId="0" autoUpdateAnimBg="0"/>
      <p:bldP spid="9261" grpId="0"/>
      <p:bldP spid="9262" grpId="0"/>
      <p:bldP spid="9263" grpId="0" autoUpdateAnimBg="0"/>
      <p:bldP spid="9264" grpId="0"/>
      <p:bldP spid="9266" grpId="0" animBg="1"/>
      <p:bldP spid="9267" grpId="0" animBg="1"/>
      <p:bldP spid="9274" grpId="0"/>
      <p:bldP spid="9275" grpId="0" animBg="1"/>
      <p:bldP spid="9275" grpId="1" animBg="1"/>
      <p:bldP spid="9276" grpId="0" animBg="1"/>
      <p:bldP spid="9277" grpId="0" animBg="1"/>
      <p:bldP spid="9278" grpId="0" animBg="1"/>
      <p:bldP spid="9279" grpId="0" animBg="1"/>
      <p:bldP spid="9280" grpId="0"/>
      <p:bldP spid="9281" grpId="0"/>
      <p:bldP spid="9282" grpId="0"/>
      <p:bldP spid="9283" grpId="0"/>
      <p:bldP spid="9284" grpId="0" animBg="1"/>
      <p:bldP spid="9285" grpId="0"/>
      <p:bldP spid="9286" grpId="0" animBg="1"/>
      <p:bldP spid="9287" grpId="0"/>
      <p:bldP spid="9288" grpId="0"/>
      <p:bldP spid="9289" grpId="0"/>
      <p:bldP spid="9290" grpId="0"/>
      <p:bldP spid="929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plane"/>
          <p:cNvPicPr>
            <a:picLocks noChangeAspect="1" noChangeArrowheads="1"/>
          </p:cNvPicPr>
          <p:nvPr/>
        </p:nvPicPr>
        <p:blipFill>
          <a:blip r:embed="rId4"/>
          <a:srcRect/>
          <a:stretch>
            <a:fillRect/>
          </a:stretch>
        </p:blipFill>
        <p:spPr bwMode="auto">
          <a:xfrm>
            <a:off x="6084888" y="4379913"/>
            <a:ext cx="1308100" cy="1103312"/>
          </a:xfrm>
          <a:prstGeom prst="rect">
            <a:avLst/>
          </a:prstGeom>
          <a:noFill/>
          <a:ln w="9525">
            <a:noFill/>
            <a:miter lim="800000"/>
            <a:headEnd/>
            <a:tailEnd/>
          </a:ln>
        </p:spPr>
      </p:pic>
      <p:sp>
        <p:nvSpPr>
          <p:cNvPr id="52227" name="Line 3"/>
          <p:cNvSpPr>
            <a:spLocks noChangeShapeType="1"/>
          </p:cNvSpPr>
          <p:nvPr/>
        </p:nvSpPr>
        <p:spPr bwMode="auto">
          <a:xfrm rot="4134843">
            <a:off x="6500812" y="3694113"/>
            <a:ext cx="879475" cy="2108200"/>
          </a:xfrm>
          <a:prstGeom prst="line">
            <a:avLst/>
          </a:prstGeom>
          <a:noFill/>
          <a:ln w="28575">
            <a:solidFill>
              <a:schemeClr val="accent2"/>
            </a:solidFill>
            <a:prstDash val="dash"/>
            <a:round/>
            <a:headEnd/>
            <a:tailEnd/>
          </a:ln>
        </p:spPr>
        <p:txBody>
          <a:bodyPr/>
          <a:lstStyle/>
          <a:p>
            <a:endParaRPr lang="zh-CN" altLang="en-US"/>
          </a:p>
        </p:txBody>
      </p:sp>
      <p:grpSp>
        <p:nvGrpSpPr>
          <p:cNvPr id="2" name="Group 4"/>
          <p:cNvGrpSpPr>
            <a:grpSpLocks/>
          </p:cNvGrpSpPr>
          <p:nvPr/>
        </p:nvGrpSpPr>
        <p:grpSpPr bwMode="auto">
          <a:xfrm>
            <a:off x="5018088" y="3594100"/>
            <a:ext cx="3692525" cy="3049588"/>
            <a:chOff x="3161" y="2209"/>
            <a:chExt cx="2326" cy="1921"/>
          </a:xfrm>
        </p:grpSpPr>
        <p:sp>
          <p:nvSpPr>
            <p:cNvPr id="26699" name="Line 5"/>
            <p:cNvSpPr>
              <a:spLocks noChangeShapeType="1"/>
            </p:cNvSpPr>
            <p:nvPr/>
          </p:nvSpPr>
          <p:spPr bwMode="auto">
            <a:xfrm flipV="1">
              <a:off x="3687" y="2481"/>
              <a:ext cx="0" cy="1044"/>
            </a:xfrm>
            <a:prstGeom prst="line">
              <a:avLst/>
            </a:prstGeom>
            <a:noFill/>
            <a:ln w="28575">
              <a:solidFill>
                <a:schemeClr val="tx1"/>
              </a:solidFill>
              <a:round/>
              <a:headEnd/>
              <a:tailEnd type="triangle" w="med" len="med"/>
            </a:ln>
          </p:spPr>
          <p:txBody>
            <a:bodyPr/>
            <a:lstStyle/>
            <a:p>
              <a:endParaRPr lang="zh-CN" altLang="en-US"/>
            </a:p>
          </p:txBody>
        </p:sp>
        <p:sp>
          <p:nvSpPr>
            <p:cNvPr id="26700" name="Line 6"/>
            <p:cNvSpPr>
              <a:spLocks noChangeShapeType="1"/>
            </p:cNvSpPr>
            <p:nvPr/>
          </p:nvSpPr>
          <p:spPr bwMode="auto">
            <a:xfrm>
              <a:off x="3687" y="3525"/>
              <a:ext cx="1437" cy="0"/>
            </a:xfrm>
            <a:prstGeom prst="line">
              <a:avLst/>
            </a:prstGeom>
            <a:noFill/>
            <a:ln w="28575">
              <a:solidFill>
                <a:schemeClr val="tx1"/>
              </a:solidFill>
              <a:round/>
              <a:headEnd/>
              <a:tailEnd type="triangle" w="med" len="med"/>
            </a:ln>
          </p:spPr>
          <p:txBody>
            <a:bodyPr/>
            <a:lstStyle/>
            <a:p>
              <a:endParaRPr lang="zh-CN" altLang="en-US"/>
            </a:p>
          </p:txBody>
        </p:sp>
        <p:sp>
          <p:nvSpPr>
            <p:cNvPr id="26701" name="Line 7"/>
            <p:cNvSpPr>
              <a:spLocks noChangeShapeType="1"/>
            </p:cNvSpPr>
            <p:nvPr/>
          </p:nvSpPr>
          <p:spPr bwMode="auto">
            <a:xfrm flipH="1">
              <a:off x="3278" y="3525"/>
              <a:ext cx="409" cy="409"/>
            </a:xfrm>
            <a:prstGeom prst="line">
              <a:avLst/>
            </a:prstGeom>
            <a:noFill/>
            <a:ln w="28575">
              <a:solidFill>
                <a:schemeClr val="tx1"/>
              </a:solidFill>
              <a:round/>
              <a:headEnd/>
              <a:tailEnd type="triangle" w="med" len="med"/>
            </a:ln>
          </p:spPr>
          <p:txBody>
            <a:bodyPr/>
            <a:lstStyle/>
            <a:p>
              <a:endParaRPr lang="zh-CN" altLang="en-US"/>
            </a:p>
          </p:txBody>
        </p:sp>
        <p:sp>
          <p:nvSpPr>
            <p:cNvPr id="26702" name="Text Box 8"/>
            <p:cNvSpPr txBox="1">
              <a:spLocks noChangeArrowheads="1"/>
            </p:cNvSpPr>
            <p:nvPr/>
          </p:nvSpPr>
          <p:spPr bwMode="auto">
            <a:xfrm>
              <a:off x="5111" y="3343"/>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26703" name="Text Box 9"/>
            <p:cNvSpPr txBox="1">
              <a:spLocks noChangeArrowheads="1"/>
            </p:cNvSpPr>
            <p:nvPr/>
          </p:nvSpPr>
          <p:spPr bwMode="auto">
            <a:xfrm>
              <a:off x="3628" y="2209"/>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26704" name="Text Box 10"/>
            <p:cNvSpPr txBox="1">
              <a:spLocks noChangeArrowheads="1"/>
            </p:cNvSpPr>
            <p:nvPr/>
          </p:nvSpPr>
          <p:spPr bwMode="auto">
            <a:xfrm>
              <a:off x="3161" y="3842"/>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26705" name="Text Box 11"/>
            <p:cNvSpPr txBox="1">
              <a:spLocks noChangeArrowheads="1"/>
            </p:cNvSpPr>
            <p:nvPr/>
          </p:nvSpPr>
          <p:spPr bwMode="auto">
            <a:xfrm>
              <a:off x="3596" y="3463"/>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grpSp>
      <p:grpSp>
        <p:nvGrpSpPr>
          <p:cNvPr id="3" name="Group 12"/>
          <p:cNvGrpSpPr>
            <a:grpSpLocks/>
          </p:cNvGrpSpPr>
          <p:nvPr/>
        </p:nvGrpSpPr>
        <p:grpSpPr bwMode="auto">
          <a:xfrm>
            <a:off x="6315075" y="3516313"/>
            <a:ext cx="2324100" cy="2022475"/>
            <a:chOff x="3978" y="2160"/>
            <a:chExt cx="1464" cy="1274"/>
          </a:xfrm>
        </p:grpSpPr>
        <p:sp>
          <p:nvSpPr>
            <p:cNvPr id="26692" name="Text Box 13"/>
            <p:cNvSpPr txBox="1">
              <a:spLocks noChangeArrowheads="1"/>
            </p:cNvSpPr>
            <p:nvPr/>
          </p:nvSpPr>
          <p:spPr bwMode="auto">
            <a:xfrm>
              <a:off x="4059" y="2808"/>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O’</a:t>
              </a:r>
            </a:p>
          </p:txBody>
        </p:sp>
        <p:sp>
          <p:nvSpPr>
            <p:cNvPr id="26693" name="Line 14"/>
            <p:cNvSpPr>
              <a:spLocks noChangeShapeType="1"/>
            </p:cNvSpPr>
            <p:nvPr/>
          </p:nvSpPr>
          <p:spPr bwMode="auto">
            <a:xfrm flipV="1">
              <a:off x="4309" y="2282"/>
              <a:ext cx="0" cy="725"/>
            </a:xfrm>
            <a:prstGeom prst="line">
              <a:avLst/>
            </a:prstGeom>
            <a:noFill/>
            <a:ln w="28575">
              <a:solidFill>
                <a:srgbClr val="FF0000"/>
              </a:solidFill>
              <a:round/>
              <a:headEnd/>
              <a:tailEnd type="triangle" w="med" len="med"/>
            </a:ln>
          </p:spPr>
          <p:txBody>
            <a:bodyPr/>
            <a:lstStyle/>
            <a:p>
              <a:endParaRPr lang="zh-CN" altLang="en-US"/>
            </a:p>
          </p:txBody>
        </p:sp>
        <p:sp>
          <p:nvSpPr>
            <p:cNvPr id="26694" name="Line 15"/>
            <p:cNvSpPr>
              <a:spLocks noChangeShapeType="1"/>
            </p:cNvSpPr>
            <p:nvPr/>
          </p:nvSpPr>
          <p:spPr bwMode="auto">
            <a:xfrm>
              <a:off x="4309" y="3007"/>
              <a:ext cx="802" cy="0"/>
            </a:xfrm>
            <a:prstGeom prst="line">
              <a:avLst/>
            </a:prstGeom>
            <a:noFill/>
            <a:ln w="28575">
              <a:solidFill>
                <a:srgbClr val="FF0000"/>
              </a:solidFill>
              <a:round/>
              <a:headEnd/>
              <a:tailEnd type="triangle" w="med" len="med"/>
            </a:ln>
          </p:spPr>
          <p:txBody>
            <a:bodyPr/>
            <a:lstStyle/>
            <a:p>
              <a:endParaRPr lang="zh-CN" altLang="en-US"/>
            </a:p>
          </p:txBody>
        </p:sp>
        <p:sp>
          <p:nvSpPr>
            <p:cNvPr id="26695" name="Line 16"/>
            <p:cNvSpPr>
              <a:spLocks noChangeShapeType="1"/>
            </p:cNvSpPr>
            <p:nvPr/>
          </p:nvSpPr>
          <p:spPr bwMode="auto">
            <a:xfrm flipH="1">
              <a:off x="4023" y="3007"/>
              <a:ext cx="286" cy="286"/>
            </a:xfrm>
            <a:prstGeom prst="line">
              <a:avLst/>
            </a:prstGeom>
            <a:noFill/>
            <a:ln w="28575">
              <a:solidFill>
                <a:srgbClr val="FF0000"/>
              </a:solidFill>
              <a:round/>
              <a:headEnd/>
              <a:tailEnd type="triangle" w="med" len="med"/>
            </a:ln>
          </p:spPr>
          <p:txBody>
            <a:bodyPr/>
            <a:lstStyle/>
            <a:p>
              <a:endParaRPr lang="zh-CN" altLang="en-US"/>
            </a:p>
          </p:txBody>
        </p:sp>
        <p:sp>
          <p:nvSpPr>
            <p:cNvPr id="26696" name="Text Box 17"/>
            <p:cNvSpPr txBox="1">
              <a:spLocks noChangeArrowheads="1"/>
            </p:cNvSpPr>
            <p:nvPr/>
          </p:nvSpPr>
          <p:spPr bwMode="auto">
            <a:xfrm>
              <a:off x="4327" y="2160"/>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y’</a:t>
              </a:r>
            </a:p>
          </p:txBody>
        </p:sp>
        <p:sp>
          <p:nvSpPr>
            <p:cNvPr id="26697" name="Text Box 18"/>
            <p:cNvSpPr txBox="1">
              <a:spLocks noChangeArrowheads="1"/>
            </p:cNvSpPr>
            <p:nvPr/>
          </p:nvSpPr>
          <p:spPr bwMode="auto">
            <a:xfrm>
              <a:off x="3978" y="3203"/>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z’</a:t>
              </a:r>
            </a:p>
          </p:txBody>
        </p:sp>
        <p:sp>
          <p:nvSpPr>
            <p:cNvPr id="26698" name="Text Box 19"/>
            <p:cNvSpPr txBox="1">
              <a:spLocks noChangeArrowheads="1"/>
            </p:cNvSpPr>
            <p:nvPr/>
          </p:nvSpPr>
          <p:spPr bwMode="auto">
            <a:xfrm>
              <a:off x="5066" y="2885"/>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x’</a:t>
              </a:r>
            </a:p>
          </p:txBody>
        </p:sp>
      </p:grpSp>
      <p:sp>
        <p:nvSpPr>
          <p:cNvPr id="52244" name="Text Box 20"/>
          <p:cNvSpPr txBox="1">
            <a:spLocks noChangeArrowheads="1"/>
          </p:cNvSpPr>
          <p:nvPr/>
        </p:nvSpPr>
        <p:spPr bwMode="auto">
          <a:xfrm>
            <a:off x="385763" y="2773363"/>
            <a:ext cx="3095625" cy="457200"/>
          </a:xfrm>
          <a:prstGeom prst="rect">
            <a:avLst/>
          </a:prstGeom>
          <a:noFill/>
          <a:ln w="9525">
            <a:noFill/>
            <a:miter lim="800000"/>
            <a:headEnd/>
            <a:tailEnd/>
          </a:ln>
        </p:spPr>
        <p:txBody>
          <a:bodyPr>
            <a:spAutoFit/>
          </a:bodyPr>
          <a:lstStyle/>
          <a:p>
            <a:r>
              <a:rPr lang="zh-CN" altLang="en-US" sz="2400" b="1">
                <a:solidFill>
                  <a:srgbClr val="FF0000"/>
                </a:solidFill>
                <a:latin typeface="楷体_GB2312" pitchFamily="49" charset="-122"/>
                <a:ea typeface="楷体_GB2312" pitchFamily="49" charset="-122"/>
              </a:rPr>
              <a:t>飞机</a:t>
            </a:r>
            <a:r>
              <a:rPr lang="zh-CN" altLang="en-US" sz="2400" b="1">
                <a:latin typeface="楷体_GB2312" pitchFamily="49" charset="-122"/>
                <a:ea typeface="楷体_GB2312" pitchFamily="49" charset="-122"/>
              </a:rPr>
              <a:t>（看作</a:t>
            </a:r>
            <a:r>
              <a:rPr lang="zh-CN" altLang="en-US" sz="2400" b="1">
                <a:solidFill>
                  <a:srgbClr val="FF6600"/>
                </a:solidFill>
                <a:latin typeface="楷体_GB2312" pitchFamily="49" charset="-122"/>
                <a:ea typeface="楷体_GB2312" pitchFamily="49" charset="-122"/>
              </a:rPr>
              <a:t>刚体</a:t>
            </a:r>
            <a:r>
              <a:rPr lang="zh-CN" altLang="en-US" sz="2400" b="1">
                <a:latin typeface="楷体_GB2312" pitchFamily="49" charset="-122"/>
                <a:ea typeface="楷体_GB2312" pitchFamily="49" charset="-122"/>
              </a:rPr>
              <a:t>）：</a:t>
            </a:r>
          </a:p>
        </p:txBody>
      </p:sp>
      <p:sp>
        <p:nvSpPr>
          <p:cNvPr id="52245" name="Line 21"/>
          <p:cNvSpPr>
            <a:spLocks noChangeShapeType="1"/>
          </p:cNvSpPr>
          <p:nvPr/>
        </p:nvSpPr>
        <p:spPr bwMode="auto">
          <a:xfrm flipV="1">
            <a:off x="5842000" y="4830763"/>
            <a:ext cx="971550" cy="860425"/>
          </a:xfrm>
          <a:prstGeom prst="line">
            <a:avLst/>
          </a:prstGeom>
          <a:noFill/>
          <a:ln w="9525">
            <a:solidFill>
              <a:srgbClr val="FF6600"/>
            </a:solidFill>
            <a:round/>
            <a:headEnd/>
            <a:tailEnd type="triangle" w="med" len="med"/>
          </a:ln>
        </p:spPr>
        <p:txBody>
          <a:bodyPr/>
          <a:lstStyle/>
          <a:p>
            <a:endParaRPr lang="zh-CN" altLang="en-US"/>
          </a:p>
        </p:txBody>
      </p:sp>
      <p:sp>
        <p:nvSpPr>
          <p:cNvPr id="52246" name="Text Box 22"/>
          <p:cNvSpPr txBox="1">
            <a:spLocks noChangeArrowheads="1"/>
          </p:cNvSpPr>
          <p:nvPr/>
        </p:nvSpPr>
        <p:spPr bwMode="auto">
          <a:xfrm>
            <a:off x="3336925" y="2406650"/>
            <a:ext cx="2036763" cy="457200"/>
          </a:xfrm>
          <a:prstGeom prst="rect">
            <a:avLst/>
          </a:prstGeom>
          <a:noFill/>
          <a:ln w="9525">
            <a:noFill/>
            <a:miter lim="800000"/>
            <a:headEnd/>
            <a:tailEnd/>
          </a:ln>
        </p:spPr>
        <p:txBody>
          <a:bodyPr>
            <a:spAutoFit/>
          </a:bodyPr>
          <a:lstStyle/>
          <a:p>
            <a:r>
              <a:rPr lang="zh-CN" altLang="en-US" sz="2400" b="1">
                <a:latin typeface="楷体_GB2312" pitchFamily="49" charset="-122"/>
                <a:ea typeface="楷体_GB2312" pitchFamily="49" charset="-122"/>
              </a:rPr>
              <a:t>确定质心：</a:t>
            </a:r>
          </a:p>
        </p:txBody>
      </p:sp>
      <p:sp>
        <p:nvSpPr>
          <p:cNvPr id="52247" name="Text Box 23"/>
          <p:cNvSpPr txBox="1">
            <a:spLocks noChangeArrowheads="1"/>
          </p:cNvSpPr>
          <p:nvPr/>
        </p:nvSpPr>
        <p:spPr bwMode="auto">
          <a:xfrm>
            <a:off x="4787900" y="2355850"/>
            <a:ext cx="1171575" cy="457200"/>
          </a:xfrm>
          <a:prstGeom prst="rect">
            <a:avLst/>
          </a:prstGeom>
          <a:noFill/>
          <a:ln w="9525">
            <a:noFill/>
            <a:miter lim="800000"/>
            <a:headEnd/>
            <a:tailEnd/>
          </a:ln>
        </p:spPr>
        <p:txBody>
          <a:bodyPr>
            <a:spAutoFit/>
          </a:bodyPr>
          <a:lstStyle/>
          <a:p>
            <a:r>
              <a:rPr lang="en-US" altLang="zh-CN" sz="2400" b="1">
                <a:solidFill>
                  <a:schemeClr val="accent2"/>
                </a:solidFill>
                <a:latin typeface="Times New Roman" pitchFamily="18" charset="0"/>
              </a:rPr>
              <a:t>(</a:t>
            </a:r>
            <a:r>
              <a:rPr lang="en-US" altLang="zh-CN" sz="2400" b="1" i="1">
                <a:solidFill>
                  <a:schemeClr val="accent2"/>
                </a:solidFill>
                <a:latin typeface="Times New Roman" pitchFamily="18" charset="0"/>
              </a:rPr>
              <a:t>x</a:t>
            </a:r>
            <a:r>
              <a:rPr lang="en-US" altLang="zh-CN" sz="2400" b="1">
                <a:solidFill>
                  <a:schemeClr val="accent2"/>
                </a:solidFill>
                <a:latin typeface="Times New Roman" pitchFamily="18" charset="0"/>
              </a:rPr>
              <a:t>, </a:t>
            </a:r>
            <a:r>
              <a:rPr lang="en-US" altLang="zh-CN" sz="2400" b="1" i="1">
                <a:solidFill>
                  <a:schemeClr val="accent2"/>
                </a:solidFill>
                <a:latin typeface="Times New Roman" pitchFamily="18" charset="0"/>
              </a:rPr>
              <a:t>y, z</a:t>
            </a:r>
            <a:r>
              <a:rPr lang="en-US" altLang="zh-CN" sz="2400" b="1">
                <a:solidFill>
                  <a:schemeClr val="accent2"/>
                </a:solidFill>
                <a:latin typeface="Times New Roman" pitchFamily="18" charset="0"/>
              </a:rPr>
              <a:t>)</a:t>
            </a:r>
          </a:p>
        </p:txBody>
      </p:sp>
      <p:sp>
        <p:nvSpPr>
          <p:cNvPr id="52248" name="Text Box 24"/>
          <p:cNvSpPr txBox="1">
            <a:spLocks noChangeArrowheads="1"/>
          </p:cNvSpPr>
          <p:nvPr/>
        </p:nvSpPr>
        <p:spPr bwMode="auto">
          <a:xfrm>
            <a:off x="3357563" y="2794000"/>
            <a:ext cx="2036762" cy="457200"/>
          </a:xfrm>
          <a:prstGeom prst="rect">
            <a:avLst/>
          </a:prstGeom>
          <a:noFill/>
          <a:ln w="9525">
            <a:noFill/>
            <a:miter lim="800000"/>
            <a:headEnd/>
            <a:tailEnd/>
          </a:ln>
        </p:spPr>
        <p:txBody>
          <a:bodyPr>
            <a:spAutoFit/>
          </a:bodyPr>
          <a:lstStyle/>
          <a:p>
            <a:r>
              <a:rPr lang="zh-CN" altLang="en-US" sz="2400" b="1">
                <a:latin typeface="楷体_GB2312" pitchFamily="49" charset="-122"/>
                <a:ea typeface="楷体_GB2312" pitchFamily="49" charset="-122"/>
              </a:rPr>
              <a:t>确定转轴：</a:t>
            </a:r>
          </a:p>
        </p:txBody>
      </p:sp>
      <p:sp>
        <p:nvSpPr>
          <p:cNvPr id="52249" name="Arc 25"/>
          <p:cNvSpPr>
            <a:spLocks/>
          </p:cNvSpPr>
          <p:nvPr/>
        </p:nvSpPr>
        <p:spPr bwMode="auto">
          <a:xfrm>
            <a:off x="6838950" y="4437063"/>
            <a:ext cx="312738" cy="231775"/>
          </a:xfrm>
          <a:custGeom>
            <a:avLst/>
            <a:gdLst>
              <a:gd name="T0" fmla="*/ 0 w 14362"/>
              <a:gd name="T1" fmla="*/ 0 h 21600"/>
              <a:gd name="T2" fmla="*/ 2147483647 w 14362"/>
              <a:gd name="T3" fmla="*/ 2147483647 h 21600"/>
              <a:gd name="T4" fmla="*/ 0 w 14362"/>
              <a:gd name="T5" fmla="*/ 2147483647 h 21600"/>
              <a:gd name="T6" fmla="*/ 0 60000 65536"/>
              <a:gd name="T7" fmla="*/ 0 60000 65536"/>
              <a:gd name="T8" fmla="*/ 0 60000 65536"/>
              <a:gd name="T9" fmla="*/ 0 w 14362"/>
              <a:gd name="T10" fmla="*/ 0 h 21600"/>
              <a:gd name="T11" fmla="*/ 14362 w 14362"/>
              <a:gd name="T12" fmla="*/ 21600 h 21600"/>
            </a:gdLst>
            <a:ahLst/>
            <a:cxnLst>
              <a:cxn ang="T6">
                <a:pos x="T0" y="T1"/>
              </a:cxn>
              <a:cxn ang="T7">
                <a:pos x="T2" y="T3"/>
              </a:cxn>
              <a:cxn ang="T8">
                <a:pos x="T4" y="T5"/>
              </a:cxn>
            </a:cxnLst>
            <a:rect l="T9" t="T10" r="T11" b="T12"/>
            <a:pathLst>
              <a:path w="14362" h="21600" fill="none" extrusionOk="0">
                <a:moveTo>
                  <a:pt x="-1" y="0"/>
                </a:moveTo>
                <a:cubicBezTo>
                  <a:pt x="5295" y="0"/>
                  <a:pt x="10406" y="1945"/>
                  <a:pt x="14362" y="5466"/>
                </a:cubicBezTo>
              </a:path>
              <a:path w="14362" h="21600" stroke="0" extrusionOk="0">
                <a:moveTo>
                  <a:pt x="-1" y="0"/>
                </a:moveTo>
                <a:cubicBezTo>
                  <a:pt x="5295" y="0"/>
                  <a:pt x="10406" y="1945"/>
                  <a:pt x="14362" y="5466"/>
                </a:cubicBezTo>
                <a:lnTo>
                  <a:pt x="0" y="21600"/>
                </a:lnTo>
                <a:close/>
              </a:path>
            </a:pathLst>
          </a:custGeom>
          <a:noFill/>
          <a:ln w="9525">
            <a:solidFill>
              <a:srgbClr val="FF0000"/>
            </a:solidFill>
            <a:round/>
            <a:headEnd/>
            <a:tailEnd/>
          </a:ln>
        </p:spPr>
        <p:txBody>
          <a:bodyPr wrap="none" anchor="ctr"/>
          <a:lstStyle/>
          <a:p>
            <a:pPr algn="ctr"/>
            <a:endParaRPr lang="zh-CN" altLang="en-US"/>
          </a:p>
        </p:txBody>
      </p:sp>
      <p:sp>
        <p:nvSpPr>
          <p:cNvPr id="52250" name="AutoShape 26"/>
          <p:cNvSpPr>
            <a:spLocks noChangeArrowheads="1"/>
          </p:cNvSpPr>
          <p:nvPr/>
        </p:nvSpPr>
        <p:spPr bwMode="auto">
          <a:xfrm>
            <a:off x="6478588" y="4870450"/>
            <a:ext cx="1655762" cy="379413"/>
          </a:xfrm>
          <a:prstGeom prst="parallelogram">
            <a:avLst>
              <a:gd name="adj" fmla="val 109100"/>
            </a:avLst>
          </a:prstGeom>
          <a:solidFill>
            <a:srgbClr val="66CCFF">
              <a:alpha val="59999"/>
            </a:srgbClr>
          </a:solidFill>
          <a:ln w="9525">
            <a:noFill/>
            <a:miter lim="800000"/>
            <a:headEnd/>
            <a:tailEnd/>
          </a:ln>
        </p:spPr>
        <p:txBody>
          <a:bodyPr wrap="none" anchor="ctr"/>
          <a:lstStyle/>
          <a:p>
            <a:pPr algn="ctr"/>
            <a:endParaRPr lang="zh-CN" altLang="en-US"/>
          </a:p>
        </p:txBody>
      </p:sp>
      <p:sp>
        <p:nvSpPr>
          <p:cNvPr id="52251" name="Line 27"/>
          <p:cNvSpPr>
            <a:spLocks noChangeShapeType="1"/>
          </p:cNvSpPr>
          <p:nvPr/>
        </p:nvSpPr>
        <p:spPr bwMode="auto">
          <a:xfrm>
            <a:off x="6838950" y="4864100"/>
            <a:ext cx="936625" cy="250825"/>
          </a:xfrm>
          <a:prstGeom prst="line">
            <a:avLst/>
          </a:prstGeom>
          <a:noFill/>
          <a:ln w="9525">
            <a:solidFill>
              <a:srgbClr val="0000FF"/>
            </a:solidFill>
            <a:prstDash val="dash"/>
            <a:round/>
            <a:headEnd/>
            <a:tailEnd/>
          </a:ln>
        </p:spPr>
        <p:txBody>
          <a:bodyPr/>
          <a:lstStyle/>
          <a:p>
            <a:endParaRPr lang="zh-CN" altLang="en-US"/>
          </a:p>
        </p:txBody>
      </p:sp>
      <p:sp>
        <p:nvSpPr>
          <p:cNvPr id="52252" name="Line 28"/>
          <p:cNvSpPr>
            <a:spLocks noChangeShapeType="1"/>
          </p:cNvSpPr>
          <p:nvPr/>
        </p:nvSpPr>
        <p:spPr bwMode="auto">
          <a:xfrm>
            <a:off x="7596188" y="4092575"/>
            <a:ext cx="0" cy="1003300"/>
          </a:xfrm>
          <a:prstGeom prst="line">
            <a:avLst/>
          </a:prstGeom>
          <a:noFill/>
          <a:ln w="9525">
            <a:solidFill>
              <a:schemeClr val="hlink"/>
            </a:solidFill>
            <a:prstDash val="dash"/>
            <a:round/>
            <a:headEnd/>
            <a:tailEnd/>
          </a:ln>
        </p:spPr>
        <p:txBody>
          <a:bodyPr/>
          <a:lstStyle/>
          <a:p>
            <a:endParaRPr lang="zh-CN" altLang="en-US"/>
          </a:p>
        </p:txBody>
      </p:sp>
      <p:sp>
        <p:nvSpPr>
          <p:cNvPr id="52253" name="Arc 29"/>
          <p:cNvSpPr>
            <a:spLocks/>
          </p:cNvSpPr>
          <p:nvPr/>
        </p:nvSpPr>
        <p:spPr bwMode="auto">
          <a:xfrm rot="2590902" flipV="1">
            <a:off x="6821488" y="4841875"/>
            <a:ext cx="142875" cy="14287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FF0000"/>
            </a:solidFill>
            <a:round/>
            <a:headEnd/>
            <a:tailEnd/>
          </a:ln>
        </p:spPr>
        <p:txBody>
          <a:bodyPr wrap="none" anchor="ctr"/>
          <a:lstStyle/>
          <a:p>
            <a:pPr algn="ctr"/>
            <a:endParaRPr lang="zh-CN" altLang="en-US"/>
          </a:p>
        </p:txBody>
      </p:sp>
      <p:graphicFrame>
        <p:nvGraphicFramePr>
          <p:cNvPr id="52254" name="Object 30"/>
          <p:cNvGraphicFramePr>
            <a:graphicFrameLocks noChangeAspect="1"/>
          </p:cNvGraphicFramePr>
          <p:nvPr/>
        </p:nvGraphicFramePr>
        <p:xfrm>
          <a:off x="6954838" y="4195763"/>
          <a:ext cx="280987" cy="257175"/>
        </p:xfrm>
        <a:graphic>
          <a:graphicData uri="http://schemas.openxmlformats.org/presentationml/2006/ole">
            <p:oleObj spid="_x0000_s26626" name="公式" r:id="rId5" imgW="152280" imgH="139680" progId="Equation.3">
              <p:embed/>
            </p:oleObj>
          </a:graphicData>
        </a:graphic>
      </p:graphicFrame>
      <p:graphicFrame>
        <p:nvGraphicFramePr>
          <p:cNvPr id="52255" name="Object 31"/>
          <p:cNvGraphicFramePr>
            <a:graphicFrameLocks noChangeAspect="1"/>
          </p:cNvGraphicFramePr>
          <p:nvPr/>
        </p:nvGraphicFramePr>
        <p:xfrm>
          <a:off x="6738938" y="4957763"/>
          <a:ext cx="215900" cy="287337"/>
        </p:xfrm>
        <a:graphic>
          <a:graphicData uri="http://schemas.openxmlformats.org/presentationml/2006/ole">
            <p:oleObj spid="_x0000_s26627" name="公式" r:id="rId6" imgW="152280" imgH="203040" progId="Equation.3">
              <p:embed/>
            </p:oleObj>
          </a:graphicData>
        </a:graphic>
      </p:graphicFrame>
      <p:graphicFrame>
        <p:nvGraphicFramePr>
          <p:cNvPr id="52256" name="Object 32"/>
          <p:cNvGraphicFramePr>
            <a:graphicFrameLocks noChangeAspect="1"/>
          </p:cNvGraphicFramePr>
          <p:nvPr/>
        </p:nvGraphicFramePr>
        <p:xfrm>
          <a:off x="4859338" y="2901950"/>
          <a:ext cx="784225" cy="366713"/>
        </p:xfrm>
        <a:graphic>
          <a:graphicData uri="http://schemas.openxmlformats.org/presentationml/2006/ole">
            <p:oleObj spid="_x0000_s26628" name="公式" r:id="rId7" imgW="431640" imgH="203040" progId="Equation.3">
              <p:embed/>
            </p:oleObj>
          </a:graphicData>
        </a:graphic>
      </p:graphicFrame>
      <p:sp>
        <p:nvSpPr>
          <p:cNvPr id="52257" name="Text Box 33"/>
          <p:cNvSpPr txBox="1">
            <a:spLocks noChangeArrowheads="1"/>
          </p:cNvSpPr>
          <p:nvPr/>
        </p:nvSpPr>
        <p:spPr bwMode="auto">
          <a:xfrm>
            <a:off x="3338513" y="3289300"/>
            <a:ext cx="2036762" cy="457200"/>
          </a:xfrm>
          <a:prstGeom prst="rect">
            <a:avLst/>
          </a:prstGeom>
          <a:noFill/>
          <a:ln w="9525">
            <a:noFill/>
            <a:miter lim="800000"/>
            <a:headEnd/>
            <a:tailEnd/>
          </a:ln>
        </p:spPr>
        <p:txBody>
          <a:bodyPr>
            <a:spAutoFit/>
          </a:bodyPr>
          <a:lstStyle/>
          <a:p>
            <a:r>
              <a:rPr lang="zh-CN" altLang="en-US" sz="2400" b="1">
                <a:latin typeface="楷体_GB2312" pitchFamily="49" charset="-122"/>
                <a:ea typeface="楷体_GB2312" pitchFamily="49" charset="-122"/>
              </a:rPr>
              <a:t>确定方向：</a:t>
            </a:r>
          </a:p>
        </p:txBody>
      </p:sp>
      <p:graphicFrame>
        <p:nvGraphicFramePr>
          <p:cNvPr id="52258" name="Object 34"/>
          <p:cNvGraphicFramePr>
            <a:graphicFrameLocks noChangeAspect="1"/>
          </p:cNvGraphicFramePr>
          <p:nvPr/>
        </p:nvGraphicFramePr>
        <p:xfrm>
          <a:off x="4995863" y="3340100"/>
          <a:ext cx="439737" cy="369888"/>
        </p:xfrm>
        <a:graphic>
          <a:graphicData uri="http://schemas.openxmlformats.org/presentationml/2006/ole">
            <p:oleObj spid="_x0000_s26629" name="公式" r:id="rId8" imgW="241200" imgH="203040" progId="Equation.3">
              <p:embed/>
            </p:oleObj>
          </a:graphicData>
        </a:graphic>
      </p:graphicFrame>
      <p:sp>
        <p:nvSpPr>
          <p:cNvPr id="52259" name="AutoShape 35"/>
          <p:cNvSpPr>
            <a:spLocks/>
          </p:cNvSpPr>
          <p:nvPr/>
        </p:nvSpPr>
        <p:spPr bwMode="auto">
          <a:xfrm>
            <a:off x="5867400" y="2479675"/>
            <a:ext cx="215900" cy="1125538"/>
          </a:xfrm>
          <a:prstGeom prst="rightBrace">
            <a:avLst>
              <a:gd name="adj1" fmla="val 43444"/>
              <a:gd name="adj2" fmla="val 50000"/>
            </a:avLst>
          </a:prstGeom>
          <a:noFill/>
          <a:ln w="31750">
            <a:solidFill>
              <a:srgbClr val="FF0000"/>
            </a:solidFill>
            <a:round/>
            <a:headEnd/>
            <a:tailEnd/>
          </a:ln>
        </p:spPr>
        <p:txBody>
          <a:bodyPr wrap="none" anchor="ctr"/>
          <a:lstStyle/>
          <a:p>
            <a:pPr algn="ctr"/>
            <a:endParaRPr lang="zh-CN" altLang="en-US"/>
          </a:p>
        </p:txBody>
      </p:sp>
      <p:pic>
        <p:nvPicPr>
          <p:cNvPr id="52261" name="Picture 37" descr="U1335P27T1D294411F3DT20050606090909"/>
          <p:cNvPicPr>
            <a:picLocks noChangeAspect="1" noChangeArrowheads="1"/>
          </p:cNvPicPr>
          <p:nvPr/>
        </p:nvPicPr>
        <p:blipFill>
          <a:blip r:embed="rId9"/>
          <a:srcRect/>
          <a:stretch>
            <a:fillRect/>
          </a:stretch>
        </p:blipFill>
        <p:spPr bwMode="auto">
          <a:xfrm>
            <a:off x="714375" y="3736975"/>
            <a:ext cx="2665413" cy="1960563"/>
          </a:xfrm>
          <a:prstGeom prst="rect">
            <a:avLst/>
          </a:prstGeom>
          <a:noFill/>
          <a:ln w="9525">
            <a:noFill/>
            <a:miter lim="800000"/>
            <a:headEnd/>
            <a:tailEnd/>
          </a:ln>
        </p:spPr>
      </p:pic>
      <p:sp>
        <p:nvSpPr>
          <p:cNvPr id="52262" name="AutoShape 38"/>
          <p:cNvSpPr>
            <a:spLocks noChangeArrowheads="1"/>
          </p:cNvSpPr>
          <p:nvPr/>
        </p:nvSpPr>
        <p:spPr bwMode="auto">
          <a:xfrm>
            <a:off x="4213225" y="4637088"/>
            <a:ext cx="1079500" cy="215900"/>
          </a:xfrm>
          <a:prstGeom prst="rightArrow">
            <a:avLst>
              <a:gd name="adj1" fmla="val 50000"/>
              <a:gd name="adj2" fmla="val 125000"/>
            </a:avLst>
          </a:prstGeom>
          <a:solidFill>
            <a:srgbClr val="66CCFF"/>
          </a:solidFill>
          <a:ln w="9525">
            <a:solidFill>
              <a:schemeClr val="tx1"/>
            </a:solidFill>
            <a:miter lim="800000"/>
            <a:headEnd/>
            <a:tailEnd/>
          </a:ln>
        </p:spPr>
        <p:txBody>
          <a:bodyPr wrap="none" anchor="ctr"/>
          <a:lstStyle/>
          <a:p>
            <a:pPr algn="ctr"/>
            <a:endParaRPr lang="zh-CN" altLang="en-US"/>
          </a:p>
        </p:txBody>
      </p:sp>
      <p:sp>
        <p:nvSpPr>
          <p:cNvPr id="52263" name="AutoShape 39"/>
          <p:cNvSpPr>
            <a:spLocks noChangeArrowheads="1"/>
          </p:cNvSpPr>
          <p:nvPr/>
        </p:nvSpPr>
        <p:spPr bwMode="auto">
          <a:xfrm rot="5766964">
            <a:off x="5763419" y="3988594"/>
            <a:ext cx="1871662" cy="1504950"/>
          </a:xfrm>
          <a:prstGeom prst="parallelogram">
            <a:avLst>
              <a:gd name="adj" fmla="val 31092"/>
            </a:avLst>
          </a:prstGeom>
          <a:solidFill>
            <a:srgbClr val="FF00FF">
              <a:alpha val="30196"/>
            </a:srgbClr>
          </a:solidFill>
          <a:ln w="9525">
            <a:noFill/>
            <a:miter lim="800000"/>
            <a:headEnd/>
            <a:tailEnd/>
          </a:ln>
        </p:spPr>
        <p:txBody>
          <a:bodyPr wrap="none" anchor="ctr"/>
          <a:lstStyle/>
          <a:p>
            <a:pPr algn="ctr"/>
            <a:endParaRPr lang="zh-CN" altLang="en-US"/>
          </a:p>
        </p:txBody>
      </p:sp>
      <p:sp>
        <p:nvSpPr>
          <p:cNvPr id="52264" name="Line 40"/>
          <p:cNvSpPr>
            <a:spLocks noChangeShapeType="1"/>
          </p:cNvSpPr>
          <p:nvPr/>
        </p:nvSpPr>
        <p:spPr bwMode="auto">
          <a:xfrm rot="-595835" flipH="1" flipV="1">
            <a:off x="6081713" y="4478338"/>
            <a:ext cx="719137" cy="431800"/>
          </a:xfrm>
          <a:prstGeom prst="line">
            <a:avLst/>
          </a:prstGeom>
          <a:noFill/>
          <a:ln w="9525">
            <a:solidFill>
              <a:srgbClr val="33CCCC"/>
            </a:solidFill>
            <a:round/>
            <a:headEnd/>
            <a:tailEnd type="triangle" w="med" len="med"/>
          </a:ln>
        </p:spPr>
        <p:txBody>
          <a:bodyPr/>
          <a:lstStyle/>
          <a:p>
            <a:endParaRPr lang="zh-CN" altLang="en-US"/>
          </a:p>
        </p:txBody>
      </p:sp>
      <p:sp>
        <p:nvSpPr>
          <p:cNvPr id="52265" name="Line 41"/>
          <p:cNvSpPr>
            <a:spLocks noChangeShapeType="1"/>
          </p:cNvSpPr>
          <p:nvPr/>
        </p:nvSpPr>
        <p:spPr bwMode="auto">
          <a:xfrm rot="4136550">
            <a:off x="7022307" y="3813969"/>
            <a:ext cx="519112" cy="1244600"/>
          </a:xfrm>
          <a:prstGeom prst="line">
            <a:avLst/>
          </a:prstGeom>
          <a:noFill/>
          <a:ln w="28575">
            <a:solidFill>
              <a:schemeClr val="accent2"/>
            </a:solidFill>
            <a:prstDash val="dash"/>
            <a:round/>
            <a:headEnd/>
            <a:tailEnd/>
          </a:ln>
        </p:spPr>
        <p:txBody>
          <a:bodyPr/>
          <a:lstStyle/>
          <a:p>
            <a:endParaRPr lang="zh-CN" altLang="en-US"/>
          </a:p>
        </p:txBody>
      </p:sp>
      <p:sp>
        <p:nvSpPr>
          <p:cNvPr id="52266" name="Line 42"/>
          <p:cNvSpPr>
            <a:spLocks noChangeShapeType="1"/>
          </p:cNvSpPr>
          <p:nvPr/>
        </p:nvSpPr>
        <p:spPr bwMode="auto">
          <a:xfrm rot="1134618" flipH="1" flipV="1">
            <a:off x="6724650" y="4332288"/>
            <a:ext cx="215900" cy="503237"/>
          </a:xfrm>
          <a:prstGeom prst="line">
            <a:avLst/>
          </a:prstGeom>
          <a:noFill/>
          <a:ln w="9525">
            <a:solidFill>
              <a:srgbClr val="800080"/>
            </a:solidFill>
            <a:round/>
            <a:headEnd/>
            <a:tailEnd type="stealth" w="med" len="med"/>
          </a:ln>
        </p:spPr>
        <p:txBody>
          <a:bodyPr/>
          <a:lstStyle/>
          <a:p>
            <a:endParaRPr lang="zh-CN" altLang="en-US"/>
          </a:p>
        </p:txBody>
      </p:sp>
      <p:sp>
        <p:nvSpPr>
          <p:cNvPr id="52267" name="Freeform 43"/>
          <p:cNvSpPr>
            <a:spLocks/>
          </p:cNvSpPr>
          <p:nvPr/>
        </p:nvSpPr>
        <p:spPr bwMode="auto">
          <a:xfrm>
            <a:off x="6719888" y="4676775"/>
            <a:ext cx="96837" cy="71438"/>
          </a:xfrm>
          <a:custGeom>
            <a:avLst/>
            <a:gdLst>
              <a:gd name="T0" fmla="*/ 2147483647 w 136"/>
              <a:gd name="T1" fmla="*/ 0 h 91"/>
              <a:gd name="T2" fmla="*/ 2147483647 w 136"/>
              <a:gd name="T3" fmla="*/ 2147483647 h 91"/>
              <a:gd name="T4" fmla="*/ 0 w 136"/>
              <a:gd name="T5" fmla="*/ 2147483647 h 91"/>
              <a:gd name="T6" fmla="*/ 0 60000 65536"/>
              <a:gd name="T7" fmla="*/ 0 60000 65536"/>
              <a:gd name="T8" fmla="*/ 0 60000 65536"/>
              <a:gd name="T9" fmla="*/ 0 w 136"/>
              <a:gd name="T10" fmla="*/ 0 h 91"/>
              <a:gd name="T11" fmla="*/ 136 w 136"/>
              <a:gd name="T12" fmla="*/ 91 h 91"/>
            </a:gdLst>
            <a:ahLst/>
            <a:cxnLst>
              <a:cxn ang="T6">
                <a:pos x="T0" y="T1"/>
              </a:cxn>
              <a:cxn ang="T7">
                <a:pos x="T2" y="T3"/>
              </a:cxn>
              <a:cxn ang="T8">
                <a:pos x="T4" y="T5"/>
              </a:cxn>
            </a:cxnLst>
            <a:rect l="T9" t="T10" r="T11" b="T12"/>
            <a:pathLst>
              <a:path w="136" h="91">
                <a:moveTo>
                  <a:pt x="136" y="0"/>
                </a:moveTo>
                <a:cubicBezTo>
                  <a:pt x="123" y="5"/>
                  <a:pt x="78" y="14"/>
                  <a:pt x="55" y="29"/>
                </a:cubicBezTo>
                <a:cubicBezTo>
                  <a:pt x="32" y="44"/>
                  <a:pt x="11" y="78"/>
                  <a:pt x="0" y="91"/>
                </a:cubicBezTo>
              </a:path>
            </a:pathLst>
          </a:custGeom>
          <a:noFill/>
          <a:ln w="9525">
            <a:solidFill>
              <a:srgbClr val="800080"/>
            </a:solidFill>
            <a:round/>
            <a:headEnd/>
            <a:tailEnd/>
          </a:ln>
        </p:spPr>
        <p:txBody>
          <a:bodyPr/>
          <a:lstStyle/>
          <a:p>
            <a:pPr algn="ctr"/>
            <a:endParaRPr lang="zh-CN" altLang="en-US"/>
          </a:p>
        </p:txBody>
      </p:sp>
      <p:graphicFrame>
        <p:nvGraphicFramePr>
          <p:cNvPr id="52268" name="Object 44"/>
          <p:cNvGraphicFramePr>
            <a:graphicFrameLocks noChangeAspect="1"/>
          </p:cNvGraphicFramePr>
          <p:nvPr/>
        </p:nvGraphicFramePr>
        <p:xfrm>
          <a:off x="6623050" y="4440238"/>
          <a:ext cx="215900" cy="300037"/>
        </p:xfrm>
        <a:graphic>
          <a:graphicData uri="http://schemas.openxmlformats.org/presentationml/2006/ole">
            <p:oleObj spid="_x0000_s26630" name="公式" r:id="rId10" imgW="126720" imgH="177480" progId="Equation.3">
              <p:embed/>
            </p:oleObj>
          </a:graphicData>
        </a:graphic>
      </p:graphicFrame>
      <p:sp>
        <p:nvSpPr>
          <p:cNvPr id="52269" name="Text Box 45"/>
          <p:cNvSpPr txBox="1">
            <a:spLocks noChangeArrowheads="1"/>
          </p:cNvSpPr>
          <p:nvPr/>
        </p:nvSpPr>
        <p:spPr bwMode="auto">
          <a:xfrm>
            <a:off x="6208713" y="4237038"/>
            <a:ext cx="1171575" cy="366712"/>
          </a:xfrm>
          <a:prstGeom prst="rect">
            <a:avLst/>
          </a:prstGeom>
          <a:noFill/>
          <a:ln w="9525">
            <a:noFill/>
            <a:miter lim="800000"/>
            <a:headEnd/>
            <a:tailEnd/>
          </a:ln>
        </p:spPr>
        <p:txBody>
          <a:bodyPr>
            <a:spAutoFit/>
          </a:bodyPr>
          <a:lstStyle/>
          <a:p>
            <a:r>
              <a:rPr lang="en-US" altLang="zh-CN" b="1">
                <a:solidFill>
                  <a:srgbClr val="FF6600"/>
                </a:solidFill>
                <a:latin typeface="Times New Roman" pitchFamily="18" charset="0"/>
              </a:rPr>
              <a:t>(</a:t>
            </a:r>
            <a:r>
              <a:rPr lang="en-US" altLang="zh-CN" b="1" i="1">
                <a:solidFill>
                  <a:srgbClr val="FF6600"/>
                </a:solidFill>
                <a:latin typeface="Times New Roman" pitchFamily="18" charset="0"/>
              </a:rPr>
              <a:t>x</a:t>
            </a:r>
            <a:r>
              <a:rPr lang="en-US" altLang="zh-CN" b="1">
                <a:solidFill>
                  <a:srgbClr val="FF6600"/>
                </a:solidFill>
                <a:latin typeface="Times New Roman" pitchFamily="18" charset="0"/>
              </a:rPr>
              <a:t>, </a:t>
            </a:r>
            <a:r>
              <a:rPr lang="en-US" altLang="zh-CN" b="1" i="1">
                <a:solidFill>
                  <a:srgbClr val="FF6600"/>
                </a:solidFill>
                <a:latin typeface="Times New Roman" pitchFamily="18" charset="0"/>
              </a:rPr>
              <a:t>y, z</a:t>
            </a:r>
            <a:r>
              <a:rPr lang="en-US" altLang="zh-CN" b="1">
                <a:solidFill>
                  <a:srgbClr val="FF6600"/>
                </a:solidFill>
                <a:latin typeface="Times New Roman" pitchFamily="18" charset="0"/>
              </a:rPr>
              <a:t>)</a:t>
            </a:r>
          </a:p>
        </p:txBody>
      </p:sp>
      <p:sp>
        <p:nvSpPr>
          <p:cNvPr id="52270" name="Rectangle 46"/>
          <p:cNvSpPr>
            <a:spLocks noChangeArrowheads="1"/>
          </p:cNvSpPr>
          <p:nvPr/>
        </p:nvSpPr>
        <p:spPr bwMode="auto">
          <a:xfrm rot="-1378428">
            <a:off x="1214438" y="1443038"/>
            <a:ext cx="1512887" cy="71437"/>
          </a:xfrm>
          <a:prstGeom prst="rect">
            <a:avLst/>
          </a:prstGeom>
          <a:solidFill>
            <a:schemeClr val="folHlink"/>
          </a:solidFill>
          <a:ln w="9525">
            <a:solidFill>
              <a:schemeClr val="tx1"/>
            </a:solidFill>
            <a:miter lim="800000"/>
            <a:headEnd/>
            <a:tailEnd/>
          </a:ln>
        </p:spPr>
        <p:txBody>
          <a:bodyPr wrap="none" anchor="ctr"/>
          <a:lstStyle/>
          <a:p>
            <a:pPr algn="ctr"/>
            <a:endParaRPr lang="zh-CN" altLang="en-US"/>
          </a:p>
        </p:txBody>
      </p:sp>
      <p:sp>
        <p:nvSpPr>
          <p:cNvPr id="52271" name="Line 47"/>
          <p:cNvSpPr>
            <a:spLocks noChangeShapeType="1"/>
          </p:cNvSpPr>
          <p:nvPr/>
        </p:nvSpPr>
        <p:spPr bwMode="auto">
          <a:xfrm rot="5400000">
            <a:off x="1665287" y="373063"/>
            <a:ext cx="879475" cy="2108200"/>
          </a:xfrm>
          <a:prstGeom prst="line">
            <a:avLst/>
          </a:prstGeom>
          <a:noFill/>
          <a:ln w="28575">
            <a:solidFill>
              <a:schemeClr val="accent2"/>
            </a:solidFill>
            <a:prstDash val="dash"/>
            <a:round/>
            <a:headEnd/>
            <a:tailEnd/>
          </a:ln>
        </p:spPr>
        <p:txBody>
          <a:bodyPr/>
          <a:lstStyle/>
          <a:p>
            <a:endParaRPr lang="zh-CN" altLang="en-US"/>
          </a:p>
        </p:txBody>
      </p:sp>
      <p:grpSp>
        <p:nvGrpSpPr>
          <p:cNvPr id="4" name="Group 48"/>
          <p:cNvGrpSpPr>
            <a:grpSpLocks/>
          </p:cNvGrpSpPr>
          <p:nvPr/>
        </p:nvGrpSpPr>
        <p:grpSpPr bwMode="auto">
          <a:xfrm>
            <a:off x="114300" y="219075"/>
            <a:ext cx="3692525" cy="3049588"/>
            <a:chOff x="3366" y="890"/>
            <a:chExt cx="2326" cy="1921"/>
          </a:xfrm>
        </p:grpSpPr>
        <p:sp>
          <p:nvSpPr>
            <p:cNvPr id="26685" name="Line 49"/>
            <p:cNvSpPr>
              <a:spLocks noChangeShapeType="1"/>
            </p:cNvSpPr>
            <p:nvPr/>
          </p:nvSpPr>
          <p:spPr bwMode="auto">
            <a:xfrm flipV="1">
              <a:off x="3892" y="1162"/>
              <a:ext cx="0" cy="1044"/>
            </a:xfrm>
            <a:prstGeom prst="line">
              <a:avLst/>
            </a:prstGeom>
            <a:noFill/>
            <a:ln w="28575">
              <a:solidFill>
                <a:schemeClr val="tx1"/>
              </a:solidFill>
              <a:round/>
              <a:headEnd/>
              <a:tailEnd type="triangle" w="med" len="med"/>
            </a:ln>
          </p:spPr>
          <p:txBody>
            <a:bodyPr/>
            <a:lstStyle/>
            <a:p>
              <a:endParaRPr lang="zh-CN" altLang="en-US"/>
            </a:p>
          </p:txBody>
        </p:sp>
        <p:sp>
          <p:nvSpPr>
            <p:cNvPr id="26686" name="Line 50"/>
            <p:cNvSpPr>
              <a:spLocks noChangeShapeType="1"/>
            </p:cNvSpPr>
            <p:nvPr/>
          </p:nvSpPr>
          <p:spPr bwMode="auto">
            <a:xfrm>
              <a:off x="3892" y="2206"/>
              <a:ext cx="1437" cy="0"/>
            </a:xfrm>
            <a:prstGeom prst="line">
              <a:avLst/>
            </a:prstGeom>
            <a:noFill/>
            <a:ln w="28575">
              <a:solidFill>
                <a:schemeClr val="tx1"/>
              </a:solidFill>
              <a:round/>
              <a:headEnd/>
              <a:tailEnd type="triangle" w="med" len="med"/>
            </a:ln>
          </p:spPr>
          <p:txBody>
            <a:bodyPr/>
            <a:lstStyle/>
            <a:p>
              <a:endParaRPr lang="zh-CN" altLang="en-US"/>
            </a:p>
          </p:txBody>
        </p:sp>
        <p:sp>
          <p:nvSpPr>
            <p:cNvPr id="26687" name="Line 51"/>
            <p:cNvSpPr>
              <a:spLocks noChangeShapeType="1"/>
            </p:cNvSpPr>
            <p:nvPr/>
          </p:nvSpPr>
          <p:spPr bwMode="auto">
            <a:xfrm flipH="1">
              <a:off x="3483" y="2206"/>
              <a:ext cx="409" cy="409"/>
            </a:xfrm>
            <a:prstGeom prst="line">
              <a:avLst/>
            </a:prstGeom>
            <a:noFill/>
            <a:ln w="28575">
              <a:solidFill>
                <a:schemeClr val="tx1"/>
              </a:solidFill>
              <a:round/>
              <a:headEnd/>
              <a:tailEnd type="triangle" w="med" len="med"/>
            </a:ln>
          </p:spPr>
          <p:txBody>
            <a:bodyPr/>
            <a:lstStyle/>
            <a:p>
              <a:endParaRPr lang="zh-CN" altLang="en-US"/>
            </a:p>
          </p:txBody>
        </p:sp>
        <p:sp>
          <p:nvSpPr>
            <p:cNvPr id="26688" name="Text Box 52"/>
            <p:cNvSpPr txBox="1">
              <a:spLocks noChangeArrowheads="1"/>
            </p:cNvSpPr>
            <p:nvPr/>
          </p:nvSpPr>
          <p:spPr bwMode="auto">
            <a:xfrm>
              <a:off x="5316" y="2024"/>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x</a:t>
              </a:r>
            </a:p>
          </p:txBody>
        </p:sp>
        <p:sp>
          <p:nvSpPr>
            <p:cNvPr id="26689" name="Text Box 53"/>
            <p:cNvSpPr txBox="1">
              <a:spLocks noChangeArrowheads="1"/>
            </p:cNvSpPr>
            <p:nvPr/>
          </p:nvSpPr>
          <p:spPr bwMode="auto">
            <a:xfrm>
              <a:off x="3833" y="890"/>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y</a:t>
              </a:r>
            </a:p>
          </p:txBody>
        </p:sp>
        <p:sp>
          <p:nvSpPr>
            <p:cNvPr id="26690" name="Text Box 54"/>
            <p:cNvSpPr txBox="1">
              <a:spLocks noChangeArrowheads="1"/>
            </p:cNvSpPr>
            <p:nvPr/>
          </p:nvSpPr>
          <p:spPr bwMode="auto">
            <a:xfrm>
              <a:off x="3366" y="2523"/>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z</a:t>
              </a:r>
            </a:p>
          </p:txBody>
        </p:sp>
        <p:sp>
          <p:nvSpPr>
            <p:cNvPr id="26691" name="Text Box 55"/>
            <p:cNvSpPr txBox="1">
              <a:spLocks noChangeArrowheads="1"/>
            </p:cNvSpPr>
            <p:nvPr/>
          </p:nvSpPr>
          <p:spPr bwMode="auto">
            <a:xfrm>
              <a:off x="3801" y="2144"/>
              <a:ext cx="376" cy="288"/>
            </a:xfrm>
            <a:prstGeom prst="rect">
              <a:avLst/>
            </a:prstGeom>
            <a:noFill/>
            <a:ln w="9525">
              <a:noFill/>
              <a:miter lim="800000"/>
              <a:headEnd/>
              <a:tailEnd/>
            </a:ln>
          </p:spPr>
          <p:txBody>
            <a:bodyPr>
              <a:spAutoFit/>
            </a:bodyPr>
            <a:lstStyle/>
            <a:p>
              <a:r>
                <a:rPr lang="en-US" altLang="zh-CN" sz="2400" b="1" i="1">
                  <a:latin typeface="Times New Roman" pitchFamily="18" charset="0"/>
                </a:rPr>
                <a:t>O</a:t>
              </a:r>
            </a:p>
          </p:txBody>
        </p:sp>
      </p:grpSp>
      <p:grpSp>
        <p:nvGrpSpPr>
          <p:cNvPr id="5" name="Group 56"/>
          <p:cNvGrpSpPr>
            <a:grpSpLocks/>
          </p:cNvGrpSpPr>
          <p:nvPr/>
        </p:nvGrpSpPr>
        <p:grpSpPr bwMode="auto">
          <a:xfrm>
            <a:off x="1411288" y="141288"/>
            <a:ext cx="2324100" cy="2022475"/>
            <a:chOff x="4183" y="841"/>
            <a:chExt cx="1464" cy="1274"/>
          </a:xfrm>
        </p:grpSpPr>
        <p:sp>
          <p:nvSpPr>
            <p:cNvPr id="26678" name="Text Box 57"/>
            <p:cNvSpPr txBox="1">
              <a:spLocks noChangeArrowheads="1"/>
            </p:cNvSpPr>
            <p:nvPr/>
          </p:nvSpPr>
          <p:spPr bwMode="auto">
            <a:xfrm>
              <a:off x="4264" y="1489"/>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O’</a:t>
              </a:r>
            </a:p>
          </p:txBody>
        </p:sp>
        <p:sp>
          <p:nvSpPr>
            <p:cNvPr id="26679" name="Line 58"/>
            <p:cNvSpPr>
              <a:spLocks noChangeShapeType="1"/>
            </p:cNvSpPr>
            <p:nvPr/>
          </p:nvSpPr>
          <p:spPr bwMode="auto">
            <a:xfrm flipV="1">
              <a:off x="4514" y="963"/>
              <a:ext cx="0" cy="725"/>
            </a:xfrm>
            <a:prstGeom prst="line">
              <a:avLst/>
            </a:prstGeom>
            <a:noFill/>
            <a:ln w="28575">
              <a:solidFill>
                <a:srgbClr val="FF0000"/>
              </a:solidFill>
              <a:round/>
              <a:headEnd/>
              <a:tailEnd type="triangle" w="med" len="med"/>
            </a:ln>
          </p:spPr>
          <p:txBody>
            <a:bodyPr/>
            <a:lstStyle/>
            <a:p>
              <a:endParaRPr lang="zh-CN" altLang="en-US"/>
            </a:p>
          </p:txBody>
        </p:sp>
        <p:sp>
          <p:nvSpPr>
            <p:cNvPr id="26680" name="Line 59"/>
            <p:cNvSpPr>
              <a:spLocks noChangeShapeType="1"/>
            </p:cNvSpPr>
            <p:nvPr/>
          </p:nvSpPr>
          <p:spPr bwMode="auto">
            <a:xfrm>
              <a:off x="4514" y="1688"/>
              <a:ext cx="802" cy="0"/>
            </a:xfrm>
            <a:prstGeom prst="line">
              <a:avLst/>
            </a:prstGeom>
            <a:noFill/>
            <a:ln w="28575">
              <a:solidFill>
                <a:srgbClr val="FF0000"/>
              </a:solidFill>
              <a:round/>
              <a:headEnd/>
              <a:tailEnd type="triangle" w="med" len="med"/>
            </a:ln>
          </p:spPr>
          <p:txBody>
            <a:bodyPr/>
            <a:lstStyle/>
            <a:p>
              <a:endParaRPr lang="zh-CN" altLang="en-US"/>
            </a:p>
          </p:txBody>
        </p:sp>
        <p:sp>
          <p:nvSpPr>
            <p:cNvPr id="26681" name="Line 60"/>
            <p:cNvSpPr>
              <a:spLocks noChangeShapeType="1"/>
            </p:cNvSpPr>
            <p:nvPr/>
          </p:nvSpPr>
          <p:spPr bwMode="auto">
            <a:xfrm flipH="1">
              <a:off x="4228" y="1688"/>
              <a:ext cx="286" cy="286"/>
            </a:xfrm>
            <a:prstGeom prst="line">
              <a:avLst/>
            </a:prstGeom>
            <a:noFill/>
            <a:ln w="28575">
              <a:solidFill>
                <a:srgbClr val="FF0000"/>
              </a:solidFill>
              <a:round/>
              <a:headEnd/>
              <a:tailEnd type="triangle" w="med" len="med"/>
            </a:ln>
          </p:spPr>
          <p:txBody>
            <a:bodyPr/>
            <a:lstStyle/>
            <a:p>
              <a:endParaRPr lang="zh-CN" altLang="en-US"/>
            </a:p>
          </p:txBody>
        </p:sp>
        <p:sp>
          <p:nvSpPr>
            <p:cNvPr id="26682" name="Text Box 61"/>
            <p:cNvSpPr txBox="1">
              <a:spLocks noChangeArrowheads="1"/>
            </p:cNvSpPr>
            <p:nvPr/>
          </p:nvSpPr>
          <p:spPr bwMode="auto">
            <a:xfrm>
              <a:off x="4532" y="841"/>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y’</a:t>
              </a:r>
            </a:p>
          </p:txBody>
        </p:sp>
        <p:sp>
          <p:nvSpPr>
            <p:cNvPr id="26683" name="Text Box 62"/>
            <p:cNvSpPr txBox="1">
              <a:spLocks noChangeArrowheads="1"/>
            </p:cNvSpPr>
            <p:nvPr/>
          </p:nvSpPr>
          <p:spPr bwMode="auto">
            <a:xfrm>
              <a:off x="4183" y="1884"/>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z’</a:t>
              </a:r>
            </a:p>
          </p:txBody>
        </p:sp>
        <p:sp>
          <p:nvSpPr>
            <p:cNvPr id="26684" name="Text Box 63"/>
            <p:cNvSpPr txBox="1">
              <a:spLocks noChangeArrowheads="1"/>
            </p:cNvSpPr>
            <p:nvPr/>
          </p:nvSpPr>
          <p:spPr bwMode="auto">
            <a:xfrm>
              <a:off x="5271" y="1566"/>
              <a:ext cx="376" cy="231"/>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x’</a:t>
              </a:r>
            </a:p>
          </p:txBody>
        </p:sp>
      </p:grpSp>
      <p:sp>
        <p:nvSpPr>
          <p:cNvPr id="52288" name="Line 64"/>
          <p:cNvSpPr>
            <a:spLocks noChangeShapeType="1"/>
          </p:cNvSpPr>
          <p:nvPr/>
        </p:nvSpPr>
        <p:spPr bwMode="auto">
          <a:xfrm rot="185279" flipV="1">
            <a:off x="960438" y="1452563"/>
            <a:ext cx="971550" cy="860425"/>
          </a:xfrm>
          <a:prstGeom prst="line">
            <a:avLst/>
          </a:prstGeom>
          <a:noFill/>
          <a:ln w="9525">
            <a:solidFill>
              <a:srgbClr val="FF6600"/>
            </a:solidFill>
            <a:round/>
            <a:headEnd/>
            <a:tailEnd type="triangle" w="med" len="med"/>
          </a:ln>
        </p:spPr>
        <p:txBody>
          <a:bodyPr/>
          <a:lstStyle/>
          <a:p>
            <a:endParaRPr lang="zh-CN" altLang="en-US"/>
          </a:p>
        </p:txBody>
      </p:sp>
      <p:sp>
        <p:nvSpPr>
          <p:cNvPr id="52289" name="Arc 65"/>
          <p:cNvSpPr>
            <a:spLocks/>
          </p:cNvSpPr>
          <p:nvPr/>
        </p:nvSpPr>
        <p:spPr bwMode="auto">
          <a:xfrm>
            <a:off x="1935163" y="1357313"/>
            <a:ext cx="144462" cy="7143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accent2"/>
            </a:solidFill>
            <a:round/>
            <a:headEnd/>
            <a:tailEnd/>
          </a:ln>
        </p:spPr>
        <p:txBody>
          <a:bodyPr wrap="none" anchor="ctr"/>
          <a:lstStyle/>
          <a:p>
            <a:pPr algn="ctr"/>
            <a:endParaRPr lang="zh-CN" altLang="en-US"/>
          </a:p>
        </p:txBody>
      </p:sp>
      <p:sp>
        <p:nvSpPr>
          <p:cNvPr id="52290" name="AutoShape 66"/>
          <p:cNvSpPr>
            <a:spLocks noChangeArrowheads="1"/>
          </p:cNvSpPr>
          <p:nvPr/>
        </p:nvSpPr>
        <p:spPr bwMode="auto">
          <a:xfrm>
            <a:off x="1574800" y="1495425"/>
            <a:ext cx="1655763" cy="379413"/>
          </a:xfrm>
          <a:prstGeom prst="parallelogram">
            <a:avLst>
              <a:gd name="adj" fmla="val 109100"/>
            </a:avLst>
          </a:prstGeom>
          <a:solidFill>
            <a:srgbClr val="66CCFF">
              <a:alpha val="59999"/>
            </a:srgbClr>
          </a:solidFill>
          <a:ln w="9525">
            <a:noFill/>
            <a:miter lim="800000"/>
            <a:headEnd/>
            <a:tailEnd/>
          </a:ln>
        </p:spPr>
        <p:txBody>
          <a:bodyPr wrap="none" anchor="ctr"/>
          <a:lstStyle/>
          <a:p>
            <a:pPr algn="ctr"/>
            <a:endParaRPr lang="zh-CN" altLang="en-US"/>
          </a:p>
        </p:txBody>
      </p:sp>
      <p:sp>
        <p:nvSpPr>
          <p:cNvPr id="52291" name="Line 67"/>
          <p:cNvSpPr>
            <a:spLocks noChangeShapeType="1"/>
          </p:cNvSpPr>
          <p:nvPr/>
        </p:nvSpPr>
        <p:spPr bwMode="auto">
          <a:xfrm>
            <a:off x="1935163" y="1489075"/>
            <a:ext cx="936625" cy="250825"/>
          </a:xfrm>
          <a:prstGeom prst="line">
            <a:avLst/>
          </a:prstGeom>
          <a:noFill/>
          <a:ln w="9525">
            <a:solidFill>
              <a:srgbClr val="0000FF"/>
            </a:solidFill>
            <a:prstDash val="dash"/>
            <a:round/>
            <a:headEnd/>
            <a:tailEnd/>
          </a:ln>
        </p:spPr>
        <p:txBody>
          <a:bodyPr/>
          <a:lstStyle/>
          <a:p>
            <a:endParaRPr lang="zh-CN" altLang="en-US"/>
          </a:p>
        </p:txBody>
      </p:sp>
      <p:sp>
        <p:nvSpPr>
          <p:cNvPr id="52292" name="Line 68"/>
          <p:cNvSpPr>
            <a:spLocks noChangeShapeType="1"/>
          </p:cNvSpPr>
          <p:nvPr/>
        </p:nvSpPr>
        <p:spPr bwMode="auto">
          <a:xfrm>
            <a:off x="2779713" y="1146175"/>
            <a:ext cx="0" cy="574675"/>
          </a:xfrm>
          <a:prstGeom prst="line">
            <a:avLst/>
          </a:prstGeom>
          <a:noFill/>
          <a:ln w="9525">
            <a:solidFill>
              <a:schemeClr val="hlink"/>
            </a:solidFill>
            <a:prstDash val="dash"/>
            <a:round/>
            <a:headEnd/>
            <a:tailEnd/>
          </a:ln>
        </p:spPr>
        <p:txBody>
          <a:bodyPr/>
          <a:lstStyle/>
          <a:p>
            <a:endParaRPr lang="zh-CN" altLang="en-US"/>
          </a:p>
        </p:txBody>
      </p:sp>
      <p:sp>
        <p:nvSpPr>
          <p:cNvPr id="52293" name="Arc 69"/>
          <p:cNvSpPr>
            <a:spLocks/>
          </p:cNvSpPr>
          <p:nvPr/>
        </p:nvSpPr>
        <p:spPr bwMode="auto">
          <a:xfrm rot="2590902" flipV="1">
            <a:off x="1917700" y="1466850"/>
            <a:ext cx="142875" cy="14287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FF"/>
            </a:solidFill>
            <a:round/>
            <a:headEnd/>
            <a:tailEnd/>
          </a:ln>
        </p:spPr>
        <p:txBody>
          <a:bodyPr wrap="none" anchor="ctr"/>
          <a:lstStyle/>
          <a:p>
            <a:pPr algn="ctr"/>
            <a:endParaRPr lang="zh-CN" altLang="en-US"/>
          </a:p>
        </p:txBody>
      </p:sp>
      <p:graphicFrame>
        <p:nvGraphicFramePr>
          <p:cNvPr id="52294" name="Object 70"/>
          <p:cNvGraphicFramePr>
            <a:graphicFrameLocks noChangeAspect="1"/>
          </p:cNvGraphicFramePr>
          <p:nvPr/>
        </p:nvGraphicFramePr>
        <p:xfrm>
          <a:off x="1978025" y="1190625"/>
          <a:ext cx="200025" cy="182563"/>
        </p:xfrm>
        <a:graphic>
          <a:graphicData uri="http://schemas.openxmlformats.org/presentationml/2006/ole">
            <p:oleObj spid="_x0000_s26631" name="公式" r:id="rId11" imgW="152280" imgH="139680" progId="Equation.3">
              <p:embed/>
            </p:oleObj>
          </a:graphicData>
        </a:graphic>
      </p:graphicFrame>
      <p:graphicFrame>
        <p:nvGraphicFramePr>
          <p:cNvPr id="52295" name="Object 71"/>
          <p:cNvGraphicFramePr>
            <a:graphicFrameLocks noChangeAspect="1"/>
          </p:cNvGraphicFramePr>
          <p:nvPr/>
        </p:nvGraphicFramePr>
        <p:xfrm>
          <a:off x="1919288" y="1562100"/>
          <a:ext cx="200025" cy="266700"/>
        </p:xfrm>
        <a:graphic>
          <a:graphicData uri="http://schemas.openxmlformats.org/presentationml/2006/ole">
            <p:oleObj spid="_x0000_s26632" name="公式" r:id="rId12" imgW="152280" imgH="203040" progId="Equation.3">
              <p:embed/>
            </p:oleObj>
          </a:graphicData>
        </a:graphic>
      </p:graphicFrame>
      <p:sp>
        <p:nvSpPr>
          <p:cNvPr id="52296" name="Text Box 72"/>
          <p:cNvSpPr txBox="1">
            <a:spLocks noChangeArrowheads="1"/>
          </p:cNvSpPr>
          <p:nvPr/>
        </p:nvSpPr>
        <p:spPr bwMode="auto">
          <a:xfrm>
            <a:off x="1071563" y="1292225"/>
            <a:ext cx="1531937" cy="366713"/>
          </a:xfrm>
          <a:prstGeom prst="rect">
            <a:avLst/>
          </a:prstGeom>
          <a:noFill/>
          <a:ln w="9525">
            <a:noFill/>
            <a:miter lim="800000"/>
            <a:headEnd/>
            <a:tailEnd/>
          </a:ln>
        </p:spPr>
        <p:txBody>
          <a:bodyPr>
            <a:spAutoFit/>
          </a:bodyPr>
          <a:lstStyle/>
          <a:p>
            <a:r>
              <a:rPr lang="en-US" altLang="zh-CN" b="1">
                <a:solidFill>
                  <a:schemeClr val="accent2"/>
                </a:solidFill>
                <a:latin typeface="Times New Roman" pitchFamily="18" charset="0"/>
              </a:rPr>
              <a:t>(</a:t>
            </a:r>
            <a:r>
              <a:rPr lang="en-US" altLang="zh-CN" b="1" i="1">
                <a:solidFill>
                  <a:schemeClr val="accent2"/>
                </a:solidFill>
                <a:latin typeface="Times New Roman" pitchFamily="18" charset="0"/>
              </a:rPr>
              <a:t>x</a:t>
            </a:r>
            <a:r>
              <a:rPr lang="en-US" altLang="zh-CN" b="1">
                <a:solidFill>
                  <a:schemeClr val="accent2"/>
                </a:solidFill>
                <a:latin typeface="Times New Roman" pitchFamily="18" charset="0"/>
              </a:rPr>
              <a:t>, </a:t>
            </a:r>
            <a:r>
              <a:rPr lang="en-US" altLang="zh-CN" b="1" i="1">
                <a:solidFill>
                  <a:schemeClr val="accent2"/>
                </a:solidFill>
                <a:latin typeface="Times New Roman" pitchFamily="18" charset="0"/>
              </a:rPr>
              <a:t>y, z</a:t>
            </a:r>
            <a:r>
              <a:rPr lang="en-US" altLang="zh-CN" b="1">
                <a:solidFill>
                  <a:schemeClr val="accent2"/>
                </a:solidFill>
                <a:latin typeface="Times New Roman" pitchFamily="18" charset="0"/>
              </a:rPr>
              <a:t>)</a:t>
            </a:r>
          </a:p>
        </p:txBody>
      </p:sp>
      <p:sp>
        <p:nvSpPr>
          <p:cNvPr id="52297" name="Text Box 73"/>
          <p:cNvSpPr txBox="1">
            <a:spLocks noChangeArrowheads="1"/>
          </p:cNvSpPr>
          <p:nvPr/>
        </p:nvSpPr>
        <p:spPr bwMode="auto">
          <a:xfrm>
            <a:off x="3716338" y="484188"/>
            <a:ext cx="1531937"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ea typeface="楷体_GB2312" pitchFamily="49" charset="-122"/>
              </a:rPr>
              <a:t>细棒：</a:t>
            </a:r>
          </a:p>
        </p:txBody>
      </p:sp>
      <p:sp>
        <p:nvSpPr>
          <p:cNvPr id="52298" name="Text Box 74"/>
          <p:cNvSpPr txBox="1">
            <a:spLocks noChangeArrowheads="1"/>
          </p:cNvSpPr>
          <p:nvPr/>
        </p:nvSpPr>
        <p:spPr bwMode="auto">
          <a:xfrm>
            <a:off x="3806825" y="1039813"/>
            <a:ext cx="2036763"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确定质心：</a:t>
            </a:r>
          </a:p>
        </p:txBody>
      </p:sp>
      <p:sp>
        <p:nvSpPr>
          <p:cNvPr id="52299" name="Text Box 75"/>
          <p:cNvSpPr txBox="1">
            <a:spLocks noChangeArrowheads="1"/>
          </p:cNvSpPr>
          <p:nvPr/>
        </p:nvSpPr>
        <p:spPr bwMode="auto">
          <a:xfrm>
            <a:off x="5219700" y="1036638"/>
            <a:ext cx="1531938" cy="457200"/>
          </a:xfrm>
          <a:prstGeom prst="rect">
            <a:avLst/>
          </a:prstGeom>
          <a:noFill/>
          <a:ln w="9525">
            <a:noFill/>
            <a:miter lim="800000"/>
            <a:headEnd/>
            <a:tailEnd/>
          </a:ln>
        </p:spPr>
        <p:txBody>
          <a:bodyPr>
            <a:spAutoFit/>
          </a:bodyPr>
          <a:lstStyle/>
          <a:p>
            <a:r>
              <a:rPr lang="en-US" altLang="zh-CN" sz="2400" b="1">
                <a:solidFill>
                  <a:schemeClr val="accent2"/>
                </a:solidFill>
                <a:latin typeface="Times New Roman" pitchFamily="18" charset="0"/>
              </a:rPr>
              <a:t>(</a:t>
            </a:r>
            <a:r>
              <a:rPr lang="en-US" altLang="zh-CN" sz="2400" b="1" i="1">
                <a:solidFill>
                  <a:schemeClr val="accent2"/>
                </a:solidFill>
                <a:latin typeface="Times New Roman" pitchFamily="18" charset="0"/>
              </a:rPr>
              <a:t>x</a:t>
            </a:r>
            <a:r>
              <a:rPr lang="en-US" altLang="zh-CN" sz="2400" b="1">
                <a:solidFill>
                  <a:schemeClr val="accent2"/>
                </a:solidFill>
                <a:latin typeface="Times New Roman" pitchFamily="18" charset="0"/>
              </a:rPr>
              <a:t>, </a:t>
            </a:r>
            <a:r>
              <a:rPr lang="en-US" altLang="zh-CN" sz="2400" b="1" i="1">
                <a:solidFill>
                  <a:schemeClr val="accent2"/>
                </a:solidFill>
                <a:latin typeface="Times New Roman" pitchFamily="18" charset="0"/>
              </a:rPr>
              <a:t>y, z</a:t>
            </a:r>
            <a:r>
              <a:rPr lang="en-US" altLang="zh-CN" sz="2400" b="1">
                <a:solidFill>
                  <a:schemeClr val="accent2"/>
                </a:solidFill>
                <a:latin typeface="Times New Roman" pitchFamily="18" charset="0"/>
              </a:rPr>
              <a:t>)</a:t>
            </a:r>
          </a:p>
        </p:txBody>
      </p:sp>
      <p:sp>
        <p:nvSpPr>
          <p:cNvPr id="52300" name="Text Box 76"/>
          <p:cNvSpPr txBox="1">
            <a:spLocks noChangeArrowheads="1"/>
          </p:cNvSpPr>
          <p:nvPr/>
        </p:nvSpPr>
        <p:spPr bwMode="auto">
          <a:xfrm>
            <a:off x="3827463" y="1587500"/>
            <a:ext cx="2036762"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确定方位：</a:t>
            </a:r>
          </a:p>
        </p:txBody>
      </p:sp>
      <p:graphicFrame>
        <p:nvGraphicFramePr>
          <p:cNvPr id="52301" name="Object 77"/>
          <p:cNvGraphicFramePr>
            <a:graphicFrameLocks noChangeAspect="1"/>
          </p:cNvGraphicFramePr>
          <p:nvPr/>
        </p:nvGraphicFramePr>
        <p:xfrm>
          <a:off x="5364163" y="1658938"/>
          <a:ext cx="781050" cy="366712"/>
        </p:xfrm>
        <a:graphic>
          <a:graphicData uri="http://schemas.openxmlformats.org/presentationml/2006/ole">
            <p:oleObj spid="_x0000_s26633" name="公式" r:id="rId13" imgW="431640" imgH="203040" progId="Equation.3">
              <p:embed/>
            </p:oleObj>
          </a:graphicData>
        </a:graphic>
      </p:graphicFrame>
      <p:sp>
        <p:nvSpPr>
          <p:cNvPr id="52302" name="AutoShape 78"/>
          <p:cNvSpPr>
            <a:spLocks/>
          </p:cNvSpPr>
          <p:nvPr/>
        </p:nvSpPr>
        <p:spPr bwMode="auto">
          <a:xfrm>
            <a:off x="6372225" y="1325563"/>
            <a:ext cx="73025" cy="622300"/>
          </a:xfrm>
          <a:prstGeom prst="rightBrace">
            <a:avLst>
              <a:gd name="adj1" fmla="val 71014"/>
              <a:gd name="adj2" fmla="val 50000"/>
            </a:avLst>
          </a:prstGeom>
          <a:noFill/>
          <a:ln w="31750">
            <a:solidFill>
              <a:srgbClr val="FF0000"/>
            </a:solidFill>
            <a:round/>
            <a:headEnd/>
            <a:tailEnd/>
          </a:ln>
        </p:spPr>
        <p:txBody>
          <a:bodyPr wrap="none" anchor="ctr"/>
          <a:lstStyle/>
          <a:p>
            <a:pPr algn="ctr"/>
            <a:endParaRPr lang="zh-CN" altLang="en-US"/>
          </a:p>
        </p:txBody>
      </p:sp>
      <p:sp>
        <p:nvSpPr>
          <p:cNvPr id="52305" name="Text Box 81"/>
          <p:cNvSpPr txBox="1">
            <a:spLocks noChangeArrowheads="1"/>
          </p:cNvSpPr>
          <p:nvPr/>
        </p:nvSpPr>
        <p:spPr bwMode="auto">
          <a:xfrm>
            <a:off x="6443663" y="1393825"/>
            <a:ext cx="2266950"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自由度</a:t>
            </a:r>
            <a:r>
              <a:rPr lang="zh-CN" altLang="en-US" sz="2400" b="1">
                <a:solidFill>
                  <a:srgbClr val="FF0000"/>
                </a:solidFill>
                <a:latin typeface="Times New Roman" pitchFamily="18" charset="0"/>
                <a:ea typeface="楷体_GB2312" pitchFamily="49" charset="-122"/>
              </a:rPr>
              <a:t> </a:t>
            </a:r>
            <a:r>
              <a:rPr lang="en-US" altLang="zh-CN" sz="2400" b="1" i="1">
                <a:solidFill>
                  <a:srgbClr val="FF0000"/>
                </a:solidFill>
                <a:latin typeface="Times New Roman" pitchFamily="18" charset="0"/>
                <a:ea typeface="楷体_GB2312" pitchFamily="49" charset="-122"/>
              </a:rPr>
              <a:t>i</a:t>
            </a:r>
            <a:r>
              <a:rPr lang="zh-CN" altLang="en-US" sz="2400" b="1">
                <a:solidFill>
                  <a:srgbClr val="FF0000"/>
                </a:solidFill>
                <a:latin typeface="Times New Roman" pitchFamily="18" charset="0"/>
                <a:ea typeface="楷体_GB2312" pitchFamily="49" charset="-122"/>
              </a:rPr>
              <a:t>＝</a:t>
            </a:r>
            <a:r>
              <a:rPr lang="en-US" altLang="zh-CN" sz="2400" b="1">
                <a:solidFill>
                  <a:srgbClr val="FF0000"/>
                </a:solidFill>
                <a:latin typeface="Times New Roman" pitchFamily="18" charset="0"/>
                <a:ea typeface="楷体_GB2312" pitchFamily="49" charset="-122"/>
              </a:rPr>
              <a:t>5</a:t>
            </a:r>
          </a:p>
        </p:txBody>
      </p:sp>
      <p:sp>
        <p:nvSpPr>
          <p:cNvPr id="52306" name="Text Box 82"/>
          <p:cNvSpPr txBox="1">
            <a:spLocks noChangeArrowheads="1"/>
          </p:cNvSpPr>
          <p:nvPr/>
        </p:nvSpPr>
        <p:spPr bwMode="auto">
          <a:xfrm>
            <a:off x="6084888" y="2806700"/>
            <a:ext cx="2305050"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自由度</a:t>
            </a:r>
            <a:r>
              <a:rPr lang="zh-CN" altLang="en-US" sz="2400" b="1">
                <a:solidFill>
                  <a:srgbClr val="FF0000"/>
                </a:solidFill>
                <a:latin typeface="Times New Roman" pitchFamily="18" charset="0"/>
                <a:ea typeface="楷体_GB2312" pitchFamily="49" charset="-122"/>
              </a:rPr>
              <a:t> </a:t>
            </a:r>
            <a:r>
              <a:rPr lang="en-US" altLang="zh-CN" sz="2400" b="1" i="1">
                <a:solidFill>
                  <a:srgbClr val="FF0000"/>
                </a:solidFill>
                <a:latin typeface="Times New Roman" pitchFamily="18" charset="0"/>
                <a:ea typeface="楷体_GB2312" pitchFamily="49" charset="-122"/>
              </a:rPr>
              <a:t>i</a:t>
            </a:r>
            <a:r>
              <a:rPr lang="zh-CN" altLang="en-US" sz="2400" b="1">
                <a:solidFill>
                  <a:srgbClr val="FF0000"/>
                </a:solidFill>
                <a:latin typeface="Times New Roman" pitchFamily="18" charset="0"/>
                <a:ea typeface="楷体_GB2312" pitchFamily="49" charset="-122"/>
              </a:rPr>
              <a:t>＝</a:t>
            </a:r>
            <a:r>
              <a:rPr lang="en-US" altLang="zh-CN" sz="2400" b="1">
                <a:solidFill>
                  <a:srgbClr val="FF0000"/>
                </a:solidFill>
                <a:latin typeface="Times New Roman" pitchFamily="18" charset="0"/>
                <a:ea typeface="楷体_GB2312" pitchFamily="49" charset="-122"/>
              </a:rPr>
              <a:t>6</a:t>
            </a:r>
          </a:p>
        </p:txBody>
      </p:sp>
      <p:sp>
        <p:nvSpPr>
          <p:cNvPr id="52307" name="Text Box 83"/>
          <p:cNvSpPr txBox="1">
            <a:spLocks noChangeArrowheads="1"/>
          </p:cNvSpPr>
          <p:nvPr/>
        </p:nvSpPr>
        <p:spPr bwMode="auto">
          <a:xfrm>
            <a:off x="393700" y="5856288"/>
            <a:ext cx="5819775" cy="461962"/>
          </a:xfrm>
          <a:prstGeom prst="rect">
            <a:avLst/>
          </a:prstGeom>
          <a:noFill/>
          <a:ln w="9525">
            <a:noFill/>
            <a:miter lim="800000"/>
            <a:headEnd/>
            <a:tailEnd/>
          </a:ln>
        </p:spPr>
        <p:txBody>
          <a:bodyPr>
            <a:spAutoFit/>
          </a:bodyPr>
          <a:lstStyle/>
          <a:p>
            <a:pPr>
              <a:buFont typeface="Wingdings" pitchFamily="2" charset="2"/>
              <a:buNone/>
            </a:pPr>
            <a:r>
              <a:rPr lang="zh-CN" altLang="en-US" sz="2400" b="1">
                <a:solidFill>
                  <a:srgbClr val="0000FF"/>
                </a:solidFill>
                <a:latin typeface="Times New Roman" pitchFamily="18" charset="0"/>
                <a:ea typeface="楷体_GB2312" pitchFamily="49" charset="-122"/>
              </a:rPr>
              <a:t>若运动受到限制，则自由度会减少。</a:t>
            </a:r>
          </a:p>
        </p:txBody>
      </p:sp>
      <p:sp>
        <p:nvSpPr>
          <p:cNvPr id="82" name="AutoShape 33"/>
          <p:cNvSpPr>
            <a:spLocks noChangeArrowheads="1"/>
          </p:cNvSpPr>
          <p:nvPr/>
        </p:nvSpPr>
        <p:spPr bwMode="auto">
          <a:xfrm>
            <a:off x="136525" y="5856288"/>
            <a:ext cx="285750" cy="428625"/>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97"/>
                                        </p:tgtEl>
                                        <p:attrNameLst>
                                          <p:attrName>style.visibility</p:attrName>
                                        </p:attrNameLst>
                                      </p:cBhvr>
                                      <p:to>
                                        <p:strVal val="visible"/>
                                      </p:to>
                                    </p:set>
                                    <p:animEffect transition="in" filter="wipe(left)">
                                      <p:cBhvr>
                                        <p:cTn id="7" dur="500"/>
                                        <p:tgtEl>
                                          <p:spTgt spid="522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2270"/>
                                        </p:tgtEl>
                                        <p:attrNameLst>
                                          <p:attrName>style.visibility</p:attrName>
                                        </p:attrNameLst>
                                      </p:cBhvr>
                                      <p:to>
                                        <p:strVal val="visible"/>
                                      </p:to>
                                    </p:set>
                                    <p:animEffect transition="in" filter="wipe(down)">
                                      <p:cBhvr>
                                        <p:cTn id="12" dur="500"/>
                                        <p:tgtEl>
                                          <p:spTgt spid="5227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2288"/>
                                        </p:tgtEl>
                                        <p:attrNameLst>
                                          <p:attrName>style.visibility</p:attrName>
                                        </p:attrNameLst>
                                      </p:cBhvr>
                                      <p:to>
                                        <p:strVal val="visible"/>
                                      </p:to>
                                    </p:set>
                                    <p:animEffect transition="in" filter="wipe(down)">
                                      <p:cBhvr>
                                        <p:cTn id="22" dur="500"/>
                                        <p:tgtEl>
                                          <p:spTgt spid="522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96"/>
                                        </p:tgtEl>
                                        <p:attrNameLst>
                                          <p:attrName>style.visibility</p:attrName>
                                        </p:attrNameLst>
                                      </p:cBhvr>
                                      <p:to>
                                        <p:strVal val="visible"/>
                                      </p:to>
                                    </p:set>
                                    <p:animEffect transition="in" filter="wipe(left)">
                                      <p:cBhvr>
                                        <p:cTn id="27" dur="500"/>
                                        <p:tgtEl>
                                          <p:spTgt spid="522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298"/>
                                        </p:tgtEl>
                                        <p:attrNameLst>
                                          <p:attrName>style.visibility</p:attrName>
                                        </p:attrNameLst>
                                      </p:cBhvr>
                                      <p:to>
                                        <p:strVal val="visible"/>
                                      </p:to>
                                    </p:set>
                                    <p:animEffect transition="in" filter="wipe(left)">
                                      <p:cBhvr>
                                        <p:cTn id="32" dur="500"/>
                                        <p:tgtEl>
                                          <p:spTgt spid="522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99"/>
                                        </p:tgtEl>
                                        <p:attrNameLst>
                                          <p:attrName>style.visibility</p:attrName>
                                        </p:attrNameLst>
                                      </p:cBhvr>
                                      <p:to>
                                        <p:strVal val="visible"/>
                                      </p:to>
                                    </p:set>
                                    <p:animEffect transition="in" filter="wipe(left)">
                                      <p:cBhvr>
                                        <p:cTn id="37" dur="500"/>
                                        <p:tgtEl>
                                          <p:spTgt spid="5229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ox(ou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2271"/>
                                        </p:tgtEl>
                                        <p:attrNameLst>
                                          <p:attrName>style.visibility</p:attrName>
                                        </p:attrNameLst>
                                      </p:cBhvr>
                                      <p:to>
                                        <p:strVal val="visible"/>
                                      </p:to>
                                    </p:set>
                                    <p:animEffect transition="in" filter="wipe(down)">
                                      <p:cBhvr>
                                        <p:cTn id="47" dur="500"/>
                                        <p:tgtEl>
                                          <p:spTgt spid="5227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2289"/>
                                        </p:tgtEl>
                                        <p:attrNameLst>
                                          <p:attrName>style.visibility</p:attrName>
                                        </p:attrNameLst>
                                      </p:cBhvr>
                                      <p:to>
                                        <p:strVal val="visible"/>
                                      </p:to>
                                    </p:set>
                                    <p:animEffect transition="in" filter="wipe(up)">
                                      <p:cBhvr>
                                        <p:cTn id="52" dur="500"/>
                                        <p:tgtEl>
                                          <p:spTgt spid="5228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2294"/>
                                        </p:tgtEl>
                                        <p:attrNameLst>
                                          <p:attrName>style.visibility</p:attrName>
                                        </p:attrNameLst>
                                      </p:cBhvr>
                                      <p:to>
                                        <p:strVal val="visible"/>
                                      </p:to>
                                    </p:set>
                                    <p:animEffect transition="in" filter="wipe(up)">
                                      <p:cBhvr>
                                        <p:cTn id="57" dur="500"/>
                                        <p:tgtEl>
                                          <p:spTgt spid="5229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2292"/>
                                        </p:tgtEl>
                                        <p:attrNameLst>
                                          <p:attrName>style.visibility</p:attrName>
                                        </p:attrNameLst>
                                      </p:cBhvr>
                                      <p:to>
                                        <p:strVal val="visible"/>
                                      </p:to>
                                    </p:set>
                                    <p:animEffect transition="in" filter="wipe(up)">
                                      <p:cBhvr>
                                        <p:cTn id="62" dur="500"/>
                                        <p:tgtEl>
                                          <p:spTgt spid="5229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52290"/>
                                        </p:tgtEl>
                                        <p:attrNameLst>
                                          <p:attrName>style.visibility</p:attrName>
                                        </p:attrNameLst>
                                      </p:cBhvr>
                                      <p:to>
                                        <p:strVal val="visible"/>
                                      </p:to>
                                    </p:set>
                                    <p:animEffect transition="in" filter="wipe(up)">
                                      <p:cBhvr>
                                        <p:cTn id="67" dur="500"/>
                                        <p:tgtEl>
                                          <p:spTgt spid="5229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52291"/>
                                        </p:tgtEl>
                                        <p:attrNameLst>
                                          <p:attrName>style.visibility</p:attrName>
                                        </p:attrNameLst>
                                      </p:cBhvr>
                                      <p:to>
                                        <p:strVal val="visible"/>
                                      </p:to>
                                    </p:set>
                                    <p:animEffect transition="in" filter="wipe(up)">
                                      <p:cBhvr>
                                        <p:cTn id="72" dur="500"/>
                                        <p:tgtEl>
                                          <p:spTgt spid="5229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52293"/>
                                        </p:tgtEl>
                                        <p:attrNameLst>
                                          <p:attrName>style.visibility</p:attrName>
                                        </p:attrNameLst>
                                      </p:cBhvr>
                                      <p:to>
                                        <p:strVal val="visible"/>
                                      </p:to>
                                    </p:set>
                                    <p:animEffect transition="in" filter="wipe(down)">
                                      <p:cBhvr>
                                        <p:cTn id="77" dur="500"/>
                                        <p:tgtEl>
                                          <p:spTgt spid="5229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2295"/>
                                        </p:tgtEl>
                                        <p:attrNameLst>
                                          <p:attrName>style.visibility</p:attrName>
                                        </p:attrNameLst>
                                      </p:cBhvr>
                                      <p:to>
                                        <p:strVal val="visible"/>
                                      </p:to>
                                    </p:set>
                                    <p:animEffect transition="in" filter="wipe(down)">
                                      <p:cBhvr>
                                        <p:cTn id="82" dur="500"/>
                                        <p:tgtEl>
                                          <p:spTgt spid="5229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2300"/>
                                        </p:tgtEl>
                                        <p:attrNameLst>
                                          <p:attrName>style.visibility</p:attrName>
                                        </p:attrNameLst>
                                      </p:cBhvr>
                                      <p:to>
                                        <p:strVal val="visible"/>
                                      </p:to>
                                    </p:set>
                                    <p:animEffect transition="in" filter="wipe(left)">
                                      <p:cBhvr>
                                        <p:cTn id="87" dur="500"/>
                                        <p:tgtEl>
                                          <p:spTgt spid="5230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52301"/>
                                        </p:tgtEl>
                                        <p:attrNameLst>
                                          <p:attrName>style.visibility</p:attrName>
                                        </p:attrNameLst>
                                      </p:cBhvr>
                                      <p:to>
                                        <p:strVal val="visible"/>
                                      </p:to>
                                    </p:set>
                                    <p:animEffect transition="in" filter="wipe(left)">
                                      <p:cBhvr>
                                        <p:cTn id="92" dur="500"/>
                                        <p:tgtEl>
                                          <p:spTgt spid="52301"/>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52302"/>
                                        </p:tgtEl>
                                        <p:attrNameLst>
                                          <p:attrName>style.visibility</p:attrName>
                                        </p:attrNameLst>
                                      </p:cBhvr>
                                      <p:to>
                                        <p:strVal val="visible"/>
                                      </p:to>
                                    </p:set>
                                    <p:animEffect transition="in" filter="blinds(horizontal)">
                                      <p:cBhvr>
                                        <p:cTn id="97" dur="500"/>
                                        <p:tgtEl>
                                          <p:spTgt spid="5230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2305"/>
                                        </p:tgtEl>
                                        <p:attrNameLst>
                                          <p:attrName>style.visibility</p:attrName>
                                        </p:attrNameLst>
                                      </p:cBhvr>
                                      <p:to>
                                        <p:strVal val="visible"/>
                                      </p:to>
                                    </p:set>
                                    <p:animEffect transition="in" filter="wipe(left)">
                                      <p:cBhvr>
                                        <p:cTn id="102" dur="500"/>
                                        <p:tgtEl>
                                          <p:spTgt spid="5230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2244"/>
                                        </p:tgtEl>
                                        <p:attrNameLst>
                                          <p:attrName>style.visibility</p:attrName>
                                        </p:attrNameLst>
                                      </p:cBhvr>
                                      <p:to>
                                        <p:strVal val="visible"/>
                                      </p:to>
                                    </p:set>
                                    <p:animEffect transition="in" filter="wipe(left)">
                                      <p:cBhvr>
                                        <p:cTn id="107" dur="500"/>
                                        <p:tgtEl>
                                          <p:spTgt spid="52244"/>
                                        </p:tgtEl>
                                      </p:cBhvr>
                                    </p:animEffect>
                                  </p:child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nodeType="clickEffect">
                                  <p:stCondLst>
                                    <p:cond delay="0"/>
                                  </p:stCondLst>
                                  <p:childTnLst>
                                    <p:set>
                                      <p:cBhvr>
                                        <p:cTn id="111" dur="1" fill="hold">
                                          <p:stCondLst>
                                            <p:cond delay="0"/>
                                          </p:stCondLst>
                                        </p:cTn>
                                        <p:tgtEl>
                                          <p:spTgt spid="52261"/>
                                        </p:tgtEl>
                                        <p:attrNameLst>
                                          <p:attrName>style.visibility</p:attrName>
                                        </p:attrNameLst>
                                      </p:cBhvr>
                                      <p:to>
                                        <p:strVal val="visible"/>
                                      </p:to>
                                    </p:set>
                                    <p:animEffect transition="in" filter="box(out)">
                                      <p:cBhvr>
                                        <p:cTn id="112" dur="500"/>
                                        <p:tgtEl>
                                          <p:spTgt spid="5226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2262"/>
                                        </p:tgtEl>
                                        <p:attrNameLst>
                                          <p:attrName>style.visibility</p:attrName>
                                        </p:attrNameLst>
                                      </p:cBhvr>
                                      <p:to>
                                        <p:strVal val="visible"/>
                                      </p:to>
                                    </p:set>
                                    <p:animEffect transition="in" filter="wipe(left)">
                                      <p:cBhvr>
                                        <p:cTn id="117" dur="500"/>
                                        <p:tgtEl>
                                          <p:spTgt spid="52262"/>
                                        </p:tgtEl>
                                      </p:cBhvr>
                                    </p:animEffect>
                                  </p:childTnLst>
                                </p:cTn>
                              </p:par>
                            </p:childTnLst>
                          </p:cTn>
                        </p:par>
                      </p:childTnLst>
                    </p:cTn>
                  </p:par>
                  <p:par>
                    <p:cTn id="118" fill="hold">
                      <p:stCondLst>
                        <p:cond delay="indefinite"/>
                      </p:stCondLst>
                      <p:childTnLst>
                        <p:par>
                          <p:cTn id="119" fill="hold">
                            <p:stCondLst>
                              <p:cond delay="0"/>
                            </p:stCondLst>
                            <p:childTnLst>
                              <p:par>
                                <p:cTn id="120" presetID="30" presetClass="entr" presetSubtype="0" fill="hold" nodeType="clickEffect">
                                  <p:stCondLst>
                                    <p:cond delay="0"/>
                                  </p:stCondLst>
                                  <p:childTnLst>
                                    <p:set>
                                      <p:cBhvr>
                                        <p:cTn id="121" dur="1" fill="hold">
                                          <p:stCondLst>
                                            <p:cond delay="0"/>
                                          </p:stCondLst>
                                        </p:cTn>
                                        <p:tgtEl>
                                          <p:spTgt spid="52226"/>
                                        </p:tgtEl>
                                        <p:attrNameLst>
                                          <p:attrName>style.visibility</p:attrName>
                                        </p:attrNameLst>
                                      </p:cBhvr>
                                      <p:to>
                                        <p:strVal val="visible"/>
                                      </p:to>
                                    </p:set>
                                    <p:animEffect transition="in" filter="fade">
                                      <p:cBhvr>
                                        <p:cTn id="122" dur="800" decel="100000"/>
                                        <p:tgtEl>
                                          <p:spTgt spid="52226"/>
                                        </p:tgtEl>
                                      </p:cBhvr>
                                    </p:animEffect>
                                    <p:anim calcmode="lin" valueType="num">
                                      <p:cBhvr>
                                        <p:cTn id="123" dur="800" decel="100000" fill="hold"/>
                                        <p:tgtEl>
                                          <p:spTgt spid="52226"/>
                                        </p:tgtEl>
                                        <p:attrNameLst>
                                          <p:attrName>style.rotation</p:attrName>
                                        </p:attrNameLst>
                                      </p:cBhvr>
                                      <p:tavLst>
                                        <p:tav tm="0">
                                          <p:val>
                                            <p:fltVal val="-90"/>
                                          </p:val>
                                        </p:tav>
                                        <p:tav tm="100000">
                                          <p:val>
                                            <p:fltVal val="0"/>
                                          </p:val>
                                        </p:tav>
                                      </p:tavLst>
                                    </p:anim>
                                    <p:anim calcmode="lin" valueType="num">
                                      <p:cBhvr>
                                        <p:cTn id="124" dur="800" decel="100000" fill="hold"/>
                                        <p:tgtEl>
                                          <p:spTgt spid="52226"/>
                                        </p:tgtEl>
                                        <p:attrNameLst>
                                          <p:attrName>ppt_x</p:attrName>
                                        </p:attrNameLst>
                                      </p:cBhvr>
                                      <p:tavLst>
                                        <p:tav tm="0">
                                          <p:val>
                                            <p:strVal val="#ppt_x+0.4"/>
                                          </p:val>
                                        </p:tav>
                                        <p:tav tm="100000">
                                          <p:val>
                                            <p:strVal val="#ppt_x-0.05"/>
                                          </p:val>
                                        </p:tav>
                                      </p:tavLst>
                                    </p:anim>
                                    <p:anim calcmode="lin" valueType="num">
                                      <p:cBhvr>
                                        <p:cTn id="125" dur="800" decel="100000" fill="hold"/>
                                        <p:tgtEl>
                                          <p:spTgt spid="52226"/>
                                        </p:tgtEl>
                                        <p:attrNameLst>
                                          <p:attrName>ppt_y</p:attrName>
                                        </p:attrNameLst>
                                      </p:cBhvr>
                                      <p:tavLst>
                                        <p:tav tm="0">
                                          <p:val>
                                            <p:strVal val="#ppt_y-0.4"/>
                                          </p:val>
                                        </p:tav>
                                        <p:tav tm="100000">
                                          <p:val>
                                            <p:strVal val="#ppt_y+0.1"/>
                                          </p:val>
                                        </p:tav>
                                      </p:tavLst>
                                    </p:anim>
                                    <p:anim calcmode="lin" valueType="num">
                                      <p:cBhvr>
                                        <p:cTn id="126" dur="200" accel="100000" fill="hold">
                                          <p:stCondLst>
                                            <p:cond delay="800"/>
                                          </p:stCondLst>
                                        </p:cTn>
                                        <p:tgtEl>
                                          <p:spTgt spid="52226"/>
                                        </p:tgtEl>
                                        <p:attrNameLst>
                                          <p:attrName>ppt_x</p:attrName>
                                        </p:attrNameLst>
                                      </p:cBhvr>
                                      <p:tavLst>
                                        <p:tav tm="0">
                                          <p:val>
                                            <p:strVal val="#ppt_x-0.05"/>
                                          </p:val>
                                        </p:tav>
                                        <p:tav tm="100000">
                                          <p:val>
                                            <p:strVal val="#ppt_x"/>
                                          </p:val>
                                        </p:tav>
                                      </p:tavLst>
                                    </p:anim>
                                    <p:anim calcmode="lin" valueType="num">
                                      <p:cBhvr>
                                        <p:cTn id="127" dur="200" accel="100000" fill="hold">
                                          <p:stCondLst>
                                            <p:cond delay="800"/>
                                          </p:stCondLst>
                                        </p:cTn>
                                        <p:tgtEl>
                                          <p:spTgt spid="52226"/>
                                        </p:tgtEl>
                                        <p:attrNameLst>
                                          <p:attrName>ppt_y</p:attrName>
                                        </p:attrNameLst>
                                      </p:cBhvr>
                                      <p:tavLst>
                                        <p:tav tm="0">
                                          <p:val>
                                            <p:strVal val="#ppt_y+0.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52246"/>
                                        </p:tgtEl>
                                        <p:attrNameLst>
                                          <p:attrName>style.visibility</p:attrName>
                                        </p:attrNameLst>
                                      </p:cBhvr>
                                      <p:to>
                                        <p:strVal val="visible"/>
                                      </p:to>
                                    </p:set>
                                    <p:animEffect transition="in" filter="wipe(left)">
                                      <p:cBhvr>
                                        <p:cTn id="132" dur="500"/>
                                        <p:tgtEl>
                                          <p:spTgt spid="52246"/>
                                        </p:tgtEl>
                                      </p:cBhvr>
                                    </p:animEffect>
                                  </p:childTnLst>
                                </p:cTn>
                              </p:par>
                            </p:childTnLst>
                          </p:cTn>
                        </p:par>
                      </p:childTnLst>
                    </p:cTn>
                  </p:par>
                  <p:par>
                    <p:cTn id="133" fill="hold">
                      <p:stCondLst>
                        <p:cond delay="indefinite"/>
                      </p:stCondLst>
                      <p:childTnLst>
                        <p:par>
                          <p:cTn id="134" fill="hold">
                            <p:stCondLst>
                              <p:cond delay="0"/>
                            </p:stCondLst>
                            <p:childTnLst>
                              <p:par>
                                <p:cTn id="135" presetID="4" presetClass="entr" presetSubtype="32" fill="hold" nodeType="clickEffect">
                                  <p:stCondLst>
                                    <p:cond delay="0"/>
                                  </p:stCondLst>
                                  <p:childTnLst>
                                    <p:set>
                                      <p:cBhvr>
                                        <p:cTn id="136" dur="1" fill="hold">
                                          <p:stCondLst>
                                            <p:cond delay="0"/>
                                          </p:stCondLst>
                                        </p:cTn>
                                        <p:tgtEl>
                                          <p:spTgt spid="2"/>
                                        </p:tgtEl>
                                        <p:attrNameLst>
                                          <p:attrName>style.visibility</p:attrName>
                                        </p:attrNameLst>
                                      </p:cBhvr>
                                      <p:to>
                                        <p:strVal val="visible"/>
                                      </p:to>
                                    </p:set>
                                    <p:animEffect transition="in" filter="box(out)">
                                      <p:cBhvr>
                                        <p:cTn id="137" dur="500"/>
                                        <p:tgtEl>
                                          <p:spTgt spid="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52245"/>
                                        </p:tgtEl>
                                        <p:attrNameLst>
                                          <p:attrName>style.visibility</p:attrName>
                                        </p:attrNameLst>
                                      </p:cBhvr>
                                      <p:to>
                                        <p:strVal val="visible"/>
                                      </p:to>
                                    </p:set>
                                    <p:animEffect transition="in" filter="wipe(left)">
                                      <p:cBhvr>
                                        <p:cTn id="142" dur="500"/>
                                        <p:tgtEl>
                                          <p:spTgt spid="52245"/>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52269"/>
                                        </p:tgtEl>
                                        <p:attrNameLst>
                                          <p:attrName>style.visibility</p:attrName>
                                        </p:attrNameLst>
                                      </p:cBhvr>
                                      <p:to>
                                        <p:strVal val="visible"/>
                                      </p:to>
                                    </p:set>
                                    <p:animEffect transition="in" filter="wipe(left)">
                                      <p:cBhvr>
                                        <p:cTn id="147" dur="500"/>
                                        <p:tgtEl>
                                          <p:spTgt spid="52269"/>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52247"/>
                                        </p:tgtEl>
                                        <p:attrNameLst>
                                          <p:attrName>style.visibility</p:attrName>
                                        </p:attrNameLst>
                                      </p:cBhvr>
                                      <p:to>
                                        <p:strVal val="visible"/>
                                      </p:to>
                                    </p:set>
                                    <p:animEffect transition="in" filter="wipe(left)">
                                      <p:cBhvr>
                                        <p:cTn id="152" dur="500"/>
                                        <p:tgtEl>
                                          <p:spTgt spid="52247"/>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52248"/>
                                        </p:tgtEl>
                                        <p:attrNameLst>
                                          <p:attrName>style.visibility</p:attrName>
                                        </p:attrNameLst>
                                      </p:cBhvr>
                                      <p:to>
                                        <p:strVal val="visible"/>
                                      </p:to>
                                    </p:set>
                                    <p:animEffect transition="in" filter="wipe(left)">
                                      <p:cBhvr>
                                        <p:cTn id="157" dur="500"/>
                                        <p:tgtEl>
                                          <p:spTgt spid="52248"/>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xit" presetSubtype="0" fill="hold" grpId="1" nodeType="clickEffect">
                                  <p:stCondLst>
                                    <p:cond delay="0"/>
                                  </p:stCondLst>
                                  <p:childTnLst>
                                    <p:set>
                                      <p:cBhvr>
                                        <p:cTn id="161" dur="1" fill="hold">
                                          <p:stCondLst>
                                            <p:cond delay="0"/>
                                          </p:stCondLst>
                                        </p:cTn>
                                        <p:tgtEl>
                                          <p:spTgt spid="52245"/>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1" nodeType="clickEffect">
                                  <p:stCondLst>
                                    <p:cond delay="0"/>
                                  </p:stCondLst>
                                  <p:childTnLst>
                                    <p:set>
                                      <p:cBhvr>
                                        <p:cTn id="165" dur="1" fill="hold">
                                          <p:stCondLst>
                                            <p:cond delay="0"/>
                                          </p:stCondLst>
                                        </p:cTn>
                                        <p:tgtEl>
                                          <p:spTgt spid="52269"/>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4" presetClass="entr" presetSubtype="32" fill="hold" nodeType="clickEffect">
                                  <p:stCondLst>
                                    <p:cond delay="0"/>
                                  </p:stCondLst>
                                  <p:childTnLst>
                                    <p:set>
                                      <p:cBhvr>
                                        <p:cTn id="169" dur="1" fill="hold">
                                          <p:stCondLst>
                                            <p:cond delay="0"/>
                                          </p:stCondLst>
                                        </p:cTn>
                                        <p:tgtEl>
                                          <p:spTgt spid="3"/>
                                        </p:tgtEl>
                                        <p:attrNameLst>
                                          <p:attrName>style.visibility</p:attrName>
                                        </p:attrNameLst>
                                      </p:cBhvr>
                                      <p:to>
                                        <p:strVal val="visible"/>
                                      </p:to>
                                    </p:set>
                                    <p:animEffect transition="in" filter="box(out)">
                                      <p:cBhvr>
                                        <p:cTn id="170" dur="500"/>
                                        <p:tgtEl>
                                          <p:spTgt spid="3"/>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52227"/>
                                        </p:tgtEl>
                                        <p:attrNameLst>
                                          <p:attrName>style.visibility</p:attrName>
                                        </p:attrNameLst>
                                      </p:cBhvr>
                                      <p:to>
                                        <p:strVal val="visible"/>
                                      </p:to>
                                    </p:set>
                                    <p:animEffect transition="in" filter="wipe(down)">
                                      <p:cBhvr>
                                        <p:cTn id="175" dur="500"/>
                                        <p:tgtEl>
                                          <p:spTgt spid="52227"/>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1" fill="hold" grpId="0" nodeType="clickEffect">
                                  <p:stCondLst>
                                    <p:cond delay="0"/>
                                  </p:stCondLst>
                                  <p:childTnLst>
                                    <p:set>
                                      <p:cBhvr>
                                        <p:cTn id="179" dur="1" fill="hold">
                                          <p:stCondLst>
                                            <p:cond delay="0"/>
                                          </p:stCondLst>
                                        </p:cTn>
                                        <p:tgtEl>
                                          <p:spTgt spid="52249"/>
                                        </p:tgtEl>
                                        <p:attrNameLst>
                                          <p:attrName>style.visibility</p:attrName>
                                        </p:attrNameLst>
                                      </p:cBhvr>
                                      <p:to>
                                        <p:strVal val="visible"/>
                                      </p:to>
                                    </p:set>
                                    <p:animEffect transition="in" filter="wipe(up)">
                                      <p:cBhvr>
                                        <p:cTn id="180" dur="500"/>
                                        <p:tgtEl>
                                          <p:spTgt spid="52249"/>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1" fill="hold" nodeType="clickEffect">
                                  <p:stCondLst>
                                    <p:cond delay="0"/>
                                  </p:stCondLst>
                                  <p:childTnLst>
                                    <p:set>
                                      <p:cBhvr>
                                        <p:cTn id="184" dur="1" fill="hold">
                                          <p:stCondLst>
                                            <p:cond delay="0"/>
                                          </p:stCondLst>
                                        </p:cTn>
                                        <p:tgtEl>
                                          <p:spTgt spid="52254"/>
                                        </p:tgtEl>
                                        <p:attrNameLst>
                                          <p:attrName>style.visibility</p:attrName>
                                        </p:attrNameLst>
                                      </p:cBhvr>
                                      <p:to>
                                        <p:strVal val="visible"/>
                                      </p:to>
                                    </p:set>
                                    <p:animEffect transition="in" filter="wipe(up)">
                                      <p:cBhvr>
                                        <p:cTn id="185" dur="500"/>
                                        <p:tgtEl>
                                          <p:spTgt spid="52254"/>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52250"/>
                                        </p:tgtEl>
                                        <p:attrNameLst>
                                          <p:attrName>style.visibility</p:attrName>
                                        </p:attrNameLst>
                                      </p:cBhvr>
                                      <p:to>
                                        <p:strVal val="visible"/>
                                      </p:to>
                                    </p:set>
                                    <p:animEffect transition="in" filter="wipe(left)">
                                      <p:cBhvr>
                                        <p:cTn id="190" dur="500"/>
                                        <p:tgtEl>
                                          <p:spTgt spid="52250"/>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1" fill="hold" grpId="0" nodeType="clickEffect">
                                  <p:stCondLst>
                                    <p:cond delay="0"/>
                                  </p:stCondLst>
                                  <p:childTnLst>
                                    <p:set>
                                      <p:cBhvr>
                                        <p:cTn id="194" dur="1" fill="hold">
                                          <p:stCondLst>
                                            <p:cond delay="0"/>
                                          </p:stCondLst>
                                        </p:cTn>
                                        <p:tgtEl>
                                          <p:spTgt spid="52252"/>
                                        </p:tgtEl>
                                        <p:attrNameLst>
                                          <p:attrName>style.visibility</p:attrName>
                                        </p:attrNameLst>
                                      </p:cBhvr>
                                      <p:to>
                                        <p:strVal val="visible"/>
                                      </p:to>
                                    </p:set>
                                    <p:animEffect transition="in" filter="wipe(up)">
                                      <p:cBhvr>
                                        <p:cTn id="195" dur="500"/>
                                        <p:tgtEl>
                                          <p:spTgt spid="52252"/>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52251"/>
                                        </p:tgtEl>
                                        <p:attrNameLst>
                                          <p:attrName>style.visibility</p:attrName>
                                        </p:attrNameLst>
                                      </p:cBhvr>
                                      <p:to>
                                        <p:strVal val="visible"/>
                                      </p:to>
                                    </p:set>
                                    <p:animEffect transition="in" filter="wipe(left)">
                                      <p:cBhvr>
                                        <p:cTn id="200" dur="500"/>
                                        <p:tgtEl>
                                          <p:spTgt spid="52251"/>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4" fill="hold" grpId="0" nodeType="clickEffect">
                                  <p:stCondLst>
                                    <p:cond delay="0"/>
                                  </p:stCondLst>
                                  <p:childTnLst>
                                    <p:set>
                                      <p:cBhvr>
                                        <p:cTn id="204" dur="1" fill="hold">
                                          <p:stCondLst>
                                            <p:cond delay="0"/>
                                          </p:stCondLst>
                                        </p:cTn>
                                        <p:tgtEl>
                                          <p:spTgt spid="52253"/>
                                        </p:tgtEl>
                                        <p:attrNameLst>
                                          <p:attrName>style.visibility</p:attrName>
                                        </p:attrNameLst>
                                      </p:cBhvr>
                                      <p:to>
                                        <p:strVal val="visible"/>
                                      </p:to>
                                    </p:set>
                                    <p:animEffect transition="in" filter="wipe(down)">
                                      <p:cBhvr>
                                        <p:cTn id="205" dur="500"/>
                                        <p:tgtEl>
                                          <p:spTgt spid="52253"/>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4" fill="hold" nodeType="clickEffect">
                                  <p:stCondLst>
                                    <p:cond delay="0"/>
                                  </p:stCondLst>
                                  <p:childTnLst>
                                    <p:set>
                                      <p:cBhvr>
                                        <p:cTn id="209" dur="1" fill="hold">
                                          <p:stCondLst>
                                            <p:cond delay="0"/>
                                          </p:stCondLst>
                                        </p:cTn>
                                        <p:tgtEl>
                                          <p:spTgt spid="52255"/>
                                        </p:tgtEl>
                                        <p:attrNameLst>
                                          <p:attrName>style.visibility</p:attrName>
                                        </p:attrNameLst>
                                      </p:cBhvr>
                                      <p:to>
                                        <p:strVal val="visible"/>
                                      </p:to>
                                    </p:set>
                                    <p:animEffect transition="in" filter="wipe(down)">
                                      <p:cBhvr>
                                        <p:cTn id="210" dur="500"/>
                                        <p:tgtEl>
                                          <p:spTgt spid="52255"/>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8" fill="hold" nodeType="clickEffect">
                                  <p:stCondLst>
                                    <p:cond delay="0"/>
                                  </p:stCondLst>
                                  <p:childTnLst>
                                    <p:set>
                                      <p:cBhvr>
                                        <p:cTn id="214" dur="1" fill="hold">
                                          <p:stCondLst>
                                            <p:cond delay="0"/>
                                          </p:stCondLst>
                                        </p:cTn>
                                        <p:tgtEl>
                                          <p:spTgt spid="52256"/>
                                        </p:tgtEl>
                                        <p:attrNameLst>
                                          <p:attrName>style.visibility</p:attrName>
                                        </p:attrNameLst>
                                      </p:cBhvr>
                                      <p:to>
                                        <p:strVal val="visible"/>
                                      </p:to>
                                    </p:set>
                                    <p:animEffect transition="in" filter="wipe(left)">
                                      <p:cBhvr>
                                        <p:cTn id="215" dur="500"/>
                                        <p:tgtEl>
                                          <p:spTgt spid="52256"/>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8" fill="hold" grpId="0" nodeType="clickEffect">
                                  <p:stCondLst>
                                    <p:cond delay="0"/>
                                  </p:stCondLst>
                                  <p:childTnLst>
                                    <p:set>
                                      <p:cBhvr>
                                        <p:cTn id="219" dur="1" fill="hold">
                                          <p:stCondLst>
                                            <p:cond delay="0"/>
                                          </p:stCondLst>
                                        </p:cTn>
                                        <p:tgtEl>
                                          <p:spTgt spid="52257"/>
                                        </p:tgtEl>
                                        <p:attrNameLst>
                                          <p:attrName>style.visibility</p:attrName>
                                        </p:attrNameLst>
                                      </p:cBhvr>
                                      <p:to>
                                        <p:strVal val="visible"/>
                                      </p:to>
                                    </p:set>
                                    <p:animEffect transition="in" filter="wipe(left)">
                                      <p:cBhvr>
                                        <p:cTn id="220" dur="500"/>
                                        <p:tgtEl>
                                          <p:spTgt spid="52257"/>
                                        </p:tgtEl>
                                      </p:cBhvr>
                                    </p:animEffect>
                                  </p:childTnLst>
                                </p:cTn>
                              </p:par>
                            </p:childTnLst>
                          </p:cTn>
                        </p:par>
                      </p:childTnLst>
                    </p:cTn>
                  </p:par>
                  <p:par>
                    <p:cTn id="221" fill="hold">
                      <p:stCondLst>
                        <p:cond delay="indefinite"/>
                      </p:stCondLst>
                      <p:childTnLst>
                        <p:par>
                          <p:cTn id="222" fill="hold">
                            <p:stCondLst>
                              <p:cond delay="0"/>
                            </p:stCondLst>
                            <p:childTnLst>
                              <p:par>
                                <p:cTn id="223" presetID="1" presetClass="exit" presetSubtype="0" fill="hold" grpId="1" nodeType="clickEffect">
                                  <p:stCondLst>
                                    <p:cond delay="0"/>
                                  </p:stCondLst>
                                  <p:childTnLst>
                                    <p:set>
                                      <p:cBhvr>
                                        <p:cTn id="224" dur="1" fill="hold">
                                          <p:stCondLst>
                                            <p:cond delay="0"/>
                                          </p:stCondLst>
                                        </p:cTn>
                                        <p:tgtEl>
                                          <p:spTgt spid="52253"/>
                                        </p:tgtEl>
                                        <p:attrNameLst>
                                          <p:attrName>style.visibility</p:attrName>
                                        </p:attrNameLst>
                                      </p:cBhvr>
                                      <p:to>
                                        <p:strVal val="hidden"/>
                                      </p:to>
                                    </p:set>
                                  </p:childTnLst>
                                </p:cTn>
                              </p:par>
                            </p:childTnLst>
                          </p:cTn>
                        </p:par>
                      </p:childTnLst>
                    </p:cTn>
                  </p:par>
                  <p:par>
                    <p:cTn id="225" fill="hold">
                      <p:stCondLst>
                        <p:cond delay="indefinite"/>
                      </p:stCondLst>
                      <p:childTnLst>
                        <p:par>
                          <p:cTn id="226" fill="hold">
                            <p:stCondLst>
                              <p:cond delay="0"/>
                            </p:stCondLst>
                            <p:childTnLst>
                              <p:par>
                                <p:cTn id="227" presetID="1" presetClass="exit" presetSubtype="0" fill="hold" nodeType="clickEffect">
                                  <p:stCondLst>
                                    <p:cond delay="0"/>
                                  </p:stCondLst>
                                  <p:childTnLst>
                                    <p:set>
                                      <p:cBhvr>
                                        <p:cTn id="228" dur="1" fill="hold">
                                          <p:stCondLst>
                                            <p:cond delay="0"/>
                                          </p:stCondLst>
                                        </p:cTn>
                                        <p:tgtEl>
                                          <p:spTgt spid="52255"/>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1" presetClass="exit" presetSubtype="0" fill="hold" grpId="1" nodeType="clickEffect">
                                  <p:stCondLst>
                                    <p:cond delay="0"/>
                                  </p:stCondLst>
                                  <p:childTnLst>
                                    <p:set>
                                      <p:cBhvr>
                                        <p:cTn id="232" dur="1" fill="hold">
                                          <p:stCondLst>
                                            <p:cond delay="0"/>
                                          </p:stCondLst>
                                        </p:cTn>
                                        <p:tgtEl>
                                          <p:spTgt spid="52252"/>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1" presetClass="exit" presetSubtype="0" fill="hold" grpId="1" nodeType="clickEffect">
                                  <p:stCondLst>
                                    <p:cond delay="0"/>
                                  </p:stCondLst>
                                  <p:childTnLst>
                                    <p:set>
                                      <p:cBhvr>
                                        <p:cTn id="236" dur="1" fill="hold">
                                          <p:stCondLst>
                                            <p:cond delay="0"/>
                                          </p:stCondLst>
                                        </p:cTn>
                                        <p:tgtEl>
                                          <p:spTgt spid="52251"/>
                                        </p:tgtEl>
                                        <p:attrNameLst>
                                          <p:attrName>style.visibility</p:attrName>
                                        </p:attrNameLst>
                                      </p:cBhvr>
                                      <p:to>
                                        <p:strVal val="hidden"/>
                                      </p:to>
                                    </p:set>
                                  </p:childTnLst>
                                </p:cTn>
                              </p:par>
                            </p:childTnLst>
                          </p:cTn>
                        </p:par>
                      </p:childTnLst>
                    </p:cTn>
                  </p:par>
                  <p:par>
                    <p:cTn id="237" fill="hold">
                      <p:stCondLst>
                        <p:cond delay="indefinite"/>
                      </p:stCondLst>
                      <p:childTnLst>
                        <p:par>
                          <p:cTn id="238" fill="hold">
                            <p:stCondLst>
                              <p:cond delay="0"/>
                            </p:stCondLst>
                            <p:childTnLst>
                              <p:par>
                                <p:cTn id="239" presetID="1" presetClass="exit" presetSubtype="0" fill="hold" grpId="1" nodeType="clickEffect">
                                  <p:stCondLst>
                                    <p:cond delay="0"/>
                                  </p:stCondLst>
                                  <p:childTnLst>
                                    <p:set>
                                      <p:cBhvr>
                                        <p:cTn id="240" dur="1" fill="hold">
                                          <p:stCondLst>
                                            <p:cond delay="0"/>
                                          </p:stCondLst>
                                        </p:cTn>
                                        <p:tgtEl>
                                          <p:spTgt spid="52249"/>
                                        </p:tgtEl>
                                        <p:attrNameLst>
                                          <p:attrName>style.visibility</p:attrName>
                                        </p:attrNameLst>
                                      </p:cBhvr>
                                      <p:to>
                                        <p:strVal val="hidden"/>
                                      </p:to>
                                    </p:set>
                                  </p:childTnLst>
                                </p:cTn>
                              </p:par>
                            </p:childTnLst>
                          </p:cTn>
                        </p:par>
                      </p:childTnLst>
                    </p:cTn>
                  </p:par>
                  <p:par>
                    <p:cTn id="241" fill="hold">
                      <p:stCondLst>
                        <p:cond delay="indefinite"/>
                      </p:stCondLst>
                      <p:childTnLst>
                        <p:par>
                          <p:cTn id="242" fill="hold">
                            <p:stCondLst>
                              <p:cond delay="0"/>
                            </p:stCondLst>
                            <p:childTnLst>
                              <p:par>
                                <p:cTn id="243" presetID="1" presetClass="exit" presetSubtype="0" fill="hold" nodeType="clickEffect">
                                  <p:stCondLst>
                                    <p:cond delay="0"/>
                                  </p:stCondLst>
                                  <p:childTnLst>
                                    <p:set>
                                      <p:cBhvr>
                                        <p:cTn id="244" dur="1" fill="hold">
                                          <p:stCondLst>
                                            <p:cond delay="0"/>
                                          </p:stCondLst>
                                        </p:cTn>
                                        <p:tgtEl>
                                          <p:spTgt spid="52254"/>
                                        </p:tgtEl>
                                        <p:attrNameLst>
                                          <p:attrName>style.visibility</p:attrName>
                                        </p:attrNameLst>
                                      </p:cBhvr>
                                      <p:to>
                                        <p:strVal val="hidden"/>
                                      </p:to>
                                    </p:set>
                                  </p:childTnLst>
                                </p:cTn>
                              </p:par>
                            </p:childTnLst>
                          </p:cTn>
                        </p:par>
                      </p:childTnLst>
                    </p:cTn>
                  </p:par>
                  <p:par>
                    <p:cTn id="245" fill="hold">
                      <p:stCondLst>
                        <p:cond delay="indefinite"/>
                      </p:stCondLst>
                      <p:childTnLst>
                        <p:par>
                          <p:cTn id="246" fill="hold">
                            <p:stCondLst>
                              <p:cond delay="0"/>
                            </p:stCondLst>
                            <p:childTnLst>
                              <p:par>
                                <p:cTn id="247" presetID="1" presetClass="exit" presetSubtype="0" fill="hold" grpId="1" nodeType="clickEffect">
                                  <p:stCondLst>
                                    <p:cond delay="0"/>
                                  </p:stCondLst>
                                  <p:childTnLst>
                                    <p:set>
                                      <p:cBhvr>
                                        <p:cTn id="248" dur="1" fill="hold">
                                          <p:stCondLst>
                                            <p:cond delay="0"/>
                                          </p:stCondLst>
                                        </p:cTn>
                                        <p:tgtEl>
                                          <p:spTgt spid="52250"/>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1" presetClass="exit" presetSubtype="0" fill="hold" nodeType="clickEffect">
                                  <p:stCondLst>
                                    <p:cond delay="0"/>
                                  </p:stCondLst>
                                  <p:childTnLst>
                                    <p:set>
                                      <p:cBhvr>
                                        <p:cTn id="252" dur="1" fill="hold">
                                          <p:stCondLst>
                                            <p:cond delay="0"/>
                                          </p:stCondLst>
                                        </p:cTn>
                                        <p:tgtEl>
                                          <p:spTgt spid="3"/>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grpId="0" nodeType="clickEffect">
                                  <p:stCondLst>
                                    <p:cond delay="0"/>
                                  </p:stCondLst>
                                  <p:childTnLst>
                                    <p:set>
                                      <p:cBhvr>
                                        <p:cTn id="256" dur="1" fill="hold">
                                          <p:stCondLst>
                                            <p:cond delay="0"/>
                                          </p:stCondLst>
                                        </p:cTn>
                                        <p:tgtEl>
                                          <p:spTgt spid="52265"/>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22" presetClass="entr" presetSubtype="4" fill="hold" grpId="0" nodeType="clickEffect">
                                  <p:stCondLst>
                                    <p:cond delay="0"/>
                                  </p:stCondLst>
                                  <p:childTnLst>
                                    <p:set>
                                      <p:cBhvr>
                                        <p:cTn id="260" dur="1" fill="hold">
                                          <p:stCondLst>
                                            <p:cond delay="0"/>
                                          </p:stCondLst>
                                        </p:cTn>
                                        <p:tgtEl>
                                          <p:spTgt spid="52263"/>
                                        </p:tgtEl>
                                        <p:attrNameLst>
                                          <p:attrName>style.visibility</p:attrName>
                                        </p:attrNameLst>
                                      </p:cBhvr>
                                      <p:to>
                                        <p:strVal val="visible"/>
                                      </p:to>
                                    </p:set>
                                    <p:animEffect transition="in" filter="wipe(down)">
                                      <p:cBhvr>
                                        <p:cTn id="261" dur="500"/>
                                        <p:tgtEl>
                                          <p:spTgt spid="52263"/>
                                        </p:tgtEl>
                                      </p:cBhvr>
                                    </p:animEffect>
                                  </p:childTnLst>
                                </p:cTn>
                              </p:par>
                            </p:childTnLst>
                          </p:cTn>
                        </p:par>
                      </p:childTnLst>
                    </p:cTn>
                  </p:par>
                  <p:par>
                    <p:cTn id="262" fill="hold">
                      <p:stCondLst>
                        <p:cond delay="indefinite"/>
                      </p:stCondLst>
                      <p:childTnLst>
                        <p:par>
                          <p:cTn id="263" fill="hold">
                            <p:stCondLst>
                              <p:cond delay="0"/>
                            </p:stCondLst>
                            <p:childTnLst>
                              <p:par>
                                <p:cTn id="264" presetID="22" presetClass="entr" presetSubtype="4" fill="hold" grpId="0" nodeType="clickEffect">
                                  <p:stCondLst>
                                    <p:cond delay="0"/>
                                  </p:stCondLst>
                                  <p:childTnLst>
                                    <p:set>
                                      <p:cBhvr>
                                        <p:cTn id="265" dur="1" fill="hold">
                                          <p:stCondLst>
                                            <p:cond delay="0"/>
                                          </p:stCondLst>
                                        </p:cTn>
                                        <p:tgtEl>
                                          <p:spTgt spid="52266"/>
                                        </p:tgtEl>
                                        <p:attrNameLst>
                                          <p:attrName>style.visibility</p:attrName>
                                        </p:attrNameLst>
                                      </p:cBhvr>
                                      <p:to>
                                        <p:strVal val="visible"/>
                                      </p:to>
                                    </p:set>
                                    <p:animEffect transition="in" filter="wipe(down)">
                                      <p:cBhvr>
                                        <p:cTn id="266" dur="500"/>
                                        <p:tgtEl>
                                          <p:spTgt spid="52266"/>
                                        </p:tgtEl>
                                      </p:cBhvr>
                                    </p:animEffect>
                                  </p:childTnLst>
                                </p:cTn>
                              </p:par>
                            </p:childTnLst>
                          </p:cTn>
                        </p:par>
                      </p:childTnLst>
                    </p:cTn>
                  </p:par>
                  <p:par>
                    <p:cTn id="267" fill="hold">
                      <p:stCondLst>
                        <p:cond delay="indefinite"/>
                      </p:stCondLst>
                      <p:childTnLst>
                        <p:par>
                          <p:cTn id="268" fill="hold">
                            <p:stCondLst>
                              <p:cond delay="0"/>
                            </p:stCondLst>
                            <p:childTnLst>
                              <p:par>
                                <p:cTn id="269" presetID="22" presetClass="entr" presetSubtype="2" fill="hold" grpId="0" nodeType="clickEffect">
                                  <p:stCondLst>
                                    <p:cond delay="0"/>
                                  </p:stCondLst>
                                  <p:childTnLst>
                                    <p:set>
                                      <p:cBhvr>
                                        <p:cTn id="270" dur="1" fill="hold">
                                          <p:stCondLst>
                                            <p:cond delay="0"/>
                                          </p:stCondLst>
                                        </p:cTn>
                                        <p:tgtEl>
                                          <p:spTgt spid="52264"/>
                                        </p:tgtEl>
                                        <p:attrNameLst>
                                          <p:attrName>style.visibility</p:attrName>
                                        </p:attrNameLst>
                                      </p:cBhvr>
                                      <p:to>
                                        <p:strVal val="visible"/>
                                      </p:to>
                                    </p:set>
                                    <p:animEffect transition="in" filter="wipe(right)">
                                      <p:cBhvr>
                                        <p:cTn id="271" dur="500"/>
                                        <p:tgtEl>
                                          <p:spTgt spid="52264"/>
                                        </p:tgtEl>
                                      </p:cBhvr>
                                    </p:animEffect>
                                  </p:childTnLst>
                                </p:cTn>
                              </p:par>
                            </p:childTnLst>
                          </p:cTn>
                        </p:par>
                      </p:childTnLst>
                    </p:cTn>
                  </p:par>
                  <p:par>
                    <p:cTn id="272" fill="hold">
                      <p:stCondLst>
                        <p:cond delay="indefinite"/>
                      </p:stCondLst>
                      <p:childTnLst>
                        <p:par>
                          <p:cTn id="273" fill="hold">
                            <p:stCondLst>
                              <p:cond delay="0"/>
                            </p:stCondLst>
                            <p:childTnLst>
                              <p:par>
                                <p:cTn id="274" presetID="22" presetClass="entr" presetSubtype="1" fill="hold" nodeType="clickEffect">
                                  <p:stCondLst>
                                    <p:cond delay="0"/>
                                  </p:stCondLst>
                                  <p:childTnLst>
                                    <p:set>
                                      <p:cBhvr>
                                        <p:cTn id="275" dur="1" fill="hold">
                                          <p:stCondLst>
                                            <p:cond delay="0"/>
                                          </p:stCondLst>
                                        </p:cTn>
                                        <p:tgtEl>
                                          <p:spTgt spid="52268"/>
                                        </p:tgtEl>
                                        <p:attrNameLst>
                                          <p:attrName>style.visibility</p:attrName>
                                        </p:attrNameLst>
                                      </p:cBhvr>
                                      <p:to>
                                        <p:strVal val="visible"/>
                                      </p:to>
                                    </p:set>
                                    <p:animEffect transition="in" filter="wipe(up)">
                                      <p:cBhvr>
                                        <p:cTn id="276" dur="500"/>
                                        <p:tgtEl>
                                          <p:spTgt spid="52268"/>
                                        </p:tgtEl>
                                      </p:cBhvr>
                                    </p:animEffect>
                                  </p:childTnLst>
                                </p:cTn>
                              </p:par>
                            </p:childTnLst>
                          </p:cTn>
                        </p:par>
                      </p:childTnLst>
                    </p:cTn>
                  </p:par>
                  <p:par>
                    <p:cTn id="277" fill="hold">
                      <p:stCondLst>
                        <p:cond delay="indefinite"/>
                      </p:stCondLst>
                      <p:childTnLst>
                        <p:par>
                          <p:cTn id="278" fill="hold">
                            <p:stCondLst>
                              <p:cond delay="0"/>
                            </p:stCondLst>
                            <p:childTnLst>
                              <p:par>
                                <p:cTn id="279" presetID="22" presetClass="entr" presetSubtype="1" fill="hold" grpId="0" nodeType="clickEffect">
                                  <p:stCondLst>
                                    <p:cond delay="0"/>
                                  </p:stCondLst>
                                  <p:childTnLst>
                                    <p:set>
                                      <p:cBhvr>
                                        <p:cTn id="280" dur="1" fill="hold">
                                          <p:stCondLst>
                                            <p:cond delay="0"/>
                                          </p:stCondLst>
                                        </p:cTn>
                                        <p:tgtEl>
                                          <p:spTgt spid="52267"/>
                                        </p:tgtEl>
                                        <p:attrNameLst>
                                          <p:attrName>style.visibility</p:attrName>
                                        </p:attrNameLst>
                                      </p:cBhvr>
                                      <p:to>
                                        <p:strVal val="visible"/>
                                      </p:to>
                                    </p:set>
                                    <p:animEffect transition="in" filter="wipe(up)">
                                      <p:cBhvr>
                                        <p:cTn id="281" dur="500"/>
                                        <p:tgtEl>
                                          <p:spTgt spid="52267"/>
                                        </p:tgtEl>
                                      </p:cBhvr>
                                    </p:animEffect>
                                  </p:childTnLst>
                                </p:cTn>
                              </p:par>
                            </p:childTnLst>
                          </p:cTn>
                        </p:par>
                      </p:childTnLst>
                    </p:cTn>
                  </p:par>
                  <p:par>
                    <p:cTn id="282" fill="hold">
                      <p:stCondLst>
                        <p:cond delay="indefinite"/>
                      </p:stCondLst>
                      <p:childTnLst>
                        <p:par>
                          <p:cTn id="283" fill="hold">
                            <p:stCondLst>
                              <p:cond delay="0"/>
                            </p:stCondLst>
                            <p:childTnLst>
                              <p:par>
                                <p:cTn id="284" presetID="22" presetClass="entr" presetSubtype="8" fill="hold" nodeType="clickEffect">
                                  <p:stCondLst>
                                    <p:cond delay="0"/>
                                  </p:stCondLst>
                                  <p:childTnLst>
                                    <p:set>
                                      <p:cBhvr>
                                        <p:cTn id="285" dur="1" fill="hold">
                                          <p:stCondLst>
                                            <p:cond delay="0"/>
                                          </p:stCondLst>
                                        </p:cTn>
                                        <p:tgtEl>
                                          <p:spTgt spid="52258"/>
                                        </p:tgtEl>
                                        <p:attrNameLst>
                                          <p:attrName>style.visibility</p:attrName>
                                        </p:attrNameLst>
                                      </p:cBhvr>
                                      <p:to>
                                        <p:strVal val="visible"/>
                                      </p:to>
                                    </p:set>
                                    <p:animEffect transition="in" filter="wipe(left)">
                                      <p:cBhvr>
                                        <p:cTn id="286" dur="500"/>
                                        <p:tgtEl>
                                          <p:spTgt spid="52258"/>
                                        </p:tgtEl>
                                      </p:cBhvr>
                                    </p:animEffect>
                                  </p:childTnLst>
                                </p:cTn>
                              </p:par>
                            </p:childTnLst>
                          </p:cTn>
                        </p:par>
                      </p:childTnLst>
                    </p:cTn>
                  </p:par>
                  <p:par>
                    <p:cTn id="287" fill="hold">
                      <p:stCondLst>
                        <p:cond delay="indefinite"/>
                      </p:stCondLst>
                      <p:childTnLst>
                        <p:par>
                          <p:cTn id="288" fill="hold">
                            <p:stCondLst>
                              <p:cond delay="0"/>
                            </p:stCondLst>
                            <p:childTnLst>
                              <p:par>
                                <p:cTn id="289" presetID="3" presetClass="entr" presetSubtype="10" fill="hold" grpId="0" nodeType="clickEffect">
                                  <p:stCondLst>
                                    <p:cond delay="0"/>
                                  </p:stCondLst>
                                  <p:childTnLst>
                                    <p:set>
                                      <p:cBhvr>
                                        <p:cTn id="290" dur="1" fill="hold">
                                          <p:stCondLst>
                                            <p:cond delay="0"/>
                                          </p:stCondLst>
                                        </p:cTn>
                                        <p:tgtEl>
                                          <p:spTgt spid="52259"/>
                                        </p:tgtEl>
                                        <p:attrNameLst>
                                          <p:attrName>style.visibility</p:attrName>
                                        </p:attrNameLst>
                                      </p:cBhvr>
                                      <p:to>
                                        <p:strVal val="visible"/>
                                      </p:to>
                                    </p:set>
                                    <p:animEffect transition="in" filter="blinds(horizontal)">
                                      <p:cBhvr>
                                        <p:cTn id="291" dur="500"/>
                                        <p:tgtEl>
                                          <p:spTgt spid="52259"/>
                                        </p:tgtEl>
                                      </p:cBhvr>
                                    </p:animEffect>
                                  </p:childTnLst>
                                </p:cTn>
                              </p:par>
                            </p:childTnLst>
                          </p:cTn>
                        </p:par>
                      </p:childTnLst>
                    </p:cTn>
                  </p:par>
                  <p:par>
                    <p:cTn id="292" fill="hold">
                      <p:stCondLst>
                        <p:cond delay="indefinite"/>
                      </p:stCondLst>
                      <p:childTnLst>
                        <p:par>
                          <p:cTn id="293" fill="hold">
                            <p:stCondLst>
                              <p:cond delay="0"/>
                            </p:stCondLst>
                            <p:childTnLst>
                              <p:par>
                                <p:cTn id="294" presetID="22" presetClass="entr" presetSubtype="8" fill="hold" grpId="0" nodeType="clickEffect">
                                  <p:stCondLst>
                                    <p:cond delay="0"/>
                                  </p:stCondLst>
                                  <p:childTnLst>
                                    <p:set>
                                      <p:cBhvr>
                                        <p:cTn id="295" dur="1" fill="hold">
                                          <p:stCondLst>
                                            <p:cond delay="0"/>
                                          </p:stCondLst>
                                        </p:cTn>
                                        <p:tgtEl>
                                          <p:spTgt spid="52306"/>
                                        </p:tgtEl>
                                        <p:attrNameLst>
                                          <p:attrName>style.visibility</p:attrName>
                                        </p:attrNameLst>
                                      </p:cBhvr>
                                      <p:to>
                                        <p:strVal val="visible"/>
                                      </p:to>
                                    </p:set>
                                    <p:animEffect transition="in" filter="wipe(left)">
                                      <p:cBhvr>
                                        <p:cTn id="296" dur="500"/>
                                        <p:tgtEl>
                                          <p:spTgt spid="52306"/>
                                        </p:tgtEl>
                                      </p:cBhvr>
                                    </p:animEffect>
                                  </p:childTnLst>
                                </p:cTn>
                              </p:par>
                            </p:childTnLst>
                          </p:cTn>
                        </p:par>
                      </p:childTnLst>
                    </p:cTn>
                  </p:par>
                  <p:par>
                    <p:cTn id="297" fill="hold">
                      <p:stCondLst>
                        <p:cond delay="indefinite"/>
                      </p:stCondLst>
                      <p:childTnLst>
                        <p:par>
                          <p:cTn id="298" fill="hold">
                            <p:stCondLst>
                              <p:cond delay="0"/>
                            </p:stCondLst>
                            <p:childTnLst>
                              <p:par>
                                <p:cTn id="299" presetID="22" presetClass="entr" presetSubtype="8" fill="hold" grpId="0" nodeType="clickEffect">
                                  <p:stCondLst>
                                    <p:cond delay="0"/>
                                  </p:stCondLst>
                                  <p:childTnLst>
                                    <p:set>
                                      <p:cBhvr>
                                        <p:cTn id="300" dur="1" fill="hold">
                                          <p:stCondLst>
                                            <p:cond delay="0"/>
                                          </p:stCondLst>
                                        </p:cTn>
                                        <p:tgtEl>
                                          <p:spTgt spid="82"/>
                                        </p:tgtEl>
                                        <p:attrNameLst>
                                          <p:attrName>style.visibility</p:attrName>
                                        </p:attrNameLst>
                                      </p:cBhvr>
                                      <p:to>
                                        <p:strVal val="visible"/>
                                      </p:to>
                                    </p:set>
                                    <p:animEffect transition="in" filter="wipe(left)">
                                      <p:cBhvr>
                                        <p:cTn id="301" dur="500"/>
                                        <p:tgtEl>
                                          <p:spTgt spid="82"/>
                                        </p:tgtEl>
                                      </p:cBhvr>
                                    </p:animEffect>
                                  </p:childTnLst>
                                </p:cTn>
                              </p:par>
                            </p:childTnLst>
                          </p:cTn>
                        </p:par>
                        <p:par>
                          <p:cTn id="302" fill="hold">
                            <p:stCondLst>
                              <p:cond delay="500"/>
                            </p:stCondLst>
                            <p:childTnLst>
                              <p:par>
                                <p:cTn id="303" presetID="22" presetClass="entr" presetSubtype="8" fill="hold" grpId="0" nodeType="afterEffect">
                                  <p:stCondLst>
                                    <p:cond delay="0"/>
                                  </p:stCondLst>
                                  <p:childTnLst>
                                    <p:set>
                                      <p:cBhvr>
                                        <p:cTn id="304" dur="1" fill="hold">
                                          <p:stCondLst>
                                            <p:cond delay="0"/>
                                          </p:stCondLst>
                                        </p:cTn>
                                        <p:tgtEl>
                                          <p:spTgt spid="52307"/>
                                        </p:tgtEl>
                                        <p:attrNameLst>
                                          <p:attrName>style.visibility</p:attrName>
                                        </p:attrNameLst>
                                      </p:cBhvr>
                                      <p:to>
                                        <p:strVal val="visible"/>
                                      </p:to>
                                    </p:set>
                                    <p:animEffect transition="in" filter="wipe(left)">
                                      <p:cBhvr>
                                        <p:cTn id="305" dur="500"/>
                                        <p:tgtEl>
                                          <p:spTgt spid="52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P spid="52244" grpId="0"/>
      <p:bldP spid="52245" grpId="0" animBg="1"/>
      <p:bldP spid="52245" grpId="1" animBg="1"/>
      <p:bldP spid="52246" grpId="0"/>
      <p:bldP spid="52247" grpId="0"/>
      <p:bldP spid="52248" grpId="0"/>
      <p:bldP spid="52249" grpId="0" animBg="1"/>
      <p:bldP spid="52249" grpId="1" animBg="1"/>
      <p:bldP spid="52250" grpId="0" animBg="1"/>
      <p:bldP spid="52250" grpId="1" animBg="1"/>
      <p:bldP spid="52251" grpId="0" animBg="1"/>
      <p:bldP spid="52251" grpId="1" animBg="1"/>
      <p:bldP spid="52252" grpId="0" animBg="1"/>
      <p:bldP spid="52252" grpId="1" animBg="1"/>
      <p:bldP spid="52253" grpId="0" animBg="1"/>
      <p:bldP spid="52253" grpId="1" animBg="1"/>
      <p:bldP spid="52257" grpId="0"/>
      <p:bldP spid="52259" grpId="0" animBg="1"/>
      <p:bldP spid="52262" grpId="0" animBg="1"/>
      <p:bldP spid="52263" grpId="0" animBg="1"/>
      <p:bldP spid="52264" grpId="0" animBg="1"/>
      <p:bldP spid="52265" grpId="0" animBg="1"/>
      <p:bldP spid="52266" grpId="0" animBg="1"/>
      <p:bldP spid="52267" grpId="0" animBg="1"/>
      <p:bldP spid="52269" grpId="0"/>
      <p:bldP spid="52269" grpId="1"/>
      <p:bldP spid="52270" grpId="0" animBg="1"/>
      <p:bldP spid="52271" grpId="0" animBg="1"/>
      <p:bldP spid="52288" grpId="0" animBg="1"/>
      <p:bldP spid="52289" grpId="0" animBg="1"/>
      <p:bldP spid="52290" grpId="0" animBg="1"/>
      <p:bldP spid="52291" grpId="0" animBg="1"/>
      <p:bldP spid="52292" grpId="0" animBg="1"/>
      <p:bldP spid="52293" grpId="0" animBg="1"/>
      <p:bldP spid="52296" grpId="0"/>
      <p:bldP spid="52297" grpId="0"/>
      <p:bldP spid="52298" grpId="0"/>
      <p:bldP spid="52299" grpId="0"/>
      <p:bldP spid="52300" grpId="0"/>
      <p:bldP spid="52302" grpId="0" animBg="1"/>
      <p:bldP spid="52305" grpId="0"/>
      <p:bldP spid="52306" grpId="0"/>
      <p:bldP spid="52307" grpId="0"/>
      <p:bldP spid="8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71500" y="1377950"/>
            <a:ext cx="7858125" cy="979488"/>
          </a:xfrm>
          <a:prstGeom prst="rect">
            <a:avLst/>
          </a:prstGeom>
          <a:noFill/>
          <a:ln w="9525">
            <a:noFill/>
            <a:miter lim="800000"/>
            <a:headEnd/>
            <a:tailEnd/>
          </a:ln>
        </p:spPr>
        <p:txBody>
          <a:bodyPr>
            <a:spAutoFit/>
          </a:bodyPr>
          <a:lstStyle/>
          <a:p>
            <a:pPr indent="665163">
              <a:lnSpc>
                <a:spcPct val="120000"/>
              </a:lnSpc>
              <a:spcBef>
                <a:spcPct val="50000"/>
              </a:spcBef>
            </a:pPr>
            <a:r>
              <a:rPr lang="zh-CN" altLang="en-US" sz="2400" b="1">
                <a:solidFill>
                  <a:srgbClr val="FF6600"/>
                </a:solidFill>
                <a:latin typeface="Times New Roman" pitchFamily="18" charset="0"/>
              </a:rPr>
              <a:t>单原子分子</a:t>
            </a:r>
            <a:r>
              <a:rPr lang="zh-CN" altLang="en-US" sz="2400" b="1">
                <a:latin typeface="Times New Roman" pitchFamily="18" charset="0"/>
              </a:rPr>
              <a:t>可看作自由质点，共有</a:t>
            </a:r>
            <a:r>
              <a:rPr lang="en-US" altLang="zh-CN" sz="2400" b="1">
                <a:solidFill>
                  <a:srgbClr val="FF6600"/>
                </a:solidFill>
                <a:latin typeface="Times New Roman" pitchFamily="18" charset="0"/>
              </a:rPr>
              <a:t>3</a:t>
            </a:r>
            <a:r>
              <a:rPr lang="zh-CN" altLang="en-US" sz="2400" b="1">
                <a:latin typeface="Times New Roman" pitchFamily="18" charset="0"/>
              </a:rPr>
              <a:t>个自由度（即三个平动自由度，用</a:t>
            </a:r>
            <a:r>
              <a:rPr lang="en-US" altLang="zh-CN" sz="2400" b="1" i="1">
                <a:solidFill>
                  <a:srgbClr val="FF6600"/>
                </a:solidFill>
                <a:latin typeface="Times New Roman" pitchFamily="18" charset="0"/>
              </a:rPr>
              <a:t>t</a:t>
            </a:r>
            <a:r>
              <a:rPr lang="en-US" altLang="zh-CN" sz="2400" b="1">
                <a:solidFill>
                  <a:srgbClr val="FF6600"/>
                </a:solidFill>
                <a:latin typeface="Times New Roman" pitchFamily="18" charset="0"/>
              </a:rPr>
              <a:t> =3</a:t>
            </a:r>
            <a:r>
              <a:rPr lang="en-US" altLang="zh-CN" sz="2400" b="1">
                <a:latin typeface="Times New Roman" pitchFamily="18" charset="0"/>
              </a:rPr>
              <a:t> </a:t>
            </a:r>
            <a:r>
              <a:rPr lang="zh-CN" altLang="en-US" sz="2400" b="1">
                <a:latin typeface="Times New Roman" pitchFamily="18" charset="0"/>
              </a:rPr>
              <a:t>表示）。</a:t>
            </a:r>
          </a:p>
        </p:txBody>
      </p:sp>
      <p:sp>
        <p:nvSpPr>
          <p:cNvPr id="3" name="Text Box 5"/>
          <p:cNvSpPr txBox="1">
            <a:spLocks noChangeArrowheads="1"/>
          </p:cNvSpPr>
          <p:nvPr/>
        </p:nvSpPr>
        <p:spPr bwMode="auto">
          <a:xfrm>
            <a:off x="573088" y="4357688"/>
            <a:ext cx="8001000" cy="1406525"/>
          </a:xfrm>
          <a:prstGeom prst="rect">
            <a:avLst/>
          </a:prstGeom>
          <a:noFill/>
          <a:ln w="9525">
            <a:noFill/>
            <a:miter lim="800000"/>
            <a:headEnd/>
            <a:tailEnd/>
          </a:ln>
        </p:spPr>
        <p:txBody>
          <a:bodyPr>
            <a:spAutoFit/>
          </a:bodyPr>
          <a:lstStyle/>
          <a:p>
            <a:pPr>
              <a:lnSpc>
                <a:spcPct val="120000"/>
              </a:lnSpc>
              <a:spcBef>
                <a:spcPct val="50000"/>
              </a:spcBef>
            </a:pPr>
            <a:r>
              <a:rPr lang="en-US" altLang="zh-CN" sz="2400" b="1">
                <a:latin typeface="Times New Roman" pitchFamily="18" charset="0"/>
              </a:rPr>
              <a:t>         </a:t>
            </a:r>
            <a:r>
              <a:rPr lang="zh-CN" altLang="en-US" sz="2400" b="1">
                <a:solidFill>
                  <a:srgbClr val="FF6600"/>
                </a:solidFill>
                <a:latin typeface="Times New Roman" pitchFamily="18" charset="0"/>
              </a:rPr>
              <a:t>刚性多原子分子</a:t>
            </a:r>
            <a:r>
              <a:rPr lang="zh-CN" altLang="en-US" sz="2400" b="1">
                <a:latin typeface="Times New Roman" pitchFamily="18" charset="0"/>
              </a:rPr>
              <a:t>（包括三原子）共</a:t>
            </a:r>
            <a:r>
              <a:rPr lang="en-US" altLang="zh-CN" sz="2400" b="1">
                <a:solidFill>
                  <a:srgbClr val="FF6600"/>
                </a:solidFill>
                <a:latin typeface="Times New Roman" pitchFamily="18" charset="0"/>
              </a:rPr>
              <a:t>6</a:t>
            </a:r>
            <a:r>
              <a:rPr lang="zh-CN" altLang="en-US" sz="2400" b="1">
                <a:latin typeface="Times New Roman" pitchFamily="18" charset="0"/>
              </a:rPr>
              <a:t>个自由度</a:t>
            </a:r>
            <a:r>
              <a:rPr lang="en-US" altLang="zh-CN" sz="2400" b="1">
                <a:latin typeface="Times New Roman" pitchFamily="18" charset="0"/>
              </a:rPr>
              <a:t>( </a:t>
            </a:r>
            <a:r>
              <a:rPr lang="zh-CN" altLang="en-US" sz="2400" b="1">
                <a:latin typeface="Times New Roman" pitchFamily="18" charset="0"/>
              </a:rPr>
              <a:t>即三个平动自由度，用</a:t>
            </a:r>
            <a:r>
              <a:rPr lang="en-US" altLang="zh-CN" sz="2400" b="1" i="1">
                <a:solidFill>
                  <a:srgbClr val="FF6600"/>
                </a:solidFill>
                <a:latin typeface="Times New Roman" pitchFamily="18" charset="0"/>
              </a:rPr>
              <a:t>t</a:t>
            </a:r>
            <a:r>
              <a:rPr lang="en-US" altLang="zh-CN" sz="2400" b="1">
                <a:solidFill>
                  <a:srgbClr val="FF6600"/>
                </a:solidFill>
                <a:latin typeface="Times New Roman" pitchFamily="18" charset="0"/>
              </a:rPr>
              <a:t> =3</a:t>
            </a:r>
            <a:r>
              <a:rPr lang="en-US" altLang="zh-CN" sz="2400" b="1">
                <a:latin typeface="Times New Roman" pitchFamily="18" charset="0"/>
              </a:rPr>
              <a:t> </a:t>
            </a:r>
            <a:r>
              <a:rPr lang="zh-CN" altLang="en-US" sz="2400" b="1">
                <a:latin typeface="Times New Roman" pitchFamily="18" charset="0"/>
              </a:rPr>
              <a:t>表示</a:t>
            </a:r>
            <a:r>
              <a:rPr lang="en-US" altLang="zh-CN" sz="2400" b="1">
                <a:latin typeface="Times New Roman" pitchFamily="18" charset="0"/>
              </a:rPr>
              <a:t>, </a:t>
            </a:r>
            <a:r>
              <a:rPr lang="zh-CN" altLang="en-US" sz="2400" b="1">
                <a:latin typeface="Times New Roman" pitchFamily="18" charset="0"/>
              </a:rPr>
              <a:t>三个转动自由度，用</a:t>
            </a:r>
            <a:r>
              <a:rPr lang="zh-CN" altLang="en-US" sz="2400" b="1" i="1">
                <a:latin typeface="Times New Roman" pitchFamily="18" charset="0"/>
              </a:rPr>
              <a:t> </a:t>
            </a:r>
            <a:r>
              <a:rPr lang="en-US" altLang="zh-CN" sz="2400" b="1" i="1">
                <a:solidFill>
                  <a:srgbClr val="FF6600"/>
                </a:solidFill>
                <a:latin typeface="Times New Roman" pitchFamily="18" charset="0"/>
              </a:rPr>
              <a:t>r </a:t>
            </a:r>
            <a:r>
              <a:rPr lang="en-US" altLang="zh-CN" sz="2400" b="1">
                <a:solidFill>
                  <a:srgbClr val="FF6600"/>
                </a:solidFill>
                <a:latin typeface="Times New Roman" pitchFamily="18" charset="0"/>
              </a:rPr>
              <a:t>=3</a:t>
            </a:r>
            <a:r>
              <a:rPr lang="en-US" altLang="zh-CN" sz="2400" b="1">
                <a:latin typeface="Times New Roman" pitchFamily="18" charset="0"/>
              </a:rPr>
              <a:t> </a:t>
            </a:r>
            <a:r>
              <a:rPr lang="zh-CN" altLang="en-US" sz="2400" b="1">
                <a:latin typeface="Times New Roman" pitchFamily="18" charset="0"/>
              </a:rPr>
              <a:t>表示，总自由度</a:t>
            </a:r>
            <a:r>
              <a:rPr lang="en-US" altLang="zh-CN" sz="2400" b="1" i="1">
                <a:solidFill>
                  <a:srgbClr val="FF6600"/>
                </a:solidFill>
                <a:latin typeface="Times New Roman" pitchFamily="18" charset="0"/>
              </a:rPr>
              <a:t>i </a:t>
            </a:r>
            <a:r>
              <a:rPr lang="en-US" altLang="zh-CN" sz="2400" b="1">
                <a:solidFill>
                  <a:srgbClr val="FF6600"/>
                </a:solidFill>
                <a:latin typeface="Times New Roman" pitchFamily="18" charset="0"/>
              </a:rPr>
              <a:t>= </a:t>
            </a:r>
            <a:r>
              <a:rPr lang="en-US" altLang="zh-CN" sz="2400" b="1" i="1">
                <a:solidFill>
                  <a:srgbClr val="FF6600"/>
                </a:solidFill>
                <a:latin typeface="Times New Roman" pitchFamily="18" charset="0"/>
              </a:rPr>
              <a:t>t</a:t>
            </a:r>
            <a:r>
              <a:rPr lang="en-US" altLang="zh-CN" sz="2400" b="1">
                <a:solidFill>
                  <a:srgbClr val="FF6600"/>
                </a:solidFill>
                <a:latin typeface="Times New Roman" pitchFamily="18" charset="0"/>
              </a:rPr>
              <a:t> +</a:t>
            </a:r>
            <a:r>
              <a:rPr lang="en-US" altLang="zh-CN" sz="2400" b="1" i="1">
                <a:solidFill>
                  <a:srgbClr val="FF6600"/>
                </a:solidFill>
                <a:latin typeface="Times New Roman" pitchFamily="18" charset="0"/>
              </a:rPr>
              <a:t>r </a:t>
            </a:r>
            <a:r>
              <a:rPr lang="en-US" altLang="zh-CN" sz="2400" b="1">
                <a:solidFill>
                  <a:srgbClr val="FF6600"/>
                </a:solidFill>
                <a:latin typeface="Times New Roman" pitchFamily="18" charset="0"/>
              </a:rPr>
              <a:t>= 6</a:t>
            </a:r>
            <a:r>
              <a:rPr lang="en-US" altLang="zh-CN" sz="2400" b="1">
                <a:latin typeface="Times New Roman" pitchFamily="18" charset="0"/>
              </a:rPr>
              <a:t>) </a:t>
            </a:r>
            <a:r>
              <a:rPr lang="zh-CN" altLang="en-US" sz="2400" b="1">
                <a:latin typeface="Times New Roman" pitchFamily="18" charset="0"/>
              </a:rPr>
              <a:t>。</a:t>
            </a:r>
          </a:p>
        </p:txBody>
      </p:sp>
      <p:sp>
        <p:nvSpPr>
          <p:cNvPr id="4" name="Text Box 6"/>
          <p:cNvSpPr txBox="1">
            <a:spLocks noChangeArrowheads="1"/>
          </p:cNvSpPr>
          <p:nvPr/>
        </p:nvSpPr>
        <p:spPr bwMode="auto">
          <a:xfrm>
            <a:off x="571500" y="2428875"/>
            <a:ext cx="7924800" cy="1865313"/>
          </a:xfrm>
          <a:prstGeom prst="rect">
            <a:avLst/>
          </a:prstGeom>
          <a:noFill/>
          <a:ln w="9525">
            <a:noFill/>
            <a:miter lim="800000"/>
            <a:headEnd/>
            <a:tailEnd/>
          </a:ln>
        </p:spPr>
        <p:txBody>
          <a:bodyPr>
            <a:spAutoFit/>
          </a:bodyPr>
          <a:lstStyle/>
          <a:p>
            <a:pPr>
              <a:lnSpc>
                <a:spcPct val="120000"/>
              </a:lnSpc>
              <a:spcBef>
                <a:spcPct val="50000"/>
              </a:spcBef>
            </a:pPr>
            <a:r>
              <a:rPr lang="en-US" altLang="zh-CN" sz="2400" b="1">
                <a:latin typeface="Times New Roman" pitchFamily="18" charset="0"/>
              </a:rPr>
              <a:t>         </a:t>
            </a:r>
            <a:r>
              <a:rPr lang="zh-CN" altLang="en-US" sz="2400" b="1">
                <a:solidFill>
                  <a:srgbClr val="FF6600"/>
                </a:solidFill>
                <a:latin typeface="Times New Roman" pitchFamily="18" charset="0"/>
              </a:rPr>
              <a:t>刚性双原子分子</a:t>
            </a:r>
            <a:r>
              <a:rPr lang="zh-CN" altLang="en-US" sz="2400" b="1">
                <a:latin typeface="Times New Roman" pitchFamily="18" charset="0"/>
              </a:rPr>
              <a:t>可看成两个保持一定距离的质点，由于两个质点绕其连线为轴转动，因此共</a:t>
            </a:r>
            <a:r>
              <a:rPr lang="en-US" altLang="zh-CN" sz="2400" b="1">
                <a:solidFill>
                  <a:srgbClr val="FF6600"/>
                </a:solidFill>
                <a:latin typeface="Times New Roman" pitchFamily="18" charset="0"/>
              </a:rPr>
              <a:t>5</a:t>
            </a:r>
            <a:r>
              <a:rPr lang="zh-CN" altLang="en-US" sz="2400" b="1">
                <a:latin typeface="Times New Roman" pitchFamily="18" charset="0"/>
              </a:rPr>
              <a:t>个自由度</a:t>
            </a:r>
            <a:r>
              <a:rPr lang="en-US" altLang="zh-CN" sz="2400" b="1">
                <a:latin typeface="Times New Roman" pitchFamily="18" charset="0"/>
              </a:rPr>
              <a:t>( </a:t>
            </a:r>
            <a:r>
              <a:rPr lang="zh-CN" altLang="en-US" sz="2400" b="1">
                <a:latin typeface="Times New Roman" pitchFamily="18" charset="0"/>
              </a:rPr>
              <a:t>即三个平动自由度，用</a:t>
            </a:r>
            <a:r>
              <a:rPr lang="en-US" altLang="zh-CN" sz="2400" b="1" i="1">
                <a:solidFill>
                  <a:srgbClr val="FF6600"/>
                </a:solidFill>
                <a:latin typeface="Times New Roman" pitchFamily="18" charset="0"/>
              </a:rPr>
              <a:t>t</a:t>
            </a:r>
            <a:r>
              <a:rPr lang="en-US" altLang="zh-CN" sz="2400" b="1">
                <a:solidFill>
                  <a:srgbClr val="FF6600"/>
                </a:solidFill>
                <a:latin typeface="Times New Roman" pitchFamily="18" charset="0"/>
              </a:rPr>
              <a:t> =3</a:t>
            </a:r>
            <a:r>
              <a:rPr lang="en-US" altLang="zh-CN" sz="2400" b="1">
                <a:latin typeface="Times New Roman" pitchFamily="18" charset="0"/>
              </a:rPr>
              <a:t> </a:t>
            </a:r>
            <a:r>
              <a:rPr lang="zh-CN" altLang="en-US" sz="2400" b="1">
                <a:latin typeface="Times New Roman" pitchFamily="18" charset="0"/>
              </a:rPr>
              <a:t>表示</a:t>
            </a:r>
            <a:r>
              <a:rPr lang="en-US" altLang="zh-CN" sz="2400" b="1">
                <a:latin typeface="Times New Roman" pitchFamily="18" charset="0"/>
              </a:rPr>
              <a:t>, </a:t>
            </a:r>
            <a:r>
              <a:rPr lang="zh-CN" altLang="en-US" sz="2400" b="1">
                <a:latin typeface="Times New Roman" pitchFamily="18" charset="0"/>
              </a:rPr>
              <a:t>两个转动自由度，用</a:t>
            </a:r>
            <a:r>
              <a:rPr lang="zh-CN" altLang="en-US" sz="2400" b="1" i="1">
                <a:latin typeface="Times New Roman" pitchFamily="18" charset="0"/>
              </a:rPr>
              <a:t> </a:t>
            </a:r>
            <a:r>
              <a:rPr lang="en-US" altLang="zh-CN" sz="2400" b="1" i="1">
                <a:solidFill>
                  <a:srgbClr val="FF6600"/>
                </a:solidFill>
                <a:latin typeface="Times New Roman" pitchFamily="18" charset="0"/>
              </a:rPr>
              <a:t>r </a:t>
            </a:r>
            <a:r>
              <a:rPr lang="en-US" altLang="zh-CN" sz="2400" b="1">
                <a:solidFill>
                  <a:srgbClr val="FF6600"/>
                </a:solidFill>
                <a:latin typeface="Times New Roman" pitchFamily="18" charset="0"/>
              </a:rPr>
              <a:t>=2</a:t>
            </a:r>
            <a:r>
              <a:rPr lang="en-US" altLang="zh-CN" sz="2400" b="1">
                <a:latin typeface="Times New Roman" pitchFamily="18" charset="0"/>
              </a:rPr>
              <a:t> </a:t>
            </a:r>
            <a:r>
              <a:rPr lang="zh-CN" altLang="en-US" sz="2400" b="1">
                <a:latin typeface="Times New Roman" pitchFamily="18" charset="0"/>
              </a:rPr>
              <a:t>表示，总自由度</a:t>
            </a:r>
            <a:r>
              <a:rPr lang="en-US" altLang="zh-CN" sz="2400" b="1" i="1">
                <a:solidFill>
                  <a:srgbClr val="FF6600"/>
                </a:solidFill>
                <a:latin typeface="Times New Roman" pitchFamily="18" charset="0"/>
              </a:rPr>
              <a:t>i </a:t>
            </a:r>
            <a:r>
              <a:rPr lang="en-US" altLang="zh-CN" sz="2400" b="1">
                <a:solidFill>
                  <a:srgbClr val="FF6600"/>
                </a:solidFill>
                <a:latin typeface="Times New Roman" pitchFamily="18" charset="0"/>
              </a:rPr>
              <a:t>= </a:t>
            </a:r>
            <a:r>
              <a:rPr lang="en-US" altLang="zh-CN" sz="2400" b="1" i="1">
                <a:solidFill>
                  <a:srgbClr val="FF6600"/>
                </a:solidFill>
                <a:latin typeface="Times New Roman" pitchFamily="18" charset="0"/>
              </a:rPr>
              <a:t>t</a:t>
            </a:r>
            <a:r>
              <a:rPr lang="en-US" altLang="zh-CN" sz="2400" b="1">
                <a:solidFill>
                  <a:srgbClr val="FF6600"/>
                </a:solidFill>
                <a:latin typeface="Times New Roman" pitchFamily="18" charset="0"/>
              </a:rPr>
              <a:t> +</a:t>
            </a:r>
            <a:r>
              <a:rPr lang="en-US" altLang="zh-CN" sz="2400" b="1" i="1">
                <a:solidFill>
                  <a:srgbClr val="FF6600"/>
                </a:solidFill>
                <a:latin typeface="Times New Roman" pitchFamily="18" charset="0"/>
              </a:rPr>
              <a:t>r </a:t>
            </a:r>
            <a:r>
              <a:rPr lang="en-US" altLang="zh-CN" sz="2400" b="1">
                <a:solidFill>
                  <a:srgbClr val="FF6600"/>
                </a:solidFill>
                <a:latin typeface="Times New Roman" pitchFamily="18" charset="0"/>
              </a:rPr>
              <a:t>= 5</a:t>
            </a:r>
            <a:r>
              <a:rPr lang="en-US" altLang="zh-CN" sz="2400" b="1">
                <a:latin typeface="Times New Roman" pitchFamily="18" charset="0"/>
              </a:rPr>
              <a:t>) </a:t>
            </a:r>
            <a:r>
              <a:rPr lang="zh-CN" altLang="en-US" sz="2400" b="1">
                <a:latin typeface="Times New Roman" pitchFamily="18" charset="0"/>
              </a:rPr>
              <a:t>。</a:t>
            </a:r>
          </a:p>
        </p:txBody>
      </p:sp>
      <p:sp>
        <p:nvSpPr>
          <p:cNvPr id="5" name="Rectangle 5"/>
          <p:cNvSpPr>
            <a:spLocks noChangeArrowheads="1"/>
          </p:cNvSpPr>
          <p:nvPr/>
        </p:nvSpPr>
        <p:spPr bwMode="auto">
          <a:xfrm>
            <a:off x="357188" y="571500"/>
            <a:ext cx="6526212" cy="463550"/>
          </a:xfrm>
          <a:prstGeom prst="rect">
            <a:avLst/>
          </a:prstGeom>
          <a:noFill/>
          <a:ln w="9525" algn="ctr">
            <a:noFill/>
            <a:miter lim="800000"/>
            <a:headEnd/>
            <a:tailEnd/>
          </a:ln>
        </p:spPr>
        <p:txBody>
          <a:bodyPr>
            <a:spAutoFit/>
          </a:bodyPr>
          <a:lstStyle/>
          <a:p>
            <a:pPr>
              <a:lnSpc>
                <a:spcPct val="115000"/>
              </a:lnSpc>
              <a:defRPr/>
            </a:pPr>
            <a:r>
              <a:rPr lang="zh-CN" altLang="en-US" sz="2400" b="1" dirty="0">
                <a:solidFill>
                  <a:srgbClr val="0000FF"/>
                </a:solidFill>
                <a:latin typeface="+mn-ea"/>
                <a:ea typeface="+mn-ea"/>
              </a:rPr>
              <a:t>根据上述概念可确定不同分子的自由度：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
                                        </p:tgtEl>
                                        <p:attrNameLst>
                                          <p:attrName>style.visibility</p:attrName>
                                        </p:attrNameLst>
                                      </p:cBhvr>
                                      <p:to>
                                        <p:strVal val="visible"/>
                                      </p:to>
                                    </p:set>
                                    <p:anim calcmode="discrete" valueType="clr">
                                      <p:cBhvr override="childStyle">
                                        <p:cTn id="7"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gtEl>
                                        <p:attrNameLst>
                                          <p:attrName>fillcolor</p:attrName>
                                        </p:attrNameLst>
                                      </p:cBhvr>
                                      <p:tavLst>
                                        <p:tav tm="0">
                                          <p:val>
                                            <p:clrVal>
                                              <a:schemeClr val="accent2"/>
                                            </p:clrVal>
                                          </p:val>
                                        </p:tav>
                                        <p:tav tm="50000">
                                          <p:val>
                                            <p:clrVal>
                                              <a:schemeClr val="hlink"/>
                                            </p:clrVal>
                                          </p:val>
                                        </p:tav>
                                      </p:tavLst>
                                    </p:anim>
                                    <p:set>
                                      <p:cBhvr>
                                        <p:cTn id="9" dur="80"/>
                                        <p:tgtEl>
                                          <p:spTgt spid="5"/>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
                                        </p:tgtEl>
                                        <p:attrNameLst>
                                          <p:attrName>style.visibility</p:attrName>
                                        </p:attrNameLst>
                                      </p:cBhvr>
                                      <p:to>
                                        <p:strVal val="visible"/>
                                      </p:to>
                                    </p:set>
                                    <p:anim calcmode="discrete" valueType="clr">
                                      <p:cBhvr override="childStyle">
                                        <p:cTn id="14"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gtEl>
                                        <p:attrNameLst>
                                          <p:attrName>fillcolor</p:attrName>
                                        </p:attrNameLst>
                                      </p:cBhvr>
                                      <p:tavLst>
                                        <p:tav tm="0">
                                          <p:val>
                                            <p:clrVal>
                                              <a:schemeClr val="accent2"/>
                                            </p:clrVal>
                                          </p:val>
                                        </p:tav>
                                        <p:tav tm="50000">
                                          <p:val>
                                            <p:clrVal>
                                              <a:schemeClr val="hlink"/>
                                            </p:clrVal>
                                          </p:val>
                                        </p:tav>
                                      </p:tavLst>
                                    </p:anim>
                                    <p:set>
                                      <p:cBhvr>
                                        <p:cTn id="16" dur="80"/>
                                        <p:tgtEl>
                                          <p:spTgt spid="2"/>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Text Box 2"/>
          <p:cNvSpPr txBox="1">
            <a:spLocks noChangeArrowheads="1"/>
          </p:cNvSpPr>
          <p:nvPr/>
        </p:nvSpPr>
        <p:spPr bwMode="auto">
          <a:xfrm>
            <a:off x="673100" y="347663"/>
            <a:ext cx="1350963" cy="512762"/>
          </a:xfrm>
          <a:prstGeom prst="rect">
            <a:avLst/>
          </a:prstGeom>
          <a:noFill/>
          <a:ln w="9525">
            <a:noFill/>
            <a:miter lim="800000"/>
            <a:headEnd/>
            <a:tailEnd/>
          </a:ln>
        </p:spPr>
        <p:txBody>
          <a:bodyPr>
            <a:spAutoFit/>
          </a:bodyPr>
          <a:lstStyle/>
          <a:p>
            <a:pPr>
              <a:lnSpc>
                <a:spcPct val="115000"/>
              </a:lnSpc>
            </a:pPr>
            <a:r>
              <a:rPr kumimoji="1" lang="zh-CN" altLang="en-US" sz="2400" b="1">
                <a:solidFill>
                  <a:srgbClr val="FF6600"/>
                </a:solidFill>
                <a:latin typeface="Times New Roman" pitchFamily="18" charset="0"/>
              </a:rPr>
              <a:t>小结</a:t>
            </a:r>
          </a:p>
        </p:txBody>
      </p:sp>
      <p:sp>
        <p:nvSpPr>
          <p:cNvPr id="248860" name="Text Box 28"/>
          <p:cNvSpPr txBox="1">
            <a:spLocks noChangeArrowheads="1"/>
          </p:cNvSpPr>
          <p:nvPr/>
        </p:nvSpPr>
        <p:spPr bwMode="auto">
          <a:xfrm>
            <a:off x="714375" y="3071813"/>
            <a:ext cx="2111375" cy="512762"/>
          </a:xfrm>
          <a:prstGeom prst="rect">
            <a:avLst/>
          </a:prstGeom>
          <a:noFill/>
          <a:ln w="9525">
            <a:noFill/>
            <a:miter lim="800000"/>
            <a:headEnd/>
            <a:tailEnd/>
          </a:ln>
        </p:spPr>
        <p:txBody>
          <a:bodyPr>
            <a:spAutoFit/>
          </a:bodyPr>
          <a:lstStyle/>
          <a:p>
            <a:pPr>
              <a:lnSpc>
                <a:spcPct val="115000"/>
              </a:lnSpc>
            </a:pPr>
            <a:r>
              <a:rPr lang="zh-CN" altLang="en-US" sz="2400" b="1">
                <a:solidFill>
                  <a:srgbClr val="FF6600"/>
                </a:solidFill>
                <a:latin typeface="Times New Roman" pitchFamily="18" charset="0"/>
              </a:rPr>
              <a:t>说明</a:t>
            </a:r>
          </a:p>
        </p:txBody>
      </p:sp>
      <p:sp>
        <p:nvSpPr>
          <p:cNvPr id="248861" name="Text Box 29"/>
          <p:cNvSpPr txBox="1">
            <a:spLocks noChangeArrowheads="1"/>
          </p:cNvSpPr>
          <p:nvPr/>
        </p:nvSpPr>
        <p:spPr bwMode="auto">
          <a:xfrm>
            <a:off x="398463" y="3773488"/>
            <a:ext cx="8388350" cy="512762"/>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分子的自由度不仅取决于其内部结构，还取决于</a:t>
            </a:r>
            <a:r>
              <a:rPr kumimoji="1" lang="zh-CN" altLang="en-US" sz="2400" b="1" dirty="0">
                <a:solidFill>
                  <a:srgbClr val="FF6600"/>
                </a:solidFill>
                <a:latin typeface="Times New Roman" pitchFamily="18" charset="0"/>
                <a:ea typeface="+mn-ea"/>
                <a:cs typeface="Times New Roman" pitchFamily="18" charset="0"/>
              </a:rPr>
              <a:t>温度</a:t>
            </a:r>
            <a:r>
              <a:rPr kumimoji="1" lang="zh-CN" altLang="en-US" sz="2400" b="1" dirty="0">
                <a:latin typeface="Times New Roman" pitchFamily="18" charset="0"/>
                <a:ea typeface="+mn-ea"/>
                <a:cs typeface="Times New Roman" pitchFamily="18" charset="0"/>
              </a:rPr>
              <a:t>。</a:t>
            </a:r>
          </a:p>
        </p:txBody>
      </p:sp>
      <p:sp>
        <p:nvSpPr>
          <p:cNvPr id="248865" name="AutoShape 33"/>
          <p:cNvSpPr>
            <a:spLocks noChangeArrowheads="1"/>
          </p:cNvSpPr>
          <p:nvPr/>
        </p:nvSpPr>
        <p:spPr bwMode="auto">
          <a:xfrm>
            <a:off x="354013" y="306070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
        <p:nvSpPr>
          <p:cNvPr id="248869" name="Text Box 37"/>
          <p:cNvSpPr txBox="1">
            <a:spLocks noChangeArrowheads="1"/>
          </p:cNvSpPr>
          <p:nvPr/>
        </p:nvSpPr>
        <p:spPr bwMode="auto">
          <a:xfrm>
            <a:off x="398463" y="4446588"/>
            <a:ext cx="8416925" cy="1774825"/>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实际上，双原子、多原子分子并不完全是刚性的，还有振动自由度。但</a:t>
            </a:r>
            <a:r>
              <a:rPr kumimoji="1" lang="zh-CN" altLang="en-US" sz="2400" b="1" dirty="0">
                <a:solidFill>
                  <a:srgbClr val="FF6600"/>
                </a:solidFill>
                <a:latin typeface="Times New Roman" pitchFamily="18" charset="0"/>
                <a:ea typeface="+mn-ea"/>
                <a:cs typeface="Times New Roman" pitchFamily="18" charset="0"/>
              </a:rPr>
              <a:t>在常温下将其分子作为刚性处理</a:t>
            </a:r>
            <a:r>
              <a:rPr kumimoji="1" lang="zh-CN" altLang="en-US" sz="2400" b="1" dirty="0">
                <a:latin typeface="Times New Roman" pitchFamily="18" charset="0"/>
                <a:ea typeface="+mn-ea"/>
                <a:cs typeface="Times New Roman" pitchFamily="18" charset="0"/>
              </a:rPr>
              <a:t>，能给出与实验大致相符的结果，因此可以不考虑分子内部的振动，认为分子都是刚性的。</a:t>
            </a:r>
          </a:p>
        </p:txBody>
      </p:sp>
      <p:sp>
        <p:nvSpPr>
          <p:cNvPr id="248870" name="AutoShape 38"/>
          <p:cNvSpPr>
            <a:spLocks noChangeArrowheads="1"/>
          </p:cNvSpPr>
          <p:nvPr/>
        </p:nvSpPr>
        <p:spPr bwMode="auto">
          <a:xfrm>
            <a:off x="312738" y="35560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grpSp>
        <p:nvGrpSpPr>
          <p:cNvPr id="2" name="Group 3"/>
          <p:cNvGrpSpPr>
            <a:grpSpLocks/>
          </p:cNvGrpSpPr>
          <p:nvPr/>
        </p:nvGrpSpPr>
        <p:grpSpPr bwMode="auto">
          <a:xfrm>
            <a:off x="2286000" y="1000125"/>
            <a:ext cx="1430338" cy="1439863"/>
            <a:chOff x="1486" y="3067"/>
            <a:chExt cx="901" cy="907"/>
          </a:xfrm>
        </p:grpSpPr>
        <p:sp>
          <p:nvSpPr>
            <p:cNvPr id="106515" name="Rectangle 4"/>
            <p:cNvSpPr>
              <a:spLocks noChangeArrowheads="1"/>
            </p:cNvSpPr>
            <p:nvPr/>
          </p:nvSpPr>
          <p:spPr bwMode="auto">
            <a:xfrm>
              <a:off x="1486" y="3540"/>
              <a:ext cx="901" cy="434"/>
            </a:xfrm>
            <a:prstGeom prst="rect">
              <a:avLst/>
            </a:prstGeom>
            <a:gradFill rotWithShape="1">
              <a:gsLst>
                <a:gs pos="0">
                  <a:srgbClr val="66FF66"/>
                </a:gs>
                <a:gs pos="50000">
                  <a:srgbClr val="FFFF00"/>
                </a:gs>
                <a:gs pos="100000">
                  <a:srgbClr val="66FF66"/>
                </a:gs>
              </a:gsLst>
              <a:lin ang="18900000" scaled="1"/>
            </a:gradFill>
            <a:ln w="9525">
              <a:solidFill>
                <a:srgbClr val="66FF66"/>
              </a:solidFill>
              <a:miter lim="800000"/>
              <a:headEnd/>
              <a:tailEnd/>
            </a:ln>
          </p:spPr>
          <p:txBody>
            <a:bodyPr anchor="ctr"/>
            <a:lstStyle/>
            <a:p>
              <a:pPr algn="ctr">
                <a:spcBef>
                  <a:spcPct val="20000"/>
                </a:spcBef>
              </a:pPr>
              <a:r>
                <a:rPr lang="en-US" altLang="zh-CN" sz="2000" b="1" i="1">
                  <a:solidFill>
                    <a:srgbClr val="FF0000"/>
                  </a:solidFill>
                </a:rPr>
                <a:t>t</a:t>
              </a:r>
              <a:r>
                <a:rPr lang="zh-CN" altLang="en-US" sz="2000" b="1">
                  <a:solidFill>
                    <a:srgbClr val="FF0000"/>
                  </a:solidFill>
                </a:rPr>
                <a:t>＝</a:t>
              </a:r>
              <a:r>
                <a:rPr lang="en-US" altLang="zh-CN" sz="2000" b="1">
                  <a:solidFill>
                    <a:srgbClr val="FF0000"/>
                  </a:solidFill>
                </a:rPr>
                <a:t>3</a:t>
              </a:r>
            </a:p>
          </p:txBody>
        </p:sp>
        <p:sp>
          <p:nvSpPr>
            <p:cNvPr id="106516" name="Rectangle 5"/>
            <p:cNvSpPr>
              <a:spLocks noChangeArrowheads="1"/>
            </p:cNvSpPr>
            <p:nvPr/>
          </p:nvSpPr>
          <p:spPr bwMode="auto">
            <a:xfrm>
              <a:off x="1486" y="3067"/>
              <a:ext cx="901" cy="473"/>
            </a:xfrm>
            <a:prstGeom prst="rect">
              <a:avLst/>
            </a:prstGeom>
            <a:gradFill rotWithShape="1">
              <a:gsLst>
                <a:gs pos="0">
                  <a:srgbClr val="66FF66"/>
                </a:gs>
                <a:gs pos="50000">
                  <a:srgbClr val="FFFF00"/>
                </a:gs>
                <a:gs pos="100000">
                  <a:srgbClr val="66FF66"/>
                </a:gs>
              </a:gsLst>
              <a:lin ang="2700000" scaled="1"/>
            </a:gradFill>
            <a:ln w="9525">
              <a:solidFill>
                <a:srgbClr val="66FF66"/>
              </a:solidFill>
              <a:miter lim="800000"/>
              <a:headEnd/>
              <a:tailEnd/>
            </a:ln>
          </p:spPr>
          <p:txBody>
            <a:bodyPr anchor="ctr"/>
            <a:lstStyle/>
            <a:p>
              <a:pPr algn="ctr">
                <a:spcBef>
                  <a:spcPct val="20000"/>
                </a:spcBef>
              </a:pPr>
              <a:r>
                <a:rPr lang="zh-CN" altLang="en-US" sz="2400" b="1">
                  <a:solidFill>
                    <a:srgbClr val="0000FF"/>
                  </a:solidFill>
                </a:rPr>
                <a:t>单原子</a:t>
              </a:r>
            </a:p>
          </p:txBody>
        </p:sp>
      </p:grpSp>
      <p:grpSp>
        <p:nvGrpSpPr>
          <p:cNvPr id="3" name="Group 6"/>
          <p:cNvGrpSpPr>
            <a:grpSpLocks/>
          </p:cNvGrpSpPr>
          <p:nvPr/>
        </p:nvGrpSpPr>
        <p:grpSpPr bwMode="auto">
          <a:xfrm>
            <a:off x="3725863" y="992188"/>
            <a:ext cx="4752975" cy="1439862"/>
            <a:chOff x="2387" y="3067"/>
            <a:chExt cx="2994" cy="907"/>
          </a:xfrm>
        </p:grpSpPr>
        <p:sp>
          <p:nvSpPr>
            <p:cNvPr id="106510" name="Rectangle 7"/>
            <p:cNvSpPr>
              <a:spLocks noChangeArrowheads="1"/>
            </p:cNvSpPr>
            <p:nvPr/>
          </p:nvSpPr>
          <p:spPr bwMode="auto">
            <a:xfrm>
              <a:off x="4474" y="3540"/>
              <a:ext cx="907" cy="434"/>
            </a:xfrm>
            <a:prstGeom prst="rect">
              <a:avLst/>
            </a:prstGeom>
            <a:gradFill rotWithShape="1">
              <a:gsLst>
                <a:gs pos="0">
                  <a:srgbClr val="66FF66"/>
                </a:gs>
                <a:gs pos="50000">
                  <a:srgbClr val="FFFF00"/>
                </a:gs>
                <a:gs pos="100000">
                  <a:srgbClr val="66FF66"/>
                </a:gs>
              </a:gsLst>
              <a:lin ang="18900000" scaled="1"/>
            </a:gradFill>
            <a:ln w="9525">
              <a:solidFill>
                <a:srgbClr val="66FF66"/>
              </a:solidFill>
              <a:miter lim="800000"/>
              <a:headEnd/>
              <a:tailEnd/>
            </a:ln>
          </p:spPr>
          <p:txBody>
            <a:bodyPr anchor="ctr"/>
            <a:lstStyle/>
            <a:p>
              <a:pPr algn="ctr">
                <a:spcBef>
                  <a:spcPct val="20000"/>
                </a:spcBef>
              </a:pPr>
              <a:r>
                <a:rPr lang="en-US" altLang="zh-CN" sz="2800" i="1">
                  <a:solidFill>
                    <a:srgbClr val="FF0000"/>
                  </a:solidFill>
                  <a:latin typeface="Times New Roman" pitchFamily="18" charset="0"/>
                </a:rPr>
                <a:t>t</a:t>
              </a:r>
              <a:r>
                <a:rPr lang="zh-CN" altLang="en-US" sz="2800">
                  <a:solidFill>
                    <a:srgbClr val="FF0000"/>
                  </a:solidFill>
                </a:rPr>
                <a:t>＋</a:t>
              </a:r>
              <a:r>
                <a:rPr lang="en-US" altLang="zh-CN" sz="2800" i="1">
                  <a:solidFill>
                    <a:srgbClr val="FF0000"/>
                  </a:solidFill>
                  <a:latin typeface="Times New Roman" pitchFamily="18" charset="0"/>
                </a:rPr>
                <a:t>r</a:t>
              </a:r>
              <a:r>
                <a:rPr lang="zh-CN" altLang="en-US" sz="2800">
                  <a:solidFill>
                    <a:srgbClr val="FF0000"/>
                  </a:solidFill>
                </a:rPr>
                <a:t>＝</a:t>
              </a:r>
              <a:r>
                <a:rPr lang="en-US" altLang="zh-CN" sz="2800">
                  <a:solidFill>
                    <a:srgbClr val="FF0000"/>
                  </a:solidFill>
                </a:rPr>
                <a:t>6</a:t>
              </a:r>
            </a:p>
          </p:txBody>
        </p:sp>
        <p:sp>
          <p:nvSpPr>
            <p:cNvPr id="106511" name="Rectangle 8"/>
            <p:cNvSpPr>
              <a:spLocks noChangeArrowheads="1"/>
            </p:cNvSpPr>
            <p:nvPr/>
          </p:nvSpPr>
          <p:spPr bwMode="auto">
            <a:xfrm>
              <a:off x="4474" y="3067"/>
              <a:ext cx="907" cy="473"/>
            </a:xfrm>
            <a:prstGeom prst="rect">
              <a:avLst/>
            </a:prstGeom>
            <a:gradFill rotWithShape="1">
              <a:gsLst>
                <a:gs pos="0">
                  <a:srgbClr val="66FF66"/>
                </a:gs>
                <a:gs pos="50000">
                  <a:srgbClr val="FFFF00"/>
                </a:gs>
                <a:gs pos="100000">
                  <a:srgbClr val="66FF66"/>
                </a:gs>
              </a:gsLst>
              <a:lin ang="2700000" scaled="1"/>
            </a:gradFill>
            <a:ln w="9525">
              <a:solidFill>
                <a:srgbClr val="66FF66"/>
              </a:solidFill>
              <a:miter lim="800000"/>
              <a:headEnd/>
              <a:tailEnd/>
            </a:ln>
          </p:spPr>
          <p:txBody>
            <a:bodyPr anchor="ctr"/>
            <a:lstStyle/>
            <a:p>
              <a:pPr algn="ctr">
                <a:spcBef>
                  <a:spcPct val="20000"/>
                </a:spcBef>
              </a:pPr>
              <a:r>
                <a:rPr lang="zh-CN" altLang="en-US" sz="2400" b="1">
                  <a:solidFill>
                    <a:srgbClr val="0000FF"/>
                  </a:solidFill>
                </a:rPr>
                <a:t>多原子</a:t>
              </a:r>
            </a:p>
          </p:txBody>
        </p:sp>
        <p:grpSp>
          <p:nvGrpSpPr>
            <p:cNvPr id="106512" name="Group 9"/>
            <p:cNvGrpSpPr>
              <a:grpSpLocks/>
            </p:cNvGrpSpPr>
            <p:nvPr/>
          </p:nvGrpSpPr>
          <p:grpSpPr bwMode="auto">
            <a:xfrm>
              <a:off x="2387" y="3067"/>
              <a:ext cx="2087" cy="907"/>
              <a:chOff x="2387" y="3067"/>
              <a:chExt cx="2087" cy="907"/>
            </a:xfrm>
          </p:grpSpPr>
          <p:sp>
            <p:nvSpPr>
              <p:cNvPr id="106513" name="Rectangle 10"/>
              <p:cNvSpPr>
                <a:spLocks noChangeArrowheads="1"/>
              </p:cNvSpPr>
              <p:nvPr/>
            </p:nvSpPr>
            <p:spPr bwMode="auto">
              <a:xfrm>
                <a:off x="2387" y="3540"/>
                <a:ext cx="2087" cy="434"/>
              </a:xfrm>
              <a:prstGeom prst="rect">
                <a:avLst/>
              </a:prstGeom>
              <a:gradFill rotWithShape="1">
                <a:gsLst>
                  <a:gs pos="0">
                    <a:srgbClr val="66FF66"/>
                  </a:gs>
                  <a:gs pos="50000">
                    <a:srgbClr val="FFFF00"/>
                  </a:gs>
                  <a:gs pos="100000">
                    <a:srgbClr val="66FF66"/>
                  </a:gs>
                </a:gsLst>
                <a:lin ang="18900000" scaled="1"/>
              </a:gradFill>
              <a:ln w="9525">
                <a:solidFill>
                  <a:srgbClr val="66FF66"/>
                </a:solidFill>
                <a:miter lim="800000"/>
                <a:headEnd/>
                <a:tailEnd/>
              </a:ln>
            </p:spPr>
            <p:txBody>
              <a:bodyPr anchor="ctr"/>
              <a:lstStyle/>
              <a:p>
                <a:pPr algn="ctr">
                  <a:spcBef>
                    <a:spcPct val="20000"/>
                  </a:spcBef>
                </a:pPr>
                <a:r>
                  <a:rPr lang="en-US" altLang="zh-CN" sz="2400" b="1" i="1">
                    <a:solidFill>
                      <a:srgbClr val="FF0000"/>
                    </a:solidFill>
                    <a:latin typeface="Times New Roman" pitchFamily="18" charset="0"/>
                  </a:rPr>
                  <a:t>t</a:t>
                </a:r>
                <a:r>
                  <a:rPr lang="zh-CN" altLang="en-US" sz="2400" b="1">
                    <a:solidFill>
                      <a:srgbClr val="FF0000"/>
                    </a:solidFill>
                    <a:latin typeface="Times New Roman" pitchFamily="18" charset="0"/>
                  </a:rPr>
                  <a:t>＋</a:t>
                </a:r>
                <a:r>
                  <a:rPr lang="en-US" altLang="zh-CN" sz="2400" b="1" i="1">
                    <a:solidFill>
                      <a:srgbClr val="FF0000"/>
                    </a:solidFill>
                    <a:latin typeface="Times New Roman" pitchFamily="18" charset="0"/>
                  </a:rPr>
                  <a:t>r</a:t>
                </a:r>
                <a:r>
                  <a:rPr lang="zh-CN" altLang="en-US" sz="2400" b="1">
                    <a:solidFill>
                      <a:srgbClr val="FF0000"/>
                    </a:solidFill>
                  </a:rPr>
                  <a:t>＝</a:t>
                </a:r>
                <a:r>
                  <a:rPr lang="en-US" altLang="zh-CN" sz="2400" b="1">
                    <a:solidFill>
                      <a:srgbClr val="FF0000"/>
                    </a:solidFill>
                  </a:rPr>
                  <a:t>3</a:t>
                </a:r>
                <a:r>
                  <a:rPr lang="zh-CN" altLang="en-US" sz="2400" b="1">
                    <a:solidFill>
                      <a:srgbClr val="FF0000"/>
                    </a:solidFill>
                  </a:rPr>
                  <a:t>＋</a:t>
                </a:r>
                <a:r>
                  <a:rPr lang="en-US" altLang="zh-CN" sz="2400" b="1">
                    <a:solidFill>
                      <a:srgbClr val="FF0000"/>
                    </a:solidFill>
                  </a:rPr>
                  <a:t>2</a:t>
                </a:r>
                <a:r>
                  <a:rPr lang="zh-CN" altLang="en-US" sz="2400" b="1">
                    <a:solidFill>
                      <a:srgbClr val="FF0000"/>
                    </a:solidFill>
                  </a:rPr>
                  <a:t>＝</a:t>
                </a:r>
                <a:r>
                  <a:rPr lang="en-US" altLang="zh-CN" sz="2400" b="1">
                    <a:solidFill>
                      <a:srgbClr val="FF0000"/>
                    </a:solidFill>
                  </a:rPr>
                  <a:t>5</a:t>
                </a:r>
              </a:p>
            </p:txBody>
          </p:sp>
          <p:sp>
            <p:nvSpPr>
              <p:cNvPr id="106514" name="Rectangle 11"/>
              <p:cNvSpPr>
                <a:spLocks noChangeArrowheads="1"/>
              </p:cNvSpPr>
              <p:nvPr/>
            </p:nvSpPr>
            <p:spPr bwMode="auto">
              <a:xfrm>
                <a:off x="2387" y="3067"/>
                <a:ext cx="2087" cy="473"/>
              </a:xfrm>
              <a:prstGeom prst="rect">
                <a:avLst/>
              </a:prstGeom>
              <a:gradFill rotWithShape="1">
                <a:gsLst>
                  <a:gs pos="0">
                    <a:srgbClr val="66FF66"/>
                  </a:gs>
                  <a:gs pos="50000">
                    <a:srgbClr val="FFFF00"/>
                  </a:gs>
                  <a:gs pos="100000">
                    <a:srgbClr val="66FF66"/>
                  </a:gs>
                </a:gsLst>
                <a:lin ang="2700000" scaled="1"/>
              </a:gradFill>
              <a:ln w="9525">
                <a:solidFill>
                  <a:srgbClr val="66FF66"/>
                </a:solidFill>
                <a:miter lim="800000"/>
                <a:headEnd/>
                <a:tailEnd/>
              </a:ln>
            </p:spPr>
            <p:txBody>
              <a:bodyPr anchor="ctr"/>
              <a:lstStyle/>
              <a:p>
                <a:pPr algn="ctr">
                  <a:spcBef>
                    <a:spcPct val="20000"/>
                  </a:spcBef>
                </a:pPr>
                <a:r>
                  <a:rPr lang="zh-CN" altLang="en-US" sz="2400" b="1">
                    <a:solidFill>
                      <a:srgbClr val="0000FF"/>
                    </a:solidFill>
                  </a:rPr>
                  <a:t>双原子</a:t>
                </a:r>
              </a:p>
            </p:txBody>
          </p:sp>
        </p:grpSp>
      </p:grpSp>
      <p:grpSp>
        <p:nvGrpSpPr>
          <p:cNvPr id="5" name="Group 12"/>
          <p:cNvGrpSpPr>
            <a:grpSpLocks/>
          </p:cNvGrpSpPr>
          <p:nvPr/>
        </p:nvGrpSpPr>
        <p:grpSpPr bwMode="auto">
          <a:xfrm>
            <a:off x="403225" y="1000125"/>
            <a:ext cx="1882775" cy="1439863"/>
            <a:chOff x="300" y="3067"/>
            <a:chExt cx="1186" cy="907"/>
          </a:xfrm>
        </p:grpSpPr>
        <p:sp>
          <p:nvSpPr>
            <p:cNvPr id="28" name="Rectangle 13"/>
            <p:cNvSpPr>
              <a:spLocks noChangeArrowheads="1"/>
            </p:cNvSpPr>
            <p:nvPr/>
          </p:nvSpPr>
          <p:spPr bwMode="auto">
            <a:xfrm>
              <a:off x="300" y="3540"/>
              <a:ext cx="1186" cy="434"/>
            </a:xfrm>
            <a:prstGeom prst="rect">
              <a:avLst/>
            </a:prstGeom>
            <a:gradFill rotWithShape="1">
              <a:gsLst>
                <a:gs pos="0">
                  <a:srgbClr val="66FF66"/>
                </a:gs>
                <a:gs pos="50000">
                  <a:srgbClr val="FFFF00"/>
                </a:gs>
                <a:gs pos="100000">
                  <a:srgbClr val="66FF66"/>
                </a:gs>
              </a:gsLst>
              <a:lin ang="18900000" scaled="1"/>
            </a:gradFill>
            <a:ln w="9525">
              <a:solidFill>
                <a:srgbClr val="66FF66"/>
              </a:solidFill>
              <a:miter lim="800000"/>
              <a:headEnd/>
              <a:tailEnd/>
            </a:ln>
          </p:spPr>
          <p:txBody>
            <a:bodyPr anchor="ctr"/>
            <a:lstStyle/>
            <a:p>
              <a:pPr algn="ctr">
                <a:spcBef>
                  <a:spcPct val="20000"/>
                </a:spcBef>
                <a:defRPr/>
              </a:pPr>
              <a:r>
                <a:rPr lang="zh-CN" altLang="en-US" sz="2400" b="1">
                  <a:solidFill>
                    <a:srgbClr val="FF0000"/>
                  </a:solidFill>
                  <a:latin typeface="+mn-ea"/>
                  <a:ea typeface="+mn-ea"/>
                </a:rPr>
                <a:t>自由度数目</a:t>
              </a:r>
            </a:p>
          </p:txBody>
        </p:sp>
        <p:sp>
          <p:nvSpPr>
            <p:cNvPr id="29" name="Rectangle 14"/>
            <p:cNvSpPr>
              <a:spLocks noChangeArrowheads="1"/>
            </p:cNvSpPr>
            <p:nvPr/>
          </p:nvSpPr>
          <p:spPr bwMode="auto">
            <a:xfrm>
              <a:off x="300" y="3067"/>
              <a:ext cx="1186" cy="473"/>
            </a:xfrm>
            <a:prstGeom prst="rect">
              <a:avLst/>
            </a:prstGeom>
            <a:gradFill rotWithShape="1">
              <a:gsLst>
                <a:gs pos="0">
                  <a:srgbClr val="66FF66"/>
                </a:gs>
                <a:gs pos="50000">
                  <a:srgbClr val="FFFF00"/>
                </a:gs>
                <a:gs pos="100000">
                  <a:srgbClr val="66FF66"/>
                </a:gs>
              </a:gsLst>
              <a:lin ang="2700000" scaled="1"/>
            </a:gradFill>
            <a:ln w="9525">
              <a:solidFill>
                <a:srgbClr val="66FF66"/>
              </a:solidFill>
              <a:miter lim="800000"/>
              <a:headEnd/>
              <a:tailEnd/>
            </a:ln>
          </p:spPr>
          <p:txBody>
            <a:bodyPr anchor="ctr"/>
            <a:lstStyle/>
            <a:p>
              <a:pPr algn="ctr">
                <a:spcBef>
                  <a:spcPct val="20000"/>
                </a:spcBef>
                <a:defRPr/>
              </a:pPr>
              <a:r>
                <a:rPr lang="zh-CN" altLang="en-US" sz="2400" b="1" dirty="0">
                  <a:solidFill>
                    <a:srgbClr val="0000FF"/>
                  </a:solidFill>
                  <a:latin typeface="+mn-ea"/>
                  <a:ea typeface="+mn-ea"/>
                </a:rPr>
                <a:t>分子结构       </a:t>
              </a:r>
            </a:p>
          </p:txBody>
        </p:sp>
      </p:grpSp>
      <p:sp>
        <p:nvSpPr>
          <p:cNvPr id="30" name="Text Box 17"/>
          <p:cNvSpPr txBox="1">
            <a:spLocks noChangeArrowheads="1"/>
          </p:cNvSpPr>
          <p:nvPr/>
        </p:nvSpPr>
        <p:spPr bwMode="auto">
          <a:xfrm>
            <a:off x="1060450" y="2524125"/>
            <a:ext cx="4368800" cy="457200"/>
          </a:xfrm>
          <a:prstGeom prst="rect">
            <a:avLst/>
          </a:prstGeom>
          <a:noFill/>
          <a:ln w="9525">
            <a:noFill/>
            <a:miter lim="800000"/>
            <a:headEnd/>
            <a:tailEnd/>
          </a:ln>
        </p:spPr>
        <p:txBody>
          <a:bodyPr wrap="none">
            <a:spAutoFit/>
          </a:bodyPr>
          <a:lstStyle/>
          <a:p>
            <a:pPr algn="ctr"/>
            <a:r>
              <a:rPr kumimoji="1" lang="en-US" altLang="zh-CN" sz="2400" b="1" i="1">
                <a:solidFill>
                  <a:srgbClr val="FF0000"/>
                </a:solidFill>
                <a:latin typeface="Times New Roman" pitchFamily="18" charset="0"/>
                <a:ea typeface="楷体_GB2312" pitchFamily="49" charset="-122"/>
              </a:rPr>
              <a:t>t</a:t>
            </a:r>
            <a:r>
              <a:rPr kumimoji="1" lang="zh-CN" altLang="en-US" sz="2400" b="1">
                <a:latin typeface="Times New Roman" pitchFamily="18" charset="0"/>
                <a:ea typeface="楷体_GB2312" pitchFamily="49" charset="-122"/>
              </a:rPr>
              <a:t>：</a:t>
            </a:r>
            <a:r>
              <a:rPr lang="zh-CN" altLang="en-US" sz="2400" b="1">
                <a:latin typeface="Times New Roman" pitchFamily="18" charset="0"/>
                <a:ea typeface="楷体_GB2312" pitchFamily="49" charset="-122"/>
              </a:rPr>
              <a:t>平动自由度   </a:t>
            </a:r>
            <a:r>
              <a:rPr lang="zh-CN" altLang="en-US" sz="2400" b="1">
                <a:solidFill>
                  <a:srgbClr val="FF0000"/>
                </a:solidFill>
                <a:latin typeface="Times New Roman" pitchFamily="18" charset="0"/>
                <a:ea typeface="楷体_GB2312" pitchFamily="49" charset="-122"/>
              </a:rPr>
              <a:t> </a:t>
            </a:r>
            <a:r>
              <a:rPr lang="en-US" altLang="zh-CN" sz="2400" b="1" i="1">
                <a:solidFill>
                  <a:srgbClr val="FF0000"/>
                </a:solidFill>
                <a:latin typeface="Times New Roman" pitchFamily="18" charset="0"/>
                <a:ea typeface="楷体_GB2312" pitchFamily="49" charset="-122"/>
              </a:rPr>
              <a:t>r</a:t>
            </a:r>
            <a:r>
              <a:rPr lang="zh-CN" altLang="en-US" sz="2400" b="1">
                <a:latin typeface="Times New Roman" pitchFamily="18" charset="0"/>
                <a:ea typeface="楷体_GB2312" pitchFamily="49" charset="-122"/>
              </a:rPr>
              <a:t>：转动自由度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8870"/>
                                        </p:tgtEl>
                                        <p:attrNameLst>
                                          <p:attrName>style.visibility</p:attrName>
                                        </p:attrNameLst>
                                      </p:cBhvr>
                                      <p:to>
                                        <p:strVal val="visible"/>
                                      </p:to>
                                    </p:set>
                                    <p:animEffect transition="in" filter="wipe(left)">
                                      <p:cBhvr>
                                        <p:cTn id="7" dur="500"/>
                                        <p:tgtEl>
                                          <p:spTgt spid="24887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8834"/>
                                        </p:tgtEl>
                                        <p:attrNameLst>
                                          <p:attrName>style.visibility</p:attrName>
                                        </p:attrNameLst>
                                      </p:cBhvr>
                                      <p:to>
                                        <p:strVal val="visible"/>
                                      </p:to>
                                    </p:set>
                                    <p:animEffect transition="in" filter="wipe(left)">
                                      <p:cBhvr>
                                        <p:cTn id="10" dur="500"/>
                                        <p:tgtEl>
                                          <p:spTgt spid="24883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1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left)">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8865"/>
                                        </p:tgtEl>
                                        <p:attrNameLst>
                                          <p:attrName>style.visibility</p:attrName>
                                        </p:attrNameLst>
                                      </p:cBhvr>
                                      <p:to>
                                        <p:strVal val="visible"/>
                                      </p:to>
                                    </p:set>
                                    <p:animEffect transition="in" filter="wipe(left)">
                                      <p:cBhvr>
                                        <p:cTn id="35" dur="500"/>
                                        <p:tgtEl>
                                          <p:spTgt spid="248865"/>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48860"/>
                                        </p:tgtEl>
                                        <p:attrNameLst>
                                          <p:attrName>style.visibility</p:attrName>
                                        </p:attrNameLst>
                                      </p:cBhvr>
                                      <p:to>
                                        <p:strVal val="visible"/>
                                      </p:to>
                                    </p:set>
                                    <p:animEffect transition="in" filter="wipe(left)">
                                      <p:cBhvr>
                                        <p:cTn id="39" dur="500"/>
                                        <p:tgtEl>
                                          <p:spTgt spid="24886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8861"/>
                                        </p:tgtEl>
                                        <p:attrNameLst>
                                          <p:attrName>style.visibility</p:attrName>
                                        </p:attrNameLst>
                                      </p:cBhvr>
                                      <p:to>
                                        <p:strVal val="visible"/>
                                      </p:to>
                                    </p:set>
                                    <p:animEffect transition="in" filter="wipe(left)">
                                      <p:cBhvr>
                                        <p:cTn id="44" dur="500"/>
                                        <p:tgtEl>
                                          <p:spTgt spid="24886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48869"/>
                                        </p:tgtEl>
                                        <p:attrNameLst>
                                          <p:attrName>style.visibility</p:attrName>
                                        </p:attrNameLst>
                                      </p:cBhvr>
                                      <p:to>
                                        <p:strVal val="visible"/>
                                      </p:to>
                                    </p:set>
                                    <p:animEffect transition="in" filter="wipe(left)">
                                      <p:cBhvr>
                                        <p:cTn id="49" dur="500"/>
                                        <p:tgtEl>
                                          <p:spTgt spid="248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autoUpdateAnimBg="0"/>
      <p:bldP spid="248860" grpId="0" autoUpdateAnimBg="0"/>
      <p:bldP spid="248861" grpId="0" autoUpdateAnimBg="0"/>
      <p:bldP spid="248865" grpId="0" animBg="1"/>
      <p:bldP spid="248869" grpId="0" autoUpdateAnimBg="0"/>
      <p:bldP spid="248870" grpId="0" animBg="1"/>
      <p:bldP spid="30"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79388" y="476250"/>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8.4.2 </a:t>
            </a:r>
            <a:r>
              <a:rPr kumimoji="1" lang="zh-CN" altLang="en-US" sz="2400" b="1">
                <a:solidFill>
                  <a:srgbClr val="0000FF"/>
                </a:solidFill>
              </a:rPr>
              <a:t>能量均分定理</a:t>
            </a:r>
            <a:r>
              <a:rPr kumimoji="1" lang="zh-CN" altLang="en-US" sz="2400"/>
              <a:t> </a:t>
            </a:r>
          </a:p>
        </p:txBody>
      </p:sp>
      <p:sp>
        <p:nvSpPr>
          <p:cNvPr id="3" name="Text Box 5"/>
          <p:cNvSpPr txBox="1">
            <a:spLocks noChangeArrowheads="1"/>
          </p:cNvSpPr>
          <p:nvPr/>
        </p:nvSpPr>
        <p:spPr bwMode="auto">
          <a:xfrm>
            <a:off x="642938" y="2643188"/>
            <a:ext cx="3587750" cy="461962"/>
          </a:xfrm>
          <a:prstGeom prst="rect">
            <a:avLst/>
          </a:prstGeom>
          <a:noFill/>
          <a:ln w="9525">
            <a:noFill/>
            <a:miter lim="800000"/>
            <a:headEnd/>
            <a:tailEnd/>
          </a:ln>
        </p:spPr>
        <p:txBody>
          <a:bodyPr wrap="none">
            <a:spAutoFit/>
          </a:bodyPr>
          <a:lstStyle/>
          <a:p>
            <a:pPr>
              <a:defRPr/>
            </a:pPr>
            <a:r>
              <a:rPr kumimoji="1" lang="zh-CN" altLang="en-US" sz="2400" b="1" dirty="0">
                <a:latin typeface="+mn-ea"/>
                <a:ea typeface="+mn-ea"/>
              </a:rPr>
              <a:t>每个分子平均平动动能为</a:t>
            </a:r>
          </a:p>
        </p:txBody>
      </p:sp>
      <p:graphicFrame>
        <p:nvGraphicFramePr>
          <p:cNvPr id="4" name="Object 6"/>
          <p:cNvGraphicFramePr>
            <a:graphicFrameLocks/>
          </p:cNvGraphicFramePr>
          <p:nvPr/>
        </p:nvGraphicFramePr>
        <p:xfrm>
          <a:off x="4572000" y="2500313"/>
          <a:ext cx="2214563" cy="785812"/>
        </p:xfrm>
        <a:graphic>
          <a:graphicData uri="http://schemas.openxmlformats.org/presentationml/2006/ole">
            <p:oleObj spid="_x0000_s27650" name="Equation" r:id="rId3" imgW="1130040" imgH="393480" progId="">
              <p:embed/>
            </p:oleObj>
          </a:graphicData>
        </a:graphic>
      </p:graphicFrame>
      <p:graphicFrame>
        <p:nvGraphicFramePr>
          <p:cNvPr id="5" name="Object 7"/>
          <p:cNvGraphicFramePr>
            <a:graphicFrameLocks/>
          </p:cNvGraphicFramePr>
          <p:nvPr/>
        </p:nvGraphicFramePr>
        <p:xfrm>
          <a:off x="1071563" y="3429000"/>
          <a:ext cx="4000500" cy="806450"/>
        </p:xfrm>
        <a:graphic>
          <a:graphicData uri="http://schemas.openxmlformats.org/presentationml/2006/ole">
            <p:oleObj spid="_x0000_s27651" name="Equation" r:id="rId4" imgW="1942920" imgH="393480" progId="">
              <p:embed/>
            </p:oleObj>
          </a:graphicData>
        </a:graphic>
      </p:graphicFrame>
      <p:graphicFrame>
        <p:nvGraphicFramePr>
          <p:cNvPr id="6" name="Object 9"/>
          <p:cNvGraphicFramePr>
            <a:graphicFrameLocks noChangeAspect="1"/>
          </p:cNvGraphicFramePr>
          <p:nvPr/>
        </p:nvGraphicFramePr>
        <p:xfrm>
          <a:off x="5429250" y="3357563"/>
          <a:ext cx="2362200" cy="712787"/>
        </p:xfrm>
        <a:graphic>
          <a:graphicData uri="http://schemas.openxmlformats.org/presentationml/2006/ole">
            <p:oleObj spid="_x0000_s27652" name="Equation" r:id="rId5" imgW="1295280" imgH="393480" progId="">
              <p:embed/>
            </p:oleObj>
          </a:graphicData>
        </a:graphic>
      </p:graphicFrame>
      <p:sp>
        <p:nvSpPr>
          <p:cNvPr id="7" name="Text Box 15"/>
          <p:cNvSpPr txBox="1">
            <a:spLocks noChangeArrowheads="1"/>
          </p:cNvSpPr>
          <p:nvPr/>
        </p:nvSpPr>
        <p:spPr bwMode="auto">
          <a:xfrm>
            <a:off x="539750" y="981075"/>
            <a:ext cx="8207375" cy="1463675"/>
          </a:xfrm>
          <a:prstGeom prst="rect">
            <a:avLst/>
          </a:prstGeom>
          <a:noFill/>
          <a:ln w="9525">
            <a:noFill/>
            <a:miter lim="800000"/>
            <a:headEnd/>
            <a:tailEnd/>
          </a:ln>
        </p:spPr>
        <p:txBody>
          <a:bodyPr>
            <a:spAutoFit/>
          </a:bodyPr>
          <a:lstStyle/>
          <a:p>
            <a:pPr>
              <a:lnSpc>
                <a:spcPct val="125000"/>
              </a:lnSpc>
              <a:defRPr/>
            </a:pPr>
            <a:r>
              <a:rPr kumimoji="1" lang="en-US" altLang="zh-CN" sz="2400" b="1" dirty="0">
                <a:latin typeface="+mn-ea"/>
                <a:ea typeface="+mn-ea"/>
              </a:rPr>
              <a:t>    </a:t>
            </a:r>
            <a:r>
              <a:rPr kumimoji="1" lang="zh-CN" altLang="en-US" sz="2400" b="1" dirty="0">
                <a:latin typeface="+mn-ea"/>
                <a:ea typeface="+mn-ea"/>
              </a:rPr>
              <a:t>研究</a:t>
            </a:r>
            <a:r>
              <a:rPr kumimoji="1" lang="zh-CN" altLang="en-US" sz="2400" b="1" dirty="0">
                <a:solidFill>
                  <a:srgbClr val="FF6600"/>
                </a:solidFill>
                <a:latin typeface="+mn-ea"/>
                <a:ea typeface="+mn-ea"/>
              </a:rPr>
              <a:t>热运动能量</a:t>
            </a:r>
            <a:r>
              <a:rPr kumimoji="1" lang="zh-CN" altLang="en-US" sz="2400" b="1" dirty="0">
                <a:latin typeface="+mn-ea"/>
                <a:ea typeface="+mn-ea"/>
              </a:rPr>
              <a:t>时，不能将分子看作一个质点，而应看作有一定大小和内部结构的分子。这样，分子的动能就有</a:t>
            </a:r>
            <a:r>
              <a:rPr kumimoji="1" lang="zh-CN" altLang="en-US" sz="2400" b="1" dirty="0">
                <a:solidFill>
                  <a:srgbClr val="FF6600"/>
                </a:solidFill>
                <a:latin typeface="+mn-ea"/>
                <a:ea typeface="+mn-ea"/>
              </a:rPr>
              <a:t>平动动能</a:t>
            </a:r>
            <a:r>
              <a:rPr kumimoji="1" lang="zh-CN" altLang="en-US" sz="2400" b="1" dirty="0">
                <a:latin typeface="+mn-ea"/>
                <a:ea typeface="+mn-ea"/>
              </a:rPr>
              <a:t>、</a:t>
            </a:r>
            <a:r>
              <a:rPr kumimoji="1" lang="zh-CN" altLang="en-US" sz="2400" b="1" dirty="0">
                <a:solidFill>
                  <a:srgbClr val="FF6600"/>
                </a:solidFill>
                <a:latin typeface="+mn-ea"/>
                <a:ea typeface="+mn-ea"/>
              </a:rPr>
              <a:t>转动动能</a:t>
            </a:r>
            <a:r>
              <a:rPr kumimoji="1" lang="zh-CN" altLang="en-US" sz="2400" b="1" dirty="0">
                <a:latin typeface="+mn-ea"/>
                <a:ea typeface="+mn-ea"/>
              </a:rPr>
              <a:t>和</a:t>
            </a:r>
            <a:r>
              <a:rPr kumimoji="1" lang="zh-CN" altLang="en-US" sz="2400" b="1" dirty="0">
                <a:solidFill>
                  <a:srgbClr val="FF6600"/>
                </a:solidFill>
                <a:latin typeface="+mn-ea"/>
                <a:ea typeface="+mn-ea"/>
              </a:rPr>
              <a:t>振动动能</a:t>
            </a:r>
            <a:r>
              <a:rPr kumimoji="1" lang="zh-CN" altLang="en-US" sz="2400" b="1" dirty="0">
                <a:latin typeface="+mn-ea"/>
                <a:ea typeface="+mn-ea"/>
              </a:rPr>
              <a:t>。</a:t>
            </a:r>
          </a:p>
        </p:txBody>
      </p:sp>
      <p:graphicFrame>
        <p:nvGraphicFramePr>
          <p:cNvPr id="8" name="Object 16"/>
          <p:cNvGraphicFramePr>
            <a:graphicFrameLocks/>
          </p:cNvGraphicFramePr>
          <p:nvPr/>
        </p:nvGraphicFramePr>
        <p:xfrm>
          <a:off x="2500313" y="4357688"/>
          <a:ext cx="3816350" cy="741362"/>
        </p:xfrm>
        <a:graphic>
          <a:graphicData uri="http://schemas.openxmlformats.org/presentationml/2006/ole">
            <p:oleObj spid="_x0000_s27653" name="公式" r:id="rId6" imgW="4241520" imgH="825480" progId="Equation.3">
              <p:embed/>
            </p:oleObj>
          </a:graphicData>
        </a:graphic>
      </p:graphicFrame>
      <p:sp>
        <p:nvSpPr>
          <p:cNvPr id="9" name="Text Box 17"/>
          <p:cNvSpPr txBox="1">
            <a:spLocks noChangeArrowheads="1"/>
          </p:cNvSpPr>
          <p:nvPr/>
        </p:nvSpPr>
        <p:spPr bwMode="auto">
          <a:xfrm>
            <a:off x="522288" y="5302250"/>
            <a:ext cx="7777162" cy="1016000"/>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mn-ea"/>
                <a:ea typeface="+mn-ea"/>
              </a:rPr>
              <a:t>    可以认为，气体分子的</a:t>
            </a:r>
            <a:r>
              <a:rPr kumimoji="1" lang="zh-CN" altLang="en-US" sz="2400" b="1" dirty="0">
                <a:solidFill>
                  <a:srgbClr val="FF6600"/>
                </a:solidFill>
                <a:latin typeface="+mn-ea"/>
                <a:ea typeface="+mn-ea"/>
              </a:rPr>
              <a:t>平均平动动能</a:t>
            </a:r>
            <a:r>
              <a:rPr kumimoji="1" lang="zh-CN" altLang="en-US" sz="2400" b="1" dirty="0">
                <a:latin typeface="+mn-ea"/>
                <a:ea typeface="+mn-ea"/>
              </a:rPr>
              <a:t>是</a:t>
            </a:r>
            <a:r>
              <a:rPr kumimoji="1" lang="zh-CN" altLang="en-US" sz="2400" b="1" dirty="0">
                <a:solidFill>
                  <a:srgbClr val="FF6600"/>
                </a:solidFill>
                <a:latin typeface="+mn-ea"/>
                <a:ea typeface="+mn-ea"/>
              </a:rPr>
              <a:t>平均</a:t>
            </a:r>
            <a:r>
              <a:rPr kumimoji="1" lang="zh-CN" altLang="en-US" sz="2400" b="1" dirty="0">
                <a:latin typeface="+mn-ea"/>
                <a:ea typeface="+mn-ea"/>
              </a:rPr>
              <a:t>分配在每一个</a:t>
            </a:r>
            <a:r>
              <a:rPr kumimoji="1" lang="zh-CN" altLang="en-US" sz="2400" b="1" dirty="0">
                <a:solidFill>
                  <a:srgbClr val="FF6600"/>
                </a:solidFill>
                <a:latin typeface="+mn-ea"/>
                <a:ea typeface="+mn-ea"/>
              </a:rPr>
              <a:t>平动自由度</a:t>
            </a:r>
            <a:r>
              <a:rPr kumimoji="1" lang="zh-CN" altLang="en-US" sz="2400" b="1" dirty="0">
                <a:latin typeface="+mn-ea"/>
                <a:ea typeface="+mn-ea"/>
              </a:rPr>
              <a:t>上的。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7" grpId="0" autoUpdateAnimBg="0"/>
      <p:bldP spid="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6"/>
          <p:cNvGrpSpPr>
            <a:grpSpLocks/>
          </p:cNvGrpSpPr>
          <p:nvPr/>
        </p:nvGrpSpPr>
        <p:grpSpPr bwMode="auto">
          <a:xfrm>
            <a:off x="214313" y="657225"/>
            <a:ext cx="8286750" cy="1222375"/>
            <a:chOff x="214282" y="657035"/>
            <a:chExt cx="8286808" cy="1222633"/>
          </a:xfrm>
        </p:grpSpPr>
        <p:sp>
          <p:nvSpPr>
            <p:cNvPr id="8" name="Text Box 17"/>
            <p:cNvSpPr txBox="1">
              <a:spLocks noChangeArrowheads="1"/>
            </p:cNvSpPr>
            <p:nvPr/>
          </p:nvSpPr>
          <p:spPr bwMode="auto">
            <a:xfrm>
              <a:off x="214282" y="657035"/>
              <a:ext cx="8286808" cy="1200403"/>
            </a:xfrm>
            <a:prstGeom prst="rect">
              <a:avLst/>
            </a:prstGeom>
            <a:gradFill rotWithShape="1">
              <a:gsLst>
                <a:gs pos="0">
                  <a:srgbClr val="FFFF00"/>
                </a:gs>
                <a:gs pos="100000">
                  <a:srgbClr val="66FFFF"/>
                </a:gs>
              </a:gsLst>
              <a:lin ang="0" scaled="1"/>
            </a:gradFill>
            <a:ln w="9525" algn="ctr">
              <a:noFill/>
              <a:miter lim="800000"/>
              <a:headEnd/>
              <a:tailEnd/>
            </a:ln>
          </p:spPr>
          <p:txBody>
            <a:bodyPr>
              <a:spAutoFit/>
            </a:bodyPr>
            <a:lstStyle/>
            <a:p>
              <a:pPr>
                <a:lnSpc>
                  <a:spcPct val="150000"/>
                </a:lnSpc>
                <a:defRPr/>
              </a:pPr>
              <a:r>
                <a:rPr kumimoji="1" lang="zh-CN" altLang="en-US" sz="2400" b="1" dirty="0">
                  <a:latin typeface="+mn-ea"/>
                  <a:ea typeface="+mn-ea"/>
                </a:rPr>
                <a:t> 在温度为</a:t>
              </a:r>
              <a:r>
                <a:rPr kumimoji="1" lang="zh-CN" altLang="en-US" sz="2400" b="1" dirty="0">
                  <a:latin typeface="Times New Roman" pitchFamily="18" charset="0"/>
                  <a:ea typeface="+mn-ea"/>
                  <a:cs typeface="Times New Roman" pitchFamily="18" charset="0"/>
                </a:rPr>
                <a:t> </a:t>
              </a:r>
              <a:r>
                <a:rPr kumimoji="1" lang="en-US" altLang="zh-CN" sz="2200" b="1" i="1" dirty="0">
                  <a:solidFill>
                    <a:srgbClr val="FF3300"/>
                  </a:solidFill>
                  <a:latin typeface="Times New Roman" pitchFamily="18" charset="0"/>
                  <a:ea typeface="+mn-ea"/>
                  <a:cs typeface="Times New Roman" pitchFamily="18" charset="0"/>
                </a:rPr>
                <a:t>T </a:t>
              </a:r>
              <a:r>
                <a:rPr kumimoji="1" lang="en-US" altLang="zh-CN" sz="2400" b="1" i="1" dirty="0">
                  <a:latin typeface="Times New Roman" pitchFamily="18" charset="0"/>
                  <a:ea typeface="+mn-ea"/>
                  <a:cs typeface="Times New Roman" pitchFamily="18" charset="0"/>
                </a:rPr>
                <a:t> </a:t>
              </a:r>
              <a:r>
                <a:rPr kumimoji="1" lang="zh-CN" altLang="en-US" sz="2400" b="1" dirty="0">
                  <a:latin typeface="+mn-ea"/>
                  <a:ea typeface="+mn-ea"/>
                </a:rPr>
                <a:t>的平衡状态下，分子的每个自由度的</a:t>
              </a:r>
              <a:r>
                <a:rPr kumimoji="1" lang="zh-CN" altLang="en-US" sz="2400" b="1" dirty="0">
                  <a:solidFill>
                    <a:srgbClr val="FF3300"/>
                  </a:solidFill>
                  <a:latin typeface="+mn-ea"/>
                  <a:ea typeface="+mn-ea"/>
                </a:rPr>
                <a:t>平均动能</a:t>
              </a:r>
              <a:r>
                <a:rPr kumimoji="1" lang="zh-CN" altLang="en-US" sz="2400" b="1" dirty="0">
                  <a:latin typeface="+mn-ea"/>
                  <a:ea typeface="+mn-ea"/>
                </a:rPr>
                <a:t>均为    。这样的能量分配原则称为</a:t>
              </a:r>
              <a:r>
                <a:rPr kumimoji="1" lang="zh-CN" altLang="en-US" sz="2400" b="1" dirty="0">
                  <a:solidFill>
                    <a:srgbClr val="FF3300"/>
                  </a:solidFill>
                  <a:latin typeface="+mn-ea"/>
                  <a:ea typeface="+mn-ea"/>
                </a:rPr>
                <a:t>能量按自由度均分定理</a:t>
              </a:r>
              <a:r>
                <a:rPr kumimoji="1" lang="zh-CN" altLang="en-US" sz="2400" b="1" dirty="0">
                  <a:latin typeface="+mn-ea"/>
                  <a:ea typeface="+mn-ea"/>
                </a:rPr>
                <a:t>。</a:t>
              </a:r>
            </a:p>
          </p:txBody>
        </p:sp>
        <p:graphicFrame>
          <p:nvGraphicFramePr>
            <p:cNvPr id="28675" name="Object 18"/>
            <p:cNvGraphicFramePr>
              <a:graphicFrameLocks noChangeAspect="1"/>
            </p:cNvGraphicFramePr>
            <p:nvPr/>
          </p:nvGraphicFramePr>
          <p:xfrm>
            <a:off x="1000100" y="1165286"/>
            <a:ext cx="575336" cy="714382"/>
          </p:xfrm>
          <a:graphic>
            <a:graphicData uri="http://schemas.openxmlformats.org/presentationml/2006/ole">
              <p:oleObj spid="_x0000_s28675" name="Equation" r:id="rId3" imgW="342720" imgH="393480" progId="">
                <p:embed/>
              </p:oleObj>
            </a:graphicData>
          </a:graphic>
        </p:graphicFrame>
      </p:grpSp>
      <p:graphicFrame>
        <p:nvGraphicFramePr>
          <p:cNvPr id="10" name="Object 12"/>
          <p:cNvGraphicFramePr>
            <a:graphicFrameLocks noChangeAspect="1"/>
          </p:cNvGraphicFramePr>
          <p:nvPr/>
        </p:nvGraphicFramePr>
        <p:xfrm>
          <a:off x="5286375" y="5262563"/>
          <a:ext cx="2206625" cy="738187"/>
        </p:xfrm>
        <a:graphic>
          <a:graphicData uri="http://schemas.openxmlformats.org/presentationml/2006/ole">
            <p:oleObj spid="_x0000_s28674" name="Equation" r:id="rId4" imgW="1143000" imgH="393480" progId="">
              <p:embed/>
            </p:oleObj>
          </a:graphicData>
        </a:graphic>
      </p:graphicFrame>
      <p:sp>
        <p:nvSpPr>
          <p:cNvPr id="11" name="Rectangle 13"/>
          <p:cNvSpPr>
            <a:spLocks noChangeArrowheads="1"/>
          </p:cNvSpPr>
          <p:nvPr/>
        </p:nvSpPr>
        <p:spPr bwMode="auto">
          <a:xfrm>
            <a:off x="214313" y="4714875"/>
            <a:ext cx="8280400" cy="506413"/>
          </a:xfrm>
          <a:prstGeom prst="rect">
            <a:avLst/>
          </a:prstGeom>
          <a:noFill/>
          <a:ln w="9525">
            <a:noFill/>
            <a:miter lim="800000"/>
            <a:headEnd/>
            <a:tailEnd/>
          </a:ln>
        </p:spPr>
        <p:txBody>
          <a:bodyPr>
            <a:spAutoFit/>
          </a:bodyPr>
          <a:lstStyle/>
          <a:p>
            <a:pPr>
              <a:lnSpc>
                <a:spcPct val="125000"/>
              </a:lnSpc>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若某种气体分子具有</a:t>
            </a:r>
            <a:r>
              <a:rPr kumimoji="1" lang="en-US" altLang="zh-CN" sz="2400" b="1" i="1" dirty="0">
                <a:solidFill>
                  <a:srgbClr val="FF0000"/>
                </a:solidFill>
                <a:latin typeface="Times New Roman" pitchFamily="18" charset="0"/>
                <a:ea typeface="+mn-ea"/>
                <a:cs typeface="Times New Roman" pitchFamily="18" charset="0"/>
              </a:rPr>
              <a:t>t </a:t>
            </a:r>
            <a:r>
              <a:rPr kumimoji="1" lang="zh-CN" altLang="en-US" sz="2400" b="1" dirty="0">
                <a:latin typeface="Times New Roman" pitchFamily="18" charset="0"/>
                <a:ea typeface="+mn-ea"/>
                <a:cs typeface="Times New Roman" pitchFamily="18" charset="0"/>
              </a:rPr>
              <a:t>个平动自由度和</a:t>
            </a:r>
            <a:r>
              <a:rPr kumimoji="1" lang="en-US" altLang="zh-CN" sz="2400" b="1" i="1" dirty="0">
                <a:solidFill>
                  <a:srgbClr val="FF0000"/>
                </a:solidFill>
                <a:latin typeface="Times New Roman" pitchFamily="18" charset="0"/>
                <a:ea typeface="+mn-ea"/>
                <a:cs typeface="Times New Roman" pitchFamily="18" charset="0"/>
              </a:rPr>
              <a:t>r </a:t>
            </a:r>
            <a:r>
              <a:rPr kumimoji="1" lang="zh-CN" altLang="en-US" sz="2400" b="1" dirty="0">
                <a:latin typeface="Times New Roman" pitchFamily="18" charset="0"/>
                <a:ea typeface="+mn-ea"/>
                <a:cs typeface="Times New Roman" pitchFamily="18" charset="0"/>
              </a:rPr>
              <a:t>个转动自由度，</a:t>
            </a:r>
          </a:p>
        </p:txBody>
      </p:sp>
      <p:sp>
        <p:nvSpPr>
          <p:cNvPr id="12" name="Text Box 14"/>
          <p:cNvSpPr txBox="1">
            <a:spLocks noChangeArrowheads="1"/>
          </p:cNvSpPr>
          <p:nvPr/>
        </p:nvSpPr>
        <p:spPr bwMode="auto">
          <a:xfrm>
            <a:off x="642938" y="5405438"/>
            <a:ext cx="4537075" cy="457200"/>
          </a:xfrm>
          <a:prstGeom prst="rect">
            <a:avLst/>
          </a:prstGeom>
          <a:noFill/>
          <a:ln w="9525">
            <a:noFill/>
            <a:miter lim="800000"/>
            <a:headEnd/>
            <a:tailEnd/>
          </a:ln>
        </p:spPr>
        <p:txBody>
          <a:bodyPr>
            <a:spAutoFit/>
          </a:bodyPr>
          <a:lstStyle/>
          <a:p>
            <a:pPr>
              <a:defRPr/>
            </a:pPr>
            <a:r>
              <a:rPr kumimoji="1" lang="zh-CN" altLang="en-US" sz="2400" b="1" dirty="0">
                <a:latin typeface="Times New Roman" pitchFamily="18" charset="0"/>
                <a:ea typeface="+mn-ea"/>
                <a:cs typeface="Times New Roman" pitchFamily="18" charset="0"/>
              </a:rPr>
              <a:t>则每个气体分子的</a:t>
            </a:r>
            <a:r>
              <a:rPr kumimoji="1" lang="zh-CN" altLang="en-US" sz="2400" b="1" dirty="0">
                <a:solidFill>
                  <a:srgbClr val="FF0000"/>
                </a:solidFill>
                <a:latin typeface="Times New Roman" pitchFamily="18" charset="0"/>
                <a:ea typeface="+mn-ea"/>
                <a:cs typeface="Times New Roman" pitchFamily="18" charset="0"/>
              </a:rPr>
              <a:t>平均总动能</a:t>
            </a:r>
            <a:r>
              <a:rPr kumimoji="1" lang="zh-CN" altLang="en-US" sz="2400" b="1" dirty="0">
                <a:latin typeface="Times New Roman" pitchFamily="18" charset="0"/>
                <a:ea typeface="+mn-ea"/>
                <a:cs typeface="Times New Roman" pitchFamily="18" charset="0"/>
              </a:rPr>
              <a:t>为：</a:t>
            </a:r>
          </a:p>
        </p:txBody>
      </p:sp>
      <p:sp>
        <p:nvSpPr>
          <p:cNvPr id="13" name="AutoShape 2"/>
          <p:cNvSpPr>
            <a:spLocks noChangeArrowheads="1"/>
          </p:cNvSpPr>
          <p:nvPr/>
        </p:nvSpPr>
        <p:spPr bwMode="auto">
          <a:xfrm>
            <a:off x="246063" y="2187575"/>
            <a:ext cx="360362" cy="576263"/>
          </a:xfrm>
          <a:prstGeom prst="star4">
            <a:avLst>
              <a:gd name="adj" fmla="val 18519"/>
            </a:avLst>
          </a:prstGeom>
          <a:gradFill rotWithShape="1">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endParaRPr lang="zh-CN" altLang="en-US"/>
          </a:p>
        </p:txBody>
      </p:sp>
      <p:sp>
        <p:nvSpPr>
          <p:cNvPr id="14" name="Text Box 3"/>
          <p:cNvSpPr txBox="1">
            <a:spLocks noChangeArrowheads="1"/>
          </p:cNvSpPr>
          <p:nvPr/>
        </p:nvSpPr>
        <p:spPr bwMode="auto">
          <a:xfrm>
            <a:off x="571500" y="2214563"/>
            <a:ext cx="2016125" cy="512762"/>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pPr>
            <a:r>
              <a:rPr kumimoji="1" lang="zh-CN" altLang="en-US" sz="2400" b="1">
                <a:solidFill>
                  <a:srgbClr val="FF3300"/>
                </a:solidFill>
                <a:latin typeface="Times New Roman" pitchFamily="18" charset="0"/>
              </a:rPr>
              <a:t>说明</a:t>
            </a:r>
          </a:p>
        </p:txBody>
      </p:sp>
      <p:sp>
        <p:nvSpPr>
          <p:cNvPr id="15" name="Text Box 4"/>
          <p:cNvSpPr txBox="1">
            <a:spLocks noChangeArrowheads="1"/>
          </p:cNvSpPr>
          <p:nvPr/>
        </p:nvSpPr>
        <p:spPr bwMode="auto">
          <a:xfrm>
            <a:off x="214313" y="3429000"/>
            <a:ext cx="8596312" cy="1130300"/>
          </a:xfrm>
          <a:prstGeom prst="rect">
            <a:avLst/>
          </a:prstGeom>
          <a:noFill/>
          <a:ln w="9525">
            <a:noFill/>
            <a:miter lim="800000"/>
            <a:headEnd/>
            <a:tailEnd/>
          </a:ln>
        </p:spPr>
        <p:txBody>
          <a:bodyPr>
            <a:spAutoFit/>
          </a:bodyPr>
          <a:lstStyle/>
          <a:p>
            <a:pPr>
              <a:lnSpc>
                <a:spcPct val="150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能量按自由度均分是大量分子</a:t>
            </a:r>
            <a:r>
              <a:rPr kumimoji="1" lang="zh-CN" altLang="en-US" sz="2400" b="1" dirty="0">
                <a:solidFill>
                  <a:srgbClr val="FF3300"/>
                </a:solidFill>
                <a:latin typeface="Times New Roman" pitchFamily="18" charset="0"/>
                <a:ea typeface="+mn-ea"/>
                <a:cs typeface="Times New Roman" pitchFamily="18" charset="0"/>
              </a:rPr>
              <a:t>统计平均</a:t>
            </a:r>
            <a:r>
              <a:rPr kumimoji="1" lang="zh-CN" altLang="en-US" sz="2400" b="1" dirty="0">
                <a:latin typeface="Times New Roman" pitchFamily="18" charset="0"/>
                <a:ea typeface="+mn-ea"/>
                <a:cs typeface="Times New Roman" pitchFamily="18" charset="0"/>
              </a:rPr>
              <a:t>的结果，是分子间的</a:t>
            </a:r>
            <a:r>
              <a:rPr kumimoji="1" lang="zh-CN" altLang="en-US" sz="2400" b="1" dirty="0">
                <a:solidFill>
                  <a:srgbClr val="FF0000"/>
                </a:solidFill>
                <a:latin typeface="Times New Roman" pitchFamily="18" charset="0"/>
                <a:ea typeface="+mn-ea"/>
                <a:cs typeface="Times New Roman" pitchFamily="18" charset="0"/>
              </a:rPr>
              <a:t>频繁碰撞</a:t>
            </a:r>
            <a:r>
              <a:rPr kumimoji="1" lang="zh-CN" altLang="en-US" sz="2400" b="1" dirty="0">
                <a:solidFill>
                  <a:srgbClr val="FF3300"/>
                </a:solidFill>
                <a:latin typeface="Times New Roman" pitchFamily="18" charset="0"/>
                <a:ea typeface="+mn-ea"/>
                <a:cs typeface="Times New Roman" pitchFamily="18" charset="0"/>
              </a:rPr>
              <a:t>而致；</a:t>
            </a:r>
            <a:endParaRPr kumimoji="1" lang="zh-CN" altLang="en-US" sz="2400" b="1" dirty="0">
              <a:latin typeface="Times New Roman" pitchFamily="18" charset="0"/>
              <a:ea typeface="+mn-ea"/>
              <a:cs typeface="Times New Roman" pitchFamily="18" charset="0"/>
            </a:endParaRPr>
          </a:p>
        </p:txBody>
      </p:sp>
      <p:sp>
        <p:nvSpPr>
          <p:cNvPr id="16" name="Text Box 4"/>
          <p:cNvSpPr txBox="1">
            <a:spLocks noChangeArrowheads="1"/>
          </p:cNvSpPr>
          <p:nvPr/>
        </p:nvSpPr>
        <p:spPr bwMode="auto">
          <a:xfrm>
            <a:off x="214313" y="2786063"/>
            <a:ext cx="8596312" cy="479425"/>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能量均分定理只是均分平均动能；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strVal val="4*#ppt_w"/>
                                          </p:val>
                                        </p:tav>
                                        <p:tav tm="100000">
                                          <p:val>
                                            <p:strVal val="#ppt_w"/>
                                          </p:val>
                                        </p:tav>
                                      </p:tavLst>
                                    </p:anim>
                                    <p:anim calcmode="lin" valueType="num">
                                      <p:cBhvr>
                                        <p:cTn id="13" dur="500" fill="hold"/>
                                        <p:tgtEl>
                                          <p:spTgt spid="13"/>
                                        </p:tgtEl>
                                        <p:attrNameLst>
                                          <p:attrName>ppt_h</p:attrName>
                                        </p:attrNameLst>
                                      </p:cBhvr>
                                      <p:tavLst>
                                        <p:tav tm="0">
                                          <p:val>
                                            <p:strVal val="4*#ppt_h"/>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utoUpdateAnimBg="0"/>
      <p:bldP spid="13" grpId="0" animBg="1"/>
      <p:bldP spid="14" grpId="0"/>
      <p:bldP spid="15" grpId="0" autoUpdateAnimBg="0"/>
      <p:bldP spid="16"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42875" y="841375"/>
            <a:ext cx="4340225" cy="457200"/>
          </a:xfrm>
          <a:prstGeom prst="rect">
            <a:avLst/>
          </a:prstGeom>
          <a:noFill/>
          <a:ln w="9525">
            <a:noFill/>
            <a:miter lim="800000"/>
            <a:headEnd/>
            <a:tailEnd/>
          </a:ln>
        </p:spPr>
        <p:txBody>
          <a:bodyPr>
            <a:spAutoFit/>
          </a:bodyPr>
          <a:lstStyle/>
          <a:p>
            <a:pPr algn="ctr">
              <a:defRPr/>
            </a:pPr>
            <a:r>
              <a:rPr lang="zh-CN" altLang="en-US" sz="2400" b="1" dirty="0">
                <a:solidFill>
                  <a:srgbClr val="0000CC"/>
                </a:solidFill>
                <a:latin typeface="+mn-ea"/>
                <a:ea typeface="+mn-ea"/>
              </a:rPr>
              <a:t>理想气体分子的平均动能：</a:t>
            </a:r>
          </a:p>
        </p:txBody>
      </p:sp>
      <p:sp>
        <p:nvSpPr>
          <p:cNvPr id="3" name="Text Box 7"/>
          <p:cNvSpPr txBox="1">
            <a:spLocks noChangeArrowheads="1"/>
          </p:cNvSpPr>
          <p:nvPr/>
        </p:nvSpPr>
        <p:spPr bwMode="auto">
          <a:xfrm>
            <a:off x="647700" y="2071688"/>
            <a:ext cx="2552700" cy="466725"/>
          </a:xfrm>
          <a:prstGeom prst="rect">
            <a:avLst/>
          </a:prstGeom>
          <a:solidFill>
            <a:schemeClr val="accent1">
              <a:alpha val="59999"/>
            </a:schemeClr>
          </a:solidFill>
          <a:ln w="9525">
            <a:solidFill>
              <a:schemeClr val="tx1"/>
            </a:solidFill>
            <a:miter lim="800000"/>
            <a:headEnd/>
            <a:tailEnd/>
          </a:ln>
        </p:spPr>
        <p:txBody>
          <a:bodyPr>
            <a:spAutoFit/>
          </a:bodyPr>
          <a:lstStyle/>
          <a:p>
            <a:pPr algn="ctr">
              <a:defRPr/>
            </a:pPr>
            <a:r>
              <a:rPr lang="zh-CN" altLang="en-US" sz="2400" b="1">
                <a:latin typeface="Times New Roman" pitchFamily="18" charset="0"/>
                <a:ea typeface="+mn-ea"/>
                <a:cs typeface="Times New Roman" pitchFamily="18" charset="0"/>
              </a:rPr>
              <a:t>刚性单原子分子</a:t>
            </a:r>
          </a:p>
        </p:txBody>
      </p:sp>
      <p:sp>
        <p:nvSpPr>
          <p:cNvPr id="4" name="Text Box 8"/>
          <p:cNvSpPr txBox="1">
            <a:spLocks noChangeArrowheads="1"/>
          </p:cNvSpPr>
          <p:nvPr/>
        </p:nvSpPr>
        <p:spPr bwMode="auto">
          <a:xfrm>
            <a:off x="647700" y="2541588"/>
            <a:ext cx="2552700" cy="466725"/>
          </a:xfrm>
          <a:prstGeom prst="rect">
            <a:avLst/>
          </a:prstGeom>
          <a:solidFill>
            <a:schemeClr val="accent1">
              <a:alpha val="59999"/>
            </a:schemeClr>
          </a:solidFill>
          <a:ln w="9525">
            <a:solidFill>
              <a:schemeClr val="tx1"/>
            </a:solidFill>
            <a:miter lim="800000"/>
            <a:headEnd/>
            <a:tailEnd/>
          </a:ln>
        </p:spPr>
        <p:txBody>
          <a:bodyPr>
            <a:spAutoFit/>
          </a:bodyPr>
          <a:lstStyle/>
          <a:p>
            <a:pPr algn="ctr">
              <a:defRPr/>
            </a:pPr>
            <a:r>
              <a:rPr lang="zh-CN" altLang="en-US" sz="2400" b="1">
                <a:latin typeface="Times New Roman" pitchFamily="18" charset="0"/>
                <a:ea typeface="+mn-ea"/>
                <a:cs typeface="Times New Roman" pitchFamily="18" charset="0"/>
              </a:rPr>
              <a:t>刚性双原子分子</a:t>
            </a:r>
          </a:p>
        </p:txBody>
      </p:sp>
      <p:sp>
        <p:nvSpPr>
          <p:cNvPr id="5" name="Text Box 9"/>
          <p:cNvSpPr txBox="1">
            <a:spLocks noChangeArrowheads="1"/>
          </p:cNvSpPr>
          <p:nvPr/>
        </p:nvSpPr>
        <p:spPr bwMode="auto">
          <a:xfrm>
            <a:off x="647700" y="3003550"/>
            <a:ext cx="2552700" cy="466725"/>
          </a:xfrm>
          <a:prstGeom prst="rect">
            <a:avLst/>
          </a:prstGeom>
          <a:solidFill>
            <a:schemeClr val="accent1">
              <a:alpha val="59999"/>
            </a:schemeClr>
          </a:solidFill>
          <a:ln w="9525">
            <a:solidFill>
              <a:schemeClr val="tx1"/>
            </a:solidFill>
            <a:miter lim="800000"/>
            <a:headEnd/>
            <a:tailEnd/>
          </a:ln>
        </p:spPr>
        <p:txBody>
          <a:bodyPr>
            <a:spAutoFit/>
          </a:bodyPr>
          <a:lstStyle/>
          <a:p>
            <a:pPr algn="ctr">
              <a:defRPr/>
            </a:pPr>
            <a:r>
              <a:rPr lang="zh-CN" altLang="en-US" sz="2400" b="1">
                <a:latin typeface="Times New Roman" pitchFamily="18" charset="0"/>
                <a:ea typeface="+mn-ea"/>
                <a:cs typeface="Times New Roman" pitchFamily="18" charset="0"/>
              </a:rPr>
              <a:t>刚性多原子分子</a:t>
            </a:r>
          </a:p>
        </p:txBody>
      </p:sp>
      <p:sp>
        <p:nvSpPr>
          <p:cNvPr id="6" name="Text Box 10"/>
          <p:cNvSpPr txBox="1">
            <a:spLocks noChangeArrowheads="1"/>
          </p:cNvSpPr>
          <p:nvPr/>
        </p:nvSpPr>
        <p:spPr bwMode="auto">
          <a:xfrm>
            <a:off x="647700" y="1611313"/>
            <a:ext cx="2552700" cy="466725"/>
          </a:xfrm>
          <a:prstGeom prst="rect">
            <a:avLst/>
          </a:prstGeom>
          <a:solidFill>
            <a:srgbClr val="33CCCC">
              <a:alpha val="59999"/>
            </a:srgbClr>
          </a:solidFill>
          <a:ln w="9525">
            <a:solidFill>
              <a:schemeClr val="tx1"/>
            </a:solidFill>
            <a:miter lim="800000"/>
            <a:headEnd/>
            <a:tailEnd/>
          </a:ln>
        </p:spPr>
        <p:txBody>
          <a:bodyPr>
            <a:spAutoFit/>
          </a:bodyPr>
          <a:lstStyle/>
          <a:p>
            <a:pPr algn="ctr">
              <a:defRPr/>
            </a:pPr>
            <a:r>
              <a:rPr lang="zh-CN" altLang="en-US" sz="2400" b="1" dirty="0">
                <a:solidFill>
                  <a:srgbClr val="0000FF"/>
                </a:solidFill>
                <a:latin typeface="Times New Roman" pitchFamily="18" charset="0"/>
                <a:ea typeface="+mn-ea"/>
                <a:cs typeface="Times New Roman" pitchFamily="18" charset="0"/>
              </a:rPr>
              <a:t>分子模型</a:t>
            </a:r>
          </a:p>
        </p:txBody>
      </p:sp>
      <p:sp>
        <p:nvSpPr>
          <p:cNvPr id="7" name="Text Box 11"/>
          <p:cNvSpPr txBox="1">
            <a:spLocks noChangeArrowheads="1"/>
          </p:cNvSpPr>
          <p:nvPr/>
        </p:nvSpPr>
        <p:spPr bwMode="auto">
          <a:xfrm>
            <a:off x="3200400" y="1611313"/>
            <a:ext cx="2519363" cy="466725"/>
          </a:xfrm>
          <a:prstGeom prst="rect">
            <a:avLst/>
          </a:prstGeom>
          <a:solidFill>
            <a:srgbClr val="FF9900">
              <a:alpha val="59999"/>
            </a:srgbClr>
          </a:solidFill>
          <a:ln w="9525">
            <a:solidFill>
              <a:schemeClr val="tx1"/>
            </a:solidFill>
            <a:miter lim="800000"/>
            <a:headEnd/>
            <a:tailEnd/>
          </a:ln>
        </p:spPr>
        <p:txBody>
          <a:bodyPr>
            <a:spAutoFit/>
          </a:bodyPr>
          <a:lstStyle/>
          <a:p>
            <a:pPr algn="ctr">
              <a:defRPr/>
            </a:pPr>
            <a:r>
              <a:rPr lang="zh-CN" altLang="en-US" sz="2400" b="1">
                <a:solidFill>
                  <a:srgbClr val="0000FF"/>
                </a:solidFill>
                <a:latin typeface="Times New Roman" pitchFamily="18" charset="0"/>
                <a:ea typeface="+mn-ea"/>
                <a:cs typeface="Times New Roman" pitchFamily="18" charset="0"/>
              </a:rPr>
              <a:t>自由度</a:t>
            </a:r>
          </a:p>
        </p:txBody>
      </p:sp>
      <p:sp>
        <p:nvSpPr>
          <p:cNvPr id="8" name="Text Box 12"/>
          <p:cNvSpPr txBox="1">
            <a:spLocks noChangeArrowheads="1"/>
          </p:cNvSpPr>
          <p:nvPr/>
        </p:nvSpPr>
        <p:spPr bwMode="auto">
          <a:xfrm>
            <a:off x="3200400" y="2081213"/>
            <a:ext cx="2519363" cy="466725"/>
          </a:xfrm>
          <a:prstGeom prst="rect">
            <a:avLst/>
          </a:prstGeom>
          <a:solidFill>
            <a:srgbClr val="FFCC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3</a:t>
            </a:r>
          </a:p>
        </p:txBody>
      </p:sp>
      <p:sp>
        <p:nvSpPr>
          <p:cNvPr id="9" name="Text Box 13"/>
          <p:cNvSpPr txBox="1">
            <a:spLocks noChangeArrowheads="1"/>
          </p:cNvSpPr>
          <p:nvPr/>
        </p:nvSpPr>
        <p:spPr bwMode="auto">
          <a:xfrm>
            <a:off x="3200400" y="2546350"/>
            <a:ext cx="2519363" cy="466725"/>
          </a:xfrm>
          <a:prstGeom prst="rect">
            <a:avLst/>
          </a:prstGeom>
          <a:solidFill>
            <a:srgbClr val="FFCC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5</a:t>
            </a:r>
          </a:p>
        </p:txBody>
      </p:sp>
      <p:sp>
        <p:nvSpPr>
          <p:cNvPr id="10" name="Text Box 14"/>
          <p:cNvSpPr txBox="1">
            <a:spLocks noChangeArrowheads="1"/>
          </p:cNvSpPr>
          <p:nvPr/>
        </p:nvSpPr>
        <p:spPr bwMode="auto">
          <a:xfrm>
            <a:off x="3200400" y="3013075"/>
            <a:ext cx="2519363" cy="466725"/>
          </a:xfrm>
          <a:prstGeom prst="rect">
            <a:avLst/>
          </a:prstGeom>
          <a:solidFill>
            <a:srgbClr val="FFCC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6</a:t>
            </a:r>
          </a:p>
        </p:txBody>
      </p:sp>
      <p:sp>
        <p:nvSpPr>
          <p:cNvPr id="11" name="Text Box 15"/>
          <p:cNvSpPr txBox="1">
            <a:spLocks noChangeArrowheads="1"/>
          </p:cNvSpPr>
          <p:nvPr/>
        </p:nvSpPr>
        <p:spPr bwMode="auto">
          <a:xfrm>
            <a:off x="5719763" y="1624013"/>
            <a:ext cx="2519362" cy="466725"/>
          </a:xfrm>
          <a:prstGeom prst="rect">
            <a:avLst/>
          </a:prstGeom>
          <a:solidFill>
            <a:srgbClr val="99CC00">
              <a:alpha val="59999"/>
            </a:srgbClr>
          </a:solidFill>
          <a:ln w="9525">
            <a:solidFill>
              <a:schemeClr val="tx1"/>
            </a:solidFill>
            <a:miter lim="800000"/>
            <a:headEnd/>
            <a:tailEnd/>
          </a:ln>
        </p:spPr>
        <p:txBody>
          <a:bodyPr>
            <a:spAutoFit/>
          </a:bodyPr>
          <a:lstStyle/>
          <a:p>
            <a:pPr algn="ctr">
              <a:defRPr/>
            </a:pPr>
            <a:r>
              <a:rPr lang="zh-CN" altLang="en-US" sz="2400" b="1">
                <a:solidFill>
                  <a:srgbClr val="0000FF"/>
                </a:solidFill>
                <a:latin typeface="Times New Roman" pitchFamily="18" charset="0"/>
                <a:ea typeface="+mn-ea"/>
                <a:cs typeface="Times New Roman" pitchFamily="18" charset="0"/>
              </a:rPr>
              <a:t>总平均能量</a:t>
            </a:r>
          </a:p>
        </p:txBody>
      </p:sp>
      <p:sp>
        <p:nvSpPr>
          <p:cNvPr id="12" name="Text Box 16"/>
          <p:cNvSpPr txBox="1">
            <a:spLocks noChangeArrowheads="1"/>
          </p:cNvSpPr>
          <p:nvPr/>
        </p:nvSpPr>
        <p:spPr bwMode="auto">
          <a:xfrm>
            <a:off x="5719763" y="2085975"/>
            <a:ext cx="2519362" cy="466725"/>
          </a:xfrm>
          <a:prstGeom prst="rect">
            <a:avLst/>
          </a:prstGeom>
          <a:solidFill>
            <a:srgbClr val="FFFF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3</a:t>
            </a:r>
            <a:r>
              <a:rPr lang="en-US" altLang="zh-CN" sz="2400" b="1" i="1">
                <a:latin typeface="Times New Roman" pitchFamily="18" charset="0"/>
                <a:ea typeface="+mn-ea"/>
                <a:cs typeface="Times New Roman" pitchFamily="18" charset="0"/>
              </a:rPr>
              <a:t>kT</a:t>
            </a:r>
            <a:r>
              <a:rPr lang="en-US" altLang="zh-CN" sz="2400" b="1">
                <a:latin typeface="Times New Roman" pitchFamily="18" charset="0"/>
                <a:ea typeface="+mn-ea"/>
                <a:cs typeface="Times New Roman" pitchFamily="18" charset="0"/>
              </a:rPr>
              <a:t>/2</a:t>
            </a:r>
          </a:p>
        </p:txBody>
      </p:sp>
      <p:sp>
        <p:nvSpPr>
          <p:cNvPr id="13" name="Text Box 17"/>
          <p:cNvSpPr txBox="1">
            <a:spLocks noChangeArrowheads="1"/>
          </p:cNvSpPr>
          <p:nvPr/>
        </p:nvSpPr>
        <p:spPr bwMode="auto">
          <a:xfrm>
            <a:off x="5719763" y="2551113"/>
            <a:ext cx="2519362" cy="466725"/>
          </a:xfrm>
          <a:prstGeom prst="rect">
            <a:avLst/>
          </a:prstGeom>
          <a:solidFill>
            <a:srgbClr val="FFFF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5</a:t>
            </a:r>
            <a:r>
              <a:rPr lang="en-US" altLang="zh-CN" sz="2400" b="1" i="1">
                <a:latin typeface="Times New Roman" pitchFamily="18" charset="0"/>
                <a:ea typeface="+mn-ea"/>
                <a:cs typeface="Times New Roman" pitchFamily="18" charset="0"/>
              </a:rPr>
              <a:t>kT</a:t>
            </a:r>
            <a:r>
              <a:rPr lang="en-US" altLang="zh-CN" sz="2400" b="1">
                <a:latin typeface="Times New Roman" pitchFamily="18" charset="0"/>
                <a:ea typeface="+mn-ea"/>
                <a:cs typeface="Times New Roman" pitchFamily="18" charset="0"/>
              </a:rPr>
              <a:t>/2</a:t>
            </a:r>
          </a:p>
        </p:txBody>
      </p:sp>
      <p:sp>
        <p:nvSpPr>
          <p:cNvPr id="14" name="Text Box 18"/>
          <p:cNvSpPr txBox="1">
            <a:spLocks noChangeArrowheads="1"/>
          </p:cNvSpPr>
          <p:nvPr/>
        </p:nvSpPr>
        <p:spPr bwMode="auto">
          <a:xfrm>
            <a:off x="5719763" y="3017838"/>
            <a:ext cx="2519362" cy="466725"/>
          </a:xfrm>
          <a:prstGeom prst="rect">
            <a:avLst/>
          </a:prstGeom>
          <a:solidFill>
            <a:srgbClr val="FFFF99">
              <a:alpha val="59999"/>
            </a:srgbClr>
          </a:solidFill>
          <a:ln w="9525">
            <a:solidFill>
              <a:schemeClr val="tx1"/>
            </a:solidFill>
            <a:miter lim="800000"/>
            <a:headEnd/>
            <a:tailEnd/>
          </a:ln>
        </p:spPr>
        <p:txBody>
          <a:bodyPr>
            <a:spAutoFit/>
          </a:bodyPr>
          <a:lstStyle/>
          <a:p>
            <a:pPr algn="ctr">
              <a:defRPr/>
            </a:pPr>
            <a:r>
              <a:rPr lang="en-US" altLang="zh-CN" sz="2400" b="1">
                <a:latin typeface="Times New Roman" pitchFamily="18" charset="0"/>
                <a:ea typeface="+mn-ea"/>
                <a:cs typeface="Times New Roman" pitchFamily="18" charset="0"/>
              </a:rPr>
              <a:t>3</a:t>
            </a:r>
            <a:r>
              <a:rPr lang="en-US" altLang="zh-CN" sz="2400" b="1" i="1">
                <a:latin typeface="Times New Roman" pitchFamily="18" charset="0"/>
                <a:ea typeface="+mn-ea"/>
                <a:cs typeface="Times New Roman" pitchFamily="18" charset="0"/>
              </a:rPr>
              <a:t>kT</a:t>
            </a:r>
          </a:p>
        </p:txBody>
      </p:sp>
      <p:sp>
        <p:nvSpPr>
          <p:cNvPr id="15" name="Text Box 11"/>
          <p:cNvSpPr txBox="1">
            <a:spLocks noChangeArrowheads="1"/>
          </p:cNvSpPr>
          <p:nvPr/>
        </p:nvSpPr>
        <p:spPr bwMode="auto">
          <a:xfrm>
            <a:off x="430213" y="3913188"/>
            <a:ext cx="8713787" cy="968375"/>
          </a:xfrm>
          <a:prstGeom prst="rect">
            <a:avLst/>
          </a:prstGeom>
          <a:noFill/>
          <a:ln w="9525">
            <a:noFill/>
            <a:miter lim="800000"/>
            <a:headEnd/>
            <a:tailEnd/>
          </a:ln>
        </p:spPr>
        <p:txBody>
          <a:bodyPr>
            <a:spAutoFit/>
          </a:bodyPr>
          <a:lstStyle/>
          <a:p>
            <a:pPr>
              <a:lnSpc>
                <a:spcPct val="125000"/>
              </a:lnSpc>
              <a:defRPr/>
            </a:pPr>
            <a:r>
              <a:rPr kumimoji="1" lang="en-US" altLang="zh-CN" sz="2400" b="1" dirty="0">
                <a:latin typeface="Times New Roman" pitchFamily="18" charset="0"/>
                <a:ea typeface="+mn-ea"/>
                <a:cs typeface="Times New Roman" pitchFamily="18" charset="0"/>
              </a:rPr>
              <a:t>(4)</a:t>
            </a:r>
            <a:r>
              <a:rPr kumimoji="1" lang="en-US" altLang="zh-CN" sz="2400" b="1" dirty="0">
                <a:solidFill>
                  <a:schemeClr val="bg1"/>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能量均分定理不仅适用于平衡态的</a:t>
            </a:r>
            <a:r>
              <a:rPr kumimoji="1" lang="zh-CN" altLang="en-US" sz="2400" b="1" dirty="0">
                <a:solidFill>
                  <a:srgbClr val="FF3300"/>
                </a:solidFill>
                <a:latin typeface="Times New Roman" pitchFamily="18" charset="0"/>
                <a:ea typeface="+mn-ea"/>
                <a:cs typeface="Times New Roman" pitchFamily="18" charset="0"/>
              </a:rPr>
              <a:t>理想气体</a:t>
            </a:r>
            <a:r>
              <a:rPr kumimoji="1" lang="zh-CN" altLang="en-US" sz="2400" b="1" dirty="0">
                <a:latin typeface="Times New Roman" pitchFamily="18" charset="0"/>
                <a:ea typeface="+mn-ea"/>
                <a:cs typeface="Times New Roman" pitchFamily="18" charset="0"/>
              </a:rPr>
              <a:t>，在经典物理中也适用于</a:t>
            </a:r>
            <a:r>
              <a:rPr kumimoji="1" lang="zh-CN" altLang="en-US" sz="2400" b="1" dirty="0">
                <a:solidFill>
                  <a:srgbClr val="FF3300"/>
                </a:solidFill>
                <a:latin typeface="Times New Roman" pitchFamily="18" charset="0"/>
                <a:ea typeface="+mn-ea"/>
                <a:cs typeface="Times New Roman" pitchFamily="18" charset="0"/>
              </a:rPr>
              <a:t>液体和固体分子</a:t>
            </a:r>
            <a:r>
              <a:rPr kumimoji="1" lang="zh-CN" altLang="en-US" sz="2400" b="1" dirty="0">
                <a:latin typeface="Times New Roman" pitchFamily="18" charset="0"/>
                <a:ea typeface="+mn-ea"/>
                <a:cs typeface="Times New Roman" pitchFamily="18" charset="0"/>
              </a:rPr>
              <a:t>的热运动．</a:t>
            </a:r>
            <a:r>
              <a:rPr kumimoji="1" lang="zh-CN" altLang="en-US" sz="2400" b="1" dirty="0">
                <a:solidFill>
                  <a:schemeClr val="bg1"/>
                </a:solidFill>
                <a:latin typeface="Times New Roman" pitchFamily="18" charset="0"/>
                <a:ea typeface="+mn-ea"/>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1000"/>
                                        <p:tgtEl>
                                          <p:spTgt spid="3"/>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1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10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10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10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10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10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10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left)">
                                      <p:cBhvr>
                                        <p:cTn id="65" dur="10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p:cNvSpPr txBox="1">
            <a:spLocks noChangeArrowheads="1"/>
          </p:cNvSpPr>
          <p:nvPr/>
        </p:nvSpPr>
        <p:spPr bwMode="auto">
          <a:xfrm>
            <a:off x="152400" y="476250"/>
            <a:ext cx="5788025" cy="457200"/>
          </a:xfrm>
          <a:prstGeom prst="rect">
            <a:avLst/>
          </a:prstGeom>
          <a:noFill/>
          <a:ln w="9525">
            <a:noFill/>
            <a:miter lim="800000"/>
            <a:headEnd/>
            <a:tailEnd/>
          </a:ln>
        </p:spPr>
        <p:txBody>
          <a:bodyPr>
            <a:spAutoFit/>
          </a:bodyPr>
          <a:lstStyle/>
          <a:p>
            <a:pPr>
              <a:defRPr/>
            </a:pPr>
            <a:r>
              <a:rPr kumimoji="1" lang="en-US" altLang="zh-CN" sz="2400" b="1">
                <a:solidFill>
                  <a:srgbClr val="0000FF"/>
                </a:solidFill>
                <a:latin typeface="Times New Roman" pitchFamily="18" charset="0"/>
                <a:ea typeface="+mn-ea"/>
                <a:cs typeface="Times New Roman" pitchFamily="18" charset="0"/>
              </a:rPr>
              <a:t>8.4.3   </a:t>
            </a:r>
            <a:r>
              <a:rPr kumimoji="1" lang="zh-CN" altLang="en-US" sz="2400" b="1">
                <a:solidFill>
                  <a:srgbClr val="0000FF"/>
                </a:solidFill>
                <a:latin typeface="Times New Roman" pitchFamily="18" charset="0"/>
                <a:ea typeface="+mn-ea"/>
                <a:cs typeface="Times New Roman" pitchFamily="18" charset="0"/>
              </a:rPr>
              <a:t>理想气体的内能</a:t>
            </a:r>
            <a:r>
              <a:rPr kumimoji="1" lang="zh-CN" altLang="en-US" sz="2400">
                <a:latin typeface="Times New Roman" pitchFamily="18" charset="0"/>
                <a:ea typeface="+mn-ea"/>
                <a:cs typeface="Times New Roman" pitchFamily="18" charset="0"/>
              </a:rPr>
              <a:t> </a:t>
            </a:r>
          </a:p>
        </p:txBody>
      </p:sp>
      <p:sp>
        <p:nvSpPr>
          <p:cNvPr id="22553" name="Rectangle 25"/>
          <p:cNvSpPr>
            <a:spLocks noChangeArrowheads="1"/>
          </p:cNvSpPr>
          <p:nvPr/>
        </p:nvSpPr>
        <p:spPr bwMode="auto">
          <a:xfrm>
            <a:off x="179388" y="984250"/>
            <a:ext cx="1873250" cy="517525"/>
          </a:xfrm>
          <a:prstGeom prst="rect">
            <a:avLst/>
          </a:prstGeom>
          <a:noFill/>
          <a:ln w="9525">
            <a:noFill/>
            <a:miter lim="800000"/>
            <a:headEnd/>
            <a:tailEnd/>
          </a:ln>
        </p:spPr>
        <p:txBody>
          <a:bodyPr>
            <a:spAutoFit/>
          </a:bodyPr>
          <a:lstStyle/>
          <a:p>
            <a:pPr>
              <a:lnSpc>
                <a:spcPct val="115000"/>
              </a:lnSpc>
              <a:buClr>
                <a:schemeClr val="folHlink"/>
              </a:buClr>
              <a:buSzPct val="130000"/>
              <a:defRPr/>
            </a:pPr>
            <a:r>
              <a:rPr kumimoji="1" lang="zh-CN" altLang="en-US" sz="2400" b="1" dirty="0">
                <a:solidFill>
                  <a:srgbClr val="FF0000"/>
                </a:solidFill>
                <a:latin typeface="Times New Roman" pitchFamily="18" charset="0"/>
                <a:ea typeface="+mn-ea"/>
                <a:cs typeface="Times New Roman" pitchFamily="18" charset="0"/>
              </a:rPr>
              <a:t>内能：</a:t>
            </a:r>
          </a:p>
        </p:txBody>
      </p:sp>
      <p:sp>
        <p:nvSpPr>
          <p:cNvPr id="22554" name="Text Box 26"/>
          <p:cNvSpPr txBox="1">
            <a:spLocks noChangeArrowheads="1"/>
          </p:cNvSpPr>
          <p:nvPr/>
        </p:nvSpPr>
        <p:spPr bwMode="auto">
          <a:xfrm>
            <a:off x="2549525" y="2366963"/>
            <a:ext cx="5407025" cy="517525"/>
          </a:xfrm>
          <a:prstGeom prst="rect">
            <a:avLst/>
          </a:prstGeom>
          <a:noFill/>
          <a:ln w="9525">
            <a:noFill/>
            <a:miter lim="800000"/>
            <a:headEnd/>
            <a:tailEnd/>
          </a:ln>
        </p:spPr>
        <p:txBody>
          <a:bodyPr>
            <a:spAutoFit/>
          </a:bodyPr>
          <a:lstStyle/>
          <a:p>
            <a:pPr>
              <a:lnSpc>
                <a:spcPct val="115000"/>
              </a:lnSpc>
              <a:defRPr/>
            </a:pPr>
            <a:r>
              <a:rPr kumimoji="1" lang="zh-CN" altLang="en-US" sz="2400" b="1" dirty="0">
                <a:latin typeface="Times New Roman" pitchFamily="18" charset="0"/>
                <a:ea typeface="+mn-ea"/>
                <a:cs typeface="Times New Roman" pitchFamily="18" charset="0"/>
              </a:rPr>
              <a:t>气体中所有分子各种形式动能的总和。</a:t>
            </a:r>
          </a:p>
        </p:txBody>
      </p:sp>
      <p:sp>
        <p:nvSpPr>
          <p:cNvPr id="22555" name="Rectangle 27"/>
          <p:cNvSpPr>
            <a:spLocks noChangeArrowheads="1"/>
          </p:cNvSpPr>
          <p:nvPr/>
        </p:nvSpPr>
        <p:spPr bwMode="auto">
          <a:xfrm>
            <a:off x="179388" y="2349500"/>
            <a:ext cx="3960812" cy="512763"/>
          </a:xfrm>
          <a:prstGeom prst="rect">
            <a:avLst/>
          </a:prstGeom>
          <a:noFill/>
          <a:ln w="9525">
            <a:noFill/>
            <a:miter lim="800000"/>
            <a:headEnd/>
            <a:tailEnd/>
          </a:ln>
        </p:spPr>
        <p:txBody>
          <a:bodyPr>
            <a:spAutoFit/>
          </a:bodyPr>
          <a:lstStyle/>
          <a:p>
            <a:pPr>
              <a:lnSpc>
                <a:spcPct val="115000"/>
              </a:lnSpc>
              <a:buClr>
                <a:schemeClr val="folHlink"/>
              </a:buClr>
              <a:buSzPct val="130000"/>
              <a:defRPr/>
            </a:pPr>
            <a:r>
              <a:rPr kumimoji="1" lang="zh-CN" altLang="en-US" sz="2400" b="1" dirty="0">
                <a:solidFill>
                  <a:srgbClr val="FF0000"/>
                </a:solidFill>
                <a:latin typeface="Times New Roman" pitchFamily="18" charset="0"/>
                <a:ea typeface="+mn-ea"/>
                <a:cs typeface="Times New Roman" pitchFamily="18" charset="0"/>
              </a:rPr>
              <a:t>理想气体的内能：</a:t>
            </a:r>
          </a:p>
        </p:txBody>
      </p:sp>
      <p:sp>
        <p:nvSpPr>
          <p:cNvPr id="22556" name="Text Box 28"/>
          <p:cNvSpPr txBox="1">
            <a:spLocks noChangeArrowheads="1"/>
          </p:cNvSpPr>
          <p:nvPr/>
        </p:nvSpPr>
        <p:spPr bwMode="auto">
          <a:xfrm>
            <a:off x="1042988" y="1019175"/>
            <a:ext cx="5297487" cy="517525"/>
          </a:xfrm>
          <a:prstGeom prst="rect">
            <a:avLst/>
          </a:prstGeom>
          <a:noFill/>
          <a:ln w="9525">
            <a:noFill/>
            <a:miter lim="800000"/>
            <a:headEnd/>
            <a:tailEnd/>
          </a:ln>
        </p:spPr>
        <p:txBody>
          <a:bodyPr>
            <a:spAutoFit/>
          </a:bodyPr>
          <a:lstStyle/>
          <a:p>
            <a:pPr>
              <a:lnSpc>
                <a:spcPct val="115000"/>
              </a:lnSpc>
              <a:defRPr/>
            </a:pPr>
            <a:r>
              <a:rPr lang="zh-CN" altLang="en-US" sz="2400" b="1" dirty="0">
                <a:latin typeface="Times New Roman" pitchFamily="18" charset="0"/>
                <a:ea typeface="+mn-ea"/>
                <a:cs typeface="Times New Roman" pitchFamily="18" charset="0"/>
              </a:rPr>
              <a:t>系统中与热现象有关的那部分能量。 </a:t>
            </a:r>
          </a:p>
        </p:txBody>
      </p:sp>
      <p:sp>
        <p:nvSpPr>
          <p:cNvPr id="22557" name="Text Box 29"/>
          <p:cNvSpPr txBox="1">
            <a:spLocks noChangeArrowheads="1"/>
          </p:cNvSpPr>
          <p:nvPr/>
        </p:nvSpPr>
        <p:spPr bwMode="auto">
          <a:xfrm>
            <a:off x="468313" y="1649413"/>
            <a:ext cx="7772400" cy="517525"/>
          </a:xfrm>
          <a:prstGeom prst="rect">
            <a:avLst/>
          </a:prstGeom>
          <a:gradFill rotWithShape="1">
            <a:gsLst>
              <a:gs pos="0">
                <a:srgbClr val="FFFF00"/>
              </a:gs>
              <a:gs pos="100000">
                <a:srgbClr val="66FFFF"/>
              </a:gs>
            </a:gsLst>
            <a:lin ang="0" scaled="1"/>
          </a:gradFill>
          <a:ln w="9525" algn="ctr">
            <a:noFill/>
            <a:miter lim="800000"/>
            <a:headEnd/>
            <a:tailEnd/>
          </a:ln>
        </p:spPr>
        <p:txBody>
          <a:bodyPr>
            <a:spAutoFit/>
          </a:bodyPr>
          <a:lstStyle/>
          <a:p>
            <a:pPr>
              <a:lnSpc>
                <a:spcPct val="115000"/>
              </a:lnSpc>
            </a:pPr>
            <a:r>
              <a:rPr kumimoji="1" lang="zh-CN" altLang="en-US" sz="2400" b="1">
                <a:latin typeface="楷体_GB2312" pitchFamily="49" charset="-122"/>
                <a:ea typeface="楷体_GB2312" pitchFamily="49" charset="-122"/>
                <a:cs typeface="Times New Roman" pitchFamily="18" charset="0"/>
              </a:rPr>
              <a:t>气体中所有分子的</a:t>
            </a:r>
            <a:r>
              <a:rPr kumimoji="1" lang="zh-CN" altLang="en-US" sz="2400" b="1">
                <a:solidFill>
                  <a:srgbClr val="0000FF"/>
                </a:solidFill>
                <a:latin typeface="楷体_GB2312" pitchFamily="49" charset="-122"/>
                <a:ea typeface="楷体_GB2312" pitchFamily="49" charset="-122"/>
                <a:cs typeface="Times New Roman" pitchFamily="18" charset="0"/>
              </a:rPr>
              <a:t>平动</a:t>
            </a:r>
            <a:r>
              <a:rPr kumimoji="1" lang="zh-CN" altLang="en-US" sz="2400" b="1">
                <a:latin typeface="楷体_GB2312" pitchFamily="49" charset="-122"/>
                <a:ea typeface="楷体_GB2312" pitchFamily="49" charset="-122"/>
                <a:cs typeface="Times New Roman" pitchFamily="18" charset="0"/>
              </a:rPr>
              <a:t>，</a:t>
            </a:r>
            <a:r>
              <a:rPr kumimoji="1" lang="zh-CN" altLang="en-US" sz="2400" b="1">
                <a:solidFill>
                  <a:srgbClr val="0000FF"/>
                </a:solidFill>
                <a:latin typeface="楷体_GB2312" pitchFamily="49" charset="-122"/>
                <a:ea typeface="楷体_GB2312" pitchFamily="49" charset="-122"/>
                <a:cs typeface="Times New Roman" pitchFamily="18" charset="0"/>
              </a:rPr>
              <a:t>转动</a:t>
            </a:r>
            <a:r>
              <a:rPr kumimoji="1" lang="zh-CN" altLang="en-US" sz="2400" b="1">
                <a:latin typeface="楷体_GB2312" pitchFamily="49" charset="-122"/>
                <a:ea typeface="楷体_GB2312" pitchFamily="49" charset="-122"/>
                <a:cs typeface="Times New Roman" pitchFamily="18" charset="0"/>
              </a:rPr>
              <a:t>，</a:t>
            </a:r>
            <a:r>
              <a:rPr kumimoji="1" lang="zh-CN" altLang="en-US" sz="2400" b="1">
                <a:solidFill>
                  <a:srgbClr val="0000FF"/>
                </a:solidFill>
                <a:latin typeface="楷体_GB2312" pitchFamily="49" charset="-122"/>
                <a:ea typeface="楷体_GB2312" pitchFamily="49" charset="-122"/>
                <a:cs typeface="Times New Roman" pitchFamily="18" charset="0"/>
              </a:rPr>
              <a:t>振动动能</a:t>
            </a:r>
            <a:r>
              <a:rPr kumimoji="1" lang="zh-CN" altLang="en-US" sz="2400" b="1">
                <a:latin typeface="楷体_GB2312" pitchFamily="49" charset="-122"/>
                <a:ea typeface="楷体_GB2312" pitchFamily="49" charset="-122"/>
                <a:cs typeface="Times New Roman" pitchFamily="18" charset="0"/>
              </a:rPr>
              <a:t>和</a:t>
            </a:r>
            <a:r>
              <a:rPr kumimoji="1" lang="zh-CN" altLang="en-US" sz="2400" b="1">
                <a:solidFill>
                  <a:srgbClr val="0000FF"/>
                </a:solidFill>
                <a:latin typeface="楷体_GB2312" pitchFamily="49" charset="-122"/>
                <a:ea typeface="楷体_GB2312" pitchFamily="49" charset="-122"/>
                <a:cs typeface="Times New Roman" pitchFamily="18" charset="0"/>
              </a:rPr>
              <a:t>振动势能</a:t>
            </a:r>
            <a:r>
              <a:rPr kumimoji="1" lang="zh-CN" altLang="en-US" sz="2400" b="1">
                <a:latin typeface="楷体_GB2312" pitchFamily="49" charset="-122"/>
                <a:ea typeface="楷体_GB2312" pitchFamily="49" charset="-122"/>
                <a:cs typeface="Times New Roman" pitchFamily="18" charset="0"/>
              </a:rPr>
              <a:t>。</a:t>
            </a:r>
          </a:p>
        </p:txBody>
      </p:sp>
      <p:graphicFrame>
        <p:nvGraphicFramePr>
          <p:cNvPr id="22558" name="Object 30"/>
          <p:cNvGraphicFramePr>
            <a:graphicFrameLocks noChangeAspect="1"/>
          </p:cNvGraphicFramePr>
          <p:nvPr/>
        </p:nvGraphicFramePr>
        <p:xfrm>
          <a:off x="4932363" y="3041650"/>
          <a:ext cx="1824037" cy="690563"/>
        </p:xfrm>
        <a:graphic>
          <a:graphicData uri="http://schemas.openxmlformats.org/presentationml/2006/ole">
            <p:oleObj spid="_x0000_s29698" name="公式" r:id="rId3" imgW="1066680" imgH="406080" progId="Equation.3">
              <p:embed/>
            </p:oleObj>
          </a:graphicData>
        </a:graphic>
      </p:graphicFrame>
      <p:sp>
        <p:nvSpPr>
          <p:cNvPr id="22559" name="Text Box 31"/>
          <p:cNvSpPr txBox="1">
            <a:spLocks noChangeArrowheads="1"/>
          </p:cNvSpPr>
          <p:nvPr/>
        </p:nvSpPr>
        <p:spPr bwMode="auto">
          <a:xfrm>
            <a:off x="179388" y="3084513"/>
            <a:ext cx="4949825" cy="479425"/>
          </a:xfrm>
          <a:prstGeom prst="rect">
            <a:avLst/>
          </a:prstGeom>
          <a:noFill/>
          <a:ln w="9525">
            <a:noFill/>
            <a:miter lim="800000"/>
            <a:headEnd/>
            <a:tailEnd/>
          </a:ln>
        </p:spPr>
        <p:txBody>
          <a:bodyPr>
            <a:spAutoFit/>
          </a:bodyPr>
          <a:lstStyle/>
          <a:p>
            <a:pPr>
              <a:lnSpc>
                <a:spcPct val="115000"/>
              </a:lnSpc>
              <a:defRPr/>
            </a:pPr>
            <a:r>
              <a:rPr kumimoji="1" lang="zh-CN" altLang="en-US" sz="2400" b="1" dirty="0">
                <a:latin typeface="Times New Roman" pitchFamily="18" charset="0"/>
                <a:ea typeface="+mn-ea"/>
                <a:cs typeface="Times New Roman" pitchFamily="18" charset="0"/>
              </a:rPr>
              <a:t>每个理想气体分子的</a:t>
            </a:r>
            <a:r>
              <a:rPr kumimoji="1" lang="zh-CN" altLang="en-US" sz="2400" b="1" dirty="0">
                <a:solidFill>
                  <a:srgbClr val="C00000"/>
                </a:solidFill>
                <a:latin typeface="Times New Roman" pitchFamily="18" charset="0"/>
                <a:ea typeface="+mn-ea"/>
                <a:cs typeface="Times New Roman" pitchFamily="18" charset="0"/>
              </a:rPr>
              <a:t>平均动能</a:t>
            </a:r>
          </a:p>
        </p:txBody>
      </p:sp>
      <p:sp>
        <p:nvSpPr>
          <p:cNvPr id="22560" name="Text Box 32"/>
          <p:cNvSpPr txBox="1">
            <a:spLocks noChangeArrowheads="1"/>
          </p:cNvSpPr>
          <p:nvPr/>
        </p:nvSpPr>
        <p:spPr bwMode="auto">
          <a:xfrm>
            <a:off x="323850" y="3863975"/>
            <a:ext cx="4068763" cy="512763"/>
          </a:xfrm>
          <a:prstGeom prst="rect">
            <a:avLst/>
          </a:prstGeom>
          <a:noFill/>
          <a:ln w="9525">
            <a:noFill/>
            <a:miter lim="800000"/>
            <a:headEnd/>
            <a:tailEnd/>
          </a:ln>
        </p:spPr>
        <p:txBody>
          <a:bodyPr>
            <a:spAutoFit/>
          </a:bodyPr>
          <a:lstStyle/>
          <a:p>
            <a:pPr>
              <a:lnSpc>
                <a:spcPct val="115000"/>
              </a:lnSpc>
              <a:defRPr/>
            </a:pPr>
            <a:r>
              <a:rPr kumimoji="1" lang="en-US" altLang="zh-CN" sz="2400" b="1">
                <a:solidFill>
                  <a:srgbClr val="CC0000"/>
                </a:solidFill>
                <a:latin typeface="Times New Roman" pitchFamily="18" charset="0"/>
                <a:ea typeface="+mn-ea"/>
                <a:cs typeface="Times New Roman" pitchFamily="18" charset="0"/>
              </a:rPr>
              <a:t>1 mol  </a:t>
            </a:r>
            <a:r>
              <a:rPr kumimoji="1" lang="zh-CN" altLang="en-US" sz="2400" b="1">
                <a:latin typeface="Times New Roman" pitchFamily="18" charset="0"/>
                <a:ea typeface="+mn-ea"/>
                <a:cs typeface="Times New Roman" pitchFamily="18" charset="0"/>
              </a:rPr>
              <a:t>理想气体的内能为</a:t>
            </a:r>
          </a:p>
        </p:txBody>
      </p:sp>
      <p:graphicFrame>
        <p:nvGraphicFramePr>
          <p:cNvPr id="22561" name="Object 33"/>
          <p:cNvGraphicFramePr>
            <a:graphicFrameLocks noChangeAspect="1"/>
          </p:cNvGraphicFramePr>
          <p:nvPr/>
        </p:nvGraphicFramePr>
        <p:xfrm>
          <a:off x="4572000" y="3806825"/>
          <a:ext cx="2360613" cy="687388"/>
        </p:xfrm>
        <a:graphic>
          <a:graphicData uri="http://schemas.openxmlformats.org/presentationml/2006/ole">
            <p:oleObj spid="_x0000_s29699" name="公式" r:id="rId4" imgW="1384200" imgH="406080" progId="Equation.3">
              <p:embed/>
            </p:oleObj>
          </a:graphicData>
        </a:graphic>
      </p:graphicFrame>
      <p:graphicFrame>
        <p:nvGraphicFramePr>
          <p:cNvPr id="22562" name="Object 34"/>
          <p:cNvGraphicFramePr>
            <a:graphicFrameLocks noChangeAspect="1"/>
          </p:cNvGraphicFramePr>
          <p:nvPr/>
        </p:nvGraphicFramePr>
        <p:xfrm>
          <a:off x="4565650" y="4583113"/>
          <a:ext cx="2392363" cy="668337"/>
        </p:xfrm>
        <a:graphic>
          <a:graphicData uri="http://schemas.openxmlformats.org/presentationml/2006/ole">
            <p:oleObj spid="_x0000_s29700" name="Equation" r:id="rId5" imgW="1396800" imgH="393480" progId="">
              <p:embed/>
            </p:oleObj>
          </a:graphicData>
        </a:graphic>
      </p:graphicFrame>
      <p:sp>
        <p:nvSpPr>
          <p:cNvPr id="22564" name="Text Box 36"/>
          <p:cNvSpPr txBox="1">
            <a:spLocks noChangeArrowheads="1"/>
          </p:cNvSpPr>
          <p:nvPr/>
        </p:nvSpPr>
        <p:spPr bwMode="auto">
          <a:xfrm>
            <a:off x="1258888" y="5445125"/>
            <a:ext cx="6291262" cy="933450"/>
          </a:xfrm>
          <a:prstGeom prst="rect">
            <a:avLst/>
          </a:prstGeom>
          <a:gradFill rotWithShape="1">
            <a:gsLst>
              <a:gs pos="0">
                <a:srgbClr val="FFFF00"/>
              </a:gs>
              <a:gs pos="100000">
                <a:srgbClr val="66FFFF"/>
              </a:gs>
            </a:gsLst>
            <a:lin ang="0" scaled="1"/>
          </a:gradFill>
          <a:ln w="9525" algn="ctr">
            <a:noFill/>
            <a:miter lim="800000"/>
            <a:headEnd/>
            <a:tailEnd/>
          </a:ln>
        </p:spPr>
        <p:txBody>
          <a:bodyPr>
            <a:spAutoFit/>
          </a:bodyPr>
          <a:lstStyle/>
          <a:p>
            <a:pPr algn="ctr">
              <a:lnSpc>
                <a:spcPct val="115000"/>
              </a:lnSpc>
              <a:defRPr/>
            </a:pPr>
            <a:r>
              <a:rPr kumimoji="1" lang="zh-CN" altLang="en-US" sz="2400" b="1">
                <a:solidFill>
                  <a:srgbClr val="CC0000"/>
                </a:solidFill>
                <a:latin typeface="Times New Roman" pitchFamily="18" charset="0"/>
                <a:ea typeface="+mn-ea"/>
                <a:cs typeface="Times New Roman" pitchFamily="18" charset="0"/>
              </a:rPr>
              <a:t>一定质量</a:t>
            </a:r>
            <a:r>
              <a:rPr kumimoji="1" lang="zh-CN" altLang="en-US" sz="2400" b="1">
                <a:latin typeface="Times New Roman" pitchFamily="18" charset="0"/>
                <a:ea typeface="+mn-ea"/>
                <a:cs typeface="Times New Roman" pitchFamily="18" charset="0"/>
              </a:rPr>
              <a:t>的理想气体内能只是</a:t>
            </a:r>
            <a:r>
              <a:rPr kumimoji="1" lang="zh-CN" altLang="en-US" sz="2400" b="1">
                <a:solidFill>
                  <a:srgbClr val="CC0000"/>
                </a:solidFill>
                <a:latin typeface="Times New Roman" pitchFamily="18" charset="0"/>
                <a:ea typeface="+mn-ea"/>
                <a:cs typeface="Times New Roman" pitchFamily="18" charset="0"/>
              </a:rPr>
              <a:t>温度</a:t>
            </a:r>
            <a:r>
              <a:rPr kumimoji="1" lang="zh-CN" altLang="en-US" sz="2400" b="1">
                <a:latin typeface="Times New Roman" pitchFamily="18" charset="0"/>
                <a:ea typeface="+mn-ea"/>
                <a:cs typeface="Times New Roman" pitchFamily="18" charset="0"/>
              </a:rPr>
              <a:t>的函数，与热力学温度成正比。</a:t>
            </a:r>
          </a:p>
        </p:txBody>
      </p:sp>
      <p:grpSp>
        <p:nvGrpSpPr>
          <p:cNvPr id="2" name="组合 15"/>
          <p:cNvGrpSpPr>
            <a:grpSpLocks/>
          </p:cNvGrpSpPr>
          <p:nvPr/>
        </p:nvGrpSpPr>
        <p:grpSpPr bwMode="auto">
          <a:xfrm>
            <a:off x="142875" y="4673600"/>
            <a:ext cx="4230688" cy="517525"/>
            <a:chOff x="285720" y="4673600"/>
            <a:chExt cx="4230687" cy="517065"/>
          </a:xfrm>
        </p:grpSpPr>
        <p:sp>
          <p:nvSpPr>
            <p:cNvPr id="22563" name="Text Box 35"/>
            <p:cNvSpPr txBox="1">
              <a:spLocks noChangeArrowheads="1"/>
            </p:cNvSpPr>
            <p:nvPr/>
          </p:nvSpPr>
          <p:spPr bwMode="auto">
            <a:xfrm>
              <a:off x="285720" y="4673600"/>
              <a:ext cx="4230687" cy="517065"/>
            </a:xfrm>
            <a:prstGeom prst="rect">
              <a:avLst/>
            </a:prstGeom>
            <a:noFill/>
            <a:ln w="9525">
              <a:noFill/>
              <a:miter lim="800000"/>
              <a:headEnd/>
              <a:tailEnd/>
            </a:ln>
          </p:spPr>
          <p:txBody>
            <a:bodyPr>
              <a:spAutoFit/>
            </a:bodyPr>
            <a:lstStyle/>
            <a:p>
              <a:pPr>
                <a:lnSpc>
                  <a:spcPct val="115000"/>
                </a:lnSpc>
                <a:defRPr/>
              </a:pPr>
              <a:r>
                <a:rPr kumimoji="1" lang="en-US" altLang="zh-CN" sz="2400" b="1" dirty="0">
                  <a:solidFill>
                    <a:srgbClr val="CC0000"/>
                  </a:solidFill>
                  <a:latin typeface="Times New Roman" pitchFamily="18" charset="0"/>
                  <a:ea typeface="+mn-ea"/>
                  <a:cs typeface="Times New Roman" pitchFamily="18" charset="0"/>
                </a:rPr>
                <a:t>      mol </a:t>
              </a:r>
              <a:r>
                <a:rPr kumimoji="1" lang="zh-CN" altLang="en-US" sz="2400" b="1" dirty="0">
                  <a:latin typeface="Times New Roman" pitchFamily="18" charset="0"/>
                  <a:ea typeface="+mn-ea"/>
                  <a:cs typeface="Times New Roman" pitchFamily="18" charset="0"/>
                </a:rPr>
                <a:t>理想气体的内能为 </a:t>
              </a:r>
            </a:p>
          </p:txBody>
        </p:sp>
        <p:graphicFrame>
          <p:nvGraphicFramePr>
            <p:cNvPr id="29701" name="Object 15"/>
            <p:cNvGraphicFramePr>
              <a:graphicFrameLocks noChangeAspect="1"/>
            </p:cNvGraphicFramePr>
            <p:nvPr/>
          </p:nvGraphicFramePr>
          <p:xfrm>
            <a:off x="428596" y="4786322"/>
            <a:ext cx="428628" cy="357190"/>
          </p:xfrm>
          <a:graphic>
            <a:graphicData uri="http://schemas.openxmlformats.org/presentationml/2006/ole">
              <p:oleObj spid="_x0000_s29701" name="Equation" r:id="rId6" imgW="126720" imgH="13968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wipe(left)">
                                      <p:cBhvr>
                                        <p:cTn id="7" dur="2000"/>
                                        <p:tgtEl>
                                          <p:spTgt spid="225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53"/>
                                        </p:tgtEl>
                                        <p:attrNameLst>
                                          <p:attrName>style.visibility</p:attrName>
                                        </p:attrNameLst>
                                      </p:cBhvr>
                                      <p:to>
                                        <p:strVal val="visible"/>
                                      </p:to>
                                    </p:set>
                                    <p:animEffect transition="in" filter="wipe(left)">
                                      <p:cBhvr>
                                        <p:cTn id="12" dur="500"/>
                                        <p:tgtEl>
                                          <p:spTgt spid="2255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2556">
                                            <p:txEl>
                                              <p:pRg st="0" end="0"/>
                                            </p:txEl>
                                          </p:spTgt>
                                        </p:tgtEl>
                                        <p:attrNameLst>
                                          <p:attrName>style.visibility</p:attrName>
                                        </p:attrNameLst>
                                      </p:cBhvr>
                                      <p:to>
                                        <p:strVal val="visible"/>
                                      </p:to>
                                    </p:set>
                                    <p:animEffect transition="in" filter="wipe(left)">
                                      <p:cBhvr>
                                        <p:cTn id="16" dur="500"/>
                                        <p:tgtEl>
                                          <p:spTgt spid="2255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557"/>
                                        </p:tgtEl>
                                        <p:attrNameLst>
                                          <p:attrName>style.visibility</p:attrName>
                                        </p:attrNameLst>
                                      </p:cBhvr>
                                      <p:to>
                                        <p:strVal val="visible"/>
                                      </p:to>
                                    </p:set>
                                    <p:animEffect transition="in" filter="wipe(left)">
                                      <p:cBhvr>
                                        <p:cTn id="21" dur="500"/>
                                        <p:tgtEl>
                                          <p:spTgt spid="2255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555"/>
                                        </p:tgtEl>
                                        <p:attrNameLst>
                                          <p:attrName>style.visibility</p:attrName>
                                        </p:attrNameLst>
                                      </p:cBhvr>
                                      <p:to>
                                        <p:strVal val="visible"/>
                                      </p:to>
                                    </p:set>
                                    <p:animEffect transition="in" filter="wipe(left)">
                                      <p:cBhvr>
                                        <p:cTn id="26" dur="500"/>
                                        <p:tgtEl>
                                          <p:spTgt spid="225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554"/>
                                        </p:tgtEl>
                                        <p:attrNameLst>
                                          <p:attrName>style.visibility</p:attrName>
                                        </p:attrNameLst>
                                      </p:cBhvr>
                                      <p:to>
                                        <p:strVal val="visible"/>
                                      </p:to>
                                    </p:set>
                                    <p:animEffect transition="in" filter="wipe(left)">
                                      <p:cBhvr>
                                        <p:cTn id="31" dur="500"/>
                                        <p:tgtEl>
                                          <p:spTgt spid="2255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2559"/>
                                        </p:tgtEl>
                                        <p:attrNameLst>
                                          <p:attrName>style.visibility</p:attrName>
                                        </p:attrNameLst>
                                      </p:cBhvr>
                                      <p:to>
                                        <p:strVal val="visible"/>
                                      </p:to>
                                    </p:set>
                                    <p:animEffect transition="in" filter="wipe(left)">
                                      <p:cBhvr>
                                        <p:cTn id="36" dur="500"/>
                                        <p:tgtEl>
                                          <p:spTgt spid="225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2558"/>
                                        </p:tgtEl>
                                        <p:attrNameLst>
                                          <p:attrName>style.visibility</p:attrName>
                                        </p:attrNameLst>
                                      </p:cBhvr>
                                      <p:to>
                                        <p:strVal val="visible"/>
                                      </p:to>
                                    </p:set>
                                    <p:animEffect transition="in" filter="wipe(left)">
                                      <p:cBhvr>
                                        <p:cTn id="41" dur="500"/>
                                        <p:tgtEl>
                                          <p:spTgt spid="2255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560"/>
                                        </p:tgtEl>
                                        <p:attrNameLst>
                                          <p:attrName>style.visibility</p:attrName>
                                        </p:attrNameLst>
                                      </p:cBhvr>
                                      <p:to>
                                        <p:strVal val="visible"/>
                                      </p:to>
                                    </p:set>
                                    <p:animEffect transition="in" filter="wipe(left)">
                                      <p:cBhvr>
                                        <p:cTn id="46" dur="500"/>
                                        <p:tgtEl>
                                          <p:spTgt spid="2256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2561"/>
                                        </p:tgtEl>
                                        <p:attrNameLst>
                                          <p:attrName>style.visibility</p:attrName>
                                        </p:attrNameLst>
                                      </p:cBhvr>
                                      <p:to>
                                        <p:strVal val="visible"/>
                                      </p:to>
                                    </p:set>
                                    <p:animEffect transition="in" filter="wipe(left)">
                                      <p:cBhvr>
                                        <p:cTn id="51" dur="500"/>
                                        <p:tgtEl>
                                          <p:spTgt spid="2256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2562"/>
                                        </p:tgtEl>
                                        <p:attrNameLst>
                                          <p:attrName>style.visibility</p:attrName>
                                        </p:attrNameLst>
                                      </p:cBhvr>
                                      <p:to>
                                        <p:strVal val="visible"/>
                                      </p:to>
                                    </p:set>
                                    <p:animEffect transition="in" filter="wipe(left)">
                                      <p:cBhvr>
                                        <p:cTn id="61" dur="500"/>
                                        <p:tgtEl>
                                          <p:spTgt spid="2256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564"/>
                                        </p:tgtEl>
                                        <p:attrNameLst>
                                          <p:attrName>style.visibility</p:attrName>
                                        </p:attrNameLst>
                                      </p:cBhvr>
                                      <p:to>
                                        <p:strVal val="visible"/>
                                      </p:to>
                                    </p:set>
                                    <p:animEffect transition="in" filter="wipe(left)">
                                      <p:cBhvr>
                                        <p:cTn id="66" dur="500"/>
                                        <p:tgtEl>
                                          <p:spTgt spid="2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53" grpId="0"/>
      <p:bldP spid="22554" grpId="0" autoUpdateAnimBg="0"/>
      <p:bldP spid="22555" grpId="0"/>
      <p:bldP spid="22557" grpId="0" animBg="1" autoUpdateAnimBg="0"/>
      <p:bldP spid="22559" grpId="0" autoUpdateAnimBg="0"/>
      <p:bldP spid="22560" grpId="0" autoUpdateAnimBg="0"/>
      <p:bldP spid="2256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ChangeArrowheads="1"/>
          </p:cNvSpPr>
          <p:nvPr/>
        </p:nvSpPr>
        <p:spPr bwMode="auto">
          <a:xfrm>
            <a:off x="615950" y="763588"/>
            <a:ext cx="2298700" cy="457200"/>
          </a:xfrm>
          <a:prstGeom prst="rect">
            <a:avLst/>
          </a:prstGeom>
          <a:noFill/>
          <a:ln w="9525">
            <a:noFill/>
            <a:miter lim="800000"/>
            <a:headEnd/>
            <a:tailEnd/>
          </a:ln>
        </p:spPr>
        <p:txBody>
          <a:bodyPr>
            <a:spAutoFit/>
          </a:bodyPr>
          <a:lstStyle/>
          <a:p>
            <a:pPr>
              <a:defRPr/>
            </a:pPr>
            <a:r>
              <a:rPr kumimoji="1" lang="zh-CN" altLang="en-US" sz="2400" b="1">
                <a:solidFill>
                  <a:srgbClr val="FF0000"/>
                </a:solidFill>
                <a:latin typeface="Times New Roman" pitchFamily="18" charset="0"/>
                <a:ea typeface="+mn-ea"/>
                <a:cs typeface="Times New Roman" pitchFamily="18" charset="0"/>
              </a:rPr>
              <a:t>说明 </a:t>
            </a:r>
          </a:p>
        </p:txBody>
      </p:sp>
      <p:sp>
        <p:nvSpPr>
          <p:cNvPr id="266243" name="Text Box 3"/>
          <p:cNvSpPr txBox="1">
            <a:spLocks noChangeArrowheads="1"/>
          </p:cNvSpPr>
          <p:nvPr/>
        </p:nvSpPr>
        <p:spPr bwMode="auto">
          <a:xfrm>
            <a:off x="206375" y="1428750"/>
            <a:ext cx="8469313" cy="2012950"/>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一定质量的理想气体内能</a:t>
            </a:r>
            <a:r>
              <a:rPr lang="zh-CN" altLang="en-US" sz="2400" b="1" dirty="0">
                <a:latin typeface="Times New Roman" pitchFamily="18" charset="0"/>
                <a:ea typeface="+mn-ea"/>
                <a:cs typeface="Times New Roman" pitchFamily="18" charset="0"/>
              </a:rPr>
              <a:t>完全取决于分子运动的</a:t>
            </a:r>
            <a:r>
              <a:rPr lang="zh-CN" altLang="en-US" sz="2400" b="1" dirty="0">
                <a:solidFill>
                  <a:srgbClr val="FF3300"/>
                </a:solidFill>
                <a:latin typeface="Times New Roman" pitchFamily="18" charset="0"/>
                <a:ea typeface="+mn-ea"/>
                <a:cs typeface="Times New Roman" pitchFamily="18" charset="0"/>
              </a:rPr>
              <a:t>自由度数</a:t>
            </a:r>
          </a:p>
          <a:p>
            <a:pPr>
              <a:lnSpc>
                <a:spcPct val="130000"/>
              </a:lnSpc>
              <a:defRPr/>
            </a:pPr>
            <a:r>
              <a:rPr lang="zh-CN" altLang="en-US" sz="2400" b="1" dirty="0">
                <a:latin typeface="Times New Roman" pitchFamily="18" charset="0"/>
                <a:ea typeface="+mn-ea"/>
                <a:cs typeface="Times New Roman" pitchFamily="18" charset="0"/>
              </a:rPr>
              <a:t>和</a:t>
            </a:r>
            <a:r>
              <a:rPr lang="zh-CN" altLang="en-US" sz="2400" b="1" dirty="0">
                <a:solidFill>
                  <a:srgbClr val="FF3300"/>
                </a:solidFill>
                <a:latin typeface="Times New Roman" pitchFamily="18" charset="0"/>
                <a:ea typeface="+mn-ea"/>
                <a:cs typeface="Times New Roman" pitchFamily="18" charset="0"/>
              </a:rPr>
              <a:t>气体的温度</a:t>
            </a:r>
            <a:r>
              <a:rPr lang="zh-CN" altLang="en-US" sz="2400" b="1" dirty="0">
                <a:latin typeface="Times New Roman" pitchFamily="18" charset="0"/>
                <a:ea typeface="+mn-ea"/>
                <a:cs typeface="Times New Roman" pitchFamily="18" charset="0"/>
              </a:rPr>
              <a:t>，而与气体的体积和压强无关。对于给定气体，</a:t>
            </a:r>
            <a:r>
              <a:rPr lang="zh-CN" altLang="en-US" sz="2400" b="1" dirty="0">
                <a:solidFill>
                  <a:schemeClr val="bg1"/>
                </a:solidFill>
                <a:latin typeface="Times New Roman" pitchFamily="18" charset="0"/>
                <a:ea typeface="+mn-ea"/>
                <a:cs typeface="Times New Roman" pitchFamily="18" charset="0"/>
              </a:rPr>
              <a:t> </a:t>
            </a:r>
            <a:r>
              <a:rPr lang="en-US" altLang="zh-CN" sz="2400" b="1" i="1" dirty="0" err="1">
                <a:solidFill>
                  <a:srgbClr val="FF3300"/>
                </a:solidFill>
                <a:latin typeface="Times New Roman" pitchFamily="18" charset="0"/>
                <a:ea typeface="+mn-ea"/>
                <a:cs typeface="Times New Roman" pitchFamily="18" charset="0"/>
              </a:rPr>
              <a:t>i</a:t>
            </a:r>
            <a:r>
              <a:rPr lang="en-US" altLang="zh-CN" sz="2400" b="1" i="1" dirty="0">
                <a:solidFill>
                  <a:srgbClr val="FF3300"/>
                </a:solidFill>
                <a:latin typeface="Times New Roman" pitchFamily="18" charset="0"/>
                <a:ea typeface="+mn-ea"/>
                <a:cs typeface="Times New Roman" pitchFamily="18" charset="0"/>
              </a:rPr>
              <a:t> </a:t>
            </a:r>
            <a:r>
              <a:rPr lang="en-US" altLang="zh-CN" sz="2400" b="1" i="1" dirty="0">
                <a:solidFill>
                  <a:schemeClr val="hlink"/>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是确定的，所以</a:t>
            </a:r>
            <a:r>
              <a:rPr lang="zh-CN" altLang="en-US" sz="2400" b="1" dirty="0">
                <a:solidFill>
                  <a:srgbClr val="FF3300"/>
                </a:solidFill>
                <a:latin typeface="Times New Roman" pitchFamily="18" charset="0"/>
                <a:ea typeface="+mn-ea"/>
                <a:cs typeface="Times New Roman" pitchFamily="18" charset="0"/>
              </a:rPr>
              <a:t>其内能就只与温度有关</a:t>
            </a:r>
            <a:r>
              <a:rPr lang="zh-CN" altLang="en-US" sz="2400" b="1" dirty="0">
                <a:latin typeface="Times New Roman" pitchFamily="18" charset="0"/>
                <a:ea typeface="+mn-ea"/>
                <a:cs typeface="Times New Roman" pitchFamily="18" charset="0"/>
              </a:rPr>
              <a:t>，这与宏观的实验观测结果是一致的。</a:t>
            </a:r>
          </a:p>
        </p:txBody>
      </p:sp>
      <p:sp>
        <p:nvSpPr>
          <p:cNvPr id="266244" name="AutoShape 4"/>
          <p:cNvSpPr>
            <a:spLocks noChangeArrowheads="1"/>
          </p:cNvSpPr>
          <p:nvPr/>
        </p:nvSpPr>
        <p:spPr bwMode="auto">
          <a:xfrm>
            <a:off x="250825" y="692150"/>
            <a:ext cx="360363"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sz="2400">
              <a:latin typeface="Times New Roman" pitchFamily="18" charset="0"/>
              <a:ea typeface="+mn-ea"/>
              <a:cs typeface="Times New Roman" pitchFamily="18" charset="0"/>
            </a:endParaRPr>
          </a:p>
        </p:txBody>
      </p:sp>
      <p:graphicFrame>
        <p:nvGraphicFramePr>
          <p:cNvPr id="30722" name="Object 5"/>
          <p:cNvGraphicFramePr>
            <a:graphicFrameLocks noChangeAspect="1"/>
          </p:cNvGraphicFramePr>
          <p:nvPr/>
        </p:nvGraphicFramePr>
        <p:xfrm>
          <a:off x="3214688" y="500063"/>
          <a:ext cx="1571625" cy="819150"/>
        </p:xfrm>
        <a:graphic>
          <a:graphicData uri="http://schemas.openxmlformats.org/presentationml/2006/ole">
            <p:oleObj spid="_x0000_s30722" name="公式" r:id="rId3" imgW="774360" imgH="406080" progId="Equation.3">
              <p:embed/>
            </p:oleObj>
          </a:graphicData>
        </a:graphic>
      </p:graphicFrame>
      <p:sp>
        <p:nvSpPr>
          <p:cNvPr id="266253" name="Text Box 13"/>
          <p:cNvSpPr txBox="1">
            <a:spLocks noChangeArrowheads="1"/>
          </p:cNvSpPr>
          <p:nvPr/>
        </p:nvSpPr>
        <p:spPr bwMode="auto">
          <a:xfrm>
            <a:off x="142875" y="3429000"/>
            <a:ext cx="6192838" cy="506413"/>
          </a:xfrm>
          <a:prstGeom prst="rect">
            <a:avLst/>
          </a:prstGeom>
          <a:noFill/>
          <a:ln w="9525">
            <a:noFill/>
            <a:miter lim="800000"/>
            <a:headEnd/>
            <a:tailEnd/>
          </a:ln>
        </p:spPr>
        <p:txBody>
          <a:bodyPr>
            <a:spAutoFit/>
          </a:bodyPr>
          <a:lstStyle/>
          <a:p>
            <a:pPr>
              <a:lnSpc>
                <a:spcPct val="125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几种理想气体内能</a:t>
            </a:r>
            <a:r>
              <a:rPr lang="zh-CN" altLang="en-US" sz="2400" b="1" dirty="0">
                <a:latin typeface="Times New Roman" pitchFamily="18" charset="0"/>
                <a:ea typeface="+mn-ea"/>
                <a:cs typeface="Times New Roman" pitchFamily="18" charset="0"/>
              </a:rPr>
              <a:t>如下：</a:t>
            </a:r>
          </a:p>
        </p:txBody>
      </p:sp>
      <p:sp>
        <p:nvSpPr>
          <p:cNvPr id="266254" name="Rectangle 14"/>
          <p:cNvSpPr>
            <a:spLocks noChangeArrowheads="1"/>
          </p:cNvSpPr>
          <p:nvPr/>
        </p:nvSpPr>
        <p:spPr bwMode="auto">
          <a:xfrm>
            <a:off x="1922463" y="4086225"/>
            <a:ext cx="2814637" cy="461963"/>
          </a:xfrm>
          <a:prstGeom prst="rect">
            <a:avLst/>
          </a:prstGeom>
          <a:noFill/>
          <a:ln w="9525">
            <a:noFill/>
            <a:miter lim="800000"/>
            <a:headEnd/>
            <a:tailEnd/>
          </a:ln>
        </p:spPr>
        <p:txBody>
          <a:bodyPr wrap="none" anchor="ctr">
            <a:spAutoFit/>
          </a:bodyPr>
          <a:lstStyle/>
          <a:p>
            <a:pPr>
              <a:defRPr/>
            </a:pPr>
            <a:r>
              <a:rPr lang="zh-CN" altLang="en-US" sz="2400" b="1" dirty="0">
                <a:solidFill>
                  <a:srgbClr val="0000FF"/>
                </a:solidFill>
                <a:latin typeface="Times New Roman" pitchFamily="18" charset="0"/>
                <a:ea typeface="+mn-ea"/>
                <a:cs typeface="Times New Roman" pitchFamily="18" charset="0"/>
              </a:rPr>
              <a:t>单原子气体分子： </a:t>
            </a:r>
          </a:p>
        </p:txBody>
      </p:sp>
      <p:sp>
        <p:nvSpPr>
          <p:cNvPr id="266255" name="Rectangle 15"/>
          <p:cNvSpPr>
            <a:spLocks noChangeArrowheads="1"/>
          </p:cNvSpPr>
          <p:nvPr/>
        </p:nvSpPr>
        <p:spPr bwMode="auto">
          <a:xfrm>
            <a:off x="1966913" y="4860925"/>
            <a:ext cx="2814637" cy="461963"/>
          </a:xfrm>
          <a:prstGeom prst="rect">
            <a:avLst/>
          </a:prstGeom>
          <a:noFill/>
          <a:ln w="9525">
            <a:noFill/>
            <a:miter lim="800000"/>
            <a:headEnd/>
            <a:tailEnd/>
          </a:ln>
        </p:spPr>
        <p:txBody>
          <a:bodyPr wrap="none" anchor="ctr">
            <a:spAutoFit/>
          </a:bodyPr>
          <a:lstStyle/>
          <a:p>
            <a:pPr>
              <a:defRPr/>
            </a:pPr>
            <a:r>
              <a:rPr lang="zh-CN" altLang="en-US" sz="2400" b="1">
                <a:solidFill>
                  <a:srgbClr val="0000FF"/>
                </a:solidFill>
                <a:latin typeface="Times New Roman" pitchFamily="18" charset="0"/>
                <a:ea typeface="+mn-ea"/>
                <a:cs typeface="Times New Roman" pitchFamily="18" charset="0"/>
              </a:rPr>
              <a:t>双原子气体分子： </a:t>
            </a:r>
          </a:p>
        </p:txBody>
      </p:sp>
      <p:sp>
        <p:nvSpPr>
          <p:cNvPr id="266256" name="Rectangle 16"/>
          <p:cNvSpPr>
            <a:spLocks noChangeArrowheads="1"/>
          </p:cNvSpPr>
          <p:nvPr/>
        </p:nvSpPr>
        <p:spPr bwMode="auto">
          <a:xfrm>
            <a:off x="1938338" y="5673725"/>
            <a:ext cx="2814637" cy="461963"/>
          </a:xfrm>
          <a:prstGeom prst="rect">
            <a:avLst/>
          </a:prstGeom>
          <a:noFill/>
          <a:ln w="9525">
            <a:noFill/>
            <a:miter lim="800000"/>
            <a:headEnd/>
            <a:tailEnd/>
          </a:ln>
        </p:spPr>
        <p:txBody>
          <a:bodyPr wrap="none" anchor="ctr">
            <a:spAutoFit/>
          </a:bodyPr>
          <a:lstStyle/>
          <a:p>
            <a:pPr>
              <a:defRPr/>
            </a:pPr>
            <a:r>
              <a:rPr lang="zh-CN" altLang="en-US" sz="2400" b="1">
                <a:solidFill>
                  <a:srgbClr val="0000FF"/>
                </a:solidFill>
                <a:latin typeface="Times New Roman" pitchFamily="18" charset="0"/>
                <a:ea typeface="+mn-ea"/>
                <a:cs typeface="Times New Roman" pitchFamily="18" charset="0"/>
              </a:rPr>
              <a:t>多原子气体分子： </a:t>
            </a:r>
          </a:p>
        </p:txBody>
      </p:sp>
      <p:graphicFrame>
        <p:nvGraphicFramePr>
          <p:cNvPr id="266257" name="Object 17"/>
          <p:cNvGraphicFramePr>
            <a:graphicFrameLocks noChangeAspect="1"/>
          </p:cNvGraphicFramePr>
          <p:nvPr/>
        </p:nvGraphicFramePr>
        <p:xfrm>
          <a:off x="4622800" y="3929063"/>
          <a:ext cx="1404938" cy="730250"/>
        </p:xfrm>
        <a:graphic>
          <a:graphicData uri="http://schemas.openxmlformats.org/presentationml/2006/ole">
            <p:oleObj spid="_x0000_s30723" name="公式" r:id="rId4" imgW="774360" imgH="406080" progId="Equation.3">
              <p:embed/>
            </p:oleObj>
          </a:graphicData>
        </a:graphic>
      </p:graphicFrame>
      <p:graphicFrame>
        <p:nvGraphicFramePr>
          <p:cNvPr id="266258" name="Object 18"/>
          <p:cNvGraphicFramePr>
            <a:graphicFrameLocks noChangeAspect="1"/>
          </p:cNvGraphicFramePr>
          <p:nvPr/>
        </p:nvGraphicFramePr>
        <p:xfrm>
          <a:off x="4624388" y="4721225"/>
          <a:ext cx="1403350" cy="731838"/>
        </p:xfrm>
        <a:graphic>
          <a:graphicData uri="http://schemas.openxmlformats.org/presentationml/2006/ole">
            <p:oleObj spid="_x0000_s30724" name="公式" r:id="rId5" imgW="774360" imgH="406080" progId="Equation.3">
              <p:embed/>
            </p:oleObj>
          </a:graphicData>
        </a:graphic>
      </p:graphicFrame>
      <p:graphicFrame>
        <p:nvGraphicFramePr>
          <p:cNvPr id="266259" name="Object 19"/>
          <p:cNvGraphicFramePr>
            <a:graphicFrameLocks noChangeAspect="1"/>
          </p:cNvGraphicFramePr>
          <p:nvPr/>
        </p:nvGraphicFramePr>
        <p:xfrm>
          <a:off x="4640263" y="5737225"/>
          <a:ext cx="1431925" cy="320675"/>
        </p:xfrm>
        <a:graphic>
          <a:graphicData uri="http://schemas.openxmlformats.org/presentationml/2006/ole">
            <p:oleObj spid="_x0000_s30725" name="公式" r:id="rId6" imgW="787320" imgH="177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266244"/>
                                        </p:tgtEl>
                                        <p:attrNameLst>
                                          <p:attrName>style.visibility</p:attrName>
                                        </p:attrNameLst>
                                      </p:cBhvr>
                                      <p:to>
                                        <p:strVal val="visible"/>
                                      </p:to>
                                    </p:set>
                                    <p:anim calcmode="lin" valueType="num">
                                      <p:cBhvr>
                                        <p:cTn id="7" dur="1000" fill="hold"/>
                                        <p:tgtEl>
                                          <p:spTgt spid="266244"/>
                                        </p:tgtEl>
                                        <p:attrNameLst>
                                          <p:attrName>ppt_w</p:attrName>
                                        </p:attrNameLst>
                                      </p:cBhvr>
                                      <p:tavLst>
                                        <p:tav tm="0">
                                          <p:val>
                                            <p:strVal val="#ppt_w+.3"/>
                                          </p:val>
                                        </p:tav>
                                        <p:tav tm="100000">
                                          <p:val>
                                            <p:strVal val="#ppt_w"/>
                                          </p:val>
                                        </p:tav>
                                      </p:tavLst>
                                    </p:anim>
                                    <p:anim calcmode="lin" valueType="num">
                                      <p:cBhvr>
                                        <p:cTn id="8" dur="1000" fill="hold"/>
                                        <p:tgtEl>
                                          <p:spTgt spid="266244"/>
                                        </p:tgtEl>
                                        <p:attrNameLst>
                                          <p:attrName>ppt_h</p:attrName>
                                        </p:attrNameLst>
                                      </p:cBhvr>
                                      <p:tavLst>
                                        <p:tav tm="0">
                                          <p:val>
                                            <p:strVal val="#ppt_h"/>
                                          </p:val>
                                        </p:tav>
                                        <p:tav tm="100000">
                                          <p:val>
                                            <p:strVal val="#ppt_h"/>
                                          </p:val>
                                        </p:tav>
                                      </p:tavLst>
                                    </p:anim>
                                    <p:animEffect transition="in" filter="fade">
                                      <p:cBhvr>
                                        <p:cTn id="9" dur="1000"/>
                                        <p:tgtEl>
                                          <p:spTgt spid="266244"/>
                                        </p:tgtEl>
                                      </p:cBhvr>
                                    </p:animEffect>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266242"/>
                                        </p:tgtEl>
                                        <p:attrNameLst>
                                          <p:attrName>style.visibility</p:attrName>
                                        </p:attrNameLst>
                                      </p:cBhvr>
                                      <p:to>
                                        <p:strVal val="visible"/>
                                      </p:to>
                                    </p:set>
                                    <p:animEffect transition="in" filter="wipe(left)">
                                      <p:cBhvr>
                                        <p:cTn id="13" dur="500"/>
                                        <p:tgtEl>
                                          <p:spTgt spid="26624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43"/>
                                        </p:tgtEl>
                                        <p:attrNameLst>
                                          <p:attrName>style.visibility</p:attrName>
                                        </p:attrNameLst>
                                      </p:cBhvr>
                                      <p:to>
                                        <p:strVal val="visible"/>
                                      </p:to>
                                    </p:set>
                                    <p:animEffect transition="in" filter="wipe(left)">
                                      <p:cBhvr>
                                        <p:cTn id="18" dur="500"/>
                                        <p:tgtEl>
                                          <p:spTgt spid="26624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6253"/>
                                        </p:tgtEl>
                                        <p:attrNameLst>
                                          <p:attrName>style.visibility</p:attrName>
                                        </p:attrNameLst>
                                      </p:cBhvr>
                                      <p:to>
                                        <p:strVal val="visible"/>
                                      </p:to>
                                    </p:set>
                                    <p:animEffect transition="in" filter="wipe(left)">
                                      <p:cBhvr>
                                        <p:cTn id="23" dur="500"/>
                                        <p:tgtEl>
                                          <p:spTgt spid="26625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254"/>
                                        </p:tgtEl>
                                        <p:attrNameLst>
                                          <p:attrName>style.visibility</p:attrName>
                                        </p:attrNameLst>
                                      </p:cBhvr>
                                      <p:to>
                                        <p:strVal val="visible"/>
                                      </p:to>
                                    </p:set>
                                    <p:animEffect transition="in" filter="wipe(left)">
                                      <p:cBhvr>
                                        <p:cTn id="28" dur="500"/>
                                        <p:tgtEl>
                                          <p:spTgt spid="26625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66257"/>
                                        </p:tgtEl>
                                        <p:attrNameLst>
                                          <p:attrName>style.visibility</p:attrName>
                                        </p:attrNameLst>
                                      </p:cBhvr>
                                      <p:to>
                                        <p:strVal val="visible"/>
                                      </p:to>
                                    </p:set>
                                    <p:animEffect transition="in" filter="wipe(left)">
                                      <p:cBhvr>
                                        <p:cTn id="33" dur="500"/>
                                        <p:tgtEl>
                                          <p:spTgt spid="26625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255"/>
                                        </p:tgtEl>
                                        <p:attrNameLst>
                                          <p:attrName>style.visibility</p:attrName>
                                        </p:attrNameLst>
                                      </p:cBhvr>
                                      <p:to>
                                        <p:strVal val="visible"/>
                                      </p:to>
                                    </p:set>
                                    <p:animEffect transition="in" filter="wipe(left)">
                                      <p:cBhvr>
                                        <p:cTn id="38" dur="500"/>
                                        <p:tgtEl>
                                          <p:spTgt spid="26625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66258"/>
                                        </p:tgtEl>
                                        <p:attrNameLst>
                                          <p:attrName>style.visibility</p:attrName>
                                        </p:attrNameLst>
                                      </p:cBhvr>
                                      <p:to>
                                        <p:strVal val="visible"/>
                                      </p:to>
                                    </p:set>
                                    <p:animEffect transition="in" filter="wipe(left)">
                                      <p:cBhvr>
                                        <p:cTn id="43" dur="500"/>
                                        <p:tgtEl>
                                          <p:spTgt spid="26625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66256"/>
                                        </p:tgtEl>
                                        <p:attrNameLst>
                                          <p:attrName>style.visibility</p:attrName>
                                        </p:attrNameLst>
                                      </p:cBhvr>
                                      <p:to>
                                        <p:strVal val="visible"/>
                                      </p:to>
                                    </p:set>
                                    <p:animEffect transition="in" filter="wipe(left)">
                                      <p:cBhvr>
                                        <p:cTn id="48" dur="500"/>
                                        <p:tgtEl>
                                          <p:spTgt spid="26625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66259"/>
                                        </p:tgtEl>
                                        <p:attrNameLst>
                                          <p:attrName>style.visibility</p:attrName>
                                        </p:attrNameLst>
                                      </p:cBhvr>
                                      <p:to>
                                        <p:strVal val="visible"/>
                                      </p:to>
                                    </p:set>
                                    <p:animEffect transition="in" filter="wipe(left)">
                                      <p:cBhvr>
                                        <p:cTn id="53" dur="500"/>
                                        <p:tgtEl>
                                          <p:spTgt spid="26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p:bldP spid="266243" grpId="0"/>
      <p:bldP spid="266244" grpId="0" animBg="1"/>
      <p:bldP spid="266253" grpId="0"/>
      <p:bldP spid="266254" grpId="0"/>
      <p:bldP spid="266255" grpId="0"/>
      <p:bldP spid="26625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Text Box 4"/>
          <p:cNvSpPr txBox="1">
            <a:spLocks noChangeArrowheads="1"/>
          </p:cNvSpPr>
          <p:nvPr/>
        </p:nvSpPr>
        <p:spPr bwMode="auto">
          <a:xfrm>
            <a:off x="179388" y="476250"/>
            <a:ext cx="4248150" cy="493713"/>
          </a:xfrm>
          <a:prstGeom prst="rect">
            <a:avLst/>
          </a:prstGeom>
          <a:noFill/>
          <a:ln w="9525">
            <a:noFill/>
            <a:miter lim="800000"/>
            <a:headEnd/>
            <a:tailEnd/>
          </a:ln>
        </p:spPr>
        <p:txBody>
          <a:bodyPr>
            <a:spAutoFit/>
          </a:bodyPr>
          <a:lstStyle/>
          <a:p>
            <a:pPr>
              <a:lnSpc>
                <a:spcPct val="120000"/>
              </a:lnSpc>
              <a:defRPr/>
            </a:pPr>
            <a:r>
              <a:rPr kumimoji="1" lang="en-US" altLang="zh-CN" sz="2400" b="1">
                <a:latin typeface="Times New Roman" pitchFamily="18" charset="0"/>
                <a:ea typeface="+mn-ea"/>
                <a:cs typeface="Times New Roman" pitchFamily="18" charset="0"/>
              </a:rPr>
              <a:t>(3)  </a:t>
            </a:r>
            <a:r>
              <a:rPr kumimoji="1" lang="zh-CN" altLang="en-US" sz="2400" b="1">
                <a:latin typeface="Times New Roman" pitchFamily="18" charset="0"/>
                <a:ea typeface="+mn-ea"/>
                <a:cs typeface="Times New Roman" pitchFamily="18" charset="0"/>
              </a:rPr>
              <a:t>理想气体的热容</a:t>
            </a:r>
            <a:endParaRPr lang="zh-CN" altLang="en-US" sz="2400" b="1">
              <a:latin typeface="Times New Roman" pitchFamily="18" charset="0"/>
              <a:ea typeface="+mn-ea"/>
              <a:cs typeface="Times New Roman" pitchFamily="18" charset="0"/>
            </a:endParaRPr>
          </a:p>
        </p:txBody>
      </p:sp>
      <p:graphicFrame>
        <p:nvGraphicFramePr>
          <p:cNvPr id="63493" name="Object 5"/>
          <p:cNvGraphicFramePr>
            <a:graphicFrameLocks noChangeAspect="1"/>
          </p:cNvGraphicFramePr>
          <p:nvPr/>
        </p:nvGraphicFramePr>
        <p:xfrm>
          <a:off x="3652838" y="2924175"/>
          <a:ext cx="1716087" cy="823913"/>
        </p:xfrm>
        <a:graphic>
          <a:graphicData uri="http://schemas.openxmlformats.org/presentationml/2006/ole">
            <p:oleObj spid="_x0000_s31746" name="公式" r:id="rId3" imgW="952200" imgH="457200" progId="Equation.3">
              <p:embed/>
            </p:oleObj>
          </a:graphicData>
        </a:graphic>
      </p:graphicFrame>
      <p:sp>
        <p:nvSpPr>
          <p:cNvPr id="63494" name="Text Box 6"/>
          <p:cNvSpPr txBox="1">
            <a:spLocks noChangeArrowheads="1"/>
          </p:cNvSpPr>
          <p:nvPr/>
        </p:nvSpPr>
        <p:spPr bwMode="auto">
          <a:xfrm>
            <a:off x="971550" y="3113088"/>
            <a:ext cx="1409700" cy="457200"/>
          </a:xfrm>
          <a:prstGeom prst="rect">
            <a:avLst/>
          </a:prstGeom>
          <a:noFill/>
          <a:ln w="9525">
            <a:noFill/>
            <a:miter lim="800000"/>
            <a:headEnd/>
            <a:tailEnd/>
          </a:ln>
        </p:spPr>
        <p:txBody>
          <a:bodyPr wrap="none">
            <a:spAutoFit/>
          </a:bodyPr>
          <a:lstStyle/>
          <a:p>
            <a:pPr>
              <a:defRPr/>
            </a:pPr>
            <a:r>
              <a:rPr kumimoji="1" lang="zh-CN" altLang="en-US" sz="2400" b="1">
                <a:solidFill>
                  <a:srgbClr val="0000FF"/>
                </a:solidFill>
                <a:latin typeface="Times New Roman" pitchFamily="18" charset="0"/>
                <a:ea typeface="+mn-ea"/>
                <a:cs typeface="Times New Roman" pitchFamily="18" charset="0"/>
              </a:rPr>
              <a:t>比热容比</a:t>
            </a:r>
          </a:p>
        </p:txBody>
      </p:sp>
      <p:sp>
        <p:nvSpPr>
          <p:cNvPr id="63495" name="Text Box 7"/>
          <p:cNvSpPr txBox="1">
            <a:spLocks noChangeArrowheads="1"/>
          </p:cNvSpPr>
          <p:nvPr/>
        </p:nvSpPr>
        <p:spPr bwMode="auto">
          <a:xfrm>
            <a:off x="835025" y="1187450"/>
            <a:ext cx="2022475" cy="457200"/>
          </a:xfrm>
          <a:prstGeom prst="rect">
            <a:avLst/>
          </a:prstGeom>
          <a:noFill/>
          <a:ln w="9525">
            <a:noFill/>
            <a:miter lim="800000"/>
            <a:headEnd/>
            <a:tailEnd/>
          </a:ln>
        </p:spPr>
        <p:txBody>
          <a:bodyPr wrap="none">
            <a:spAutoFit/>
          </a:bodyPr>
          <a:lstStyle/>
          <a:p>
            <a:pPr>
              <a:defRPr/>
            </a:pPr>
            <a:r>
              <a:rPr kumimoji="1" lang="zh-CN" altLang="en-US" sz="2400" b="1" dirty="0">
                <a:solidFill>
                  <a:srgbClr val="0000FF"/>
                </a:solidFill>
                <a:latin typeface="Times New Roman" pitchFamily="18" charset="0"/>
                <a:ea typeface="+mn-ea"/>
                <a:cs typeface="Times New Roman" pitchFamily="18" charset="0"/>
              </a:rPr>
              <a:t>定体摩尔热容</a:t>
            </a:r>
          </a:p>
        </p:txBody>
      </p:sp>
      <p:graphicFrame>
        <p:nvGraphicFramePr>
          <p:cNvPr id="63496" name="Object 8"/>
          <p:cNvGraphicFramePr>
            <a:graphicFrameLocks noChangeAspect="1"/>
          </p:cNvGraphicFramePr>
          <p:nvPr/>
        </p:nvGraphicFramePr>
        <p:xfrm>
          <a:off x="3424238" y="1052513"/>
          <a:ext cx="1809750" cy="735012"/>
        </p:xfrm>
        <a:graphic>
          <a:graphicData uri="http://schemas.openxmlformats.org/presentationml/2006/ole">
            <p:oleObj spid="_x0000_s31747" name="公式" r:id="rId4" imgW="1002960" imgH="406080" progId="Equation.3">
              <p:embed/>
            </p:oleObj>
          </a:graphicData>
        </a:graphic>
      </p:graphicFrame>
      <p:sp>
        <p:nvSpPr>
          <p:cNvPr id="63497" name="Text Box 9"/>
          <p:cNvSpPr txBox="1">
            <a:spLocks noChangeArrowheads="1"/>
          </p:cNvSpPr>
          <p:nvPr/>
        </p:nvSpPr>
        <p:spPr bwMode="auto">
          <a:xfrm>
            <a:off x="855663" y="2190750"/>
            <a:ext cx="2276475" cy="457200"/>
          </a:xfrm>
          <a:prstGeom prst="rect">
            <a:avLst/>
          </a:prstGeom>
          <a:noFill/>
          <a:ln w="9525">
            <a:noFill/>
            <a:miter lim="800000"/>
            <a:headEnd/>
            <a:tailEnd/>
          </a:ln>
        </p:spPr>
        <p:txBody>
          <a:bodyPr>
            <a:spAutoFit/>
          </a:bodyPr>
          <a:lstStyle/>
          <a:p>
            <a:pPr>
              <a:defRPr/>
            </a:pPr>
            <a:r>
              <a:rPr kumimoji="1" lang="zh-CN" altLang="en-US" sz="2400" b="1">
                <a:solidFill>
                  <a:srgbClr val="0000FF"/>
                </a:solidFill>
                <a:latin typeface="Times New Roman" pitchFamily="18" charset="0"/>
                <a:ea typeface="+mn-ea"/>
                <a:cs typeface="Times New Roman" pitchFamily="18" charset="0"/>
              </a:rPr>
              <a:t>定压摩尔热容</a:t>
            </a:r>
          </a:p>
        </p:txBody>
      </p:sp>
      <p:graphicFrame>
        <p:nvGraphicFramePr>
          <p:cNvPr id="63498" name="Object 10"/>
          <p:cNvGraphicFramePr>
            <a:graphicFrameLocks noChangeAspect="1"/>
          </p:cNvGraphicFramePr>
          <p:nvPr/>
        </p:nvGraphicFramePr>
        <p:xfrm>
          <a:off x="3279775" y="2060575"/>
          <a:ext cx="2720975" cy="731838"/>
        </p:xfrm>
        <a:graphic>
          <a:graphicData uri="http://schemas.openxmlformats.org/presentationml/2006/ole">
            <p:oleObj spid="_x0000_s31748" name="公式" r:id="rId5" imgW="1511280" imgH="406080" progId="Equation.3">
              <p:embed/>
            </p:oleObj>
          </a:graphicData>
        </a:graphic>
      </p:graphicFrame>
      <p:sp>
        <p:nvSpPr>
          <p:cNvPr id="63499" name="Text Box 11"/>
          <p:cNvSpPr txBox="1">
            <a:spLocks noChangeArrowheads="1"/>
          </p:cNvSpPr>
          <p:nvPr/>
        </p:nvSpPr>
        <p:spPr bwMode="auto">
          <a:xfrm>
            <a:off x="179388" y="3978275"/>
            <a:ext cx="4248150" cy="534988"/>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(4)  </a:t>
            </a:r>
            <a:r>
              <a:rPr kumimoji="1" lang="zh-CN" altLang="en-US" sz="2400" b="1" dirty="0">
                <a:latin typeface="Times New Roman" pitchFamily="18" charset="0"/>
                <a:ea typeface="+mn-ea"/>
                <a:cs typeface="Times New Roman" pitchFamily="18" charset="0"/>
              </a:rPr>
              <a:t>理想气体内能的改变量</a:t>
            </a:r>
            <a:endParaRPr lang="zh-CN" altLang="en-US" sz="2400" b="1" dirty="0">
              <a:latin typeface="Times New Roman" pitchFamily="18" charset="0"/>
              <a:ea typeface="+mn-ea"/>
              <a:cs typeface="Times New Roman" pitchFamily="18" charset="0"/>
            </a:endParaRPr>
          </a:p>
        </p:txBody>
      </p:sp>
      <p:sp>
        <p:nvSpPr>
          <p:cNvPr id="63500" name="Text Box 12"/>
          <p:cNvSpPr txBox="1">
            <a:spLocks noChangeArrowheads="1"/>
          </p:cNvSpPr>
          <p:nvPr/>
        </p:nvSpPr>
        <p:spPr bwMode="auto">
          <a:xfrm>
            <a:off x="755650" y="4843463"/>
            <a:ext cx="4392613" cy="457200"/>
          </a:xfrm>
          <a:prstGeom prst="rect">
            <a:avLst/>
          </a:prstGeom>
          <a:noFill/>
          <a:ln w="9525">
            <a:noFill/>
            <a:miter lim="800000"/>
            <a:headEnd/>
            <a:tailEnd/>
          </a:ln>
        </p:spPr>
        <p:txBody>
          <a:bodyPr>
            <a:spAutoFit/>
          </a:bodyPr>
          <a:lstStyle/>
          <a:p>
            <a:pPr>
              <a:defRPr/>
            </a:pPr>
            <a:r>
              <a:rPr kumimoji="1" lang="en-US" altLang="zh-CN" sz="2400" b="1" dirty="0">
                <a:solidFill>
                  <a:srgbClr val="CC0000"/>
                </a:solidFill>
                <a:latin typeface="Times New Roman" pitchFamily="18" charset="0"/>
                <a:ea typeface="+mn-ea"/>
                <a:cs typeface="Times New Roman" pitchFamily="18" charset="0"/>
              </a:rPr>
              <a:t>1mol </a:t>
            </a:r>
            <a:r>
              <a:rPr kumimoji="1" lang="zh-CN" altLang="en-US" sz="2400" b="1" dirty="0">
                <a:solidFill>
                  <a:srgbClr val="0000FF"/>
                </a:solidFill>
                <a:latin typeface="Times New Roman" pitchFamily="18" charset="0"/>
                <a:ea typeface="+mn-ea"/>
                <a:cs typeface="Times New Roman" pitchFamily="18" charset="0"/>
              </a:rPr>
              <a:t>理想气体的内能变化量为</a:t>
            </a:r>
          </a:p>
        </p:txBody>
      </p:sp>
      <p:graphicFrame>
        <p:nvGraphicFramePr>
          <p:cNvPr id="63501" name="Object 13"/>
          <p:cNvGraphicFramePr>
            <a:graphicFrameLocks noChangeAspect="1"/>
          </p:cNvGraphicFramePr>
          <p:nvPr/>
        </p:nvGraphicFramePr>
        <p:xfrm>
          <a:off x="5435600" y="4681538"/>
          <a:ext cx="2493963" cy="730250"/>
        </p:xfrm>
        <a:graphic>
          <a:graphicData uri="http://schemas.openxmlformats.org/presentationml/2006/ole">
            <p:oleObj spid="_x0000_s31749" name="公式" r:id="rId6" imgW="1384200" imgH="406080" progId="Equation.3">
              <p:embed/>
            </p:oleObj>
          </a:graphicData>
        </a:graphic>
      </p:graphicFrame>
      <p:graphicFrame>
        <p:nvGraphicFramePr>
          <p:cNvPr id="63502" name="Object 14"/>
          <p:cNvGraphicFramePr>
            <a:graphicFrameLocks noChangeAspect="1"/>
          </p:cNvGraphicFramePr>
          <p:nvPr/>
        </p:nvGraphicFramePr>
        <p:xfrm>
          <a:off x="5881688" y="5681663"/>
          <a:ext cx="1622425" cy="411162"/>
        </p:xfrm>
        <a:graphic>
          <a:graphicData uri="http://schemas.openxmlformats.org/presentationml/2006/ole">
            <p:oleObj spid="_x0000_s31750" name="公式" r:id="rId7" imgW="901440" imgH="228600" progId="Equation.3">
              <p:embed/>
            </p:oleObj>
          </a:graphicData>
        </a:graphic>
      </p:graphicFrame>
      <p:sp>
        <p:nvSpPr>
          <p:cNvPr id="63503" name="Text Box 15"/>
          <p:cNvSpPr txBox="1">
            <a:spLocks noChangeArrowheads="1"/>
          </p:cNvSpPr>
          <p:nvPr/>
        </p:nvSpPr>
        <p:spPr bwMode="auto">
          <a:xfrm>
            <a:off x="606425" y="5541963"/>
            <a:ext cx="4730750" cy="461962"/>
          </a:xfrm>
          <a:prstGeom prst="rect">
            <a:avLst/>
          </a:prstGeom>
          <a:noFill/>
          <a:ln w="9525">
            <a:noFill/>
            <a:miter lim="800000"/>
            <a:headEnd/>
            <a:tailEnd/>
          </a:ln>
        </p:spPr>
        <p:txBody>
          <a:bodyPr>
            <a:spAutoFit/>
          </a:bodyPr>
          <a:lstStyle/>
          <a:p>
            <a:pPr>
              <a:defRPr/>
            </a:pPr>
            <a:r>
              <a:rPr kumimoji="1" lang="en-US" altLang="zh-CN" sz="2400" b="1" i="1" dirty="0" err="1">
                <a:solidFill>
                  <a:srgbClr val="CC0000"/>
                </a:solidFill>
                <a:latin typeface="Times New Roman" pitchFamily="18" charset="0"/>
                <a:ea typeface="+mn-ea"/>
                <a:cs typeface="Times New Roman" pitchFamily="18" charset="0"/>
              </a:rPr>
              <a:t>ν</a:t>
            </a:r>
            <a:r>
              <a:rPr kumimoji="1" lang="en-US" altLang="zh-CN" sz="2400" b="1" dirty="0" err="1">
                <a:solidFill>
                  <a:srgbClr val="CC0000"/>
                </a:solidFill>
                <a:latin typeface="Times New Roman" pitchFamily="18" charset="0"/>
                <a:ea typeface="+mn-ea"/>
                <a:cs typeface="Times New Roman" pitchFamily="18" charset="0"/>
              </a:rPr>
              <a:t>mol</a:t>
            </a:r>
            <a:r>
              <a:rPr kumimoji="1" lang="en-US" altLang="zh-CN" sz="2400" b="1" dirty="0">
                <a:solidFill>
                  <a:srgbClr val="CC0000"/>
                </a:solidFill>
                <a:latin typeface="Times New Roman" pitchFamily="18" charset="0"/>
                <a:ea typeface="+mn-ea"/>
                <a:cs typeface="Times New Roman" pitchFamily="18" charset="0"/>
              </a:rPr>
              <a:t> </a:t>
            </a:r>
            <a:r>
              <a:rPr kumimoji="1" lang="zh-CN" altLang="en-US" sz="2400" b="1" dirty="0">
                <a:solidFill>
                  <a:srgbClr val="0000FF"/>
                </a:solidFill>
                <a:latin typeface="Times New Roman" pitchFamily="18" charset="0"/>
                <a:ea typeface="+mn-ea"/>
                <a:cs typeface="Times New Roman" pitchFamily="18" charset="0"/>
              </a:rPr>
              <a:t>理想气体的内能变化量为</a:t>
            </a:r>
          </a:p>
        </p:txBody>
      </p:sp>
      <p:grpSp>
        <p:nvGrpSpPr>
          <p:cNvPr id="2" name="Group 19"/>
          <p:cNvGrpSpPr>
            <a:grpSpLocks/>
          </p:cNvGrpSpPr>
          <p:nvPr/>
        </p:nvGrpSpPr>
        <p:grpSpPr bwMode="auto">
          <a:xfrm>
            <a:off x="4716463" y="3643313"/>
            <a:ext cx="2952750" cy="865187"/>
            <a:chOff x="3742" y="2069"/>
            <a:chExt cx="1860" cy="545"/>
          </a:xfrm>
        </p:grpSpPr>
        <p:sp>
          <p:nvSpPr>
            <p:cNvPr id="32784" name="AutoShape 16"/>
            <p:cNvSpPr>
              <a:spLocks noChangeArrowheads="1"/>
            </p:cNvSpPr>
            <p:nvPr/>
          </p:nvSpPr>
          <p:spPr bwMode="auto">
            <a:xfrm>
              <a:off x="3742" y="2069"/>
              <a:ext cx="1860" cy="545"/>
            </a:xfrm>
            <a:prstGeom prst="cloudCallout">
              <a:avLst>
                <a:gd name="adj1" fmla="val -43750"/>
                <a:gd name="adj2" fmla="val 70000"/>
              </a:avLst>
            </a:prstGeom>
            <a:solidFill>
              <a:srgbClr val="99CCFF"/>
            </a:solidFill>
            <a:ln w="9525">
              <a:solidFill>
                <a:srgbClr val="FFFF00"/>
              </a:solidFill>
              <a:round/>
              <a:headEnd/>
              <a:tailEnd/>
            </a:ln>
          </p:spPr>
          <p:txBody>
            <a:bodyPr/>
            <a:lstStyle/>
            <a:p>
              <a:pPr algn="ctr">
                <a:defRPr/>
              </a:pPr>
              <a:endParaRPr lang="zh-CN" altLang="zh-CN" sz="2400">
                <a:latin typeface="Times New Roman" pitchFamily="18" charset="0"/>
                <a:ea typeface="+mn-ea"/>
                <a:cs typeface="Times New Roman" pitchFamily="18" charset="0"/>
              </a:endParaRPr>
            </a:p>
          </p:txBody>
        </p:sp>
        <p:graphicFrame>
          <p:nvGraphicFramePr>
            <p:cNvPr id="31751" name="Object 17"/>
            <p:cNvGraphicFramePr>
              <a:graphicFrameLocks noChangeAspect="1"/>
            </p:cNvGraphicFramePr>
            <p:nvPr/>
          </p:nvGraphicFramePr>
          <p:xfrm>
            <a:off x="3923" y="2081"/>
            <a:ext cx="1580" cy="460"/>
          </p:xfrm>
          <a:graphic>
            <a:graphicData uri="http://schemas.openxmlformats.org/presentationml/2006/ole">
              <p:oleObj spid="_x0000_s31751" name="公式" r:id="rId8" imgW="1384200" imgH="4060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wipe(left)">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5"/>
                                        </p:tgtEl>
                                        <p:attrNameLst>
                                          <p:attrName>style.visibility</p:attrName>
                                        </p:attrNameLst>
                                      </p:cBhvr>
                                      <p:to>
                                        <p:strVal val="visible"/>
                                      </p:to>
                                    </p:set>
                                    <p:animEffect transition="in" filter="wipe(left)">
                                      <p:cBhvr>
                                        <p:cTn id="12" dur="500"/>
                                        <p:tgtEl>
                                          <p:spTgt spid="634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3496"/>
                                        </p:tgtEl>
                                        <p:attrNameLst>
                                          <p:attrName>style.visibility</p:attrName>
                                        </p:attrNameLst>
                                      </p:cBhvr>
                                      <p:to>
                                        <p:strVal val="visible"/>
                                      </p:to>
                                    </p:set>
                                    <p:animEffect transition="in" filter="wipe(left)">
                                      <p:cBhvr>
                                        <p:cTn id="17" dur="500"/>
                                        <p:tgtEl>
                                          <p:spTgt spid="634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7"/>
                                        </p:tgtEl>
                                        <p:attrNameLst>
                                          <p:attrName>style.visibility</p:attrName>
                                        </p:attrNameLst>
                                      </p:cBhvr>
                                      <p:to>
                                        <p:strVal val="visible"/>
                                      </p:to>
                                    </p:set>
                                    <p:animEffect transition="in" filter="wipe(left)">
                                      <p:cBhvr>
                                        <p:cTn id="22" dur="500"/>
                                        <p:tgtEl>
                                          <p:spTgt spid="634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498"/>
                                        </p:tgtEl>
                                        <p:attrNameLst>
                                          <p:attrName>style.visibility</p:attrName>
                                        </p:attrNameLst>
                                      </p:cBhvr>
                                      <p:to>
                                        <p:strVal val="visible"/>
                                      </p:to>
                                    </p:set>
                                    <p:animEffect transition="in" filter="wipe(left)">
                                      <p:cBhvr>
                                        <p:cTn id="27" dur="500"/>
                                        <p:tgtEl>
                                          <p:spTgt spid="6349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3494"/>
                                        </p:tgtEl>
                                        <p:attrNameLst>
                                          <p:attrName>style.visibility</p:attrName>
                                        </p:attrNameLst>
                                      </p:cBhvr>
                                      <p:to>
                                        <p:strVal val="visible"/>
                                      </p:to>
                                    </p:set>
                                    <p:animEffect transition="in" filter="wipe(left)">
                                      <p:cBhvr>
                                        <p:cTn id="32" dur="500"/>
                                        <p:tgtEl>
                                          <p:spTgt spid="6349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3493"/>
                                        </p:tgtEl>
                                        <p:attrNameLst>
                                          <p:attrName>style.visibility</p:attrName>
                                        </p:attrNameLst>
                                      </p:cBhvr>
                                      <p:to>
                                        <p:strVal val="visible"/>
                                      </p:to>
                                    </p:set>
                                    <p:animEffect transition="in" filter="wipe(left)">
                                      <p:cBhvr>
                                        <p:cTn id="37" dur="500"/>
                                        <p:tgtEl>
                                          <p:spTgt spid="634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3499"/>
                                        </p:tgtEl>
                                        <p:attrNameLst>
                                          <p:attrName>style.visibility</p:attrName>
                                        </p:attrNameLst>
                                      </p:cBhvr>
                                      <p:to>
                                        <p:strVal val="visible"/>
                                      </p:to>
                                    </p:set>
                                    <p:animEffect transition="in" filter="wipe(left)">
                                      <p:cBhvr>
                                        <p:cTn id="42" dur="500"/>
                                        <p:tgtEl>
                                          <p:spTgt spid="6349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3500"/>
                                        </p:tgtEl>
                                        <p:attrNameLst>
                                          <p:attrName>style.visibility</p:attrName>
                                        </p:attrNameLst>
                                      </p:cBhvr>
                                      <p:to>
                                        <p:strVal val="visible"/>
                                      </p:to>
                                    </p:set>
                                    <p:animEffect transition="in" filter="wipe(left)">
                                      <p:cBhvr>
                                        <p:cTn id="47" dur="500"/>
                                        <p:tgtEl>
                                          <p:spTgt spid="63500"/>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heckerboard(across)">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3501"/>
                                        </p:tgtEl>
                                        <p:attrNameLst>
                                          <p:attrName>style.visibility</p:attrName>
                                        </p:attrNameLst>
                                      </p:cBhvr>
                                      <p:to>
                                        <p:strVal val="visible"/>
                                      </p:to>
                                    </p:set>
                                    <p:animEffect transition="in" filter="wipe(left)">
                                      <p:cBhvr>
                                        <p:cTn id="57" dur="500"/>
                                        <p:tgtEl>
                                          <p:spTgt spid="6350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3503"/>
                                        </p:tgtEl>
                                        <p:attrNameLst>
                                          <p:attrName>style.visibility</p:attrName>
                                        </p:attrNameLst>
                                      </p:cBhvr>
                                      <p:to>
                                        <p:strVal val="visible"/>
                                      </p:to>
                                    </p:set>
                                    <p:animEffect transition="in" filter="wipe(left)">
                                      <p:cBhvr>
                                        <p:cTn id="62" dur="500"/>
                                        <p:tgtEl>
                                          <p:spTgt spid="6350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3502"/>
                                        </p:tgtEl>
                                        <p:attrNameLst>
                                          <p:attrName>style.visibility</p:attrName>
                                        </p:attrNameLst>
                                      </p:cBhvr>
                                      <p:to>
                                        <p:strVal val="visible"/>
                                      </p:to>
                                    </p:set>
                                    <p:animEffect transition="in" filter="wipe(left)">
                                      <p:cBhvr>
                                        <p:cTn id="67" dur="500"/>
                                        <p:tgtEl>
                                          <p:spTgt spid="63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p:bldP spid="63494" grpId="0" autoUpdateAnimBg="0"/>
      <p:bldP spid="63495" grpId="0" autoUpdateAnimBg="0"/>
      <p:bldP spid="63497" grpId="0" autoUpdateAnimBg="0"/>
      <p:bldP spid="63499" grpId="0"/>
      <p:bldP spid="63500" grpId="0" autoUpdateAnimBg="0"/>
      <p:bldP spid="6350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166688" y="468313"/>
            <a:ext cx="490537" cy="512762"/>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例</a:t>
            </a:r>
          </a:p>
        </p:txBody>
      </p:sp>
      <p:sp>
        <p:nvSpPr>
          <p:cNvPr id="270339" name="Text Box 3"/>
          <p:cNvSpPr txBox="1">
            <a:spLocks noChangeArrowheads="1"/>
          </p:cNvSpPr>
          <p:nvPr/>
        </p:nvSpPr>
        <p:spPr bwMode="auto">
          <a:xfrm>
            <a:off x="657225" y="468313"/>
            <a:ext cx="4365625" cy="517525"/>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rPr>
              <a:t>试述下列各式的</a:t>
            </a:r>
            <a:r>
              <a:rPr kumimoji="1" lang="zh-CN" altLang="en-US" sz="2400" b="1">
                <a:solidFill>
                  <a:srgbClr val="FF3300"/>
                </a:solidFill>
                <a:latin typeface="Times New Roman" pitchFamily="18" charset="0"/>
              </a:rPr>
              <a:t>物理意义</a:t>
            </a:r>
            <a:r>
              <a:rPr kumimoji="1" lang="zh-CN" altLang="en-US" sz="2400" b="1">
                <a:latin typeface="Times New Roman" pitchFamily="18" charset="0"/>
              </a:rPr>
              <a:t>。</a:t>
            </a:r>
          </a:p>
        </p:txBody>
      </p:sp>
      <p:graphicFrame>
        <p:nvGraphicFramePr>
          <p:cNvPr id="270340" name="Object 4"/>
          <p:cNvGraphicFramePr>
            <a:graphicFrameLocks noChangeAspect="1"/>
          </p:cNvGraphicFramePr>
          <p:nvPr/>
        </p:nvGraphicFramePr>
        <p:xfrm>
          <a:off x="746125" y="1052513"/>
          <a:ext cx="709613" cy="731837"/>
        </p:xfrm>
        <a:graphic>
          <a:graphicData uri="http://schemas.openxmlformats.org/presentationml/2006/ole">
            <p:oleObj spid="_x0000_s32770" name="公式" r:id="rId3" imgW="393480" imgH="406080" progId="Equation.3">
              <p:embed/>
            </p:oleObj>
          </a:graphicData>
        </a:graphic>
      </p:graphicFrame>
      <p:sp>
        <p:nvSpPr>
          <p:cNvPr id="270341" name="Text Box 5"/>
          <p:cNvSpPr txBox="1">
            <a:spLocks noChangeArrowheads="1"/>
          </p:cNvSpPr>
          <p:nvPr/>
        </p:nvSpPr>
        <p:spPr bwMode="auto">
          <a:xfrm>
            <a:off x="206375" y="1143000"/>
            <a:ext cx="674688" cy="512763"/>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(1)</a:t>
            </a:r>
          </a:p>
        </p:txBody>
      </p:sp>
      <p:sp>
        <p:nvSpPr>
          <p:cNvPr id="270342" name="Text Box 6"/>
          <p:cNvSpPr txBox="1">
            <a:spLocks noChangeArrowheads="1"/>
          </p:cNvSpPr>
          <p:nvPr/>
        </p:nvSpPr>
        <p:spPr bwMode="auto">
          <a:xfrm>
            <a:off x="1547813" y="1138238"/>
            <a:ext cx="7272337" cy="863600"/>
          </a:xfrm>
          <a:prstGeom prst="rect">
            <a:avLst/>
          </a:prstGeom>
          <a:noFill/>
          <a:ln w="9525">
            <a:noFill/>
            <a:miter lim="800000"/>
            <a:headEnd/>
            <a:tailEnd/>
          </a:ln>
        </p:spPr>
        <p:txBody>
          <a:bodyPr>
            <a:spAutoFit/>
          </a:bodyPr>
          <a:lstStyle/>
          <a:p>
            <a:pPr>
              <a:lnSpc>
                <a:spcPct val="115000"/>
              </a:lnSpc>
            </a:pPr>
            <a:r>
              <a:rPr kumimoji="1" lang="zh-CN" altLang="en-US" sz="2200" b="1">
                <a:solidFill>
                  <a:srgbClr val="008000"/>
                </a:solidFill>
                <a:latin typeface="Times New Roman" pitchFamily="18" charset="0"/>
                <a:ea typeface="楷体_GB2312" pitchFamily="49" charset="-122"/>
              </a:rPr>
              <a:t>温度为</a:t>
            </a:r>
            <a:r>
              <a:rPr kumimoji="1" lang="en-US" altLang="zh-CN" sz="2200" b="1" i="1">
                <a:solidFill>
                  <a:srgbClr val="008000"/>
                </a:solidFill>
                <a:latin typeface="Times New Roman" pitchFamily="18" charset="0"/>
                <a:ea typeface="楷体_GB2312" pitchFamily="49" charset="-122"/>
              </a:rPr>
              <a:t>T </a:t>
            </a:r>
            <a:r>
              <a:rPr kumimoji="1" lang="zh-CN" altLang="en-US" sz="2200" b="1">
                <a:solidFill>
                  <a:srgbClr val="008000"/>
                </a:solidFill>
                <a:latin typeface="Times New Roman" pitchFamily="18" charset="0"/>
                <a:ea typeface="楷体_GB2312" pitchFamily="49" charset="-122"/>
              </a:rPr>
              <a:t>的平衡态的理想气体系统中</a:t>
            </a:r>
            <a:r>
              <a:rPr kumimoji="1" lang="zh-CN" altLang="en-US" sz="2200" b="1">
                <a:latin typeface="Times New Roman" pitchFamily="18" charset="0"/>
                <a:ea typeface="楷体_GB2312" pitchFamily="49" charset="-122"/>
              </a:rPr>
              <a:t>，气体分子</a:t>
            </a:r>
            <a:r>
              <a:rPr kumimoji="1" lang="zh-CN" altLang="en-US" sz="2200" b="1">
                <a:solidFill>
                  <a:srgbClr val="FF6600"/>
                </a:solidFill>
                <a:latin typeface="Times New Roman" pitchFamily="18" charset="0"/>
                <a:ea typeface="楷体_GB2312" pitchFamily="49" charset="-122"/>
              </a:rPr>
              <a:t>一个自由度上</a:t>
            </a:r>
            <a:r>
              <a:rPr kumimoji="1" lang="zh-CN" altLang="en-US" sz="2200" b="1">
                <a:latin typeface="Times New Roman" pitchFamily="18" charset="0"/>
                <a:ea typeface="楷体_GB2312" pitchFamily="49" charset="-122"/>
              </a:rPr>
              <a:t>所具有的</a:t>
            </a:r>
            <a:r>
              <a:rPr kumimoji="1" lang="zh-CN" altLang="en-US" sz="2200" b="1">
                <a:solidFill>
                  <a:srgbClr val="FF6600"/>
                </a:solidFill>
                <a:latin typeface="Times New Roman" pitchFamily="18" charset="0"/>
                <a:ea typeface="楷体_GB2312" pitchFamily="49" charset="-122"/>
              </a:rPr>
              <a:t>平均动能</a:t>
            </a:r>
          </a:p>
        </p:txBody>
      </p:sp>
      <p:graphicFrame>
        <p:nvGraphicFramePr>
          <p:cNvPr id="270343" name="Object 7"/>
          <p:cNvGraphicFramePr>
            <a:graphicFrameLocks noChangeAspect="1"/>
          </p:cNvGraphicFramePr>
          <p:nvPr/>
        </p:nvGraphicFramePr>
        <p:xfrm>
          <a:off x="746125" y="2154238"/>
          <a:ext cx="709613" cy="731837"/>
        </p:xfrm>
        <a:graphic>
          <a:graphicData uri="http://schemas.openxmlformats.org/presentationml/2006/ole">
            <p:oleObj spid="_x0000_s32771" name="公式" r:id="rId4" imgW="393480" imgH="406080" progId="Equation.3">
              <p:embed/>
            </p:oleObj>
          </a:graphicData>
        </a:graphic>
      </p:graphicFrame>
      <p:sp>
        <p:nvSpPr>
          <p:cNvPr id="270344" name="Text Box 8"/>
          <p:cNvSpPr txBox="1">
            <a:spLocks noChangeArrowheads="1"/>
          </p:cNvSpPr>
          <p:nvPr/>
        </p:nvSpPr>
        <p:spPr bwMode="auto">
          <a:xfrm>
            <a:off x="206375" y="2244725"/>
            <a:ext cx="674688" cy="512763"/>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(2)</a:t>
            </a:r>
          </a:p>
        </p:txBody>
      </p:sp>
      <p:sp>
        <p:nvSpPr>
          <p:cNvPr id="270345" name="Text Box 9"/>
          <p:cNvSpPr txBox="1">
            <a:spLocks noChangeArrowheads="1"/>
          </p:cNvSpPr>
          <p:nvPr/>
        </p:nvSpPr>
        <p:spPr bwMode="auto">
          <a:xfrm>
            <a:off x="1570038" y="2254250"/>
            <a:ext cx="7323137" cy="863600"/>
          </a:xfrm>
          <a:prstGeom prst="rect">
            <a:avLst/>
          </a:prstGeom>
          <a:noFill/>
          <a:ln w="9525">
            <a:noFill/>
            <a:miter lim="800000"/>
            <a:headEnd/>
            <a:tailEnd/>
          </a:ln>
        </p:spPr>
        <p:txBody>
          <a:bodyPr>
            <a:spAutoFit/>
          </a:bodyPr>
          <a:lstStyle/>
          <a:p>
            <a:pPr>
              <a:lnSpc>
                <a:spcPct val="115000"/>
              </a:lnSpc>
            </a:pPr>
            <a:r>
              <a:rPr kumimoji="1" lang="zh-CN" altLang="en-US" sz="2200" b="1">
                <a:solidFill>
                  <a:srgbClr val="008000"/>
                </a:solidFill>
                <a:latin typeface="Times New Roman" pitchFamily="18" charset="0"/>
                <a:ea typeface="楷体_GB2312" pitchFamily="49" charset="-122"/>
              </a:rPr>
              <a:t>温度为</a:t>
            </a:r>
            <a:r>
              <a:rPr kumimoji="1" lang="en-US" altLang="zh-CN" sz="2200" b="1" i="1">
                <a:solidFill>
                  <a:srgbClr val="008000"/>
                </a:solidFill>
                <a:latin typeface="Times New Roman" pitchFamily="18" charset="0"/>
                <a:ea typeface="楷体_GB2312" pitchFamily="49" charset="-122"/>
              </a:rPr>
              <a:t>T </a:t>
            </a:r>
            <a:r>
              <a:rPr kumimoji="1" lang="zh-CN" altLang="en-US" sz="2200" b="1">
                <a:solidFill>
                  <a:srgbClr val="008000"/>
                </a:solidFill>
                <a:latin typeface="Times New Roman" pitchFamily="18" charset="0"/>
                <a:ea typeface="楷体_GB2312" pitchFamily="49" charset="-122"/>
              </a:rPr>
              <a:t>的平衡态的理想气体系统中</a:t>
            </a:r>
            <a:r>
              <a:rPr kumimoji="1" lang="zh-CN" altLang="en-US" sz="2200" b="1">
                <a:latin typeface="Times New Roman" pitchFamily="18" charset="0"/>
                <a:ea typeface="楷体_GB2312" pitchFamily="49" charset="-122"/>
              </a:rPr>
              <a:t>，气体分子的</a:t>
            </a:r>
            <a:r>
              <a:rPr kumimoji="1" lang="zh-CN" altLang="en-US" sz="2200" b="1">
                <a:solidFill>
                  <a:srgbClr val="FF6600"/>
                </a:solidFill>
                <a:latin typeface="Times New Roman" pitchFamily="18" charset="0"/>
                <a:ea typeface="楷体_GB2312" pitchFamily="49" charset="-122"/>
              </a:rPr>
              <a:t>平均平动动能</a:t>
            </a:r>
          </a:p>
        </p:txBody>
      </p:sp>
      <p:graphicFrame>
        <p:nvGraphicFramePr>
          <p:cNvPr id="270346" name="Object 10"/>
          <p:cNvGraphicFramePr>
            <a:graphicFrameLocks noChangeAspect="1"/>
          </p:cNvGraphicFramePr>
          <p:nvPr/>
        </p:nvGraphicFramePr>
        <p:xfrm>
          <a:off x="765175" y="3182938"/>
          <a:ext cx="711200" cy="731837"/>
        </p:xfrm>
        <a:graphic>
          <a:graphicData uri="http://schemas.openxmlformats.org/presentationml/2006/ole">
            <p:oleObj spid="_x0000_s32772" name="公式" r:id="rId5" imgW="393480" imgH="406080" progId="Equation.3">
              <p:embed/>
            </p:oleObj>
          </a:graphicData>
        </a:graphic>
      </p:graphicFrame>
      <p:sp>
        <p:nvSpPr>
          <p:cNvPr id="270347" name="Text Box 11"/>
          <p:cNvSpPr txBox="1">
            <a:spLocks noChangeArrowheads="1"/>
          </p:cNvSpPr>
          <p:nvPr/>
        </p:nvSpPr>
        <p:spPr bwMode="auto">
          <a:xfrm>
            <a:off x="206375" y="3227388"/>
            <a:ext cx="674688" cy="512762"/>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(3)</a:t>
            </a:r>
          </a:p>
        </p:txBody>
      </p:sp>
      <p:sp>
        <p:nvSpPr>
          <p:cNvPr id="270348" name="Text Box 12"/>
          <p:cNvSpPr txBox="1">
            <a:spLocks noChangeArrowheads="1"/>
          </p:cNvSpPr>
          <p:nvPr/>
        </p:nvSpPr>
        <p:spPr bwMode="auto">
          <a:xfrm>
            <a:off x="1584325" y="3265488"/>
            <a:ext cx="7192963" cy="863600"/>
          </a:xfrm>
          <a:prstGeom prst="rect">
            <a:avLst/>
          </a:prstGeom>
          <a:noFill/>
          <a:ln w="9525">
            <a:noFill/>
            <a:miter lim="800000"/>
            <a:headEnd/>
            <a:tailEnd/>
          </a:ln>
        </p:spPr>
        <p:txBody>
          <a:bodyPr>
            <a:spAutoFit/>
          </a:bodyPr>
          <a:lstStyle/>
          <a:p>
            <a:pPr>
              <a:lnSpc>
                <a:spcPct val="115000"/>
              </a:lnSpc>
            </a:pPr>
            <a:r>
              <a:rPr kumimoji="1" lang="zh-CN" altLang="en-US" sz="2200" b="1">
                <a:solidFill>
                  <a:srgbClr val="008000"/>
                </a:solidFill>
                <a:latin typeface="Times New Roman" pitchFamily="18" charset="0"/>
                <a:ea typeface="楷体_GB2312" pitchFamily="49" charset="-122"/>
              </a:rPr>
              <a:t>温度为</a:t>
            </a:r>
            <a:r>
              <a:rPr kumimoji="1" lang="en-US" altLang="zh-CN" sz="2200" b="1" i="1">
                <a:solidFill>
                  <a:srgbClr val="008000"/>
                </a:solidFill>
                <a:latin typeface="Times New Roman" pitchFamily="18" charset="0"/>
                <a:ea typeface="楷体_GB2312" pitchFamily="49" charset="-122"/>
              </a:rPr>
              <a:t>T </a:t>
            </a:r>
            <a:r>
              <a:rPr kumimoji="1" lang="zh-CN" altLang="en-US" sz="2200" b="1">
                <a:solidFill>
                  <a:srgbClr val="008000"/>
                </a:solidFill>
                <a:latin typeface="Times New Roman" pitchFamily="18" charset="0"/>
                <a:ea typeface="楷体_GB2312" pitchFamily="49" charset="-122"/>
              </a:rPr>
              <a:t>的平衡态的理想气体系统中</a:t>
            </a:r>
            <a:r>
              <a:rPr kumimoji="1" lang="zh-CN" altLang="en-US" sz="2200" b="1">
                <a:latin typeface="Times New Roman" pitchFamily="18" charset="0"/>
                <a:ea typeface="楷体_GB2312" pitchFamily="49" charset="-122"/>
              </a:rPr>
              <a:t>，自由度为</a:t>
            </a:r>
            <a:r>
              <a:rPr kumimoji="1" lang="en-US" altLang="zh-CN" sz="2200" b="1" i="1">
                <a:solidFill>
                  <a:srgbClr val="FF6600"/>
                </a:solidFill>
                <a:latin typeface="Times New Roman" pitchFamily="18" charset="0"/>
                <a:ea typeface="楷体_GB2312" pitchFamily="49" charset="-122"/>
              </a:rPr>
              <a:t>i</a:t>
            </a:r>
            <a:r>
              <a:rPr kumimoji="1" lang="en-US" altLang="zh-CN" sz="2200" b="1">
                <a:solidFill>
                  <a:srgbClr val="FF6600"/>
                </a:solidFill>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的气体分子的</a:t>
            </a:r>
            <a:r>
              <a:rPr kumimoji="1" lang="zh-CN" altLang="en-US" sz="2200" b="1">
                <a:solidFill>
                  <a:srgbClr val="FF6600"/>
                </a:solidFill>
                <a:latin typeface="Times New Roman" pitchFamily="18" charset="0"/>
                <a:ea typeface="楷体_GB2312" pitchFamily="49" charset="-122"/>
              </a:rPr>
              <a:t>总动能</a:t>
            </a:r>
          </a:p>
        </p:txBody>
      </p:sp>
      <p:graphicFrame>
        <p:nvGraphicFramePr>
          <p:cNvPr id="270349" name="Object 13"/>
          <p:cNvGraphicFramePr>
            <a:graphicFrameLocks noChangeAspect="1"/>
          </p:cNvGraphicFramePr>
          <p:nvPr/>
        </p:nvGraphicFramePr>
        <p:xfrm>
          <a:off x="671513" y="5373688"/>
          <a:ext cx="963612" cy="731837"/>
        </p:xfrm>
        <a:graphic>
          <a:graphicData uri="http://schemas.openxmlformats.org/presentationml/2006/ole">
            <p:oleObj spid="_x0000_s32773" name="公式" r:id="rId6" imgW="533160" imgH="406080" progId="Equation.3">
              <p:embed/>
            </p:oleObj>
          </a:graphicData>
        </a:graphic>
      </p:graphicFrame>
      <p:sp>
        <p:nvSpPr>
          <p:cNvPr id="270350" name="Text Box 14"/>
          <p:cNvSpPr txBox="1">
            <a:spLocks noChangeArrowheads="1"/>
          </p:cNvSpPr>
          <p:nvPr/>
        </p:nvSpPr>
        <p:spPr bwMode="auto">
          <a:xfrm>
            <a:off x="206375" y="5464175"/>
            <a:ext cx="674688" cy="512763"/>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(5)</a:t>
            </a:r>
          </a:p>
        </p:txBody>
      </p:sp>
      <p:sp>
        <p:nvSpPr>
          <p:cNvPr id="270351" name="Text Box 15"/>
          <p:cNvSpPr txBox="1">
            <a:spLocks noChangeArrowheads="1"/>
          </p:cNvSpPr>
          <p:nvPr/>
        </p:nvSpPr>
        <p:spPr bwMode="auto">
          <a:xfrm>
            <a:off x="1712913" y="5456238"/>
            <a:ext cx="7107237" cy="863600"/>
          </a:xfrm>
          <a:prstGeom prst="rect">
            <a:avLst/>
          </a:prstGeom>
          <a:noFill/>
          <a:ln w="9525">
            <a:noFill/>
            <a:miter lim="800000"/>
            <a:headEnd/>
            <a:tailEnd/>
          </a:ln>
        </p:spPr>
        <p:txBody>
          <a:bodyPr>
            <a:spAutoFit/>
          </a:bodyPr>
          <a:lstStyle/>
          <a:p>
            <a:pPr>
              <a:lnSpc>
                <a:spcPct val="115000"/>
              </a:lnSpc>
            </a:pPr>
            <a:r>
              <a:rPr kumimoji="1" lang="zh-CN" altLang="en-US" sz="2200" b="1">
                <a:solidFill>
                  <a:srgbClr val="008000"/>
                </a:solidFill>
                <a:latin typeface="Times New Roman" pitchFamily="18" charset="0"/>
                <a:ea typeface="楷体_GB2312" pitchFamily="49" charset="-122"/>
              </a:rPr>
              <a:t>温度为</a:t>
            </a:r>
            <a:r>
              <a:rPr kumimoji="1" lang="en-US" altLang="zh-CN" sz="2200" b="1" i="1">
                <a:solidFill>
                  <a:srgbClr val="008000"/>
                </a:solidFill>
                <a:latin typeface="Times New Roman" pitchFamily="18" charset="0"/>
                <a:ea typeface="楷体_GB2312" pitchFamily="49" charset="-122"/>
              </a:rPr>
              <a:t>T </a:t>
            </a:r>
            <a:r>
              <a:rPr kumimoji="1" lang="zh-CN" altLang="en-US" sz="2200" b="1">
                <a:solidFill>
                  <a:srgbClr val="008000"/>
                </a:solidFill>
                <a:latin typeface="Times New Roman" pitchFamily="18" charset="0"/>
                <a:ea typeface="楷体_GB2312" pitchFamily="49" charset="-122"/>
              </a:rPr>
              <a:t>的平衡态的理想气体系统中</a:t>
            </a:r>
            <a:r>
              <a:rPr kumimoji="1" lang="zh-CN" altLang="en-US" sz="2200" b="1">
                <a:latin typeface="Times New Roman" pitchFamily="18" charset="0"/>
                <a:ea typeface="楷体_GB2312" pitchFamily="49" charset="-122"/>
              </a:rPr>
              <a:t>，自由度为</a:t>
            </a:r>
            <a:r>
              <a:rPr kumimoji="1" lang="en-US" altLang="zh-CN" sz="2200" b="1" i="1">
                <a:solidFill>
                  <a:srgbClr val="FF6600"/>
                </a:solidFill>
                <a:latin typeface="Times New Roman" pitchFamily="18" charset="0"/>
                <a:ea typeface="楷体_GB2312" pitchFamily="49" charset="-122"/>
              </a:rPr>
              <a:t>i</a:t>
            </a:r>
            <a:r>
              <a:rPr kumimoji="1" lang="en-US" altLang="zh-CN" sz="2200" b="1">
                <a:solidFill>
                  <a:srgbClr val="FF6600"/>
                </a:solidFill>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的</a:t>
            </a:r>
            <a:r>
              <a:rPr kumimoji="1" lang="en-US" altLang="zh-CN" sz="2200" b="1" i="1">
                <a:solidFill>
                  <a:srgbClr val="FF6600"/>
                </a:solidFill>
                <a:latin typeface="Symbol" pitchFamily="18" charset="2"/>
                <a:ea typeface="楷体_GB2312" pitchFamily="49" charset="-122"/>
              </a:rPr>
              <a:t>n</a:t>
            </a:r>
            <a:r>
              <a:rPr kumimoji="1" lang="en-US" altLang="zh-CN" sz="2200" b="1">
                <a:solidFill>
                  <a:srgbClr val="FF6600"/>
                </a:solidFill>
                <a:latin typeface="Symbol" pitchFamily="18" charset="2"/>
                <a:ea typeface="楷体_GB2312" pitchFamily="49" charset="-122"/>
              </a:rPr>
              <a:t> </a:t>
            </a:r>
            <a:r>
              <a:rPr kumimoji="1" lang="en-US" altLang="zh-CN" sz="2200" b="1">
                <a:solidFill>
                  <a:srgbClr val="FF6600"/>
                </a:solidFill>
                <a:latin typeface="Times New Roman" pitchFamily="18" charset="0"/>
                <a:ea typeface="楷体_GB2312" pitchFamily="49" charset="-122"/>
              </a:rPr>
              <a:t>mol</a:t>
            </a:r>
            <a:r>
              <a:rPr kumimoji="1" lang="en-US" altLang="zh-CN" sz="2200" b="1">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理想气体的</a:t>
            </a:r>
            <a:r>
              <a:rPr kumimoji="1" lang="zh-CN" altLang="en-US" sz="2200" b="1">
                <a:solidFill>
                  <a:srgbClr val="FF6600"/>
                </a:solidFill>
                <a:latin typeface="Times New Roman" pitchFamily="18" charset="0"/>
                <a:ea typeface="楷体_GB2312" pitchFamily="49" charset="-122"/>
              </a:rPr>
              <a:t>内能</a:t>
            </a:r>
          </a:p>
        </p:txBody>
      </p:sp>
      <p:graphicFrame>
        <p:nvGraphicFramePr>
          <p:cNvPr id="270352" name="Object 16"/>
          <p:cNvGraphicFramePr>
            <a:graphicFrameLocks noChangeAspect="1"/>
          </p:cNvGraphicFramePr>
          <p:nvPr/>
        </p:nvGraphicFramePr>
        <p:xfrm>
          <a:off x="733425" y="4248150"/>
          <a:ext cx="779463" cy="731838"/>
        </p:xfrm>
        <a:graphic>
          <a:graphicData uri="http://schemas.openxmlformats.org/presentationml/2006/ole">
            <p:oleObj spid="_x0000_s32774" name="公式" r:id="rId7" imgW="431640" imgH="406080" progId="Equation.3">
              <p:embed/>
            </p:oleObj>
          </a:graphicData>
        </a:graphic>
      </p:graphicFrame>
      <p:sp>
        <p:nvSpPr>
          <p:cNvPr id="270353" name="Text Box 17"/>
          <p:cNvSpPr txBox="1">
            <a:spLocks noChangeArrowheads="1"/>
          </p:cNvSpPr>
          <p:nvPr/>
        </p:nvSpPr>
        <p:spPr bwMode="auto">
          <a:xfrm>
            <a:off x="207963" y="4292600"/>
            <a:ext cx="674687" cy="512763"/>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(4)</a:t>
            </a:r>
          </a:p>
        </p:txBody>
      </p:sp>
      <p:sp>
        <p:nvSpPr>
          <p:cNvPr id="270354" name="Text Box 18"/>
          <p:cNvSpPr txBox="1">
            <a:spLocks noChangeArrowheads="1"/>
          </p:cNvSpPr>
          <p:nvPr/>
        </p:nvSpPr>
        <p:spPr bwMode="auto">
          <a:xfrm>
            <a:off x="1581150" y="4337050"/>
            <a:ext cx="7167563" cy="863600"/>
          </a:xfrm>
          <a:prstGeom prst="rect">
            <a:avLst/>
          </a:prstGeom>
          <a:noFill/>
          <a:ln w="9525">
            <a:noFill/>
            <a:miter lim="800000"/>
            <a:headEnd/>
            <a:tailEnd/>
          </a:ln>
        </p:spPr>
        <p:txBody>
          <a:bodyPr>
            <a:spAutoFit/>
          </a:bodyPr>
          <a:lstStyle/>
          <a:p>
            <a:pPr>
              <a:lnSpc>
                <a:spcPct val="115000"/>
              </a:lnSpc>
            </a:pPr>
            <a:r>
              <a:rPr kumimoji="1" lang="zh-CN" altLang="en-US" sz="2200" b="1">
                <a:solidFill>
                  <a:srgbClr val="008000"/>
                </a:solidFill>
                <a:latin typeface="Times New Roman" pitchFamily="18" charset="0"/>
                <a:ea typeface="楷体_GB2312" pitchFamily="49" charset="-122"/>
              </a:rPr>
              <a:t>温度为</a:t>
            </a:r>
            <a:r>
              <a:rPr kumimoji="1" lang="en-US" altLang="zh-CN" sz="2200" b="1" i="1">
                <a:solidFill>
                  <a:srgbClr val="008000"/>
                </a:solidFill>
                <a:latin typeface="Times New Roman" pitchFamily="18" charset="0"/>
                <a:ea typeface="楷体_GB2312" pitchFamily="49" charset="-122"/>
              </a:rPr>
              <a:t>T </a:t>
            </a:r>
            <a:r>
              <a:rPr kumimoji="1" lang="zh-CN" altLang="en-US" sz="2200" b="1">
                <a:solidFill>
                  <a:srgbClr val="008000"/>
                </a:solidFill>
                <a:latin typeface="Times New Roman" pitchFamily="18" charset="0"/>
                <a:ea typeface="楷体_GB2312" pitchFamily="49" charset="-122"/>
              </a:rPr>
              <a:t>的平衡态的理想气体系统中</a:t>
            </a:r>
            <a:r>
              <a:rPr kumimoji="1" lang="zh-CN" altLang="en-US" sz="2200" b="1">
                <a:latin typeface="Times New Roman" pitchFamily="18" charset="0"/>
                <a:ea typeface="楷体_GB2312" pitchFamily="49" charset="-122"/>
              </a:rPr>
              <a:t>，自由度为</a:t>
            </a:r>
            <a:r>
              <a:rPr kumimoji="1" lang="en-US" altLang="zh-CN" sz="2200" b="1" i="1">
                <a:solidFill>
                  <a:srgbClr val="FF6600"/>
                </a:solidFill>
                <a:latin typeface="Times New Roman" pitchFamily="18" charset="0"/>
                <a:ea typeface="楷体_GB2312" pitchFamily="49" charset="-122"/>
              </a:rPr>
              <a:t>i</a:t>
            </a:r>
            <a:r>
              <a:rPr kumimoji="1" lang="en-US" altLang="zh-CN" sz="2200" b="1">
                <a:solidFill>
                  <a:srgbClr val="FF6600"/>
                </a:solidFill>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的</a:t>
            </a:r>
            <a:r>
              <a:rPr kumimoji="1" lang="en-US" altLang="zh-CN" sz="2200" b="1">
                <a:solidFill>
                  <a:srgbClr val="FF6600"/>
                </a:solidFill>
                <a:latin typeface="Times New Roman" pitchFamily="18" charset="0"/>
                <a:ea typeface="楷体_GB2312" pitchFamily="49" charset="-122"/>
              </a:rPr>
              <a:t>1mol</a:t>
            </a:r>
            <a:r>
              <a:rPr kumimoji="1" lang="en-US" altLang="zh-CN" sz="2200" b="1">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理想气体的</a:t>
            </a:r>
            <a:r>
              <a:rPr kumimoji="1" lang="zh-CN" altLang="en-US" sz="2200" b="1">
                <a:solidFill>
                  <a:srgbClr val="FF6600"/>
                </a:solidFill>
                <a:latin typeface="Times New Roman" pitchFamily="18" charset="0"/>
                <a:ea typeface="楷体_GB2312" pitchFamily="49" charset="-122"/>
              </a:rPr>
              <a:t>内能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0338"/>
                                        </p:tgtEl>
                                        <p:attrNameLst>
                                          <p:attrName>style.visibility</p:attrName>
                                        </p:attrNameLst>
                                      </p:cBhvr>
                                      <p:to>
                                        <p:strVal val="visible"/>
                                      </p:to>
                                    </p:set>
                                    <p:animEffect transition="in" filter="wipe(left)">
                                      <p:cBhvr>
                                        <p:cTn id="7" dur="500"/>
                                        <p:tgtEl>
                                          <p:spTgt spid="2703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0339"/>
                                        </p:tgtEl>
                                        <p:attrNameLst>
                                          <p:attrName>style.visibility</p:attrName>
                                        </p:attrNameLst>
                                      </p:cBhvr>
                                      <p:to>
                                        <p:strVal val="visible"/>
                                      </p:to>
                                    </p:set>
                                    <p:animEffect transition="in" filter="wipe(left)">
                                      <p:cBhvr>
                                        <p:cTn id="12" dur="1000"/>
                                        <p:tgtEl>
                                          <p:spTgt spid="2703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0341"/>
                                        </p:tgtEl>
                                        <p:attrNameLst>
                                          <p:attrName>style.visibility</p:attrName>
                                        </p:attrNameLst>
                                      </p:cBhvr>
                                      <p:to>
                                        <p:strVal val="visible"/>
                                      </p:to>
                                    </p:set>
                                    <p:animEffect transition="in" filter="wipe(left)">
                                      <p:cBhvr>
                                        <p:cTn id="17" dur="1000"/>
                                        <p:tgtEl>
                                          <p:spTgt spid="270341"/>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270340"/>
                                        </p:tgtEl>
                                        <p:attrNameLst>
                                          <p:attrName>style.visibility</p:attrName>
                                        </p:attrNameLst>
                                      </p:cBhvr>
                                      <p:to>
                                        <p:strVal val="visible"/>
                                      </p:to>
                                    </p:set>
                                    <p:animEffect transition="in" filter="wipe(left)">
                                      <p:cBhvr>
                                        <p:cTn id="21" dur="1000"/>
                                        <p:tgtEl>
                                          <p:spTgt spid="2703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0342"/>
                                        </p:tgtEl>
                                        <p:attrNameLst>
                                          <p:attrName>style.visibility</p:attrName>
                                        </p:attrNameLst>
                                      </p:cBhvr>
                                      <p:to>
                                        <p:strVal val="visible"/>
                                      </p:to>
                                    </p:set>
                                    <p:animEffect transition="in" filter="wipe(left)">
                                      <p:cBhvr>
                                        <p:cTn id="26" dur="1000"/>
                                        <p:tgtEl>
                                          <p:spTgt spid="2703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0344"/>
                                        </p:tgtEl>
                                        <p:attrNameLst>
                                          <p:attrName>style.visibility</p:attrName>
                                        </p:attrNameLst>
                                      </p:cBhvr>
                                      <p:to>
                                        <p:strVal val="visible"/>
                                      </p:to>
                                    </p:set>
                                    <p:animEffect transition="in" filter="wipe(left)">
                                      <p:cBhvr>
                                        <p:cTn id="31" dur="1000"/>
                                        <p:tgtEl>
                                          <p:spTgt spid="270344"/>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270343"/>
                                        </p:tgtEl>
                                        <p:attrNameLst>
                                          <p:attrName>style.visibility</p:attrName>
                                        </p:attrNameLst>
                                      </p:cBhvr>
                                      <p:to>
                                        <p:strVal val="visible"/>
                                      </p:to>
                                    </p:set>
                                    <p:animEffect transition="in" filter="wipe(left)">
                                      <p:cBhvr>
                                        <p:cTn id="35" dur="1000"/>
                                        <p:tgtEl>
                                          <p:spTgt spid="27034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70345"/>
                                        </p:tgtEl>
                                        <p:attrNameLst>
                                          <p:attrName>style.visibility</p:attrName>
                                        </p:attrNameLst>
                                      </p:cBhvr>
                                      <p:to>
                                        <p:strVal val="visible"/>
                                      </p:to>
                                    </p:set>
                                    <p:animEffect transition="in" filter="wipe(left)">
                                      <p:cBhvr>
                                        <p:cTn id="40" dur="1000"/>
                                        <p:tgtEl>
                                          <p:spTgt spid="27034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70347"/>
                                        </p:tgtEl>
                                        <p:attrNameLst>
                                          <p:attrName>style.visibility</p:attrName>
                                        </p:attrNameLst>
                                      </p:cBhvr>
                                      <p:to>
                                        <p:strVal val="visible"/>
                                      </p:to>
                                    </p:set>
                                    <p:animEffect transition="in" filter="wipe(left)">
                                      <p:cBhvr>
                                        <p:cTn id="45" dur="1000"/>
                                        <p:tgtEl>
                                          <p:spTgt spid="270347"/>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270346"/>
                                        </p:tgtEl>
                                        <p:attrNameLst>
                                          <p:attrName>style.visibility</p:attrName>
                                        </p:attrNameLst>
                                      </p:cBhvr>
                                      <p:to>
                                        <p:strVal val="visible"/>
                                      </p:to>
                                    </p:set>
                                    <p:animEffect transition="in" filter="wipe(left)">
                                      <p:cBhvr>
                                        <p:cTn id="49" dur="1000"/>
                                        <p:tgtEl>
                                          <p:spTgt spid="27034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70348"/>
                                        </p:tgtEl>
                                        <p:attrNameLst>
                                          <p:attrName>style.visibility</p:attrName>
                                        </p:attrNameLst>
                                      </p:cBhvr>
                                      <p:to>
                                        <p:strVal val="visible"/>
                                      </p:to>
                                    </p:set>
                                    <p:animEffect transition="in" filter="wipe(left)">
                                      <p:cBhvr>
                                        <p:cTn id="54" dur="1000"/>
                                        <p:tgtEl>
                                          <p:spTgt spid="27034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70353"/>
                                        </p:tgtEl>
                                        <p:attrNameLst>
                                          <p:attrName>style.visibility</p:attrName>
                                        </p:attrNameLst>
                                      </p:cBhvr>
                                      <p:to>
                                        <p:strVal val="visible"/>
                                      </p:to>
                                    </p:set>
                                    <p:animEffect transition="in" filter="wipe(left)">
                                      <p:cBhvr>
                                        <p:cTn id="59" dur="1000"/>
                                        <p:tgtEl>
                                          <p:spTgt spid="270353"/>
                                        </p:tgtEl>
                                      </p:cBhvr>
                                    </p:animEffect>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270352"/>
                                        </p:tgtEl>
                                        <p:attrNameLst>
                                          <p:attrName>style.visibility</p:attrName>
                                        </p:attrNameLst>
                                      </p:cBhvr>
                                      <p:to>
                                        <p:strVal val="visible"/>
                                      </p:to>
                                    </p:set>
                                    <p:animEffect transition="in" filter="wipe(left)">
                                      <p:cBhvr>
                                        <p:cTn id="63" dur="1000"/>
                                        <p:tgtEl>
                                          <p:spTgt spid="27035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70354"/>
                                        </p:tgtEl>
                                        <p:attrNameLst>
                                          <p:attrName>style.visibility</p:attrName>
                                        </p:attrNameLst>
                                      </p:cBhvr>
                                      <p:to>
                                        <p:strVal val="visible"/>
                                      </p:to>
                                    </p:set>
                                    <p:animEffect transition="in" filter="wipe(left)">
                                      <p:cBhvr>
                                        <p:cTn id="68" dur="1000"/>
                                        <p:tgtEl>
                                          <p:spTgt spid="27035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70350"/>
                                        </p:tgtEl>
                                        <p:attrNameLst>
                                          <p:attrName>style.visibility</p:attrName>
                                        </p:attrNameLst>
                                      </p:cBhvr>
                                      <p:to>
                                        <p:strVal val="visible"/>
                                      </p:to>
                                    </p:set>
                                    <p:animEffect transition="in" filter="wipe(left)">
                                      <p:cBhvr>
                                        <p:cTn id="73" dur="1000"/>
                                        <p:tgtEl>
                                          <p:spTgt spid="270350"/>
                                        </p:tgtEl>
                                      </p:cBhvr>
                                    </p:animEffect>
                                  </p:childTnLst>
                                </p:cTn>
                              </p:par>
                            </p:childTnLst>
                          </p:cTn>
                        </p:par>
                        <p:par>
                          <p:cTn id="74" fill="hold">
                            <p:stCondLst>
                              <p:cond delay="1000"/>
                            </p:stCondLst>
                            <p:childTnLst>
                              <p:par>
                                <p:cTn id="75" presetID="22" presetClass="entr" presetSubtype="8" fill="hold" nodeType="afterEffect">
                                  <p:stCondLst>
                                    <p:cond delay="0"/>
                                  </p:stCondLst>
                                  <p:childTnLst>
                                    <p:set>
                                      <p:cBhvr>
                                        <p:cTn id="76" dur="1" fill="hold">
                                          <p:stCondLst>
                                            <p:cond delay="0"/>
                                          </p:stCondLst>
                                        </p:cTn>
                                        <p:tgtEl>
                                          <p:spTgt spid="270349"/>
                                        </p:tgtEl>
                                        <p:attrNameLst>
                                          <p:attrName>style.visibility</p:attrName>
                                        </p:attrNameLst>
                                      </p:cBhvr>
                                      <p:to>
                                        <p:strVal val="visible"/>
                                      </p:to>
                                    </p:set>
                                    <p:animEffect transition="in" filter="wipe(left)">
                                      <p:cBhvr>
                                        <p:cTn id="77" dur="1000"/>
                                        <p:tgtEl>
                                          <p:spTgt spid="27034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70351"/>
                                        </p:tgtEl>
                                        <p:attrNameLst>
                                          <p:attrName>style.visibility</p:attrName>
                                        </p:attrNameLst>
                                      </p:cBhvr>
                                      <p:to>
                                        <p:strVal val="visible"/>
                                      </p:to>
                                    </p:set>
                                    <p:animEffect transition="in" filter="wipe(left)">
                                      <p:cBhvr>
                                        <p:cTn id="82" dur="1000"/>
                                        <p:tgtEl>
                                          <p:spTgt spid="270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p:bldP spid="270339" grpId="0"/>
      <p:bldP spid="270341" grpId="0"/>
      <p:bldP spid="270342" grpId="0"/>
      <p:bldP spid="270344" grpId="0"/>
      <p:bldP spid="270345" grpId="0"/>
      <p:bldP spid="270347" grpId="0"/>
      <p:bldP spid="270348" grpId="0"/>
      <p:bldP spid="270350" grpId="0"/>
      <p:bldP spid="270351" grpId="0"/>
      <p:bldP spid="270353" grpId="0"/>
      <p:bldP spid="27035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Text Box 2"/>
          <p:cNvSpPr txBox="1">
            <a:spLocks noChangeArrowheads="1"/>
          </p:cNvSpPr>
          <p:nvPr/>
        </p:nvSpPr>
        <p:spPr bwMode="auto">
          <a:xfrm>
            <a:off x="657225" y="765175"/>
            <a:ext cx="8235950" cy="1006475"/>
          </a:xfrm>
          <a:prstGeom prst="rect">
            <a:avLst/>
          </a:prstGeom>
          <a:noFill/>
          <a:ln w="9525">
            <a:noFill/>
            <a:miter lim="800000"/>
            <a:headEnd/>
            <a:tailEnd/>
          </a:ln>
        </p:spPr>
        <p:txBody>
          <a:bodyPr>
            <a:spAutoFit/>
          </a:bodyPr>
          <a:lstStyle/>
          <a:p>
            <a:pPr>
              <a:lnSpc>
                <a:spcPct val="125000"/>
              </a:lnSpc>
            </a:pPr>
            <a:r>
              <a:rPr kumimoji="1" lang="zh-CN" altLang="en-US" sz="2400" b="1">
                <a:latin typeface="Times New Roman" pitchFamily="18" charset="0"/>
              </a:rPr>
              <a:t>一定质量的理想气体的内能 </a:t>
            </a:r>
            <a:r>
              <a:rPr kumimoji="1" lang="en-US" altLang="zh-CN" sz="2400" b="1" i="1">
                <a:solidFill>
                  <a:srgbClr val="FF6600"/>
                </a:solidFill>
                <a:latin typeface="Times New Roman" pitchFamily="18" charset="0"/>
              </a:rPr>
              <a:t>E</a:t>
            </a:r>
            <a:r>
              <a:rPr kumimoji="1" lang="en-US" altLang="zh-CN" sz="2400" b="1">
                <a:latin typeface="Times New Roman" pitchFamily="18" charset="0"/>
              </a:rPr>
              <a:t> </a:t>
            </a:r>
            <a:r>
              <a:rPr kumimoji="1" lang="zh-CN" altLang="en-US" sz="2400" b="1">
                <a:latin typeface="Times New Roman" pitchFamily="18" charset="0"/>
              </a:rPr>
              <a:t>随体积 </a:t>
            </a:r>
            <a:r>
              <a:rPr kumimoji="1" lang="en-US" altLang="zh-CN" sz="2400" b="1" i="1">
                <a:solidFill>
                  <a:srgbClr val="FF6600"/>
                </a:solidFill>
                <a:latin typeface="Times New Roman" pitchFamily="18" charset="0"/>
              </a:rPr>
              <a:t>V </a:t>
            </a:r>
            <a:r>
              <a:rPr kumimoji="1" lang="zh-CN" altLang="en-US" sz="2400" b="1">
                <a:latin typeface="Times New Roman" pitchFamily="18" charset="0"/>
              </a:rPr>
              <a:t>的变化关系为一直线，则此直线表示的过程为</a:t>
            </a:r>
            <a:r>
              <a:rPr kumimoji="1" lang="zh-CN" altLang="en-US" sz="2400" b="1">
                <a:latin typeface="Times New Roman" pitchFamily="18" charset="0"/>
                <a:sym typeface="Wingdings" pitchFamily="2" charset="2"/>
              </a:rPr>
              <a:t>： （       ）</a:t>
            </a:r>
            <a:endParaRPr kumimoji="1" lang="zh-CN" altLang="en-US" sz="2400" b="1">
              <a:latin typeface="Times New Roman" pitchFamily="18" charset="0"/>
            </a:endParaRPr>
          </a:p>
        </p:txBody>
      </p:sp>
      <p:sp>
        <p:nvSpPr>
          <p:cNvPr id="381955" name="Text Box 3"/>
          <p:cNvSpPr txBox="1">
            <a:spLocks noChangeArrowheads="1"/>
          </p:cNvSpPr>
          <p:nvPr/>
        </p:nvSpPr>
        <p:spPr bwMode="auto">
          <a:xfrm>
            <a:off x="115888" y="809625"/>
            <a:ext cx="488950"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例</a:t>
            </a:r>
          </a:p>
        </p:txBody>
      </p:sp>
      <p:sp>
        <p:nvSpPr>
          <p:cNvPr id="381956" name="Rectangle 4"/>
          <p:cNvSpPr>
            <a:spLocks noChangeArrowheads="1"/>
          </p:cNvSpPr>
          <p:nvPr/>
        </p:nvSpPr>
        <p:spPr bwMode="auto">
          <a:xfrm>
            <a:off x="747713" y="2011363"/>
            <a:ext cx="3060700"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(A)  </a:t>
            </a:r>
            <a:r>
              <a:rPr kumimoji="1" lang="zh-CN" altLang="en-US" sz="2400" b="1">
                <a:latin typeface="Times New Roman" pitchFamily="18" charset="0"/>
                <a:ea typeface="楷体_GB2312" pitchFamily="49" charset="-122"/>
              </a:rPr>
              <a:t>等温过程。</a:t>
            </a:r>
          </a:p>
        </p:txBody>
      </p:sp>
      <p:sp>
        <p:nvSpPr>
          <p:cNvPr id="381957" name="Rectangle 5"/>
          <p:cNvSpPr>
            <a:spLocks noChangeArrowheads="1"/>
          </p:cNvSpPr>
          <p:nvPr/>
        </p:nvSpPr>
        <p:spPr bwMode="auto">
          <a:xfrm>
            <a:off x="3043238" y="1973263"/>
            <a:ext cx="2609850"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(B)  </a:t>
            </a:r>
            <a:r>
              <a:rPr kumimoji="1" lang="zh-CN" altLang="en-US" sz="2400" b="1">
                <a:latin typeface="Times New Roman" pitchFamily="18" charset="0"/>
                <a:ea typeface="楷体_GB2312" pitchFamily="49" charset="-122"/>
              </a:rPr>
              <a:t>等压过程。</a:t>
            </a:r>
          </a:p>
        </p:txBody>
      </p:sp>
      <p:sp>
        <p:nvSpPr>
          <p:cNvPr id="381958" name="Rectangle 6"/>
          <p:cNvSpPr>
            <a:spLocks noChangeArrowheads="1"/>
          </p:cNvSpPr>
          <p:nvPr/>
        </p:nvSpPr>
        <p:spPr bwMode="auto">
          <a:xfrm>
            <a:off x="792163" y="2647950"/>
            <a:ext cx="2881312"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(C)  </a:t>
            </a:r>
            <a:r>
              <a:rPr kumimoji="1" lang="zh-CN" altLang="en-US" sz="2400" b="1">
                <a:latin typeface="Times New Roman" pitchFamily="18" charset="0"/>
                <a:ea typeface="楷体_GB2312" pitchFamily="49" charset="-122"/>
              </a:rPr>
              <a:t>等容过程。</a:t>
            </a:r>
          </a:p>
        </p:txBody>
      </p:sp>
      <p:sp>
        <p:nvSpPr>
          <p:cNvPr id="381959" name="Rectangle 7"/>
          <p:cNvSpPr>
            <a:spLocks noChangeArrowheads="1"/>
          </p:cNvSpPr>
          <p:nvPr/>
        </p:nvSpPr>
        <p:spPr bwMode="auto">
          <a:xfrm>
            <a:off x="3114675" y="2647950"/>
            <a:ext cx="2717800"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(D)  </a:t>
            </a:r>
            <a:r>
              <a:rPr kumimoji="1" lang="zh-CN" altLang="en-US" sz="2400" b="1">
                <a:latin typeface="Times New Roman" pitchFamily="18" charset="0"/>
                <a:ea typeface="楷体_GB2312" pitchFamily="49" charset="-122"/>
              </a:rPr>
              <a:t>绝热过程。</a:t>
            </a:r>
          </a:p>
        </p:txBody>
      </p:sp>
      <p:sp>
        <p:nvSpPr>
          <p:cNvPr id="381960" name="Text Box 8"/>
          <p:cNvSpPr txBox="1">
            <a:spLocks noChangeArrowheads="1"/>
          </p:cNvSpPr>
          <p:nvPr/>
        </p:nvSpPr>
        <p:spPr bwMode="auto">
          <a:xfrm>
            <a:off x="5111750" y="1236663"/>
            <a:ext cx="676275" cy="519112"/>
          </a:xfrm>
          <a:prstGeom prst="rect">
            <a:avLst/>
          </a:prstGeom>
          <a:noFill/>
          <a:ln w="9525">
            <a:noFill/>
            <a:miter lim="800000"/>
            <a:headEnd/>
            <a:tailEnd/>
          </a:ln>
        </p:spPr>
        <p:txBody>
          <a:bodyPr>
            <a:spAutoFit/>
          </a:bodyPr>
          <a:lstStyle/>
          <a:p>
            <a:pPr>
              <a:spcBef>
                <a:spcPct val="50000"/>
              </a:spcBef>
            </a:pPr>
            <a:r>
              <a:rPr lang="en-US" altLang="zh-CN" sz="2800" b="1">
                <a:solidFill>
                  <a:srgbClr val="008000"/>
                </a:solidFill>
                <a:latin typeface="Times New Roman" pitchFamily="18" charset="0"/>
              </a:rPr>
              <a:t>B</a:t>
            </a:r>
          </a:p>
        </p:txBody>
      </p:sp>
      <p:grpSp>
        <p:nvGrpSpPr>
          <p:cNvPr id="2" name="Group 9"/>
          <p:cNvGrpSpPr>
            <a:grpSpLocks/>
          </p:cNvGrpSpPr>
          <p:nvPr/>
        </p:nvGrpSpPr>
        <p:grpSpPr bwMode="auto">
          <a:xfrm>
            <a:off x="6281738" y="1530350"/>
            <a:ext cx="2430462" cy="1898650"/>
            <a:chOff x="3986" y="851"/>
            <a:chExt cx="1531" cy="1196"/>
          </a:xfrm>
        </p:grpSpPr>
        <p:sp>
          <p:nvSpPr>
            <p:cNvPr id="108560" name="Line 10"/>
            <p:cNvSpPr>
              <a:spLocks noChangeShapeType="1"/>
            </p:cNvSpPr>
            <p:nvPr/>
          </p:nvSpPr>
          <p:spPr bwMode="auto">
            <a:xfrm>
              <a:off x="3986" y="1962"/>
              <a:ext cx="1389" cy="0"/>
            </a:xfrm>
            <a:prstGeom prst="line">
              <a:avLst/>
            </a:prstGeom>
            <a:noFill/>
            <a:ln w="9525">
              <a:solidFill>
                <a:schemeClr val="tx1"/>
              </a:solidFill>
              <a:round/>
              <a:headEnd/>
              <a:tailEnd type="triangle" w="med" len="lg"/>
            </a:ln>
          </p:spPr>
          <p:txBody>
            <a:bodyPr/>
            <a:lstStyle/>
            <a:p>
              <a:endParaRPr lang="zh-CN" altLang="en-US"/>
            </a:p>
          </p:txBody>
        </p:sp>
        <p:sp>
          <p:nvSpPr>
            <p:cNvPr id="108561" name="Line 11"/>
            <p:cNvSpPr>
              <a:spLocks noChangeShapeType="1"/>
            </p:cNvSpPr>
            <p:nvPr/>
          </p:nvSpPr>
          <p:spPr bwMode="auto">
            <a:xfrm flipV="1">
              <a:off x="4042" y="941"/>
              <a:ext cx="0" cy="1106"/>
            </a:xfrm>
            <a:prstGeom prst="line">
              <a:avLst/>
            </a:prstGeom>
            <a:noFill/>
            <a:ln w="9525">
              <a:solidFill>
                <a:schemeClr val="tx1"/>
              </a:solidFill>
              <a:round/>
              <a:headEnd/>
              <a:tailEnd type="triangle" w="med" len="lg"/>
            </a:ln>
          </p:spPr>
          <p:txBody>
            <a:bodyPr/>
            <a:lstStyle/>
            <a:p>
              <a:endParaRPr lang="zh-CN" altLang="en-US"/>
            </a:p>
          </p:txBody>
        </p:sp>
        <p:sp>
          <p:nvSpPr>
            <p:cNvPr id="108562" name="Text Box 12"/>
            <p:cNvSpPr txBox="1">
              <a:spLocks noChangeArrowheads="1"/>
            </p:cNvSpPr>
            <p:nvPr/>
          </p:nvSpPr>
          <p:spPr bwMode="auto">
            <a:xfrm>
              <a:off x="5148" y="1650"/>
              <a:ext cx="369" cy="288"/>
            </a:xfrm>
            <a:prstGeom prst="rect">
              <a:avLst/>
            </a:prstGeom>
            <a:noFill/>
            <a:ln w="9525">
              <a:noFill/>
              <a:miter lim="800000"/>
              <a:headEnd/>
              <a:tailEnd/>
            </a:ln>
          </p:spPr>
          <p:txBody>
            <a:bodyPr>
              <a:spAutoFit/>
            </a:bodyPr>
            <a:lstStyle/>
            <a:p>
              <a:pPr>
                <a:spcBef>
                  <a:spcPct val="50000"/>
                </a:spcBef>
              </a:pPr>
              <a:r>
                <a:rPr lang="en-US" altLang="zh-CN" sz="2400" b="1" i="1">
                  <a:latin typeface="Times New Roman" pitchFamily="18" charset="0"/>
                </a:rPr>
                <a:t>V</a:t>
              </a:r>
            </a:p>
          </p:txBody>
        </p:sp>
        <p:sp>
          <p:nvSpPr>
            <p:cNvPr id="108563" name="Text Box 13"/>
            <p:cNvSpPr txBox="1">
              <a:spLocks noChangeArrowheads="1"/>
            </p:cNvSpPr>
            <p:nvPr/>
          </p:nvSpPr>
          <p:spPr bwMode="auto">
            <a:xfrm>
              <a:off x="4070" y="851"/>
              <a:ext cx="369" cy="288"/>
            </a:xfrm>
            <a:prstGeom prst="rect">
              <a:avLst/>
            </a:prstGeom>
            <a:noFill/>
            <a:ln w="9525">
              <a:noFill/>
              <a:miter lim="800000"/>
              <a:headEnd/>
              <a:tailEnd/>
            </a:ln>
          </p:spPr>
          <p:txBody>
            <a:bodyPr>
              <a:spAutoFit/>
            </a:bodyPr>
            <a:lstStyle/>
            <a:p>
              <a:pPr>
                <a:spcBef>
                  <a:spcPct val="50000"/>
                </a:spcBef>
              </a:pPr>
              <a:r>
                <a:rPr lang="en-US" altLang="zh-CN" sz="2400" b="1" i="1">
                  <a:latin typeface="Times New Roman" pitchFamily="18" charset="0"/>
                </a:rPr>
                <a:t>E</a:t>
              </a:r>
            </a:p>
          </p:txBody>
        </p:sp>
        <p:sp>
          <p:nvSpPr>
            <p:cNvPr id="108564" name="Line 14"/>
            <p:cNvSpPr>
              <a:spLocks noChangeShapeType="1"/>
            </p:cNvSpPr>
            <p:nvPr/>
          </p:nvSpPr>
          <p:spPr bwMode="auto">
            <a:xfrm flipV="1">
              <a:off x="4042" y="1593"/>
              <a:ext cx="369" cy="369"/>
            </a:xfrm>
            <a:prstGeom prst="line">
              <a:avLst/>
            </a:prstGeom>
            <a:noFill/>
            <a:ln w="22225">
              <a:solidFill>
                <a:schemeClr val="tx1"/>
              </a:solidFill>
              <a:prstDash val="dash"/>
              <a:round/>
              <a:headEnd/>
              <a:tailEnd/>
            </a:ln>
          </p:spPr>
          <p:txBody>
            <a:bodyPr/>
            <a:lstStyle/>
            <a:p>
              <a:endParaRPr lang="zh-CN" altLang="en-US"/>
            </a:p>
          </p:txBody>
        </p:sp>
        <p:sp>
          <p:nvSpPr>
            <p:cNvPr id="108565" name="Line 15"/>
            <p:cNvSpPr>
              <a:spLocks noChangeAspect="1" noChangeShapeType="1"/>
            </p:cNvSpPr>
            <p:nvPr/>
          </p:nvSpPr>
          <p:spPr bwMode="auto">
            <a:xfrm flipV="1">
              <a:off x="4425" y="1026"/>
              <a:ext cx="553" cy="553"/>
            </a:xfrm>
            <a:prstGeom prst="line">
              <a:avLst/>
            </a:prstGeom>
            <a:noFill/>
            <a:ln w="22225">
              <a:solidFill>
                <a:schemeClr val="tx1"/>
              </a:solidFill>
              <a:round/>
              <a:headEnd/>
              <a:tailEnd/>
            </a:ln>
          </p:spPr>
          <p:txBody>
            <a:bodyPr/>
            <a:lstStyle/>
            <a:p>
              <a:endParaRPr lang="zh-CN" altLang="en-US"/>
            </a:p>
          </p:txBody>
        </p:sp>
      </p:grpSp>
      <p:sp>
        <p:nvSpPr>
          <p:cNvPr id="381968" name="Text Box 16"/>
          <p:cNvSpPr txBox="1">
            <a:spLocks noChangeArrowheads="1"/>
          </p:cNvSpPr>
          <p:nvPr/>
        </p:nvSpPr>
        <p:spPr bwMode="auto">
          <a:xfrm>
            <a:off x="611188" y="3608388"/>
            <a:ext cx="8281987" cy="2378075"/>
          </a:xfrm>
          <a:prstGeom prst="rect">
            <a:avLst/>
          </a:prstGeom>
          <a:noFill/>
          <a:ln w="9525">
            <a:noFill/>
            <a:miter lim="800000"/>
            <a:headEnd/>
            <a:tailEnd/>
          </a:ln>
        </p:spPr>
        <p:txBody>
          <a:bodyPr>
            <a:spAutoFit/>
          </a:bodyPr>
          <a:lstStyle/>
          <a:p>
            <a:pPr marL="342900" indent="-342900">
              <a:lnSpc>
                <a:spcPct val="125000"/>
              </a:lnSpc>
            </a:pPr>
            <a:r>
              <a:rPr kumimoji="1" lang="zh-CN" altLang="en-US" sz="2400" b="1">
                <a:latin typeface="Times New Roman" pitchFamily="18" charset="0"/>
              </a:rPr>
              <a:t>对于氢气和氦气，</a:t>
            </a:r>
          </a:p>
          <a:p>
            <a:pPr marL="342900" indent="-342900">
              <a:lnSpc>
                <a:spcPct val="125000"/>
              </a:lnSpc>
              <a:buFontTx/>
              <a:buAutoNum type="arabicParenBoth"/>
            </a:pPr>
            <a:r>
              <a:rPr kumimoji="1" lang="zh-CN" altLang="en-US" sz="2400" b="1">
                <a:latin typeface="Times New Roman" pitchFamily="18" charset="0"/>
              </a:rPr>
              <a:t>  压强、体积和温度都相同，它们的质量比 </a:t>
            </a:r>
            <a:r>
              <a:rPr kumimoji="1" lang="en-US" altLang="zh-CN" sz="2400" b="1" i="1">
                <a:solidFill>
                  <a:srgbClr val="FF6600"/>
                </a:solidFill>
                <a:latin typeface="Times New Roman" pitchFamily="18" charset="0"/>
              </a:rPr>
              <a:t>m </a:t>
            </a:r>
            <a:r>
              <a:rPr kumimoji="1" lang="en-US" altLang="zh-CN" sz="2400" b="1">
                <a:solidFill>
                  <a:srgbClr val="FF6600"/>
                </a:solidFill>
                <a:latin typeface="Times New Roman" pitchFamily="18" charset="0"/>
              </a:rPr>
              <a:t>(H</a:t>
            </a:r>
            <a:r>
              <a:rPr kumimoji="1" lang="en-US" altLang="zh-CN" sz="2400" b="1" baseline="-25000">
                <a:solidFill>
                  <a:srgbClr val="FF6600"/>
                </a:solidFill>
                <a:latin typeface="Times New Roman" pitchFamily="18" charset="0"/>
              </a:rPr>
              <a:t>2</a:t>
            </a:r>
            <a:r>
              <a:rPr kumimoji="1" lang="en-US" altLang="zh-CN" sz="2400" b="1">
                <a:solidFill>
                  <a:srgbClr val="FF6600"/>
                </a:solidFill>
                <a:latin typeface="Times New Roman" pitchFamily="18" charset="0"/>
              </a:rPr>
              <a:t>) / </a:t>
            </a:r>
            <a:r>
              <a:rPr kumimoji="1" lang="en-US" altLang="zh-CN" sz="2400" b="1" i="1">
                <a:solidFill>
                  <a:srgbClr val="FF6600"/>
                </a:solidFill>
                <a:latin typeface="Times New Roman" pitchFamily="18" charset="0"/>
              </a:rPr>
              <a:t>m</a:t>
            </a:r>
            <a:r>
              <a:rPr kumimoji="1" lang="en-US" altLang="zh-CN" sz="2400" b="1">
                <a:solidFill>
                  <a:srgbClr val="FF6600"/>
                </a:solidFill>
                <a:latin typeface="Times New Roman" pitchFamily="18" charset="0"/>
              </a:rPr>
              <a:t> (He)</a:t>
            </a:r>
            <a:r>
              <a:rPr kumimoji="1" lang="en-US" altLang="zh-CN" sz="2400" b="1">
                <a:latin typeface="Times New Roman" pitchFamily="18" charset="0"/>
              </a:rPr>
              <a:t> =</a:t>
            </a:r>
            <a:r>
              <a:rPr kumimoji="1" lang="en-US" altLang="zh-CN" sz="2400" b="1" u="sng">
                <a:latin typeface="Times New Roman" pitchFamily="18" charset="0"/>
              </a:rPr>
              <a:t>          </a:t>
            </a:r>
            <a:r>
              <a:rPr kumimoji="1" lang="zh-CN" altLang="en-US" sz="2400" b="1">
                <a:latin typeface="Times New Roman" pitchFamily="18" charset="0"/>
              </a:rPr>
              <a:t>，内能比 </a:t>
            </a:r>
            <a:r>
              <a:rPr kumimoji="1" lang="en-US" altLang="zh-CN" sz="2400" b="1" i="1">
                <a:solidFill>
                  <a:srgbClr val="FF6600"/>
                </a:solidFill>
                <a:latin typeface="Times New Roman" pitchFamily="18" charset="0"/>
              </a:rPr>
              <a:t>E</a:t>
            </a:r>
            <a:r>
              <a:rPr kumimoji="1" lang="en-US" altLang="zh-CN" sz="2400" b="1">
                <a:solidFill>
                  <a:srgbClr val="FF6600"/>
                </a:solidFill>
                <a:latin typeface="Times New Roman" pitchFamily="18" charset="0"/>
              </a:rPr>
              <a:t> (H</a:t>
            </a:r>
            <a:r>
              <a:rPr kumimoji="1" lang="en-US" altLang="zh-CN" sz="2400" b="1" baseline="-25000">
                <a:solidFill>
                  <a:srgbClr val="FF6600"/>
                </a:solidFill>
                <a:latin typeface="Times New Roman" pitchFamily="18" charset="0"/>
              </a:rPr>
              <a:t>2</a:t>
            </a:r>
            <a:r>
              <a:rPr kumimoji="1" lang="en-US" altLang="zh-CN" sz="2400" b="1">
                <a:solidFill>
                  <a:srgbClr val="FF6600"/>
                </a:solidFill>
                <a:latin typeface="Times New Roman" pitchFamily="18" charset="0"/>
              </a:rPr>
              <a:t>) / </a:t>
            </a:r>
            <a:r>
              <a:rPr kumimoji="1" lang="en-US" altLang="zh-CN" sz="2400" b="1" i="1">
                <a:solidFill>
                  <a:srgbClr val="FF6600"/>
                </a:solidFill>
                <a:latin typeface="Times New Roman" pitchFamily="18" charset="0"/>
              </a:rPr>
              <a:t>E</a:t>
            </a:r>
            <a:r>
              <a:rPr kumimoji="1" lang="en-US" altLang="zh-CN" sz="2400" b="1">
                <a:solidFill>
                  <a:srgbClr val="FF6600"/>
                </a:solidFill>
                <a:latin typeface="Times New Roman" pitchFamily="18" charset="0"/>
              </a:rPr>
              <a:t> (He)</a:t>
            </a:r>
            <a:r>
              <a:rPr kumimoji="1" lang="en-US" altLang="zh-CN" sz="2400" b="1">
                <a:latin typeface="Times New Roman" pitchFamily="18" charset="0"/>
              </a:rPr>
              <a:t> =</a:t>
            </a:r>
            <a:r>
              <a:rPr kumimoji="1" lang="en-US" altLang="zh-CN" sz="2400" b="1" u="sng">
                <a:latin typeface="Times New Roman" pitchFamily="18" charset="0"/>
              </a:rPr>
              <a:t>          </a:t>
            </a:r>
            <a:r>
              <a:rPr kumimoji="1" lang="zh-CN" altLang="en-US" sz="2400" b="1">
                <a:latin typeface="Times New Roman" pitchFamily="18" charset="0"/>
              </a:rPr>
              <a:t>。</a:t>
            </a:r>
          </a:p>
          <a:p>
            <a:pPr marL="342900" indent="-342900">
              <a:lnSpc>
                <a:spcPct val="125000"/>
              </a:lnSpc>
              <a:buFontTx/>
              <a:buAutoNum type="arabicParenBoth"/>
            </a:pPr>
            <a:r>
              <a:rPr kumimoji="1" lang="zh-CN" altLang="en-US" sz="2400" b="1">
                <a:latin typeface="Times New Roman" pitchFamily="18" charset="0"/>
              </a:rPr>
              <a:t>  压强和温度相同，各为单位体积时的内能之比</a:t>
            </a:r>
            <a:r>
              <a:rPr kumimoji="1" lang="zh-CN" altLang="en-US" sz="2400" b="1" u="sng">
                <a:latin typeface="Times New Roman" pitchFamily="18" charset="0"/>
              </a:rPr>
              <a:t>          </a:t>
            </a:r>
            <a:r>
              <a:rPr kumimoji="1" lang="zh-CN" altLang="en-US" sz="2400" b="1">
                <a:latin typeface="Times New Roman" pitchFamily="18" charset="0"/>
              </a:rPr>
              <a:t>，各为单位质量时的内能之比</a:t>
            </a:r>
            <a:r>
              <a:rPr kumimoji="1" lang="zh-CN" altLang="en-US" sz="2400" b="1" u="sng">
                <a:latin typeface="Times New Roman" pitchFamily="18" charset="0"/>
              </a:rPr>
              <a:t>          </a:t>
            </a:r>
            <a:r>
              <a:rPr kumimoji="1" lang="zh-CN" altLang="en-US" sz="2400" b="1">
                <a:latin typeface="Times New Roman" pitchFamily="18" charset="0"/>
              </a:rPr>
              <a:t>。</a:t>
            </a:r>
          </a:p>
        </p:txBody>
      </p:sp>
      <p:sp>
        <p:nvSpPr>
          <p:cNvPr id="381969" name="Text Box 17"/>
          <p:cNvSpPr txBox="1">
            <a:spLocks noChangeArrowheads="1"/>
          </p:cNvSpPr>
          <p:nvPr/>
        </p:nvSpPr>
        <p:spPr bwMode="auto">
          <a:xfrm>
            <a:off x="77788" y="3698875"/>
            <a:ext cx="488950"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例</a:t>
            </a:r>
          </a:p>
        </p:txBody>
      </p:sp>
      <p:sp>
        <p:nvSpPr>
          <p:cNvPr id="381970" name="Text Box 18"/>
          <p:cNvSpPr txBox="1">
            <a:spLocks noChangeArrowheads="1"/>
          </p:cNvSpPr>
          <p:nvPr/>
        </p:nvSpPr>
        <p:spPr bwMode="auto">
          <a:xfrm>
            <a:off x="1331913" y="4554538"/>
            <a:ext cx="809625" cy="457200"/>
          </a:xfrm>
          <a:prstGeom prst="rect">
            <a:avLst/>
          </a:prstGeom>
          <a:noFill/>
          <a:ln w="9525">
            <a:noFill/>
            <a:miter lim="800000"/>
            <a:headEnd/>
            <a:tailEnd/>
          </a:ln>
        </p:spPr>
        <p:txBody>
          <a:bodyPr>
            <a:spAutoFit/>
          </a:bodyPr>
          <a:lstStyle/>
          <a:p>
            <a:pPr>
              <a:spcBef>
                <a:spcPct val="50000"/>
              </a:spcBef>
            </a:pPr>
            <a:r>
              <a:rPr lang="en-US" altLang="zh-CN" sz="2400" b="1">
                <a:solidFill>
                  <a:srgbClr val="008000"/>
                </a:solidFill>
                <a:latin typeface="Times New Roman" pitchFamily="18" charset="0"/>
              </a:rPr>
              <a:t>1:2</a:t>
            </a:r>
          </a:p>
        </p:txBody>
      </p:sp>
      <p:sp>
        <p:nvSpPr>
          <p:cNvPr id="381971" name="Text Box 19"/>
          <p:cNvSpPr txBox="1">
            <a:spLocks noChangeArrowheads="1"/>
          </p:cNvSpPr>
          <p:nvPr/>
        </p:nvSpPr>
        <p:spPr bwMode="auto">
          <a:xfrm>
            <a:off x="5562600" y="4546600"/>
            <a:ext cx="809625" cy="457200"/>
          </a:xfrm>
          <a:prstGeom prst="rect">
            <a:avLst/>
          </a:prstGeom>
          <a:noFill/>
          <a:ln w="9525">
            <a:noFill/>
            <a:miter lim="800000"/>
            <a:headEnd/>
            <a:tailEnd/>
          </a:ln>
        </p:spPr>
        <p:txBody>
          <a:bodyPr>
            <a:spAutoFit/>
          </a:bodyPr>
          <a:lstStyle/>
          <a:p>
            <a:pPr>
              <a:spcBef>
                <a:spcPct val="50000"/>
              </a:spcBef>
            </a:pPr>
            <a:r>
              <a:rPr lang="en-US" altLang="zh-CN" sz="2400" b="1">
                <a:solidFill>
                  <a:srgbClr val="008000"/>
                </a:solidFill>
                <a:latin typeface="Times New Roman" pitchFamily="18" charset="0"/>
              </a:rPr>
              <a:t>5:3</a:t>
            </a:r>
          </a:p>
        </p:txBody>
      </p:sp>
      <p:sp>
        <p:nvSpPr>
          <p:cNvPr id="381972" name="Text Box 20"/>
          <p:cNvSpPr txBox="1">
            <a:spLocks noChangeArrowheads="1"/>
          </p:cNvSpPr>
          <p:nvPr/>
        </p:nvSpPr>
        <p:spPr bwMode="auto">
          <a:xfrm>
            <a:off x="7453313" y="5003800"/>
            <a:ext cx="809625" cy="457200"/>
          </a:xfrm>
          <a:prstGeom prst="rect">
            <a:avLst/>
          </a:prstGeom>
          <a:noFill/>
          <a:ln w="9525">
            <a:noFill/>
            <a:miter lim="800000"/>
            <a:headEnd/>
            <a:tailEnd/>
          </a:ln>
        </p:spPr>
        <p:txBody>
          <a:bodyPr>
            <a:spAutoFit/>
          </a:bodyPr>
          <a:lstStyle/>
          <a:p>
            <a:pPr>
              <a:spcBef>
                <a:spcPct val="50000"/>
              </a:spcBef>
            </a:pPr>
            <a:r>
              <a:rPr lang="en-US" altLang="zh-CN" sz="2400" b="1">
                <a:solidFill>
                  <a:srgbClr val="008000"/>
                </a:solidFill>
                <a:latin typeface="Times New Roman" pitchFamily="18" charset="0"/>
              </a:rPr>
              <a:t>5:3</a:t>
            </a:r>
          </a:p>
        </p:txBody>
      </p:sp>
      <p:sp>
        <p:nvSpPr>
          <p:cNvPr id="381973" name="Text Box 21"/>
          <p:cNvSpPr txBox="1">
            <a:spLocks noChangeArrowheads="1"/>
          </p:cNvSpPr>
          <p:nvPr/>
        </p:nvSpPr>
        <p:spPr bwMode="auto">
          <a:xfrm>
            <a:off x="4483100" y="5454650"/>
            <a:ext cx="809625" cy="457200"/>
          </a:xfrm>
          <a:prstGeom prst="rect">
            <a:avLst/>
          </a:prstGeom>
          <a:noFill/>
          <a:ln w="9525">
            <a:noFill/>
            <a:miter lim="800000"/>
            <a:headEnd/>
            <a:tailEnd/>
          </a:ln>
        </p:spPr>
        <p:txBody>
          <a:bodyPr>
            <a:spAutoFit/>
          </a:bodyPr>
          <a:lstStyle/>
          <a:p>
            <a:pPr>
              <a:spcBef>
                <a:spcPct val="50000"/>
              </a:spcBef>
            </a:pPr>
            <a:r>
              <a:rPr lang="en-US" altLang="zh-CN" sz="2400" b="1">
                <a:solidFill>
                  <a:srgbClr val="008000"/>
                </a:solidFill>
                <a:latin typeface="Times New Roman" pitchFamily="18" charset="0"/>
              </a:rPr>
              <a:t>10:3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1955"/>
                                        </p:tgtEl>
                                        <p:attrNameLst>
                                          <p:attrName>style.visibility</p:attrName>
                                        </p:attrNameLst>
                                      </p:cBhvr>
                                      <p:to>
                                        <p:strVal val="visible"/>
                                      </p:to>
                                    </p:set>
                                    <p:animEffect transition="in" filter="wipe(left)">
                                      <p:cBhvr>
                                        <p:cTn id="7" dur="500"/>
                                        <p:tgtEl>
                                          <p:spTgt spid="38195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81954"/>
                                        </p:tgtEl>
                                        <p:attrNameLst>
                                          <p:attrName>style.visibility</p:attrName>
                                        </p:attrNameLst>
                                      </p:cBhvr>
                                      <p:to>
                                        <p:strVal val="visible"/>
                                      </p:to>
                                    </p:set>
                                    <p:animEffect transition="in" filter="wipe(left)">
                                      <p:cBhvr>
                                        <p:cTn id="11" dur="500"/>
                                        <p:tgtEl>
                                          <p:spTgt spid="38195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81956"/>
                                        </p:tgtEl>
                                        <p:attrNameLst>
                                          <p:attrName>style.visibility</p:attrName>
                                        </p:attrNameLst>
                                      </p:cBhvr>
                                      <p:to>
                                        <p:strVal val="visible"/>
                                      </p:to>
                                    </p:set>
                                    <p:animEffect transition="in" filter="wipe(left)">
                                      <p:cBhvr>
                                        <p:cTn id="21" dur="500"/>
                                        <p:tgtEl>
                                          <p:spTgt spid="381956"/>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81957"/>
                                        </p:tgtEl>
                                        <p:attrNameLst>
                                          <p:attrName>style.visibility</p:attrName>
                                        </p:attrNameLst>
                                      </p:cBhvr>
                                      <p:to>
                                        <p:strVal val="visible"/>
                                      </p:to>
                                    </p:set>
                                    <p:animEffect transition="in" filter="wipe(left)">
                                      <p:cBhvr>
                                        <p:cTn id="25" dur="500"/>
                                        <p:tgtEl>
                                          <p:spTgt spid="381957"/>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81958"/>
                                        </p:tgtEl>
                                        <p:attrNameLst>
                                          <p:attrName>style.visibility</p:attrName>
                                        </p:attrNameLst>
                                      </p:cBhvr>
                                      <p:to>
                                        <p:strVal val="visible"/>
                                      </p:to>
                                    </p:set>
                                    <p:animEffect transition="in" filter="wipe(left)">
                                      <p:cBhvr>
                                        <p:cTn id="29" dur="500"/>
                                        <p:tgtEl>
                                          <p:spTgt spid="381958"/>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381959"/>
                                        </p:tgtEl>
                                        <p:attrNameLst>
                                          <p:attrName>style.visibility</p:attrName>
                                        </p:attrNameLst>
                                      </p:cBhvr>
                                      <p:to>
                                        <p:strVal val="visible"/>
                                      </p:to>
                                    </p:set>
                                    <p:animEffect transition="in" filter="wipe(left)">
                                      <p:cBhvr>
                                        <p:cTn id="33" dur="500"/>
                                        <p:tgtEl>
                                          <p:spTgt spid="38195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381960"/>
                                        </p:tgtEl>
                                        <p:attrNameLst>
                                          <p:attrName>style.visibility</p:attrName>
                                        </p:attrNameLst>
                                      </p:cBhvr>
                                      <p:to>
                                        <p:strVal val="visible"/>
                                      </p:to>
                                    </p:set>
                                    <p:anim calcmode="lin" valueType="num">
                                      <p:cBhvr>
                                        <p:cTn id="38" dur="1000" fill="hold"/>
                                        <p:tgtEl>
                                          <p:spTgt spid="381960"/>
                                        </p:tgtEl>
                                        <p:attrNameLst>
                                          <p:attrName>ppt_w</p:attrName>
                                        </p:attrNameLst>
                                      </p:cBhvr>
                                      <p:tavLst>
                                        <p:tav tm="0">
                                          <p:val>
                                            <p:fltVal val="0"/>
                                          </p:val>
                                        </p:tav>
                                        <p:tav tm="100000">
                                          <p:val>
                                            <p:strVal val="#ppt_w"/>
                                          </p:val>
                                        </p:tav>
                                      </p:tavLst>
                                    </p:anim>
                                    <p:anim calcmode="lin" valueType="num">
                                      <p:cBhvr>
                                        <p:cTn id="39" dur="1000" fill="hold"/>
                                        <p:tgtEl>
                                          <p:spTgt spid="381960"/>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81969"/>
                                        </p:tgtEl>
                                        <p:attrNameLst>
                                          <p:attrName>style.visibility</p:attrName>
                                        </p:attrNameLst>
                                      </p:cBhvr>
                                      <p:to>
                                        <p:strVal val="visible"/>
                                      </p:to>
                                    </p:set>
                                    <p:animEffect transition="in" filter="wipe(left)">
                                      <p:cBhvr>
                                        <p:cTn id="44" dur="500"/>
                                        <p:tgtEl>
                                          <p:spTgt spid="381969"/>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81968"/>
                                        </p:tgtEl>
                                        <p:attrNameLst>
                                          <p:attrName>style.visibility</p:attrName>
                                        </p:attrNameLst>
                                      </p:cBhvr>
                                      <p:to>
                                        <p:strVal val="visible"/>
                                      </p:to>
                                    </p:set>
                                    <p:animEffect transition="in" filter="wipe(left)">
                                      <p:cBhvr>
                                        <p:cTn id="48" dur="500"/>
                                        <p:tgtEl>
                                          <p:spTgt spid="381968"/>
                                        </p:tgtEl>
                                      </p:cBhvr>
                                    </p:animEffect>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381970"/>
                                        </p:tgtEl>
                                        <p:attrNameLst>
                                          <p:attrName>style.visibility</p:attrName>
                                        </p:attrNameLst>
                                      </p:cBhvr>
                                      <p:to>
                                        <p:strVal val="visible"/>
                                      </p:to>
                                    </p:set>
                                    <p:anim calcmode="lin" valueType="num">
                                      <p:cBhvr>
                                        <p:cTn id="53" dur="1000" fill="hold"/>
                                        <p:tgtEl>
                                          <p:spTgt spid="381970"/>
                                        </p:tgtEl>
                                        <p:attrNameLst>
                                          <p:attrName>ppt_w</p:attrName>
                                        </p:attrNameLst>
                                      </p:cBhvr>
                                      <p:tavLst>
                                        <p:tav tm="0">
                                          <p:val>
                                            <p:fltVal val="0"/>
                                          </p:val>
                                        </p:tav>
                                        <p:tav tm="100000">
                                          <p:val>
                                            <p:strVal val="#ppt_w"/>
                                          </p:val>
                                        </p:tav>
                                      </p:tavLst>
                                    </p:anim>
                                    <p:anim calcmode="lin" valueType="num">
                                      <p:cBhvr>
                                        <p:cTn id="54" dur="1000" fill="hold"/>
                                        <p:tgtEl>
                                          <p:spTgt spid="381970"/>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381971"/>
                                        </p:tgtEl>
                                        <p:attrNameLst>
                                          <p:attrName>style.visibility</p:attrName>
                                        </p:attrNameLst>
                                      </p:cBhvr>
                                      <p:to>
                                        <p:strVal val="visible"/>
                                      </p:to>
                                    </p:set>
                                    <p:anim calcmode="lin" valueType="num">
                                      <p:cBhvr>
                                        <p:cTn id="59" dur="1000" fill="hold"/>
                                        <p:tgtEl>
                                          <p:spTgt spid="381971"/>
                                        </p:tgtEl>
                                        <p:attrNameLst>
                                          <p:attrName>ppt_w</p:attrName>
                                        </p:attrNameLst>
                                      </p:cBhvr>
                                      <p:tavLst>
                                        <p:tav tm="0">
                                          <p:val>
                                            <p:fltVal val="0"/>
                                          </p:val>
                                        </p:tav>
                                        <p:tav tm="100000">
                                          <p:val>
                                            <p:strVal val="#ppt_w"/>
                                          </p:val>
                                        </p:tav>
                                      </p:tavLst>
                                    </p:anim>
                                    <p:anim calcmode="lin" valueType="num">
                                      <p:cBhvr>
                                        <p:cTn id="60" dur="1000" fill="hold"/>
                                        <p:tgtEl>
                                          <p:spTgt spid="381971"/>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grpId="0" nodeType="clickEffect">
                                  <p:stCondLst>
                                    <p:cond delay="0"/>
                                  </p:stCondLst>
                                  <p:childTnLst>
                                    <p:set>
                                      <p:cBhvr>
                                        <p:cTn id="64" dur="1" fill="hold">
                                          <p:stCondLst>
                                            <p:cond delay="0"/>
                                          </p:stCondLst>
                                        </p:cTn>
                                        <p:tgtEl>
                                          <p:spTgt spid="381972"/>
                                        </p:tgtEl>
                                        <p:attrNameLst>
                                          <p:attrName>style.visibility</p:attrName>
                                        </p:attrNameLst>
                                      </p:cBhvr>
                                      <p:to>
                                        <p:strVal val="visible"/>
                                      </p:to>
                                    </p:set>
                                    <p:anim calcmode="lin" valueType="num">
                                      <p:cBhvr>
                                        <p:cTn id="65" dur="1000" fill="hold"/>
                                        <p:tgtEl>
                                          <p:spTgt spid="381972"/>
                                        </p:tgtEl>
                                        <p:attrNameLst>
                                          <p:attrName>ppt_w</p:attrName>
                                        </p:attrNameLst>
                                      </p:cBhvr>
                                      <p:tavLst>
                                        <p:tav tm="0">
                                          <p:val>
                                            <p:fltVal val="0"/>
                                          </p:val>
                                        </p:tav>
                                        <p:tav tm="100000">
                                          <p:val>
                                            <p:strVal val="#ppt_w"/>
                                          </p:val>
                                        </p:tav>
                                      </p:tavLst>
                                    </p:anim>
                                    <p:anim calcmode="lin" valueType="num">
                                      <p:cBhvr>
                                        <p:cTn id="66" dur="1000" fill="hold"/>
                                        <p:tgtEl>
                                          <p:spTgt spid="381972"/>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grpId="0" nodeType="clickEffect">
                                  <p:stCondLst>
                                    <p:cond delay="0"/>
                                  </p:stCondLst>
                                  <p:childTnLst>
                                    <p:set>
                                      <p:cBhvr>
                                        <p:cTn id="70" dur="1" fill="hold">
                                          <p:stCondLst>
                                            <p:cond delay="0"/>
                                          </p:stCondLst>
                                        </p:cTn>
                                        <p:tgtEl>
                                          <p:spTgt spid="381973"/>
                                        </p:tgtEl>
                                        <p:attrNameLst>
                                          <p:attrName>style.visibility</p:attrName>
                                        </p:attrNameLst>
                                      </p:cBhvr>
                                      <p:to>
                                        <p:strVal val="visible"/>
                                      </p:to>
                                    </p:set>
                                    <p:anim calcmode="lin" valueType="num">
                                      <p:cBhvr>
                                        <p:cTn id="71" dur="1000" fill="hold"/>
                                        <p:tgtEl>
                                          <p:spTgt spid="381973"/>
                                        </p:tgtEl>
                                        <p:attrNameLst>
                                          <p:attrName>ppt_w</p:attrName>
                                        </p:attrNameLst>
                                      </p:cBhvr>
                                      <p:tavLst>
                                        <p:tav tm="0">
                                          <p:val>
                                            <p:fltVal val="0"/>
                                          </p:val>
                                        </p:tav>
                                        <p:tav tm="100000">
                                          <p:val>
                                            <p:strVal val="#ppt_w"/>
                                          </p:val>
                                        </p:tav>
                                      </p:tavLst>
                                    </p:anim>
                                    <p:anim calcmode="lin" valueType="num">
                                      <p:cBhvr>
                                        <p:cTn id="72" dur="1000" fill="hold"/>
                                        <p:tgtEl>
                                          <p:spTgt spid="3819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4" grpId="0"/>
      <p:bldP spid="381955" grpId="0"/>
      <p:bldP spid="381956" grpId="0"/>
      <p:bldP spid="381957" grpId="0"/>
      <p:bldP spid="381958" grpId="0"/>
      <p:bldP spid="381959" grpId="0"/>
      <p:bldP spid="381960" grpId="0"/>
      <p:bldP spid="381968" grpId="0"/>
      <p:bldP spid="381969" grpId="0"/>
      <p:bldP spid="381970" grpId="0"/>
      <p:bldP spid="381971" grpId="0"/>
      <p:bldP spid="381972" grpId="0"/>
      <p:bldP spid="381973"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8290" name="Rectangle 2"/>
          <p:cNvSpPr>
            <a:spLocks noChangeArrowheads="1"/>
          </p:cNvSpPr>
          <p:nvPr/>
        </p:nvSpPr>
        <p:spPr bwMode="auto">
          <a:xfrm>
            <a:off x="701675" y="455613"/>
            <a:ext cx="8118475" cy="866775"/>
          </a:xfrm>
          <a:prstGeom prst="rect">
            <a:avLst/>
          </a:prstGeom>
          <a:noFill/>
          <a:ln w="6350">
            <a:noFill/>
            <a:miter lim="800000"/>
            <a:headEnd/>
            <a:tailEnd/>
          </a:ln>
        </p:spPr>
        <p:txBody>
          <a:bodyPr lIns="12700" tIns="12700" rIns="12700" bIns="12700">
            <a:spAutoFit/>
          </a:bodyPr>
          <a:lstStyle/>
          <a:p>
            <a:pPr algn="just">
              <a:lnSpc>
                <a:spcPct val="115000"/>
              </a:lnSpc>
            </a:pPr>
            <a:r>
              <a:rPr kumimoji="1" lang="zh-CN" altLang="en-US" sz="2400" b="1">
                <a:solidFill>
                  <a:schemeClr val="tx2"/>
                </a:solidFill>
                <a:latin typeface="宋体" charset="-122"/>
              </a:rPr>
              <a:t>一容器内某理想气体的温度为 </a:t>
            </a:r>
            <a:r>
              <a:rPr kumimoji="1" lang="en-US" altLang="zh-CN" sz="2400" b="1">
                <a:solidFill>
                  <a:srgbClr val="FF3300"/>
                </a:solidFill>
                <a:latin typeface="Times New Roman" pitchFamily="18" charset="0"/>
              </a:rPr>
              <a:t>273K</a:t>
            </a:r>
            <a:r>
              <a:rPr kumimoji="1" lang="zh-CN" altLang="en-US" sz="2400" b="1">
                <a:solidFill>
                  <a:schemeClr val="tx2"/>
                </a:solidFill>
                <a:latin typeface="宋体" charset="-122"/>
              </a:rPr>
              <a:t>，密度为 </a:t>
            </a:r>
            <a:r>
              <a:rPr kumimoji="1" lang="en-US" altLang="zh-CN" sz="2400" b="1" i="1">
                <a:solidFill>
                  <a:srgbClr val="FF3300"/>
                </a:solidFill>
                <a:latin typeface="Symbol" pitchFamily="18" charset="2"/>
              </a:rPr>
              <a:t>r </a:t>
            </a:r>
            <a:r>
              <a:rPr kumimoji="1" lang="en-US" altLang="zh-CN" sz="2400" b="1" i="1">
                <a:solidFill>
                  <a:srgbClr val="FF3300"/>
                </a:solidFill>
                <a:latin typeface="Times New Roman" pitchFamily="18" charset="0"/>
              </a:rPr>
              <a:t>= </a:t>
            </a:r>
            <a:r>
              <a:rPr kumimoji="1" lang="en-US" altLang="zh-CN" sz="2400" b="1">
                <a:solidFill>
                  <a:srgbClr val="FF3300"/>
                </a:solidFill>
                <a:latin typeface="Times New Roman" pitchFamily="18" charset="0"/>
              </a:rPr>
              <a:t>1.25 g/m</a:t>
            </a:r>
            <a:r>
              <a:rPr kumimoji="1" lang="en-US" altLang="zh-CN" sz="2400" b="1" baseline="30000">
                <a:solidFill>
                  <a:srgbClr val="FF3300"/>
                </a:solidFill>
                <a:latin typeface="Times New Roman" pitchFamily="18" charset="0"/>
              </a:rPr>
              <a:t>3</a:t>
            </a:r>
            <a:r>
              <a:rPr kumimoji="1" lang="en-US" altLang="zh-CN" sz="2400" b="1" baseline="30000">
                <a:solidFill>
                  <a:schemeClr val="hlink"/>
                </a:solidFill>
                <a:latin typeface="Times New Roman" pitchFamily="18" charset="0"/>
              </a:rPr>
              <a:t> </a:t>
            </a:r>
            <a:r>
              <a:rPr kumimoji="1" lang="zh-CN" altLang="en-US" sz="2400" b="1">
                <a:latin typeface="Times New Roman" pitchFamily="18" charset="0"/>
              </a:rPr>
              <a:t>，</a:t>
            </a:r>
            <a:r>
              <a:rPr kumimoji="1" lang="zh-CN" altLang="en-US" sz="2400" b="1">
                <a:solidFill>
                  <a:schemeClr val="tx2"/>
                </a:solidFill>
                <a:latin typeface="宋体" charset="-122"/>
              </a:rPr>
              <a:t>压强为</a:t>
            </a:r>
            <a:r>
              <a:rPr kumimoji="1" lang="zh-CN" altLang="en-US" sz="2400" b="1" i="1">
                <a:solidFill>
                  <a:schemeClr val="tx2"/>
                </a:solidFill>
                <a:latin typeface="宋体" charset="-122"/>
              </a:rPr>
              <a:t> </a:t>
            </a:r>
            <a:r>
              <a:rPr kumimoji="1" lang="en-US" altLang="zh-CN" sz="2400" b="1" i="1">
                <a:solidFill>
                  <a:srgbClr val="FF3300"/>
                </a:solidFill>
                <a:latin typeface="Times New Roman" pitchFamily="18" charset="0"/>
              </a:rPr>
              <a:t>p </a:t>
            </a:r>
            <a:r>
              <a:rPr kumimoji="1" lang="en-US" altLang="zh-CN" sz="2400" b="1">
                <a:solidFill>
                  <a:srgbClr val="FF3300"/>
                </a:solidFill>
                <a:latin typeface="Times New Roman" pitchFamily="18" charset="0"/>
              </a:rPr>
              <a:t>= 1.0×10</a:t>
            </a:r>
            <a:r>
              <a:rPr kumimoji="1" lang="en-US" altLang="zh-CN" sz="2400" b="1" baseline="30000">
                <a:solidFill>
                  <a:srgbClr val="FF3300"/>
                </a:solidFill>
                <a:latin typeface="Times New Roman" pitchFamily="18" charset="0"/>
              </a:rPr>
              <a:t>-3 </a:t>
            </a:r>
            <a:r>
              <a:rPr kumimoji="1" lang="en-US" altLang="zh-CN" sz="2400" b="1">
                <a:solidFill>
                  <a:srgbClr val="FF3300"/>
                </a:solidFill>
                <a:latin typeface="Times New Roman" pitchFamily="18" charset="0"/>
              </a:rPr>
              <a:t>atm</a:t>
            </a:r>
          </a:p>
        </p:txBody>
      </p:sp>
      <p:sp>
        <p:nvSpPr>
          <p:cNvPr id="268291" name="Rectangle 3"/>
          <p:cNvSpPr>
            <a:spLocks noChangeArrowheads="1"/>
          </p:cNvSpPr>
          <p:nvPr/>
        </p:nvSpPr>
        <p:spPr bwMode="auto">
          <a:xfrm>
            <a:off x="804863" y="1506538"/>
            <a:ext cx="7813675" cy="1778000"/>
          </a:xfrm>
          <a:prstGeom prst="rect">
            <a:avLst/>
          </a:prstGeom>
          <a:noFill/>
          <a:ln w="6350">
            <a:noFill/>
            <a:miter lim="800000"/>
            <a:headEnd/>
            <a:tailEnd/>
          </a:ln>
        </p:spPr>
        <p:txBody>
          <a:bodyPr lIns="12700" tIns="12700" rIns="12700" bIns="12700">
            <a:spAutoFit/>
          </a:bodyPr>
          <a:lstStyle/>
          <a:p>
            <a:pPr algn="just" eaLnBrk="0" hangingPunct="0">
              <a:lnSpc>
                <a:spcPct val="120000"/>
              </a:lnSpc>
            </a:pPr>
            <a:r>
              <a:rPr kumimoji="1" lang="en-US" altLang="zh-CN" sz="2400" b="1">
                <a:solidFill>
                  <a:schemeClr val="tx2"/>
                </a:solidFill>
                <a:latin typeface="Times New Roman" pitchFamily="18" charset="0"/>
              </a:rPr>
              <a:t>(1)</a:t>
            </a:r>
            <a:r>
              <a:rPr kumimoji="1" lang="en-US" altLang="zh-CN" sz="2400" b="1">
                <a:solidFill>
                  <a:schemeClr val="tx2"/>
                </a:solidFill>
                <a:latin typeface="宋体" charset="-122"/>
              </a:rPr>
              <a:t> </a:t>
            </a:r>
            <a:r>
              <a:rPr kumimoji="1" lang="zh-CN" altLang="en-US" sz="2400" b="1">
                <a:solidFill>
                  <a:schemeClr val="tx2"/>
                </a:solidFill>
                <a:latin typeface="宋体" charset="-122"/>
              </a:rPr>
              <a:t>气体的摩尔质量，是何种气体？</a:t>
            </a:r>
          </a:p>
          <a:p>
            <a:pPr algn="just" eaLnBrk="0" hangingPunct="0">
              <a:lnSpc>
                <a:spcPct val="120000"/>
              </a:lnSpc>
            </a:pPr>
            <a:r>
              <a:rPr kumimoji="1" lang="en-US" altLang="zh-CN" sz="2400" b="1">
                <a:solidFill>
                  <a:schemeClr val="tx2"/>
                </a:solidFill>
                <a:latin typeface="Times New Roman" pitchFamily="18" charset="0"/>
              </a:rPr>
              <a:t>(2)</a:t>
            </a:r>
            <a:r>
              <a:rPr kumimoji="1" lang="en-US" altLang="zh-CN" sz="2400" b="1">
                <a:solidFill>
                  <a:schemeClr val="tx2"/>
                </a:solidFill>
                <a:latin typeface="宋体" charset="-122"/>
              </a:rPr>
              <a:t> </a:t>
            </a:r>
            <a:r>
              <a:rPr kumimoji="1" lang="zh-CN" altLang="en-US" sz="2400" b="1">
                <a:solidFill>
                  <a:schemeClr val="tx2"/>
                </a:solidFill>
                <a:latin typeface="宋体" charset="-122"/>
              </a:rPr>
              <a:t>气体分子的平均平动动能和平均转动动能？</a:t>
            </a:r>
          </a:p>
          <a:p>
            <a:pPr algn="just" eaLnBrk="0" hangingPunct="0">
              <a:lnSpc>
                <a:spcPct val="120000"/>
              </a:lnSpc>
            </a:pPr>
            <a:r>
              <a:rPr kumimoji="1" lang="en-US" altLang="zh-CN" sz="2400" b="1">
                <a:solidFill>
                  <a:schemeClr val="tx2"/>
                </a:solidFill>
                <a:latin typeface="Times New Roman" pitchFamily="18" charset="0"/>
              </a:rPr>
              <a:t>(3)</a:t>
            </a:r>
            <a:r>
              <a:rPr kumimoji="1" lang="en-US" altLang="zh-CN" sz="2400" b="1">
                <a:solidFill>
                  <a:schemeClr val="tx2"/>
                </a:solidFill>
                <a:latin typeface="宋体" charset="-122"/>
              </a:rPr>
              <a:t> </a:t>
            </a:r>
            <a:r>
              <a:rPr kumimoji="1" lang="zh-CN" altLang="en-US" sz="2400" b="1">
                <a:solidFill>
                  <a:schemeClr val="tx2"/>
                </a:solidFill>
                <a:latin typeface="宋体" charset="-122"/>
              </a:rPr>
              <a:t>单位体积内气体分子的总平动动能？</a:t>
            </a:r>
          </a:p>
          <a:p>
            <a:pPr algn="just" eaLnBrk="0" hangingPunct="0">
              <a:lnSpc>
                <a:spcPct val="120000"/>
              </a:lnSpc>
            </a:pPr>
            <a:r>
              <a:rPr kumimoji="1" lang="en-US" altLang="zh-CN" sz="2400" b="1">
                <a:solidFill>
                  <a:schemeClr val="tx2"/>
                </a:solidFill>
                <a:latin typeface="Times New Roman" pitchFamily="18" charset="0"/>
              </a:rPr>
              <a:t>(4)</a:t>
            </a:r>
            <a:r>
              <a:rPr kumimoji="1" lang="en-US" altLang="zh-CN" sz="2400" b="1">
                <a:solidFill>
                  <a:schemeClr val="tx2"/>
                </a:solidFill>
                <a:latin typeface="宋体" charset="-122"/>
              </a:rPr>
              <a:t> </a:t>
            </a:r>
            <a:r>
              <a:rPr kumimoji="1" lang="zh-CN" altLang="en-US" sz="2400" b="1">
                <a:solidFill>
                  <a:schemeClr val="tx2"/>
                </a:solidFill>
                <a:latin typeface="宋体" charset="-122"/>
              </a:rPr>
              <a:t>设该气体有 </a:t>
            </a:r>
            <a:r>
              <a:rPr kumimoji="1" lang="en-US" altLang="zh-CN" sz="2400" b="1">
                <a:solidFill>
                  <a:srgbClr val="FF3300"/>
                </a:solidFill>
                <a:latin typeface="Times New Roman" pitchFamily="18" charset="0"/>
              </a:rPr>
              <a:t>0.3 mol</a:t>
            </a:r>
            <a:r>
              <a:rPr kumimoji="1" lang="en-US" altLang="zh-CN" sz="2400" b="1">
                <a:solidFill>
                  <a:schemeClr val="hlink"/>
                </a:solidFill>
                <a:latin typeface="宋体" charset="-122"/>
              </a:rPr>
              <a:t> </a:t>
            </a:r>
            <a:r>
              <a:rPr kumimoji="1" lang="zh-CN" altLang="en-US" sz="2400" b="1">
                <a:solidFill>
                  <a:schemeClr val="tx2"/>
                </a:solidFill>
                <a:latin typeface="宋体" charset="-122"/>
              </a:rPr>
              <a:t>，气体的内能？</a:t>
            </a:r>
            <a:endParaRPr kumimoji="1" lang="zh-CN" altLang="en-US" sz="2400">
              <a:solidFill>
                <a:schemeClr val="tx2"/>
              </a:solidFill>
              <a:latin typeface="宋体" charset="-122"/>
            </a:endParaRPr>
          </a:p>
        </p:txBody>
      </p:sp>
      <p:sp>
        <p:nvSpPr>
          <p:cNvPr id="268292" name="Text Box 4"/>
          <p:cNvSpPr txBox="1">
            <a:spLocks noChangeArrowheads="1"/>
          </p:cNvSpPr>
          <p:nvPr/>
        </p:nvSpPr>
        <p:spPr bwMode="auto">
          <a:xfrm>
            <a:off x="250825" y="3600450"/>
            <a:ext cx="490538"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解</a:t>
            </a:r>
          </a:p>
        </p:txBody>
      </p:sp>
      <p:sp>
        <p:nvSpPr>
          <p:cNvPr id="268293" name="Text Box 5"/>
          <p:cNvSpPr txBox="1">
            <a:spLocks noChangeArrowheads="1"/>
          </p:cNvSpPr>
          <p:nvPr/>
        </p:nvSpPr>
        <p:spPr bwMode="auto">
          <a:xfrm>
            <a:off x="166688" y="404813"/>
            <a:ext cx="490537" cy="512762"/>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例</a:t>
            </a:r>
          </a:p>
        </p:txBody>
      </p:sp>
      <p:sp>
        <p:nvSpPr>
          <p:cNvPr id="268294" name="Text Box 6"/>
          <p:cNvSpPr txBox="1">
            <a:spLocks noChangeArrowheads="1"/>
          </p:cNvSpPr>
          <p:nvPr/>
        </p:nvSpPr>
        <p:spPr bwMode="auto">
          <a:xfrm>
            <a:off x="161925" y="1425575"/>
            <a:ext cx="490538"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宋体" charset="-122"/>
              </a:rPr>
              <a:t>求</a:t>
            </a:r>
          </a:p>
        </p:txBody>
      </p:sp>
      <p:graphicFrame>
        <p:nvGraphicFramePr>
          <p:cNvPr id="268295" name="Object 7"/>
          <p:cNvGraphicFramePr>
            <a:graphicFrameLocks noChangeAspect="1"/>
          </p:cNvGraphicFramePr>
          <p:nvPr/>
        </p:nvGraphicFramePr>
        <p:xfrm>
          <a:off x="2012950" y="4473575"/>
          <a:ext cx="1254125" cy="776288"/>
        </p:xfrm>
        <a:graphic>
          <a:graphicData uri="http://schemas.openxmlformats.org/presentationml/2006/ole">
            <p:oleObj spid="_x0000_s33794" name="公式" r:id="rId3" imgW="698400" imgH="431640" progId="Equation.3">
              <p:embed/>
            </p:oleObj>
          </a:graphicData>
        </a:graphic>
      </p:graphicFrame>
      <p:sp>
        <p:nvSpPr>
          <p:cNvPr id="268296" name="Rectangle 8"/>
          <p:cNvSpPr>
            <a:spLocks noChangeArrowheads="1"/>
          </p:cNvSpPr>
          <p:nvPr/>
        </p:nvSpPr>
        <p:spPr bwMode="auto">
          <a:xfrm flipH="1">
            <a:off x="1344613" y="5554663"/>
            <a:ext cx="7097712" cy="412750"/>
          </a:xfrm>
          <a:prstGeom prst="rect">
            <a:avLst/>
          </a:prstGeom>
          <a:noFill/>
          <a:ln w="6350">
            <a:noFill/>
            <a:miter lim="800000"/>
            <a:headEnd/>
            <a:tailEnd/>
          </a:ln>
        </p:spPr>
        <p:txBody>
          <a:bodyPr lIns="12700" tIns="12700" rIns="12700" bIns="12700">
            <a:spAutoFit/>
          </a:bodyPr>
          <a:lstStyle/>
          <a:p>
            <a:pPr algn="just">
              <a:lnSpc>
                <a:spcPct val="115000"/>
              </a:lnSpc>
              <a:defRPr/>
            </a:pPr>
            <a:r>
              <a:rPr kumimoji="1" lang="zh-CN" altLang="en-US" sz="2400" b="1">
                <a:latin typeface="Times New Roman" pitchFamily="18" charset="0"/>
                <a:ea typeface="+mn-ea"/>
                <a:cs typeface="Times New Roman" pitchFamily="18" charset="0"/>
              </a:rPr>
              <a:t>由结果可知，这是 </a:t>
            </a:r>
            <a:r>
              <a:rPr kumimoji="1" lang="en-US" altLang="zh-CN" sz="2400" b="1">
                <a:solidFill>
                  <a:srgbClr val="FF3300"/>
                </a:solidFill>
                <a:latin typeface="Times New Roman" pitchFamily="18" charset="0"/>
                <a:ea typeface="+mn-ea"/>
                <a:cs typeface="Times New Roman" pitchFamily="18" charset="0"/>
              </a:rPr>
              <a:t>N</a:t>
            </a:r>
            <a:r>
              <a:rPr kumimoji="1" lang="en-US" altLang="zh-CN" sz="2400" b="1" baseline="-25000">
                <a:solidFill>
                  <a:srgbClr val="FF3300"/>
                </a:solidFill>
                <a:latin typeface="Times New Roman" pitchFamily="18" charset="0"/>
                <a:ea typeface="+mn-ea"/>
                <a:cs typeface="Times New Roman" pitchFamily="18" charset="0"/>
              </a:rPr>
              <a:t>2 </a:t>
            </a:r>
            <a:r>
              <a:rPr kumimoji="1" lang="en-US" altLang="zh-CN" sz="2400" b="1" baseline="-25000">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或 </a:t>
            </a:r>
            <a:r>
              <a:rPr kumimoji="1" lang="en-US" altLang="zh-CN" sz="2400" b="1">
                <a:solidFill>
                  <a:srgbClr val="FF3300"/>
                </a:solidFill>
                <a:latin typeface="Times New Roman" pitchFamily="18" charset="0"/>
                <a:ea typeface="+mn-ea"/>
                <a:cs typeface="Times New Roman" pitchFamily="18" charset="0"/>
              </a:rPr>
              <a:t>CO </a:t>
            </a:r>
            <a:r>
              <a:rPr kumimoji="1" lang="zh-CN" altLang="en-US" sz="2400" b="1">
                <a:latin typeface="Times New Roman" pitchFamily="18" charset="0"/>
                <a:ea typeface="+mn-ea"/>
                <a:cs typeface="Times New Roman" pitchFamily="18" charset="0"/>
              </a:rPr>
              <a:t>气体。 </a:t>
            </a:r>
          </a:p>
        </p:txBody>
      </p:sp>
      <p:sp>
        <p:nvSpPr>
          <p:cNvPr id="268297" name="Rectangle 9"/>
          <p:cNvSpPr>
            <a:spLocks noChangeArrowheads="1"/>
          </p:cNvSpPr>
          <p:nvPr/>
        </p:nvSpPr>
        <p:spPr bwMode="auto">
          <a:xfrm>
            <a:off x="755650" y="3640138"/>
            <a:ext cx="3703638" cy="479425"/>
          </a:xfrm>
          <a:prstGeom prst="rect">
            <a:avLst/>
          </a:prstGeom>
          <a:noFill/>
          <a:ln w="9525">
            <a:noFill/>
            <a:miter lim="800000"/>
            <a:headEnd/>
            <a:tailEnd/>
          </a:ln>
        </p:spPr>
        <p:txBody>
          <a:bodyPr wrap="none" anchor="ctr">
            <a:spAutoFit/>
          </a:bodyPr>
          <a:lstStyle/>
          <a:p>
            <a:pPr>
              <a:lnSpc>
                <a:spcPct val="115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由                         ，有 </a:t>
            </a:r>
          </a:p>
        </p:txBody>
      </p:sp>
      <p:graphicFrame>
        <p:nvGraphicFramePr>
          <p:cNvPr id="268298" name="Object 10"/>
          <p:cNvGraphicFramePr>
            <a:graphicFrameLocks noChangeAspect="1"/>
          </p:cNvGraphicFramePr>
          <p:nvPr/>
        </p:nvGraphicFramePr>
        <p:xfrm>
          <a:off x="1906588" y="3573463"/>
          <a:ext cx="1450975" cy="690562"/>
        </p:xfrm>
        <a:graphic>
          <a:graphicData uri="http://schemas.openxmlformats.org/presentationml/2006/ole">
            <p:oleObj spid="_x0000_s33795" name="公式" r:id="rId4" imgW="850680" imgH="406080" progId="Equation.3">
              <p:embed/>
            </p:oleObj>
          </a:graphicData>
        </a:graphic>
      </p:graphicFrame>
      <p:graphicFrame>
        <p:nvGraphicFramePr>
          <p:cNvPr id="268299" name="Object 11"/>
          <p:cNvGraphicFramePr>
            <a:graphicFrameLocks noChangeAspect="1"/>
          </p:cNvGraphicFramePr>
          <p:nvPr/>
        </p:nvGraphicFramePr>
        <p:xfrm>
          <a:off x="3311525" y="4440238"/>
          <a:ext cx="4656138" cy="754062"/>
        </p:xfrm>
        <a:graphic>
          <a:graphicData uri="http://schemas.openxmlformats.org/presentationml/2006/ole">
            <p:oleObj spid="_x0000_s33796" name="公式" r:id="rId5" imgW="2590560" imgH="419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left)">
                                      <p:cBhvr>
                                        <p:cTn id="7" dur="500"/>
                                        <p:tgtEl>
                                          <p:spTgt spid="26829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8290"/>
                                        </p:tgtEl>
                                        <p:attrNameLst>
                                          <p:attrName>style.visibility</p:attrName>
                                        </p:attrNameLst>
                                      </p:cBhvr>
                                      <p:to>
                                        <p:strVal val="visible"/>
                                      </p:to>
                                    </p:set>
                                    <p:animEffect transition="in" filter="wipe(left)">
                                      <p:cBhvr>
                                        <p:cTn id="11" dur="500"/>
                                        <p:tgtEl>
                                          <p:spTgt spid="26829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8294"/>
                                        </p:tgtEl>
                                        <p:attrNameLst>
                                          <p:attrName>style.visibility</p:attrName>
                                        </p:attrNameLst>
                                      </p:cBhvr>
                                      <p:to>
                                        <p:strVal val="visible"/>
                                      </p:to>
                                    </p:set>
                                    <p:animEffect transition="in" filter="wipe(left)">
                                      <p:cBhvr>
                                        <p:cTn id="16" dur="500"/>
                                        <p:tgtEl>
                                          <p:spTgt spid="26829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68291"/>
                                        </p:tgtEl>
                                        <p:attrNameLst>
                                          <p:attrName>style.visibility</p:attrName>
                                        </p:attrNameLst>
                                      </p:cBhvr>
                                      <p:to>
                                        <p:strVal val="visible"/>
                                      </p:to>
                                    </p:set>
                                    <p:animEffect transition="in" filter="wipe(left)">
                                      <p:cBhvr>
                                        <p:cTn id="20" dur="500"/>
                                        <p:tgtEl>
                                          <p:spTgt spid="26829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8292"/>
                                        </p:tgtEl>
                                        <p:attrNameLst>
                                          <p:attrName>style.visibility</p:attrName>
                                        </p:attrNameLst>
                                      </p:cBhvr>
                                      <p:to>
                                        <p:strVal val="visible"/>
                                      </p:to>
                                    </p:set>
                                    <p:animEffect transition="in" filter="wipe(left)">
                                      <p:cBhvr>
                                        <p:cTn id="25" dur="500"/>
                                        <p:tgtEl>
                                          <p:spTgt spid="26829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8297"/>
                                        </p:tgtEl>
                                        <p:attrNameLst>
                                          <p:attrName>style.visibility</p:attrName>
                                        </p:attrNameLst>
                                      </p:cBhvr>
                                      <p:to>
                                        <p:strVal val="visible"/>
                                      </p:to>
                                    </p:set>
                                    <p:animEffect transition="in" filter="wipe(left)">
                                      <p:cBhvr>
                                        <p:cTn id="30" dur="500"/>
                                        <p:tgtEl>
                                          <p:spTgt spid="268297"/>
                                        </p:tgtEl>
                                      </p:cBhvr>
                                    </p:animEffect>
                                  </p:childTnLst>
                                </p:cTn>
                              </p:par>
                              <p:par>
                                <p:cTn id="31" presetID="22" presetClass="entr" presetSubtype="8" fill="hold" nodeType="withEffect">
                                  <p:stCondLst>
                                    <p:cond delay="0"/>
                                  </p:stCondLst>
                                  <p:childTnLst>
                                    <p:set>
                                      <p:cBhvr>
                                        <p:cTn id="32" dur="1" fill="hold">
                                          <p:stCondLst>
                                            <p:cond delay="0"/>
                                          </p:stCondLst>
                                        </p:cTn>
                                        <p:tgtEl>
                                          <p:spTgt spid="268298"/>
                                        </p:tgtEl>
                                        <p:attrNameLst>
                                          <p:attrName>style.visibility</p:attrName>
                                        </p:attrNameLst>
                                      </p:cBhvr>
                                      <p:to>
                                        <p:strVal val="visible"/>
                                      </p:to>
                                    </p:set>
                                    <p:animEffect transition="in" filter="wipe(left)">
                                      <p:cBhvr>
                                        <p:cTn id="33" dur="500"/>
                                        <p:tgtEl>
                                          <p:spTgt spid="26829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68295"/>
                                        </p:tgtEl>
                                        <p:attrNameLst>
                                          <p:attrName>style.visibility</p:attrName>
                                        </p:attrNameLst>
                                      </p:cBhvr>
                                      <p:to>
                                        <p:strVal val="visible"/>
                                      </p:to>
                                    </p:set>
                                    <p:animEffect transition="in" filter="wipe(left)">
                                      <p:cBhvr>
                                        <p:cTn id="38" dur="500"/>
                                        <p:tgtEl>
                                          <p:spTgt spid="26829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68299"/>
                                        </p:tgtEl>
                                        <p:attrNameLst>
                                          <p:attrName>style.visibility</p:attrName>
                                        </p:attrNameLst>
                                      </p:cBhvr>
                                      <p:to>
                                        <p:strVal val="visible"/>
                                      </p:to>
                                    </p:set>
                                    <p:animEffect transition="in" filter="wipe(left)">
                                      <p:cBhvr>
                                        <p:cTn id="43" dur="500"/>
                                        <p:tgtEl>
                                          <p:spTgt spid="26829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68296"/>
                                        </p:tgtEl>
                                        <p:attrNameLst>
                                          <p:attrName>style.visibility</p:attrName>
                                        </p:attrNameLst>
                                      </p:cBhvr>
                                      <p:to>
                                        <p:strVal val="visible"/>
                                      </p:to>
                                    </p:set>
                                    <p:animEffect transition="in" filter="wipe(left)">
                                      <p:cBhvr>
                                        <p:cTn id="48" dur="500"/>
                                        <p:tgtEl>
                                          <p:spTgt spid="268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autoUpdateAnimBg="0"/>
      <p:bldP spid="268291" grpId="0"/>
      <p:bldP spid="268292" grpId="0"/>
      <p:bldP spid="268293" grpId="0"/>
      <p:bldP spid="268294" grpId="0"/>
      <p:bldP spid="268296" grpId="0" autoUpdateAnimBg="0"/>
      <p:bldP spid="268297"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4" name="Rectangle 2"/>
          <p:cNvSpPr>
            <a:spLocks noChangeArrowheads="1"/>
          </p:cNvSpPr>
          <p:nvPr/>
        </p:nvSpPr>
        <p:spPr bwMode="auto">
          <a:xfrm>
            <a:off x="611188" y="596900"/>
            <a:ext cx="6073775" cy="412750"/>
          </a:xfrm>
          <a:prstGeom prst="rect">
            <a:avLst/>
          </a:prstGeom>
          <a:noFill/>
          <a:ln w="6350">
            <a:noFill/>
            <a:miter lim="800000"/>
            <a:headEnd/>
            <a:tailEnd/>
          </a:ln>
        </p:spPr>
        <p:txBody>
          <a:bodyPr lIns="12700" tIns="12700" rIns="12700" bIns="12700">
            <a:spAutoFit/>
          </a:bodyPr>
          <a:lstStyle/>
          <a:p>
            <a:pPr algn="just">
              <a:lnSpc>
                <a:spcPct val="115000"/>
              </a:lnSpc>
              <a:defRPr/>
            </a:pPr>
            <a:r>
              <a:rPr kumimoji="1" lang="en-US" altLang="zh-CN" sz="2400" b="1" dirty="0">
                <a:solidFill>
                  <a:schemeClr val="tx2"/>
                </a:solidFill>
                <a:latin typeface="Times New Roman" pitchFamily="18" charset="0"/>
                <a:ea typeface="+mn-ea"/>
                <a:cs typeface="Times New Roman" pitchFamily="18" charset="0"/>
              </a:rPr>
              <a:t>(2)  </a:t>
            </a:r>
            <a:r>
              <a:rPr kumimoji="1" lang="zh-CN" altLang="en-US" sz="2400" b="1" dirty="0">
                <a:solidFill>
                  <a:schemeClr val="tx2"/>
                </a:solidFill>
                <a:latin typeface="Times New Roman" pitchFamily="18" charset="0"/>
                <a:ea typeface="+mn-ea"/>
                <a:cs typeface="Times New Roman" pitchFamily="18" charset="0"/>
              </a:rPr>
              <a:t>平均平动动能和平均转动动能为 </a:t>
            </a:r>
          </a:p>
        </p:txBody>
      </p:sp>
      <p:graphicFrame>
        <p:nvGraphicFramePr>
          <p:cNvPr id="269315" name="Object 3"/>
          <p:cNvGraphicFramePr>
            <a:graphicFrameLocks noChangeAspect="1"/>
          </p:cNvGraphicFramePr>
          <p:nvPr/>
        </p:nvGraphicFramePr>
        <p:xfrm>
          <a:off x="1331913" y="1089025"/>
          <a:ext cx="1143000" cy="730250"/>
        </p:xfrm>
        <a:graphic>
          <a:graphicData uri="http://schemas.openxmlformats.org/presentationml/2006/ole">
            <p:oleObj spid="_x0000_s34818" name="公式" r:id="rId3" imgW="634680" imgH="406080" progId="Equation.3">
              <p:embed/>
            </p:oleObj>
          </a:graphicData>
        </a:graphic>
      </p:graphicFrame>
      <p:graphicFrame>
        <p:nvGraphicFramePr>
          <p:cNvPr id="34819" name="Object 4"/>
          <p:cNvGraphicFramePr>
            <a:graphicFrameLocks noChangeAspect="1"/>
          </p:cNvGraphicFramePr>
          <p:nvPr/>
        </p:nvGraphicFramePr>
        <p:xfrm>
          <a:off x="4476750" y="1233488"/>
          <a:ext cx="190500" cy="419100"/>
        </p:xfrm>
        <a:graphic>
          <a:graphicData uri="http://schemas.openxmlformats.org/presentationml/2006/ole">
            <p:oleObj spid="_x0000_s34819" name="公式" r:id="rId4" imgW="190440" imgH="419040" progId="Equation.3">
              <p:embed/>
            </p:oleObj>
          </a:graphicData>
        </a:graphic>
      </p:graphicFrame>
      <p:graphicFrame>
        <p:nvGraphicFramePr>
          <p:cNvPr id="269317" name="Object 5"/>
          <p:cNvGraphicFramePr>
            <a:graphicFrameLocks noChangeAspect="1"/>
          </p:cNvGraphicFramePr>
          <p:nvPr/>
        </p:nvGraphicFramePr>
        <p:xfrm>
          <a:off x="1331913" y="1962150"/>
          <a:ext cx="962025" cy="385763"/>
        </p:xfrm>
        <a:graphic>
          <a:graphicData uri="http://schemas.openxmlformats.org/presentationml/2006/ole">
            <p:oleObj spid="_x0000_s34820" name="公式" r:id="rId5" imgW="533160" imgH="215640" progId="Equation.3">
              <p:embed/>
            </p:oleObj>
          </a:graphicData>
        </a:graphic>
      </p:graphicFrame>
      <p:sp>
        <p:nvSpPr>
          <p:cNvPr id="269318" name="Rectangle 6"/>
          <p:cNvSpPr>
            <a:spLocks noChangeArrowheads="1"/>
          </p:cNvSpPr>
          <p:nvPr/>
        </p:nvSpPr>
        <p:spPr bwMode="auto">
          <a:xfrm>
            <a:off x="701675" y="2573338"/>
            <a:ext cx="7688263" cy="412750"/>
          </a:xfrm>
          <a:prstGeom prst="rect">
            <a:avLst/>
          </a:prstGeom>
          <a:noFill/>
          <a:ln w="6350">
            <a:noFill/>
            <a:miter lim="800000"/>
            <a:headEnd/>
            <a:tailEnd/>
          </a:ln>
        </p:spPr>
        <p:txBody>
          <a:bodyPr lIns="12700" tIns="12700" rIns="12700" bIns="12700">
            <a:spAutoFit/>
          </a:bodyPr>
          <a:lstStyle/>
          <a:p>
            <a:pPr eaLnBrk="0" hangingPunct="0">
              <a:lnSpc>
                <a:spcPct val="115000"/>
              </a:lnSpc>
              <a:defRPr/>
            </a:pPr>
            <a:r>
              <a:rPr kumimoji="1" lang="en-US" altLang="zh-CN" sz="2400" b="1">
                <a:solidFill>
                  <a:schemeClr val="tx2"/>
                </a:solidFill>
                <a:latin typeface="Times New Roman" pitchFamily="18" charset="0"/>
                <a:ea typeface="+mn-ea"/>
                <a:cs typeface="Times New Roman" pitchFamily="18" charset="0"/>
              </a:rPr>
              <a:t>(3)  </a:t>
            </a:r>
            <a:r>
              <a:rPr kumimoji="1" lang="zh-CN" altLang="en-US" sz="2400" b="1">
                <a:solidFill>
                  <a:schemeClr val="tx2"/>
                </a:solidFill>
                <a:latin typeface="Times New Roman" pitchFamily="18" charset="0"/>
                <a:ea typeface="+mn-ea"/>
                <a:cs typeface="Times New Roman" pitchFamily="18" charset="0"/>
              </a:rPr>
              <a:t>单位体积内气体分子的总平动动能为 </a:t>
            </a:r>
          </a:p>
        </p:txBody>
      </p:sp>
      <p:graphicFrame>
        <p:nvGraphicFramePr>
          <p:cNvPr id="269319" name="Object 7"/>
          <p:cNvGraphicFramePr>
            <a:graphicFrameLocks noChangeAspect="1"/>
          </p:cNvGraphicFramePr>
          <p:nvPr/>
        </p:nvGraphicFramePr>
        <p:xfrm>
          <a:off x="1331913" y="3317875"/>
          <a:ext cx="1189037" cy="412750"/>
        </p:xfrm>
        <a:graphic>
          <a:graphicData uri="http://schemas.openxmlformats.org/presentationml/2006/ole">
            <p:oleObj spid="_x0000_s34821" name="公式" r:id="rId6" imgW="660240" imgH="228600" progId="Equation.3">
              <p:embed/>
            </p:oleObj>
          </a:graphicData>
        </a:graphic>
      </p:graphicFrame>
      <p:graphicFrame>
        <p:nvGraphicFramePr>
          <p:cNvPr id="269320" name="Object 8"/>
          <p:cNvGraphicFramePr>
            <a:graphicFrameLocks noChangeAspect="1"/>
          </p:cNvGraphicFramePr>
          <p:nvPr/>
        </p:nvGraphicFramePr>
        <p:xfrm>
          <a:off x="1422400" y="5621338"/>
          <a:ext cx="1692275" cy="733425"/>
        </p:xfrm>
        <a:graphic>
          <a:graphicData uri="http://schemas.openxmlformats.org/presentationml/2006/ole">
            <p:oleObj spid="_x0000_s34822" name="公式" r:id="rId7" imgW="939600" imgH="406080" progId="Equation.3">
              <p:embed/>
            </p:oleObj>
          </a:graphicData>
        </a:graphic>
      </p:graphicFrame>
      <p:sp>
        <p:nvSpPr>
          <p:cNvPr id="269321" name="Rectangle 9"/>
          <p:cNvSpPr>
            <a:spLocks noChangeArrowheads="1"/>
          </p:cNvSpPr>
          <p:nvPr/>
        </p:nvSpPr>
        <p:spPr bwMode="auto">
          <a:xfrm>
            <a:off x="820738" y="4918075"/>
            <a:ext cx="5326062" cy="412750"/>
          </a:xfrm>
          <a:prstGeom prst="rect">
            <a:avLst/>
          </a:prstGeom>
          <a:noFill/>
          <a:ln w="6350">
            <a:noFill/>
            <a:miter lim="800000"/>
            <a:headEnd/>
            <a:tailEnd/>
          </a:ln>
        </p:spPr>
        <p:txBody>
          <a:bodyPr lIns="12700" tIns="12700" rIns="12700" bIns="12700">
            <a:spAutoFit/>
          </a:bodyPr>
          <a:lstStyle/>
          <a:p>
            <a:pPr eaLnBrk="0" hangingPunct="0">
              <a:lnSpc>
                <a:spcPct val="115000"/>
              </a:lnSpc>
              <a:defRPr/>
            </a:pPr>
            <a:r>
              <a:rPr kumimoji="1" lang="en-US" altLang="zh-CN" sz="2400" b="1">
                <a:solidFill>
                  <a:schemeClr val="tx2"/>
                </a:solidFill>
                <a:latin typeface="Times New Roman" pitchFamily="18" charset="0"/>
                <a:ea typeface="+mn-ea"/>
                <a:cs typeface="Times New Roman" pitchFamily="18" charset="0"/>
              </a:rPr>
              <a:t>(4)  </a:t>
            </a:r>
            <a:r>
              <a:rPr kumimoji="1" lang="zh-CN" altLang="en-US" sz="2400" b="1">
                <a:solidFill>
                  <a:schemeClr val="tx2"/>
                </a:solidFill>
                <a:latin typeface="Times New Roman" pitchFamily="18" charset="0"/>
                <a:ea typeface="+mn-ea"/>
                <a:cs typeface="Times New Roman" pitchFamily="18" charset="0"/>
              </a:rPr>
              <a:t>由气体的内能公式，有</a:t>
            </a:r>
          </a:p>
        </p:txBody>
      </p:sp>
      <p:graphicFrame>
        <p:nvGraphicFramePr>
          <p:cNvPr id="269323" name="Object 11"/>
          <p:cNvGraphicFramePr>
            <a:graphicFrameLocks noChangeAspect="1"/>
          </p:cNvGraphicFramePr>
          <p:nvPr/>
        </p:nvGraphicFramePr>
        <p:xfrm>
          <a:off x="2546350" y="1089025"/>
          <a:ext cx="4365625" cy="730250"/>
        </p:xfrm>
        <a:graphic>
          <a:graphicData uri="http://schemas.openxmlformats.org/presentationml/2006/ole">
            <p:oleObj spid="_x0000_s34823" name="公式" r:id="rId8" imgW="2425680" imgH="406080" progId="Equation.3">
              <p:embed/>
            </p:oleObj>
          </a:graphicData>
        </a:graphic>
      </p:graphicFrame>
      <p:graphicFrame>
        <p:nvGraphicFramePr>
          <p:cNvPr id="269324" name="Object 12"/>
          <p:cNvGraphicFramePr>
            <a:graphicFrameLocks noChangeAspect="1"/>
          </p:cNvGraphicFramePr>
          <p:nvPr/>
        </p:nvGraphicFramePr>
        <p:xfrm>
          <a:off x="2366963" y="1943100"/>
          <a:ext cx="3983037" cy="363538"/>
        </p:xfrm>
        <a:graphic>
          <a:graphicData uri="http://schemas.openxmlformats.org/presentationml/2006/ole">
            <p:oleObj spid="_x0000_s34824" name="公式" r:id="rId9" imgW="2209680" imgH="203040" progId="Equation.3">
              <p:embed/>
            </p:oleObj>
          </a:graphicData>
        </a:graphic>
      </p:graphicFrame>
      <p:graphicFrame>
        <p:nvGraphicFramePr>
          <p:cNvPr id="269325" name="Object 13"/>
          <p:cNvGraphicFramePr>
            <a:graphicFrameLocks noChangeAspect="1"/>
          </p:cNvGraphicFramePr>
          <p:nvPr/>
        </p:nvGraphicFramePr>
        <p:xfrm>
          <a:off x="1758950" y="3968750"/>
          <a:ext cx="5692775" cy="752475"/>
        </p:xfrm>
        <a:graphic>
          <a:graphicData uri="http://schemas.openxmlformats.org/presentationml/2006/ole">
            <p:oleObj spid="_x0000_s34825" name="公式" r:id="rId10" imgW="3162240" imgH="419040" progId="Equation.3">
              <p:embed/>
            </p:oleObj>
          </a:graphicData>
        </a:graphic>
      </p:graphicFrame>
      <p:graphicFrame>
        <p:nvGraphicFramePr>
          <p:cNvPr id="269326" name="Object 14"/>
          <p:cNvGraphicFramePr>
            <a:graphicFrameLocks noChangeAspect="1"/>
          </p:cNvGraphicFramePr>
          <p:nvPr/>
        </p:nvGraphicFramePr>
        <p:xfrm>
          <a:off x="2681288" y="3146425"/>
          <a:ext cx="1052512" cy="731838"/>
        </p:xfrm>
        <a:graphic>
          <a:graphicData uri="http://schemas.openxmlformats.org/presentationml/2006/ole">
            <p:oleObj spid="_x0000_s34826" name="公式" r:id="rId11" imgW="583920" imgH="406080" progId="Equation.3">
              <p:embed/>
            </p:oleObj>
          </a:graphicData>
        </a:graphic>
      </p:graphicFrame>
      <p:graphicFrame>
        <p:nvGraphicFramePr>
          <p:cNvPr id="269327" name="Object 15"/>
          <p:cNvGraphicFramePr>
            <a:graphicFrameLocks noChangeAspect="1"/>
          </p:cNvGraphicFramePr>
          <p:nvPr/>
        </p:nvGraphicFramePr>
        <p:xfrm>
          <a:off x="3201988" y="5621338"/>
          <a:ext cx="4025900" cy="733425"/>
        </p:xfrm>
        <a:graphic>
          <a:graphicData uri="http://schemas.openxmlformats.org/presentationml/2006/ole">
            <p:oleObj spid="_x0000_s34827" name="公式" r:id="rId12" imgW="2234880" imgH="406080" progId="Equation.3">
              <p:embed/>
            </p:oleObj>
          </a:graphicData>
        </a:graphic>
      </p:graphicFrame>
      <p:sp>
        <p:nvSpPr>
          <p:cNvPr id="269329" name="AutoShape 17">
            <a:hlinkClick r:id="rId13" action="ppaction://hlinksldjump" highlightClick="1"/>
          </p:cNvPr>
          <p:cNvSpPr>
            <a:spLocks noChangeArrowheads="1"/>
          </p:cNvSpPr>
          <p:nvPr/>
        </p:nvSpPr>
        <p:spPr bwMode="auto">
          <a:xfrm>
            <a:off x="8650288" y="6202363"/>
            <a:ext cx="287337" cy="287337"/>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9314"/>
                                        </p:tgtEl>
                                        <p:attrNameLst>
                                          <p:attrName>style.visibility</p:attrName>
                                        </p:attrNameLst>
                                      </p:cBhvr>
                                      <p:to>
                                        <p:strVal val="visible"/>
                                      </p:to>
                                    </p:set>
                                    <p:animEffect transition="in" filter="wipe(left)">
                                      <p:cBhvr>
                                        <p:cTn id="7" dur="500"/>
                                        <p:tgtEl>
                                          <p:spTgt spid="2693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9315"/>
                                        </p:tgtEl>
                                        <p:attrNameLst>
                                          <p:attrName>style.visibility</p:attrName>
                                        </p:attrNameLst>
                                      </p:cBhvr>
                                      <p:to>
                                        <p:strVal val="visible"/>
                                      </p:to>
                                    </p:set>
                                    <p:animEffect transition="in" filter="wipe(left)">
                                      <p:cBhvr>
                                        <p:cTn id="12" dur="500"/>
                                        <p:tgtEl>
                                          <p:spTgt spid="2693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9323"/>
                                        </p:tgtEl>
                                        <p:attrNameLst>
                                          <p:attrName>style.visibility</p:attrName>
                                        </p:attrNameLst>
                                      </p:cBhvr>
                                      <p:to>
                                        <p:strVal val="visible"/>
                                      </p:to>
                                    </p:set>
                                    <p:animEffect transition="in" filter="wipe(left)">
                                      <p:cBhvr>
                                        <p:cTn id="17" dur="500"/>
                                        <p:tgtEl>
                                          <p:spTgt spid="2693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9317"/>
                                        </p:tgtEl>
                                        <p:attrNameLst>
                                          <p:attrName>style.visibility</p:attrName>
                                        </p:attrNameLst>
                                      </p:cBhvr>
                                      <p:to>
                                        <p:strVal val="visible"/>
                                      </p:to>
                                    </p:set>
                                    <p:animEffect transition="in" filter="wipe(left)">
                                      <p:cBhvr>
                                        <p:cTn id="22" dur="500"/>
                                        <p:tgtEl>
                                          <p:spTgt spid="2693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9324"/>
                                        </p:tgtEl>
                                        <p:attrNameLst>
                                          <p:attrName>style.visibility</p:attrName>
                                        </p:attrNameLst>
                                      </p:cBhvr>
                                      <p:to>
                                        <p:strVal val="visible"/>
                                      </p:to>
                                    </p:set>
                                    <p:animEffect transition="in" filter="wipe(left)">
                                      <p:cBhvr>
                                        <p:cTn id="27" dur="500"/>
                                        <p:tgtEl>
                                          <p:spTgt spid="2693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9318"/>
                                        </p:tgtEl>
                                        <p:attrNameLst>
                                          <p:attrName>style.visibility</p:attrName>
                                        </p:attrNameLst>
                                      </p:cBhvr>
                                      <p:to>
                                        <p:strVal val="visible"/>
                                      </p:to>
                                    </p:set>
                                    <p:animEffect transition="in" filter="wipe(left)">
                                      <p:cBhvr>
                                        <p:cTn id="32" dur="500"/>
                                        <p:tgtEl>
                                          <p:spTgt spid="2693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9319"/>
                                        </p:tgtEl>
                                        <p:attrNameLst>
                                          <p:attrName>style.visibility</p:attrName>
                                        </p:attrNameLst>
                                      </p:cBhvr>
                                      <p:to>
                                        <p:strVal val="visible"/>
                                      </p:to>
                                    </p:set>
                                    <p:animEffect transition="in" filter="wipe(left)">
                                      <p:cBhvr>
                                        <p:cTn id="37" dur="500"/>
                                        <p:tgtEl>
                                          <p:spTgt spid="269319"/>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69326"/>
                                        </p:tgtEl>
                                        <p:attrNameLst>
                                          <p:attrName>style.visibility</p:attrName>
                                        </p:attrNameLst>
                                      </p:cBhvr>
                                      <p:to>
                                        <p:strVal val="visible"/>
                                      </p:to>
                                    </p:set>
                                    <p:animEffect transition="in" filter="wipe(left)">
                                      <p:cBhvr>
                                        <p:cTn id="41" dur="500"/>
                                        <p:tgtEl>
                                          <p:spTgt spid="26932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69325"/>
                                        </p:tgtEl>
                                        <p:attrNameLst>
                                          <p:attrName>style.visibility</p:attrName>
                                        </p:attrNameLst>
                                      </p:cBhvr>
                                      <p:to>
                                        <p:strVal val="visible"/>
                                      </p:to>
                                    </p:set>
                                    <p:animEffect transition="in" filter="wipe(left)">
                                      <p:cBhvr>
                                        <p:cTn id="46" dur="500"/>
                                        <p:tgtEl>
                                          <p:spTgt spid="26932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9321"/>
                                        </p:tgtEl>
                                        <p:attrNameLst>
                                          <p:attrName>style.visibility</p:attrName>
                                        </p:attrNameLst>
                                      </p:cBhvr>
                                      <p:to>
                                        <p:strVal val="visible"/>
                                      </p:to>
                                    </p:set>
                                    <p:animEffect transition="in" filter="wipe(left)">
                                      <p:cBhvr>
                                        <p:cTn id="51" dur="500"/>
                                        <p:tgtEl>
                                          <p:spTgt spid="26932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69320"/>
                                        </p:tgtEl>
                                        <p:attrNameLst>
                                          <p:attrName>style.visibility</p:attrName>
                                        </p:attrNameLst>
                                      </p:cBhvr>
                                      <p:to>
                                        <p:strVal val="visible"/>
                                      </p:to>
                                    </p:set>
                                    <p:animEffect transition="in" filter="wipe(left)">
                                      <p:cBhvr>
                                        <p:cTn id="56" dur="500"/>
                                        <p:tgtEl>
                                          <p:spTgt spid="2693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9327"/>
                                        </p:tgtEl>
                                        <p:attrNameLst>
                                          <p:attrName>style.visibility</p:attrName>
                                        </p:attrNameLst>
                                      </p:cBhvr>
                                      <p:to>
                                        <p:strVal val="visible"/>
                                      </p:to>
                                    </p:set>
                                    <p:animEffect transition="in" filter="wipe(left)">
                                      <p:cBhvr>
                                        <p:cTn id="61" dur="500"/>
                                        <p:tgtEl>
                                          <p:spTgt spid="26932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69329"/>
                                        </p:tgtEl>
                                        <p:attrNameLst>
                                          <p:attrName>style.visibility</p:attrName>
                                        </p:attrNameLst>
                                      </p:cBhvr>
                                      <p:to>
                                        <p:strVal val="visible"/>
                                      </p:to>
                                    </p:set>
                                    <p:animEffect transition="in" filter="wipe(left)">
                                      <p:cBhvr>
                                        <p:cTn id="66" dur="500"/>
                                        <p:tgtEl>
                                          <p:spTgt spid="269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autoUpdateAnimBg="0"/>
      <p:bldP spid="269318" grpId="0" autoUpdateAnimBg="0"/>
      <p:bldP spid="269321" grpId="0" autoUpdateAnimBg="0"/>
      <p:bldP spid="26932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14313" y="1428750"/>
            <a:ext cx="3124200" cy="4510088"/>
            <a:chOff x="192" y="1152"/>
            <a:chExt cx="1968" cy="2841"/>
          </a:xfrm>
        </p:grpSpPr>
        <p:pic>
          <p:nvPicPr>
            <p:cNvPr id="109576" name="Picture 4" descr="max"/>
            <p:cNvPicPr>
              <a:picLocks noChangeAspect="1" noChangeArrowheads="1"/>
            </p:cNvPicPr>
            <p:nvPr/>
          </p:nvPicPr>
          <p:blipFill>
            <a:blip r:embed="rId2"/>
            <a:srcRect/>
            <a:stretch>
              <a:fillRect/>
            </a:stretch>
          </p:blipFill>
          <p:spPr bwMode="auto">
            <a:xfrm>
              <a:off x="288" y="1152"/>
              <a:ext cx="1625" cy="2064"/>
            </a:xfrm>
            <a:prstGeom prst="rect">
              <a:avLst/>
            </a:prstGeom>
            <a:noFill/>
            <a:ln w="9525">
              <a:noFill/>
              <a:miter lim="800000"/>
              <a:headEnd/>
              <a:tailEnd/>
            </a:ln>
          </p:spPr>
        </p:pic>
        <p:sp>
          <p:nvSpPr>
            <p:cNvPr id="109577" name="Text Box 5"/>
            <p:cNvSpPr txBox="1">
              <a:spLocks noChangeArrowheads="1"/>
            </p:cNvSpPr>
            <p:nvPr/>
          </p:nvSpPr>
          <p:spPr bwMode="auto">
            <a:xfrm>
              <a:off x="192" y="3360"/>
              <a:ext cx="1968" cy="633"/>
            </a:xfrm>
            <a:prstGeom prst="rect">
              <a:avLst/>
            </a:prstGeom>
            <a:noFill/>
            <a:ln w="9525">
              <a:noFill/>
              <a:miter lim="800000"/>
              <a:headEnd/>
              <a:tailEnd/>
            </a:ln>
          </p:spPr>
          <p:txBody>
            <a:bodyPr>
              <a:spAutoFit/>
            </a:bodyPr>
            <a:lstStyle/>
            <a:p>
              <a:pPr>
                <a:spcBef>
                  <a:spcPct val="50000"/>
                </a:spcBef>
              </a:pPr>
              <a:r>
                <a:rPr lang="en-US" altLang="zh-CN" sz="2400" b="1">
                  <a:latin typeface="Times New Roman" pitchFamily="18" charset="0"/>
                </a:rPr>
                <a:t>James Clerk Maxwell </a:t>
              </a:r>
            </a:p>
            <a:p>
              <a:pPr>
                <a:spcBef>
                  <a:spcPct val="50000"/>
                </a:spcBef>
              </a:pPr>
              <a:r>
                <a:rPr lang="en-US" altLang="zh-CN" sz="2400" b="1">
                  <a:latin typeface="Times New Roman" pitchFamily="18" charset="0"/>
                </a:rPr>
                <a:t>    </a:t>
              </a:r>
              <a:r>
                <a:rPr lang="zh-CN" altLang="en-US" sz="2400" b="1">
                  <a:latin typeface="Times New Roman" pitchFamily="18" charset="0"/>
                </a:rPr>
                <a:t>（</a:t>
              </a:r>
              <a:r>
                <a:rPr lang="en-US" altLang="zh-CN" sz="2400" b="1">
                  <a:latin typeface="Times New Roman" pitchFamily="18" charset="0"/>
                </a:rPr>
                <a:t>1831----1879</a:t>
              </a:r>
              <a:r>
                <a:rPr lang="zh-CN" altLang="en-US" sz="2400" b="1">
                  <a:latin typeface="Times New Roman" pitchFamily="18" charset="0"/>
                </a:rPr>
                <a:t>）</a:t>
              </a:r>
            </a:p>
          </p:txBody>
        </p:sp>
      </p:grpSp>
      <p:grpSp>
        <p:nvGrpSpPr>
          <p:cNvPr id="3" name="Group 6"/>
          <p:cNvGrpSpPr>
            <a:grpSpLocks/>
          </p:cNvGrpSpPr>
          <p:nvPr/>
        </p:nvGrpSpPr>
        <p:grpSpPr bwMode="auto">
          <a:xfrm>
            <a:off x="3276600" y="1295400"/>
            <a:ext cx="5715000" cy="4249738"/>
            <a:chOff x="2064" y="816"/>
            <a:chExt cx="3600" cy="2677"/>
          </a:xfrm>
        </p:grpSpPr>
        <p:sp>
          <p:nvSpPr>
            <p:cNvPr id="109573" name="Text Box 7"/>
            <p:cNvSpPr txBox="1">
              <a:spLocks noChangeArrowheads="1"/>
            </p:cNvSpPr>
            <p:nvPr/>
          </p:nvSpPr>
          <p:spPr bwMode="auto">
            <a:xfrm>
              <a:off x="2064" y="816"/>
              <a:ext cx="3552" cy="853"/>
            </a:xfrm>
            <a:prstGeom prst="rect">
              <a:avLst/>
            </a:prstGeom>
            <a:noFill/>
            <a:ln w="9525">
              <a:noFill/>
              <a:miter lim="800000"/>
              <a:headEnd/>
              <a:tailEnd/>
            </a:ln>
          </p:spPr>
          <p:txBody>
            <a:bodyPr>
              <a:spAutoFit/>
            </a:bodyPr>
            <a:lstStyle/>
            <a:p>
              <a:pPr>
                <a:lnSpc>
                  <a:spcPct val="115000"/>
                </a:lnSpc>
                <a:spcBef>
                  <a:spcPct val="50000"/>
                </a:spcBef>
              </a:pPr>
              <a:r>
                <a:rPr lang="en-US" altLang="zh-CN" sz="2400" b="1">
                  <a:latin typeface="Times New Roman" pitchFamily="18" charset="0"/>
                </a:rPr>
                <a:t>   </a:t>
              </a:r>
              <a:r>
                <a:rPr lang="zh-CN" altLang="en-US" sz="2400" b="1">
                  <a:solidFill>
                    <a:srgbClr val="FF6600"/>
                  </a:solidFill>
                  <a:latin typeface="Times New Roman" pitchFamily="18" charset="0"/>
                </a:rPr>
                <a:t>英国物理学家、数学家。</a:t>
              </a:r>
              <a:r>
                <a:rPr lang="zh-CN" altLang="en-US" sz="2400" b="1">
                  <a:latin typeface="Times New Roman" pitchFamily="18" charset="0"/>
                </a:rPr>
                <a:t>主要从事电磁理论、分子物理学、统计物理学、光学、力学、弹性理论方面的研究。</a:t>
              </a:r>
            </a:p>
          </p:txBody>
        </p:sp>
        <p:sp>
          <p:nvSpPr>
            <p:cNvPr id="109574" name="Text Box 8"/>
            <p:cNvSpPr txBox="1">
              <a:spLocks noChangeArrowheads="1"/>
            </p:cNvSpPr>
            <p:nvPr/>
          </p:nvSpPr>
          <p:spPr bwMode="auto">
            <a:xfrm>
              <a:off x="2064" y="2640"/>
              <a:ext cx="3552" cy="853"/>
            </a:xfrm>
            <a:prstGeom prst="rect">
              <a:avLst/>
            </a:prstGeom>
            <a:noFill/>
            <a:ln w="9525">
              <a:noFill/>
              <a:miter lim="800000"/>
              <a:headEnd/>
              <a:tailEnd/>
            </a:ln>
          </p:spPr>
          <p:txBody>
            <a:bodyPr>
              <a:spAutoFit/>
            </a:bodyPr>
            <a:lstStyle/>
            <a:p>
              <a:pPr>
                <a:lnSpc>
                  <a:spcPct val="115000"/>
                </a:lnSpc>
                <a:spcBef>
                  <a:spcPct val="50000"/>
                </a:spcBef>
              </a:pPr>
              <a:r>
                <a:rPr lang="en-US" altLang="zh-CN" sz="2400" b="1">
                  <a:latin typeface="Times New Roman" pitchFamily="18" charset="0"/>
                </a:rPr>
                <a:t>      </a:t>
              </a:r>
              <a:r>
                <a:rPr lang="zh-CN" altLang="en-US" sz="2400" b="1">
                  <a:latin typeface="Times New Roman" pitchFamily="18" charset="0"/>
                </a:rPr>
                <a:t>他是</a:t>
              </a:r>
              <a:r>
                <a:rPr lang="zh-CN" altLang="en-US" sz="2400" b="1">
                  <a:solidFill>
                    <a:srgbClr val="FF6600"/>
                  </a:solidFill>
                  <a:latin typeface="Times New Roman" pitchFamily="18" charset="0"/>
                </a:rPr>
                <a:t>气体动理论</a:t>
              </a:r>
              <a:r>
                <a:rPr lang="zh-CN" altLang="en-US" sz="2400" b="1">
                  <a:latin typeface="Times New Roman" pitchFamily="18" charset="0"/>
                </a:rPr>
                <a:t>的创始人之一。</a:t>
              </a:r>
              <a:r>
                <a:rPr lang="en-US" altLang="zh-CN" sz="2400" b="1">
                  <a:latin typeface="Times New Roman" pitchFamily="18" charset="0"/>
                </a:rPr>
                <a:t>1859</a:t>
              </a:r>
              <a:r>
                <a:rPr lang="zh-CN" altLang="en-US" sz="2400" b="1">
                  <a:latin typeface="Times New Roman" pitchFamily="18" charset="0"/>
                </a:rPr>
                <a:t>年他首次用统计规律得出麦克斯韦速度分布律。 </a:t>
              </a:r>
            </a:p>
          </p:txBody>
        </p:sp>
        <p:sp>
          <p:nvSpPr>
            <p:cNvPr id="109575" name="Text Box 9"/>
            <p:cNvSpPr txBox="1">
              <a:spLocks noChangeArrowheads="1"/>
            </p:cNvSpPr>
            <p:nvPr/>
          </p:nvSpPr>
          <p:spPr bwMode="auto">
            <a:xfrm>
              <a:off x="2064" y="1728"/>
              <a:ext cx="3600" cy="853"/>
            </a:xfrm>
            <a:prstGeom prst="rect">
              <a:avLst/>
            </a:prstGeom>
            <a:noFill/>
            <a:ln w="9525">
              <a:noFill/>
              <a:miter lim="800000"/>
              <a:headEnd/>
              <a:tailEnd/>
            </a:ln>
          </p:spPr>
          <p:txBody>
            <a:bodyPr>
              <a:spAutoFit/>
            </a:bodyPr>
            <a:lstStyle/>
            <a:p>
              <a:pPr>
                <a:lnSpc>
                  <a:spcPct val="115000"/>
                </a:lnSpc>
                <a:spcBef>
                  <a:spcPct val="50000"/>
                </a:spcBef>
              </a:pPr>
              <a:r>
                <a:rPr lang="en-US" altLang="zh-CN" sz="2400" b="1">
                  <a:latin typeface="Times New Roman" pitchFamily="18" charset="0"/>
                </a:rPr>
                <a:t>  </a:t>
              </a:r>
              <a:r>
                <a:rPr lang="zh-CN" altLang="en-US" sz="2400" b="1">
                  <a:latin typeface="Times New Roman" pitchFamily="18" charset="0"/>
                </a:rPr>
                <a:t>他建立的</a:t>
              </a:r>
              <a:r>
                <a:rPr lang="zh-CN" altLang="en-US" sz="2400" b="1">
                  <a:solidFill>
                    <a:srgbClr val="FF6600"/>
                  </a:solidFill>
                  <a:latin typeface="Times New Roman" pitchFamily="18" charset="0"/>
                </a:rPr>
                <a:t>电磁场理论</a:t>
              </a:r>
              <a:r>
                <a:rPr lang="zh-CN" altLang="en-US" sz="2400" b="1">
                  <a:latin typeface="Times New Roman" pitchFamily="18" charset="0"/>
                </a:rPr>
                <a:t>，将电、磁和光学统一起来，是</a:t>
              </a:r>
              <a:r>
                <a:rPr lang="en-US" altLang="zh-CN" sz="2400" b="1">
                  <a:latin typeface="Times New Roman" pitchFamily="18" charset="0"/>
                </a:rPr>
                <a:t>19</a:t>
              </a:r>
              <a:r>
                <a:rPr lang="zh-CN" altLang="en-US" sz="2400" b="1">
                  <a:latin typeface="Times New Roman" pitchFamily="18" charset="0"/>
                </a:rPr>
                <a:t>世纪物理学发展的最光辉的成果，是科学史上最伟大的综合之一。</a:t>
              </a:r>
            </a:p>
          </p:txBody>
        </p:sp>
      </p:grpSp>
      <p:sp>
        <p:nvSpPr>
          <p:cNvPr id="109572" name="Text Box 4">
            <a:hlinkClick r:id="rId3" action="ppaction://hlinkpres?slideindex=1&amp;slidetitle="/>
          </p:cNvPr>
          <p:cNvSpPr txBox="1">
            <a:spLocks noChangeArrowheads="1"/>
          </p:cNvSpPr>
          <p:nvPr/>
        </p:nvSpPr>
        <p:spPr bwMode="auto">
          <a:xfrm>
            <a:off x="2051050" y="476250"/>
            <a:ext cx="4968875" cy="519113"/>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§8.5     </a:t>
            </a:r>
            <a:r>
              <a:rPr lang="zh-CN" altLang="en-US" sz="2800" b="1">
                <a:solidFill>
                  <a:srgbClr val="0000FF"/>
                </a:solidFill>
                <a:latin typeface="黑体" pitchFamily="2" charset="-122"/>
                <a:ea typeface="黑体" pitchFamily="2" charset="-122"/>
              </a:rPr>
              <a:t>麦克斯韦速率分布律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609600" y="1828800"/>
            <a:ext cx="4176713"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FF3300"/>
                </a:solidFill>
                <a:latin typeface="Times New Roman" pitchFamily="18" charset="0"/>
              </a:rPr>
              <a:t>例如学生人数按年龄的分布：</a:t>
            </a:r>
          </a:p>
        </p:txBody>
      </p:sp>
      <p:graphicFrame>
        <p:nvGraphicFramePr>
          <p:cNvPr id="150531" name="Group 3"/>
          <p:cNvGraphicFramePr>
            <a:graphicFrameLocks noGrp="1"/>
          </p:cNvGraphicFramePr>
          <p:nvPr/>
        </p:nvGraphicFramePr>
        <p:xfrm>
          <a:off x="841375" y="2743200"/>
          <a:ext cx="7273925" cy="2136902"/>
        </p:xfrm>
        <a:graphic>
          <a:graphicData uri="http://schemas.openxmlformats.org/drawingml/2006/table">
            <a:tbl>
              <a:tblPr/>
              <a:tblGrid>
                <a:gridCol w="1668463"/>
                <a:gridCol w="1400175"/>
                <a:gridCol w="1401762"/>
                <a:gridCol w="1401763"/>
                <a:gridCol w="1401762"/>
              </a:tblGrid>
              <a:tr h="539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楷体_GB2312" pitchFamily="49" charset="-122"/>
                        </a:rPr>
                        <a:t>     </a:t>
                      </a:r>
                      <a:r>
                        <a:rPr kumimoji="0" lang="zh-CN" altLang="en-US" sz="2000" b="1" i="0" u="none" strike="noStrike" cap="none" normalizeH="0" baseline="0" smtClean="0">
                          <a:ln>
                            <a:noFill/>
                          </a:ln>
                          <a:solidFill>
                            <a:schemeClr val="tx2"/>
                          </a:solidFill>
                          <a:effectLst/>
                          <a:latin typeface="Arial" charset="0"/>
                          <a:ea typeface="楷体_GB2312" pitchFamily="49" charset="-122"/>
                        </a:rPr>
                        <a:t>年龄</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Arial" charset="0"/>
                          <a:ea typeface="宋体" charset="-122"/>
                        </a:rPr>
                        <a:t>   15 </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~16</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Arial" charset="0"/>
                          <a:ea typeface="宋体" charset="-122"/>
                        </a:rPr>
                        <a:t>   17 </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 18</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19 </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~20</a:t>
                      </a:r>
                      <a:endParaRPr kumimoji="0" lang="en-US" altLang="zh-CN" sz="2000" b="1" i="0" u="none" strike="noStrike" cap="none" normalizeH="0" baseline="0" smtClean="0">
                        <a:ln>
                          <a:noFill/>
                        </a:ln>
                        <a:solidFill>
                          <a:schemeClr val="tx2"/>
                        </a:solidFill>
                        <a:effectLst/>
                        <a:latin typeface="Arial" charset="0"/>
                        <a:ea typeface="宋体" charset="-122"/>
                      </a:endParaRP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21</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~22</a:t>
                      </a:r>
                      <a:endParaRPr kumimoji="0" lang="en-US" altLang="zh-CN" sz="2000" b="1" i="0" u="none" strike="noStrike" cap="none" normalizeH="0" baseline="0" smtClean="0">
                        <a:ln>
                          <a:noFill/>
                        </a:ln>
                        <a:solidFill>
                          <a:schemeClr val="tx2"/>
                        </a:solidFill>
                        <a:effectLst/>
                        <a:latin typeface="Arial" charset="0"/>
                        <a:ea typeface="宋体" charset="-122"/>
                      </a:endParaRP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r>
              <a:tr h="704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楷体_GB2312" pitchFamily="49" charset="-122"/>
                          <a:ea typeface="楷体_GB2312" pitchFamily="49" charset="-122"/>
                        </a:rPr>
                        <a:t> </a:t>
                      </a:r>
                      <a:r>
                        <a:rPr kumimoji="0" lang="zh-CN" altLang="en-US" sz="2000" b="1" i="0" u="none" strike="noStrike" cap="none" normalizeH="0" baseline="0" smtClean="0">
                          <a:ln>
                            <a:noFill/>
                          </a:ln>
                          <a:solidFill>
                            <a:schemeClr val="tx2"/>
                          </a:solidFill>
                          <a:effectLst/>
                          <a:latin typeface="楷体_GB2312" pitchFamily="49" charset="-122"/>
                          <a:ea typeface="楷体_GB2312" pitchFamily="49" charset="-122"/>
                        </a:rPr>
                        <a:t>人数按年龄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楷体_GB2312" pitchFamily="49" charset="-122"/>
                          <a:ea typeface="楷体_GB2312" pitchFamily="49" charset="-122"/>
                        </a:rPr>
                        <a:t>   的分布</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2000</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3000</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4000</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1000</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r>
              <a:tr h="711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楷体_GB2312" pitchFamily="49" charset="-122"/>
                          <a:ea typeface="楷体_GB2312" pitchFamily="49" charset="-122"/>
                        </a:rPr>
                        <a:t> </a:t>
                      </a:r>
                      <a:r>
                        <a:rPr kumimoji="0" lang="zh-CN" altLang="en-US" sz="2000" b="1" i="0" u="none" strike="noStrike" cap="none" normalizeH="0" baseline="0" smtClean="0">
                          <a:ln>
                            <a:noFill/>
                          </a:ln>
                          <a:solidFill>
                            <a:schemeClr val="tx2"/>
                          </a:solidFill>
                          <a:effectLst/>
                          <a:latin typeface="楷体_GB2312" pitchFamily="49" charset="-122"/>
                          <a:ea typeface="楷体_GB2312" pitchFamily="49" charset="-122"/>
                        </a:rPr>
                        <a:t>人数比率按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楷体_GB2312" pitchFamily="49" charset="-122"/>
                          <a:ea typeface="楷体_GB2312" pitchFamily="49" charset="-122"/>
                        </a:rPr>
                        <a:t> 年龄的分布</a:t>
                      </a:r>
                      <a:r>
                        <a:rPr kumimoji="0" lang="zh-CN" altLang="en-US" sz="2400" b="1" i="0" u="none" strike="noStrike" cap="none" normalizeH="0" baseline="0" smtClean="0">
                          <a:ln>
                            <a:noFill/>
                          </a:ln>
                          <a:solidFill>
                            <a:schemeClr val="tx2"/>
                          </a:solidFill>
                          <a:effectLst/>
                          <a:latin typeface="Arial" charset="0"/>
                          <a:ea typeface="楷体_GB2312" pitchFamily="49" charset="-122"/>
                        </a:rPr>
                        <a:t>   </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Arial" charset="0"/>
                          <a:ea typeface="宋体" charset="-122"/>
                        </a:rPr>
                        <a:t>    20</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2"/>
                          </a:solidFill>
                          <a:effectLst/>
                          <a:latin typeface="Arial" charset="0"/>
                          <a:ea typeface="宋体" charset="-122"/>
                        </a:rPr>
                        <a:t>     30</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40</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2"/>
                          </a:solidFill>
                          <a:effectLst/>
                          <a:latin typeface="Arial" charset="0"/>
                          <a:ea typeface="宋体" charset="-122"/>
                        </a:rPr>
                        <a:t>    </a:t>
                      </a:r>
                      <a:r>
                        <a:rPr kumimoji="0" lang="en-US" altLang="zh-CN" sz="2000" b="1" i="0" u="none" strike="noStrike" cap="none" normalizeH="0" baseline="0" smtClean="0">
                          <a:ln>
                            <a:noFill/>
                          </a:ln>
                          <a:solidFill>
                            <a:schemeClr val="tx2"/>
                          </a:solidFill>
                          <a:effectLst/>
                          <a:latin typeface="Arial" charset="0"/>
                          <a:ea typeface="宋体" charset="-122"/>
                        </a:rPr>
                        <a:t>10</a:t>
                      </a:r>
                      <a:r>
                        <a:rPr kumimoji="0" lang="en-US" altLang="zh-CN" sz="2000" b="1" i="0" u="none" strike="noStrike" cap="none" normalizeH="0" baseline="0" smtClean="0">
                          <a:ln>
                            <a:noFill/>
                          </a:ln>
                          <a:solidFill>
                            <a:schemeClr val="tx2"/>
                          </a:solidFill>
                          <a:effectLst/>
                          <a:latin typeface="Arial" charset="0"/>
                          <a:ea typeface="宋体" charset="-122"/>
                          <a:cs typeface="Times New Roman" pitchFamily="18" charset="0"/>
                        </a:rPr>
                        <a:t>%</a:t>
                      </a:r>
                    </a:p>
                  </a:txBody>
                  <a:tcPr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9000"/>
                      </a:srgbClr>
                    </a:solidFill>
                  </a:tcPr>
                </a:tc>
              </a:tr>
            </a:tbl>
          </a:graphicData>
        </a:graphic>
      </p:graphicFrame>
      <p:sp>
        <p:nvSpPr>
          <p:cNvPr id="150557" name="Text Box 29"/>
          <p:cNvSpPr txBox="1">
            <a:spLocks noChangeArrowheads="1"/>
          </p:cNvSpPr>
          <p:nvPr/>
        </p:nvSpPr>
        <p:spPr bwMode="auto">
          <a:xfrm>
            <a:off x="3071813" y="785813"/>
            <a:ext cx="2552700" cy="519112"/>
          </a:xfrm>
          <a:prstGeom prst="rect">
            <a:avLst/>
          </a:prstGeom>
          <a:noFill/>
          <a:ln w="12700" cap="sq">
            <a:noFill/>
            <a:miter lim="800000"/>
            <a:headEnd type="none" w="sm" len="sm"/>
            <a:tailEnd type="none" w="sm" len="sm"/>
          </a:ln>
        </p:spPr>
        <p:txBody>
          <a:bodyPr>
            <a:spAutoFit/>
          </a:bodyPr>
          <a:lstStyle/>
          <a:p>
            <a:pPr algn="ctr"/>
            <a:r>
              <a:rPr kumimoji="1" lang="zh-CN" altLang="en-US" sz="2800" b="1">
                <a:solidFill>
                  <a:srgbClr val="0000FF"/>
                </a:solidFill>
                <a:latin typeface="宋体" charset="-122"/>
              </a:rPr>
              <a:t>分布概念介绍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0557"/>
                                        </p:tgtEl>
                                        <p:attrNameLst>
                                          <p:attrName>style.visibility</p:attrName>
                                        </p:attrNameLst>
                                      </p:cBhvr>
                                      <p:to>
                                        <p:strVal val="visible"/>
                                      </p:to>
                                    </p:set>
                                    <p:animEffect transition="in" filter="wipe(left)">
                                      <p:cBhvr>
                                        <p:cTn id="7" dur="500"/>
                                        <p:tgtEl>
                                          <p:spTgt spid="1505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30"/>
                                        </p:tgtEl>
                                        <p:attrNameLst>
                                          <p:attrName>style.visibility</p:attrName>
                                        </p:attrNameLst>
                                      </p:cBhvr>
                                      <p:to>
                                        <p:strVal val="visible"/>
                                      </p:to>
                                    </p:set>
                                    <p:animEffect transition="in" filter="wipe(left)">
                                      <p:cBhvr>
                                        <p:cTn id="12" dur="500"/>
                                        <p:tgtEl>
                                          <p:spTgt spid="1505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0531"/>
                                        </p:tgtEl>
                                        <p:attrNameLst>
                                          <p:attrName>style.visibility</p:attrName>
                                        </p:attrNameLst>
                                      </p:cBhvr>
                                      <p:to>
                                        <p:strVal val="visible"/>
                                      </p:to>
                                    </p:set>
                                    <p:animEffect transition="in" filter="wipe(left)">
                                      <p:cBhvr>
                                        <p:cTn id="17" dur="500"/>
                                        <p:tgtEl>
                                          <p:spTgt spid="150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autoUpdateAnimBg="0"/>
      <p:bldP spid="15055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descr="伽尔顿板实验"/>
          <p:cNvPicPr>
            <a:picLocks noChangeAspect="1" noChangeArrowheads="1"/>
          </p:cNvPicPr>
          <p:nvPr/>
        </p:nvPicPr>
        <p:blipFill>
          <a:blip r:embed="rId3"/>
          <a:srcRect/>
          <a:stretch>
            <a:fillRect/>
          </a:stretch>
        </p:blipFill>
        <p:spPr bwMode="auto">
          <a:xfrm>
            <a:off x="6300788" y="1554163"/>
            <a:ext cx="2474912" cy="3748087"/>
          </a:xfrm>
          <a:prstGeom prst="rect">
            <a:avLst/>
          </a:prstGeom>
          <a:noFill/>
          <a:ln w="9525">
            <a:noFill/>
            <a:miter lim="800000"/>
            <a:headEnd/>
            <a:tailEnd/>
          </a:ln>
        </p:spPr>
      </p:pic>
      <p:sp>
        <p:nvSpPr>
          <p:cNvPr id="151555" name="Rectangle 3"/>
          <p:cNvSpPr>
            <a:spLocks noChangeArrowheads="1"/>
          </p:cNvSpPr>
          <p:nvPr/>
        </p:nvSpPr>
        <p:spPr bwMode="auto">
          <a:xfrm>
            <a:off x="6775450" y="3644900"/>
            <a:ext cx="71438" cy="1079500"/>
          </a:xfrm>
          <a:prstGeom prst="rect">
            <a:avLst/>
          </a:prstGeom>
          <a:solidFill>
            <a:srgbClr val="FF6600">
              <a:alpha val="20000"/>
            </a:srgbClr>
          </a:solidFill>
          <a:ln w="9525">
            <a:solidFill>
              <a:srgbClr val="FF0000"/>
            </a:solidFill>
            <a:miter lim="800000"/>
            <a:headEnd/>
            <a:tailEnd/>
          </a:ln>
        </p:spPr>
        <p:txBody>
          <a:bodyPr wrap="none" anchor="ctr"/>
          <a:lstStyle/>
          <a:p>
            <a:endParaRPr lang="zh-CN" altLang="en-US"/>
          </a:p>
        </p:txBody>
      </p:sp>
      <p:sp>
        <p:nvSpPr>
          <p:cNvPr id="151556" name="Freeform 4"/>
          <p:cNvSpPr>
            <a:spLocks/>
          </p:cNvSpPr>
          <p:nvPr/>
        </p:nvSpPr>
        <p:spPr bwMode="auto">
          <a:xfrm>
            <a:off x="6516688" y="3789363"/>
            <a:ext cx="2087562" cy="935037"/>
          </a:xfrm>
          <a:custGeom>
            <a:avLst/>
            <a:gdLst>
              <a:gd name="T0" fmla="*/ 0 w 1315"/>
              <a:gd name="T1" fmla="*/ 2147483647 h 589"/>
              <a:gd name="T2" fmla="*/ 2147483647 w 1315"/>
              <a:gd name="T3" fmla="*/ 2147483647 h 589"/>
              <a:gd name="T4" fmla="*/ 2147483647 w 1315"/>
              <a:gd name="T5" fmla="*/ 2147483647 h 589"/>
              <a:gd name="T6" fmla="*/ 2147483647 w 1315"/>
              <a:gd name="T7" fmla="*/ 2147483647 h 589"/>
              <a:gd name="T8" fmla="*/ 2147483647 w 1315"/>
              <a:gd name="T9" fmla="*/ 2147483647 h 589"/>
              <a:gd name="T10" fmla="*/ 2147483647 w 1315"/>
              <a:gd name="T11" fmla="*/ 2147483647 h 589"/>
              <a:gd name="T12" fmla="*/ 2147483647 w 1315"/>
              <a:gd name="T13" fmla="*/ 2147483647 h 589"/>
              <a:gd name="T14" fmla="*/ 2147483647 w 1315"/>
              <a:gd name="T15" fmla="*/ 2147483647 h 589"/>
              <a:gd name="T16" fmla="*/ 2147483647 w 1315"/>
              <a:gd name="T17" fmla="*/ 2147483647 h 589"/>
              <a:gd name="T18" fmla="*/ 2147483647 w 1315"/>
              <a:gd name="T19" fmla="*/ 2147483647 h 589"/>
              <a:gd name="T20" fmla="*/ 2147483647 w 1315"/>
              <a:gd name="T21" fmla="*/ 2147483647 h 589"/>
              <a:gd name="T22" fmla="*/ 2147483647 w 1315"/>
              <a:gd name="T23" fmla="*/ 2147483647 h 589"/>
              <a:gd name="T24" fmla="*/ 2147483647 w 1315"/>
              <a:gd name="T25" fmla="*/ 2147483647 h 589"/>
              <a:gd name="T26" fmla="*/ 2147483647 w 1315"/>
              <a:gd name="T27" fmla="*/ 2147483647 h 589"/>
              <a:gd name="T28" fmla="*/ 2147483647 w 1315"/>
              <a:gd name="T29" fmla="*/ 0 h 589"/>
              <a:gd name="T30" fmla="*/ 2147483647 w 1315"/>
              <a:gd name="T31" fmla="*/ 0 h 589"/>
              <a:gd name="T32" fmla="*/ 2147483647 w 1315"/>
              <a:gd name="T33" fmla="*/ 2147483647 h 589"/>
              <a:gd name="T34" fmla="*/ 2147483647 w 1315"/>
              <a:gd name="T35" fmla="*/ 2147483647 h 589"/>
              <a:gd name="T36" fmla="*/ 2147483647 w 1315"/>
              <a:gd name="T37" fmla="*/ 2147483647 h 589"/>
              <a:gd name="T38" fmla="*/ 2147483647 w 1315"/>
              <a:gd name="T39" fmla="*/ 2147483647 h 589"/>
              <a:gd name="T40" fmla="*/ 2147483647 w 1315"/>
              <a:gd name="T41" fmla="*/ 2147483647 h 589"/>
              <a:gd name="T42" fmla="*/ 2147483647 w 1315"/>
              <a:gd name="T43" fmla="*/ 2147483647 h 589"/>
              <a:gd name="T44" fmla="*/ 2147483647 w 1315"/>
              <a:gd name="T45" fmla="*/ 2147483647 h 589"/>
              <a:gd name="T46" fmla="*/ 2147483647 w 1315"/>
              <a:gd name="T47" fmla="*/ 2147483647 h 589"/>
              <a:gd name="T48" fmla="*/ 2147483647 w 1315"/>
              <a:gd name="T49" fmla="*/ 2147483647 h 589"/>
              <a:gd name="T50" fmla="*/ 2147483647 w 1315"/>
              <a:gd name="T51" fmla="*/ 2147483647 h 589"/>
              <a:gd name="T52" fmla="*/ 2147483647 w 1315"/>
              <a:gd name="T53" fmla="*/ 2147483647 h 589"/>
              <a:gd name="T54" fmla="*/ 2147483647 w 1315"/>
              <a:gd name="T55" fmla="*/ 2147483647 h 589"/>
              <a:gd name="T56" fmla="*/ 2147483647 w 1315"/>
              <a:gd name="T57" fmla="*/ 2147483647 h 589"/>
              <a:gd name="T58" fmla="*/ 2147483647 w 1315"/>
              <a:gd name="T59" fmla="*/ 2147483647 h 589"/>
              <a:gd name="T60" fmla="*/ 2147483647 w 1315"/>
              <a:gd name="T61" fmla="*/ 2147483647 h 589"/>
              <a:gd name="T62" fmla="*/ 2147483647 w 1315"/>
              <a:gd name="T63" fmla="*/ 2147483647 h 589"/>
              <a:gd name="T64" fmla="*/ 2147483647 w 1315"/>
              <a:gd name="T65" fmla="*/ 2147483647 h 589"/>
              <a:gd name="T66" fmla="*/ 2147483647 w 1315"/>
              <a:gd name="T67" fmla="*/ 2147483647 h 589"/>
              <a:gd name="T68" fmla="*/ 2147483647 w 1315"/>
              <a:gd name="T69" fmla="*/ 2147483647 h 589"/>
              <a:gd name="T70" fmla="*/ 0 w 1315"/>
              <a:gd name="T71" fmla="*/ 2147483647 h 589"/>
              <a:gd name="T72" fmla="*/ 0 w 1315"/>
              <a:gd name="T73" fmla="*/ 2147483647 h 58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15"/>
              <a:gd name="T112" fmla="*/ 0 h 589"/>
              <a:gd name="T113" fmla="*/ 1315 w 1315"/>
              <a:gd name="T114" fmla="*/ 589 h 58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15" h="589">
                <a:moveTo>
                  <a:pt x="0" y="544"/>
                </a:moveTo>
                <a:lnTo>
                  <a:pt x="90" y="544"/>
                </a:lnTo>
                <a:lnTo>
                  <a:pt x="136" y="499"/>
                </a:lnTo>
                <a:lnTo>
                  <a:pt x="227" y="499"/>
                </a:lnTo>
                <a:lnTo>
                  <a:pt x="239" y="499"/>
                </a:lnTo>
                <a:lnTo>
                  <a:pt x="272" y="408"/>
                </a:lnTo>
                <a:lnTo>
                  <a:pt x="323" y="397"/>
                </a:lnTo>
                <a:lnTo>
                  <a:pt x="363" y="363"/>
                </a:lnTo>
                <a:lnTo>
                  <a:pt x="363" y="272"/>
                </a:lnTo>
                <a:lnTo>
                  <a:pt x="408" y="272"/>
                </a:lnTo>
                <a:lnTo>
                  <a:pt x="408" y="227"/>
                </a:lnTo>
                <a:lnTo>
                  <a:pt x="453" y="227"/>
                </a:lnTo>
                <a:lnTo>
                  <a:pt x="491" y="151"/>
                </a:lnTo>
                <a:lnTo>
                  <a:pt x="539" y="145"/>
                </a:lnTo>
                <a:lnTo>
                  <a:pt x="544" y="0"/>
                </a:lnTo>
                <a:lnTo>
                  <a:pt x="589" y="0"/>
                </a:lnTo>
                <a:lnTo>
                  <a:pt x="587" y="13"/>
                </a:lnTo>
                <a:lnTo>
                  <a:pt x="647" y="19"/>
                </a:lnTo>
                <a:lnTo>
                  <a:pt x="731" y="49"/>
                </a:lnTo>
                <a:lnTo>
                  <a:pt x="785" y="127"/>
                </a:lnTo>
                <a:lnTo>
                  <a:pt x="797" y="169"/>
                </a:lnTo>
                <a:lnTo>
                  <a:pt x="833" y="169"/>
                </a:lnTo>
                <a:lnTo>
                  <a:pt x="907" y="272"/>
                </a:lnTo>
                <a:lnTo>
                  <a:pt x="947" y="283"/>
                </a:lnTo>
                <a:lnTo>
                  <a:pt x="952" y="363"/>
                </a:lnTo>
                <a:lnTo>
                  <a:pt x="998" y="408"/>
                </a:lnTo>
                <a:lnTo>
                  <a:pt x="1043" y="408"/>
                </a:lnTo>
                <a:lnTo>
                  <a:pt x="1043" y="453"/>
                </a:lnTo>
                <a:lnTo>
                  <a:pt x="1088" y="453"/>
                </a:lnTo>
                <a:lnTo>
                  <a:pt x="1134" y="499"/>
                </a:lnTo>
                <a:lnTo>
                  <a:pt x="1179" y="499"/>
                </a:lnTo>
                <a:lnTo>
                  <a:pt x="1193" y="523"/>
                </a:lnTo>
                <a:lnTo>
                  <a:pt x="1224" y="544"/>
                </a:lnTo>
                <a:lnTo>
                  <a:pt x="1270" y="544"/>
                </a:lnTo>
                <a:lnTo>
                  <a:pt x="1315" y="589"/>
                </a:lnTo>
                <a:lnTo>
                  <a:pt x="0" y="589"/>
                </a:lnTo>
                <a:lnTo>
                  <a:pt x="0" y="544"/>
                </a:lnTo>
                <a:close/>
              </a:path>
            </a:pathLst>
          </a:custGeom>
          <a:solidFill>
            <a:srgbClr val="BBE0E3">
              <a:alpha val="50195"/>
            </a:srgbClr>
          </a:solidFill>
          <a:ln w="9525">
            <a:solidFill>
              <a:schemeClr val="tx1"/>
            </a:solidFill>
            <a:round/>
            <a:headEnd/>
            <a:tailEnd/>
          </a:ln>
        </p:spPr>
        <p:txBody>
          <a:bodyPr/>
          <a:lstStyle/>
          <a:p>
            <a:endParaRPr lang="zh-CN" altLang="en-US"/>
          </a:p>
        </p:txBody>
      </p:sp>
      <p:sp>
        <p:nvSpPr>
          <p:cNvPr id="151557" name="Rectangle 5"/>
          <p:cNvSpPr>
            <a:spLocks noChangeArrowheads="1"/>
          </p:cNvSpPr>
          <p:nvPr/>
        </p:nvSpPr>
        <p:spPr bwMode="auto">
          <a:xfrm>
            <a:off x="6770688" y="4581525"/>
            <a:ext cx="73025" cy="142875"/>
          </a:xfrm>
          <a:prstGeom prst="rect">
            <a:avLst/>
          </a:prstGeom>
          <a:solidFill>
            <a:srgbClr val="FF6600"/>
          </a:solidFill>
          <a:ln w="9525">
            <a:solidFill>
              <a:schemeClr val="tx1"/>
            </a:solidFill>
            <a:miter lim="800000"/>
            <a:headEnd/>
            <a:tailEnd/>
          </a:ln>
        </p:spPr>
        <p:txBody>
          <a:bodyPr wrap="none" anchor="ctr"/>
          <a:lstStyle/>
          <a:p>
            <a:endParaRPr lang="zh-CN" altLang="en-US"/>
          </a:p>
        </p:txBody>
      </p:sp>
      <p:sp>
        <p:nvSpPr>
          <p:cNvPr id="151558" name="Text Box 6"/>
          <p:cNvSpPr txBox="1">
            <a:spLocks noChangeArrowheads="1"/>
          </p:cNvSpPr>
          <p:nvPr/>
        </p:nvSpPr>
        <p:spPr bwMode="auto">
          <a:xfrm>
            <a:off x="609600" y="1752600"/>
            <a:ext cx="2540000" cy="457200"/>
          </a:xfrm>
          <a:prstGeom prst="rect">
            <a:avLst/>
          </a:prstGeom>
          <a:noFill/>
          <a:ln w="9525">
            <a:noFill/>
            <a:miter lim="800000"/>
            <a:headEnd/>
            <a:tailEnd/>
          </a:ln>
        </p:spPr>
        <p:txBody>
          <a:bodyPr>
            <a:spAutoFit/>
          </a:bodyPr>
          <a:lstStyle/>
          <a:p>
            <a:r>
              <a:rPr lang="zh-CN" altLang="en-US" sz="2400" b="1">
                <a:latin typeface="Times New Roman" pitchFamily="18" charset="0"/>
              </a:rPr>
              <a:t>小槽宽度为 </a:t>
            </a:r>
            <a:r>
              <a:rPr lang="en-US" altLang="zh-CN" sz="2400" b="1">
                <a:latin typeface="Times New Roman" pitchFamily="18" charset="0"/>
              </a:rPr>
              <a:t>Δ</a:t>
            </a:r>
            <a:r>
              <a:rPr lang="en-US" altLang="zh-CN" sz="2400" b="1" i="1">
                <a:latin typeface="Times New Roman" pitchFamily="18" charset="0"/>
              </a:rPr>
              <a:t>x </a:t>
            </a:r>
          </a:p>
        </p:txBody>
      </p:sp>
      <p:graphicFrame>
        <p:nvGraphicFramePr>
          <p:cNvPr id="151559" name="Object 7"/>
          <p:cNvGraphicFramePr>
            <a:graphicFrameLocks noChangeAspect="1"/>
          </p:cNvGraphicFramePr>
          <p:nvPr/>
        </p:nvGraphicFramePr>
        <p:xfrm>
          <a:off x="1446213" y="3141663"/>
          <a:ext cx="2312987" cy="919162"/>
        </p:xfrm>
        <a:graphic>
          <a:graphicData uri="http://schemas.openxmlformats.org/presentationml/2006/ole">
            <p:oleObj spid="_x0000_s35842" name="公式" r:id="rId4" imgW="990360" imgH="393480" progId="Equation.3">
              <p:embed/>
            </p:oleObj>
          </a:graphicData>
        </a:graphic>
      </p:graphicFrame>
      <p:sp>
        <p:nvSpPr>
          <p:cNvPr id="151560" name="AutoShape 8"/>
          <p:cNvSpPr>
            <a:spLocks noChangeArrowheads="1"/>
          </p:cNvSpPr>
          <p:nvPr/>
        </p:nvSpPr>
        <p:spPr bwMode="auto">
          <a:xfrm>
            <a:off x="684213" y="2636838"/>
            <a:ext cx="647700" cy="144462"/>
          </a:xfrm>
          <a:prstGeom prst="rightArrow">
            <a:avLst>
              <a:gd name="adj1" fmla="val 50000"/>
              <a:gd name="adj2" fmla="val 112088"/>
            </a:avLst>
          </a:prstGeom>
          <a:solidFill>
            <a:schemeClr val="accent1"/>
          </a:solidFill>
          <a:ln w="9525">
            <a:solidFill>
              <a:schemeClr val="tx1"/>
            </a:solidFill>
            <a:miter lim="800000"/>
            <a:headEnd/>
            <a:tailEnd/>
          </a:ln>
        </p:spPr>
        <p:txBody>
          <a:bodyPr wrap="none" anchor="ctr"/>
          <a:lstStyle/>
          <a:p>
            <a:endParaRPr lang="zh-CN" altLang="en-US"/>
          </a:p>
        </p:txBody>
      </p:sp>
      <p:sp>
        <p:nvSpPr>
          <p:cNvPr id="151561" name="Text Box 9"/>
          <p:cNvSpPr txBox="1">
            <a:spLocks noChangeArrowheads="1"/>
          </p:cNvSpPr>
          <p:nvPr/>
        </p:nvSpPr>
        <p:spPr bwMode="auto">
          <a:xfrm>
            <a:off x="1527175" y="2492375"/>
            <a:ext cx="4197350" cy="457200"/>
          </a:xfrm>
          <a:prstGeom prst="rect">
            <a:avLst/>
          </a:prstGeom>
          <a:noFill/>
          <a:ln w="9525">
            <a:noFill/>
            <a:miter lim="800000"/>
            <a:headEnd/>
            <a:tailEnd/>
          </a:ln>
        </p:spPr>
        <p:txBody>
          <a:bodyPr>
            <a:spAutoFit/>
          </a:bodyPr>
          <a:lstStyle/>
          <a:p>
            <a:r>
              <a:rPr lang="zh-CN" altLang="en-US" sz="2400" b="1">
                <a:latin typeface="Times New Roman" pitchFamily="18" charset="0"/>
              </a:rPr>
              <a:t>小球落入某个槽的概率：</a:t>
            </a:r>
          </a:p>
        </p:txBody>
      </p:sp>
      <p:sp>
        <p:nvSpPr>
          <p:cNvPr id="151562" name="Text Box 10"/>
          <p:cNvSpPr txBox="1">
            <a:spLocks noChangeArrowheads="1"/>
          </p:cNvSpPr>
          <p:nvPr/>
        </p:nvSpPr>
        <p:spPr bwMode="auto">
          <a:xfrm>
            <a:off x="609600" y="4038600"/>
            <a:ext cx="2540000" cy="457200"/>
          </a:xfrm>
          <a:prstGeom prst="rect">
            <a:avLst/>
          </a:prstGeom>
          <a:noFill/>
          <a:ln w="9525">
            <a:noFill/>
            <a:miter lim="800000"/>
            <a:headEnd/>
            <a:tailEnd/>
          </a:ln>
        </p:spPr>
        <p:txBody>
          <a:bodyPr>
            <a:spAutoFit/>
          </a:bodyPr>
          <a:lstStyle/>
          <a:p>
            <a:r>
              <a:rPr lang="zh-CN" altLang="en-US" sz="2400" b="1">
                <a:latin typeface="Times New Roman" pitchFamily="18" charset="0"/>
              </a:rPr>
              <a:t>小槽宽度为 </a:t>
            </a:r>
            <a:r>
              <a:rPr lang="en-US" altLang="zh-CN" sz="2400" b="1">
                <a:latin typeface="Times New Roman" pitchFamily="18" charset="0"/>
              </a:rPr>
              <a:t>d</a:t>
            </a:r>
            <a:r>
              <a:rPr lang="en-US" altLang="zh-CN" sz="2400" b="1" i="1">
                <a:latin typeface="Times New Roman" pitchFamily="18" charset="0"/>
              </a:rPr>
              <a:t>x </a:t>
            </a:r>
          </a:p>
        </p:txBody>
      </p:sp>
      <p:graphicFrame>
        <p:nvGraphicFramePr>
          <p:cNvPr id="151563" name="Object 11"/>
          <p:cNvGraphicFramePr>
            <a:graphicFrameLocks noChangeAspect="1"/>
          </p:cNvGraphicFramePr>
          <p:nvPr/>
        </p:nvGraphicFramePr>
        <p:xfrm>
          <a:off x="1333500" y="5157788"/>
          <a:ext cx="2844800" cy="919162"/>
        </p:xfrm>
        <a:graphic>
          <a:graphicData uri="http://schemas.openxmlformats.org/presentationml/2006/ole">
            <p:oleObj spid="_x0000_s35843" name="公式" r:id="rId5" imgW="1218960" imgH="393480" progId="Equation.3">
              <p:embed/>
            </p:oleObj>
          </a:graphicData>
        </a:graphic>
      </p:graphicFrame>
      <p:sp>
        <p:nvSpPr>
          <p:cNvPr id="151564" name="AutoShape 12"/>
          <p:cNvSpPr>
            <a:spLocks noChangeArrowheads="1"/>
          </p:cNvSpPr>
          <p:nvPr/>
        </p:nvSpPr>
        <p:spPr bwMode="auto">
          <a:xfrm>
            <a:off x="684213" y="4741863"/>
            <a:ext cx="647700" cy="144462"/>
          </a:xfrm>
          <a:prstGeom prst="rightArrow">
            <a:avLst>
              <a:gd name="adj1" fmla="val 50000"/>
              <a:gd name="adj2" fmla="val 112088"/>
            </a:avLst>
          </a:prstGeom>
          <a:solidFill>
            <a:schemeClr val="accent1"/>
          </a:solidFill>
          <a:ln w="9525">
            <a:solidFill>
              <a:schemeClr val="tx1"/>
            </a:solidFill>
            <a:miter lim="800000"/>
            <a:headEnd/>
            <a:tailEnd/>
          </a:ln>
        </p:spPr>
        <p:txBody>
          <a:bodyPr wrap="none" anchor="ctr"/>
          <a:lstStyle/>
          <a:p>
            <a:endParaRPr lang="zh-CN" altLang="en-US"/>
          </a:p>
        </p:txBody>
      </p:sp>
      <p:sp>
        <p:nvSpPr>
          <p:cNvPr id="151565" name="Text Box 13"/>
          <p:cNvSpPr txBox="1">
            <a:spLocks noChangeArrowheads="1"/>
          </p:cNvSpPr>
          <p:nvPr/>
        </p:nvSpPr>
        <p:spPr bwMode="auto">
          <a:xfrm>
            <a:off x="1527175" y="4597400"/>
            <a:ext cx="4197350" cy="457200"/>
          </a:xfrm>
          <a:prstGeom prst="rect">
            <a:avLst/>
          </a:prstGeom>
          <a:noFill/>
          <a:ln w="9525">
            <a:noFill/>
            <a:miter lim="800000"/>
            <a:headEnd/>
            <a:tailEnd/>
          </a:ln>
        </p:spPr>
        <p:txBody>
          <a:bodyPr>
            <a:spAutoFit/>
          </a:bodyPr>
          <a:lstStyle/>
          <a:p>
            <a:r>
              <a:rPr lang="zh-CN" altLang="en-US" sz="2400" b="1">
                <a:latin typeface="Times New Roman" pitchFamily="18" charset="0"/>
              </a:rPr>
              <a:t>小球落入某个槽的概率：</a:t>
            </a:r>
          </a:p>
        </p:txBody>
      </p:sp>
      <p:graphicFrame>
        <p:nvGraphicFramePr>
          <p:cNvPr id="151566" name="Object 14"/>
          <p:cNvGraphicFramePr>
            <a:graphicFrameLocks noChangeAspect="1"/>
          </p:cNvGraphicFramePr>
          <p:nvPr/>
        </p:nvGraphicFramePr>
        <p:xfrm>
          <a:off x="4292600" y="5427663"/>
          <a:ext cx="711200" cy="414337"/>
        </p:xfrm>
        <a:graphic>
          <a:graphicData uri="http://schemas.openxmlformats.org/presentationml/2006/ole">
            <p:oleObj spid="_x0000_s35844" name="公式" r:id="rId6" imgW="304560" imgH="177480" progId="Equation.3">
              <p:embed/>
            </p:oleObj>
          </a:graphicData>
        </a:graphic>
      </p:graphicFrame>
      <p:sp>
        <p:nvSpPr>
          <p:cNvPr id="151567" name="Freeform 15"/>
          <p:cNvSpPr>
            <a:spLocks/>
          </p:cNvSpPr>
          <p:nvPr/>
        </p:nvSpPr>
        <p:spPr bwMode="auto">
          <a:xfrm>
            <a:off x="6372225" y="3716338"/>
            <a:ext cx="2363788" cy="993775"/>
          </a:xfrm>
          <a:custGeom>
            <a:avLst/>
            <a:gdLst>
              <a:gd name="T0" fmla="*/ 2147483647 w 1489"/>
              <a:gd name="T1" fmla="*/ 2147483647 h 626"/>
              <a:gd name="T2" fmla="*/ 2147483647 w 1489"/>
              <a:gd name="T3" fmla="*/ 2147483647 h 626"/>
              <a:gd name="T4" fmla="*/ 2147483647 w 1489"/>
              <a:gd name="T5" fmla="*/ 2147483647 h 626"/>
              <a:gd name="T6" fmla="*/ 2147483647 w 1489"/>
              <a:gd name="T7" fmla="*/ 2147483647 h 626"/>
              <a:gd name="T8" fmla="*/ 2147483647 w 1489"/>
              <a:gd name="T9" fmla="*/ 2147483647 h 626"/>
              <a:gd name="T10" fmla="*/ 2147483647 w 1489"/>
              <a:gd name="T11" fmla="*/ 2147483647 h 626"/>
              <a:gd name="T12" fmla="*/ 0 60000 65536"/>
              <a:gd name="T13" fmla="*/ 0 60000 65536"/>
              <a:gd name="T14" fmla="*/ 0 60000 65536"/>
              <a:gd name="T15" fmla="*/ 0 60000 65536"/>
              <a:gd name="T16" fmla="*/ 0 60000 65536"/>
              <a:gd name="T17" fmla="*/ 0 60000 65536"/>
              <a:gd name="T18" fmla="*/ 0 w 1489"/>
              <a:gd name="T19" fmla="*/ 0 h 626"/>
              <a:gd name="T20" fmla="*/ 1489 w 1489"/>
              <a:gd name="T21" fmla="*/ 626 h 626"/>
            </a:gdLst>
            <a:ahLst/>
            <a:cxnLst>
              <a:cxn ang="T12">
                <a:pos x="T0" y="T1"/>
              </a:cxn>
              <a:cxn ang="T13">
                <a:pos x="T2" y="T3"/>
              </a:cxn>
              <a:cxn ang="T14">
                <a:pos x="T4" y="T5"/>
              </a:cxn>
              <a:cxn ang="T15">
                <a:pos x="T6" y="T7"/>
              </a:cxn>
              <a:cxn ang="T16">
                <a:pos x="T8" y="T9"/>
              </a:cxn>
              <a:cxn ang="T17">
                <a:pos x="T10" y="T11"/>
              </a:cxn>
            </a:cxnLst>
            <a:rect l="T18" t="T19" r="T20" b="T21"/>
            <a:pathLst>
              <a:path w="1489" h="626">
                <a:moveTo>
                  <a:pt x="174" y="617"/>
                </a:moveTo>
                <a:cubicBezTo>
                  <a:pt x="0" y="596"/>
                  <a:pt x="179" y="600"/>
                  <a:pt x="275" y="498"/>
                </a:cubicBezTo>
                <a:cubicBezTo>
                  <a:pt x="371" y="396"/>
                  <a:pt x="597" y="10"/>
                  <a:pt x="752" y="5"/>
                </a:cubicBezTo>
                <a:cubicBezTo>
                  <a:pt x="907" y="0"/>
                  <a:pt x="1114" y="366"/>
                  <a:pt x="1208" y="470"/>
                </a:cubicBezTo>
                <a:cubicBezTo>
                  <a:pt x="1302" y="574"/>
                  <a:pt x="1489" y="601"/>
                  <a:pt x="1317" y="626"/>
                </a:cubicBezTo>
                <a:lnTo>
                  <a:pt x="174" y="617"/>
                </a:lnTo>
                <a:close/>
              </a:path>
            </a:pathLst>
          </a:custGeom>
          <a:solidFill>
            <a:schemeClr val="accent1">
              <a:alpha val="50195"/>
            </a:schemeClr>
          </a:solidFill>
          <a:ln w="9525">
            <a:solidFill>
              <a:schemeClr val="tx1"/>
            </a:solidFill>
            <a:round/>
            <a:headEnd/>
            <a:tailEnd/>
          </a:ln>
        </p:spPr>
        <p:txBody>
          <a:bodyPr/>
          <a:lstStyle/>
          <a:p>
            <a:endParaRPr lang="zh-CN" altLang="en-US"/>
          </a:p>
        </p:txBody>
      </p:sp>
      <p:sp>
        <p:nvSpPr>
          <p:cNvPr id="151568" name="Line 16"/>
          <p:cNvSpPr>
            <a:spLocks noChangeShapeType="1"/>
          </p:cNvSpPr>
          <p:nvPr/>
        </p:nvSpPr>
        <p:spPr bwMode="auto">
          <a:xfrm>
            <a:off x="7092950" y="4149725"/>
            <a:ext cx="0" cy="574675"/>
          </a:xfrm>
          <a:prstGeom prst="line">
            <a:avLst/>
          </a:prstGeom>
          <a:noFill/>
          <a:ln w="28575">
            <a:solidFill>
              <a:srgbClr val="FF9900"/>
            </a:solidFill>
            <a:round/>
            <a:headEnd/>
            <a:tailEnd/>
          </a:ln>
        </p:spPr>
        <p:txBody>
          <a:bodyPr/>
          <a:lstStyle/>
          <a:p>
            <a:endParaRPr lang="zh-CN" altLang="en-US"/>
          </a:p>
        </p:txBody>
      </p:sp>
      <p:sp>
        <p:nvSpPr>
          <p:cNvPr id="151569" name="Text Box 17"/>
          <p:cNvSpPr txBox="1">
            <a:spLocks noChangeArrowheads="1"/>
          </p:cNvSpPr>
          <p:nvPr/>
        </p:nvSpPr>
        <p:spPr bwMode="auto">
          <a:xfrm>
            <a:off x="5127625" y="5394325"/>
            <a:ext cx="1028700" cy="457200"/>
          </a:xfrm>
          <a:prstGeom prst="rect">
            <a:avLst/>
          </a:prstGeom>
          <a:noFill/>
          <a:ln w="9525">
            <a:noFill/>
            <a:miter lim="800000"/>
            <a:headEnd/>
            <a:tailEnd/>
          </a:ln>
        </p:spPr>
        <p:txBody>
          <a:bodyPr>
            <a:spAutoFit/>
          </a:bodyPr>
          <a:lstStyle/>
          <a:p>
            <a:r>
              <a:rPr lang="en-US" altLang="zh-CN" sz="2400" b="1">
                <a:solidFill>
                  <a:srgbClr val="FF0000"/>
                </a:solidFill>
                <a:latin typeface="Times New Roman" pitchFamily="18" charset="0"/>
              </a:rPr>
              <a:t>???</a:t>
            </a:r>
          </a:p>
        </p:txBody>
      </p:sp>
      <p:sp>
        <p:nvSpPr>
          <p:cNvPr id="151570" name="Text Box 18"/>
          <p:cNvSpPr txBox="1">
            <a:spLocks noChangeArrowheads="1"/>
          </p:cNvSpPr>
          <p:nvPr/>
        </p:nvSpPr>
        <p:spPr bwMode="auto">
          <a:xfrm>
            <a:off x="533400" y="1066800"/>
            <a:ext cx="5105400"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FF3300"/>
                </a:solidFill>
                <a:latin typeface="Times New Roman" pitchFamily="18" charset="0"/>
              </a:rPr>
              <a:t>例如伽耳顿板实验中小球的分布：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70"/>
                                        </p:tgtEl>
                                        <p:attrNameLst>
                                          <p:attrName>style.visibility</p:attrName>
                                        </p:attrNameLst>
                                      </p:cBhvr>
                                      <p:to>
                                        <p:strVal val="visible"/>
                                      </p:to>
                                    </p:set>
                                    <p:animEffect transition="in" filter="wipe(left)">
                                      <p:cBhvr>
                                        <p:cTn id="7" dur="500"/>
                                        <p:tgtEl>
                                          <p:spTgt spid="1515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1554"/>
                                        </p:tgtEl>
                                        <p:attrNameLst>
                                          <p:attrName>style.visibility</p:attrName>
                                        </p:attrNameLst>
                                      </p:cBhvr>
                                      <p:to>
                                        <p:strVal val="visible"/>
                                      </p:to>
                                    </p:set>
                                    <p:animEffect transition="in" filter="box(out)">
                                      <p:cBhvr>
                                        <p:cTn id="12" dur="500"/>
                                        <p:tgtEl>
                                          <p:spTgt spid="1515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8"/>
                                        </p:tgtEl>
                                        <p:attrNameLst>
                                          <p:attrName>style.visibility</p:attrName>
                                        </p:attrNameLst>
                                      </p:cBhvr>
                                      <p:to>
                                        <p:strVal val="visible"/>
                                      </p:to>
                                    </p:set>
                                    <p:animEffect transition="in" filter="wipe(left)">
                                      <p:cBhvr>
                                        <p:cTn id="17" dur="500"/>
                                        <p:tgtEl>
                                          <p:spTgt spid="1515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60"/>
                                        </p:tgtEl>
                                        <p:attrNameLst>
                                          <p:attrName>style.visibility</p:attrName>
                                        </p:attrNameLst>
                                      </p:cBhvr>
                                      <p:to>
                                        <p:strVal val="visible"/>
                                      </p:to>
                                    </p:set>
                                    <p:animEffect transition="in" filter="wipe(left)">
                                      <p:cBhvr>
                                        <p:cTn id="22" dur="500"/>
                                        <p:tgtEl>
                                          <p:spTgt spid="15156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51561"/>
                                        </p:tgtEl>
                                        <p:attrNameLst>
                                          <p:attrName>style.visibility</p:attrName>
                                        </p:attrNameLst>
                                      </p:cBhvr>
                                      <p:to>
                                        <p:strVal val="visible"/>
                                      </p:to>
                                    </p:set>
                                    <p:animEffect transition="in" filter="wipe(left)">
                                      <p:cBhvr>
                                        <p:cTn id="26" dur="500"/>
                                        <p:tgtEl>
                                          <p:spTgt spid="151561"/>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51555"/>
                                        </p:tgtEl>
                                        <p:attrNameLst>
                                          <p:attrName>style.visibility</p:attrName>
                                        </p:attrNameLst>
                                      </p:cBhvr>
                                      <p:to>
                                        <p:strVal val="visible"/>
                                      </p:to>
                                    </p:set>
                                    <p:animEffect transition="in" filter="wipe(left)">
                                      <p:cBhvr>
                                        <p:cTn id="30" dur="500"/>
                                        <p:tgtEl>
                                          <p:spTgt spid="15155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51559"/>
                                        </p:tgtEl>
                                        <p:attrNameLst>
                                          <p:attrName>style.visibility</p:attrName>
                                        </p:attrNameLst>
                                      </p:cBhvr>
                                      <p:to>
                                        <p:strVal val="visible"/>
                                      </p:to>
                                    </p:set>
                                    <p:animEffect transition="in" filter="wipe(left)">
                                      <p:cBhvr>
                                        <p:cTn id="35" dur="500"/>
                                        <p:tgtEl>
                                          <p:spTgt spid="151559"/>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151557"/>
                                        </p:tgtEl>
                                        <p:attrNameLst>
                                          <p:attrName>style.visibility</p:attrName>
                                        </p:attrNameLst>
                                      </p:cBhvr>
                                      <p:to>
                                        <p:strVal val="visible"/>
                                      </p:to>
                                    </p:set>
                                    <p:animEffect transition="in" filter="wipe(down)">
                                      <p:cBhvr>
                                        <p:cTn id="39" dur="500"/>
                                        <p:tgtEl>
                                          <p:spTgt spid="151557"/>
                                        </p:tgtEl>
                                      </p:cBhvr>
                                    </p:animEffect>
                                  </p:childTnLst>
                                </p:cTn>
                              </p:par>
                            </p:childTnLst>
                          </p:cTn>
                        </p:par>
                        <p:par>
                          <p:cTn id="40" fill="hold">
                            <p:stCondLst>
                              <p:cond delay="1000"/>
                            </p:stCondLst>
                            <p:childTnLst>
                              <p:par>
                                <p:cTn id="41" presetID="22" presetClass="entr" presetSubtype="4" fill="hold" grpId="0" nodeType="afterEffect">
                                  <p:stCondLst>
                                    <p:cond delay="0"/>
                                  </p:stCondLst>
                                  <p:childTnLst>
                                    <p:set>
                                      <p:cBhvr>
                                        <p:cTn id="42" dur="1" fill="hold">
                                          <p:stCondLst>
                                            <p:cond delay="0"/>
                                          </p:stCondLst>
                                        </p:cTn>
                                        <p:tgtEl>
                                          <p:spTgt spid="151556"/>
                                        </p:tgtEl>
                                        <p:attrNameLst>
                                          <p:attrName>style.visibility</p:attrName>
                                        </p:attrNameLst>
                                      </p:cBhvr>
                                      <p:to>
                                        <p:strVal val="visible"/>
                                      </p:to>
                                    </p:set>
                                    <p:animEffect transition="in" filter="wipe(down)">
                                      <p:cBhvr>
                                        <p:cTn id="43" dur="500"/>
                                        <p:tgtEl>
                                          <p:spTgt spid="15155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1562"/>
                                        </p:tgtEl>
                                        <p:attrNameLst>
                                          <p:attrName>style.visibility</p:attrName>
                                        </p:attrNameLst>
                                      </p:cBhvr>
                                      <p:to>
                                        <p:strVal val="visible"/>
                                      </p:to>
                                    </p:set>
                                    <p:animEffect transition="in" filter="wipe(left)">
                                      <p:cBhvr>
                                        <p:cTn id="48" dur="500"/>
                                        <p:tgtEl>
                                          <p:spTgt spid="151562"/>
                                        </p:tgtEl>
                                      </p:cBhvr>
                                    </p:animEffect>
                                  </p:childTnLst>
                                </p:cTn>
                              </p:par>
                            </p:childTnLst>
                          </p:cTn>
                        </p:par>
                        <p:par>
                          <p:cTn id="49" fill="hold">
                            <p:stCondLst>
                              <p:cond delay="500"/>
                            </p:stCondLst>
                            <p:childTnLst>
                              <p:par>
                                <p:cTn id="50" presetID="22" presetClass="entr" presetSubtype="4" fill="hold" grpId="0" nodeType="afterEffect">
                                  <p:stCondLst>
                                    <p:cond delay="0"/>
                                  </p:stCondLst>
                                  <p:childTnLst>
                                    <p:set>
                                      <p:cBhvr>
                                        <p:cTn id="51" dur="1" fill="hold">
                                          <p:stCondLst>
                                            <p:cond delay="0"/>
                                          </p:stCondLst>
                                        </p:cTn>
                                        <p:tgtEl>
                                          <p:spTgt spid="151567"/>
                                        </p:tgtEl>
                                        <p:attrNameLst>
                                          <p:attrName>style.visibility</p:attrName>
                                        </p:attrNameLst>
                                      </p:cBhvr>
                                      <p:to>
                                        <p:strVal val="visible"/>
                                      </p:to>
                                    </p:set>
                                    <p:animEffect transition="in" filter="wipe(down)">
                                      <p:cBhvr>
                                        <p:cTn id="52" dur="500"/>
                                        <p:tgtEl>
                                          <p:spTgt spid="1515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1564"/>
                                        </p:tgtEl>
                                        <p:attrNameLst>
                                          <p:attrName>style.visibility</p:attrName>
                                        </p:attrNameLst>
                                      </p:cBhvr>
                                      <p:to>
                                        <p:strVal val="visible"/>
                                      </p:to>
                                    </p:set>
                                    <p:animEffect transition="in" filter="wipe(left)">
                                      <p:cBhvr>
                                        <p:cTn id="57" dur="500"/>
                                        <p:tgtEl>
                                          <p:spTgt spid="15156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1565"/>
                                        </p:tgtEl>
                                        <p:attrNameLst>
                                          <p:attrName>style.visibility</p:attrName>
                                        </p:attrNameLst>
                                      </p:cBhvr>
                                      <p:to>
                                        <p:strVal val="visible"/>
                                      </p:to>
                                    </p:set>
                                    <p:animEffect transition="in" filter="wipe(left)">
                                      <p:cBhvr>
                                        <p:cTn id="62" dur="500"/>
                                        <p:tgtEl>
                                          <p:spTgt spid="15156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1563"/>
                                        </p:tgtEl>
                                        <p:attrNameLst>
                                          <p:attrName>style.visibility</p:attrName>
                                        </p:attrNameLst>
                                      </p:cBhvr>
                                      <p:to>
                                        <p:strVal val="visible"/>
                                      </p:to>
                                    </p:set>
                                    <p:animEffect transition="in" filter="wipe(left)">
                                      <p:cBhvr>
                                        <p:cTn id="67" dur="500"/>
                                        <p:tgtEl>
                                          <p:spTgt spid="15156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1566"/>
                                        </p:tgtEl>
                                        <p:attrNameLst>
                                          <p:attrName>style.visibility</p:attrName>
                                        </p:attrNameLst>
                                      </p:cBhvr>
                                      <p:to>
                                        <p:strVal val="visible"/>
                                      </p:to>
                                    </p:set>
                                    <p:animEffect transition="in" filter="wipe(left)">
                                      <p:cBhvr>
                                        <p:cTn id="72" dur="500"/>
                                        <p:tgtEl>
                                          <p:spTgt spid="151566"/>
                                        </p:tgtEl>
                                      </p:cBhvr>
                                    </p:animEffect>
                                  </p:childTnLst>
                                </p:cTn>
                              </p:par>
                            </p:childTnLst>
                          </p:cTn>
                        </p:par>
                        <p:par>
                          <p:cTn id="73" fill="hold">
                            <p:stCondLst>
                              <p:cond delay="500"/>
                            </p:stCondLst>
                            <p:childTnLst>
                              <p:par>
                                <p:cTn id="74" presetID="22" presetClass="entr" presetSubtype="4" fill="hold" grpId="0" nodeType="afterEffect">
                                  <p:stCondLst>
                                    <p:cond delay="0"/>
                                  </p:stCondLst>
                                  <p:childTnLst>
                                    <p:set>
                                      <p:cBhvr>
                                        <p:cTn id="75" dur="1" fill="hold">
                                          <p:stCondLst>
                                            <p:cond delay="0"/>
                                          </p:stCondLst>
                                        </p:cTn>
                                        <p:tgtEl>
                                          <p:spTgt spid="151568"/>
                                        </p:tgtEl>
                                        <p:attrNameLst>
                                          <p:attrName>style.visibility</p:attrName>
                                        </p:attrNameLst>
                                      </p:cBhvr>
                                      <p:to>
                                        <p:strVal val="visible"/>
                                      </p:to>
                                    </p:set>
                                    <p:animEffect transition="in" filter="wipe(down)">
                                      <p:cBhvr>
                                        <p:cTn id="76" dur="500"/>
                                        <p:tgtEl>
                                          <p:spTgt spid="15156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515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animBg="1"/>
      <p:bldP spid="151556" grpId="0" animBg="1"/>
      <p:bldP spid="151557" grpId="0" animBg="1"/>
      <p:bldP spid="151558" grpId="0" autoUpdateAnimBg="0"/>
      <p:bldP spid="151560" grpId="0" animBg="1"/>
      <p:bldP spid="151561" grpId="0" autoUpdateAnimBg="0"/>
      <p:bldP spid="151562" grpId="0" autoUpdateAnimBg="0"/>
      <p:bldP spid="151564" grpId="0" animBg="1"/>
      <p:bldP spid="151565" grpId="0" autoUpdateAnimBg="0"/>
      <p:bldP spid="151567" grpId="0" animBg="1"/>
      <p:bldP spid="151568" grpId="0" animBg="1"/>
      <p:bldP spid="151569" grpId="0" autoUpdateAnimBg="0"/>
      <p:bldP spid="15157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09600" y="838200"/>
            <a:ext cx="6697663" cy="457200"/>
          </a:xfrm>
          <a:prstGeom prst="rect">
            <a:avLst/>
          </a:prstGeom>
          <a:noFill/>
          <a:ln w="9525">
            <a:noFill/>
            <a:miter lim="800000"/>
            <a:headEnd/>
            <a:tailEnd/>
          </a:ln>
        </p:spPr>
        <p:txBody>
          <a:bodyPr>
            <a:spAutoFit/>
          </a:bodyPr>
          <a:lstStyle/>
          <a:p>
            <a:r>
              <a:rPr lang="zh-CN" altLang="en-US" sz="2400" b="1">
                <a:solidFill>
                  <a:srgbClr val="FF3300"/>
                </a:solidFill>
                <a:latin typeface="Times New Roman" pitchFamily="18" charset="0"/>
              </a:rPr>
              <a:t>例如某一时刻理想气体分子的速率 </a:t>
            </a:r>
            <a:r>
              <a:rPr lang="en-US" altLang="zh-CN" sz="2400" b="1" i="1">
                <a:solidFill>
                  <a:srgbClr val="FF3300"/>
                </a:solidFill>
                <a:latin typeface="Times New Roman" pitchFamily="18" charset="0"/>
              </a:rPr>
              <a:t>v</a:t>
            </a:r>
            <a:r>
              <a:rPr lang="en-US" altLang="zh-CN" sz="2400" b="1">
                <a:solidFill>
                  <a:srgbClr val="FF3300"/>
                </a:solidFill>
                <a:latin typeface="Times New Roman" pitchFamily="18" charset="0"/>
              </a:rPr>
              <a:t> </a:t>
            </a:r>
            <a:r>
              <a:rPr lang="zh-CN" altLang="en-US" sz="2400" b="1">
                <a:solidFill>
                  <a:srgbClr val="FF3300"/>
                </a:solidFill>
                <a:latin typeface="Times New Roman" pitchFamily="18" charset="0"/>
              </a:rPr>
              <a:t>的分布：</a:t>
            </a:r>
          </a:p>
        </p:txBody>
      </p:sp>
      <p:sp>
        <p:nvSpPr>
          <p:cNvPr id="152579" name="Rectangle 3"/>
          <p:cNvSpPr>
            <a:spLocks noChangeArrowheads="1"/>
          </p:cNvSpPr>
          <p:nvPr/>
        </p:nvSpPr>
        <p:spPr bwMode="auto">
          <a:xfrm>
            <a:off x="1690688" y="1412875"/>
            <a:ext cx="890587" cy="719138"/>
          </a:xfrm>
          <a:prstGeom prst="rect">
            <a:avLst/>
          </a:prstGeom>
          <a:solidFill>
            <a:schemeClr val="accent1"/>
          </a:solidFill>
          <a:ln w="9525">
            <a:solidFill>
              <a:schemeClr val="tx1"/>
            </a:solidFill>
            <a:miter lim="800000"/>
            <a:headEnd/>
            <a:tailEnd/>
          </a:ln>
        </p:spPr>
        <p:txBody>
          <a:bodyPr wrap="none" anchor="ctr"/>
          <a:lstStyle/>
          <a:p>
            <a:r>
              <a:rPr lang="en-US" altLang="zh-CN" sz="2400" b="1" i="1">
                <a:latin typeface="Times New Roman" pitchFamily="18" charset="0"/>
              </a:rPr>
              <a:t>v</a:t>
            </a:r>
          </a:p>
        </p:txBody>
      </p:sp>
      <p:sp>
        <p:nvSpPr>
          <p:cNvPr id="152580" name="Rectangle 4"/>
          <p:cNvSpPr>
            <a:spLocks noChangeArrowheads="1"/>
          </p:cNvSpPr>
          <p:nvPr/>
        </p:nvSpPr>
        <p:spPr bwMode="auto">
          <a:xfrm>
            <a:off x="2600325" y="1412875"/>
            <a:ext cx="890588"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１</a:t>
            </a:r>
            <a:endParaRPr lang="zh-CN" altLang="en-US" sz="2400" b="1">
              <a:latin typeface="Times New Roman" pitchFamily="18" charset="0"/>
            </a:endParaRPr>
          </a:p>
        </p:txBody>
      </p:sp>
      <p:sp>
        <p:nvSpPr>
          <p:cNvPr id="152581" name="Rectangle 5"/>
          <p:cNvSpPr>
            <a:spLocks noChangeArrowheads="1"/>
          </p:cNvSpPr>
          <p:nvPr/>
        </p:nvSpPr>
        <p:spPr bwMode="auto">
          <a:xfrm>
            <a:off x="3463925" y="1412875"/>
            <a:ext cx="890588"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２</a:t>
            </a:r>
          </a:p>
        </p:txBody>
      </p:sp>
      <p:sp>
        <p:nvSpPr>
          <p:cNvPr id="152582" name="Rectangle 6"/>
          <p:cNvSpPr>
            <a:spLocks noChangeArrowheads="1"/>
          </p:cNvSpPr>
          <p:nvPr/>
        </p:nvSpPr>
        <p:spPr bwMode="auto">
          <a:xfrm>
            <a:off x="4354513" y="1412875"/>
            <a:ext cx="890587"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３</a:t>
            </a:r>
          </a:p>
        </p:txBody>
      </p:sp>
      <p:sp>
        <p:nvSpPr>
          <p:cNvPr id="152583" name="Rectangle 7"/>
          <p:cNvSpPr>
            <a:spLocks noChangeArrowheads="1"/>
          </p:cNvSpPr>
          <p:nvPr/>
        </p:nvSpPr>
        <p:spPr bwMode="auto">
          <a:xfrm>
            <a:off x="5232400" y="1414463"/>
            <a:ext cx="1211263" cy="719137"/>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2584" name="Rectangle 8"/>
          <p:cNvSpPr>
            <a:spLocks noChangeArrowheads="1"/>
          </p:cNvSpPr>
          <p:nvPr/>
        </p:nvSpPr>
        <p:spPr bwMode="auto">
          <a:xfrm>
            <a:off x="1689100" y="2132013"/>
            <a:ext cx="890588" cy="719137"/>
          </a:xfrm>
          <a:prstGeom prst="rect">
            <a:avLst/>
          </a:prstGeom>
          <a:solidFill>
            <a:schemeClr val="accent1"/>
          </a:solidFill>
          <a:ln w="9525">
            <a:solidFill>
              <a:schemeClr val="tx1"/>
            </a:solidFill>
            <a:miter lim="800000"/>
            <a:headEnd/>
            <a:tailEnd/>
          </a:ln>
        </p:spPr>
        <p:txBody>
          <a:bodyPr wrap="none" anchor="ctr"/>
          <a:lstStyle/>
          <a:p>
            <a:r>
              <a:rPr lang="zh-CN" altLang="en-US" sz="2400" b="1" i="1">
                <a:latin typeface="Times New Roman" pitchFamily="18" charset="0"/>
              </a:rPr>
              <a:t>Ｎ</a:t>
            </a:r>
          </a:p>
        </p:txBody>
      </p:sp>
      <p:sp>
        <p:nvSpPr>
          <p:cNvPr id="152585" name="Rectangle 9"/>
          <p:cNvSpPr>
            <a:spLocks noChangeArrowheads="1"/>
          </p:cNvSpPr>
          <p:nvPr/>
        </p:nvSpPr>
        <p:spPr bwMode="auto">
          <a:xfrm>
            <a:off x="2598738" y="2132013"/>
            <a:ext cx="890587"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１</a:t>
            </a:r>
            <a:endParaRPr lang="zh-CN" altLang="en-US" sz="2400" b="1">
              <a:latin typeface="Times New Roman" pitchFamily="18" charset="0"/>
            </a:endParaRPr>
          </a:p>
        </p:txBody>
      </p:sp>
      <p:sp>
        <p:nvSpPr>
          <p:cNvPr id="152586" name="Rectangle 10"/>
          <p:cNvSpPr>
            <a:spLocks noChangeArrowheads="1"/>
          </p:cNvSpPr>
          <p:nvPr/>
        </p:nvSpPr>
        <p:spPr bwMode="auto">
          <a:xfrm>
            <a:off x="3462338" y="2132013"/>
            <a:ext cx="890587"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２</a:t>
            </a:r>
          </a:p>
        </p:txBody>
      </p:sp>
      <p:sp>
        <p:nvSpPr>
          <p:cNvPr id="152587" name="Rectangle 11"/>
          <p:cNvSpPr>
            <a:spLocks noChangeArrowheads="1"/>
          </p:cNvSpPr>
          <p:nvPr/>
        </p:nvSpPr>
        <p:spPr bwMode="auto">
          <a:xfrm>
            <a:off x="4352925" y="2132013"/>
            <a:ext cx="890588"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３</a:t>
            </a:r>
          </a:p>
        </p:txBody>
      </p:sp>
      <p:sp>
        <p:nvSpPr>
          <p:cNvPr id="152588" name="Rectangle 12"/>
          <p:cNvSpPr>
            <a:spLocks noChangeArrowheads="1"/>
          </p:cNvSpPr>
          <p:nvPr/>
        </p:nvSpPr>
        <p:spPr bwMode="auto">
          <a:xfrm>
            <a:off x="5230813" y="2133600"/>
            <a:ext cx="1211262" cy="719138"/>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2589" name="Text Box 13"/>
          <p:cNvSpPr txBox="1">
            <a:spLocks noChangeArrowheads="1"/>
          </p:cNvSpPr>
          <p:nvPr/>
        </p:nvSpPr>
        <p:spPr bwMode="auto">
          <a:xfrm>
            <a:off x="827088" y="4003675"/>
            <a:ext cx="5905500" cy="457200"/>
          </a:xfrm>
          <a:prstGeom prst="rect">
            <a:avLst/>
          </a:prstGeom>
          <a:noFill/>
          <a:ln w="9525">
            <a:noFill/>
            <a:miter lim="800000"/>
            <a:headEnd/>
            <a:tailEnd/>
          </a:ln>
        </p:spPr>
        <p:txBody>
          <a:bodyPr>
            <a:spAutoFit/>
          </a:bodyPr>
          <a:lstStyle/>
          <a:p>
            <a:r>
              <a:rPr lang="zh-CN" altLang="en-US" sz="2400" b="1">
                <a:solidFill>
                  <a:srgbClr val="0000FF"/>
                </a:solidFill>
                <a:latin typeface="Times New Roman" pitchFamily="18" charset="0"/>
              </a:rPr>
              <a:t>长时间“观测”理想气体分子的速率 </a:t>
            </a:r>
            <a:r>
              <a:rPr lang="en-US" altLang="zh-CN" sz="2400" b="1" i="1">
                <a:solidFill>
                  <a:srgbClr val="0000FF"/>
                </a:solidFill>
                <a:latin typeface="Times New Roman" pitchFamily="18" charset="0"/>
              </a:rPr>
              <a:t>v</a:t>
            </a:r>
            <a:r>
              <a:rPr lang="en-US" altLang="zh-CN" sz="2400" b="1">
                <a:solidFill>
                  <a:srgbClr val="0000FF"/>
                </a:solidFill>
                <a:latin typeface="Times New Roman" pitchFamily="18" charset="0"/>
              </a:rPr>
              <a:t> </a:t>
            </a:r>
            <a:r>
              <a:rPr lang="zh-CN" altLang="en-US" sz="2400" b="1">
                <a:solidFill>
                  <a:srgbClr val="0000FF"/>
                </a:solidFill>
                <a:latin typeface="Times New Roman" pitchFamily="18" charset="0"/>
              </a:rPr>
              <a:t>：</a:t>
            </a:r>
          </a:p>
        </p:txBody>
      </p:sp>
      <p:sp>
        <p:nvSpPr>
          <p:cNvPr id="152590" name="AutoShape 14"/>
          <p:cNvSpPr>
            <a:spLocks noChangeArrowheads="1"/>
          </p:cNvSpPr>
          <p:nvPr/>
        </p:nvSpPr>
        <p:spPr bwMode="auto">
          <a:xfrm>
            <a:off x="2484438" y="4676775"/>
            <a:ext cx="936625" cy="215900"/>
          </a:xfrm>
          <a:prstGeom prst="rightArrow">
            <a:avLst>
              <a:gd name="adj1" fmla="val 50000"/>
              <a:gd name="adj2" fmla="val 108456"/>
            </a:avLst>
          </a:prstGeom>
          <a:solidFill>
            <a:schemeClr val="accent1"/>
          </a:solidFill>
          <a:ln w="9525">
            <a:solidFill>
              <a:schemeClr val="tx1"/>
            </a:solidFill>
            <a:miter lim="800000"/>
            <a:headEnd/>
            <a:tailEnd/>
          </a:ln>
        </p:spPr>
        <p:txBody>
          <a:bodyPr wrap="none" anchor="ctr"/>
          <a:lstStyle/>
          <a:p>
            <a:endParaRPr lang="zh-CN" altLang="en-US"/>
          </a:p>
        </p:txBody>
      </p:sp>
      <p:sp>
        <p:nvSpPr>
          <p:cNvPr id="152591" name="Text Box 15"/>
          <p:cNvSpPr txBox="1">
            <a:spLocks noChangeArrowheads="1"/>
          </p:cNvSpPr>
          <p:nvPr/>
        </p:nvSpPr>
        <p:spPr bwMode="auto">
          <a:xfrm>
            <a:off x="1978025" y="4506913"/>
            <a:ext cx="865188" cy="457200"/>
          </a:xfrm>
          <a:prstGeom prst="rect">
            <a:avLst/>
          </a:prstGeom>
          <a:noFill/>
          <a:ln w="9525">
            <a:noFill/>
            <a:miter lim="800000"/>
            <a:headEnd/>
            <a:tailEnd/>
          </a:ln>
        </p:spPr>
        <p:txBody>
          <a:bodyPr>
            <a:spAutoFit/>
          </a:bodyPr>
          <a:lstStyle/>
          <a:p>
            <a:r>
              <a:rPr lang="en-US" altLang="zh-CN" sz="2400" b="1" i="1">
                <a:solidFill>
                  <a:schemeClr val="accent2"/>
                </a:solidFill>
                <a:latin typeface="Times New Roman" pitchFamily="18" charset="0"/>
              </a:rPr>
              <a:t>v</a:t>
            </a:r>
          </a:p>
        </p:txBody>
      </p:sp>
      <p:sp>
        <p:nvSpPr>
          <p:cNvPr id="152592" name="Text Box 16"/>
          <p:cNvSpPr txBox="1">
            <a:spLocks noChangeArrowheads="1"/>
          </p:cNvSpPr>
          <p:nvPr/>
        </p:nvSpPr>
        <p:spPr bwMode="auto">
          <a:xfrm>
            <a:off x="3636963" y="4532313"/>
            <a:ext cx="3529012" cy="457200"/>
          </a:xfrm>
          <a:prstGeom prst="rect">
            <a:avLst/>
          </a:prstGeom>
          <a:noFill/>
          <a:ln w="9525">
            <a:noFill/>
            <a:miter lim="800000"/>
            <a:headEnd/>
            <a:tailEnd/>
          </a:ln>
        </p:spPr>
        <p:txBody>
          <a:bodyPr>
            <a:spAutoFit/>
          </a:bodyPr>
          <a:lstStyle/>
          <a:p>
            <a:r>
              <a:rPr lang="en-US" altLang="zh-CN" sz="2400" b="1">
                <a:latin typeface="Times New Roman" pitchFamily="18" charset="0"/>
              </a:rPr>
              <a:t>0 ~ +∞ </a:t>
            </a:r>
            <a:r>
              <a:rPr lang="zh-CN" altLang="en-US" sz="2400" b="1">
                <a:latin typeface="Times New Roman" pitchFamily="18" charset="0"/>
              </a:rPr>
              <a:t>连续分布</a:t>
            </a:r>
          </a:p>
        </p:txBody>
      </p:sp>
      <p:sp>
        <p:nvSpPr>
          <p:cNvPr id="152593" name="Text Box 17"/>
          <p:cNvSpPr txBox="1">
            <a:spLocks noChangeArrowheads="1"/>
          </p:cNvSpPr>
          <p:nvPr/>
        </p:nvSpPr>
        <p:spPr bwMode="auto">
          <a:xfrm>
            <a:off x="1311275" y="3186113"/>
            <a:ext cx="3260725" cy="457200"/>
          </a:xfrm>
          <a:prstGeom prst="rect">
            <a:avLst/>
          </a:prstGeom>
          <a:noFill/>
          <a:ln w="9525">
            <a:noFill/>
            <a:miter lim="800000"/>
            <a:headEnd/>
            <a:tailEnd/>
          </a:ln>
        </p:spPr>
        <p:txBody>
          <a:bodyPr>
            <a:spAutoFit/>
          </a:bodyPr>
          <a:lstStyle/>
          <a:p>
            <a:r>
              <a:rPr lang="zh-CN" altLang="en-US" sz="2400" b="1">
                <a:latin typeface="Times New Roman" pitchFamily="18" charset="0"/>
              </a:rPr>
              <a:t>速率为 </a:t>
            </a:r>
            <a:r>
              <a:rPr lang="en-US" altLang="zh-CN" sz="2400" b="1" i="1">
                <a:latin typeface="Times New Roman" pitchFamily="18" charset="0"/>
              </a:rPr>
              <a:t>v</a:t>
            </a:r>
            <a:r>
              <a:rPr lang="en-US" altLang="zh-CN" sz="2400" b="1" i="1" baseline="-25000">
                <a:latin typeface="Times New Roman" pitchFamily="18" charset="0"/>
              </a:rPr>
              <a:t>i</a:t>
            </a:r>
            <a:r>
              <a:rPr lang="en-US" altLang="zh-CN" sz="2400" b="1">
                <a:latin typeface="Times New Roman" pitchFamily="18" charset="0"/>
              </a:rPr>
              <a:t> </a:t>
            </a:r>
            <a:r>
              <a:rPr lang="zh-CN" altLang="en-US" sz="2400" b="1">
                <a:latin typeface="Times New Roman" pitchFamily="18" charset="0"/>
              </a:rPr>
              <a:t>的概率为：</a:t>
            </a:r>
          </a:p>
        </p:txBody>
      </p:sp>
      <p:graphicFrame>
        <p:nvGraphicFramePr>
          <p:cNvPr id="152594" name="Object 18"/>
          <p:cNvGraphicFramePr>
            <a:graphicFrameLocks noChangeAspect="1"/>
          </p:cNvGraphicFramePr>
          <p:nvPr/>
        </p:nvGraphicFramePr>
        <p:xfrm>
          <a:off x="4284663" y="2995613"/>
          <a:ext cx="1363662" cy="919162"/>
        </p:xfrm>
        <a:graphic>
          <a:graphicData uri="http://schemas.openxmlformats.org/presentationml/2006/ole">
            <p:oleObj spid="_x0000_s36866" name="公式" r:id="rId3" imgW="583920" imgH="393480" progId="Equation.3">
              <p:embed/>
            </p:oleObj>
          </a:graphicData>
        </a:graphic>
      </p:graphicFrame>
      <p:sp>
        <p:nvSpPr>
          <p:cNvPr id="152595" name="Text Box 19"/>
          <p:cNvSpPr txBox="1">
            <a:spLocks noChangeArrowheads="1"/>
          </p:cNvSpPr>
          <p:nvPr/>
        </p:nvSpPr>
        <p:spPr bwMode="auto">
          <a:xfrm>
            <a:off x="971550" y="5181600"/>
            <a:ext cx="4845050" cy="457200"/>
          </a:xfrm>
          <a:prstGeom prst="rect">
            <a:avLst/>
          </a:prstGeom>
          <a:noFill/>
          <a:ln w="9525">
            <a:noFill/>
            <a:miter lim="800000"/>
            <a:headEnd/>
            <a:tailEnd/>
          </a:ln>
        </p:spPr>
        <p:txBody>
          <a:bodyPr>
            <a:spAutoFit/>
          </a:bodyPr>
          <a:lstStyle/>
          <a:p>
            <a:r>
              <a:rPr lang="zh-CN" altLang="en-US" sz="2400" b="1">
                <a:latin typeface="Times New Roman" pitchFamily="18" charset="0"/>
              </a:rPr>
              <a:t>速率为 </a:t>
            </a:r>
            <a:r>
              <a:rPr lang="en-US" altLang="zh-CN" sz="2400" b="1" i="1">
                <a:latin typeface="Times New Roman" pitchFamily="18" charset="0"/>
              </a:rPr>
              <a:t>v</a:t>
            </a:r>
            <a:r>
              <a:rPr lang="en-US" altLang="zh-CN" sz="2400" b="1">
                <a:latin typeface="Times New Roman" pitchFamily="18" charset="0"/>
              </a:rPr>
              <a:t> → </a:t>
            </a:r>
            <a:r>
              <a:rPr lang="en-US" altLang="zh-CN" sz="2400" b="1" i="1">
                <a:latin typeface="Times New Roman" pitchFamily="18" charset="0"/>
              </a:rPr>
              <a:t>v</a:t>
            </a:r>
            <a:r>
              <a:rPr lang="en-US" altLang="zh-CN" sz="2400" b="1">
                <a:latin typeface="Times New Roman" pitchFamily="18" charset="0"/>
              </a:rPr>
              <a:t> + d</a:t>
            </a:r>
            <a:r>
              <a:rPr lang="en-US" altLang="zh-CN" sz="2400" b="1" i="1">
                <a:latin typeface="Times New Roman" pitchFamily="18" charset="0"/>
              </a:rPr>
              <a:t>v</a:t>
            </a:r>
            <a:r>
              <a:rPr lang="en-US" altLang="zh-CN" sz="2400" b="1">
                <a:latin typeface="Times New Roman" pitchFamily="18" charset="0"/>
              </a:rPr>
              <a:t> </a:t>
            </a:r>
            <a:r>
              <a:rPr lang="zh-CN" altLang="en-US" sz="2400" b="1">
                <a:latin typeface="Times New Roman" pitchFamily="18" charset="0"/>
              </a:rPr>
              <a:t>的概率为：</a:t>
            </a:r>
          </a:p>
        </p:txBody>
      </p:sp>
      <p:graphicFrame>
        <p:nvGraphicFramePr>
          <p:cNvPr id="152596" name="Object 20"/>
          <p:cNvGraphicFramePr>
            <a:graphicFrameLocks noChangeAspect="1"/>
          </p:cNvGraphicFramePr>
          <p:nvPr/>
        </p:nvGraphicFramePr>
        <p:xfrm>
          <a:off x="5095875" y="4964113"/>
          <a:ext cx="1985963" cy="919162"/>
        </p:xfrm>
        <a:graphic>
          <a:graphicData uri="http://schemas.openxmlformats.org/presentationml/2006/ole">
            <p:oleObj spid="_x0000_s36867" name="公式" r:id="rId4" imgW="850680" imgH="393480" progId="Equation.3">
              <p:embed/>
            </p:oleObj>
          </a:graphicData>
        </a:graphic>
      </p:graphicFrame>
      <p:graphicFrame>
        <p:nvGraphicFramePr>
          <p:cNvPr id="152597" name="Object 21"/>
          <p:cNvGraphicFramePr>
            <a:graphicFrameLocks noChangeAspect="1"/>
          </p:cNvGraphicFramePr>
          <p:nvPr/>
        </p:nvGraphicFramePr>
        <p:xfrm>
          <a:off x="7100888" y="5214938"/>
          <a:ext cx="711200" cy="414337"/>
        </p:xfrm>
        <a:graphic>
          <a:graphicData uri="http://schemas.openxmlformats.org/presentationml/2006/ole">
            <p:oleObj spid="_x0000_s36868" name="公式" r:id="rId5" imgW="304560" imgH="177480" progId="Equation.3">
              <p:embed/>
            </p:oleObj>
          </a:graphicData>
        </a:graphic>
      </p:graphicFrame>
      <p:sp>
        <p:nvSpPr>
          <p:cNvPr id="152598" name="Text Box 22"/>
          <p:cNvSpPr txBox="1">
            <a:spLocks noChangeArrowheads="1"/>
          </p:cNvSpPr>
          <p:nvPr/>
        </p:nvSpPr>
        <p:spPr bwMode="auto">
          <a:xfrm>
            <a:off x="7935913" y="5181600"/>
            <a:ext cx="1028700" cy="457200"/>
          </a:xfrm>
          <a:prstGeom prst="rect">
            <a:avLst/>
          </a:prstGeom>
          <a:noFill/>
          <a:ln w="9525">
            <a:noFill/>
            <a:miter lim="800000"/>
            <a:headEnd/>
            <a:tailEnd/>
          </a:ln>
        </p:spPr>
        <p:txBody>
          <a:bodyPr>
            <a:spAutoFit/>
          </a:bodyPr>
          <a:lstStyle/>
          <a:p>
            <a:r>
              <a:rPr lang="en-US" altLang="zh-CN" sz="2400" b="1">
                <a:solidFill>
                  <a:srgbClr val="FF0000"/>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2578"/>
                                        </p:tgtEl>
                                        <p:attrNameLst>
                                          <p:attrName>style.visibility</p:attrName>
                                        </p:attrNameLst>
                                      </p:cBhvr>
                                      <p:to>
                                        <p:strVal val="visible"/>
                                      </p:to>
                                    </p:set>
                                    <p:animEffect transition="in" filter="wipe(left)">
                                      <p:cBhvr>
                                        <p:cTn id="7" dur="500"/>
                                        <p:tgtEl>
                                          <p:spTgt spid="1525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79"/>
                                        </p:tgtEl>
                                        <p:attrNameLst>
                                          <p:attrName>style.visibility</p:attrName>
                                        </p:attrNameLst>
                                      </p:cBhvr>
                                      <p:to>
                                        <p:strVal val="visible"/>
                                      </p:to>
                                    </p:set>
                                    <p:animEffect transition="in" filter="wipe(left)">
                                      <p:cBhvr>
                                        <p:cTn id="12" dur="500"/>
                                        <p:tgtEl>
                                          <p:spTgt spid="15257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52584"/>
                                        </p:tgtEl>
                                        <p:attrNameLst>
                                          <p:attrName>style.visibility</p:attrName>
                                        </p:attrNameLst>
                                      </p:cBhvr>
                                      <p:to>
                                        <p:strVal val="visible"/>
                                      </p:to>
                                    </p:set>
                                    <p:animEffect transition="in" filter="wipe(left)">
                                      <p:cBhvr>
                                        <p:cTn id="16" dur="500"/>
                                        <p:tgtEl>
                                          <p:spTgt spid="15258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2580"/>
                                        </p:tgtEl>
                                        <p:attrNameLst>
                                          <p:attrName>style.visibility</p:attrName>
                                        </p:attrNameLst>
                                      </p:cBhvr>
                                      <p:to>
                                        <p:strVal val="visible"/>
                                      </p:to>
                                    </p:set>
                                    <p:animEffect transition="in" filter="wipe(left)">
                                      <p:cBhvr>
                                        <p:cTn id="21" dur="500"/>
                                        <p:tgtEl>
                                          <p:spTgt spid="15258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52581"/>
                                        </p:tgtEl>
                                        <p:attrNameLst>
                                          <p:attrName>style.visibility</p:attrName>
                                        </p:attrNameLst>
                                      </p:cBhvr>
                                      <p:to>
                                        <p:strVal val="visible"/>
                                      </p:to>
                                    </p:set>
                                    <p:animEffect transition="in" filter="wipe(left)">
                                      <p:cBhvr>
                                        <p:cTn id="25" dur="500"/>
                                        <p:tgtEl>
                                          <p:spTgt spid="152581"/>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52582"/>
                                        </p:tgtEl>
                                        <p:attrNameLst>
                                          <p:attrName>style.visibility</p:attrName>
                                        </p:attrNameLst>
                                      </p:cBhvr>
                                      <p:to>
                                        <p:strVal val="visible"/>
                                      </p:to>
                                    </p:set>
                                    <p:animEffect transition="in" filter="wipe(left)">
                                      <p:cBhvr>
                                        <p:cTn id="29" dur="500"/>
                                        <p:tgtEl>
                                          <p:spTgt spid="152582"/>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52583"/>
                                        </p:tgtEl>
                                        <p:attrNameLst>
                                          <p:attrName>style.visibility</p:attrName>
                                        </p:attrNameLst>
                                      </p:cBhvr>
                                      <p:to>
                                        <p:strVal val="visible"/>
                                      </p:to>
                                    </p:set>
                                    <p:animEffect transition="in" filter="wipe(left)">
                                      <p:cBhvr>
                                        <p:cTn id="33" dur="500"/>
                                        <p:tgtEl>
                                          <p:spTgt spid="15258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52585"/>
                                        </p:tgtEl>
                                        <p:attrNameLst>
                                          <p:attrName>style.visibility</p:attrName>
                                        </p:attrNameLst>
                                      </p:cBhvr>
                                      <p:to>
                                        <p:strVal val="visible"/>
                                      </p:to>
                                    </p:set>
                                    <p:animEffect transition="in" filter="wipe(left)">
                                      <p:cBhvr>
                                        <p:cTn id="38" dur="500"/>
                                        <p:tgtEl>
                                          <p:spTgt spid="152585"/>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52586"/>
                                        </p:tgtEl>
                                        <p:attrNameLst>
                                          <p:attrName>style.visibility</p:attrName>
                                        </p:attrNameLst>
                                      </p:cBhvr>
                                      <p:to>
                                        <p:strVal val="visible"/>
                                      </p:to>
                                    </p:set>
                                    <p:animEffect transition="in" filter="wipe(left)">
                                      <p:cBhvr>
                                        <p:cTn id="42" dur="500"/>
                                        <p:tgtEl>
                                          <p:spTgt spid="152586"/>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52587"/>
                                        </p:tgtEl>
                                        <p:attrNameLst>
                                          <p:attrName>style.visibility</p:attrName>
                                        </p:attrNameLst>
                                      </p:cBhvr>
                                      <p:to>
                                        <p:strVal val="visible"/>
                                      </p:to>
                                    </p:set>
                                    <p:animEffect transition="in" filter="wipe(left)">
                                      <p:cBhvr>
                                        <p:cTn id="46" dur="500"/>
                                        <p:tgtEl>
                                          <p:spTgt spid="152587"/>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152588"/>
                                        </p:tgtEl>
                                        <p:attrNameLst>
                                          <p:attrName>style.visibility</p:attrName>
                                        </p:attrNameLst>
                                      </p:cBhvr>
                                      <p:to>
                                        <p:strVal val="visible"/>
                                      </p:to>
                                    </p:set>
                                    <p:animEffect transition="in" filter="wipe(left)">
                                      <p:cBhvr>
                                        <p:cTn id="50" dur="500"/>
                                        <p:tgtEl>
                                          <p:spTgt spid="15258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2593"/>
                                        </p:tgtEl>
                                        <p:attrNameLst>
                                          <p:attrName>style.visibility</p:attrName>
                                        </p:attrNameLst>
                                      </p:cBhvr>
                                      <p:to>
                                        <p:strVal val="visible"/>
                                      </p:to>
                                    </p:set>
                                    <p:animEffect transition="in" filter="wipe(left)">
                                      <p:cBhvr>
                                        <p:cTn id="55" dur="500"/>
                                        <p:tgtEl>
                                          <p:spTgt spid="15259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52594"/>
                                        </p:tgtEl>
                                        <p:attrNameLst>
                                          <p:attrName>style.visibility</p:attrName>
                                        </p:attrNameLst>
                                      </p:cBhvr>
                                      <p:to>
                                        <p:strVal val="visible"/>
                                      </p:to>
                                    </p:set>
                                    <p:animEffect transition="in" filter="wipe(left)">
                                      <p:cBhvr>
                                        <p:cTn id="60" dur="500"/>
                                        <p:tgtEl>
                                          <p:spTgt spid="15259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2589"/>
                                        </p:tgtEl>
                                        <p:attrNameLst>
                                          <p:attrName>style.visibility</p:attrName>
                                        </p:attrNameLst>
                                      </p:cBhvr>
                                      <p:to>
                                        <p:strVal val="visible"/>
                                      </p:to>
                                    </p:set>
                                    <p:animEffect transition="in" filter="wipe(left)">
                                      <p:cBhvr>
                                        <p:cTn id="65" dur="500"/>
                                        <p:tgtEl>
                                          <p:spTgt spid="15258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2591"/>
                                        </p:tgtEl>
                                        <p:attrNameLst>
                                          <p:attrName>style.visibility</p:attrName>
                                        </p:attrNameLst>
                                      </p:cBhvr>
                                      <p:to>
                                        <p:strVal val="visible"/>
                                      </p:to>
                                    </p:set>
                                    <p:animEffect transition="in" filter="wipe(left)">
                                      <p:cBhvr>
                                        <p:cTn id="70" dur="500"/>
                                        <p:tgtEl>
                                          <p:spTgt spid="152591"/>
                                        </p:tgtEl>
                                      </p:cBhvr>
                                    </p:animEffect>
                                  </p:childTnLst>
                                </p:cTn>
                              </p:par>
                            </p:childTnLst>
                          </p:cTn>
                        </p:par>
                        <p:par>
                          <p:cTn id="71" fill="hold">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152590"/>
                                        </p:tgtEl>
                                        <p:attrNameLst>
                                          <p:attrName>style.visibility</p:attrName>
                                        </p:attrNameLst>
                                      </p:cBhvr>
                                      <p:to>
                                        <p:strVal val="visible"/>
                                      </p:to>
                                    </p:set>
                                    <p:animEffect transition="in" filter="wipe(left)">
                                      <p:cBhvr>
                                        <p:cTn id="74" dur="500"/>
                                        <p:tgtEl>
                                          <p:spTgt spid="152590"/>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152592"/>
                                        </p:tgtEl>
                                        <p:attrNameLst>
                                          <p:attrName>style.visibility</p:attrName>
                                        </p:attrNameLst>
                                      </p:cBhvr>
                                      <p:to>
                                        <p:strVal val="visible"/>
                                      </p:to>
                                    </p:set>
                                    <p:animEffect transition="in" filter="wipe(left)">
                                      <p:cBhvr>
                                        <p:cTn id="78" dur="500"/>
                                        <p:tgtEl>
                                          <p:spTgt spid="15259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52595"/>
                                        </p:tgtEl>
                                        <p:attrNameLst>
                                          <p:attrName>style.visibility</p:attrName>
                                        </p:attrNameLst>
                                      </p:cBhvr>
                                      <p:to>
                                        <p:strVal val="visible"/>
                                      </p:to>
                                    </p:set>
                                    <p:animEffect transition="in" filter="wipe(left)">
                                      <p:cBhvr>
                                        <p:cTn id="83" dur="500"/>
                                        <p:tgtEl>
                                          <p:spTgt spid="15259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52596"/>
                                        </p:tgtEl>
                                        <p:attrNameLst>
                                          <p:attrName>style.visibility</p:attrName>
                                        </p:attrNameLst>
                                      </p:cBhvr>
                                      <p:to>
                                        <p:strVal val="visible"/>
                                      </p:to>
                                    </p:set>
                                    <p:animEffect transition="in" filter="wipe(left)">
                                      <p:cBhvr>
                                        <p:cTn id="88" dur="500"/>
                                        <p:tgtEl>
                                          <p:spTgt spid="15259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52597"/>
                                        </p:tgtEl>
                                        <p:attrNameLst>
                                          <p:attrName>style.visibility</p:attrName>
                                        </p:attrNameLst>
                                      </p:cBhvr>
                                      <p:to>
                                        <p:strVal val="visible"/>
                                      </p:to>
                                    </p:set>
                                    <p:animEffect transition="in" filter="wipe(left)">
                                      <p:cBhvr>
                                        <p:cTn id="93" dur="500"/>
                                        <p:tgtEl>
                                          <p:spTgt spid="152597"/>
                                        </p:tgtEl>
                                      </p:cBhvr>
                                    </p:animEffect>
                                  </p:childTnLst>
                                </p:cTn>
                              </p:par>
                            </p:childTnLst>
                          </p:cTn>
                        </p:par>
                      </p:childTnLst>
                    </p:cTn>
                  </p:par>
                  <p:par>
                    <p:cTn id="94" fill="hold">
                      <p:stCondLst>
                        <p:cond delay="indefinite"/>
                      </p:stCondLst>
                      <p:childTnLst>
                        <p:par>
                          <p:cTn id="95" fill="hold">
                            <p:stCondLst>
                              <p:cond delay="0"/>
                            </p:stCondLst>
                            <p:childTnLst>
                              <p:par>
                                <p:cTn id="96" presetID="35" presetClass="entr" presetSubtype="0" fill="hold" grpId="0" nodeType="clickEffect">
                                  <p:stCondLst>
                                    <p:cond delay="0"/>
                                  </p:stCondLst>
                                  <p:childTnLst>
                                    <p:set>
                                      <p:cBhvr>
                                        <p:cTn id="97" dur="1" fill="hold">
                                          <p:stCondLst>
                                            <p:cond delay="0"/>
                                          </p:stCondLst>
                                        </p:cTn>
                                        <p:tgtEl>
                                          <p:spTgt spid="152598"/>
                                        </p:tgtEl>
                                        <p:attrNameLst>
                                          <p:attrName>style.visibility</p:attrName>
                                        </p:attrNameLst>
                                      </p:cBhvr>
                                      <p:to>
                                        <p:strVal val="visible"/>
                                      </p:to>
                                    </p:set>
                                    <p:animEffect transition="in" filter="fade">
                                      <p:cBhvr>
                                        <p:cTn id="98" dur="2000"/>
                                        <p:tgtEl>
                                          <p:spTgt spid="152598"/>
                                        </p:tgtEl>
                                      </p:cBhvr>
                                    </p:animEffect>
                                    <p:anim calcmode="lin" valueType="num">
                                      <p:cBhvr>
                                        <p:cTn id="99" dur="2000" fill="hold"/>
                                        <p:tgtEl>
                                          <p:spTgt spid="152598"/>
                                        </p:tgtEl>
                                        <p:attrNameLst>
                                          <p:attrName>style.rotation</p:attrName>
                                        </p:attrNameLst>
                                      </p:cBhvr>
                                      <p:tavLst>
                                        <p:tav tm="0">
                                          <p:val>
                                            <p:fltVal val="720"/>
                                          </p:val>
                                        </p:tav>
                                        <p:tav tm="100000">
                                          <p:val>
                                            <p:fltVal val="0"/>
                                          </p:val>
                                        </p:tav>
                                      </p:tavLst>
                                    </p:anim>
                                    <p:anim calcmode="lin" valueType="num">
                                      <p:cBhvr>
                                        <p:cTn id="100" dur="2000" fill="hold"/>
                                        <p:tgtEl>
                                          <p:spTgt spid="152598"/>
                                        </p:tgtEl>
                                        <p:attrNameLst>
                                          <p:attrName>ppt_h</p:attrName>
                                        </p:attrNameLst>
                                      </p:cBhvr>
                                      <p:tavLst>
                                        <p:tav tm="0">
                                          <p:val>
                                            <p:fltVal val="0"/>
                                          </p:val>
                                        </p:tav>
                                        <p:tav tm="100000">
                                          <p:val>
                                            <p:strVal val="#ppt_h"/>
                                          </p:val>
                                        </p:tav>
                                      </p:tavLst>
                                    </p:anim>
                                    <p:anim calcmode="lin" valueType="num">
                                      <p:cBhvr>
                                        <p:cTn id="101" dur="2000" fill="hold"/>
                                        <p:tgtEl>
                                          <p:spTgt spid="15259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p:bldP spid="152579" grpId="0" animBg="1"/>
      <p:bldP spid="152580" grpId="0" animBg="1"/>
      <p:bldP spid="152581" grpId="0" animBg="1"/>
      <p:bldP spid="152582" grpId="0" animBg="1"/>
      <p:bldP spid="152583" grpId="0" animBg="1"/>
      <p:bldP spid="152584" grpId="0" animBg="1"/>
      <p:bldP spid="152585" grpId="0" animBg="1"/>
      <p:bldP spid="152586" grpId="0" animBg="1"/>
      <p:bldP spid="152587" grpId="0" animBg="1"/>
      <p:bldP spid="152588" grpId="0" animBg="1"/>
      <p:bldP spid="152589" grpId="0"/>
      <p:bldP spid="152590" grpId="0" animBg="1"/>
      <p:bldP spid="152591" grpId="0"/>
      <p:bldP spid="152592" grpId="0"/>
      <p:bldP spid="152593" grpId="0"/>
      <p:bldP spid="152595" grpId="0"/>
      <p:bldP spid="15259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2" name="Text Box 32"/>
          <p:cNvSpPr txBox="1">
            <a:spLocks noChangeArrowheads="1"/>
          </p:cNvSpPr>
          <p:nvPr/>
        </p:nvSpPr>
        <p:spPr bwMode="auto">
          <a:xfrm>
            <a:off x="142875" y="357188"/>
            <a:ext cx="57880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8.5.1  </a:t>
            </a:r>
            <a:r>
              <a:rPr kumimoji="1" lang="zh-CN" altLang="en-US" sz="2400" b="1" dirty="0">
                <a:solidFill>
                  <a:srgbClr val="0000FF"/>
                </a:solidFill>
                <a:latin typeface="Times New Roman" pitchFamily="18" charset="0"/>
                <a:ea typeface="+mn-ea"/>
                <a:cs typeface="Times New Roman" pitchFamily="18" charset="0"/>
              </a:rPr>
              <a:t>速率分布函数</a:t>
            </a:r>
            <a:r>
              <a:rPr kumimoji="1" lang="zh-CN" altLang="en-US" sz="2400" dirty="0">
                <a:latin typeface="Times New Roman" pitchFamily="18" charset="0"/>
                <a:ea typeface="+mn-ea"/>
                <a:cs typeface="Times New Roman" pitchFamily="18" charset="0"/>
              </a:rPr>
              <a:t> </a:t>
            </a:r>
          </a:p>
        </p:txBody>
      </p:sp>
      <p:sp>
        <p:nvSpPr>
          <p:cNvPr id="10273" name="Text Box 33"/>
          <p:cNvSpPr txBox="1">
            <a:spLocks noChangeArrowheads="1"/>
          </p:cNvSpPr>
          <p:nvPr/>
        </p:nvSpPr>
        <p:spPr bwMode="auto">
          <a:xfrm>
            <a:off x="285750" y="785813"/>
            <a:ext cx="3044825" cy="457200"/>
          </a:xfrm>
          <a:prstGeom prst="rect">
            <a:avLst/>
          </a:prstGeom>
          <a:noFill/>
          <a:ln w="9525">
            <a:noFill/>
            <a:miter lim="800000"/>
            <a:headEnd/>
            <a:tailEnd/>
          </a:ln>
        </p:spPr>
        <p:txBody>
          <a:bodyPr>
            <a:spAutoFit/>
          </a:bodyPr>
          <a:lstStyle/>
          <a:p>
            <a:pPr>
              <a:buClr>
                <a:srgbClr val="FF6600"/>
              </a:buClr>
              <a:buFont typeface="Wingdings" pitchFamily="2" charset="2"/>
              <a:buNone/>
              <a:defRPr/>
            </a:pPr>
            <a:r>
              <a:rPr kumimoji="1" lang="zh-CN" altLang="en-US" sz="2400" b="1" dirty="0">
                <a:solidFill>
                  <a:srgbClr val="FF0000"/>
                </a:solidFill>
                <a:latin typeface="Times New Roman" pitchFamily="18" charset="0"/>
                <a:ea typeface="+mn-ea"/>
                <a:cs typeface="Times New Roman" pitchFamily="18" charset="0"/>
              </a:rPr>
              <a:t>速率分布的概念</a:t>
            </a:r>
          </a:p>
        </p:txBody>
      </p:sp>
      <p:sp>
        <p:nvSpPr>
          <p:cNvPr id="10274" name="Text Box 34"/>
          <p:cNvSpPr txBox="1">
            <a:spLocks noChangeArrowheads="1"/>
          </p:cNvSpPr>
          <p:nvPr/>
        </p:nvSpPr>
        <p:spPr bwMode="auto">
          <a:xfrm>
            <a:off x="214313" y="1285875"/>
            <a:ext cx="8358187" cy="1422400"/>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气体由大量分子组成，热运动中各分子的速率通过碰撞不断地改变</a:t>
            </a:r>
            <a:r>
              <a:rPr kumimoji="1" lang="en-US" altLang="zh-CN" sz="2400" b="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不可能逐个加以描述，只能给出</a:t>
            </a:r>
            <a:r>
              <a:rPr kumimoji="1" lang="zh-CN" altLang="en-US" sz="2400" b="1" dirty="0">
                <a:solidFill>
                  <a:srgbClr val="FF3300"/>
                </a:solidFill>
                <a:latin typeface="Times New Roman" pitchFamily="18" charset="0"/>
                <a:ea typeface="+mn-ea"/>
                <a:cs typeface="Times New Roman" pitchFamily="18" charset="0"/>
              </a:rPr>
              <a:t>分子数按速率的分布</a:t>
            </a:r>
            <a:r>
              <a:rPr kumimoji="1" lang="zh-CN" altLang="en-US" sz="2400" b="1" dirty="0">
                <a:latin typeface="Times New Roman" pitchFamily="18" charset="0"/>
                <a:ea typeface="+mn-ea"/>
                <a:cs typeface="Times New Roman" pitchFamily="18" charset="0"/>
              </a:rPr>
              <a:t>，即：</a:t>
            </a:r>
            <a:r>
              <a:rPr kumimoji="1" lang="zh-CN" altLang="en-US" sz="2400" dirty="0">
                <a:latin typeface="Times New Roman" pitchFamily="18" charset="0"/>
                <a:ea typeface="+mn-ea"/>
                <a:cs typeface="Times New Roman" pitchFamily="18" charset="0"/>
              </a:rPr>
              <a:t> </a:t>
            </a:r>
          </a:p>
        </p:txBody>
      </p:sp>
      <p:sp>
        <p:nvSpPr>
          <p:cNvPr id="10275" name="Rectangle 35"/>
          <p:cNvSpPr>
            <a:spLocks noChangeArrowheads="1"/>
          </p:cNvSpPr>
          <p:nvPr/>
        </p:nvSpPr>
        <p:spPr bwMode="auto">
          <a:xfrm>
            <a:off x="5651500" y="5321301"/>
            <a:ext cx="1800225"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a:solidFill>
                  <a:srgbClr val="FF0000"/>
                </a:solidFill>
                <a:latin typeface="Times New Roman" pitchFamily="18" charset="0"/>
                <a:ea typeface="+mn-ea"/>
                <a:cs typeface="Times New Roman" pitchFamily="18" charset="0"/>
              </a:rPr>
              <a:t>       </a:t>
            </a:r>
            <a:r>
              <a:rPr lang="el-GR" altLang="zh-CN" sz="2000" b="1">
                <a:solidFill>
                  <a:srgbClr val="FF0000"/>
                </a:solidFill>
                <a:latin typeface="Times New Roman" pitchFamily="18" charset="0"/>
                <a:ea typeface="+mn-ea"/>
                <a:cs typeface="Times New Roman" pitchFamily="18" charset="0"/>
              </a:rPr>
              <a:t>Δ</a:t>
            </a:r>
            <a:r>
              <a:rPr lang="en-US" altLang="zh-CN" sz="2000" b="1" i="1">
                <a:solidFill>
                  <a:srgbClr val="FF0000"/>
                </a:solidFill>
                <a:latin typeface="Times New Roman" pitchFamily="18" charset="0"/>
                <a:ea typeface="+mn-ea"/>
                <a:cs typeface="Times New Roman" pitchFamily="18" charset="0"/>
              </a:rPr>
              <a:t>N</a:t>
            </a:r>
            <a:r>
              <a:rPr lang="en-US" altLang="zh-CN" sz="2000" b="1" baseline="-25000">
                <a:solidFill>
                  <a:srgbClr val="FF0000"/>
                </a:solidFill>
                <a:latin typeface="Times New Roman" pitchFamily="18" charset="0"/>
                <a:ea typeface="+mn-ea"/>
                <a:cs typeface="Times New Roman" pitchFamily="18" charset="0"/>
              </a:rPr>
              <a:t>i</a:t>
            </a:r>
            <a:r>
              <a:rPr lang="en-US" altLang="zh-CN" sz="2000" b="1">
                <a:solidFill>
                  <a:srgbClr val="FF0000"/>
                </a:solidFill>
                <a:latin typeface="Times New Roman" pitchFamily="18" charset="0"/>
                <a:ea typeface="+mn-ea"/>
                <a:cs typeface="Times New Roman" pitchFamily="18" charset="0"/>
              </a:rPr>
              <a:t>/N</a:t>
            </a:r>
          </a:p>
        </p:txBody>
      </p:sp>
      <p:sp>
        <p:nvSpPr>
          <p:cNvPr id="10276" name="Rectangle 36"/>
          <p:cNvSpPr>
            <a:spLocks noChangeArrowheads="1"/>
          </p:cNvSpPr>
          <p:nvPr/>
        </p:nvSpPr>
        <p:spPr bwMode="auto">
          <a:xfrm>
            <a:off x="5651500" y="4681538"/>
            <a:ext cx="1800225"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spcBef>
                <a:spcPct val="20000"/>
              </a:spcBef>
              <a:defRPr/>
            </a:pPr>
            <a:r>
              <a:rPr lang="en-US" altLang="zh-CN" sz="2000" b="1">
                <a:solidFill>
                  <a:srgbClr val="0000FF"/>
                </a:solidFill>
                <a:latin typeface="Times New Roman" pitchFamily="18" charset="0"/>
                <a:ea typeface="+mn-ea"/>
                <a:cs typeface="Times New Roman" pitchFamily="18" charset="0"/>
              </a:rPr>
              <a:t>        </a:t>
            </a:r>
            <a:r>
              <a:rPr lang="el-GR" altLang="zh-CN" sz="2000" b="1">
                <a:solidFill>
                  <a:srgbClr val="0000FF"/>
                </a:solidFill>
                <a:latin typeface="Times New Roman" pitchFamily="18" charset="0"/>
                <a:ea typeface="+mn-ea"/>
                <a:cs typeface="Times New Roman" pitchFamily="18" charset="0"/>
              </a:rPr>
              <a:t>Δ</a:t>
            </a:r>
            <a:r>
              <a:rPr lang="en-US" altLang="zh-CN" sz="2000" b="1" i="1">
                <a:solidFill>
                  <a:srgbClr val="0000FF"/>
                </a:solidFill>
                <a:latin typeface="Times New Roman" pitchFamily="18" charset="0"/>
                <a:ea typeface="+mn-ea"/>
                <a:cs typeface="Times New Roman" pitchFamily="18" charset="0"/>
              </a:rPr>
              <a:t>N</a:t>
            </a:r>
            <a:r>
              <a:rPr lang="en-US" altLang="zh-CN" sz="2000" b="1" baseline="-25000">
                <a:solidFill>
                  <a:srgbClr val="0000FF"/>
                </a:solidFill>
                <a:latin typeface="Times New Roman" pitchFamily="18" charset="0"/>
                <a:ea typeface="+mn-ea"/>
                <a:cs typeface="Times New Roman" pitchFamily="18" charset="0"/>
              </a:rPr>
              <a:t>i</a:t>
            </a:r>
            <a:endParaRPr lang="en-US" altLang="zh-CN" sz="2000" b="1">
              <a:solidFill>
                <a:srgbClr val="0000FF"/>
              </a:solidFill>
              <a:latin typeface="Times New Roman" pitchFamily="18" charset="0"/>
              <a:ea typeface="+mn-ea"/>
              <a:cs typeface="Times New Roman" pitchFamily="18" charset="0"/>
            </a:endParaRPr>
          </a:p>
        </p:txBody>
      </p:sp>
      <p:sp>
        <p:nvSpPr>
          <p:cNvPr id="10277" name="Rectangle 37"/>
          <p:cNvSpPr>
            <a:spLocks noChangeArrowheads="1"/>
          </p:cNvSpPr>
          <p:nvPr/>
        </p:nvSpPr>
        <p:spPr bwMode="auto">
          <a:xfrm>
            <a:off x="5651500" y="4164013"/>
            <a:ext cx="1800225"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defRPr/>
            </a:pPr>
            <a:r>
              <a:rPr lang="en-US" altLang="zh-CN" sz="2000" b="1" i="1">
                <a:latin typeface="Times New Roman" pitchFamily="18" charset="0"/>
                <a:ea typeface="+mn-ea"/>
                <a:cs typeface="Times New Roman" pitchFamily="18" charset="0"/>
              </a:rPr>
              <a:t>  v</a:t>
            </a:r>
            <a:r>
              <a:rPr lang="en-US" altLang="zh-CN" sz="2000" b="1" baseline="-25000">
                <a:latin typeface="Times New Roman" pitchFamily="18" charset="0"/>
                <a:ea typeface="+mn-ea"/>
                <a:cs typeface="Times New Roman" pitchFamily="18" charset="0"/>
              </a:rPr>
              <a:t>i</a:t>
            </a:r>
            <a:r>
              <a:rPr lang="en-US" altLang="zh-CN" sz="2000" b="1" i="1">
                <a:latin typeface="Times New Roman" pitchFamily="18" charset="0"/>
                <a:ea typeface="+mn-ea"/>
                <a:cs typeface="Times New Roman" pitchFamily="18" charset="0"/>
              </a:rPr>
              <a:t> </a:t>
            </a:r>
            <a:r>
              <a:rPr lang="zh-CN" altLang="en-US" sz="2000" b="1" i="1">
                <a:latin typeface="Times New Roman" pitchFamily="18" charset="0"/>
                <a:ea typeface="+mn-ea"/>
                <a:cs typeface="Times New Roman" pitchFamily="18" charset="0"/>
              </a:rPr>
              <a:t>～ </a:t>
            </a:r>
            <a:r>
              <a:rPr lang="en-US" altLang="zh-CN" sz="2000" b="1" i="1">
                <a:latin typeface="Times New Roman" pitchFamily="18" charset="0"/>
                <a:ea typeface="+mn-ea"/>
                <a:cs typeface="Times New Roman" pitchFamily="18" charset="0"/>
              </a:rPr>
              <a:t>v</a:t>
            </a:r>
            <a:r>
              <a:rPr lang="en-US" altLang="zh-CN" sz="2000" b="1" baseline="-25000">
                <a:latin typeface="Times New Roman" pitchFamily="18" charset="0"/>
                <a:ea typeface="+mn-ea"/>
                <a:cs typeface="Times New Roman" pitchFamily="18" charset="0"/>
              </a:rPr>
              <a:t>i </a:t>
            </a:r>
            <a:r>
              <a:rPr lang="en-US" altLang="zh-CN" sz="2000" b="1">
                <a:latin typeface="Times New Roman" pitchFamily="18" charset="0"/>
                <a:ea typeface="+mn-ea"/>
                <a:cs typeface="Times New Roman" pitchFamily="18" charset="0"/>
              </a:rPr>
              <a:t>+</a:t>
            </a:r>
            <a:r>
              <a:rPr lang="el-GR" altLang="zh-CN" sz="2000" b="1">
                <a:latin typeface="Times New Roman" pitchFamily="18" charset="0"/>
                <a:ea typeface="+mn-ea"/>
                <a:cs typeface="Times New Roman" pitchFamily="18" charset="0"/>
              </a:rPr>
              <a:t>Δ</a:t>
            </a:r>
            <a:r>
              <a:rPr lang="en-US" altLang="zh-CN" sz="2000" b="1" i="1">
                <a:latin typeface="Times New Roman" pitchFamily="18" charset="0"/>
                <a:ea typeface="+mn-ea"/>
                <a:cs typeface="Times New Roman" pitchFamily="18" charset="0"/>
              </a:rPr>
              <a:t>v</a:t>
            </a:r>
            <a:r>
              <a:rPr lang="en-US" altLang="zh-CN" sz="2000" b="1">
                <a:latin typeface="Times New Roman" pitchFamily="18" charset="0"/>
                <a:ea typeface="+mn-ea"/>
                <a:cs typeface="Times New Roman" pitchFamily="18" charset="0"/>
              </a:rPr>
              <a:t> </a:t>
            </a:r>
          </a:p>
        </p:txBody>
      </p:sp>
      <p:sp>
        <p:nvSpPr>
          <p:cNvPr id="10278" name="Rectangle 38"/>
          <p:cNvSpPr>
            <a:spLocks noChangeArrowheads="1"/>
          </p:cNvSpPr>
          <p:nvPr/>
        </p:nvSpPr>
        <p:spPr bwMode="auto">
          <a:xfrm>
            <a:off x="7451725" y="5321301"/>
            <a:ext cx="865188"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a:solidFill>
                  <a:srgbClr val="FF0000"/>
                </a:solidFill>
                <a:latin typeface="Times New Roman" pitchFamily="18" charset="0"/>
                <a:ea typeface="+mn-ea"/>
                <a:cs typeface="Times New Roman" pitchFamily="18" charset="0"/>
              </a:rPr>
              <a:t>   …</a:t>
            </a:r>
            <a:endParaRPr lang="en-US" altLang="zh-CN" sz="2000" b="1">
              <a:solidFill>
                <a:srgbClr val="FF0000"/>
              </a:solidFill>
              <a:latin typeface="Times New Roman" pitchFamily="18" charset="0"/>
              <a:ea typeface="+mn-ea"/>
              <a:cs typeface="Times New Roman" pitchFamily="18" charset="0"/>
            </a:endParaRPr>
          </a:p>
        </p:txBody>
      </p:sp>
      <p:sp>
        <p:nvSpPr>
          <p:cNvPr id="10279" name="Rectangle 39"/>
          <p:cNvSpPr>
            <a:spLocks noChangeArrowheads="1"/>
          </p:cNvSpPr>
          <p:nvPr/>
        </p:nvSpPr>
        <p:spPr bwMode="auto">
          <a:xfrm>
            <a:off x="7451725" y="4681538"/>
            <a:ext cx="865188"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spcBef>
                <a:spcPct val="20000"/>
              </a:spcBef>
              <a:defRPr/>
            </a:pPr>
            <a:r>
              <a:rPr lang="en-US" altLang="zh-CN" sz="2000">
                <a:solidFill>
                  <a:srgbClr val="993300"/>
                </a:solidFill>
                <a:latin typeface="Times New Roman" pitchFamily="18" charset="0"/>
                <a:ea typeface="+mn-ea"/>
                <a:cs typeface="Times New Roman" pitchFamily="18" charset="0"/>
              </a:rPr>
              <a:t>   …</a:t>
            </a:r>
            <a:endParaRPr lang="en-US" altLang="zh-CN" sz="2000" b="1">
              <a:solidFill>
                <a:srgbClr val="993300"/>
              </a:solidFill>
              <a:latin typeface="Times New Roman" pitchFamily="18" charset="0"/>
              <a:ea typeface="+mn-ea"/>
              <a:cs typeface="Times New Roman" pitchFamily="18" charset="0"/>
            </a:endParaRPr>
          </a:p>
        </p:txBody>
      </p:sp>
      <p:sp>
        <p:nvSpPr>
          <p:cNvPr id="10280" name="Rectangle 40"/>
          <p:cNvSpPr>
            <a:spLocks noChangeArrowheads="1"/>
          </p:cNvSpPr>
          <p:nvPr/>
        </p:nvSpPr>
        <p:spPr bwMode="auto">
          <a:xfrm>
            <a:off x="7451725" y="4164013"/>
            <a:ext cx="865188"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a:latin typeface="Times New Roman" pitchFamily="18" charset="0"/>
                <a:ea typeface="+mn-ea"/>
                <a:cs typeface="Times New Roman" pitchFamily="18" charset="0"/>
              </a:rPr>
              <a:t> </a:t>
            </a:r>
            <a:r>
              <a:rPr lang="en-US" altLang="zh-CN" sz="2000" b="1">
                <a:latin typeface="Times New Roman" pitchFamily="18" charset="0"/>
                <a:ea typeface="+mn-ea"/>
                <a:cs typeface="Times New Roman" pitchFamily="18" charset="0"/>
              </a:rPr>
              <a:t> </a:t>
            </a:r>
            <a:r>
              <a:rPr lang="en-US" altLang="zh-CN" sz="2000">
                <a:latin typeface="Times New Roman" pitchFamily="18" charset="0"/>
                <a:ea typeface="+mn-ea"/>
                <a:cs typeface="Times New Roman" pitchFamily="18" charset="0"/>
              </a:rPr>
              <a:t> …</a:t>
            </a:r>
          </a:p>
        </p:txBody>
      </p:sp>
      <p:sp>
        <p:nvSpPr>
          <p:cNvPr id="10281" name="Rectangle 41"/>
          <p:cNvSpPr>
            <a:spLocks noChangeArrowheads="1"/>
          </p:cNvSpPr>
          <p:nvPr/>
        </p:nvSpPr>
        <p:spPr bwMode="auto">
          <a:xfrm>
            <a:off x="4787900" y="5321301"/>
            <a:ext cx="863600"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a:solidFill>
                  <a:srgbClr val="FF0000"/>
                </a:solidFill>
                <a:latin typeface="Times New Roman" pitchFamily="18" charset="0"/>
                <a:ea typeface="+mn-ea"/>
                <a:cs typeface="Times New Roman" pitchFamily="18" charset="0"/>
              </a:rPr>
              <a:t>   …</a:t>
            </a:r>
            <a:endParaRPr lang="en-US" altLang="zh-CN" sz="2000" b="1">
              <a:solidFill>
                <a:srgbClr val="FF0000"/>
              </a:solidFill>
              <a:latin typeface="Times New Roman" pitchFamily="18" charset="0"/>
              <a:ea typeface="+mn-ea"/>
              <a:cs typeface="Times New Roman" pitchFamily="18" charset="0"/>
            </a:endParaRPr>
          </a:p>
        </p:txBody>
      </p:sp>
      <p:sp>
        <p:nvSpPr>
          <p:cNvPr id="10282" name="Rectangle 42"/>
          <p:cNvSpPr>
            <a:spLocks noChangeArrowheads="1"/>
          </p:cNvSpPr>
          <p:nvPr/>
        </p:nvSpPr>
        <p:spPr bwMode="auto">
          <a:xfrm>
            <a:off x="4787900" y="4681538"/>
            <a:ext cx="863600"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spcBef>
                <a:spcPct val="20000"/>
              </a:spcBef>
              <a:defRPr/>
            </a:pPr>
            <a:r>
              <a:rPr lang="en-US" altLang="zh-CN" sz="2000">
                <a:solidFill>
                  <a:srgbClr val="993300"/>
                </a:solidFill>
                <a:latin typeface="Times New Roman" pitchFamily="18" charset="0"/>
                <a:ea typeface="+mn-ea"/>
                <a:cs typeface="Times New Roman" pitchFamily="18" charset="0"/>
              </a:rPr>
              <a:t>   …</a:t>
            </a:r>
            <a:endParaRPr lang="en-US" altLang="zh-CN" sz="2000" b="1">
              <a:solidFill>
                <a:srgbClr val="993300"/>
              </a:solidFill>
              <a:latin typeface="Times New Roman" pitchFamily="18" charset="0"/>
              <a:ea typeface="+mn-ea"/>
              <a:cs typeface="Times New Roman" pitchFamily="18" charset="0"/>
            </a:endParaRPr>
          </a:p>
        </p:txBody>
      </p:sp>
      <p:sp>
        <p:nvSpPr>
          <p:cNvPr id="10283" name="Rectangle 43"/>
          <p:cNvSpPr>
            <a:spLocks noChangeArrowheads="1"/>
          </p:cNvSpPr>
          <p:nvPr/>
        </p:nvSpPr>
        <p:spPr bwMode="auto">
          <a:xfrm>
            <a:off x="4787900" y="4164013"/>
            <a:ext cx="863600"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a:latin typeface="Times New Roman" pitchFamily="18" charset="0"/>
                <a:ea typeface="+mn-ea"/>
                <a:cs typeface="Times New Roman" pitchFamily="18" charset="0"/>
              </a:rPr>
              <a:t>   </a:t>
            </a:r>
            <a:r>
              <a:rPr lang="en-US" altLang="zh-CN" sz="2000">
                <a:latin typeface="Times New Roman" pitchFamily="18" charset="0"/>
                <a:ea typeface="+mn-ea"/>
                <a:cs typeface="Times New Roman" pitchFamily="18" charset="0"/>
              </a:rPr>
              <a:t>…</a:t>
            </a:r>
          </a:p>
        </p:txBody>
      </p:sp>
      <p:sp>
        <p:nvSpPr>
          <p:cNvPr id="10284" name="Rectangle 44"/>
          <p:cNvSpPr>
            <a:spLocks noChangeArrowheads="1"/>
          </p:cNvSpPr>
          <p:nvPr/>
        </p:nvSpPr>
        <p:spPr bwMode="auto">
          <a:xfrm>
            <a:off x="3563938" y="5321301"/>
            <a:ext cx="1223962"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a:solidFill>
                  <a:srgbClr val="FF0000"/>
                </a:solidFill>
                <a:latin typeface="Times New Roman" pitchFamily="18" charset="0"/>
                <a:ea typeface="+mn-ea"/>
                <a:cs typeface="Times New Roman" pitchFamily="18" charset="0"/>
              </a:rPr>
              <a:t> </a:t>
            </a:r>
            <a:r>
              <a:rPr lang="el-GR" altLang="zh-CN" sz="2000" b="1">
                <a:solidFill>
                  <a:srgbClr val="FF0000"/>
                </a:solidFill>
                <a:latin typeface="Times New Roman" pitchFamily="18" charset="0"/>
                <a:ea typeface="+mn-ea"/>
                <a:cs typeface="Times New Roman" pitchFamily="18" charset="0"/>
              </a:rPr>
              <a:t>Δ</a:t>
            </a:r>
            <a:r>
              <a:rPr lang="en-US" altLang="zh-CN" sz="2000" b="1" i="1">
                <a:solidFill>
                  <a:srgbClr val="FF0000"/>
                </a:solidFill>
                <a:latin typeface="Times New Roman" pitchFamily="18" charset="0"/>
                <a:ea typeface="+mn-ea"/>
                <a:cs typeface="Times New Roman" pitchFamily="18" charset="0"/>
              </a:rPr>
              <a:t>N</a:t>
            </a:r>
            <a:r>
              <a:rPr lang="en-US" altLang="zh-CN" sz="2000" b="1" baseline="-25000">
                <a:solidFill>
                  <a:srgbClr val="FF0000"/>
                </a:solidFill>
                <a:latin typeface="Times New Roman" pitchFamily="18" charset="0"/>
                <a:ea typeface="+mn-ea"/>
                <a:cs typeface="Times New Roman" pitchFamily="18" charset="0"/>
              </a:rPr>
              <a:t>2</a:t>
            </a:r>
            <a:r>
              <a:rPr lang="en-US" altLang="zh-CN" sz="2000" b="1">
                <a:solidFill>
                  <a:srgbClr val="FF0000"/>
                </a:solidFill>
                <a:latin typeface="Times New Roman" pitchFamily="18" charset="0"/>
                <a:ea typeface="+mn-ea"/>
                <a:cs typeface="Times New Roman" pitchFamily="18" charset="0"/>
              </a:rPr>
              <a:t>/N</a:t>
            </a:r>
          </a:p>
        </p:txBody>
      </p:sp>
      <p:sp>
        <p:nvSpPr>
          <p:cNvPr id="10285" name="Rectangle 45"/>
          <p:cNvSpPr>
            <a:spLocks noChangeArrowheads="1"/>
          </p:cNvSpPr>
          <p:nvPr/>
        </p:nvSpPr>
        <p:spPr bwMode="auto">
          <a:xfrm>
            <a:off x="2424113" y="5321301"/>
            <a:ext cx="1139825"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l-GR" altLang="zh-CN" sz="2000" b="1">
                <a:solidFill>
                  <a:srgbClr val="FF0000"/>
                </a:solidFill>
                <a:latin typeface="Times New Roman" pitchFamily="18" charset="0"/>
                <a:ea typeface="+mn-ea"/>
                <a:cs typeface="Times New Roman" pitchFamily="18" charset="0"/>
              </a:rPr>
              <a:t>Δ</a:t>
            </a:r>
            <a:r>
              <a:rPr lang="en-US" altLang="zh-CN" sz="2000" b="1" i="1">
                <a:solidFill>
                  <a:srgbClr val="FF0000"/>
                </a:solidFill>
                <a:latin typeface="Times New Roman" pitchFamily="18" charset="0"/>
                <a:ea typeface="+mn-ea"/>
                <a:cs typeface="Times New Roman" pitchFamily="18" charset="0"/>
              </a:rPr>
              <a:t>N</a:t>
            </a:r>
            <a:r>
              <a:rPr lang="en-US" altLang="zh-CN" sz="2000" b="1" baseline="-25000">
                <a:solidFill>
                  <a:srgbClr val="FF0000"/>
                </a:solidFill>
                <a:latin typeface="Times New Roman" pitchFamily="18" charset="0"/>
                <a:ea typeface="+mn-ea"/>
                <a:cs typeface="Times New Roman" pitchFamily="18" charset="0"/>
              </a:rPr>
              <a:t>1</a:t>
            </a:r>
            <a:r>
              <a:rPr lang="en-US" altLang="zh-CN" sz="2000" b="1">
                <a:solidFill>
                  <a:srgbClr val="FF0000"/>
                </a:solidFill>
                <a:latin typeface="Times New Roman" pitchFamily="18" charset="0"/>
                <a:ea typeface="+mn-ea"/>
                <a:cs typeface="Times New Roman" pitchFamily="18" charset="0"/>
              </a:rPr>
              <a:t>/N</a:t>
            </a:r>
          </a:p>
        </p:txBody>
      </p:sp>
      <p:sp>
        <p:nvSpPr>
          <p:cNvPr id="10286" name="Rectangle 46"/>
          <p:cNvSpPr>
            <a:spLocks noChangeArrowheads="1"/>
          </p:cNvSpPr>
          <p:nvPr/>
        </p:nvSpPr>
        <p:spPr bwMode="auto">
          <a:xfrm>
            <a:off x="611188" y="5321301"/>
            <a:ext cx="1812925" cy="627062"/>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lnSpc>
                <a:spcPct val="80000"/>
              </a:lnSpc>
              <a:spcBef>
                <a:spcPct val="20000"/>
              </a:spcBef>
              <a:defRPr/>
            </a:pPr>
            <a:r>
              <a:rPr lang="en-US" altLang="zh-CN" sz="2000" b="1">
                <a:solidFill>
                  <a:srgbClr val="FF0000"/>
                </a:solidFill>
                <a:latin typeface="Times New Roman" pitchFamily="18" charset="0"/>
                <a:ea typeface="+mn-ea"/>
                <a:cs typeface="Times New Roman" pitchFamily="18" charset="0"/>
              </a:rPr>
              <a:t>  </a:t>
            </a:r>
            <a:r>
              <a:rPr lang="zh-CN" altLang="en-US" sz="2000" b="1">
                <a:solidFill>
                  <a:srgbClr val="FF0000"/>
                </a:solidFill>
                <a:latin typeface="Times New Roman" pitchFamily="18" charset="0"/>
                <a:ea typeface="+mn-ea"/>
                <a:cs typeface="Times New Roman" pitchFamily="18" charset="0"/>
              </a:rPr>
              <a:t>分子数比率按速率的分布</a:t>
            </a:r>
          </a:p>
        </p:txBody>
      </p:sp>
      <p:sp>
        <p:nvSpPr>
          <p:cNvPr id="10287" name="Rectangle 47"/>
          <p:cNvSpPr>
            <a:spLocks noChangeArrowheads="1"/>
          </p:cNvSpPr>
          <p:nvPr/>
        </p:nvSpPr>
        <p:spPr bwMode="auto">
          <a:xfrm>
            <a:off x="3563938" y="4681538"/>
            <a:ext cx="1223962"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spcBef>
                <a:spcPct val="20000"/>
              </a:spcBef>
              <a:defRPr/>
            </a:pPr>
            <a:r>
              <a:rPr lang="en-US" altLang="zh-CN" sz="2000" b="1" dirty="0">
                <a:solidFill>
                  <a:srgbClr val="0000FF"/>
                </a:solidFill>
                <a:latin typeface="Times New Roman" pitchFamily="18" charset="0"/>
                <a:ea typeface="+mn-ea"/>
                <a:cs typeface="Times New Roman" pitchFamily="18" charset="0"/>
              </a:rPr>
              <a:t>   </a:t>
            </a:r>
            <a:r>
              <a:rPr lang="el-GR" altLang="zh-CN" sz="2000" b="1" dirty="0">
                <a:solidFill>
                  <a:srgbClr val="0000FF"/>
                </a:solidFill>
                <a:latin typeface="Times New Roman" pitchFamily="18" charset="0"/>
                <a:ea typeface="+mn-ea"/>
                <a:cs typeface="Times New Roman" pitchFamily="18" charset="0"/>
              </a:rPr>
              <a:t>Δ</a:t>
            </a:r>
            <a:r>
              <a:rPr lang="en-US" altLang="zh-CN" sz="2000" b="1" i="1" dirty="0">
                <a:solidFill>
                  <a:srgbClr val="0000FF"/>
                </a:solidFill>
                <a:latin typeface="Times New Roman" pitchFamily="18" charset="0"/>
                <a:ea typeface="+mn-ea"/>
                <a:cs typeface="Times New Roman" pitchFamily="18" charset="0"/>
              </a:rPr>
              <a:t>N</a:t>
            </a:r>
            <a:r>
              <a:rPr lang="en-US" altLang="zh-CN" sz="2000" b="1" baseline="-25000" dirty="0">
                <a:solidFill>
                  <a:srgbClr val="0000FF"/>
                </a:solidFill>
                <a:latin typeface="Times New Roman" pitchFamily="18" charset="0"/>
                <a:ea typeface="+mn-ea"/>
                <a:cs typeface="Times New Roman" pitchFamily="18" charset="0"/>
              </a:rPr>
              <a:t>2</a:t>
            </a:r>
            <a:endParaRPr lang="en-US" altLang="zh-CN" sz="2000" b="1" dirty="0">
              <a:solidFill>
                <a:srgbClr val="0000FF"/>
              </a:solidFill>
              <a:latin typeface="Times New Roman" pitchFamily="18" charset="0"/>
              <a:ea typeface="+mn-ea"/>
              <a:cs typeface="Times New Roman" pitchFamily="18" charset="0"/>
            </a:endParaRPr>
          </a:p>
        </p:txBody>
      </p:sp>
      <p:sp>
        <p:nvSpPr>
          <p:cNvPr id="10288" name="Rectangle 48"/>
          <p:cNvSpPr>
            <a:spLocks noChangeArrowheads="1"/>
          </p:cNvSpPr>
          <p:nvPr/>
        </p:nvSpPr>
        <p:spPr bwMode="auto">
          <a:xfrm>
            <a:off x="2424113" y="4681538"/>
            <a:ext cx="1139825"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spcBef>
                <a:spcPct val="20000"/>
              </a:spcBef>
              <a:defRPr/>
            </a:pPr>
            <a:r>
              <a:rPr lang="en-US" altLang="zh-CN" sz="2000" b="1" dirty="0">
                <a:solidFill>
                  <a:srgbClr val="0000FF"/>
                </a:solidFill>
                <a:latin typeface="Times New Roman" pitchFamily="18" charset="0"/>
                <a:ea typeface="+mn-ea"/>
                <a:cs typeface="Times New Roman" pitchFamily="18" charset="0"/>
              </a:rPr>
              <a:t>  </a:t>
            </a:r>
            <a:r>
              <a:rPr lang="el-GR" altLang="zh-CN" sz="2000" b="1" dirty="0">
                <a:solidFill>
                  <a:srgbClr val="0000FF"/>
                </a:solidFill>
                <a:latin typeface="Times New Roman" pitchFamily="18" charset="0"/>
                <a:ea typeface="+mn-ea"/>
                <a:cs typeface="Times New Roman" pitchFamily="18" charset="0"/>
              </a:rPr>
              <a:t>Δ</a:t>
            </a:r>
            <a:r>
              <a:rPr lang="en-US" altLang="zh-CN" sz="2000" b="1" i="1" dirty="0">
                <a:solidFill>
                  <a:srgbClr val="0000FF"/>
                </a:solidFill>
                <a:latin typeface="Times New Roman" pitchFamily="18" charset="0"/>
                <a:ea typeface="+mn-ea"/>
                <a:cs typeface="Times New Roman" pitchFamily="18" charset="0"/>
              </a:rPr>
              <a:t>N</a:t>
            </a:r>
            <a:r>
              <a:rPr lang="en-US" altLang="zh-CN" sz="2000" b="1" baseline="-25000" dirty="0">
                <a:solidFill>
                  <a:srgbClr val="0000FF"/>
                </a:solidFill>
                <a:latin typeface="Times New Roman" pitchFamily="18" charset="0"/>
                <a:ea typeface="+mn-ea"/>
                <a:cs typeface="Times New Roman" pitchFamily="18" charset="0"/>
              </a:rPr>
              <a:t>1</a:t>
            </a:r>
            <a:endParaRPr lang="el-GR" altLang="zh-CN" sz="2000" b="1" dirty="0">
              <a:solidFill>
                <a:srgbClr val="0000FF"/>
              </a:solidFill>
              <a:latin typeface="Times New Roman" pitchFamily="18" charset="0"/>
              <a:ea typeface="+mn-ea"/>
              <a:cs typeface="Times New Roman" pitchFamily="18" charset="0"/>
            </a:endParaRPr>
          </a:p>
        </p:txBody>
      </p:sp>
      <p:sp>
        <p:nvSpPr>
          <p:cNvPr id="10289" name="Rectangle 49"/>
          <p:cNvSpPr>
            <a:spLocks noChangeArrowheads="1"/>
          </p:cNvSpPr>
          <p:nvPr/>
        </p:nvSpPr>
        <p:spPr bwMode="auto">
          <a:xfrm>
            <a:off x="611188" y="4681538"/>
            <a:ext cx="1812925" cy="639763"/>
          </a:xfrm>
          <a:prstGeom prst="rect">
            <a:avLst/>
          </a:prstGeom>
          <a:gradFill rotWithShape="1">
            <a:gsLst>
              <a:gs pos="0">
                <a:srgbClr val="66FF66"/>
              </a:gs>
              <a:gs pos="50000">
                <a:srgbClr val="FFFF00">
                  <a:alpha val="50000"/>
                </a:srgbClr>
              </a:gs>
              <a:gs pos="100000">
                <a:srgbClr val="66FF66"/>
              </a:gs>
            </a:gsLst>
            <a:lin ang="2700000" scaled="1"/>
          </a:gradFill>
          <a:ln w="9525">
            <a:solidFill>
              <a:srgbClr val="66FF66"/>
            </a:solidFill>
            <a:miter lim="800000"/>
            <a:headEnd/>
            <a:tailEnd/>
          </a:ln>
          <a:effectLst/>
        </p:spPr>
        <p:txBody>
          <a:bodyPr anchor="ctr"/>
          <a:lstStyle/>
          <a:p>
            <a:pPr>
              <a:lnSpc>
                <a:spcPct val="80000"/>
              </a:lnSpc>
              <a:spcBef>
                <a:spcPct val="20000"/>
              </a:spcBef>
              <a:defRPr/>
            </a:pPr>
            <a:r>
              <a:rPr lang="zh-CN" altLang="en-US" sz="2000" b="1" dirty="0">
                <a:solidFill>
                  <a:srgbClr val="0000FF"/>
                </a:solidFill>
                <a:latin typeface="Times New Roman" pitchFamily="18" charset="0"/>
                <a:ea typeface="+mn-ea"/>
                <a:cs typeface="Times New Roman" pitchFamily="18" charset="0"/>
              </a:rPr>
              <a:t>分子数按速率  </a:t>
            </a:r>
          </a:p>
          <a:p>
            <a:pPr>
              <a:lnSpc>
                <a:spcPct val="80000"/>
              </a:lnSpc>
              <a:spcBef>
                <a:spcPct val="20000"/>
              </a:spcBef>
              <a:defRPr/>
            </a:pPr>
            <a:r>
              <a:rPr lang="zh-CN" altLang="en-US" sz="2000" b="1" dirty="0">
                <a:solidFill>
                  <a:srgbClr val="0000FF"/>
                </a:solidFill>
                <a:latin typeface="Times New Roman" pitchFamily="18" charset="0"/>
                <a:ea typeface="+mn-ea"/>
                <a:cs typeface="Times New Roman" pitchFamily="18" charset="0"/>
              </a:rPr>
              <a:t>     的分布</a:t>
            </a:r>
          </a:p>
        </p:txBody>
      </p:sp>
      <p:sp>
        <p:nvSpPr>
          <p:cNvPr id="10290" name="Rectangle 50"/>
          <p:cNvSpPr>
            <a:spLocks noChangeArrowheads="1"/>
          </p:cNvSpPr>
          <p:nvPr/>
        </p:nvSpPr>
        <p:spPr bwMode="auto">
          <a:xfrm>
            <a:off x="3563938" y="4164013"/>
            <a:ext cx="1223962"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i="1">
                <a:latin typeface="Times New Roman" pitchFamily="18" charset="0"/>
                <a:ea typeface="+mn-ea"/>
                <a:cs typeface="Times New Roman" pitchFamily="18" charset="0"/>
              </a:rPr>
              <a:t> v</a:t>
            </a:r>
            <a:r>
              <a:rPr lang="en-US" altLang="zh-CN" sz="2000" b="1" baseline="-25000">
                <a:latin typeface="Times New Roman" pitchFamily="18" charset="0"/>
                <a:ea typeface="+mn-ea"/>
                <a:cs typeface="Times New Roman" pitchFamily="18" charset="0"/>
              </a:rPr>
              <a:t>2</a:t>
            </a:r>
            <a:r>
              <a:rPr lang="en-US" altLang="zh-CN" sz="2000" b="1" i="1">
                <a:latin typeface="Times New Roman" pitchFamily="18" charset="0"/>
                <a:ea typeface="+mn-ea"/>
                <a:cs typeface="Times New Roman" pitchFamily="18" charset="0"/>
              </a:rPr>
              <a:t> </a:t>
            </a:r>
            <a:r>
              <a:rPr lang="zh-CN" altLang="en-US" sz="2000" b="1" i="1">
                <a:latin typeface="Times New Roman" pitchFamily="18" charset="0"/>
                <a:ea typeface="+mn-ea"/>
                <a:cs typeface="Times New Roman" pitchFamily="18" charset="0"/>
              </a:rPr>
              <a:t>～ </a:t>
            </a:r>
            <a:r>
              <a:rPr lang="en-US" altLang="zh-CN" sz="2000" b="1" i="1">
                <a:latin typeface="Times New Roman" pitchFamily="18" charset="0"/>
                <a:ea typeface="+mn-ea"/>
                <a:cs typeface="Times New Roman" pitchFamily="18" charset="0"/>
              </a:rPr>
              <a:t>v</a:t>
            </a:r>
            <a:r>
              <a:rPr lang="en-US" altLang="zh-CN" sz="2000" b="1" baseline="-25000">
                <a:latin typeface="Times New Roman" pitchFamily="18" charset="0"/>
                <a:ea typeface="+mn-ea"/>
                <a:cs typeface="Times New Roman" pitchFamily="18" charset="0"/>
              </a:rPr>
              <a:t>3</a:t>
            </a:r>
          </a:p>
        </p:txBody>
      </p:sp>
      <p:sp>
        <p:nvSpPr>
          <p:cNvPr id="10291" name="Rectangle 51"/>
          <p:cNvSpPr>
            <a:spLocks noChangeArrowheads="1"/>
          </p:cNvSpPr>
          <p:nvPr/>
        </p:nvSpPr>
        <p:spPr bwMode="auto">
          <a:xfrm>
            <a:off x="2424113" y="4164013"/>
            <a:ext cx="1139825"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i="1">
                <a:latin typeface="Times New Roman" pitchFamily="18" charset="0"/>
                <a:ea typeface="+mn-ea"/>
                <a:cs typeface="Times New Roman" pitchFamily="18" charset="0"/>
              </a:rPr>
              <a:t>v</a:t>
            </a:r>
            <a:r>
              <a:rPr lang="en-US" altLang="zh-CN" sz="2000" b="1" baseline="-25000">
                <a:latin typeface="Times New Roman" pitchFamily="18" charset="0"/>
                <a:ea typeface="+mn-ea"/>
                <a:cs typeface="Times New Roman" pitchFamily="18" charset="0"/>
              </a:rPr>
              <a:t>1</a:t>
            </a:r>
            <a:r>
              <a:rPr lang="en-US" altLang="zh-CN" sz="2000" b="1" i="1">
                <a:latin typeface="Times New Roman" pitchFamily="18" charset="0"/>
                <a:ea typeface="+mn-ea"/>
                <a:cs typeface="Times New Roman" pitchFamily="18" charset="0"/>
              </a:rPr>
              <a:t> </a:t>
            </a:r>
            <a:r>
              <a:rPr lang="zh-CN" altLang="en-US" sz="2000" b="1" i="1">
                <a:latin typeface="Times New Roman" pitchFamily="18" charset="0"/>
                <a:ea typeface="+mn-ea"/>
                <a:cs typeface="Times New Roman" pitchFamily="18" charset="0"/>
              </a:rPr>
              <a:t>～ </a:t>
            </a:r>
            <a:r>
              <a:rPr lang="en-US" altLang="zh-CN" sz="2000" b="1" i="1">
                <a:latin typeface="Times New Roman" pitchFamily="18" charset="0"/>
                <a:ea typeface="+mn-ea"/>
                <a:cs typeface="Times New Roman" pitchFamily="18" charset="0"/>
              </a:rPr>
              <a:t>v</a:t>
            </a:r>
            <a:r>
              <a:rPr lang="en-US" altLang="zh-CN" sz="2000" b="1" baseline="-25000">
                <a:latin typeface="Times New Roman" pitchFamily="18" charset="0"/>
                <a:ea typeface="+mn-ea"/>
                <a:cs typeface="Times New Roman" pitchFamily="18" charset="0"/>
              </a:rPr>
              <a:t>2</a:t>
            </a:r>
            <a:r>
              <a:rPr lang="en-US" altLang="zh-CN" sz="2000" b="1" i="1">
                <a:latin typeface="Times New Roman" pitchFamily="18" charset="0"/>
                <a:ea typeface="+mn-ea"/>
                <a:cs typeface="Times New Roman" pitchFamily="18" charset="0"/>
              </a:rPr>
              <a:t> </a:t>
            </a:r>
          </a:p>
        </p:txBody>
      </p:sp>
      <p:sp>
        <p:nvSpPr>
          <p:cNvPr id="10292" name="Rectangle 52"/>
          <p:cNvSpPr>
            <a:spLocks noChangeArrowheads="1"/>
          </p:cNvSpPr>
          <p:nvPr/>
        </p:nvSpPr>
        <p:spPr bwMode="auto">
          <a:xfrm>
            <a:off x="611188" y="4164013"/>
            <a:ext cx="1812925" cy="517525"/>
          </a:xfrm>
          <a:prstGeom prst="rect">
            <a:avLst/>
          </a:prstGeom>
          <a:gradFill rotWithShape="1">
            <a:gsLst>
              <a:gs pos="0">
                <a:srgbClr val="66FF66"/>
              </a:gs>
              <a:gs pos="50000">
                <a:srgbClr val="FFFF00">
                  <a:alpha val="50000"/>
                </a:srgbClr>
              </a:gs>
              <a:gs pos="100000">
                <a:srgbClr val="66FF66"/>
              </a:gs>
            </a:gsLst>
            <a:lin ang="18900000" scaled="1"/>
          </a:gradFill>
          <a:ln w="9525">
            <a:solidFill>
              <a:srgbClr val="66FF66"/>
            </a:solidFill>
            <a:miter lim="800000"/>
            <a:headEnd/>
            <a:tailEnd/>
          </a:ln>
          <a:effectLst/>
        </p:spPr>
        <p:txBody>
          <a:bodyPr anchor="ctr"/>
          <a:lstStyle/>
          <a:p>
            <a:pPr>
              <a:spcBef>
                <a:spcPct val="20000"/>
              </a:spcBef>
              <a:defRPr/>
            </a:pPr>
            <a:r>
              <a:rPr lang="en-US" altLang="zh-CN" sz="2000" b="1">
                <a:latin typeface="Times New Roman" pitchFamily="18" charset="0"/>
                <a:ea typeface="+mn-ea"/>
                <a:cs typeface="Times New Roman" pitchFamily="18" charset="0"/>
              </a:rPr>
              <a:t>     </a:t>
            </a:r>
            <a:r>
              <a:rPr lang="zh-CN" altLang="en-US" sz="2000" b="1">
                <a:latin typeface="Times New Roman" pitchFamily="18" charset="0"/>
                <a:ea typeface="+mn-ea"/>
                <a:cs typeface="Times New Roman" pitchFamily="18" charset="0"/>
              </a:rPr>
              <a:t>速率</a:t>
            </a:r>
          </a:p>
        </p:txBody>
      </p:sp>
      <p:sp>
        <p:nvSpPr>
          <p:cNvPr id="10293" name="Text Box 53"/>
          <p:cNvSpPr txBox="1">
            <a:spLocks noChangeArrowheads="1"/>
          </p:cNvSpPr>
          <p:nvPr/>
        </p:nvSpPr>
        <p:spPr bwMode="auto">
          <a:xfrm>
            <a:off x="1979613" y="6078538"/>
            <a:ext cx="5114925" cy="427037"/>
          </a:xfrm>
          <a:prstGeom prst="rect">
            <a:avLst/>
          </a:prstGeom>
          <a:noFill/>
          <a:ln w="9525">
            <a:noFill/>
            <a:miter lim="800000"/>
            <a:headEnd/>
            <a:tailEnd/>
          </a:ln>
        </p:spPr>
        <p:txBody>
          <a:bodyPr>
            <a:spAutoFit/>
          </a:bodyPr>
          <a:lstStyle/>
          <a:p>
            <a:pPr>
              <a:lnSpc>
                <a:spcPct val="120000"/>
              </a:lnSpc>
              <a:defRPr/>
            </a:pPr>
            <a:r>
              <a:rPr lang="zh-CN" altLang="en-US" sz="2000" b="1" dirty="0">
                <a:solidFill>
                  <a:srgbClr val="FF0000"/>
                </a:solidFill>
                <a:latin typeface="Times New Roman" pitchFamily="18" charset="0"/>
                <a:ea typeface="+mn-ea"/>
                <a:cs typeface="Times New Roman" pitchFamily="18" charset="0"/>
              </a:rPr>
              <a:t>｛</a:t>
            </a:r>
            <a:r>
              <a:rPr lang="el-GR" altLang="zh-CN" sz="2000" b="1" dirty="0">
                <a:solidFill>
                  <a:srgbClr val="FF0000"/>
                </a:solidFill>
                <a:latin typeface="Times New Roman" pitchFamily="18" charset="0"/>
                <a:ea typeface="+mn-ea"/>
                <a:cs typeface="Times New Roman" pitchFamily="18" charset="0"/>
              </a:rPr>
              <a:t>Δ</a:t>
            </a:r>
            <a:r>
              <a:rPr lang="en-US" altLang="zh-CN" sz="2000" b="1" i="1" dirty="0">
                <a:solidFill>
                  <a:srgbClr val="FF0000"/>
                </a:solidFill>
                <a:latin typeface="Times New Roman" pitchFamily="18" charset="0"/>
                <a:ea typeface="+mn-ea"/>
                <a:cs typeface="Times New Roman" pitchFamily="18" charset="0"/>
              </a:rPr>
              <a:t>N</a:t>
            </a:r>
            <a:r>
              <a:rPr lang="en-US" altLang="zh-CN" sz="2000" b="1" baseline="-25000" dirty="0">
                <a:solidFill>
                  <a:srgbClr val="FF0000"/>
                </a:solidFill>
                <a:latin typeface="Times New Roman" pitchFamily="18" charset="0"/>
                <a:ea typeface="+mn-ea"/>
                <a:cs typeface="Times New Roman" pitchFamily="18" charset="0"/>
              </a:rPr>
              <a:t>i</a:t>
            </a:r>
            <a:r>
              <a:rPr lang="en-US" altLang="zh-CN" sz="2000" baseline="-25000" dirty="0">
                <a:solidFill>
                  <a:srgbClr val="FF0000"/>
                </a:solidFill>
                <a:latin typeface="Times New Roman" pitchFamily="18" charset="0"/>
                <a:ea typeface="+mn-ea"/>
                <a:cs typeface="Times New Roman" pitchFamily="18" charset="0"/>
              </a:rPr>
              <a:t>  </a:t>
            </a:r>
            <a:r>
              <a:rPr lang="zh-CN" altLang="en-US" sz="2000" b="1" dirty="0">
                <a:solidFill>
                  <a:srgbClr val="FF0000"/>
                </a:solidFill>
                <a:latin typeface="Times New Roman" pitchFamily="18" charset="0"/>
                <a:ea typeface="+mn-ea"/>
                <a:cs typeface="Times New Roman" pitchFamily="18" charset="0"/>
              </a:rPr>
              <a:t>｝</a:t>
            </a:r>
            <a:r>
              <a:rPr lang="zh-CN" altLang="en-US" sz="2000" b="1" dirty="0">
                <a:latin typeface="Times New Roman" pitchFamily="18" charset="0"/>
                <a:ea typeface="+mn-ea"/>
                <a:cs typeface="Times New Roman" pitchFamily="18" charset="0"/>
              </a:rPr>
              <a:t>就是分子数按速率的分布</a:t>
            </a:r>
          </a:p>
        </p:txBody>
      </p:sp>
      <p:sp>
        <p:nvSpPr>
          <p:cNvPr id="10294" name="Text Box 54"/>
          <p:cNvSpPr txBox="1">
            <a:spLocks noChangeArrowheads="1"/>
          </p:cNvSpPr>
          <p:nvPr/>
        </p:nvSpPr>
        <p:spPr bwMode="auto">
          <a:xfrm>
            <a:off x="250825" y="2649538"/>
            <a:ext cx="8640763" cy="1422400"/>
          </a:xfrm>
          <a:prstGeom prst="rect">
            <a:avLst/>
          </a:prstGeom>
          <a:noFill/>
          <a:ln w="9525">
            <a:noFill/>
            <a:miter lim="800000"/>
            <a:headEnd/>
            <a:tailEnd/>
          </a:ln>
        </p:spPr>
        <p:txBody>
          <a:bodyPr>
            <a:spAutoFit/>
          </a:bodyPr>
          <a:lstStyle/>
          <a:p>
            <a:pPr>
              <a:lnSpc>
                <a:spcPct val="120000"/>
              </a:lnSpc>
              <a:defRPr/>
            </a:pPr>
            <a:r>
              <a:rPr kumimoji="1" lang="zh-CN" altLang="en-US" sz="2400" b="1" dirty="0">
                <a:latin typeface="Times New Roman" pitchFamily="18" charset="0"/>
                <a:ea typeface="+mn-ea"/>
                <a:cs typeface="Times New Roman" pitchFamily="18" charset="0"/>
              </a:rPr>
              <a:t>        把分子的速率按大小分成很多</a:t>
            </a:r>
            <a:r>
              <a:rPr kumimoji="1" lang="zh-CN" altLang="en-US" sz="2400" b="1" dirty="0">
                <a:solidFill>
                  <a:srgbClr val="FF6600"/>
                </a:solidFill>
                <a:latin typeface="Times New Roman" pitchFamily="18" charset="0"/>
                <a:ea typeface="+mn-ea"/>
                <a:cs typeface="Times New Roman" pitchFamily="18" charset="0"/>
              </a:rPr>
              <a:t>区间</a:t>
            </a:r>
            <a:r>
              <a:rPr kumimoji="1" lang="zh-CN" altLang="en-US" sz="2400" b="1" dirty="0">
                <a:latin typeface="Times New Roman" pitchFamily="18" charset="0"/>
                <a:ea typeface="+mn-ea"/>
                <a:cs typeface="Times New Roman" pitchFamily="18" charset="0"/>
              </a:rPr>
              <a:t>，确定各速率区间的分子数占总分子数的</a:t>
            </a:r>
            <a:r>
              <a:rPr kumimoji="1" lang="zh-CN" altLang="en-US" sz="2400" b="1" dirty="0">
                <a:solidFill>
                  <a:srgbClr val="FF6600"/>
                </a:solidFill>
                <a:latin typeface="Times New Roman" pitchFamily="18" charset="0"/>
                <a:ea typeface="+mn-ea"/>
                <a:cs typeface="Times New Roman" pitchFamily="18" charset="0"/>
              </a:rPr>
              <a:t>比例</a:t>
            </a:r>
            <a:r>
              <a:rPr kumimoji="1" lang="zh-CN" altLang="en-US" sz="2400" b="1" dirty="0">
                <a:latin typeface="Times New Roman" pitchFamily="18" charset="0"/>
                <a:ea typeface="+mn-ea"/>
                <a:cs typeface="Times New Roman" pitchFamily="18" charset="0"/>
              </a:rPr>
              <a:t>，研究随着速率区间的变化引起的分子数相对比例的变化。</a:t>
            </a:r>
            <a:endParaRPr kumimoji="1" lang="zh-CN" altLang="en-US" sz="2400" dirty="0">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2"/>
                                        </p:tgtEl>
                                        <p:attrNameLst>
                                          <p:attrName>style.visibility</p:attrName>
                                        </p:attrNameLst>
                                      </p:cBhvr>
                                      <p:to>
                                        <p:strVal val="visible"/>
                                      </p:to>
                                    </p:set>
                                    <p:animEffect transition="in" filter="wipe(left)">
                                      <p:cBhvr>
                                        <p:cTn id="7" dur="2000"/>
                                        <p:tgtEl>
                                          <p:spTgt spid="102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3"/>
                                        </p:tgtEl>
                                        <p:attrNameLst>
                                          <p:attrName>style.visibility</p:attrName>
                                        </p:attrNameLst>
                                      </p:cBhvr>
                                      <p:to>
                                        <p:strVal val="visible"/>
                                      </p:to>
                                    </p:set>
                                    <p:animEffect transition="in" filter="wipe(left)">
                                      <p:cBhvr>
                                        <p:cTn id="12" dur="500"/>
                                        <p:tgtEl>
                                          <p:spTgt spid="102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4"/>
                                        </p:tgtEl>
                                        <p:attrNameLst>
                                          <p:attrName>style.visibility</p:attrName>
                                        </p:attrNameLst>
                                      </p:cBhvr>
                                      <p:to>
                                        <p:strVal val="visible"/>
                                      </p:to>
                                    </p:set>
                                    <p:animEffect transition="in" filter="wipe(left)">
                                      <p:cBhvr>
                                        <p:cTn id="17" dur="500"/>
                                        <p:tgtEl>
                                          <p:spTgt spid="102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94"/>
                                        </p:tgtEl>
                                        <p:attrNameLst>
                                          <p:attrName>style.visibility</p:attrName>
                                        </p:attrNameLst>
                                      </p:cBhvr>
                                      <p:to>
                                        <p:strVal val="visible"/>
                                      </p:to>
                                    </p:set>
                                    <p:animEffect transition="in" filter="wipe(left)">
                                      <p:cBhvr>
                                        <p:cTn id="22" dur="500"/>
                                        <p:tgtEl>
                                          <p:spTgt spid="102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92"/>
                                        </p:tgtEl>
                                        <p:attrNameLst>
                                          <p:attrName>style.visibility</p:attrName>
                                        </p:attrNameLst>
                                      </p:cBhvr>
                                      <p:to>
                                        <p:strVal val="visible"/>
                                      </p:to>
                                    </p:set>
                                    <p:animEffect transition="in" filter="wipe(left)">
                                      <p:cBhvr>
                                        <p:cTn id="27" dur="1000"/>
                                        <p:tgtEl>
                                          <p:spTgt spid="1029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91"/>
                                        </p:tgtEl>
                                        <p:attrNameLst>
                                          <p:attrName>style.visibility</p:attrName>
                                        </p:attrNameLst>
                                      </p:cBhvr>
                                      <p:to>
                                        <p:strVal val="visible"/>
                                      </p:to>
                                    </p:set>
                                    <p:animEffect transition="in" filter="wipe(left)">
                                      <p:cBhvr>
                                        <p:cTn id="32" dur="1000"/>
                                        <p:tgtEl>
                                          <p:spTgt spid="10291"/>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10290"/>
                                        </p:tgtEl>
                                        <p:attrNameLst>
                                          <p:attrName>style.visibility</p:attrName>
                                        </p:attrNameLst>
                                      </p:cBhvr>
                                      <p:to>
                                        <p:strVal val="visible"/>
                                      </p:to>
                                    </p:set>
                                    <p:animEffect transition="in" filter="wipe(left)">
                                      <p:cBhvr>
                                        <p:cTn id="36" dur="1000"/>
                                        <p:tgtEl>
                                          <p:spTgt spid="10290"/>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10283"/>
                                        </p:tgtEl>
                                        <p:attrNameLst>
                                          <p:attrName>style.visibility</p:attrName>
                                        </p:attrNameLst>
                                      </p:cBhvr>
                                      <p:to>
                                        <p:strVal val="visible"/>
                                      </p:to>
                                    </p:set>
                                    <p:animEffect transition="in" filter="wipe(left)">
                                      <p:cBhvr>
                                        <p:cTn id="40" dur="1000"/>
                                        <p:tgtEl>
                                          <p:spTgt spid="10283"/>
                                        </p:tgtEl>
                                      </p:cBhvr>
                                    </p:animEffect>
                                  </p:childTnLst>
                                </p:cTn>
                              </p:par>
                            </p:childTnLst>
                          </p:cTn>
                        </p:par>
                        <p:par>
                          <p:cTn id="41" fill="hold">
                            <p:stCondLst>
                              <p:cond delay="3000"/>
                            </p:stCondLst>
                            <p:childTnLst>
                              <p:par>
                                <p:cTn id="42" presetID="22" presetClass="entr" presetSubtype="8" fill="hold" nodeType="afterEffect">
                                  <p:stCondLst>
                                    <p:cond delay="0"/>
                                  </p:stCondLst>
                                  <p:childTnLst>
                                    <p:set>
                                      <p:cBhvr>
                                        <p:cTn id="43" dur="1" fill="hold">
                                          <p:stCondLst>
                                            <p:cond delay="0"/>
                                          </p:stCondLst>
                                        </p:cTn>
                                        <p:tgtEl>
                                          <p:spTgt spid="10277"/>
                                        </p:tgtEl>
                                        <p:attrNameLst>
                                          <p:attrName>style.visibility</p:attrName>
                                        </p:attrNameLst>
                                      </p:cBhvr>
                                      <p:to>
                                        <p:strVal val="visible"/>
                                      </p:to>
                                    </p:set>
                                    <p:animEffect transition="in" filter="wipe(left)">
                                      <p:cBhvr>
                                        <p:cTn id="44" dur="1000"/>
                                        <p:tgtEl>
                                          <p:spTgt spid="10277"/>
                                        </p:tgtEl>
                                      </p:cBhvr>
                                    </p:animEffect>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10280"/>
                                        </p:tgtEl>
                                        <p:attrNameLst>
                                          <p:attrName>style.visibility</p:attrName>
                                        </p:attrNameLst>
                                      </p:cBhvr>
                                      <p:to>
                                        <p:strVal val="visible"/>
                                      </p:to>
                                    </p:set>
                                    <p:animEffect transition="in" filter="wipe(left)">
                                      <p:cBhvr>
                                        <p:cTn id="48" dur="1000"/>
                                        <p:tgtEl>
                                          <p:spTgt spid="1028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0289"/>
                                        </p:tgtEl>
                                        <p:attrNameLst>
                                          <p:attrName>style.visibility</p:attrName>
                                        </p:attrNameLst>
                                      </p:cBhvr>
                                      <p:to>
                                        <p:strVal val="visible"/>
                                      </p:to>
                                    </p:set>
                                    <p:animEffect transition="in" filter="wipe(left)">
                                      <p:cBhvr>
                                        <p:cTn id="53" dur="1000"/>
                                        <p:tgtEl>
                                          <p:spTgt spid="10289"/>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10288"/>
                                        </p:tgtEl>
                                        <p:attrNameLst>
                                          <p:attrName>style.visibility</p:attrName>
                                        </p:attrNameLst>
                                      </p:cBhvr>
                                      <p:to>
                                        <p:strVal val="visible"/>
                                      </p:to>
                                    </p:set>
                                    <p:animEffect transition="in" filter="wipe(left)">
                                      <p:cBhvr>
                                        <p:cTn id="57" dur="1000"/>
                                        <p:tgtEl>
                                          <p:spTgt spid="10288"/>
                                        </p:tgtEl>
                                      </p:cBhvr>
                                    </p:animEffect>
                                  </p:childTnLst>
                                </p:cTn>
                              </p:par>
                            </p:childTnLst>
                          </p:cTn>
                        </p:par>
                        <p:par>
                          <p:cTn id="58" fill="hold">
                            <p:stCondLst>
                              <p:cond delay="2000"/>
                            </p:stCondLst>
                            <p:childTnLst>
                              <p:par>
                                <p:cTn id="59" presetID="22" presetClass="entr" presetSubtype="8" fill="hold" nodeType="afterEffect">
                                  <p:stCondLst>
                                    <p:cond delay="0"/>
                                  </p:stCondLst>
                                  <p:childTnLst>
                                    <p:set>
                                      <p:cBhvr>
                                        <p:cTn id="60" dur="1" fill="hold">
                                          <p:stCondLst>
                                            <p:cond delay="0"/>
                                          </p:stCondLst>
                                        </p:cTn>
                                        <p:tgtEl>
                                          <p:spTgt spid="10287"/>
                                        </p:tgtEl>
                                        <p:attrNameLst>
                                          <p:attrName>style.visibility</p:attrName>
                                        </p:attrNameLst>
                                      </p:cBhvr>
                                      <p:to>
                                        <p:strVal val="visible"/>
                                      </p:to>
                                    </p:set>
                                    <p:animEffect transition="in" filter="wipe(left)">
                                      <p:cBhvr>
                                        <p:cTn id="61" dur="1000"/>
                                        <p:tgtEl>
                                          <p:spTgt spid="10287"/>
                                        </p:tgtEl>
                                      </p:cBhvr>
                                    </p:animEffect>
                                  </p:childTnLst>
                                </p:cTn>
                              </p:par>
                            </p:childTnLst>
                          </p:cTn>
                        </p:par>
                        <p:par>
                          <p:cTn id="62" fill="hold">
                            <p:stCondLst>
                              <p:cond delay="3000"/>
                            </p:stCondLst>
                            <p:childTnLst>
                              <p:par>
                                <p:cTn id="63" presetID="22" presetClass="entr" presetSubtype="8" fill="hold" nodeType="afterEffect">
                                  <p:stCondLst>
                                    <p:cond delay="0"/>
                                  </p:stCondLst>
                                  <p:childTnLst>
                                    <p:set>
                                      <p:cBhvr>
                                        <p:cTn id="64" dur="1" fill="hold">
                                          <p:stCondLst>
                                            <p:cond delay="0"/>
                                          </p:stCondLst>
                                        </p:cTn>
                                        <p:tgtEl>
                                          <p:spTgt spid="10282"/>
                                        </p:tgtEl>
                                        <p:attrNameLst>
                                          <p:attrName>style.visibility</p:attrName>
                                        </p:attrNameLst>
                                      </p:cBhvr>
                                      <p:to>
                                        <p:strVal val="visible"/>
                                      </p:to>
                                    </p:set>
                                    <p:animEffect transition="in" filter="wipe(left)">
                                      <p:cBhvr>
                                        <p:cTn id="65" dur="1000"/>
                                        <p:tgtEl>
                                          <p:spTgt spid="10282"/>
                                        </p:tgtEl>
                                      </p:cBhvr>
                                    </p:animEffect>
                                  </p:childTnLst>
                                </p:cTn>
                              </p:par>
                            </p:childTnLst>
                          </p:cTn>
                        </p:par>
                        <p:par>
                          <p:cTn id="66" fill="hold">
                            <p:stCondLst>
                              <p:cond delay="4000"/>
                            </p:stCondLst>
                            <p:childTnLst>
                              <p:par>
                                <p:cTn id="67" presetID="22" presetClass="entr" presetSubtype="8" fill="hold" nodeType="afterEffect">
                                  <p:stCondLst>
                                    <p:cond delay="0"/>
                                  </p:stCondLst>
                                  <p:childTnLst>
                                    <p:set>
                                      <p:cBhvr>
                                        <p:cTn id="68" dur="1" fill="hold">
                                          <p:stCondLst>
                                            <p:cond delay="0"/>
                                          </p:stCondLst>
                                        </p:cTn>
                                        <p:tgtEl>
                                          <p:spTgt spid="10276"/>
                                        </p:tgtEl>
                                        <p:attrNameLst>
                                          <p:attrName>style.visibility</p:attrName>
                                        </p:attrNameLst>
                                      </p:cBhvr>
                                      <p:to>
                                        <p:strVal val="visible"/>
                                      </p:to>
                                    </p:set>
                                    <p:animEffect transition="in" filter="wipe(left)">
                                      <p:cBhvr>
                                        <p:cTn id="69" dur="1000"/>
                                        <p:tgtEl>
                                          <p:spTgt spid="10276"/>
                                        </p:tgtEl>
                                      </p:cBhvr>
                                    </p:animEffect>
                                  </p:childTnLst>
                                </p:cTn>
                              </p:par>
                            </p:childTnLst>
                          </p:cTn>
                        </p:par>
                        <p:par>
                          <p:cTn id="70" fill="hold">
                            <p:stCondLst>
                              <p:cond delay="5000"/>
                            </p:stCondLst>
                            <p:childTnLst>
                              <p:par>
                                <p:cTn id="71" presetID="22" presetClass="entr" presetSubtype="8" fill="hold" nodeType="afterEffect">
                                  <p:stCondLst>
                                    <p:cond delay="0"/>
                                  </p:stCondLst>
                                  <p:childTnLst>
                                    <p:set>
                                      <p:cBhvr>
                                        <p:cTn id="72" dur="1" fill="hold">
                                          <p:stCondLst>
                                            <p:cond delay="0"/>
                                          </p:stCondLst>
                                        </p:cTn>
                                        <p:tgtEl>
                                          <p:spTgt spid="10279"/>
                                        </p:tgtEl>
                                        <p:attrNameLst>
                                          <p:attrName>style.visibility</p:attrName>
                                        </p:attrNameLst>
                                      </p:cBhvr>
                                      <p:to>
                                        <p:strVal val="visible"/>
                                      </p:to>
                                    </p:set>
                                    <p:animEffect transition="in" filter="wipe(left)">
                                      <p:cBhvr>
                                        <p:cTn id="73" dur="1000"/>
                                        <p:tgtEl>
                                          <p:spTgt spid="1027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0286"/>
                                        </p:tgtEl>
                                        <p:attrNameLst>
                                          <p:attrName>style.visibility</p:attrName>
                                        </p:attrNameLst>
                                      </p:cBhvr>
                                      <p:to>
                                        <p:strVal val="visible"/>
                                      </p:to>
                                    </p:set>
                                    <p:animEffect transition="in" filter="wipe(left)">
                                      <p:cBhvr>
                                        <p:cTn id="78" dur="1000"/>
                                        <p:tgtEl>
                                          <p:spTgt spid="10286"/>
                                        </p:tgtEl>
                                      </p:cBhvr>
                                    </p:animEffect>
                                  </p:childTnLst>
                                </p:cTn>
                              </p:par>
                            </p:childTnLst>
                          </p:cTn>
                        </p:par>
                        <p:par>
                          <p:cTn id="79" fill="hold">
                            <p:stCondLst>
                              <p:cond delay="1000"/>
                            </p:stCondLst>
                            <p:childTnLst>
                              <p:par>
                                <p:cTn id="80" presetID="22" presetClass="entr" presetSubtype="8" fill="hold" nodeType="afterEffect">
                                  <p:stCondLst>
                                    <p:cond delay="0"/>
                                  </p:stCondLst>
                                  <p:childTnLst>
                                    <p:set>
                                      <p:cBhvr>
                                        <p:cTn id="81" dur="1" fill="hold">
                                          <p:stCondLst>
                                            <p:cond delay="0"/>
                                          </p:stCondLst>
                                        </p:cTn>
                                        <p:tgtEl>
                                          <p:spTgt spid="10285"/>
                                        </p:tgtEl>
                                        <p:attrNameLst>
                                          <p:attrName>style.visibility</p:attrName>
                                        </p:attrNameLst>
                                      </p:cBhvr>
                                      <p:to>
                                        <p:strVal val="visible"/>
                                      </p:to>
                                    </p:set>
                                    <p:animEffect transition="in" filter="wipe(left)">
                                      <p:cBhvr>
                                        <p:cTn id="82" dur="1000"/>
                                        <p:tgtEl>
                                          <p:spTgt spid="1028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0284"/>
                                        </p:tgtEl>
                                        <p:attrNameLst>
                                          <p:attrName>style.visibility</p:attrName>
                                        </p:attrNameLst>
                                      </p:cBhvr>
                                      <p:to>
                                        <p:strVal val="visible"/>
                                      </p:to>
                                    </p:set>
                                    <p:animEffect transition="in" filter="wipe(left)">
                                      <p:cBhvr>
                                        <p:cTn id="87" dur="1000"/>
                                        <p:tgtEl>
                                          <p:spTgt spid="10284"/>
                                        </p:tgtEl>
                                      </p:cBhvr>
                                    </p:animEffect>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10281"/>
                                        </p:tgtEl>
                                        <p:attrNameLst>
                                          <p:attrName>style.visibility</p:attrName>
                                        </p:attrNameLst>
                                      </p:cBhvr>
                                      <p:to>
                                        <p:strVal val="visible"/>
                                      </p:to>
                                    </p:set>
                                    <p:animEffect transition="in" filter="wipe(left)">
                                      <p:cBhvr>
                                        <p:cTn id="91" dur="1000"/>
                                        <p:tgtEl>
                                          <p:spTgt spid="10281"/>
                                        </p:tgtEl>
                                      </p:cBhvr>
                                    </p:animEffect>
                                  </p:childTnLst>
                                </p:cTn>
                              </p:par>
                            </p:childTnLst>
                          </p:cTn>
                        </p:par>
                        <p:par>
                          <p:cTn id="92" fill="hold">
                            <p:stCondLst>
                              <p:cond delay="2000"/>
                            </p:stCondLst>
                            <p:childTnLst>
                              <p:par>
                                <p:cTn id="93" presetID="22" presetClass="entr" presetSubtype="8" fill="hold" nodeType="afterEffect">
                                  <p:stCondLst>
                                    <p:cond delay="0"/>
                                  </p:stCondLst>
                                  <p:childTnLst>
                                    <p:set>
                                      <p:cBhvr>
                                        <p:cTn id="94" dur="1" fill="hold">
                                          <p:stCondLst>
                                            <p:cond delay="0"/>
                                          </p:stCondLst>
                                        </p:cTn>
                                        <p:tgtEl>
                                          <p:spTgt spid="10275"/>
                                        </p:tgtEl>
                                        <p:attrNameLst>
                                          <p:attrName>style.visibility</p:attrName>
                                        </p:attrNameLst>
                                      </p:cBhvr>
                                      <p:to>
                                        <p:strVal val="visible"/>
                                      </p:to>
                                    </p:set>
                                    <p:animEffect transition="in" filter="wipe(left)">
                                      <p:cBhvr>
                                        <p:cTn id="95" dur="1000"/>
                                        <p:tgtEl>
                                          <p:spTgt spid="10275"/>
                                        </p:tgtEl>
                                      </p:cBhvr>
                                    </p:animEffect>
                                  </p:childTnLst>
                                </p:cTn>
                              </p:par>
                            </p:childTnLst>
                          </p:cTn>
                        </p:par>
                        <p:par>
                          <p:cTn id="96" fill="hold">
                            <p:stCondLst>
                              <p:cond delay="3000"/>
                            </p:stCondLst>
                            <p:childTnLst>
                              <p:par>
                                <p:cTn id="97" presetID="22" presetClass="entr" presetSubtype="8" fill="hold" nodeType="afterEffect">
                                  <p:stCondLst>
                                    <p:cond delay="0"/>
                                  </p:stCondLst>
                                  <p:childTnLst>
                                    <p:set>
                                      <p:cBhvr>
                                        <p:cTn id="98" dur="1" fill="hold">
                                          <p:stCondLst>
                                            <p:cond delay="0"/>
                                          </p:stCondLst>
                                        </p:cTn>
                                        <p:tgtEl>
                                          <p:spTgt spid="10278"/>
                                        </p:tgtEl>
                                        <p:attrNameLst>
                                          <p:attrName>style.visibility</p:attrName>
                                        </p:attrNameLst>
                                      </p:cBhvr>
                                      <p:to>
                                        <p:strVal val="visible"/>
                                      </p:to>
                                    </p:set>
                                    <p:animEffect transition="in" filter="wipe(left)">
                                      <p:cBhvr>
                                        <p:cTn id="99" dur="1000"/>
                                        <p:tgtEl>
                                          <p:spTgt spid="1027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0293"/>
                                        </p:tgtEl>
                                        <p:attrNameLst>
                                          <p:attrName>style.visibility</p:attrName>
                                        </p:attrNameLst>
                                      </p:cBhvr>
                                      <p:to>
                                        <p:strVal val="visible"/>
                                      </p:to>
                                    </p:set>
                                    <p:animEffect transition="in" filter="wipe(left)">
                                      <p:cBhvr>
                                        <p:cTn id="104" dur="500"/>
                                        <p:tgtEl>
                                          <p:spTgt spid="10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2" grpId="0" autoUpdateAnimBg="0"/>
      <p:bldP spid="10273" grpId="0"/>
      <p:bldP spid="10274" grpId="0"/>
      <p:bldP spid="10293" grpId="0"/>
      <p:bldP spid="1029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Text Box 4"/>
          <p:cNvSpPr txBox="1">
            <a:spLocks noChangeArrowheads="1"/>
          </p:cNvSpPr>
          <p:nvPr/>
        </p:nvSpPr>
        <p:spPr bwMode="auto">
          <a:xfrm>
            <a:off x="179388" y="450850"/>
            <a:ext cx="3044825" cy="457200"/>
          </a:xfrm>
          <a:prstGeom prst="rect">
            <a:avLst/>
          </a:prstGeom>
          <a:noFill/>
          <a:ln w="9525">
            <a:noFill/>
            <a:miter lim="800000"/>
            <a:headEnd/>
            <a:tailEnd/>
          </a:ln>
        </p:spPr>
        <p:txBody>
          <a:bodyPr>
            <a:spAutoFit/>
          </a:bodyPr>
          <a:lstStyle/>
          <a:p>
            <a:pPr>
              <a:buClr>
                <a:srgbClr val="FF6600"/>
              </a:buClr>
              <a:buFont typeface="Wingdings" pitchFamily="2" charset="2"/>
              <a:buNone/>
            </a:pPr>
            <a:r>
              <a:rPr kumimoji="1" lang="zh-CN" altLang="en-US" sz="2400" b="1">
                <a:solidFill>
                  <a:srgbClr val="FF0000"/>
                </a:solidFill>
                <a:latin typeface="Times New Roman" pitchFamily="18" charset="0"/>
              </a:rPr>
              <a:t>速率分布函数</a:t>
            </a:r>
          </a:p>
        </p:txBody>
      </p:sp>
      <p:sp>
        <p:nvSpPr>
          <p:cNvPr id="69637" name="Text Box 5"/>
          <p:cNvSpPr txBox="1">
            <a:spLocks noChangeArrowheads="1"/>
          </p:cNvSpPr>
          <p:nvPr/>
        </p:nvSpPr>
        <p:spPr bwMode="auto">
          <a:xfrm>
            <a:off x="180975" y="908050"/>
            <a:ext cx="8712200" cy="968375"/>
          </a:xfrm>
          <a:prstGeom prst="rect">
            <a:avLst/>
          </a:prstGeom>
          <a:noFill/>
          <a:ln w="9525">
            <a:noFill/>
            <a:miter lim="800000"/>
            <a:headEnd/>
            <a:tailEnd/>
          </a:ln>
        </p:spPr>
        <p:txBody>
          <a:bodyPr>
            <a:spAutoFit/>
          </a:bodyPr>
          <a:lstStyle/>
          <a:p>
            <a:pPr>
              <a:lnSpc>
                <a:spcPct val="120000"/>
              </a:lnSpc>
            </a:pPr>
            <a:r>
              <a:rPr kumimoji="1" lang="en-US" altLang="zh-CN" sz="2400" b="1">
                <a:latin typeface="Times New Roman" pitchFamily="18" charset="0"/>
              </a:rPr>
              <a:t>       </a:t>
            </a:r>
            <a:r>
              <a:rPr kumimoji="1" lang="zh-CN" altLang="en-US" sz="2400" b="1">
                <a:latin typeface="Times New Roman" pitchFamily="18" charset="0"/>
              </a:rPr>
              <a:t>对分子总数为 </a:t>
            </a:r>
            <a:r>
              <a:rPr kumimoji="1" lang="en-US" altLang="zh-CN" sz="2400" b="1" i="1">
                <a:solidFill>
                  <a:srgbClr val="FF0000"/>
                </a:solidFill>
                <a:latin typeface="Times New Roman" pitchFamily="18" charset="0"/>
              </a:rPr>
              <a:t>N </a:t>
            </a:r>
            <a:r>
              <a:rPr kumimoji="1" lang="zh-CN" altLang="en-US" sz="2400" b="1">
                <a:latin typeface="Times New Roman" pitchFamily="18" charset="0"/>
              </a:rPr>
              <a:t>的某气体系统，在 </a:t>
            </a:r>
            <a:r>
              <a:rPr kumimoji="1" lang="en-US" altLang="zh-CN" sz="2400" b="1" i="1">
                <a:solidFill>
                  <a:srgbClr val="FF0000"/>
                </a:solidFill>
                <a:latin typeface="Times New Roman" pitchFamily="18" charset="0"/>
              </a:rPr>
              <a:t>v </a:t>
            </a:r>
            <a:r>
              <a:rPr kumimoji="1" lang="zh-CN" altLang="en-US" sz="2400" b="1" i="1">
                <a:solidFill>
                  <a:srgbClr val="FF0000"/>
                </a:solidFill>
                <a:latin typeface="Times New Roman" pitchFamily="18" charset="0"/>
              </a:rPr>
              <a:t>～ </a:t>
            </a:r>
            <a:r>
              <a:rPr kumimoji="1" lang="en-US" altLang="zh-CN" sz="2400" b="1" i="1">
                <a:solidFill>
                  <a:srgbClr val="FF0000"/>
                </a:solidFill>
                <a:latin typeface="Times New Roman" pitchFamily="18" charset="0"/>
              </a:rPr>
              <a:t>v+ </a:t>
            </a:r>
            <a:r>
              <a:rPr kumimoji="1" lang="en-US" altLang="zh-CN" sz="2400" b="1">
                <a:solidFill>
                  <a:srgbClr val="FF0000"/>
                </a:solidFill>
                <a:latin typeface="Times New Roman" pitchFamily="18" charset="0"/>
              </a:rPr>
              <a:t>d</a:t>
            </a:r>
            <a:r>
              <a:rPr kumimoji="1" lang="en-US" altLang="zh-CN" sz="2400" b="1" i="1">
                <a:solidFill>
                  <a:srgbClr val="FF0000"/>
                </a:solidFill>
                <a:latin typeface="Times New Roman" pitchFamily="18" charset="0"/>
              </a:rPr>
              <a:t>v</a:t>
            </a:r>
            <a:r>
              <a:rPr kumimoji="1" lang="en-US" altLang="zh-CN" b="1" i="1">
                <a:solidFill>
                  <a:srgbClr val="00FFFF"/>
                </a:solidFill>
              </a:rPr>
              <a:t> </a:t>
            </a:r>
            <a:r>
              <a:rPr kumimoji="1" lang="zh-CN" altLang="en-US" sz="2400" b="1"/>
              <a:t>区间内</a:t>
            </a:r>
            <a:r>
              <a:rPr kumimoji="1" lang="zh-CN" altLang="en-US" sz="2400" b="1">
                <a:latin typeface="Times New Roman" pitchFamily="18" charset="0"/>
              </a:rPr>
              <a:t>的分子数占总分子数的比例可表示为</a:t>
            </a:r>
            <a:r>
              <a:rPr kumimoji="1" lang="en-US" altLang="zh-CN" sz="2400" b="1">
                <a:latin typeface="Times New Roman" pitchFamily="18" charset="0"/>
              </a:rPr>
              <a:t>:</a:t>
            </a:r>
            <a:r>
              <a:rPr kumimoji="1" lang="en-US" altLang="zh-CN" sz="2400">
                <a:latin typeface="Times New Roman" pitchFamily="18" charset="0"/>
              </a:rPr>
              <a:t> </a:t>
            </a:r>
          </a:p>
        </p:txBody>
      </p:sp>
      <p:graphicFrame>
        <p:nvGraphicFramePr>
          <p:cNvPr id="69638" name="Object 6"/>
          <p:cNvGraphicFramePr>
            <a:graphicFrameLocks noChangeAspect="1"/>
          </p:cNvGraphicFramePr>
          <p:nvPr/>
        </p:nvGraphicFramePr>
        <p:xfrm>
          <a:off x="2627313" y="1844675"/>
          <a:ext cx="817562" cy="814388"/>
        </p:xfrm>
        <a:graphic>
          <a:graphicData uri="http://schemas.openxmlformats.org/presentationml/2006/ole">
            <p:oleObj spid="_x0000_s37890" name="公式" r:id="rId3" imgW="406080" imgH="406080" progId="Equation.3">
              <p:embed/>
            </p:oleObj>
          </a:graphicData>
        </a:graphic>
      </p:graphicFrame>
      <p:graphicFrame>
        <p:nvGraphicFramePr>
          <p:cNvPr id="69639" name="Object 7"/>
          <p:cNvGraphicFramePr>
            <a:graphicFrameLocks noChangeAspect="1"/>
          </p:cNvGraphicFramePr>
          <p:nvPr/>
        </p:nvGraphicFramePr>
        <p:xfrm>
          <a:off x="3476625" y="2084388"/>
          <a:ext cx="688975" cy="407987"/>
        </p:xfrm>
        <a:graphic>
          <a:graphicData uri="http://schemas.openxmlformats.org/presentationml/2006/ole">
            <p:oleObj spid="_x0000_s37891" name="公式" r:id="rId4" imgW="342720" imgH="203040" progId="Equation.3">
              <p:embed/>
            </p:oleObj>
          </a:graphicData>
        </a:graphic>
      </p:graphicFrame>
      <p:graphicFrame>
        <p:nvGraphicFramePr>
          <p:cNvPr id="69640" name="Object 8"/>
          <p:cNvGraphicFramePr>
            <a:graphicFrameLocks noChangeAspect="1"/>
          </p:cNvGraphicFramePr>
          <p:nvPr/>
        </p:nvGraphicFramePr>
        <p:xfrm>
          <a:off x="4122738" y="2078038"/>
          <a:ext cx="409575" cy="355600"/>
        </p:xfrm>
        <a:graphic>
          <a:graphicData uri="http://schemas.openxmlformats.org/presentationml/2006/ole">
            <p:oleObj spid="_x0000_s37892" name="公式" r:id="rId5" imgW="203040" imgH="177480" progId="Equation.3">
              <p:embed/>
            </p:oleObj>
          </a:graphicData>
        </a:graphic>
      </p:graphicFrame>
      <p:graphicFrame>
        <p:nvGraphicFramePr>
          <p:cNvPr id="69641" name="Object 9"/>
          <p:cNvGraphicFramePr>
            <a:graphicFrameLocks noChangeAspect="1"/>
          </p:cNvGraphicFramePr>
          <p:nvPr/>
        </p:nvGraphicFramePr>
        <p:xfrm>
          <a:off x="2722563" y="2708275"/>
          <a:ext cx="1466850" cy="730250"/>
        </p:xfrm>
        <a:graphic>
          <a:graphicData uri="http://schemas.openxmlformats.org/presentationml/2006/ole">
            <p:oleObj spid="_x0000_s37893" name="公式" r:id="rId6" imgW="812520" imgH="406080" progId="Equation.3">
              <p:embed/>
            </p:oleObj>
          </a:graphicData>
        </a:graphic>
      </p:graphicFrame>
      <p:sp>
        <p:nvSpPr>
          <p:cNvPr id="69642" name="Rectangle 10"/>
          <p:cNvSpPr>
            <a:spLocks noChangeArrowheads="1"/>
          </p:cNvSpPr>
          <p:nvPr/>
        </p:nvSpPr>
        <p:spPr bwMode="auto">
          <a:xfrm>
            <a:off x="4811713" y="2830513"/>
            <a:ext cx="3903662" cy="457200"/>
          </a:xfrm>
          <a:prstGeom prst="rect">
            <a:avLst/>
          </a:prstGeom>
          <a:noFill/>
          <a:ln w="9525">
            <a:noFill/>
            <a:miter lim="800000"/>
            <a:headEnd/>
            <a:tailEnd/>
          </a:ln>
        </p:spPr>
        <p:txBody>
          <a:bodyPr>
            <a:spAutoFit/>
          </a:bodyPr>
          <a:lstStyle/>
          <a:p>
            <a:pPr>
              <a:defRPr/>
            </a:pPr>
            <a:r>
              <a:rPr kumimoji="1" lang="en-US" altLang="zh-CN" sz="2400" b="1" i="1" dirty="0">
                <a:solidFill>
                  <a:srgbClr val="FF0000"/>
                </a:solidFill>
                <a:latin typeface="Times New Roman" pitchFamily="18" charset="0"/>
                <a:cs typeface="Times New Roman" pitchFamily="18" charset="0"/>
              </a:rPr>
              <a:t>f</a:t>
            </a:r>
            <a:r>
              <a:rPr kumimoji="1" lang="en-US" altLang="zh-CN" sz="2400" b="1" dirty="0">
                <a:solidFill>
                  <a:srgbClr val="FF0000"/>
                </a:solidFill>
                <a:latin typeface="Times New Roman" pitchFamily="18" charset="0"/>
                <a:cs typeface="Times New Roman" pitchFamily="18" charset="0"/>
              </a:rPr>
              <a:t>(</a:t>
            </a:r>
            <a:r>
              <a:rPr kumimoji="1" lang="en-US" altLang="zh-CN" sz="2400" b="1" i="1" dirty="0">
                <a:solidFill>
                  <a:srgbClr val="FF0000"/>
                </a:solidFill>
                <a:latin typeface="Times New Roman" pitchFamily="18" charset="0"/>
                <a:cs typeface="Times New Roman" pitchFamily="18" charset="0"/>
              </a:rPr>
              <a:t>v</a:t>
            </a:r>
            <a:r>
              <a:rPr kumimoji="1" lang="en-US" altLang="zh-CN" sz="2400" b="1" dirty="0">
                <a:solidFill>
                  <a:srgbClr val="FF0000"/>
                </a:solidFill>
                <a:latin typeface="Times New Roman" pitchFamily="18" charset="0"/>
                <a:cs typeface="Times New Roman" pitchFamily="18" charset="0"/>
              </a:rPr>
              <a:t>)</a:t>
            </a:r>
            <a:r>
              <a:rPr kumimoji="1" lang="zh-CN" altLang="en-US" sz="2400" b="1" dirty="0">
                <a:solidFill>
                  <a:srgbClr val="0000FF"/>
                </a:solidFill>
                <a:latin typeface="+mn-ea"/>
                <a:ea typeface="+mn-ea"/>
                <a:cs typeface="Times New Roman" pitchFamily="18" charset="0"/>
              </a:rPr>
              <a:t>为</a:t>
            </a:r>
            <a:r>
              <a:rPr kumimoji="1" lang="zh-CN" altLang="en-US" sz="2400" b="1" dirty="0">
                <a:solidFill>
                  <a:srgbClr val="0000FF"/>
                </a:solidFill>
                <a:latin typeface="+mn-ea"/>
                <a:ea typeface="+mn-ea"/>
              </a:rPr>
              <a:t>速率分布函数</a:t>
            </a:r>
          </a:p>
        </p:txBody>
      </p:sp>
      <p:sp>
        <p:nvSpPr>
          <p:cNvPr id="69643" name="Rectangle 11"/>
          <p:cNvSpPr>
            <a:spLocks noChangeArrowheads="1"/>
          </p:cNvSpPr>
          <p:nvPr/>
        </p:nvSpPr>
        <p:spPr bwMode="auto">
          <a:xfrm>
            <a:off x="1979613" y="2833688"/>
            <a:ext cx="792162" cy="457200"/>
          </a:xfrm>
          <a:prstGeom prst="rect">
            <a:avLst/>
          </a:prstGeom>
          <a:noFill/>
          <a:ln w="9525">
            <a:noFill/>
            <a:miter lim="800000"/>
            <a:headEnd/>
            <a:tailEnd/>
          </a:ln>
        </p:spPr>
        <p:txBody>
          <a:bodyPr>
            <a:spAutoFit/>
          </a:bodyPr>
          <a:lstStyle/>
          <a:p>
            <a:r>
              <a:rPr kumimoji="1" lang="zh-CN" altLang="en-US" sz="2400" b="1">
                <a:latin typeface="Bookman Old Style" pitchFamily="18" charset="0"/>
              </a:rPr>
              <a:t>则</a:t>
            </a:r>
          </a:p>
        </p:txBody>
      </p:sp>
      <p:sp>
        <p:nvSpPr>
          <p:cNvPr id="69644" name="Rectangle 12"/>
          <p:cNvSpPr>
            <a:spLocks noChangeArrowheads="1"/>
          </p:cNvSpPr>
          <p:nvPr/>
        </p:nvSpPr>
        <p:spPr bwMode="auto">
          <a:xfrm>
            <a:off x="323850" y="3644900"/>
            <a:ext cx="8569325" cy="534988"/>
          </a:xfrm>
          <a:prstGeom prst="rect">
            <a:avLst/>
          </a:prstGeom>
          <a:noFill/>
          <a:ln w="9525">
            <a:noFill/>
            <a:miter lim="800000"/>
            <a:headEnd/>
            <a:tailEnd/>
          </a:ln>
        </p:spPr>
        <p:txBody>
          <a:bodyPr>
            <a:spAutoFit/>
          </a:bodyPr>
          <a:lstStyle/>
          <a:p>
            <a:pPr>
              <a:lnSpc>
                <a:spcPct val="120000"/>
              </a:lnSpc>
              <a:buFont typeface="Wingdings" pitchFamily="2" charset="2"/>
              <a:buChar char="Ø"/>
              <a:defRPr/>
            </a:pPr>
            <a:r>
              <a:rPr kumimoji="1" lang="en-US" altLang="zh-CN" sz="2400" b="1" i="1" dirty="0">
                <a:solidFill>
                  <a:srgbClr val="FF6600"/>
                </a:solidFill>
                <a:latin typeface="Times New Roman" pitchFamily="18" charset="0"/>
                <a:ea typeface="+mn-ea"/>
                <a:cs typeface="Times New Roman" pitchFamily="18" charset="0"/>
              </a:rPr>
              <a:t>  </a:t>
            </a:r>
            <a:r>
              <a:rPr kumimoji="1" lang="en-US" altLang="zh-CN" sz="2400" b="1" i="1" dirty="0">
                <a:solidFill>
                  <a:srgbClr val="FF0000"/>
                </a:solidFill>
                <a:latin typeface="Times New Roman" pitchFamily="18" charset="0"/>
                <a:ea typeface="+mn-ea"/>
                <a:cs typeface="Times New Roman" pitchFamily="18" charset="0"/>
              </a:rPr>
              <a:t>f</a:t>
            </a:r>
            <a:r>
              <a:rPr kumimoji="1" lang="en-US" altLang="zh-CN" sz="2400" b="1" dirty="0">
                <a:solidFill>
                  <a:srgbClr val="FF0000"/>
                </a:solidFill>
                <a:latin typeface="Times New Roman" pitchFamily="18" charset="0"/>
                <a:ea typeface="+mn-ea"/>
                <a:cs typeface="Times New Roman" pitchFamily="18" charset="0"/>
              </a:rPr>
              <a:t>(</a:t>
            </a:r>
            <a:r>
              <a:rPr kumimoji="1" lang="en-US" altLang="zh-CN" sz="2400" b="1" i="1" dirty="0">
                <a:solidFill>
                  <a:srgbClr val="FF0000"/>
                </a:solidFill>
                <a:latin typeface="Times New Roman" pitchFamily="18" charset="0"/>
                <a:ea typeface="+mn-ea"/>
                <a:cs typeface="Times New Roman" pitchFamily="18" charset="0"/>
              </a:rPr>
              <a:t>v</a:t>
            </a:r>
            <a:r>
              <a:rPr kumimoji="1" lang="en-US" altLang="zh-CN" sz="2400" b="1" dirty="0">
                <a:solidFill>
                  <a:srgbClr val="FF0000"/>
                </a:solidFill>
                <a:latin typeface="Times New Roman" pitchFamily="18" charset="0"/>
                <a:ea typeface="+mn-ea"/>
                <a:cs typeface="Times New Roman" pitchFamily="18" charset="0"/>
              </a:rPr>
              <a:t>)</a:t>
            </a: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也称</a:t>
            </a:r>
            <a:r>
              <a:rPr kumimoji="1" lang="zh-CN" altLang="en-US" sz="2400" b="1" dirty="0">
                <a:solidFill>
                  <a:srgbClr val="FF0000"/>
                </a:solidFill>
                <a:latin typeface="Times New Roman" pitchFamily="18" charset="0"/>
                <a:ea typeface="+mn-ea"/>
                <a:cs typeface="Times New Roman" pitchFamily="18" charset="0"/>
              </a:rPr>
              <a:t>速率概率密度</a:t>
            </a:r>
            <a:r>
              <a:rPr kumimoji="1" lang="zh-CN" altLang="en-US" sz="2400" b="1" dirty="0">
                <a:latin typeface="Times New Roman" pitchFamily="18" charset="0"/>
                <a:ea typeface="+mn-ea"/>
                <a:cs typeface="Times New Roman" pitchFamily="18" charset="0"/>
              </a:rPr>
              <a:t>，它的物理意义是：</a:t>
            </a:r>
            <a:endParaRPr kumimoji="1" lang="zh-CN" altLang="en-US" sz="2400" dirty="0">
              <a:latin typeface="Times New Roman" pitchFamily="18" charset="0"/>
              <a:ea typeface="+mn-ea"/>
              <a:cs typeface="Times New Roman" pitchFamily="18" charset="0"/>
            </a:endParaRPr>
          </a:p>
        </p:txBody>
      </p:sp>
      <p:sp>
        <p:nvSpPr>
          <p:cNvPr id="69645" name="Rectangle 13"/>
          <p:cNvSpPr>
            <a:spLocks noChangeArrowheads="1"/>
          </p:cNvSpPr>
          <p:nvPr/>
        </p:nvSpPr>
        <p:spPr bwMode="auto">
          <a:xfrm>
            <a:off x="323850" y="4986338"/>
            <a:ext cx="8064500" cy="534987"/>
          </a:xfrm>
          <a:prstGeom prst="rect">
            <a:avLst/>
          </a:prstGeom>
          <a:noFill/>
          <a:ln w="9525">
            <a:noFill/>
            <a:miter lim="800000"/>
            <a:headEnd/>
            <a:tailEnd/>
          </a:ln>
        </p:spPr>
        <p:txBody>
          <a:bodyPr>
            <a:spAutoFit/>
          </a:bodyPr>
          <a:lstStyle/>
          <a:p>
            <a:pPr>
              <a:lnSpc>
                <a:spcPct val="120000"/>
              </a:lnSpc>
              <a:buFont typeface="Wingdings" pitchFamily="2" charset="2"/>
              <a:buChar char="Ø"/>
              <a:defRPr/>
            </a:pPr>
            <a:r>
              <a:rPr kumimoji="1" lang="en-US" altLang="zh-CN" sz="2400" b="1" i="1">
                <a:solidFill>
                  <a:srgbClr val="FF6600"/>
                </a:solidFill>
                <a:latin typeface="Times New Roman" pitchFamily="18" charset="0"/>
                <a:ea typeface="+mn-ea"/>
                <a:cs typeface="Times New Roman" pitchFamily="18" charset="0"/>
              </a:rPr>
              <a:t>  </a:t>
            </a:r>
            <a:r>
              <a:rPr kumimoji="1" lang="en-US" altLang="zh-CN" sz="2400" b="1" i="1">
                <a:solidFill>
                  <a:srgbClr val="FF3300"/>
                </a:solidFill>
                <a:latin typeface="Times New Roman" pitchFamily="18" charset="0"/>
                <a:ea typeface="+mn-ea"/>
                <a:cs typeface="Times New Roman" pitchFamily="18" charset="0"/>
              </a:rPr>
              <a:t>f</a:t>
            </a:r>
            <a:r>
              <a:rPr kumimoji="1" lang="en-US" altLang="zh-CN" sz="2400" b="1">
                <a:solidFill>
                  <a:srgbClr val="FF3300"/>
                </a:solidFill>
                <a:latin typeface="Times New Roman" pitchFamily="18" charset="0"/>
                <a:ea typeface="+mn-ea"/>
                <a:cs typeface="Times New Roman" pitchFamily="18" charset="0"/>
              </a:rPr>
              <a:t>(</a:t>
            </a:r>
            <a:r>
              <a:rPr kumimoji="1" lang="en-US" altLang="zh-CN" sz="2400" b="1" i="1">
                <a:solidFill>
                  <a:srgbClr val="FF3300"/>
                </a:solidFill>
                <a:latin typeface="Times New Roman" pitchFamily="18" charset="0"/>
                <a:ea typeface="+mn-ea"/>
                <a:cs typeface="Times New Roman" pitchFamily="18" charset="0"/>
              </a:rPr>
              <a:t>v</a:t>
            </a:r>
            <a:r>
              <a:rPr kumimoji="1" lang="en-US" altLang="zh-CN" sz="2400" b="1">
                <a:solidFill>
                  <a:srgbClr val="FF3300"/>
                </a:solidFill>
                <a:latin typeface="Times New Roman" pitchFamily="18" charset="0"/>
                <a:ea typeface="+mn-ea"/>
                <a:cs typeface="Times New Roman" pitchFamily="18" charset="0"/>
              </a:rPr>
              <a:t>)</a:t>
            </a:r>
            <a:r>
              <a:rPr kumimoji="1" lang="en-US" altLang="zh-CN" sz="2400" b="1">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在整个速率范围内的积分为：</a:t>
            </a:r>
            <a:r>
              <a:rPr kumimoji="1" lang="zh-CN" altLang="en-US">
                <a:latin typeface="Times New Roman" pitchFamily="18" charset="0"/>
                <a:ea typeface="+mn-ea"/>
                <a:cs typeface="Times New Roman" pitchFamily="18" charset="0"/>
              </a:rPr>
              <a:t> </a:t>
            </a:r>
          </a:p>
        </p:txBody>
      </p:sp>
      <p:graphicFrame>
        <p:nvGraphicFramePr>
          <p:cNvPr id="69646" name="Object 14"/>
          <p:cNvGraphicFramePr>
            <a:graphicFrameLocks noChangeAspect="1"/>
          </p:cNvGraphicFramePr>
          <p:nvPr/>
        </p:nvGraphicFramePr>
        <p:xfrm>
          <a:off x="2286000" y="5572125"/>
          <a:ext cx="1760538" cy="661988"/>
        </p:xfrm>
        <a:graphic>
          <a:graphicData uri="http://schemas.openxmlformats.org/presentationml/2006/ole">
            <p:oleObj spid="_x0000_s37894" name="公式" r:id="rId7" imgW="888840" imgH="330120" progId="Equation.3">
              <p:embed/>
            </p:oleObj>
          </a:graphicData>
        </a:graphic>
      </p:graphicFrame>
      <p:sp>
        <p:nvSpPr>
          <p:cNvPr id="69647" name="Text Box 15"/>
          <p:cNvSpPr txBox="1">
            <a:spLocks noChangeArrowheads="1"/>
          </p:cNvSpPr>
          <p:nvPr/>
        </p:nvSpPr>
        <p:spPr bwMode="auto">
          <a:xfrm>
            <a:off x="4205288" y="5588000"/>
            <a:ext cx="4249737" cy="549275"/>
          </a:xfrm>
          <a:prstGeom prst="rect">
            <a:avLst/>
          </a:prstGeom>
          <a:noFill/>
          <a:ln w="9525">
            <a:noFill/>
            <a:miter lim="800000"/>
            <a:headEnd/>
            <a:tailEnd/>
          </a:ln>
        </p:spPr>
        <p:txBody>
          <a:bodyPr>
            <a:spAutoFit/>
          </a:bodyPr>
          <a:lstStyle/>
          <a:p>
            <a:pPr>
              <a:lnSpc>
                <a:spcPct val="125000"/>
              </a:lnSpc>
            </a:pPr>
            <a:r>
              <a:rPr kumimoji="1" lang="en-US" altLang="zh-CN" sz="2400" b="1">
                <a:solidFill>
                  <a:srgbClr val="FF0000"/>
                </a:solidFill>
                <a:latin typeface="楷体_GB2312" pitchFamily="49" charset="-122"/>
                <a:ea typeface="楷体_GB2312" pitchFamily="49" charset="-122"/>
              </a:rPr>
              <a:t>(</a:t>
            </a:r>
            <a:r>
              <a:rPr kumimoji="1" lang="zh-CN" altLang="en-US" sz="2400" b="1">
                <a:solidFill>
                  <a:srgbClr val="FF0000"/>
                </a:solidFill>
                <a:latin typeface="楷体_GB2312" pitchFamily="49" charset="-122"/>
                <a:ea typeface="楷体_GB2312" pitchFamily="49" charset="-122"/>
              </a:rPr>
              <a:t>速率分布函数的归一化条件</a:t>
            </a:r>
            <a:r>
              <a:rPr kumimoji="1" lang="en-US" altLang="zh-CN" sz="2400" b="1">
                <a:solidFill>
                  <a:srgbClr val="FF0000"/>
                </a:solidFill>
                <a:latin typeface="楷体_GB2312" pitchFamily="49" charset="-122"/>
                <a:ea typeface="楷体_GB2312" pitchFamily="49" charset="-122"/>
              </a:rPr>
              <a:t>)</a:t>
            </a:r>
          </a:p>
        </p:txBody>
      </p:sp>
      <p:sp>
        <p:nvSpPr>
          <p:cNvPr id="69648" name="Text Box 16"/>
          <p:cNvSpPr txBox="1">
            <a:spLocks noChangeArrowheads="1"/>
          </p:cNvSpPr>
          <p:nvPr/>
        </p:nvSpPr>
        <p:spPr bwMode="auto">
          <a:xfrm>
            <a:off x="611188" y="4292600"/>
            <a:ext cx="8137525" cy="517525"/>
          </a:xfrm>
          <a:prstGeom prst="rect">
            <a:avLst/>
          </a:prstGeom>
          <a:gradFill rotWithShape="1">
            <a:gsLst>
              <a:gs pos="0">
                <a:srgbClr val="FFFF00"/>
              </a:gs>
              <a:gs pos="100000">
                <a:srgbClr val="66FFFF"/>
              </a:gs>
            </a:gsLst>
            <a:lin ang="0" scaled="1"/>
          </a:gradFill>
          <a:ln w="9525" algn="ctr">
            <a:noFill/>
            <a:miter lim="800000"/>
            <a:headEnd/>
            <a:tailEnd/>
          </a:ln>
        </p:spPr>
        <p:txBody>
          <a:bodyPr>
            <a:spAutoFit/>
          </a:bodyPr>
          <a:lstStyle/>
          <a:p>
            <a:pPr>
              <a:lnSpc>
                <a:spcPct val="115000"/>
              </a:lnSpc>
              <a:defRPr/>
            </a:pPr>
            <a:r>
              <a:rPr kumimoji="1" lang="zh-CN" altLang="en-US" sz="2400" b="1">
                <a:latin typeface="Times New Roman" pitchFamily="18" charset="0"/>
                <a:ea typeface="+mn-ea"/>
                <a:cs typeface="Times New Roman" pitchFamily="18" charset="0"/>
              </a:rPr>
              <a:t>在速率 </a:t>
            </a:r>
            <a:r>
              <a:rPr kumimoji="1" lang="en-US" altLang="zh-CN" sz="2400" b="1" i="1">
                <a:solidFill>
                  <a:srgbClr val="0000FF"/>
                </a:solidFill>
                <a:latin typeface="Times New Roman" pitchFamily="18" charset="0"/>
                <a:ea typeface="+mn-ea"/>
                <a:cs typeface="Times New Roman" pitchFamily="18" charset="0"/>
              </a:rPr>
              <a:t>v</a:t>
            </a:r>
            <a:r>
              <a:rPr kumimoji="1" lang="en-US" altLang="zh-CN" sz="2400" b="1">
                <a:solidFill>
                  <a:srgbClr val="0000FF"/>
                </a:solidFill>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附近</a:t>
            </a:r>
            <a:r>
              <a:rPr kumimoji="1" lang="zh-CN" altLang="en-US" sz="2400" b="1">
                <a:solidFill>
                  <a:srgbClr val="0000FF"/>
                </a:solidFill>
                <a:latin typeface="Times New Roman" pitchFamily="18" charset="0"/>
                <a:ea typeface="+mn-ea"/>
                <a:cs typeface="Times New Roman" pitchFamily="18" charset="0"/>
              </a:rPr>
              <a:t>单位速率间隔内</a:t>
            </a:r>
            <a:r>
              <a:rPr kumimoji="1" lang="zh-CN" altLang="en-US" sz="2400" b="1">
                <a:latin typeface="Times New Roman" pitchFamily="18" charset="0"/>
                <a:ea typeface="+mn-ea"/>
                <a:cs typeface="Times New Roman" pitchFamily="18" charset="0"/>
              </a:rPr>
              <a:t>的分子数占总分子数比率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wipe(left)">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637"/>
                                        </p:tgtEl>
                                        <p:attrNameLst>
                                          <p:attrName>style.visibility</p:attrName>
                                        </p:attrNameLst>
                                      </p:cBhvr>
                                      <p:to>
                                        <p:strVal val="visible"/>
                                      </p:to>
                                    </p:set>
                                    <p:animEffect transition="in" filter="wipe(left)">
                                      <p:cBhvr>
                                        <p:cTn id="12" dur="500"/>
                                        <p:tgtEl>
                                          <p:spTgt spid="696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9638"/>
                                        </p:tgtEl>
                                        <p:attrNameLst>
                                          <p:attrName>style.visibility</p:attrName>
                                        </p:attrNameLst>
                                      </p:cBhvr>
                                      <p:to>
                                        <p:strVal val="visible"/>
                                      </p:to>
                                    </p:set>
                                    <p:animEffect transition="in" filter="wipe(left)">
                                      <p:cBhvr>
                                        <p:cTn id="17" dur="500"/>
                                        <p:tgtEl>
                                          <p:spTgt spid="696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9639"/>
                                        </p:tgtEl>
                                        <p:attrNameLst>
                                          <p:attrName>style.visibility</p:attrName>
                                        </p:attrNameLst>
                                      </p:cBhvr>
                                      <p:to>
                                        <p:strVal val="visible"/>
                                      </p:to>
                                    </p:set>
                                    <p:animEffect transition="in" filter="wipe(left)">
                                      <p:cBhvr>
                                        <p:cTn id="22" dur="500"/>
                                        <p:tgtEl>
                                          <p:spTgt spid="696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9640"/>
                                        </p:tgtEl>
                                        <p:attrNameLst>
                                          <p:attrName>style.visibility</p:attrName>
                                        </p:attrNameLst>
                                      </p:cBhvr>
                                      <p:to>
                                        <p:strVal val="visible"/>
                                      </p:to>
                                    </p:set>
                                    <p:animEffect transition="in" filter="wipe(left)">
                                      <p:cBhvr>
                                        <p:cTn id="27" dur="500"/>
                                        <p:tgtEl>
                                          <p:spTgt spid="696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9643"/>
                                        </p:tgtEl>
                                        <p:attrNameLst>
                                          <p:attrName>style.visibility</p:attrName>
                                        </p:attrNameLst>
                                      </p:cBhvr>
                                      <p:to>
                                        <p:strVal val="visible"/>
                                      </p:to>
                                    </p:set>
                                    <p:animEffect transition="in" filter="wipe(left)">
                                      <p:cBhvr>
                                        <p:cTn id="32" dur="500"/>
                                        <p:tgtEl>
                                          <p:spTgt spid="696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9641"/>
                                        </p:tgtEl>
                                        <p:attrNameLst>
                                          <p:attrName>style.visibility</p:attrName>
                                        </p:attrNameLst>
                                      </p:cBhvr>
                                      <p:to>
                                        <p:strVal val="visible"/>
                                      </p:to>
                                    </p:set>
                                    <p:animEffect transition="in" filter="wipe(left)">
                                      <p:cBhvr>
                                        <p:cTn id="37" dur="500"/>
                                        <p:tgtEl>
                                          <p:spTgt spid="696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9642"/>
                                        </p:tgtEl>
                                        <p:attrNameLst>
                                          <p:attrName>style.visibility</p:attrName>
                                        </p:attrNameLst>
                                      </p:cBhvr>
                                      <p:to>
                                        <p:strVal val="visible"/>
                                      </p:to>
                                    </p:set>
                                    <p:animEffect transition="in" filter="wipe(left)">
                                      <p:cBhvr>
                                        <p:cTn id="42" dur="500"/>
                                        <p:tgtEl>
                                          <p:spTgt spid="696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9644"/>
                                        </p:tgtEl>
                                        <p:attrNameLst>
                                          <p:attrName>style.visibility</p:attrName>
                                        </p:attrNameLst>
                                      </p:cBhvr>
                                      <p:to>
                                        <p:strVal val="visible"/>
                                      </p:to>
                                    </p:set>
                                    <p:animEffect transition="in" filter="wipe(left)">
                                      <p:cBhvr>
                                        <p:cTn id="47" dur="500"/>
                                        <p:tgtEl>
                                          <p:spTgt spid="6964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9648"/>
                                        </p:tgtEl>
                                        <p:attrNameLst>
                                          <p:attrName>style.visibility</p:attrName>
                                        </p:attrNameLst>
                                      </p:cBhvr>
                                      <p:to>
                                        <p:strVal val="visible"/>
                                      </p:to>
                                    </p:set>
                                    <p:animEffect transition="in" filter="wipe(left)">
                                      <p:cBhvr>
                                        <p:cTn id="52" dur="500"/>
                                        <p:tgtEl>
                                          <p:spTgt spid="6964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9645"/>
                                        </p:tgtEl>
                                        <p:attrNameLst>
                                          <p:attrName>style.visibility</p:attrName>
                                        </p:attrNameLst>
                                      </p:cBhvr>
                                      <p:to>
                                        <p:strVal val="visible"/>
                                      </p:to>
                                    </p:set>
                                    <p:animEffect transition="in" filter="wipe(left)">
                                      <p:cBhvr>
                                        <p:cTn id="57" dur="500"/>
                                        <p:tgtEl>
                                          <p:spTgt spid="696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9646"/>
                                        </p:tgtEl>
                                        <p:attrNameLst>
                                          <p:attrName>style.visibility</p:attrName>
                                        </p:attrNameLst>
                                      </p:cBhvr>
                                      <p:to>
                                        <p:strVal val="visible"/>
                                      </p:to>
                                    </p:set>
                                    <p:animEffect transition="in" filter="wipe(left)">
                                      <p:cBhvr>
                                        <p:cTn id="62" dur="500"/>
                                        <p:tgtEl>
                                          <p:spTgt spid="6964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9647"/>
                                        </p:tgtEl>
                                        <p:attrNameLst>
                                          <p:attrName>style.visibility</p:attrName>
                                        </p:attrNameLst>
                                      </p:cBhvr>
                                      <p:to>
                                        <p:strVal val="visible"/>
                                      </p:to>
                                    </p:set>
                                    <p:animEffect transition="in" filter="wipe(left)">
                                      <p:cBhvr>
                                        <p:cTn id="67" dur="500"/>
                                        <p:tgtEl>
                                          <p:spTgt spid="69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P spid="69637" grpId="0"/>
      <p:bldP spid="69642" grpId="0" autoUpdateAnimBg="0"/>
      <p:bldP spid="69643" grpId="0" autoUpdateAnimBg="0"/>
      <p:bldP spid="69644" grpId="0" autoUpdateAnimBg="0"/>
      <p:bldP spid="69645" grpId="0" autoUpdateAnimBg="0"/>
      <p:bldP spid="69647" grpId="0"/>
      <p:bldP spid="6964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214313" y="571500"/>
            <a:ext cx="5035550" cy="461963"/>
          </a:xfrm>
          <a:prstGeom prst="rect">
            <a:avLst/>
          </a:prstGeom>
          <a:noFill/>
          <a:ln w="9525">
            <a:noFill/>
            <a:miter lim="800000"/>
            <a:headEnd/>
            <a:tailEnd/>
          </a:ln>
        </p:spPr>
        <p:txBody>
          <a:bodyPr>
            <a:spAutoFit/>
          </a:bodyPr>
          <a:lstStyle/>
          <a:p>
            <a:pPr>
              <a:buClr>
                <a:srgbClr val="FF6600"/>
              </a:buClr>
              <a:buFont typeface="Wingdings" pitchFamily="2" charset="2"/>
              <a:buNone/>
            </a:pPr>
            <a:r>
              <a:rPr kumimoji="1" lang="en-US" altLang="zh-CN" sz="2400" b="1">
                <a:solidFill>
                  <a:srgbClr val="0000FF"/>
                </a:solidFill>
                <a:latin typeface="Times New Roman" pitchFamily="18" charset="0"/>
              </a:rPr>
              <a:t>8.5.2   </a:t>
            </a:r>
            <a:r>
              <a:rPr kumimoji="1" lang="zh-CN" altLang="en-US" sz="2400" b="1">
                <a:solidFill>
                  <a:srgbClr val="0000FF"/>
                </a:solidFill>
              </a:rPr>
              <a:t>麦克斯韦速率分布律</a:t>
            </a:r>
            <a:endParaRPr kumimoji="1" lang="zh-CN" altLang="en-US" sz="2400" b="1">
              <a:solidFill>
                <a:srgbClr val="0000FF"/>
              </a:solidFill>
              <a:latin typeface="Times New Roman" pitchFamily="18" charset="0"/>
            </a:endParaRPr>
          </a:p>
        </p:txBody>
      </p:sp>
      <p:graphicFrame>
        <p:nvGraphicFramePr>
          <p:cNvPr id="3" name="Object 3"/>
          <p:cNvGraphicFramePr>
            <a:graphicFrameLocks noChangeAspect="1"/>
          </p:cNvGraphicFramePr>
          <p:nvPr/>
        </p:nvGraphicFramePr>
        <p:xfrm>
          <a:off x="1441450" y="2368550"/>
          <a:ext cx="3843338" cy="809625"/>
        </p:xfrm>
        <a:graphic>
          <a:graphicData uri="http://schemas.openxmlformats.org/presentationml/2006/ole">
            <p:oleObj spid="_x0000_s38914" name="公式" r:id="rId3" imgW="1930320" imgH="406080" progId="Equation.3">
              <p:embed/>
            </p:oleObj>
          </a:graphicData>
        </a:graphic>
      </p:graphicFrame>
      <p:sp>
        <p:nvSpPr>
          <p:cNvPr id="4" name="Rectangle 4"/>
          <p:cNvSpPr>
            <a:spLocks noChangeArrowheads="1"/>
          </p:cNvSpPr>
          <p:nvPr/>
        </p:nvSpPr>
        <p:spPr bwMode="auto">
          <a:xfrm>
            <a:off x="468313" y="3387725"/>
            <a:ext cx="8064500" cy="554038"/>
          </a:xfrm>
          <a:prstGeom prst="rect">
            <a:avLst/>
          </a:prstGeom>
          <a:noFill/>
          <a:ln w="9525">
            <a:noFill/>
            <a:miter lim="800000"/>
            <a:headEnd/>
            <a:tailEnd/>
          </a:ln>
        </p:spPr>
        <p:txBody>
          <a:bodyPr>
            <a:spAutoFit/>
          </a:bodyPr>
          <a:lstStyle/>
          <a:p>
            <a:pPr>
              <a:lnSpc>
                <a:spcPct val="125000"/>
              </a:lnSpc>
              <a:defRPr/>
            </a:pPr>
            <a:r>
              <a:rPr lang="en-US" altLang="zh-CN" sz="2400" b="1" i="1" dirty="0">
                <a:solidFill>
                  <a:srgbClr val="FF0000"/>
                </a:solidFill>
                <a:latin typeface="Times New Roman" pitchFamily="18" charset="0"/>
              </a:rPr>
              <a:t>μ</a:t>
            </a:r>
            <a:r>
              <a:rPr kumimoji="1" lang="en-US" altLang="zh-CN" sz="2400" b="1" i="1" dirty="0">
                <a:solidFill>
                  <a:srgbClr val="FF0000"/>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为分子质量，</a:t>
            </a:r>
            <a:r>
              <a:rPr kumimoji="1" lang="en-US" altLang="zh-CN" sz="2400" b="1" i="1" dirty="0">
                <a:solidFill>
                  <a:srgbClr val="FF0000"/>
                </a:solidFill>
                <a:latin typeface="Times New Roman" pitchFamily="18" charset="0"/>
                <a:ea typeface="+mn-ea"/>
                <a:cs typeface="Times New Roman" pitchFamily="18" charset="0"/>
              </a:rPr>
              <a:t>T  </a:t>
            </a:r>
            <a:r>
              <a:rPr kumimoji="1" lang="zh-CN" altLang="en-US" sz="2400" b="1" dirty="0">
                <a:latin typeface="Times New Roman" pitchFamily="18" charset="0"/>
                <a:ea typeface="+mn-ea"/>
                <a:cs typeface="Times New Roman" pitchFamily="18" charset="0"/>
              </a:rPr>
              <a:t>为气体热力学温度， </a:t>
            </a:r>
            <a:r>
              <a:rPr kumimoji="1" lang="en-US" altLang="zh-CN" sz="2400" b="1" i="1" dirty="0">
                <a:solidFill>
                  <a:srgbClr val="FF0000"/>
                </a:solidFill>
                <a:latin typeface="Times New Roman" pitchFamily="18" charset="0"/>
                <a:ea typeface="+mn-ea"/>
                <a:cs typeface="Times New Roman" pitchFamily="18" charset="0"/>
              </a:rPr>
              <a:t>k  </a:t>
            </a:r>
            <a:r>
              <a:rPr kumimoji="1" lang="zh-CN" altLang="en-US" sz="2400" b="1" dirty="0">
                <a:latin typeface="Times New Roman" pitchFamily="18" charset="0"/>
                <a:ea typeface="+mn-ea"/>
                <a:cs typeface="Times New Roman" pitchFamily="18" charset="0"/>
              </a:rPr>
              <a:t>为玻耳兹曼常量。</a:t>
            </a:r>
          </a:p>
        </p:txBody>
      </p:sp>
      <p:graphicFrame>
        <p:nvGraphicFramePr>
          <p:cNvPr id="5" name="Object 5"/>
          <p:cNvGraphicFramePr>
            <a:graphicFrameLocks/>
          </p:cNvGraphicFramePr>
          <p:nvPr/>
        </p:nvGraphicFramePr>
        <p:xfrm>
          <a:off x="1179513" y="4691063"/>
          <a:ext cx="5307012" cy="809625"/>
        </p:xfrm>
        <a:graphic>
          <a:graphicData uri="http://schemas.openxmlformats.org/presentationml/2006/ole">
            <p:oleObj spid="_x0000_s38915" name="公式" r:id="rId4" imgW="2654280" imgH="406080" progId="Equation.3">
              <p:embed/>
            </p:oleObj>
          </a:graphicData>
        </a:graphic>
      </p:graphicFrame>
      <p:sp>
        <p:nvSpPr>
          <p:cNvPr id="6" name="Text Box 6"/>
          <p:cNvSpPr txBox="1">
            <a:spLocks noChangeArrowheads="1"/>
          </p:cNvSpPr>
          <p:nvPr/>
        </p:nvSpPr>
        <p:spPr bwMode="auto">
          <a:xfrm>
            <a:off x="250825" y="1233488"/>
            <a:ext cx="8424863" cy="936625"/>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       </a:t>
            </a:r>
            <a:r>
              <a:rPr kumimoji="1" lang="en-US" altLang="zh-CN" sz="2400" b="1" dirty="0">
                <a:solidFill>
                  <a:srgbClr val="FF3300"/>
                </a:solidFill>
                <a:latin typeface="Times New Roman" pitchFamily="18" charset="0"/>
                <a:ea typeface="+mn-ea"/>
                <a:cs typeface="Times New Roman" pitchFamily="18" charset="0"/>
              </a:rPr>
              <a:t>1859</a:t>
            </a:r>
            <a:r>
              <a:rPr kumimoji="1" lang="zh-CN" altLang="en-US" sz="2400" b="1" dirty="0">
                <a:solidFill>
                  <a:srgbClr val="FF3300"/>
                </a:solidFill>
                <a:latin typeface="Times New Roman" pitchFamily="18" charset="0"/>
                <a:ea typeface="+mn-ea"/>
                <a:cs typeface="Times New Roman" pitchFamily="18" charset="0"/>
              </a:rPr>
              <a:t>年</a:t>
            </a:r>
            <a:r>
              <a:rPr kumimoji="1" lang="zh-CN" altLang="en-US" sz="2400" b="1" dirty="0">
                <a:latin typeface="Times New Roman" pitchFamily="18" charset="0"/>
                <a:ea typeface="+mn-ea"/>
                <a:cs typeface="Times New Roman" pitchFamily="18" charset="0"/>
              </a:rPr>
              <a:t>，麦克斯韦首先从理论中推导出：</a:t>
            </a:r>
            <a:r>
              <a:rPr kumimoji="1" lang="zh-CN" altLang="en-US" sz="2400" b="1" dirty="0">
                <a:solidFill>
                  <a:srgbClr val="0000FF"/>
                </a:solidFill>
                <a:latin typeface="Times New Roman" pitchFamily="18" charset="0"/>
                <a:ea typeface="+mn-ea"/>
                <a:cs typeface="Times New Roman" pitchFamily="18" charset="0"/>
              </a:rPr>
              <a:t>理想气体在平衡态下，</a:t>
            </a:r>
            <a:r>
              <a:rPr kumimoji="1" lang="zh-CN" altLang="en-US" sz="2400" b="1" dirty="0">
                <a:solidFill>
                  <a:srgbClr val="FF3300"/>
                </a:solidFill>
                <a:latin typeface="Times New Roman" pitchFamily="18" charset="0"/>
                <a:ea typeface="+mn-ea"/>
                <a:cs typeface="Times New Roman" pitchFamily="18" charset="0"/>
              </a:rPr>
              <a:t>分子速率分布函数</a:t>
            </a:r>
          </a:p>
        </p:txBody>
      </p:sp>
      <p:sp>
        <p:nvSpPr>
          <p:cNvPr id="7" name="Rectangle 8"/>
          <p:cNvSpPr>
            <a:spLocks noChangeArrowheads="1"/>
          </p:cNvSpPr>
          <p:nvPr/>
        </p:nvSpPr>
        <p:spPr bwMode="auto">
          <a:xfrm>
            <a:off x="539750" y="3922713"/>
            <a:ext cx="8305800" cy="506412"/>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气体中速率在 </a:t>
            </a:r>
            <a:r>
              <a:rPr kumimoji="1" lang="en-US" altLang="zh-CN" sz="2400" b="1" i="1" dirty="0">
                <a:solidFill>
                  <a:srgbClr val="FF0000"/>
                </a:solidFill>
                <a:latin typeface="Times New Roman" pitchFamily="18" charset="0"/>
                <a:ea typeface="+mn-ea"/>
                <a:cs typeface="Times New Roman" pitchFamily="18" charset="0"/>
              </a:rPr>
              <a:t>v</a:t>
            </a:r>
            <a:r>
              <a:rPr kumimoji="1" lang="zh-CN" altLang="en-US" sz="2400" b="1" i="1" dirty="0">
                <a:solidFill>
                  <a:srgbClr val="FF0000"/>
                </a:solidFill>
                <a:latin typeface="Times New Roman" pitchFamily="18" charset="0"/>
                <a:ea typeface="+mn-ea"/>
                <a:cs typeface="Times New Roman" pitchFamily="18" charset="0"/>
              </a:rPr>
              <a:t>～</a:t>
            </a:r>
            <a:r>
              <a:rPr kumimoji="1" lang="en-US" altLang="zh-CN" sz="2400" b="1" i="1" dirty="0">
                <a:solidFill>
                  <a:srgbClr val="FF0000"/>
                </a:solidFill>
                <a:latin typeface="Times New Roman" pitchFamily="18" charset="0"/>
                <a:ea typeface="+mn-ea"/>
                <a:cs typeface="Times New Roman" pitchFamily="18" charset="0"/>
              </a:rPr>
              <a:t>v+ </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dirty="0">
                <a:solidFill>
                  <a:srgbClr val="00FFFF"/>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区间内分子数的比率为</a:t>
            </a:r>
          </a:p>
        </p:txBody>
      </p:sp>
      <p:sp>
        <p:nvSpPr>
          <p:cNvPr id="8" name="AutoShape 12"/>
          <p:cNvSpPr>
            <a:spLocks noChangeArrowheads="1"/>
          </p:cNvSpPr>
          <p:nvPr/>
        </p:nvSpPr>
        <p:spPr bwMode="auto">
          <a:xfrm>
            <a:off x="6429375" y="2098675"/>
            <a:ext cx="2214563" cy="855663"/>
          </a:xfrm>
          <a:prstGeom prst="wedgeRoundRectCallout">
            <a:avLst>
              <a:gd name="adj1" fmla="val -100292"/>
              <a:gd name="adj2" fmla="val 30704"/>
              <a:gd name="adj3" fmla="val 16667"/>
            </a:avLst>
          </a:prstGeom>
          <a:gradFill rotWithShape="1">
            <a:gsLst>
              <a:gs pos="0">
                <a:srgbClr val="B1FFB1"/>
              </a:gs>
              <a:gs pos="50000">
                <a:srgbClr val="66FF66"/>
              </a:gs>
              <a:gs pos="100000">
                <a:srgbClr val="B1FFB1"/>
              </a:gs>
            </a:gsLst>
            <a:lin ang="18900000" scaled="1"/>
          </a:gradFill>
          <a:ln w="9525">
            <a:solidFill>
              <a:srgbClr val="66FF66"/>
            </a:solidFill>
            <a:miter lim="800000"/>
            <a:headEnd/>
            <a:tailEnd/>
          </a:ln>
        </p:spPr>
        <p:txBody>
          <a:bodyPr/>
          <a:lstStyle/>
          <a:p>
            <a:pPr algn="ctr">
              <a:lnSpc>
                <a:spcPct val="115000"/>
              </a:lnSpc>
            </a:pPr>
            <a:r>
              <a:rPr kumimoji="1" lang="zh-CN" altLang="en-US" sz="2000" b="1">
                <a:solidFill>
                  <a:srgbClr val="FF0000"/>
                </a:solidFill>
                <a:latin typeface="楷体_GB2312" pitchFamily="49" charset="-122"/>
                <a:ea typeface="楷体_GB2312" pitchFamily="49" charset="-122"/>
                <a:cs typeface="Times New Roman" pitchFamily="18" charset="0"/>
              </a:rPr>
              <a:t>麦克斯韦速率分布函数</a:t>
            </a:r>
          </a:p>
        </p:txBody>
      </p:sp>
      <p:sp>
        <p:nvSpPr>
          <p:cNvPr id="9" name="AutoShape 13"/>
          <p:cNvSpPr>
            <a:spLocks noChangeArrowheads="1"/>
          </p:cNvSpPr>
          <p:nvPr/>
        </p:nvSpPr>
        <p:spPr bwMode="auto">
          <a:xfrm>
            <a:off x="6929438" y="4402138"/>
            <a:ext cx="2000250" cy="855662"/>
          </a:xfrm>
          <a:prstGeom prst="wedgeRoundRectCallout">
            <a:avLst>
              <a:gd name="adj1" fmla="val -68523"/>
              <a:gd name="adj2" fmla="val 35528"/>
              <a:gd name="adj3" fmla="val 16667"/>
            </a:avLst>
          </a:prstGeom>
          <a:gradFill rotWithShape="1">
            <a:gsLst>
              <a:gs pos="0">
                <a:srgbClr val="B1FFB1"/>
              </a:gs>
              <a:gs pos="50000">
                <a:srgbClr val="66FF66"/>
              </a:gs>
              <a:gs pos="100000">
                <a:srgbClr val="B1FFB1"/>
              </a:gs>
            </a:gsLst>
            <a:lin ang="18900000" scaled="1"/>
          </a:gradFill>
          <a:ln w="9525">
            <a:solidFill>
              <a:srgbClr val="66FF66"/>
            </a:solidFill>
            <a:miter lim="800000"/>
            <a:headEnd/>
            <a:tailEnd/>
          </a:ln>
        </p:spPr>
        <p:txBody>
          <a:bodyPr/>
          <a:lstStyle/>
          <a:p>
            <a:pPr algn="ctr">
              <a:lnSpc>
                <a:spcPct val="115000"/>
              </a:lnSpc>
            </a:pPr>
            <a:r>
              <a:rPr kumimoji="1" lang="zh-CN" altLang="en-US" sz="2000" b="1">
                <a:solidFill>
                  <a:srgbClr val="FF0000"/>
                </a:solidFill>
                <a:latin typeface="楷体_GB2312" pitchFamily="49" charset="-122"/>
                <a:ea typeface="楷体_GB2312" pitchFamily="49" charset="-122"/>
                <a:cs typeface="Times New Roman" pitchFamily="18" charset="0"/>
              </a:rPr>
              <a:t>麦克斯韦速率分布律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autoUpdateAnimBg="0"/>
      <p:bldP spid="7" grpId="0" autoUpdateAnimBg="0"/>
      <p:bldP spid="8"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84" name="Text Box 28"/>
          <p:cNvSpPr txBox="1">
            <a:spLocks noChangeArrowheads="1"/>
          </p:cNvSpPr>
          <p:nvPr/>
        </p:nvSpPr>
        <p:spPr bwMode="auto">
          <a:xfrm>
            <a:off x="530225" y="1268413"/>
            <a:ext cx="1655763" cy="523875"/>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defRPr/>
            </a:pPr>
            <a:r>
              <a:rPr kumimoji="1" lang="zh-CN" altLang="en-US" sz="2800" b="1" dirty="0">
                <a:solidFill>
                  <a:srgbClr val="FF0000"/>
                </a:solidFill>
                <a:latin typeface="+mn-ea"/>
                <a:ea typeface="+mn-ea"/>
              </a:rPr>
              <a:t>说明</a:t>
            </a:r>
          </a:p>
        </p:txBody>
      </p:sp>
      <p:sp>
        <p:nvSpPr>
          <p:cNvPr id="70685" name="Text Box 29"/>
          <p:cNvSpPr txBox="1">
            <a:spLocks noChangeArrowheads="1"/>
          </p:cNvSpPr>
          <p:nvPr/>
        </p:nvSpPr>
        <p:spPr bwMode="auto">
          <a:xfrm>
            <a:off x="179388" y="2565400"/>
            <a:ext cx="8686800" cy="941388"/>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从统计的概念来看，讲速率</a:t>
            </a:r>
            <a:r>
              <a:rPr kumimoji="1" lang="zh-CN" altLang="en-US" sz="2400" b="1" dirty="0">
                <a:solidFill>
                  <a:srgbClr val="FF3300"/>
                </a:solidFill>
                <a:latin typeface="Times New Roman" pitchFamily="18" charset="0"/>
                <a:ea typeface="+mn-ea"/>
                <a:cs typeface="Times New Roman" pitchFamily="18" charset="0"/>
              </a:rPr>
              <a:t>恰好等于</a:t>
            </a:r>
            <a:r>
              <a:rPr kumimoji="1" lang="zh-CN" altLang="en-US" sz="2400" b="1" dirty="0">
                <a:latin typeface="Times New Roman" pitchFamily="18" charset="0"/>
                <a:ea typeface="+mn-ea"/>
                <a:cs typeface="Times New Roman" pitchFamily="18" charset="0"/>
              </a:rPr>
              <a:t>某一值的分子数有多    </a:t>
            </a:r>
            <a:endParaRPr kumimoji="1" lang="en-US" altLang="zh-CN" sz="2400" b="1" dirty="0">
              <a:latin typeface="Times New Roman" pitchFamily="18" charset="0"/>
              <a:ea typeface="+mn-ea"/>
              <a:cs typeface="Times New Roman" pitchFamily="18" charset="0"/>
            </a:endParaRPr>
          </a:p>
          <a:p>
            <a:pPr>
              <a:lnSpc>
                <a:spcPct val="115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少是没有意义的。</a:t>
            </a:r>
          </a:p>
        </p:txBody>
      </p:sp>
      <p:sp>
        <p:nvSpPr>
          <p:cNvPr id="70686" name="Text Box 30"/>
          <p:cNvSpPr txBox="1">
            <a:spLocks noChangeArrowheads="1"/>
          </p:cNvSpPr>
          <p:nvPr/>
        </p:nvSpPr>
        <p:spPr bwMode="auto">
          <a:xfrm>
            <a:off x="161925" y="3665538"/>
            <a:ext cx="4706938" cy="941387"/>
          </a:xfrm>
          <a:prstGeom prst="rect">
            <a:avLst/>
          </a:prstGeom>
          <a:noFill/>
          <a:ln w="9525" algn="ctr">
            <a:noFill/>
            <a:miter lim="800000"/>
            <a:headEnd/>
            <a:tailEnd/>
          </a:ln>
        </p:spPr>
        <p:txBody>
          <a:bodyPr>
            <a:spAutoFit/>
          </a:bodyPr>
          <a:lstStyle/>
          <a:p>
            <a:pPr marL="357188" indent="-357188">
              <a:lnSpc>
                <a:spcPct val="115000"/>
              </a:lnSpc>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由图可见，气体中速率很小和速率很大的分子数都很少。  </a:t>
            </a:r>
            <a:endParaRPr lang="zh-CN" altLang="en-US" sz="2400" b="1" dirty="0">
              <a:latin typeface="Times New Roman" pitchFamily="18" charset="0"/>
              <a:ea typeface="+mn-ea"/>
              <a:cs typeface="Times New Roman" pitchFamily="18" charset="0"/>
            </a:endParaRPr>
          </a:p>
        </p:txBody>
      </p:sp>
      <p:sp>
        <p:nvSpPr>
          <p:cNvPr id="70687" name="Text Box 31"/>
          <p:cNvSpPr txBox="1">
            <a:spLocks noChangeArrowheads="1"/>
          </p:cNvSpPr>
          <p:nvPr/>
        </p:nvSpPr>
        <p:spPr bwMode="auto">
          <a:xfrm>
            <a:off x="161925" y="1836738"/>
            <a:ext cx="8775700" cy="479425"/>
          </a:xfrm>
          <a:prstGeom prst="rect">
            <a:avLst/>
          </a:prstGeom>
          <a:noFill/>
          <a:ln w="9525">
            <a:noFill/>
            <a:miter lim="800000"/>
            <a:headEnd/>
            <a:tailEnd/>
          </a:ln>
        </p:spPr>
        <p:txBody>
          <a:bodyPr>
            <a:spAutoFit/>
          </a:bodyPr>
          <a:lstStyle/>
          <a:p>
            <a:pPr>
              <a:lnSpc>
                <a:spcPct val="115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此定律是一个统计规律，仅适用于由</a:t>
            </a:r>
            <a:r>
              <a:rPr kumimoji="1" lang="zh-CN" altLang="en-US" sz="2400" b="1" dirty="0">
                <a:solidFill>
                  <a:srgbClr val="FF3300"/>
                </a:solidFill>
                <a:latin typeface="Times New Roman" pitchFamily="18" charset="0"/>
                <a:ea typeface="+mn-ea"/>
                <a:cs typeface="Times New Roman" pitchFamily="18" charset="0"/>
              </a:rPr>
              <a:t>大量分子</a:t>
            </a:r>
            <a:r>
              <a:rPr kumimoji="1" lang="zh-CN" altLang="en-US" sz="2400" b="1" dirty="0">
                <a:latin typeface="Times New Roman" pitchFamily="18" charset="0"/>
                <a:ea typeface="+mn-ea"/>
                <a:cs typeface="Times New Roman" pitchFamily="18" charset="0"/>
              </a:rPr>
              <a:t>组成的气体。</a:t>
            </a:r>
          </a:p>
        </p:txBody>
      </p:sp>
      <p:grpSp>
        <p:nvGrpSpPr>
          <p:cNvPr id="2" name="Group 32"/>
          <p:cNvGrpSpPr>
            <a:grpSpLocks/>
          </p:cNvGrpSpPr>
          <p:nvPr/>
        </p:nvGrpSpPr>
        <p:grpSpPr bwMode="auto">
          <a:xfrm>
            <a:off x="4941888" y="3241675"/>
            <a:ext cx="701675" cy="2589213"/>
            <a:chOff x="3051" y="393"/>
            <a:chExt cx="442" cy="1631"/>
          </a:xfrm>
        </p:grpSpPr>
        <p:sp>
          <p:nvSpPr>
            <p:cNvPr id="40977" name="Line 33"/>
            <p:cNvSpPr>
              <a:spLocks noChangeShapeType="1"/>
            </p:cNvSpPr>
            <p:nvPr/>
          </p:nvSpPr>
          <p:spPr bwMode="auto">
            <a:xfrm>
              <a:off x="3051" y="505"/>
              <a:ext cx="0" cy="1519"/>
            </a:xfrm>
            <a:prstGeom prst="line">
              <a:avLst/>
            </a:prstGeom>
            <a:noFill/>
            <a:ln w="38100">
              <a:solidFill>
                <a:schemeClr val="tx1"/>
              </a:solidFill>
              <a:round/>
              <a:headEnd type="stealth" w="med" len="lg"/>
              <a:tailEnd/>
            </a:ln>
          </p:spPr>
          <p:txBody>
            <a:bodyPr/>
            <a:lstStyle/>
            <a:p>
              <a:pPr>
                <a:defRPr/>
              </a:pPr>
              <a:endParaRPr lang="zh-CN" altLang="en-US">
                <a:latin typeface="Times New Roman" pitchFamily="18" charset="0"/>
                <a:ea typeface="+mn-ea"/>
                <a:cs typeface="Times New Roman" pitchFamily="18" charset="0"/>
              </a:endParaRPr>
            </a:p>
          </p:txBody>
        </p:sp>
        <p:sp>
          <p:nvSpPr>
            <p:cNvPr id="40978" name="Text Box 34"/>
            <p:cNvSpPr txBox="1">
              <a:spLocks noChangeArrowheads="1"/>
            </p:cNvSpPr>
            <p:nvPr/>
          </p:nvSpPr>
          <p:spPr bwMode="auto">
            <a:xfrm>
              <a:off x="3097" y="393"/>
              <a:ext cx="396" cy="326"/>
            </a:xfrm>
            <a:prstGeom prst="rect">
              <a:avLst/>
            </a:prstGeom>
            <a:noFill/>
            <a:ln w="38100">
              <a:noFill/>
              <a:miter lim="800000"/>
              <a:headEnd/>
              <a:tailEnd/>
            </a:ln>
          </p:spPr>
          <p:txBody>
            <a:bodyPr wrap="none">
              <a:spAutoFit/>
            </a:bodyPr>
            <a:lstStyle/>
            <a:p>
              <a:pPr>
                <a:lnSpc>
                  <a:spcPct val="115000"/>
                </a:lnSpc>
                <a:defRPr/>
              </a:pPr>
              <a:r>
                <a:rPr lang="en-US" altLang="zh-CN" sz="2400" b="1" i="1" dirty="0">
                  <a:latin typeface="Times New Roman" pitchFamily="18" charset="0"/>
                  <a:ea typeface="+mn-ea"/>
                  <a:cs typeface="Times New Roman" pitchFamily="18" charset="0"/>
                </a:rPr>
                <a:t>f</a:t>
              </a:r>
              <a:r>
                <a:rPr lang="en-US" altLang="zh-CN" sz="2400" b="1" dirty="0">
                  <a:latin typeface="Times New Roman" pitchFamily="18" charset="0"/>
                  <a:ea typeface="+mn-ea"/>
                  <a:cs typeface="Times New Roman" pitchFamily="18" charset="0"/>
                </a:rPr>
                <a:t>(</a:t>
              </a:r>
              <a:r>
                <a:rPr lang="en-US" altLang="zh-CN" sz="2400" b="1" i="1" dirty="0">
                  <a:latin typeface="Times New Roman" pitchFamily="18" charset="0"/>
                  <a:ea typeface="+mn-ea"/>
                  <a:cs typeface="Times New Roman" pitchFamily="18" charset="0"/>
                </a:rPr>
                <a:t>v)</a:t>
              </a:r>
            </a:p>
          </p:txBody>
        </p:sp>
      </p:grpSp>
      <p:sp>
        <p:nvSpPr>
          <p:cNvPr id="70691" name="Rectangle 35"/>
          <p:cNvSpPr>
            <a:spLocks noChangeArrowheads="1"/>
          </p:cNvSpPr>
          <p:nvPr/>
        </p:nvSpPr>
        <p:spPr bwMode="auto">
          <a:xfrm>
            <a:off x="5580063" y="5948363"/>
            <a:ext cx="2252662" cy="446087"/>
          </a:xfrm>
          <a:prstGeom prst="rect">
            <a:avLst/>
          </a:prstGeom>
          <a:noFill/>
          <a:ln w="9525">
            <a:noFill/>
            <a:miter lim="800000"/>
            <a:headEnd/>
            <a:tailEnd/>
          </a:ln>
        </p:spPr>
        <p:txBody>
          <a:bodyPr wrap="none">
            <a:spAutoFit/>
          </a:bodyPr>
          <a:lstStyle/>
          <a:p>
            <a:pPr>
              <a:lnSpc>
                <a:spcPct val="115000"/>
              </a:lnSpc>
              <a:defRPr/>
            </a:pPr>
            <a:r>
              <a:rPr kumimoji="1" lang="en-US" altLang="zh-CN" sz="2000" b="1" dirty="0">
                <a:solidFill>
                  <a:srgbClr val="0000FF"/>
                </a:solidFill>
                <a:latin typeface="+mn-ea"/>
                <a:ea typeface="+mn-ea"/>
              </a:rPr>
              <a:t>( </a:t>
            </a:r>
            <a:r>
              <a:rPr kumimoji="1" lang="zh-CN" altLang="en-US" sz="2000" b="1" dirty="0">
                <a:solidFill>
                  <a:srgbClr val="0000FF"/>
                </a:solidFill>
                <a:latin typeface="+mn-ea"/>
                <a:ea typeface="+mn-ea"/>
              </a:rPr>
              <a:t>速率分布曲线 </a:t>
            </a:r>
            <a:r>
              <a:rPr kumimoji="1" lang="en-US" altLang="zh-CN" sz="2000" b="1" dirty="0">
                <a:solidFill>
                  <a:srgbClr val="0000FF"/>
                </a:solidFill>
                <a:latin typeface="+mn-ea"/>
                <a:ea typeface="+mn-ea"/>
              </a:rPr>
              <a:t>)</a:t>
            </a:r>
          </a:p>
        </p:txBody>
      </p:sp>
      <p:sp>
        <p:nvSpPr>
          <p:cNvPr id="70692" name="Rectangle 36"/>
          <p:cNvSpPr>
            <a:spLocks noChangeArrowheads="1"/>
          </p:cNvSpPr>
          <p:nvPr/>
        </p:nvSpPr>
        <p:spPr bwMode="auto">
          <a:xfrm>
            <a:off x="6254750" y="3384550"/>
            <a:ext cx="371475" cy="517525"/>
          </a:xfrm>
          <a:prstGeom prst="rect">
            <a:avLst/>
          </a:prstGeom>
          <a:noFill/>
          <a:ln w="9525">
            <a:noFill/>
            <a:miter lim="800000"/>
            <a:headEnd/>
            <a:tailEnd/>
          </a:ln>
        </p:spPr>
        <p:txBody>
          <a:bodyPr wrap="none" anchor="ctr">
            <a:spAutoFit/>
          </a:bodyPr>
          <a:lstStyle/>
          <a:p>
            <a:pPr>
              <a:lnSpc>
                <a:spcPct val="115000"/>
              </a:lnSpc>
              <a:defRPr/>
            </a:pPr>
            <a:r>
              <a:rPr lang="en-US" altLang="zh-CN" sz="2400" b="1" i="1">
                <a:solidFill>
                  <a:srgbClr val="FF3300"/>
                </a:solidFill>
                <a:latin typeface="Times New Roman" pitchFamily="18" charset="0"/>
                <a:ea typeface="+mn-ea"/>
                <a:cs typeface="Times New Roman" pitchFamily="18" charset="0"/>
              </a:rPr>
              <a:t>T</a:t>
            </a:r>
          </a:p>
        </p:txBody>
      </p:sp>
      <p:sp>
        <p:nvSpPr>
          <p:cNvPr id="70693" name="Text Box 37"/>
          <p:cNvSpPr txBox="1">
            <a:spLocks noChangeArrowheads="1"/>
          </p:cNvSpPr>
          <p:nvPr/>
        </p:nvSpPr>
        <p:spPr bwMode="auto">
          <a:xfrm>
            <a:off x="250825" y="4883150"/>
            <a:ext cx="4230688" cy="1354138"/>
          </a:xfrm>
          <a:prstGeom prst="rect">
            <a:avLst/>
          </a:prstGeom>
          <a:noFill/>
          <a:ln w="9525">
            <a:noFill/>
            <a:miter lim="800000"/>
            <a:headEnd/>
            <a:tailEnd/>
          </a:ln>
        </p:spPr>
        <p:txBody>
          <a:bodyPr>
            <a:spAutoFit/>
          </a:bodyPr>
          <a:lstStyle/>
          <a:p>
            <a:pPr marL="357188" indent="-357188">
              <a:lnSpc>
                <a:spcPct val="115000"/>
              </a:lnSpc>
              <a:defRPr/>
            </a:pPr>
            <a:r>
              <a:rPr kumimoji="1" lang="en-US" altLang="zh-CN" sz="2400" b="1" dirty="0">
                <a:latin typeface="Times New Roman" pitchFamily="18" charset="0"/>
                <a:ea typeface="+mn-ea"/>
                <a:cs typeface="Times New Roman" pitchFamily="18" charset="0"/>
              </a:rPr>
              <a:t>(4) </a:t>
            </a:r>
            <a:r>
              <a:rPr kumimoji="1" lang="zh-CN" altLang="en-US" sz="2400" b="1" dirty="0">
                <a:latin typeface="Times New Roman" pitchFamily="18" charset="0"/>
                <a:ea typeface="+mn-ea"/>
                <a:cs typeface="Times New Roman" pitchFamily="18" charset="0"/>
              </a:rPr>
              <a:t>麦克斯韦速率分布律对处</a:t>
            </a:r>
          </a:p>
          <a:p>
            <a:pPr marL="357188" indent="-357188">
              <a:lnSpc>
                <a:spcPct val="115000"/>
              </a:lnSpc>
              <a:defRPr/>
            </a:pPr>
            <a:r>
              <a:rPr kumimoji="1" lang="zh-CN" altLang="en-US" sz="2400" b="1" dirty="0">
                <a:latin typeface="Times New Roman" pitchFamily="18" charset="0"/>
                <a:ea typeface="+mn-ea"/>
                <a:cs typeface="Times New Roman" pitchFamily="18" charset="0"/>
              </a:rPr>
              <a:t>于</a:t>
            </a:r>
            <a:r>
              <a:rPr kumimoji="1" lang="zh-CN" altLang="en-US" sz="2400" b="1" dirty="0">
                <a:solidFill>
                  <a:srgbClr val="FF3300"/>
                </a:solidFill>
                <a:latin typeface="Times New Roman" pitchFamily="18" charset="0"/>
                <a:ea typeface="+mn-ea"/>
                <a:cs typeface="Times New Roman" pitchFamily="18" charset="0"/>
              </a:rPr>
              <a:t>平衡态下的混合气体的各组</a:t>
            </a:r>
          </a:p>
          <a:p>
            <a:pPr marL="357188" indent="-357188">
              <a:lnSpc>
                <a:spcPct val="115000"/>
              </a:lnSpc>
              <a:defRPr/>
            </a:pPr>
            <a:r>
              <a:rPr kumimoji="1" lang="zh-CN" altLang="en-US" sz="2400" b="1" dirty="0">
                <a:solidFill>
                  <a:srgbClr val="FF3300"/>
                </a:solidFill>
                <a:latin typeface="Times New Roman" pitchFamily="18" charset="0"/>
                <a:ea typeface="+mn-ea"/>
                <a:cs typeface="Times New Roman" pitchFamily="18" charset="0"/>
              </a:rPr>
              <a:t>分气体分别适用</a:t>
            </a:r>
            <a:r>
              <a:rPr kumimoji="1" lang="zh-CN" altLang="en-US" sz="2400" b="1" dirty="0">
                <a:latin typeface="Times New Roman" pitchFamily="18" charset="0"/>
                <a:ea typeface="+mn-ea"/>
                <a:cs typeface="Times New Roman" pitchFamily="18" charset="0"/>
              </a:rPr>
              <a:t>。</a:t>
            </a:r>
          </a:p>
        </p:txBody>
      </p:sp>
      <p:sp>
        <p:nvSpPr>
          <p:cNvPr id="70694" name="Freeform 38"/>
          <p:cNvSpPr>
            <a:spLocks/>
          </p:cNvSpPr>
          <p:nvPr/>
        </p:nvSpPr>
        <p:spPr bwMode="auto">
          <a:xfrm>
            <a:off x="4976813" y="3833813"/>
            <a:ext cx="3544887" cy="1970087"/>
          </a:xfrm>
          <a:custGeom>
            <a:avLst/>
            <a:gdLst>
              <a:gd name="T0" fmla="*/ 0 w 2233"/>
              <a:gd name="T1" fmla="*/ 2147483647 h 1241"/>
              <a:gd name="T2" fmla="*/ 2147483647 w 2233"/>
              <a:gd name="T3" fmla="*/ 2147483647 h 1241"/>
              <a:gd name="T4" fmla="*/ 2147483647 w 2233"/>
              <a:gd name="T5" fmla="*/ 2147483647 h 1241"/>
              <a:gd name="T6" fmla="*/ 2147483647 w 2233"/>
              <a:gd name="T7" fmla="*/ 2147483647 h 1241"/>
              <a:gd name="T8" fmla="*/ 2147483647 w 2233"/>
              <a:gd name="T9" fmla="*/ 2147483647 h 1241"/>
              <a:gd name="T10" fmla="*/ 2147483647 w 2233"/>
              <a:gd name="T11" fmla="*/ 2147483647 h 1241"/>
              <a:gd name="T12" fmla="*/ 2147483647 w 2233"/>
              <a:gd name="T13" fmla="*/ 2147483647 h 1241"/>
              <a:gd name="T14" fmla="*/ 2147483647 w 2233"/>
              <a:gd name="T15" fmla="*/ 2147483647 h 1241"/>
              <a:gd name="T16" fmla="*/ 2147483647 w 2233"/>
              <a:gd name="T17" fmla="*/ 2147483647 h 1241"/>
              <a:gd name="T18" fmla="*/ 2147483647 w 2233"/>
              <a:gd name="T19" fmla="*/ 2147483647 h 1241"/>
              <a:gd name="T20" fmla="*/ 2147483647 w 2233"/>
              <a:gd name="T21" fmla="*/ 2147483647 h 1241"/>
              <a:gd name="T22" fmla="*/ 2147483647 w 2233"/>
              <a:gd name="T23" fmla="*/ 2147483647 h 1241"/>
              <a:gd name="T24" fmla="*/ 2147483647 w 2233"/>
              <a:gd name="T25" fmla="*/ 2147483647 h 1241"/>
              <a:gd name="T26" fmla="*/ 2147483647 w 2233"/>
              <a:gd name="T27" fmla="*/ 2147483647 h 1241"/>
              <a:gd name="T28" fmla="*/ 2147483647 w 2233"/>
              <a:gd name="T29" fmla="*/ 2147483647 h 1241"/>
              <a:gd name="T30" fmla="*/ 2147483647 w 2233"/>
              <a:gd name="T31" fmla="*/ 2147483647 h 1241"/>
              <a:gd name="T32" fmla="*/ 2147483647 w 2233"/>
              <a:gd name="T33" fmla="*/ 2147483647 h 1241"/>
              <a:gd name="T34" fmla="*/ 2147483647 w 2233"/>
              <a:gd name="T35" fmla="*/ 2147483647 h 1241"/>
              <a:gd name="T36" fmla="*/ 2147483647 w 2233"/>
              <a:gd name="T37" fmla="*/ 2147483647 h 1241"/>
              <a:gd name="T38" fmla="*/ 2147483647 w 2233"/>
              <a:gd name="T39" fmla="*/ 2147483647 h 1241"/>
              <a:gd name="T40" fmla="*/ 2147483647 w 2233"/>
              <a:gd name="T41" fmla="*/ 2147483647 h 1241"/>
              <a:gd name="T42" fmla="*/ 2147483647 w 2233"/>
              <a:gd name="T43" fmla="*/ 2147483647 h 1241"/>
              <a:gd name="T44" fmla="*/ 2147483647 w 2233"/>
              <a:gd name="T45" fmla="*/ 2147483647 h 12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33"/>
              <a:gd name="T70" fmla="*/ 0 h 1241"/>
              <a:gd name="T71" fmla="*/ 2233 w 2233"/>
              <a:gd name="T72" fmla="*/ 1241 h 12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33" h="1241">
                <a:moveTo>
                  <a:pt x="0" y="1241"/>
                </a:moveTo>
                <a:cubicBezTo>
                  <a:pt x="28" y="1233"/>
                  <a:pt x="57" y="1226"/>
                  <a:pt x="85" y="1212"/>
                </a:cubicBezTo>
                <a:cubicBezTo>
                  <a:pt x="113" y="1198"/>
                  <a:pt x="136" y="1185"/>
                  <a:pt x="170" y="1155"/>
                </a:cubicBezTo>
                <a:cubicBezTo>
                  <a:pt x="204" y="1125"/>
                  <a:pt x="257" y="1074"/>
                  <a:pt x="289" y="1034"/>
                </a:cubicBezTo>
                <a:cubicBezTo>
                  <a:pt x="321" y="994"/>
                  <a:pt x="335" y="962"/>
                  <a:pt x="361" y="914"/>
                </a:cubicBezTo>
                <a:cubicBezTo>
                  <a:pt x="387" y="866"/>
                  <a:pt x="423" y="798"/>
                  <a:pt x="445" y="746"/>
                </a:cubicBezTo>
                <a:cubicBezTo>
                  <a:pt x="467" y="694"/>
                  <a:pt x="477" y="650"/>
                  <a:pt x="493" y="602"/>
                </a:cubicBezTo>
                <a:cubicBezTo>
                  <a:pt x="509" y="554"/>
                  <a:pt x="524" y="507"/>
                  <a:pt x="541" y="458"/>
                </a:cubicBezTo>
                <a:cubicBezTo>
                  <a:pt x="558" y="409"/>
                  <a:pt x="572" y="359"/>
                  <a:pt x="595" y="305"/>
                </a:cubicBezTo>
                <a:cubicBezTo>
                  <a:pt x="618" y="251"/>
                  <a:pt x="645" y="183"/>
                  <a:pt x="680" y="135"/>
                </a:cubicBezTo>
                <a:cubicBezTo>
                  <a:pt x="715" y="87"/>
                  <a:pt x="760" y="28"/>
                  <a:pt x="805" y="14"/>
                </a:cubicBezTo>
                <a:cubicBezTo>
                  <a:pt x="850" y="0"/>
                  <a:pt x="908" y="20"/>
                  <a:pt x="949" y="50"/>
                </a:cubicBezTo>
                <a:cubicBezTo>
                  <a:pt x="990" y="80"/>
                  <a:pt x="1015" y="142"/>
                  <a:pt x="1049" y="192"/>
                </a:cubicBezTo>
                <a:cubicBezTo>
                  <a:pt x="1083" y="242"/>
                  <a:pt x="1120" y="298"/>
                  <a:pt x="1153" y="350"/>
                </a:cubicBezTo>
                <a:cubicBezTo>
                  <a:pt x="1186" y="402"/>
                  <a:pt x="1217" y="454"/>
                  <a:pt x="1247" y="503"/>
                </a:cubicBezTo>
                <a:cubicBezTo>
                  <a:pt x="1277" y="552"/>
                  <a:pt x="1294" y="593"/>
                  <a:pt x="1332" y="645"/>
                </a:cubicBezTo>
                <a:cubicBezTo>
                  <a:pt x="1370" y="697"/>
                  <a:pt x="1427" y="763"/>
                  <a:pt x="1474" y="815"/>
                </a:cubicBezTo>
                <a:cubicBezTo>
                  <a:pt x="1521" y="867"/>
                  <a:pt x="1574" y="919"/>
                  <a:pt x="1616" y="957"/>
                </a:cubicBezTo>
                <a:cubicBezTo>
                  <a:pt x="1658" y="995"/>
                  <a:pt x="1680" y="1013"/>
                  <a:pt x="1729" y="1042"/>
                </a:cubicBezTo>
                <a:cubicBezTo>
                  <a:pt x="1778" y="1071"/>
                  <a:pt x="1857" y="1109"/>
                  <a:pt x="1909" y="1130"/>
                </a:cubicBezTo>
                <a:cubicBezTo>
                  <a:pt x="1961" y="1151"/>
                  <a:pt x="2003" y="1158"/>
                  <a:pt x="2041" y="1166"/>
                </a:cubicBezTo>
                <a:cubicBezTo>
                  <a:pt x="2079" y="1174"/>
                  <a:pt x="2105" y="1176"/>
                  <a:pt x="2137" y="1178"/>
                </a:cubicBezTo>
                <a:cubicBezTo>
                  <a:pt x="2169" y="1180"/>
                  <a:pt x="2213" y="1178"/>
                  <a:pt x="2233" y="1178"/>
                </a:cubicBezTo>
              </a:path>
            </a:pathLst>
          </a:custGeom>
          <a:noFill/>
          <a:ln w="57150">
            <a:solidFill>
              <a:srgbClr val="009999"/>
            </a:solidFill>
            <a:round/>
            <a:headEnd/>
            <a:tailEnd/>
          </a:ln>
        </p:spPr>
        <p:txBody>
          <a:bodyPr/>
          <a:lstStyle/>
          <a:p>
            <a:pPr algn="ctr">
              <a:defRPr/>
            </a:pPr>
            <a:endParaRPr lang="zh-CN" altLang="en-US">
              <a:latin typeface="+mn-ea"/>
              <a:ea typeface="+mn-ea"/>
            </a:endParaRPr>
          </a:p>
        </p:txBody>
      </p:sp>
      <p:grpSp>
        <p:nvGrpSpPr>
          <p:cNvPr id="3" name="Group 39"/>
          <p:cNvGrpSpPr>
            <a:grpSpLocks/>
          </p:cNvGrpSpPr>
          <p:nvPr/>
        </p:nvGrpSpPr>
        <p:grpSpPr bwMode="auto">
          <a:xfrm>
            <a:off x="4670425" y="5708650"/>
            <a:ext cx="4121150" cy="539750"/>
            <a:chOff x="2988" y="2929"/>
            <a:chExt cx="2596" cy="340"/>
          </a:xfrm>
        </p:grpSpPr>
        <p:sp>
          <p:nvSpPr>
            <p:cNvPr id="40974" name="Line 40"/>
            <p:cNvSpPr>
              <a:spLocks noChangeShapeType="1"/>
            </p:cNvSpPr>
            <p:nvPr/>
          </p:nvSpPr>
          <p:spPr bwMode="auto">
            <a:xfrm>
              <a:off x="3151" y="3002"/>
              <a:ext cx="2405" cy="0"/>
            </a:xfrm>
            <a:prstGeom prst="line">
              <a:avLst/>
            </a:prstGeom>
            <a:noFill/>
            <a:ln w="38100">
              <a:solidFill>
                <a:schemeClr val="tx1"/>
              </a:solidFill>
              <a:round/>
              <a:headEnd/>
              <a:tailEnd type="stealth" w="med" len="lg"/>
            </a:ln>
          </p:spPr>
          <p:txBody>
            <a:bodyPr/>
            <a:lstStyle/>
            <a:p>
              <a:pPr>
                <a:defRPr/>
              </a:pPr>
              <a:endParaRPr lang="zh-CN" altLang="en-US">
                <a:latin typeface="Times New Roman" pitchFamily="18" charset="0"/>
                <a:ea typeface="+mn-ea"/>
                <a:cs typeface="Times New Roman" pitchFamily="18" charset="0"/>
              </a:endParaRPr>
            </a:p>
          </p:txBody>
        </p:sp>
        <p:sp>
          <p:nvSpPr>
            <p:cNvPr id="40975" name="Text Box 41"/>
            <p:cNvSpPr txBox="1">
              <a:spLocks noChangeArrowheads="1"/>
            </p:cNvSpPr>
            <p:nvPr/>
          </p:nvSpPr>
          <p:spPr bwMode="auto">
            <a:xfrm>
              <a:off x="5382" y="2929"/>
              <a:ext cx="202" cy="326"/>
            </a:xfrm>
            <a:prstGeom prst="rect">
              <a:avLst/>
            </a:prstGeom>
            <a:noFill/>
            <a:ln w="9525">
              <a:noFill/>
              <a:miter lim="800000"/>
              <a:headEnd/>
              <a:tailEnd/>
            </a:ln>
          </p:spPr>
          <p:txBody>
            <a:bodyPr wrap="none">
              <a:spAutoFit/>
            </a:bodyPr>
            <a:lstStyle/>
            <a:p>
              <a:pPr>
                <a:lnSpc>
                  <a:spcPct val="115000"/>
                </a:lnSpc>
                <a:defRPr/>
              </a:pPr>
              <a:r>
                <a:rPr lang="en-US" altLang="zh-CN" sz="2400" b="1" i="1">
                  <a:latin typeface="Times New Roman" pitchFamily="18" charset="0"/>
                  <a:ea typeface="+mn-ea"/>
                  <a:cs typeface="Times New Roman" pitchFamily="18" charset="0"/>
                </a:rPr>
                <a:t>v</a:t>
              </a:r>
            </a:p>
          </p:txBody>
        </p:sp>
        <p:sp>
          <p:nvSpPr>
            <p:cNvPr id="40976" name="Text Box 42"/>
            <p:cNvSpPr txBox="1">
              <a:spLocks noChangeArrowheads="1"/>
            </p:cNvSpPr>
            <p:nvPr/>
          </p:nvSpPr>
          <p:spPr bwMode="auto">
            <a:xfrm>
              <a:off x="2988" y="2943"/>
              <a:ext cx="257" cy="326"/>
            </a:xfrm>
            <a:prstGeom prst="rect">
              <a:avLst/>
            </a:prstGeom>
            <a:noFill/>
            <a:ln w="9525">
              <a:noFill/>
              <a:miter lim="800000"/>
              <a:headEnd/>
              <a:tailEnd/>
            </a:ln>
          </p:spPr>
          <p:txBody>
            <a:bodyPr wrap="none">
              <a:spAutoFit/>
            </a:bodyPr>
            <a:lstStyle/>
            <a:p>
              <a:pPr>
                <a:lnSpc>
                  <a:spcPct val="115000"/>
                </a:lnSpc>
                <a:defRPr/>
              </a:pPr>
              <a:r>
                <a:rPr lang="en-US" altLang="zh-CN" sz="2400" b="1" i="1">
                  <a:latin typeface="Times New Roman" pitchFamily="18" charset="0"/>
                  <a:ea typeface="+mn-ea"/>
                  <a:cs typeface="Times New Roman" pitchFamily="18" charset="0"/>
                </a:rPr>
                <a:t>O</a:t>
              </a:r>
            </a:p>
          </p:txBody>
        </p:sp>
      </p:grpSp>
      <p:sp>
        <p:nvSpPr>
          <p:cNvPr id="70699" name="AutoShape 43"/>
          <p:cNvSpPr>
            <a:spLocks noChangeArrowheads="1"/>
          </p:cNvSpPr>
          <p:nvPr/>
        </p:nvSpPr>
        <p:spPr bwMode="auto">
          <a:xfrm>
            <a:off x="206375" y="1268413"/>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defRPr/>
            </a:pPr>
            <a:endParaRPr lang="zh-CN" altLang="en-US">
              <a:latin typeface="+mn-ea"/>
              <a:ea typeface="+mn-ea"/>
            </a:endParaRPr>
          </a:p>
        </p:txBody>
      </p:sp>
      <p:graphicFrame>
        <p:nvGraphicFramePr>
          <p:cNvPr id="154627" name="Object 3"/>
          <p:cNvGraphicFramePr>
            <a:graphicFrameLocks noChangeAspect="1"/>
          </p:cNvGraphicFramePr>
          <p:nvPr/>
        </p:nvGraphicFramePr>
        <p:xfrm>
          <a:off x="3500438" y="642938"/>
          <a:ext cx="1984375" cy="842962"/>
        </p:xfrm>
        <a:graphic>
          <a:graphicData uri="http://schemas.openxmlformats.org/presentationml/2006/ole">
            <p:oleObj spid="_x0000_s39938" name="Equation" r:id="rId3" imgW="850680" imgH="39348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70699"/>
                                        </p:tgtEl>
                                        <p:attrNameLst>
                                          <p:attrName>style.visibility</p:attrName>
                                        </p:attrNameLst>
                                      </p:cBhvr>
                                      <p:to>
                                        <p:strVal val="visible"/>
                                      </p:to>
                                    </p:set>
                                    <p:anim calcmode="lin" valueType="num">
                                      <p:cBhvr>
                                        <p:cTn id="7" dur="500" fill="hold"/>
                                        <p:tgtEl>
                                          <p:spTgt spid="70699"/>
                                        </p:tgtEl>
                                        <p:attrNameLst>
                                          <p:attrName>ppt_w</p:attrName>
                                        </p:attrNameLst>
                                      </p:cBhvr>
                                      <p:tavLst>
                                        <p:tav tm="0">
                                          <p:val>
                                            <p:strVal val="4*#ppt_w"/>
                                          </p:val>
                                        </p:tav>
                                        <p:tav tm="100000">
                                          <p:val>
                                            <p:strVal val="#ppt_w"/>
                                          </p:val>
                                        </p:tav>
                                      </p:tavLst>
                                    </p:anim>
                                    <p:anim calcmode="lin" valueType="num">
                                      <p:cBhvr>
                                        <p:cTn id="8" dur="500" fill="hold"/>
                                        <p:tgtEl>
                                          <p:spTgt spid="70699"/>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0684"/>
                                        </p:tgtEl>
                                        <p:attrNameLst>
                                          <p:attrName>style.visibility</p:attrName>
                                        </p:attrNameLst>
                                      </p:cBhvr>
                                      <p:to>
                                        <p:strVal val="visible"/>
                                      </p:to>
                                    </p:set>
                                    <p:animEffect transition="in" filter="wipe(left)">
                                      <p:cBhvr>
                                        <p:cTn id="12" dur="500"/>
                                        <p:tgtEl>
                                          <p:spTgt spid="706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687"/>
                                        </p:tgtEl>
                                        <p:attrNameLst>
                                          <p:attrName>style.visibility</p:attrName>
                                        </p:attrNameLst>
                                      </p:cBhvr>
                                      <p:to>
                                        <p:strVal val="visible"/>
                                      </p:to>
                                    </p:set>
                                    <p:animEffect transition="in" filter="wipe(left)">
                                      <p:cBhvr>
                                        <p:cTn id="17" dur="500"/>
                                        <p:tgtEl>
                                          <p:spTgt spid="706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685"/>
                                        </p:tgtEl>
                                        <p:attrNameLst>
                                          <p:attrName>style.visibility</p:attrName>
                                        </p:attrNameLst>
                                      </p:cBhvr>
                                      <p:to>
                                        <p:strVal val="visible"/>
                                      </p:to>
                                    </p:set>
                                    <p:animEffect transition="in" filter="wipe(left)">
                                      <p:cBhvr>
                                        <p:cTn id="22" dur="1000"/>
                                        <p:tgtEl>
                                          <p:spTgt spid="706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par>
                                <p:cTn id="28" presetID="22" presetClass="entr" presetSubtype="8"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0694"/>
                                        </p:tgtEl>
                                        <p:attrNameLst>
                                          <p:attrName>style.visibility</p:attrName>
                                        </p:attrNameLst>
                                      </p:cBhvr>
                                      <p:to>
                                        <p:strVal val="visible"/>
                                      </p:to>
                                    </p:set>
                                    <p:animEffect transition="in" filter="wipe(left)">
                                      <p:cBhvr>
                                        <p:cTn id="35" dur="1000"/>
                                        <p:tgtEl>
                                          <p:spTgt spid="7069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0692"/>
                                        </p:tgtEl>
                                        <p:attrNameLst>
                                          <p:attrName>style.visibility</p:attrName>
                                        </p:attrNameLst>
                                      </p:cBhvr>
                                      <p:to>
                                        <p:strVal val="visible"/>
                                      </p:to>
                                    </p:set>
                                    <p:animEffect transition="in" filter="wipe(left)">
                                      <p:cBhvr>
                                        <p:cTn id="38" dur="500"/>
                                        <p:tgtEl>
                                          <p:spTgt spid="70692"/>
                                        </p:tgtEl>
                                      </p:cBhvr>
                                    </p:animEffect>
                                  </p:childTnLst>
                                </p:cTn>
                              </p:par>
                              <p:par>
                                <p:cTn id="39" presetID="23" presetClass="entr" presetSubtype="16" fill="hold" grpId="0" nodeType="withEffect">
                                  <p:stCondLst>
                                    <p:cond delay="0"/>
                                  </p:stCondLst>
                                  <p:childTnLst>
                                    <p:set>
                                      <p:cBhvr>
                                        <p:cTn id="40" dur="1" fill="hold">
                                          <p:stCondLst>
                                            <p:cond delay="0"/>
                                          </p:stCondLst>
                                        </p:cTn>
                                        <p:tgtEl>
                                          <p:spTgt spid="70691"/>
                                        </p:tgtEl>
                                        <p:attrNameLst>
                                          <p:attrName>style.visibility</p:attrName>
                                        </p:attrNameLst>
                                      </p:cBhvr>
                                      <p:to>
                                        <p:strVal val="visible"/>
                                      </p:to>
                                    </p:set>
                                    <p:anim calcmode="lin" valueType="num">
                                      <p:cBhvr>
                                        <p:cTn id="41" dur="500" fill="hold"/>
                                        <p:tgtEl>
                                          <p:spTgt spid="70691"/>
                                        </p:tgtEl>
                                        <p:attrNameLst>
                                          <p:attrName>ppt_w</p:attrName>
                                        </p:attrNameLst>
                                      </p:cBhvr>
                                      <p:tavLst>
                                        <p:tav tm="0">
                                          <p:val>
                                            <p:fltVal val="0"/>
                                          </p:val>
                                        </p:tav>
                                        <p:tav tm="100000">
                                          <p:val>
                                            <p:strVal val="#ppt_w"/>
                                          </p:val>
                                        </p:tav>
                                      </p:tavLst>
                                    </p:anim>
                                    <p:anim calcmode="lin" valueType="num">
                                      <p:cBhvr>
                                        <p:cTn id="42" dur="500" fill="hold"/>
                                        <p:tgtEl>
                                          <p:spTgt spid="7069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0686"/>
                                        </p:tgtEl>
                                        <p:attrNameLst>
                                          <p:attrName>style.visibility</p:attrName>
                                        </p:attrNameLst>
                                      </p:cBhvr>
                                      <p:to>
                                        <p:strVal val="visible"/>
                                      </p:to>
                                    </p:set>
                                    <p:animEffect transition="in" filter="wipe(left)">
                                      <p:cBhvr>
                                        <p:cTn id="47" dur="500"/>
                                        <p:tgtEl>
                                          <p:spTgt spid="7068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0693"/>
                                        </p:tgtEl>
                                        <p:attrNameLst>
                                          <p:attrName>style.visibility</p:attrName>
                                        </p:attrNameLst>
                                      </p:cBhvr>
                                      <p:to>
                                        <p:strVal val="visible"/>
                                      </p:to>
                                    </p:set>
                                    <p:animEffect transition="in" filter="wipe(left)">
                                      <p:cBhvr>
                                        <p:cTn id="52" dur="500"/>
                                        <p:tgtEl>
                                          <p:spTgt spid="70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4" grpId="0"/>
      <p:bldP spid="70685" grpId="0"/>
      <p:bldP spid="70686" grpId="0"/>
      <p:bldP spid="70687" grpId="0"/>
      <p:bldP spid="70691" grpId="0"/>
      <p:bldP spid="70692" grpId="0"/>
      <p:bldP spid="70693" grpId="0"/>
      <p:bldP spid="70694" grpId="0" animBg="1"/>
      <p:bldP spid="7069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1602" name="Object 2"/>
          <p:cNvGraphicFramePr>
            <a:graphicFrameLocks noChangeAspect="1"/>
          </p:cNvGraphicFramePr>
          <p:nvPr/>
        </p:nvGraphicFramePr>
        <p:xfrm>
          <a:off x="2500313" y="1852613"/>
          <a:ext cx="730250" cy="730250"/>
        </p:xfrm>
        <a:graphic>
          <a:graphicData uri="http://schemas.openxmlformats.org/presentationml/2006/ole">
            <p:oleObj spid="_x0000_s40962" name="公式" r:id="rId3" imgW="406080" imgH="406080" progId="Equation.3">
              <p:embed/>
            </p:oleObj>
          </a:graphicData>
        </a:graphic>
      </p:graphicFrame>
      <p:graphicFrame>
        <p:nvGraphicFramePr>
          <p:cNvPr id="281603" name="Object 3"/>
          <p:cNvGraphicFramePr>
            <a:graphicFrameLocks noChangeAspect="1"/>
          </p:cNvGraphicFramePr>
          <p:nvPr/>
        </p:nvGraphicFramePr>
        <p:xfrm>
          <a:off x="1571625" y="2071688"/>
          <a:ext cx="968375" cy="366712"/>
        </p:xfrm>
        <a:graphic>
          <a:graphicData uri="http://schemas.openxmlformats.org/presentationml/2006/ole">
            <p:oleObj spid="_x0000_s40963" name="公式" r:id="rId4" imgW="533160" imgH="203040" progId="Equation.3">
              <p:embed/>
            </p:oleObj>
          </a:graphicData>
        </a:graphic>
      </p:graphicFrame>
      <p:sp>
        <p:nvSpPr>
          <p:cNvPr id="281604" name="Text Box 4"/>
          <p:cNvSpPr txBox="1">
            <a:spLocks noChangeArrowheads="1"/>
          </p:cNvSpPr>
          <p:nvPr/>
        </p:nvSpPr>
        <p:spPr bwMode="auto">
          <a:xfrm>
            <a:off x="206375" y="500063"/>
            <a:ext cx="4500563" cy="1366837"/>
          </a:xfrm>
          <a:prstGeom prst="rect">
            <a:avLst/>
          </a:prstGeom>
          <a:noFill/>
          <a:ln w="9525">
            <a:noFill/>
            <a:miter lim="800000"/>
            <a:headEnd/>
            <a:tailEnd/>
          </a:ln>
        </p:spPr>
        <p:txBody>
          <a:bodyPr>
            <a:spAutoFit/>
          </a:bodyPr>
          <a:lstStyle/>
          <a:p>
            <a:pPr marL="357188" indent="-357188">
              <a:lnSpc>
                <a:spcPct val="115000"/>
              </a:lnSpc>
              <a:defRPr/>
            </a:pPr>
            <a:r>
              <a:rPr lang="en-US" altLang="zh-CN" sz="2400" b="1" dirty="0">
                <a:latin typeface="Times New Roman" pitchFamily="18" charset="0"/>
                <a:ea typeface="+mn-ea"/>
                <a:cs typeface="Times New Roman" pitchFamily="18" charset="0"/>
              </a:rPr>
              <a:t>(5) </a:t>
            </a:r>
            <a:r>
              <a:rPr lang="zh-CN" altLang="en-US" sz="2400" b="1" dirty="0">
                <a:latin typeface="Times New Roman" pitchFamily="18" charset="0"/>
                <a:ea typeface="+mn-ea"/>
                <a:cs typeface="Times New Roman" pitchFamily="18" charset="0"/>
              </a:rPr>
              <a:t>在</a:t>
            </a:r>
            <a:r>
              <a:rPr lang="zh-CN" altLang="en-US" sz="2400" b="1" dirty="0">
                <a:solidFill>
                  <a:srgbClr val="FF0000"/>
                </a:solidFill>
                <a:latin typeface="Times New Roman" pitchFamily="18" charset="0"/>
                <a:ea typeface="+mn-ea"/>
                <a:cs typeface="Times New Roman" pitchFamily="18" charset="0"/>
              </a:rPr>
              <a:t> </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间隔内</a:t>
            </a: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曲线下的面积</a:t>
            </a:r>
          </a:p>
          <a:p>
            <a:pPr marL="357188" indent="-357188">
              <a:lnSpc>
                <a:spcPct val="115000"/>
              </a:lnSpc>
              <a:defRPr/>
            </a:pPr>
            <a:r>
              <a:rPr lang="zh-CN" altLang="en-US" sz="2400" b="1" dirty="0">
                <a:latin typeface="Times New Roman" pitchFamily="18" charset="0"/>
                <a:ea typeface="+mn-ea"/>
                <a:cs typeface="Times New Roman" pitchFamily="18" charset="0"/>
              </a:rPr>
              <a:t>表示</a:t>
            </a:r>
            <a:r>
              <a:rPr kumimoji="1" lang="zh-CN" altLang="en-US" sz="2400" b="1" dirty="0">
                <a:latin typeface="Times New Roman" pitchFamily="18" charset="0"/>
                <a:ea typeface="+mn-ea"/>
                <a:cs typeface="Times New Roman" pitchFamily="18" charset="0"/>
              </a:rPr>
              <a:t>速率分布</a:t>
            </a:r>
            <a:r>
              <a:rPr lang="zh-CN" altLang="en-US" sz="2400" b="1" dirty="0">
                <a:latin typeface="Times New Roman" pitchFamily="18" charset="0"/>
                <a:ea typeface="+mn-ea"/>
                <a:cs typeface="Times New Roman" pitchFamily="18" charset="0"/>
              </a:rPr>
              <a:t>在 </a:t>
            </a:r>
            <a:r>
              <a:rPr kumimoji="1" lang="en-US" altLang="zh-CN" sz="2400" b="1" i="1" dirty="0">
                <a:solidFill>
                  <a:srgbClr val="FF0000"/>
                </a:solidFill>
                <a:latin typeface="Times New Roman" pitchFamily="18" charset="0"/>
                <a:ea typeface="+mn-ea"/>
                <a:cs typeface="Times New Roman" pitchFamily="18" charset="0"/>
              </a:rPr>
              <a:t>v</a:t>
            </a:r>
            <a:r>
              <a:rPr kumimoji="1" lang="zh-CN" altLang="en-US" sz="2400" b="1" i="1" dirty="0">
                <a:solidFill>
                  <a:srgbClr val="FF0000"/>
                </a:solidFill>
                <a:latin typeface="Times New Roman" pitchFamily="18" charset="0"/>
                <a:ea typeface="+mn-ea"/>
                <a:cs typeface="Times New Roman" pitchFamily="18" charset="0"/>
              </a:rPr>
              <a:t>～</a:t>
            </a:r>
            <a:r>
              <a:rPr kumimoji="1" lang="en-US" altLang="zh-CN" sz="2400" b="1" i="1" dirty="0">
                <a:solidFill>
                  <a:srgbClr val="FF0000"/>
                </a:solidFill>
                <a:latin typeface="Times New Roman" pitchFamily="18" charset="0"/>
                <a:ea typeface="+mn-ea"/>
                <a:cs typeface="Times New Roman" pitchFamily="18" charset="0"/>
              </a:rPr>
              <a:t>v + </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中的</a:t>
            </a:r>
          </a:p>
          <a:p>
            <a:pPr marL="357188" indent="-357188">
              <a:lnSpc>
                <a:spcPct val="115000"/>
              </a:lnSpc>
              <a:defRPr/>
            </a:pPr>
            <a:r>
              <a:rPr lang="zh-CN" altLang="en-US" sz="2400" b="1" dirty="0">
                <a:latin typeface="Times New Roman" pitchFamily="18" charset="0"/>
                <a:ea typeface="+mn-ea"/>
                <a:cs typeface="Times New Roman" pitchFamily="18" charset="0"/>
              </a:rPr>
              <a:t>分子数占总分子数的比率</a:t>
            </a:r>
            <a:endParaRPr kumimoji="1" lang="zh-CN" altLang="en-US" sz="2400" b="1" dirty="0">
              <a:latin typeface="Times New Roman" pitchFamily="18" charset="0"/>
              <a:ea typeface="+mn-ea"/>
              <a:cs typeface="Times New Roman" pitchFamily="18" charset="0"/>
            </a:endParaRPr>
          </a:p>
        </p:txBody>
      </p:sp>
      <p:sp>
        <p:nvSpPr>
          <p:cNvPr id="281605" name="Rectangle 5"/>
          <p:cNvSpPr>
            <a:spLocks noChangeArrowheads="1"/>
          </p:cNvSpPr>
          <p:nvPr/>
        </p:nvSpPr>
        <p:spPr bwMode="auto">
          <a:xfrm>
            <a:off x="115888" y="2663825"/>
            <a:ext cx="4905375" cy="1366838"/>
          </a:xfrm>
          <a:prstGeom prst="rect">
            <a:avLst/>
          </a:prstGeom>
          <a:noFill/>
          <a:ln w="9525">
            <a:noFill/>
            <a:miter lim="800000"/>
            <a:headEnd/>
            <a:tailEnd/>
          </a:ln>
        </p:spPr>
        <p:txBody>
          <a:bodyPr>
            <a:spAutoFit/>
          </a:bodyPr>
          <a:lstStyle/>
          <a:p>
            <a:pPr marL="457200" indent="-457200">
              <a:lnSpc>
                <a:spcPct val="115000"/>
              </a:lnSpc>
              <a:defRPr/>
            </a:pPr>
            <a:r>
              <a:rPr kumimoji="1" lang="en-US" altLang="zh-CN" sz="2400" b="1">
                <a:latin typeface="Times New Roman" pitchFamily="18" charset="0"/>
                <a:ea typeface="+mn-ea"/>
                <a:cs typeface="Times New Roman" pitchFamily="18" charset="0"/>
              </a:rPr>
              <a:t>(6) </a:t>
            </a:r>
            <a:r>
              <a:rPr kumimoji="1" lang="zh-CN" altLang="en-US" sz="2400" b="1">
                <a:latin typeface="Times New Roman" pitchFamily="18" charset="0"/>
                <a:ea typeface="+mn-ea"/>
                <a:cs typeface="Times New Roman" pitchFamily="18" charset="0"/>
              </a:rPr>
              <a:t>在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1 </a:t>
            </a:r>
            <a:r>
              <a:rPr kumimoji="1" lang="en-US" altLang="zh-CN" sz="2400" b="1">
                <a:solidFill>
                  <a:srgbClr val="FF0000"/>
                </a:solidFill>
                <a:latin typeface="Times New Roman" pitchFamily="18" charset="0"/>
                <a:ea typeface="+mn-ea"/>
                <a:cs typeface="Times New Roman" pitchFamily="18" charset="0"/>
              </a:rPr>
              <a:t>~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2</a:t>
            </a:r>
            <a:r>
              <a:rPr kumimoji="1" lang="en-US" altLang="zh-CN" sz="2400" baseline="-25000">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区间内</a:t>
            </a:r>
            <a:r>
              <a:rPr kumimoji="1" lang="en-US" altLang="zh-CN" sz="2400" b="1">
                <a:latin typeface="Times New Roman" pitchFamily="18" charset="0"/>
                <a:ea typeface="+mn-ea"/>
                <a:cs typeface="Times New Roman" pitchFamily="18" charset="0"/>
              </a:rPr>
              <a:t>,</a:t>
            </a:r>
            <a:r>
              <a:rPr lang="zh-CN" altLang="en-US" sz="2400" b="1">
                <a:latin typeface="Times New Roman" pitchFamily="18" charset="0"/>
                <a:ea typeface="+mn-ea"/>
                <a:cs typeface="Times New Roman" pitchFamily="18" charset="0"/>
              </a:rPr>
              <a:t>曲线下的面积</a:t>
            </a:r>
          </a:p>
          <a:p>
            <a:pPr marL="457200" indent="-457200">
              <a:lnSpc>
                <a:spcPct val="115000"/>
              </a:lnSpc>
              <a:defRPr/>
            </a:pPr>
            <a:r>
              <a:rPr lang="zh-CN" altLang="en-US" sz="2400" b="1">
                <a:latin typeface="Times New Roman" pitchFamily="18" charset="0"/>
                <a:ea typeface="+mn-ea"/>
                <a:cs typeface="Times New Roman" pitchFamily="18" charset="0"/>
              </a:rPr>
              <a:t>表示</a:t>
            </a:r>
            <a:r>
              <a:rPr kumimoji="1" lang="zh-CN" altLang="en-US" sz="2400" b="1">
                <a:latin typeface="Times New Roman" pitchFamily="18" charset="0"/>
                <a:ea typeface="+mn-ea"/>
                <a:cs typeface="Times New Roman" pitchFamily="18" charset="0"/>
              </a:rPr>
              <a:t>速率分布在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1 </a:t>
            </a:r>
            <a:r>
              <a:rPr kumimoji="1" lang="en-US" altLang="zh-CN" sz="2400" b="1">
                <a:solidFill>
                  <a:srgbClr val="FF0000"/>
                </a:solidFill>
                <a:latin typeface="Times New Roman" pitchFamily="18" charset="0"/>
                <a:ea typeface="+mn-ea"/>
                <a:cs typeface="Times New Roman" pitchFamily="18" charset="0"/>
              </a:rPr>
              <a:t>~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2</a:t>
            </a:r>
            <a:r>
              <a:rPr kumimoji="1" lang="en-US" altLang="zh-CN" sz="2400" b="1" baseline="-25000">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之间的</a:t>
            </a:r>
            <a:r>
              <a:rPr lang="zh-CN" altLang="en-US" sz="2400" b="1">
                <a:latin typeface="Times New Roman" pitchFamily="18" charset="0"/>
                <a:ea typeface="+mn-ea"/>
                <a:cs typeface="Times New Roman" pitchFamily="18" charset="0"/>
              </a:rPr>
              <a:t>分子</a:t>
            </a:r>
          </a:p>
          <a:p>
            <a:pPr marL="457200" indent="-457200">
              <a:lnSpc>
                <a:spcPct val="115000"/>
              </a:lnSpc>
              <a:defRPr/>
            </a:pPr>
            <a:r>
              <a:rPr lang="zh-CN" altLang="en-US" sz="2400" b="1">
                <a:latin typeface="Times New Roman" pitchFamily="18" charset="0"/>
                <a:ea typeface="+mn-ea"/>
                <a:cs typeface="Times New Roman" pitchFamily="18" charset="0"/>
              </a:rPr>
              <a:t>数占总分子数的比率</a:t>
            </a:r>
            <a:endParaRPr kumimoji="1" lang="zh-CN" altLang="en-US" sz="2400">
              <a:latin typeface="Times New Roman" pitchFamily="18" charset="0"/>
              <a:ea typeface="+mn-ea"/>
              <a:cs typeface="Times New Roman" pitchFamily="18" charset="0"/>
            </a:endParaRPr>
          </a:p>
        </p:txBody>
      </p:sp>
      <p:graphicFrame>
        <p:nvGraphicFramePr>
          <p:cNvPr id="281606" name="Object 6"/>
          <p:cNvGraphicFramePr>
            <a:graphicFrameLocks noChangeAspect="1"/>
          </p:cNvGraphicFramePr>
          <p:nvPr/>
        </p:nvGraphicFramePr>
        <p:xfrm>
          <a:off x="3267075" y="3778250"/>
          <a:ext cx="1993900" cy="730250"/>
        </p:xfrm>
        <a:graphic>
          <a:graphicData uri="http://schemas.openxmlformats.org/presentationml/2006/ole">
            <p:oleObj spid="_x0000_s40964" name="公式" r:id="rId5" imgW="1104840" imgH="406080" progId="Equation.3">
              <p:embed/>
            </p:oleObj>
          </a:graphicData>
        </a:graphic>
      </p:graphicFrame>
      <p:grpSp>
        <p:nvGrpSpPr>
          <p:cNvPr id="2" name="Group 7"/>
          <p:cNvGrpSpPr>
            <a:grpSpLocks/>
          </p:cNvGrpSpPr>
          <p:nvPr/>
        </p:nvGrpSpPr>
        <p:grpSpPr bwMode="auto">
          <a:xfrm>
            <a:off x="5133975" y="414338"/>
            <a:ext cx="696913" cy="2589212"/>
            <a:chOff x="3051" y="393"/>
            <a:chExt cx="439" cy="1631"/>
          </a:xfrm>
        </p:grpSpPr>
        <p:sp>
          <p:nvSpPr>
            <p:cNvPr id="41000" name="Line 8"/>
            <p:cNvSpPr>
              <a:spLocks noChangeShapeType="1"/>
            </p:cNvSpPr>
            <p:nvPr/>
          </p:nvSpPr>
          <p:spPr bwMode="auto">
            <a:xfrm>
              <a:off x="3051" y="505"/>
              <a:ext cx="0" cy="1519"/>
            </a:xfrm>
            <a:prstGeom prst="line">
              <a:avLst/>
            </a:prstGeom>
            <a:noFill/>
            <a:ln w="38100">
              <a:solidFill>
                <a:schemeClr val="tx1"/>
              </a:solidFill>
              <a:round/>
              <a:headEnd type="stealth" w="med" len="lg"/>
              <a:tailEnd/>
            </a:ln>
          </p:spPr>
          <p:txBody>
            <a:bodyPr/>
            <a:lstStyle/>
            <a:p>
              <a:endParaRPr lang="zh-CN" altLang="en-US"/>
            </a:p>
          </p:txBody>
        </p:sp>
        <p:sp>
          <p:nvSpPr>
            <p:cNvPr id="41001" name="Text Box 9"/>
            <p:cNvSpPr txBox="1">
              <a:spLocks noChangeArrowheads="1"/>
            </p:cNvSpPr>
            <p:nvPr/>
          </p:nvSpPr>
          <p:spPr bwMode="auto">
            <a:xfrm>
              <a:off x="3097" y="393"/>
              <a:ext cx="393" cy="323"/>
            </a:xfrm>
            <a:prstGeom prst="rect">
              <a:avLst/>
            </a:prstGeom>
            <a:noFill/>
            <a:ln w="38100">
              <a:noFill/>
              <a:miter lim="800000"/>
              <a:headEnd/>
              <a:tailEnd/>
            </a:ln>
          </p:spPr>
          <p:txBody>
            <a:bodyPr wrap="none">
              <a:spAutoFit/>
            </a:bodyPr>
            <a:lstStyle/>
            <a:p>
              <a:pPr>
                <a:lnSpc>
                  <a:spcPct val="115000"/>
                </a:lnSpc>
              </a:pPr>
              <a:r>
                <a:rPr lang="en-US" altLang="zh-CN" sz="2400" b="1" i="1">
                  <a:latin typeface="Times New Roman" pitchFamily="18" charset="0"/>
                </a:rPr>
                <a:t>f</a:t>
              </a:r>
              <a:r>
                <a:rPr lang="en-US" altLang="zh-CN" sz="2400" b="1">
                  <a:latin typeface="Times New Roman" pitchFamily="18" charset="0"/>
                </a:rPr>
                <a:t>(</a:t>
              </a:r>
              <a:r>
                <a:rPr lang="en-US" altLang="zh-CN" sz="2400" b="1" i="1">
                  <a:latin typeface="Times New Roman" pitchFamily="18" charset="0"/>
                </a:rPr>
                <a:t>v)</a:t>
              </a:r>
            </a:p>
          </p:txBody>
        </p:sp>
      </p:grpSp>
      <p:grpSp>
        <p:nvGrpSpPr>
          <p:cNvPr id="3" name="Group 10"/>
          <p:cNvGrpSpPr>
            <a:grpSpLocks/>
          </p:cNvGrpSpPr>
          <p:nvPr/>
        </p:nvGrpSpPr>
        <p:grpSpPr bwMode="auto">
          <a:xfrm>
            <a:off x="4862513" y="2881313"/>
            <a:ext cx="4119562" cy="534987"/>
            <a:chOff x="2988" y="2929"/>
            <a:chExt cx="2595" cy="337"/>
          </a:xfrm>
        </p:grpSpPr>
        <p:sp>
          <p:nvSpPr>
            <p:cNvPr id="40997" name="Line 11"/>
            <p:cNvSpPr>
              <a:spLocks noChangeShapeType="1"/>
            </p:cNvSpPr>
            <p:nvPr/>
          </p:nvSpPr>
          <p:spPr bwMode="auto">
            <a:xfrm>
              <a:off x="3151" y="3002"/>
              <a:ext cx="2405" cy="0"/>
            </a:xfrm>
            <a:prstGeom prst="line">
              <a:avLst/>
            </a:prstGeom>
            <a:noFill/>
            <a:ln w="38100">
              <a:solidFill>
                <a:schemeClr val="tx1"/>
              </a:solidFill>
              <a:round/>
              <a:headEnd/>
              <a:tailEnd type="stealth" w="med" len="lg"/>
            </a:ln>
          </p:spPr>
          <p:txBody>
            <a:bodyPr/>
            <a:lstStyle/>
            <a:p>
              <a:endParaRPr lang="zh-CN" altLang="en-US"/>
            </a:p>
          </p:txBody>
        </p:sp>
        <p:sp>
          <p:nvSpPr>
            <p:cNvPr id="40998" name="Text Box 12"/>
            <p:cNvSpPr txBox="1">
              <a:spLocks noChangeArrowheads="1"/>
            </p:cNvSpPr>
            <p:nvPr/>
          </p:nvSpPr>
          <p:spPr bwMode="auto">
            <a:xfrm>
              <a:off x="5382" y="2929"/>
              <a:ext cx="201" cy="323"/>
            </a:xfrm>
            <a:prstGeom prst="rect">
              <a:avLst/>
            </a:prstGeom>
            <a:noFill/>
            <a:ln w="9525">
              <a:noFill/>
              <a:miter lim="800000"/>
              <a:headEnd/>
              <a:tailEnd/>
            </a:ln>
          </p:spPr>
          <p:txBody>
            <a:bodyPr wrap="none">
              <a:spAutoFit/>
            </a:bodyPr>
            <a:lstStyle/>
            <a:p>
              <a:pPr>
                <a:lnSpc>
                  <a:spcPct val="115000"/>
                </a:lnSpc>
              </a:pPr>
              <a:r>
                <a:rPr lang="en-US" altLang="zh-CN" sz="2400" b="1" i="1">
                  <a:latin typeface="Times New Roman" pitchFamily="18" charset="0"/>
                </a:rPr>
                <a:t>v</a:t>
              </a:r>
            </a:p>
          </p:txBody>
        </p:sp>
        <p:sp>
          <p:nvSpPr>
            <p:cNvPr id="40999" name="Text Box 13"/>
            <p:cNvSpPr txBox="1">
              <a:spLocks noChangeArrowheads="1"/>
            </p:cNvSpPr>
            <p:nvPr/>
          </p:nvSpPr>
          <p:spPr bwMode="auto">
            <a:xfrm>
              <a:off x="2988" y="2943"/>
              <a:ext cx="255" cy="323"/>
            </a:xfrm>
            <a:prstGeom prst="rect">
              <a:avLst/>
            </a:prstGeom>
            <a:noFill/>
            <a:ln w="9525">
              <a:noFill/>
              <a:miter lim="800000"/>
              <a:headEnd/>
              <a:tailEnd/>
            </a:ln>
          </p:spPr>
          <p:txBody>
            <a:bodyPr wrap="none">
              <a:spAutoFit/>
            </a:bodyPr>
            <a:lstStyle/>
            <a:p>
              <a:pPr>
                <a:lnSpc>
                  <a:spcPct val="115000"/>
                </a:lnSpc>
              </a:pPr>
              <a:r>
                <a:rPr lang="en-US" altLang="zh-CN" sz="2400" b="1" i="1">
                  <a:latin typeface="Times New Roman" pitchFamily="18" charset="0"/>
                </a:rPr>
                <a:t>O</a:t>
              </a:r>
            </a:p>
          </p:txBody>
        </p:sp>
      </p:grpSp>
      <p:sp>
        <p:nvSpPr>
          <p:cNvPr id="281614" name="Rectangle 14"/>
          <p:cNvSpPr>
            <a:spLocks noChangeArrowheads="1"/>
          </p:cNvSpPr>
          <p:nvPr/>
        </p:nvSpPr>
        <p:spPr bwMode="auto">
          <a:xfrm>
            <a:off x="6529388" y="2894013"/>
            <a:ext cx="319087" cy="512762"/>
          </a:xfrm>
          <a:prstGeom prst="rect">
            <a:avLst/>
          </a:prstGeom>
          <a:noFill/>
          <a:ln w="9525">
            <a:noFill/>
            <a:miter lim="800000"/>
            <a:headEnd/>
            <a:tailEnd/>
          </a:ln>
        </p:spPr>
        <p:txBody>
          <a:bodyPr wrap="none">
            <a:spAutoFit/>
          </a:bodyPr>
          <a:lstStyle/>
          <a:p>
            <a:pPr>
              <a:lnSpc>
                <a:spcPct val="115000"/>
              </a:lnSpc>
            </a:pPr>
            <a:r>
              <a:rPr kumimoji="1" lang="en-US" altLang="zh-CN" sz="2400" i="1">
                <a:solidFill>
                  <a:srgbClr val="0000CC"/>
                </a:solidFill>
                <a:latin typeface="Times New Roman" pitchFamily="18" charset="0"/>
              </a:rPr>
              <a:t>v</a:t>
            </a:r>
          </a:p>
        </p:txBody>
      </p:sp>
      <p:sp>
        <p:nvSpPr>
          <p:cNvPr id="281615" name="Rectangle 15" descr="宽上对角线"/>
          <p:cNvSpPr>
            <a:spLocks noChangeArrowheads="1"/>
          </p:cNvSpPr>
          <p:nvPr/>
        </p:nvSpPr>
        <p:spPr bwMode="auto">
          <a:xfrm>
            <a:off x="6737350" y="1384300"/>
            <a:ext cx="228600" cy="1584325"/>
          </a:xfrm>
          <a:prstGeom prst="rect">
            <a:avLst/>
          </a:prstGeom>
          <a:pattFill prst="wdUpDiag">
            <a:fgClr>
              <a:srgbClr val="00FFFF"/>
            </a:fgClr>
            <a:bgClr>
              <a:srgbClr val="00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281616" name="Rectangle 16"/>
          <p:cNvSpPr>
            <a:spLocks noChangeArrowheads="1"/>
          </p:cNvSpPr>
          <p:nvPr/>
        </p:nvSpPr>
        <p:spPr bwMode="auto">
          <a:xfrm>
            <a:off x="6834188" y="2887663"/>
            <a:ext cx="1916112" cy="512762"/>
          </a:xfrm>
          <a:prstGeom prst="rect">
            <a:avLst/>
          </a:prstGeom>
          <a:noFill/>
          <a:ln w="9525">
            <a:noFill/>
            <a:miter lim="800000"/>
            <a:headEnd/>
            <a:tailEnd/>
          </a:ln>
        </p:spPr>
        <p:txBody>
          <a:bodyPr>
            <a:spAutoFit/>
          </a:bodyPr>
          <a:lstStyle/>
          <a:p>
            <a:pPr>
              <a:lnSpc>
                <a:spcPct val="115000"/>
              </a:lnSpc>
            </a:pPr>
            <a:r>
              <a:rPr kumimoji="1" lang="en-US" altLang="zh-CN" sz="2400" i="1">
                <a:solidFill>
                  <a:srgbClr val="0000CC"/>
                </a:solidFill>
                <a:latin typeface="Times New Roman" pitchFamily="18" charset="0"/>
              </a:rPr>
              <a:t>v</a:t>
            </a:r>
            <a:r>
              <a:rPr kumimoji="1" lang="zh-CN" altLang="en-US" sz="2400">
                <a:solidFill>
                  <a:srgbClr val="0000CC"/>
                </a:solidFill>
                <a:latin typeface="Times New Roman" pitchFamily="18" charset="0"/>
              </a:rPr>
              <a:t>＋</a:t>
            </a:r>
            <a:r>
              <a:rPr kumimoji="1" lang="en-US" altLang="zh-CN" sz="2400">
                <a:solidFill>
                  <a:srgbClr val="0000CC"/>
                </a:solidFill>
                <a:latin typeface="Times New Roman" pitchFamily="18" charset="0"/>
              </a:rPr>
              <a:t>d</a:t>
            </a:r>
            <a:r>
              <a:rPr kumimoji="1" lang="en-US" altLang="zh-CN" sz="2400" i="1">
                <a:solidFill>
                  <a:srgbClr val="0000CC"/>
                </a:solidFill>
                <a:latin typeface="Times New Roman" pitchFamily="18" charset="0"/>
              </a:rPr>
              <a:t>v</a:t>
            </a:r>
          </a:p>
        </p:txBody>
      </p:sp>
      <p:sp>
        <p:nvSpPr>
          <p:cNvPr id="281617" name="Rectangle 17"/>
          <p:cNvSpPr>
            <a:spLocks noChangeArrowheads="1"/>
          </p:cNvSpPr>
          <p:nvPr/>
        </p:nvSpPr>
        <p:spPr bwMode="auto">
          <a:xfrm>
            <a:off x="6588125" y="2708275"/>
            <a:ext cx="260350" cy="512763"/>
          </a:xfrm>
          <a:prstGeom prst="rect">
            <a:avLst/>
          </a:prstGeom>
          <a:noFill/>
          <a:ln w="9525">
            <a:noFill/>
            <a:miter lim="800000"/>
            <a:headEnd/>
            <a:tailEnd/>
          </a:ln>
        </p:spPr>
        <p:txBody>
          <a:bodyPr wrap="none">
            <a:spAutoFit/>
          </a:bodyPr>
          <a:lstStyle/>
          <a:p>
            <a:pPr>
              <a:lnSpc>
                <a:spcPct val="115000"/>
              </a:lnSpc>
            </a:pPr>
            <a:r>
              <a:rPr kumimoji="1" lang="en-US" altLang="zh-CN" sz="2400" b="1">
                <a:latin typeface="Times New Roman" pitchFamily="18" charset="0"/>
              </a:rPr>
              <a:t>·</a:t>
            </a:r>
          </a:p>
        </p:txBody>
      </p:sp>
      <p:sp>
        <p:nvSpPr>
          <p:cNvPr id="281618" name="Rectangle 18"/>
          <p:cNvSpPr>
            <a:spLocks noChangeArrowheads="1"/>
          </p:cNvSpPr>
          <p:nvPr/>
        </p:nvSpPr>
        <p:spPr bwMode="auto">
          <a:xfrm>
            <a:off x="6834188" y="2700338"/>
            <a:ext cx="260350" cy="512762"/>
          </a:xfrm>
          <a:prstGeom prst="rect">
            <a:avLst/>
          </a:prstGeom>
          <a:noFill/>
          <a:ln w="9525">
            <a:noFill/>
            <a:miter lim="800000"/>
            <a:headEnd/>
            <a:tailEnd/>
          </a:ln>
        </p:spPr>
        <p:txBody>
          <a:bodyPr wrap="none">
            <a:spAutoFit/>
          </a:bodyPr>
          <a:lstStyle/>
          <a:p>
            <a:pPr>
              <a:lnSpc>
                <a:spcPct val="115000"/>
              </a:lnSpc>
            </a:pPr>
            <a:r>
              <a:rPr kumimoji="1" lang="en-US" altLang="zh-CN" sz="2400" b="1">
                <a:solidFill>
                  <a:schemeClr val="tx2"/>
                </a:solidFill>
                <a:latin typeface="Times New Roman" pitchFamily="18" charset="0"/>
              </a:rPr>
              <a:t>·</a:t>
            </a:r>
          </a:p>
        </p:txBody>
      </p:sp>
      <p:sp>
        <p:nvSpPr>
          <p:cNvPr id="281619" name="Line 19"/>
          <p:cNvSpPr>
            <a:spLocks noChangeShapeType="1"/>
          </p:cNvSpPr>
          <p:nvPr/>
        </p:nvSpPr>
        <p:spPr bwMode="auto">
          <a:xfrm>
            <a:off x="7054850" y="1220788"/>
            <a:ext cx="0" cy="1763712"/>
          </a:xfrm>
          <a:prstGeom prst="line">
            <a:avLst/>
          </a:prstGeom>
          <a:noFill/>
          <a:ln w="723900">
            <a:pattFill prst="wdUpDiag">
              <a:fgClr>
                <a:srgbClr val="336699"/>
              </a:fgClr>
              <a:bgClr>
                <a:srgbClr val="66FFFF"/>
              </a:bgClr>
            </a:pattFill>
            <a:round/>
            <a:headEnd/>
            <a:tailEnd/>
          </a:ln>
        </p:spPr>
        <p:txBody>
          <a:bodyPr/>
          <a:lstStyle/>
          <a:p>
            <a:endParaRPr lang="zh-CN" altLang="en-US"/>
          </a:p>
        </p:txBody>
      </p:sp>
      <p:sp>
        <p:nvSpPr>
          <p:cNvPr id="281620" name="Line 20"/>
          <p:cNvSpPr>
            <a:spLocks noChangeShapeType="1"/>
          </p:cNvSpPr>
          <p:nvPr/>
        </p:nvSpPr>
        <p:spPr bwMode="auto">
          <a:xfrm flipH="1">
            <a:off x="6659563" y="1217613"/>
            <a:ext cx="31750" cy="1779587"/>
          </a:xfrm>
          <a:prstGeom prst="line">
            <a:avLst/>
          </a:prstGeom>
          <a:noFill/>
          <a:ln w="28575">
            <a:solidFill>
              <a:schemeClr val="bg1"/>
            </a:solidFill>
            <a:round/>
            <a:headEnd/>
            <a:tailEnd/>
          </a:ln>
        </p:spPr>
        <p:txBody>
          <a:bodyPr/>
          <a:lstStyle/>
          <a:p>
            <a:endParaRPr lang="zh-CN" altLang="en-US"/>
          </a:p>
        </p:txBody>
      </p:sp>
      <p:sp>
        <p:nvSpPr>
          <p:cNvPr id="281621" name="Line 21"/>
          <p:cNvSpPr>
            <a:spLocks noChangeShapeType="1"/>
          </p:cNvSpPr>
          <p:nvPr/>
        </p:nvSpPr>
        <p:spPr bwMode="auto">
          <a:xfrm>
            <a:off x="7412038" y="2287588"/>
            <a:ext cx="0" cy="719137"/>
          </a:xfrm>
          <a:prstGeom prst="line">
            <a:avLst/>
          </a:prstGeom>
          <a:noFill/>
          <a:ln w="28575">
            <a:solidFill>
              <a:schemeClr val="bg1"/>
            </a:solidFill>
            <a:round/>
            <a:headEnd/>
            <a:tailEnd/>
          </a:ln>
        </p:spPr>
        <p:txBody>
          <a:bodyPr/>
          <a:lstStyle/>
          <a:p>
            <a:endParaRPr lang="zh-CN" altLang="en-US"/>
          </a:p>
        </p:txBody>
      </p:sp>
      <p:sp>
        <p:nvSpPr>
          <p:cNvPr id="281622" name="Rectangle 22"/>
          <p:cNvSpPr>
            <a:spLocks noChangeArrowheads="1"/>
          </p:cNvSpPr>
          <p:nvPr/>
        </p:nvSpPr>
        <p:spPr bwMode="auto">
          <a:xfrm>
            <a:off x="6384925" y="3068638"/>
            <a:ext cx="1692275" cy="441325"/>
          </a:xfrm>
          <a:prstGeom prst="rect">
            <a:avLst/>
          </a:prstGeom>
          <a:solidFill>
            <a:srgbClr val="FFFFFF"/>
          </a:solidFill>
          <a:ln w="9525" algn="ctr">
            <a:noFill/>
            <a:miter lim="800000"/>
            <a:headEnd/>
            <a:tailEnd/>
          </a:ln>
        </p:spPr>
        <p:txBody>
          <a:bodyPr wrap="none" anchor="ctr"/>
          <a:lstStyle/>
          <a:p>
            <a:pPr algn="ctr"/>
            <a:endParaRPr lang="zh-CN" altLang="en-US"/>
          </a:p>
        </p:txBody>
      </p:sp>
      <p:sp>
        <p:nvSpPr>
          <p:cNvPr id="281623" name="Rectangle 23"/>
          <p:cNvSpPr>
            <a:spLocks noChangeArrowheads="1"/>
          </p:cNvSpPr>
          <p:nvPr/>
        </p:nvSpPr>
        <p:spPr bwMode="auto">
          <a:xfrm>
            <a:off x="6518275" y="2825750"/>
            <a:ext cx="420688" cy="512763"/>
          </a:xfrm>
          <a:prstGeom prst="rect">
            <a:avLst/>
          </a:prstGeom>
          <a:noFill/>
          <a:ln w="9525">
            <a:noFill/>
            <a:miter lim="800000"/>
            <a:headEnd/>
            <a:tailEnd/>
          </a:ln>
        </p:spPr>
        <p:txBody>
          <a:bodyPr wrap="none">
            <a:spAutoFit/>
          </a:bodyPr>
          <a:lstStyle/>
          <a:p>
            <a:pPr>
              <a:lnSpc>
                <a:spcPct val="115000"/>
              </a:lnSpc>
            </a:pPr>
            <a:r>
              <a:rPr kumimoji="1" lang="en-US" altLang="zh-CN" sz="2400" b="1" i="1">
                <a:solidFill>
                  <a:srgbClr val="0000CC"/>
                </a:solidFill>
                <a:latin typeface="Times New Roman" pitchFamily="18" charset="0"/>
              </a:rPr>
              <a:t>v</a:t>
            </a:r>
            <a:r>
              <a:rPr kumimoji="1" lang="en-US" altLang="zh-CN" sz="2400" b="1" baseline="-25000">
                <a:solidFill>
                  <a:srgbClr val="0000CC"/>
                </a:solidFill>
                <a:latin typeface="Times New Roman" pitchFamily="18" charset="0"/>
              </a:rPr>
              <a:t>1</a:t>
            </a:r>
          </a:p>
        </p:txBody>
      </p:sp>
      <p:sp>
        <p:nvSpPr>
          <p:cNvPr id="281624" name="Rectangle 24"/>
          <p:cNvSpPr>
            <a:spLocks noChangeArrowheads="1"/>
          </p:cNvSpPr>
          <p:nvPr/>
        </p:nvSpPr>
        <p:spPr bwMode="auto">
          <a:xfrm>
            <a:off x="7265988" y="2809875"/>
            <a:ext cx="1266825" cy="512763"/>
          </a:xfrm>
          <a:prstGeom prst="rect">
            <a:avLst/>
          </a:prstGeom>
          <a:noFill/>
          <a:ln w="9525">
            <a:noFill/>
            <a:miter lim="800000"/>
            <a:headEnd/>
            <a:tailEnd/>
          </a:ln>
        </p:spPr>
        <p:txBody>
          <a:bodyPr>
            <a:spAutoFit/>
          </a:bodyPr>
          <a:lstStyle/>
          <a:p>
            <a:pPr>
              <a:lnSpc>
                <a:spcPct val="115000"/>
              </a:lnSpc>
            </a:pPr>
            <a:r>
              <a:rPr kumimoji="1" lang="en-US" altLang="zh-CN" sz="2400" b="1" i="1">
                <a:solidFill>
                  <a:srgbClr val="0000CC"/>
                </a:solidFill>
                <a:latin typeface="Times New Roman" pitchFamily="18" charset="0"/>
              </a:rPr>
              <a:t>v</a:t>
            </a:r>
            <a:r>
              <a:rPr kumimoji="1" lang="en-US" altLang="zh-CN" sz="2400" b="1" baseline="-25000">
                <a:solidFill>
                  <a:srgbClr val="0000CC"/>
                </a:solidFill>
                <a:latin typeface="Times New Roman" pitchFamily="18" charset="0"/>
              </a:rPr>
              <a:t>2</a:t>
            </a:r>
          </a:p>
        </p:txBody>
      </p:sp>
      <p:sp>
        <p:nvSpPr>
          <p:cNvPr id="281625" name="Freeform 25"/>
          <p:cNvSpPr>
            <a:spLocks/>
          </p:cNvSpPr>
          <p:nvPr/>
        </p:nvSpPr>
        <p:spPr bwMode="auto">
          <a:xfrm>
            <a:off x="6710363" y="1193800"/>
            <a:ext cx="744537" cy="1073150"/>
          </a:xfrm>
          <a:custGeom>
            <a:avLst/>
            <a:gdLst>
              <a:gd name="T0" fmla="*/ 0 w 469"/>
              <a:gd name="T1" fmla="*/ 2147483647 h 676"/>
              <a:gd name="T2" fmla="*/ 2147483647 w 469"/>
              <a:gd name="T3" fmla="*/ 2147483647 h 676"/>
              <a:gd name="T4" fmla="*/ 2147483647 w 469"/>
              <a:gd name="T5" fmla="*/ 2147483647 h 676"/>
              <a:gd name="T6" fmla="*/ 2147483647 w 469"/>
              <a:gd name="T7" fmla="*/ 2147483647 h 676"/>
              <a:gd name="T8" fmla="*/ 2147483647 w 469"/>
              <a:gd name="T9" fmla="*/ 2147483647 h 676"/>
              <a:gd name="T10" fmla="*/ 2147483647 w 469"/>
              <a:gd name="T11" fmla="*/ 2147483647 h 676"/>
              <a:gd name="T12" fmla="*/ 2147483647 w 469"/>
              <a:gd name="T13" fmla="*/ 0 h 676"/>
              <a:gd name="T14" fmla="*/ 0 w 469"/>
              <a:gd name="T15" fmla="*/ 2147483647 h 676"/>
              <a:gd name="T16" fmla="*/ 0 60000 65536"/>
              <a:gd name="T17" fmla="*/ 0 60000 65536"/>
              <a:gd name="T18" fmla="*/ 0 60000 65536"/>
              <a:gd name="T19" fmla="*/ 0 60000 65536"/>
              <a:gd name="T20" fmla="*/ 0 60000 65536"/>
              <a:gd name="T21" fmla="*/ 0 60000 65536"/>
              <a:gd name="T22" fmla="*/ 0 60000 65536"/>
              <a:gd name="T23" fmla="*/ 0 60000 65536"/>
              <a:gd name="T24" fmla="*/ 0 w 469"/>
              <a:gd name="T25" fmla="*/ 0 h 676"/>
              <a:gd name="T26" fmla="*/ 469 w 469"/>
              <a:gd name="T27" fmla="*/ 676 h 6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9" h="676">
                <a:moveTo>
                  <a:pt x="0" y="4"/>
                </a:moveTo>
                <a:lnTo>
                  <a:pt x="72" y="88"/>
                </a:lnTo>
                <a:lnTo>
                  <a:pt x="156" y="208"/>
                </a:lnTo>
                <a:lnTo>
                  <a:pt x="258" y="394"/>
                </a:lnTo>
                <a:lnTo>
                  <a:pt x="390" y="580"/>
                </a:lnTo>
                <a:lnTo>
                  <a:pt x="456" y="676"/>
                </a:lnTo>
                <a:lnTo>
                  <a:pt x="469" y="0"/>
                </a:lnTo>
                <a:lnTo>
                  <a:pt x="0" y="4"/>
                </a:lnTo>
                <a:close/>
              </a:path>
            </a:pathLst>
          </a:custGeom>
          <a:solidFill>
            <a:srgbClr val="FFFFFF"/>
          </a:solidFill>
          <a:ln w="9525">
            <a:noFill/>
            <a:round/>
            <a:headEnd/>
            <a:tailEnd/>
          </a:ln>
        </p:spPr>
        <p:txBody>
          <a:bodyPr/>
          <a:lstStyle/>
          <a:p>
            <a:pPr algn="ctr"/>
            <a:endParaRPr lang="zh-CN" altLang="en-US"/>
          </a:p>
        </p:txBody>
      </p:sp>
      <p:sp>
        <p:nvSpPr>
          <p:cNvPr id="281626" name="Rectangle 26"/>
          <p:cNvSpPr>
            <a:spLocks noChangeArrowheads="1"/>
          </p:cNvSpPr>
          <p:nvPr/>
        </p:nvSpPr>
        <p:spPr bwMode="auto">
          <a:xfrm>
            <a:off x="6446838" y="549275"/>
            <a:ext cx="369887" cy="512763"/>
          </a:xfrm>
          <a:prstGeom prst="rect">
            <a:avLst/>
          </a:prstGeom>
          <a:noFill/>
          <a:ln w="9525">
            <a:noFill/>
            <a:miter lim="800000"/>
            <a:headEnd/>
            <a:tailEnd/>
          </a:ln>
        </p:spPr>
        <p:txBody>
          <a:bodyPr wrap="none" anchor="ctr">
            <a:spAutoFit/>
          </a:bodyPr>
          <a:lstStyle/>
          <a:p>
            <a:pPr>
              <a:lnSpc>
                <a:spcPct val="115000"/>
              </a:lnSpc>
            </a:pPr>
            <a:r>
              <a:rPr lang="en-US" altLang="zh-CN" sz="2400" b="1" i="1">
                <a:solidFill>
                  <a:srgbClr val="FF3300"/>
                </a:solidFill>
                <a:latin typeface="Times New Roman" pitchFamily="18" charset="0"/>
              </a:rPr>
              <a:t>T</a:t>
            </a:r>
          </a:p>
        </p:txBody>
      </p:sp>
      <p:sp>
        <p:nvSpPr>
          <p:cNvPr id="281627" name="Freeform 27"/>
          <p:cNvSpPr>
            <a:spLocks/>
          </p:cNvSpPr>
          <p:nvPr/>
        </p:nvSpPr>
        <p:spPr bwMode="auto">
          <a:xfrm>
            <a:off x="5124450" y="1000125"/>
            <a:ext cx="3544888" cy="1970088"/>
          </a:xfrm>
          <a:custGeom>
            <a:avLst/>
            <a:gdLst>
              <a:gd name="T0" fmla="*/ 0 w 2233"/>
              <a:gd name="T1" fmla="*/ 2147483647 h 1241"/>
              <a:gd name="T2" fmla="*/ 2147483647 w 2233"/>
              <a:gd name="T3" fmla="*/ 2147483647 h 1241"/>
              <a:gd name="T4" fmla="*/ 2147483647 w 2233"/>
              <a:gd name="T5" fmla="*/ 2147483647 h 1241"/>
              <a:gd name="T6" fmla="*/ 2147483647 w 2233"/>
              <a:gd name="T7" fmla="*/ 2147483647 h 1241"/>
              <a:gd name="T8" fmla="*/ 2147483647 w 2233"/>
              <a:gd name="T9" fmla="*/ 2147483647 h 1241"/>
              <a:gd name="T10" fmla="*/ 2147483647 w 2233"/>
              <a:gd name="T11" fmla="*/ 2147483647 h 1241"/>
              <a:gd name="T12" fmla="*/ 2147483647 w 2233"/>
              <a:gd name="T13" fmla="*/ 2147483647 h 1241"/>
              <a:gd name="T14" fmla="*/ 2147483647 w 2233"/>
              <a:gd name="T15" fmla="*/ 2147483647 h 1241"/>
              <a:gd name="T16" fmla="*/ 2147483647 w 2233"/>
              <a:gd name="T17" fmla="*/ 2147483647 h 1241"/>
              <a:gd name="T18" fmla="*/ 2147483647 w 2233"/>
              <a:gd name="T19" fmla="*/ 2147483647 h 1241"/>
              <a:gd name="T20" fmla="*/ 2147483647 w 2233"/>
              <a:gd name="T21" fmla="*/ 2147483647 h 1241"/>
              <a:gd name="T22" fmla="*/ 2147483647 w 2233"/>
              <a:gd name="T23" fmla="*/ 2147483647 h 1241"/>
              <a:gd name="T24" fmla="*/ 2147483647 w 2233"/>
              <a:gd name="T25" fmla="*/ 2147483647 h 1241"/>
              <a:gd name="T26" fmla="*/ 2147483647 w 2233"/>
              <a:gd name="T27" fmla="*/ 2147483647 h 1241"/>
              <a:gd name="T28" fmla="*/ 2147483647 w 2233"/>
              <a:gd name="T29" fmla="*/ 2147483647 h 1241"/>
              <a:gd name="T30" fmla="*/ 2147483647 w 2233"/>
              <a:gd name="T31" fmla="*/ 2147483647 h 1241"/>
              <a:gd name="T32" fmla="*/ 2147483647 w 2233"/>
              <a:gd name="T33" fmla="*/ 2147483647 h 1241"/>
              <a:gd name="T34" fmla="*/ 2147483647 w 2233"/>
              <a:gd name="T35" fmla="*/ 2147483647 h 1241"/>
              <a:gd name="T36" fmla="*/ 2147483647 w 2233"/>
              <a:gd name="T37" fmla="*/ 2147483647 h 1241"/>
              <a:gd name="T38" fmla="*/ 2147483647 w 2233"/>
              <a:gd name="T39" fmla="*/ 2147483647 h 1241"/>
              <a:gd name="T40" fmla="*/ 2147483647 w 2233"/>
              <a:gd name="T41" fmla="*/ 2147483647 h 1241"/>
              <a:gd name="T42" fmla="*/ 2147483647 w 2233"/>
              <a:gd name="T43" fmla="*/ 2147483647 h 1241"/>
              <a:gd name="T44" fmla="*/ 2147483647 w 2233"/>
              <a:gd name="T45" fmla="*/ 2147483647 h 12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33"/>
              <a:gd name="T70" fmla="*/ 0 h 1241"/>
              <a:gd name="T71" fmla="*/ 2233 w 2233"/>
              <a:gd name="T72" fmla="*/ 1241 h 12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33" h="1241">
                <a:moveTo>
                  <a:pt x="0" y="1241"/>
                </a:moveTo>
                <a:cubicBezTo>
                  <a:pt x="28" y="1233"/>
                  <a:pt x="57" y="1226"/>
                  <a:pt x="85" y="1212"/>
                </a:cubicBezTo>
                <a:cubicBezTo>
                  <a:pt x="113" y="1198"/>
                  <a:pt x="136" y="1185"/>
                  <a:pt x="170" y="1155"/>
                </a:cubicBezTo>
                <a:cubicBezTo>
                  <a:pt x="204" y="1125"/>
                  <a:pt x="257" y="1074"/>
                  <a:pt x="289" y="1034"/>
                </a:cubicBezTo>
                <a:cubicBezTo>
                  <a:pt x="321" y="994"/>
                  <a:pt x="335" y="962"/>
                  <a:pt x="361" y="914"/>
                </a:cubicBezTo>
                <a:cubicBezTo>
                  <a:pt x="387" y="866"/>
                  <a:pt x="423" y="798"/>
                  <a:pt x="445" y="746"/>
                </a:cubicBezTo>
                <a:cubicBezTo>
                  <a:pt x="467" y="694"/>
                  <a:pt x="477" y="650"/>
                  <a:pt x="493" y="602"/>
                </a:cubicBezTo>
                <a:cubicBezTo>
                  <a:pt x="509" y="554"/>
                  <a:pt x="524" y="507"/>
                  <a:pt x="541" y="458"/>
                </a:cubicBezTo>
                <a:cubicBezTo>
                  <a:pt x="558" y="409"/>
                  <a:pt x="572" y="359"/>
                  <a:pt x="595" y="305"/>
                </a:cubicBezTo>
                <a:cubicBezTo>
                  <a:pt x="618" y="251"/>
                  <a:pt x="645" y="183"/>
                  <a:pt x="680" y="135"/>
                </a:cubicBezTo>
                <a:cubicBezTo>
                  <a:pt x="715" y="87"/>
                  <a:pt x="760" y="28"/>
                  <a:pt x="805" y="14"/>
                </a:cubicBezTo>
                <a:cubicBezTo>
                  <a:pt x="850" y="0"/>
                  <a:pt x="908" y="20"/>
                  <a:pt x="949" y="50"/>
                </a:cubicBezTo>
                <a:cubicBezTo>
                  <a:pt x="990" y="80"/>
                  <a:pt x="1015" y="142"/>
                  <a:pt x="1049" y="192"/>
                </a:cubicBezTo>
                <a:cubicBezTo>
                  <a:pt x="1083" y="242"/>
                  <a:pt x="1120" y="298"/>
                  <a:pt x="1153" y="350"/>
                </a:cubicBezTo>
                <a:cubicBezTo>
                  <a:pt x="1186" y="402"/>
                  <a:pt x="1217" y="454"/>
                  <a:pt x="1247" y="503"/>
                </a:cubicBezTo>
                <a:cubicBezTo>
                  <a:pt x="1277" y="552"/>
                  <a:pt x="1294" y="593"/>
                  <a:pt x="1332" y="645"/>
                </a:cubicBezTo>
                <a:cubicBezTo>
                  <a:pt x="1370" y="697"/>
                  <a:pt x="1427" y="763"/>
                  <a:pt x="1474" y="815"/>
                </a:cubicBezTo>
                <a:cubicBezTo>
                  <a:pt x="1521" y="867"/>
                  <a:pt x="1574" y="919"/>
                  <a:pt x="1616" y="957"/>
                </a:cubicBezTo>
                <a:cubicBezTo>
                  <a:pt x="1658" y="995"/>
                  <a:pt x="1680" y="1013"/>
                  <a:pt x="1729" y="1042"/>
                </a:cubicBezTo>
                <a:cubicBezTo>
                  <a:pt x="1778" y="1071"/>
                  <a:pt x="1857" y="1109"/>
                  <a:pt x="1909" y="1130"/>
                </a:cubicBezTo>
                <a:cubicBezTo>
                  <a:pt x="1961" y="1151"/>
                  <a:pt x="2003" y="1158"/>
                  <a:pt x="2041" y="1166"/>
                </a:cubicBezTo>
                <a:cubicBezTo>
                  <a:pt x="2079" y="1174"/>
                  <a:pt x="2105" y="1176"/>
                  <a:pt x="2137" y="1178"/>
                </a:cubicBezTo>
                <a:cubicBezTo>
                  <a:pt x="2169" y="1180"/>
                  <a:pt x="2213" y="1178"/>
                  <a:pt x="2233" y="1178"/>
                </a:cubicBezTo>
              </a:path>
            </a:pathLst>
          </a:custGeom>
          <a:noFill/>
          <a:ln w="57150">
            <a:solidFill>
              <a:srgbClr val="009999"/>
            </a:solidFill>
            <a:round/>
            <a:headEnd/>
            <a:tailEnd/>
          </a:ln>
        </p:spPr>
        <p:txBody>
          <a:bodyPr/>
          <a:lstStyle/>
          <a:p>
            <a:pPr algn="ctr"/>
            <a:endParaRPr lang="zh-CN" altLang="en-US"/>
          </a:p>
        </p:txBody>
      </p:sp>
      <p:sp>
        <p:nvSpPr>
          <p:cNvPr id="281628" name="Rectangle 28"/>
          <p:cNvSpPr>
            <a:spLocks noChangeArrowheads="1"/>
          </p:cNvSpPr>
          <p:nvPr/>
        </p:nvSpPr>
        <p:spPr bwMode="auto">
          <a:xfrm>
            <a:off x="5991225" y="3201988"/>
            <a:ext cx="2032000" cy="446087"/>
          </a:xfrm>
          <a:prstGeom prst="rect">
            <a:avLst/>
          </a:prstGeom>
          <a:noFill/>
          <a:ln w="9525">
            <a:noFill/>
            <a:miter lim="800000"/>
            <a:headEnd/>
            <a:tailEnd/>
          </a:ln>
        </p:spPr>
        <p:txBody>
          <a:bodyPr wrap="none">
            <a:spAutoFit/>
          </a:bodyPr>
          <a:lstStyle/>
          <a:p>
            <a:pPr>
              <a:lnSpc>
                <a:spcPct val="115000"/>
              </a:lnSpc>
            </a:pPr>
            <a:r>
              <a:rPr kumimoji="1" lang="en-US" altLang="zh-CN" sz="2000" b="1">
                <a:solidFill>
                  <a:srgbClr val="0000FF"/>
                </a:solidFill>
                <a:latin typeface="Times New Roman" pitchFamily="18" charset="0"/>
              </a:rPr>
              <a:t>( </a:t>
            </a:r>
            <a:r>
              <a:rPr kumimoji="1" lang="zh-CN" altLang="en-US" sz="2000" b="1">
                <a:solidFill>
                  <a:srgbClr val="0000FF"/>
                </a:solidFill>
                <a:latin typeface="Times New Roman" pitchFamily="18" charset="0"/>
                <a:ea typeface="楷体_GB2312" pitchFamily="49" charset="-122"/>
              </a:rPr>
              <a:t>速率分布曲线 </a:t>
            </a:r>
            <a:r>
              <a:rPr kumimoji="1" lang="en-US" altLang="zh-CN" sz="2000" b="1">
                <a:solidFill>
                  <a:srgbClr val="0000FF"/>
                </a:solidFill>
                <a:latin typeface="Times New Roman" pitchFamily="18" charset="0"/>
              </a:rPr>
              <a:t>)</a:t>
            </a:r>
          </a:p>
        </p:txBody>
      </p:sp>
      <p:sp>
        <p:nvSpPr>
          <p:cNvPr id="281629" name="Rectangle 29"/>
          <p:cNvSpPr>
            <a:spLocks noChangeArrowheads="1"/>
          </p:cNvSpPr>
          <p:nvPr/>
        </p:nvSpPr>
        <p:spPr bwMode="auto">
          <a:xfrm>
            <a:off x="115888" y="4595813"/>
            <a:ext cx="6165850" cy="1366837"/>
          </a:xfrm>
          <a:prstGeom prst="rect">
            <a:avLst/>
          </a:prstGeom>
          <a:noFill/>
          <a:ln w="9525">
            <a:noFill/>
            <a:miter lim="800000"/>
            <a:headEnd/>
            <a:tailEnd/>
          </a:ln>
        </p:spPr>
        <p:txBody>
          <a:bodyPr anchor="ctr">
            <a:spAutoFit/>
          </a:bodyPr>
          <a:lstStyle/>
          <a:p>
            <a:pPr marL="357188" indent="-357188">
              <a:lnSpc>
                <a:spcPct val="115000"/>
              </a:lnSpc>
              <a:defRPr/>
            </a:pPr>
            <a:r>
              <a:rPr lang="en-US" altLang="zh-CN" sz="2400" b="1">
                <a:latin typeface="Times New Roman" pitchFamily="18" charset="0"/>
                <a:ea typeface="+mn-ea"/>
                <a:cs typeface="Times New Roman" pitchFamily="18" charset="0"/>
              </a:rPr>
              <a:t>(7) </a:t>
            </a:r>
            <a:r>
              <a:rPr lang="zh-CN" altLang="en-US" sz="2400" b="1">
                <a:latin typeface="Times New Roman" pitchFamily="18" charset="0"/>
                <a:ea typeface="+mn-ea"/>
                <a:cs typeface="Times New Roman" pitchFamily="18" charset="0"/>
              </a:rPr>
              <a:t>曲线下面的总面积，等于分布在整个速率</a:t>
            </a:r>
          </a:p>
          <a:p>
            <a:pPr marL="357188" indent="-357188">
              <a:lnSpc>
                <a:spcPct val="115000"/>
              </a:lnSpc>
              <a:defRPr/>
            </a:pPr>
            <a:r>
              <a:rPr lang="zh-CN" altLang="en-US" sz="2400" b="1">
                <a:latin typeface="Times New Roman" pitchFamily="18" charset="0"/>
                <a:ea typeface="+mn-ea"/>
                <a:cs typeface="Times New Roman" pitchFamily="18" charset="0"/>
              </a:rPr>
              <a:t>范围内所有各个速率间隔中的分子数占总分</a:t>
            </a:r>
          </a:p>
          <a:p>
            <a:pPr marL="357188" indent="-357188">
              <a:lnSpc>
                <a:spcPct val="115000"/>
              </a:lnSpc>
              <a:defRPr/>
            </a:pPr>
            <a:r>
              <a:rPr lang="zh-CN" altLang="en-US" sz="2400" b="1">
                <a:latin typeface="Times New Roman" pitchFamily="18" charset="0"/>
                <a:ea typeface="+mn-ea"/>
                <a:cs typeface="Times New Roman" pitchFamily="18" charset="0"/>
              </a:rPr>
              <a:t>子数的比率的总和 </a:t>
            </a:r>
          </a:p>
        </p:txBody>
      </p:sp>
      <p:graphicFrame>
        <p:nvGraphicFramePr>
          <p:cNvPr id="281630" name="Object 30"/>
          <p:cNvGraphicFramePr>
            <a:graphicFrameLocks noChangeAspect="1"/>
          </p:cNvGraphicFramePr>
          <p:nvPr/>
        </p:nvGraphicFramePr>
        <p:xfrm>
          <a:off x="1150938" y="5859463"/>
          <a:ext cx="1622425" cy="593725"/>
        </p:xfrm>
        <a:graphic>
          <a:graphicData uri="http://schemas.openxmlformats.org/presentationml/2006/ole">
            <p:oleObj spid="_x0000_s40965" name="公式" r:id="rId6" imgW="914400" imgH="330120" progId="Equation.3">
              <p:embed/>
            </p:oleObj>
          </a:graphicData>
        </a:graphic>
      </p:graphicFrame>
      <p:sp>
        <p:nvSpPr>
          <p:cNvPr id="281631" name="Text Box 31"/>
          <p:cNvSpPr txBox="1">
            <a:spLocks noChangeArrowheads="1"/>
          </p:cNvSpPr>
          <p:nvPr/>
        </p:nvSpPr>
        <p:spPr bwMode="auto">
          <a:xfrm>
            <a:off x="2941638" y="5884863"/>
            <a:ext cx="2305050" cy="512762"/>
          </a:xfrm>
          <a:prstGeom prst="rect">
            <a:avLst/>
          </a:prstGeom>
          <a:noFill/>
          <a:ln w="9525">
            <a:noFill/>
            <a:miter lim="800000"/>
            <a:headEnd/>
            <a:tailEnd/>
          </a:ln>
        </p:spPr>
        <p:txBody>
          <a:bodyPr>
            <a:spAutoFit/>
          </a:bodyPr>
          <a:lstStyle/>
          <a:p>
            <a:pPr>
              <a:lnSpc>
                <a:spcPct val="115000"/>
              </a:lnSpc>
            </a:pPr>
            <a:r>
              <a:rPr kumimoji="1" lang="en-US" altLang="zh-CN" sz="2400" b="1">
                <a:solidFill>
                  <a:srgbClr val="FF0000"/>
                </a:solidFill>
                <a:latin typeface="楷体_GB2312" pitchFamily="49" charset="-122"/>
                <a:ea typeface="楷体_GB2312" pitchFamily="49" charset="-122"/>
              </a:rPr>
              <a:t>(</a:t>
            </a:r>
            <a:r>
              <a:rPr kumimoji="1" lang="zh-CN" altLang="en-US" sz="2000" b="1">
                <a:solidFill>
                  <a:srgbClr val="FF0000"/>
                </a:solidFill>
                <a:latin typeface="楷体_GB2312" pitchFamily="49" charset="-122"/>
                <a:ea typeface="楷体_GB2312" pitchFamily="49" charset="-122"/>
              </a:rPr>
              <a:t>归一化条件</a:t>
            </a:r>
            <a:r>
              <a:rPr kumimoji="1" lang="en-US" altLang="zh-CN" sz="2400" b="1">
                <a:solidFill>
                  <a:srgbClr val="FF0000"/>
                </a:solidFill>
                <a:latin typeface="楷体_GB2312" pitchFamily="49" charset="-122"/>
                <a:ea typeface="楷体_GB2312" pitchFamily="49" charset="-122"/>
              </a:rPr>
              <a:t>)</a:t>
            </a:r>
          </a:p>
        </p:txBody>
      </p:sp>
      <p:sp>
        <p:nvSpPr>
          <p:cNvPr id="281632" name="Rectangle 32"/>
          <p:cNvSpPr>
            <a:spLocks noChangeArrowheads="1"/>
          </p:cNvSpPr>
          <p:nvPr/>
        </p:nvSpPr>
        <p:spPr bwMode="auto">
          <a:xfrm>
            <a:off x="7319963" y="4508500"/>
            <a:ext cx="369887" cy="512763"/>
          </a:xfrm>
          <a:prstGeom prst="rect">
            <a:avLst/>
          </a:prstGeom>
          <a:noFill/>
          <a:ln w="9525">
            <a:noFill/>
            <a:miter lim="800000"/>
            <a:headEnd/>
            <a:tailEnd/>
          </a:ln>
        </p:spPr>
        <p:txBody>
          <a:bodyPr wrap="none" anchor="ctr">
            <a:spAutoFit/>
          </a:bodyPr>
          <a:lstStyle/>
          <a:p>
            <a:pPr>
              <a:lnSpc>
                <a:spcPct val="115000"/>
              </a:lnSpc>
            </a:pPr>
            <a:r>
              <a:rPr lang="en-US" altLang="zh-CN" sz="2400" b="1" i="1">
                <a:solidFill>
                  <a:srgbClr val="FF3300"/>
                </a:solidFill>
                <a:latin typeface="Times New Roman" pitchFamily="18" charset="0"/>
              </a:rPr>
              <a:t>T</a:t>
            </a:r>
          </a:p>
        </p:txBody>
      </p:sp>
      <p:sp>
        <p:nvSpPr>
          <p:cNvPr id="281633" name="Freeform 33"/>
          <p:cNvSpPr>
            <a:spLocks/>
          </p:cNvSpPr>
          <p:nvPr/>
        </p:nvSpPr>
        <p:spPr bwMode="auto">
          <a:xfrm>
            <a:off x="6643688" y="4949825"/>
            <a:ext cx="1928812" cy="1073150"/>
          </a:xfrm>
          <a:custGeom>
            <a:avLst/>
            <a:gdLst>
              <a:gd name="T0" fmla="*/ 0 w 2233"/>
              <a:gd name="T1" fmla="*/ 2147483647 h 1241"/>
              <a:gd name="T2" fmla="*/ 2147483647 w 2233"/>
              <a:gd name="T3" fmla="*/ 2147483647 h 1241"/>
              <a:gd name="T4" fmla="*/ 2147483647 w 2233"/>
              <a:gd name="T5" fmla="*/ 2147483647 h 1241"/>
              <a:gd name="T6" fmla="*/ 2147483647 w 2233"/>
              <a:gd name="T7" fmla="*/ 2147483647 h 1241"/>
              <a:gd name="T8" fmla="*/ 2147483647 w 2233"/>
              <a:gd name="T9" fmla="*/ 2147483647 h 1241"/>
              <a:gd name="T10" fmla="*/ 2147483647 w 2233"/>
              <a:gd name="T11" fmla="*/ 2147483647 h 1241"/>
              <a:gd name="T12" fmla="*/ 2147483647 w 2233"/>
              <a:gd name="T13" fmla="*/ 2147483647 h 1241"/>
              <a:gd name="T14" fmla="*/ 2147483647 w 2233"/>
              <a:gd name="T15" fmla="*/ 2147483647 h 1241"/>
              <a:gd name="T16" fmla="*/ 2147483647 w 2233"/>
              <a:gd name="T17" fmla="*/ 2147483647 h 1241"/>
              <a:gd name="T18" fmla="*/ 2147483647 w 2233"/>
              <a:gd name="T19" fmla="*/ 2147483647 h 1241"/>
              <a:gd name="T20" fmla="*/ 2147483647 w 2233"/>
              <a:gd name="T21" fmla="*/ 2147483647 h 1241"/>
              <a:gd name="T22" fmla="*/ 2147483647 w 2233"/>
              <a:gd name="T23" fmla="*/ 2147483647 h 1241"/>
              <a:gd name="T24" fmla="*/ 2147483647 w 2233"/>
              <a:gd name="T25" fmla="*/ 2147483647 h 1241"/>
              <a:gd name="T26" fmla="*/ 2147483647 w 2233"/>
              <a:gd name="T27" fmla="*/ 2147483647 h 1241"/>
              <a:gd name="T28" fmla="*/ 2147483647 w 2233"/>
              <a:gd name="T29" fmla="*/ 2147483647 h 1241"/>
              <a:gd name="T30" fmla="*/ 2147483647 w 2233"/>
              <a:gd name="T31" fmla="*/ 2147483647 h 1241"/>
              <a:gd name="T32" fmla="*/ 2147483647 w 2233"/>
              <a:gd name="T33" fmla="*/ 2147483647 h 1241"/>
              <a:gd name="T34" fmla="*/ 2147483647 w 2233"/>
              <a:gd name="T35" fmla="*/ 2147483647 h 1241"/>
              <a:gd name="T36" fmla="*/ 2147483647 w 2233"/>
              <a:gd name="T37" fmla="*/ 2147483647 h 1241"/>
              <a:gd name="T38" fmla="*/ 2147483647 w 2233"/>
              <a:gd name="T39" fmla="*/ 2147483647 h 1241"/>
              <a:gd name="T40" fmla="*/ 2147483647 w 2233"/>
              <a:gd name="T41" fmla="*/ 2147483647 h 1241"/>
              <a:gd name="T42" fmla="*/ 2147483647 w 2233"/>
              <a:gd name="T43" fmla="*/ 2147483647 h 1241"/>
              <a:gd name="T44" fmla="*/ 2147483647 w 2233"/>
              <a:gd name="T45" fmla="*/ 2147483647 h 12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33"/>
              <a:gd name="T70" fmla="*/ 0 h 1241"/>
              <a:gd name="T71" fmla="*/ 2233 w 2233"/>
              <a:gd name="T72" fmla="*/ 1241 h 12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33" h="1241">
                <a:moveTo>
                  <a:pt x="0" y="1241"/>
                </a:moveTo>
                <a:cubicBezTo>
                  <a:pt x="28" y="1233"/>
                  <a:pt x="57" y="1226"/>
                  <a:pt x="85" y="1212"/>
                </a:cubicBezTo>
                <a:cubicBezTo>
                  <a:pt x="113" y="1198"/>
                  <a:pt x="136" y="1185"/>
                  <a:pt x="170" y="1155"/>
                </a:cubicBezTo>
                <a:cubicBezTo>
                  <a:pt x="204" y="1125"/>
                  <a:pt x="257" y="1074"/>
                  <a:pt x="289" y="1034"/>
                </a:cubicBezTo>
                <a:cubicBezTo>
                  <a:pt x="321" y="994"/>
                  <a:pt x="335" y="962"/>
                  <a:pt x="361" y="914"/>
                </a:cubicBezTo>
                <a:cubicBezTo>
                  <a:pt x="387" y="866"/>
                  <a:pt x="423" y="798"/>
                  <a:pt x="445" y="746"/>
                </a:cubicBezTo>
                <a:cubicBezTo>
                  <a:pt x="467" y="694"/>
                  <a:pt x="477" y="650"/>
                  <a:pt x="493" y="602"/>
                </a:cubicBezTo>
                <a:cubicBezTo>
                  <a:pt x="509" y="554"/>
                  <a:pt x="524" y="507"/>
                  <a:pt x="541" y="458"/>
                </a:cubicBezTo>
                <a:cubicBezTo>
                  <a:pt x="558" y="409"/>
                  <a:pt x="572" y="359"/>
                  <a:pt x="595" y="305"/>
                </a:cubicBezTo>
                <a:cubicBezTo>
                  <a:pt x="618" y="251"/>
                  <a:pt x="645" y="183"/>
                  <a:pt x="680" y="135"/>
                </a:cubicBezTo>
                <a:cubicBezTo>
                  <a:pt x="715" y="87"/>
                  <a:pt x="760" y="28"/>
                  <a:pt x="805" y="14"/>
                </a:cubicBezTo>
                <a:cubicBezTo>
                  <a:pt x="850" y="0"/>
                  <a:pt x="908" y="20"/>
                  <a:pt x="949" y="50"/>
                </a:cubicBezTo>
                <a:cubicBezTo>
                  <a:pt x="990" y="80"/>
                  <a:pt x="1015" y="142"/>
                  <a:pt x="1049" y="192"/>
                </a:cubicBezTo>
                <a:cubicBezTo>
                  <a:pt x="1083" y="242"/>
                  <a:pt x="1120" y="298"/>
                  <a:pt x="1153" y="350"/>
                </a:cubicBezTo>
                <a:cubicBezTo>
                  <a:pt x="1186" y="402"/>
                  <a:pt x="1217" y="454"/>
                  <a:pt x="1247" y="503"/>
                </a:cubicBezTo>
                <a:cubicBezTo>
                  <a:pt x="1277" y="552"/>
                  <a:pt x="1294" y="593"/>
                  <a:pt x="1332" y="645"/>
                </a:cubicBezTo>
                <a:cubicBezTo>
                  <a:pt x="1370" y="697"/>
                  <a:pt x="1427" y="763"/>
                  <a:pt x="1474" y="815"/>
                </a:cubicBezTo>
                <a:cubicBezTo>
                  <a:pt x="1521" y="867"/>
                  <a:pt x="1574" y="919"/>
                  <a:pt x="1616" y="957"/>
                </a:cubicBezTo>
                <a:cubicBezTo>
                  <a:pt x="1658" y="995"/>
                  <a:pt x="1680" y="1013"/>
                  <a:pt x="1729" y="1042"/>
                </a:cubicBezTo>
                <a:cubicBezTo>
                  <a:pt x="1778" y="1071"/>
                  <a:pt x="1857" y="1109"/>
                  <a:pt x="1909" y="1130"/>
                </a:cubicBezTo>
                <a:cubicBezTo>
                  <a:pt x="1961" y="1151"/>
                  <a:pt x="2003" y="1158"/>
                  <a:pt x="2041" y="1166"/>
                </a:cubicBezTo>
                <a:cubicBezTo>
                  <a:pt x="2079" y="1174"/>
                  <a:pt x="2105" y="1176"/>
                  <a:pt x="2137" y="1178"/>
                </a:cubicBezTo>
                <a:cubicBezTo>
                  <a:pt x="2169" y="1180"/>
                  <a:pt x="2213" y="1178"/>
                  <a:pt x="2233" y="1178"/>
                </a:cubicBezTo>
              </a:path>
            </a:pathLst>
          </a:custGeom>
          <a:noFill/>
          <a:ln w="38100">
            <a:solidFill>
              <a:srgbClr val="009999"/>
            </a:solidFill>
            <a:round/>
            <a:headEnd/>
            <a:tailEnd/>
          </a:ln>
        </p:spPr>
        <p:txBody>
          <a:bodyPr/>
          <a:lstStyle/>
          <a:p>
            <a:pPr algn="ctr"/>
            <a:endParaRPr lang="zh-CN" altLang="en-US"/>
          </a:p>
        </p:txBody>
      </p:sp>
      <p:grpSp>
        <p:nvGrpSpPr>
          <p:cNvPr id="4" name="Group 34"/>
          <p:cNvGrpSpPr>
            <a:grpSpLocks/>
          </p:cNvGrpSpPr>
          <p:nvPr/>
        </p:nvGrpSpPr>
        <p:grpSpPr bwMode="auto">
          <a:xfrm>
            <a:off x="6384925" y="4437063"/>
            <a:ext cx="2581275" cy="2012950"/>
            <a:chOff x="4043" y="2812"/>
            <a:chExt cx="1626" cy="1268"/>
          </a:xfrm>
        </p:grpSpPr>
        <p:sp>
          <p:nvSpPr>
            <p:cNvPr id="40990" name="Line 35"/>
            <p:cNvSpPr>
              <a:spLocks noChangeShapeType="1"/>
            </p:cNvSpPr>
            <p:nvPr/>
          </p:nvSpPr>
          <p:spPr bwMode="auto">
            <a:xfrm>
              <a:off x="4225" y="3801"/>
              <a:ext cx="1309" cy="0"/>
            </a:xfrm>
            <a:prstGeom prst="line">
              <a:avLst/>
            </a:prstGeom>
            <a:noFill/>
            <a:ln w="38100">
              <a:solidFill>
                <a:schemeClr val="tx1"/>
              </a:solidFill>
              <a:round/>
              <a:headEnd/>
              <a:tailEnd type="stealth" w="med" len="lg"/>
            </a:ln>
          </p:spPr>
          <p:txBody>
            <a:bodyPr/>
            <a:lstStyle/>
            <a:p>
              <a:endParaRPr lang="zh-CN" altLang="en-US"/>
            </a:p>
          </p:txBody>
        </p:sp>
        <p:grpSp>
          <p:nvGrpSpPr>
            <p:cNvPr id="40991" name="Group 36"/>
            <p:cNvGrpSpPr>
              <a:grpSpLocks/>
            </p:cNvGrpSpPr>
            <p:nvPr/>
          </p:nvGrpSpPr>
          <p:grpSpPr bwMode="auto">
            <a:xfrm>
              <a:off x="4043" y="2812"/>
              <a:ext cx="1626" cy="1268"/>
              <a:chOff x="2880" y="148"/>
              <a:chExt cx="1626" cy="1268"/>
            </a:xfrm>
          </p:grpSpPr>
          <p:sp>
            <p:nvSpPr>
              <p:cNvPr id="40992" name="Line 37"/>
              <p:cNvSpPr>
                <a:spLocks noChangeShapeType="1"/>
              </p:cNvSpPr>
              <p:nvPr/>
            </p:nvSpPr>
            <p:spPr bwMode="auto">
              <a:xfrm>
                <a:off x="3081" y="312"/>
                <a:ext cx="0" cy="828"/>
              </a:xfrm>
              <a:prstGeom prst="line">
                <a:avLst/>
              </a:prstGeom>
              <a:noFill/>
              <a:ln w="38100">
                <a:solidFill>
                  <a:schemeClr val="tx1"/>
                </a:solidFill>
                <a:round/>
                <a:headEnd type="stealth" w="med" len="lg"/>
                <a:tailEnd/>
              </a:ln>
            </p:spPr>
            <p:txBody>
              <a:bodyPr/>
              <a:lstStyle/>
              <a:p>
                <a:endParaRPr lang="zh-CN" altLang="en-US"/>
              </a:p>
            </p:txBody>
          </p:sp>
          <p:sp>
            <p:nvSpPr>
              <p:cNvPr id="40993" name="Text Box 38"/>
              <p:cNvSpPr txBox="1">
                <a:spLocks noChangeArrowheads="1"/>
              </p:cNvSpPr>
              <p:nvPr/>
            </p:nvSpPr>
            <p:spPr bwMode="auto">
              <a:xfrm>
                <a:off x="3106" y="148"/>
                <a:ext cx="396" cy="326"/>
              </a:xfrm>
              <a:prstGeom prst="rect">
                <a:avLst/>
              </a:prstGeom>
              <a:noFill/>
              <a:ln w="38100">
                <a:noFill/>
                <a:miter lim="800000"/>
                <a:headEnd/>
                <a:tailEnd/>
              </a:ln>
            </p:spPr>
            <p:txBody>
              <a:bodyPr wrap="none">
                <a:spAutoFit/>
              </a:bodyPr>
              <a:lstStyle/>
              <a:p>
                <a:pPr>
                  <a:lnSpc>
                    <a:spcPct val="115000"/>
                  </a:lnSpc>
                </a:pPr>
                <a:r>
                  <a:rPr lang="en-US" altLang="zh-CN" sz="2400" b="1" i="1">
                    <a:solidFill>
                      <a:srgbClr val="0000FF"/>
                    </a:solidFill>
                    <a:latin typeface="Times New Roman" pitchFamily="18" charset="0"/>
                  </a:rPr>
                  <a:t>f</a:t>
                </a:r>
                <a:r>
                  <a:rPr lang="en-US" altLang="zh-CN" sz="2400" b="1">
                    <a:solidFill>
                      <a:srgbClr val="0000FF"/>
                    </a:solidFill>
                    <a:latin typeface="Times New Roman" pitchFamily="18" charset="0"/>
                  </a:rPr>
                  <a:t>(</a:t>
                </a:r>
                <a:r>
                  <a:rPr lang="en-US" altLang="zh-CN" sz="2400" b="1" i="1">
                    <a:solidFill>
                      <a:srgbClr val="0000FF"/>
                    </a:solidFill>
                    <a:latin typeface="Times New Roman" pitchFamily="18" charset="0"/>
                  </a:rPr>
                  <a:t>v)</a:t>
                </a:r>
              </a:p>
            </p:txBody>
          </p:sp>
          <p:sp>
            <p:nvSpPr>
              <p:cNvPr id="40994" name="Rectangle 39"/>
              <p:cNvSpPr>
                <a:spLocks noChangeArrowheads="1"/>
              </p:cNvSpPr>
              <p:nvPr/>
            </p:nvSpPr>
            <p:spPr bwMode="auto">
              <a:xfrm>
                <a:off x="3078" y="1175"/>
                <a:ext cx="1164" cy="241"/>
              </a:xfrm>
              <a:prstGeom prst="rect">
                <a:avLst/>
              </a:prstGeom>
              <a:noFill/>
              <a:ln w="9525">
                <a:noFill/>
                <a:miter lim="800000"/>
                <a:headEnd/>
                <a:tailEnd/>
              </a:ln>
            </p:spPr>
            <p:txBody>
              <a:bodyPr wrap="none">
                <a:spAutoFit/>
              </a:bodyPr>
              <a:lstStyle/>
              <a:p>
                <a:pPr>
                  <a:lnSpc>
                    <a:spcPct val="115000"/>
                  </a:lnSpc>
                </a:pPr>
                <a:r>
                  <a:rPr kumimoji="1" lang="en-US" altLang="zh-CN" b="1">
                    <a:solidFill>
                      <a:srgbClr val="0000FF"/>
                    </a:solidFill>
                    <a:latin typeface="Times New Roman" pitchFamily="18" charset="0"/>
                  </a:rPr>
                  <a:t>( </a:t>
                </a:r>
                <a:r>
                  <a:rPr kumimoji="1" lang="zh-CN" altLang="en-US" b="1">
                    <a:solidFill>
                      <a:srgbClr val="0000FF"/>
                    </a:solidFill>
                    <a:latin typeface="Times New Roman" pitchFamily="18" charset="0"/>
                    <a:ea typeface="楷体_GB2312" pitchFamily="49" charset="-122"/>
                  </a:rPr>
                  <a:t>速率分布曲线 </a:t>
                </a:r>
                <a:r>
                  <a:rPr kumimoji="1" lang="en-US" altLang="zh-CN" b="1">
                    <a:solidFill>
                      <a:srgbClr val="0000FF"/>
                    </a:solidFill>
                    <a:latin typeface="Times New Roman" pitchFamily="18" charset="0"/>
                  </a:rPr>
                  <a:t>)</a:t>
                </a:r>
              </a:p>
            </p:txBody>
          </p:sp>
          <p:sp>
            <p:nvSpPr>
              <p:cNvPr id="40995" name="Text Box 40"/>
              <p:cNvSpPr txBox="1">
                <a:spLocks noChangeArrowheads="1"/>
              </p:cNvSpPr>
              <p:nvPr/>
            </p:nvSpPr>
            <p:spPr bwMode="auto">
              <a:xfrm>
                <a:off x="4304" y="1026"/>
                <a:ext cx="202" cy="326"/>
              </a:xfrm>
              <a:prstGeom prst="rect">
                <a:avLst/>
              </a:prstGeom>
              <a:noFill/>
              <a:ln w="9525">
                <a:noFill/>
                <a:miter lim="800000"/>
                <a:headEnd/>
                <a:tailEnd/>
              </a:ln>
            </p:spPr>
            <p:txBody>
              <a:bodyPr wrap="none">
                <a:spAutoFit/>
              </a:bodyPr>
              <a:lstStyle/>
              <a:p>
                <a:pPr>
                  <a:lnSpc>
                    <a:spcPct val="115000"/>
                  </a:lnSpc>
                </a:pPr>
                <a:r>
                  <a:rPr lang="en-US" altLang="zh-CN" sz="2400" b="1" i="1">
                    <a:solidFill>
                      <a:srgbClr val="0000FF"/>
                    </a:solidFill>
                    <a:latin typeface="Times New Roman" pitchFamily="18" charset="0"/>
                  </a:rPr>
                  <a:t>v</a:t>
                </a:r>
              </a:p>
            </p:txBody>
          </p:sp>
          <p:sp>
            <p:nvSpPr>
              <p:cNvPr id="40996" name="Text Box 41"/>
              <p:cNvSpPr txBox="1">
                <a:spLocks noChangeArrowheads="1"/>
              </p:cNvSpPr>
              <p:nvPr/>
            </p:nvSpPr>
            <p:spPr bwMode="auto">
              <a:xfrm>
                <a:off x="2880" y="1055"/>
                <a:ext cx="257" cy="326"/>
              </a:xfrm>
              <a:prstGeom prst="rect">
                <a:avLst/>
              </a:prstGeom>
              <a:noFill/>
              <a:ln w="9525">
                <a:noFill/>
                <a:miter lim="800000"/>
                <a:headEnd/>
                <a:tailEnd/>
              </a:ln>
            </p:spPr>
            <p:txBody>
              <a:bodyPr wrap="none">
                <a:spAutoFit/>
              </a:bodyPr>
              <a:lstStyle/>
              <a:p>
                <a:pPr>
                  <a:lnSpc>
                    <a:spcPct val="115000"/>
                  </a:lnSpc>
                </a:pPr>
                <a:r>
                  <a:rPr lang="en-US" altLang="zh-CN" sz="2400" b="1" i="1">
                    <a:solidFill>
                      <a:srgbClr val="0000FF"/>
                    </a:solidFill>
                    <a:latin typeface="Times New Roman" pitchFamily="18" charset="0"/>
                  </a:rPr>
                  <a:t>O</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81627"/>
                                        </p:tgtEl>
                                        <p:attrNameLst>
                                          <p:attrName>style.visibility</p:attrName>
                                        </p:attrNameLst>
                                      </p:cBhvr>
                                      <p:to>
                                        <p:strVal val="visible"/>
                                      </p:to>
                                    </p:set>
                                    <p:animEffect transition="in" filter="wipe(left)">
                                      <p:cBhvr>
                                        <p:cTn id="15" dur="1000"/>
                                        <p:tgtEl>
                                          <p:spTgt spid="28162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1626"/>
                                        </p:tgtEl>
                                        <p:attrNameLst>
                                          <p:attrName>style.visibility</p:attrName>
                                        </p:attrNameLst>
                                      </p:cBhvr>
                                      <p:to>
                                        <p:strVal val="visible"/>
                                      </p:to>
                                    </p:set>
                                    <p:animEffect transition="in" filter="wipe(left)">
                                      <p:cBhvr>
                                        <p:cTn id="18" dur="500"/>
                                        <p:tgtEl>
                                          <p:spTgt spid="281626"/>
                                        </p:tgtEl>
                                      </p:cBhvr>
                                    </p:animEffect>
                                  </p:childTnLst>
                                </p:cTn>
                              </p:par>
                              <p:par>
                                <p:cTn id="19" presetID="23" presetClass="entr" presetSubtype="16" fill="hold" grpId="0" nodeType="withEffect">
                                  <p:stCondLst>
                                    <p:cond delay="0"/>
                                  </p:stCondLst>
                                  <p:childTnLst>
                                    <p:set>
                                      <p:cBhvr>
                                        <p:cTn id="20" dur="1" fill="hold">
                                          <p:stCondLst>
                                            <p:cond delay="0"/>
                                          </p:stCondLst>
                                        </p:cTn>
                                        <p:tgtEl>
                                          <p:spTgt spid="281628"/>
                                        </p:tgtEl>
                                        <p:attrNameLst>
                                          <p:attrName>style.visibility</p:attrName>
                                        </p:attrNameLst>
                                      </p:cBhvr>
                                      <p:to>
                                        <p:strVal val="visible"/>
                                      </p:to>
                                    </p:set>
                                    <p:anim calcmode="lin" valueType="num">
                                      <p:cBhvr>
                                        <p:cTn id="21" dur="500" fill="hold"/>
                                        <p:tgtEl>
                                          <p:spTgt spid="281628"/>
                                        </p:tgtEl>
                                        <p:attrNameLst>
                                          <p:attrName>ppt_w</p:attrName>
                                        </p:attrNameLst>
                                      </p:cBhvr>
                                      <p:tavLst>
                                        <p:tav tm="0">
                                          <p:val>
                                            <p:fltVal val="0"/>
                                          </p:val>
                                        </p:tav>
                                        <p:tav tm="100000">
                                          <p:val>
                                            <p:strVal val="#ppt_w"/>
                                          </p:val>
                                        </p:tav>
                                      </p:tavLst>
                                    </p:anim>
                                    <p:anim calcmode="lin" valueType="num">
                                      <p:cBhvr>
                                        <p:cTn id="22" dur="500" fill="hold"/>
                                        <p:tgtEl>
                                          <p:spTgt spid="281628"/>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1604"/>
                                        </p:tgtEl>
                                        <p:attrNameLst>
                                          <p:attrName>style.visibility</p:attrName>
                                        </p:attrNameLst>
                                      </p:cBhvr>
                                      <p:to>
                                        <p:strVal val="visible"/>
                                      </p:to>
                                    </p:set>
                                    <p:animEffect transition="in" filter="wipe(left)">
                                      <p:cBhvr>
                                        <p:cTn id="27" dur="500"/>
                                        <p:tgtEl>
                                          <p:spTgt spid="2816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81615"/>
                                        </p:tgtEl>
                                        <p:attrNameLst>
                                          <p:attrName>style.visibility</p:attrName>
                                        </p:attrNameLst>
                                      </p:cBhvr>
                                      <p:to>
                                        <p:strVal val="visible"/>
                                      </p:to>
                                    </p:set>
                                    <p:animEffect transition="in" filter="wipe(up)">
                                      <p:cBhvr>
                                        <p:cTn id="32" dur="500"/>
                                        <p:tgtEl>
                                          <p:spTgt spid="281615"/>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281617"/>
                                        </p:tgtEl>
                                        <p:attrNameLst>
                                          <p:attrName>style.visibility</p:attrName>
                                        </p:attrNameLst>
                                      </p:cBhvr>
                                      <p:to>
                                        <p:strVal val="visible"/>
                                      </p:to>
                                    </p:set>
                                    <p:anim calcmode="lin" valueType="num">
                                      <p:cBhvr>
                                        <p:cTn id="37" dur="500" fill="hold"/>
                                        <p:tgtEl>
                                          <p:spTgt spid="281617"/>
                                        </p:tgtEl>
                                        <p:attrNameLst>
                                          <p:attrName>ppt_w</p:attrName>
                                        </p:attrNameLst>
                                      </p:cBhvr>
                                      <p:tavLst>
                                        <p:tav tm="0">
                                          <p:val>
                                            <p:fltVal val="0"/>
                                          </p:val>
                                        </p:tav>
                                        <p:tav tm="100000">
                                          <p:val>
                                            <p:strVal val="#ppt_w"/>
                                          </p:val>
                                        </p:tav>
                                      </p:tavLst>
                                    </p:anim>
                                    <p:anim calcmode="lin" valueType="num">
                                      <p:cBhvr>
                                        <p:cTn id="38" dur="500" fill="hold"/>
                                        <p:tgtEl>
                                          <p:spTgt spid="281617"/>
                                        </p:tgtEl>
                                        <p:attrNameLst>
                                          <p:attrName>ppt_h</p:attrName>
                                        </p:attrNameLst>
                                      </p:cBhvr>
                                      <p:tavLst>
                                        <p:tav tm="0">
                                          <p:val>
                                            <p:fltVal val="0"/>
                                          </p:val>
                                        </p:tav>
                                        <p:tav tm="100000">
                                          <p:val>
                                            <p:strVal val="#ppt_h"/>
                                          </p:val>
                                        </p:tav>
                                      </p:tavLst>
                                    </p:anim>
                                  </p:childTnLst>
                                </p:cTn>
                              </p:par>
                              <p:par>
                                <p:cTn id="39" presetID="22" presetClass="entr" presetSubtype="8" fill="hold" grpId="0" nodeType="withEffect">
                                  <p:stCondLst>
                                    <p:cond delay="0"/>
                                  </p:stCondLst>
                                  <p:childTnLst>
                                    <p:set>
                                      <p:cBhvr>
                                        <p:cTn id="40" dur="1" fill="hold">
                                          <p:stCondLst>
                                            <p:cond delay="0"/>
                                          </p:stCondLst>
                                        </p:cTn>
                                        <p:tgtEl>
                                          <p:spTgt spid="281614"/>
                                        </p:tgtEl>
                                        <p:attrNameLst>
                                          <p:attrName>style.visibility</p:attrName>
                                        </p:attrNameLst>
                                      </p:cBhvr>
                                      <p:to>
                                        <p:strVal val="visible"/>
                                      </p:to>
                                    </p:set>
                                    <p:animEffect transition="in" filter="wipe(left)">
                                      <p:cBhvr>
                                        <p:cTn id="41" dur="500"/>
                                        <p:tgtEl>
                                          <p:spTgt spid="281614"/>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81618"/>
                                        </p:tgtEl>
                                        <p:attrNameLst>
                                          <p:attrName>style.visibility</p:attrName>
                                        </p:attrNameLst>
                                      </p:cBhvr>
                                      <p:to>
                                        <p:strVal val="visible"/>
                                      </p:to>
                                    </p:set>
                                    <p:animEffect transition="in" filter="wipe(down)">
                                      <p:cBhvr>
                                        <p:cTn id="44" dur="500"/>
                                        <p:tgtEl>
                                          <p:spTgt spid="2816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81616"/>
                                        </p:tgtEl>
                                        <p:attrNameLst>
                                          <p:attrName>style.visibility</p:attrName>
                                        </p:attrNameLst>
                                      </p:cBhvr>
                                      <p:to>
                                        <p:strVal val="visible"/>
                                      </p:to>
                                    </p:set>
                                    <p:animEffect transition="in" filter="wipe(left)">
                                      <p:cBhvr>
                                        <p:cTn id="47" dur="500"/>
                                        <p:tgtEl>
                                          <p:spTgt spid="2816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81603"/>
                                        </p:tgtEl>
                                        <p:attrNameLst>
                                          <p:attrName>style.visibility</p:attrName>
                                        </p:attrNameLst>
                                      </p:cBhvr>
                                      <p:to>
                                        <p:strVal val="visible"/>
                                      </p:to>
                                    </p:set>
                                    <p:animEffect transition="in" filter="wipe(left)">
                                      <p:cBhvr>
                                        <p:cTn id="52" dur="500"/>
                                        <p:tgtEl>
                                          <p:spTgt spid="28160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81602"/>
                                        </p:tgtEl>
                                        <p:attrNameLst>
                                          <p:attrName>style.visibility</p:attrName>
                                        </p:attrNameLst>
                                      </p:cBhvr>
                                      <p:to>
                                        <p:strVal val="visible"/>
                                      </p:to>
                                    </p:set>
                                    <p:animEffect transition="in" filter="wipe(left)">
                                      <p:cBhvr>
                                        <p:cTn id="57" dur="500"/>
                                        <p:tgtEl>
                                          <p:spTgt spid="28160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1605"/>
                                        </p:tgtEl>
                                        <p:attrNameLst>
                                          <p:attrName>style.visibility</p:attrName>
                                        </p:attrNameLst>
                                      </p:cBhvr>
                                      <p:to>
                                        <p:strVal val="visible"/>
                                      </p:to>
                                    </p:set>
                                    <p:animEffect transition="in" filter="wipe(left)">
                                      <p:cBhvr>
                                        <p:cTn id="62" dur="500"/>
                                        <p:tgtEl>
                                          <p:spTgt spid="28160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28161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8161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81617"/>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281618"/>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28161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281620"/>
                                        </p:tgtEl>
                                        <p:attrNameLst>
                                          <p:attrName>style.visibility</p:attrName>
                                        </p:attrNameLst>
                                      </p:cBhvr>
                                      <p:to>
                                        <p:strVal val="visible"/>
                                      </p:to>
                                    </p:set>
                                    <p:animEffect transition="in" filter="wipe(down)">
                                      <p:cBhvr>
                                        <p:cTn id="79" dur="500"/>
                                        <p:tgtEl>
                                          <p:spTgt spid="281620"/>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81623"/>
                                        </p:tgtEl>
                                        <p:attrNameLst>
                                          <p:attrName>style.visibility</p:attrName>
                                        </p:attrNameLst>
                                      </p:cBhvr>
                                      <p:to>
                                        <p:strVal val="visible"/>
                                      </p:to>
                                    </p:set>
                                    <p:animEffect transition="in" filter="wipe(left)">
                                      <p:cBhvr>
                                        <p:cTn id="83" dur="500"/>
                                        <p:tgtEl>
                                          <p:spTgt spid="281623"/>
                                        </p:tgtEl>
                                      </p:cBhvr>
                                    </p:animEffect>
                                  </p:childTnLst>
                                </p:cTn>
                              </p:par>
                            </p:childTnLst>
                          </p:cTn>
                        </p:par>
                        <p:par>
                          <p:cTn id="84" fill="hold">
                            <p:stCondLst>
                              <p:cond delay="1000"/>
                            </p:stCondLst>
                            <p:childTnLst>
                              <p:par>
                                <p:cTn id="85" presetID="22" presetClass="entr" presetSubtype="4" fill="hold" grpId="0" nodeType="afterEffect">
                                  <p:stCondLst>
                                    <p:cond delay="0"/>
                                  </p:stCondLst>
                                  <p:childTnLst>
                                    <p:set>
                                      <p:cBhvr>
                                        <p:cTn id="86" dur="1" fill="hold">
                                          <p:stCondLst>
                                            <p:cond delay="0"/>
                                          </p:stCondLst>
                                        </p:cTn>
                                        <p:tgtEl>
                                          <p:spTgt spid="281621"/>
                                        </p:tgtEl>
                                        <p:attrNameLst>
                                          <p:attrName>style.visibility</p:attrName>
                                        </p:attrNameLst>
                                      </p:cBhvr>
                                      <p:to>
                                        <p:strVal val="visible"/>
                                      </p:to>
                                    </p:set>
                                    <p:animEffect transition="in" filter="wipe(down)">
                                      <p:cBhvr>
                                        <p:cTn id="87" dur="500"/>
                                        <p:tgtEl>
                                          <p:spTgt spid="281621"/>
                                        </p:tgtEl>
                                      </p:cBhvr>
                                    </p:animEffect>
                                  </p:childTnLst>
                                </p:cTn>
                              </p:par>
                            </p:childTnLst>
                          </p:cTn>
                        </p:par>
                        <p:par>
                          <p:cTn id="88" fill="hold">
                            <p:stCondLst>
                              <p:cond delay="1500"/>
                            </p:stCondLst>
                            <p:childTnLst>
                              <p:par>
                                <p:cTn id="89" presetID="22" presetClass="entr" presetSubtype="8" fill="hold" grpId="0" nodeType="afterEffect">
                                  <p:stCondLst>
                                    <p:cond delay="0"/>
                                  </p:stCondLst>
                                  <p:childTnLst>
                                    <p:set>
                                      <p:cBhvr>
                                        <p:cTn id="90" dur="1" fill="hold">
                                          <p:stCondLst>
                                            <p:cond delay="0"/>
                                          </p:stCondLst>
                                        </p:cTn>
                                        <p:tgtEl>
                                          <p:spTgt spid="281624"/>
                                        </p:tgtEl>
                                        <p:attrNameLst>
                                          <p:attrName>style.visibility</p:attrName>
                                        </p:attrNameLst>
                                      </p:cBhvr>
                                      <p:to>
                                        <p:strVal val="visible"/>
                                      </p:to>
                                    </p:set>
                                    <p:animEffect transition="in" filter="wipe(left)">
                                      <p:cBhvr>
                                        <p:cTn id="91" dur="500"/>
                                        <p:tgtEl>
                                          <p:spTgt spid="28162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281619"/>
                                        </p:tgtEl>
                                        <p:attrNameLst>
                                          <p:attrName>style.visibility</p:attrName>
                                        </p:attrNameLst>
                                      </p:cBhvr>
                                      <p:to>
                                        <p:strVal val="visible"/>
                                      </p:to>
                                    </p:set>
                                    <p:animEffect transition="in" filter="wipe(down)">
                                      <p:cBhvr>
                                        <p:cTn id="96" dur="500"/>
                                        <p:tgtEl>
                                          <p:spTgt spid="281619"/>
                                        </p:tgtEl>
                                      </p:cBhvr>
                                    </p:animEffect>
                                  </p:childTnLst>
                                </p:cTn>
                              </p:par>
                              <p:par>
                                <p:cTn id="97" presetID="1" presetClass="entr" presetSubtype="0" fill="hold" grpId="0" nodeType="withEffect">
                                  <p:stCondLst>
                                    <p:cond delay="0"/>
                                  </p:stCondLst>
                                  <p:childTnLst>
                                    <p:set>
                                      <p:cBhvr>
                                        <p:cTn id="98" dur="1" fill="hold">
                                          <p:stCondLst>
                                            <p:cond delay="0"/>
                                          </p:stCondLst>
                                        </p:cTn>
                                        <p:tgtEl>
                                          <p:spTgt spid="2816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281606"/>
                                        </p:tgtEl>
                                        <p:attrNameLst>
                                          <p:attrName>style.visibility</p:attrName>
                                        </p:attrNameLst>
                                      </p:cBhvr>
                                      <p:to>
                                        <p:strVal val="visible"/>
                                      </p:to>
                                    </p:set>
                                    <p:animEffect transition="in" filter="wipe(left)">
                                      <p:cBhvr>
                                        <p:cTn id="103" dur="500"/>
                                        <p:tgtEl>
                                          <p:spTgt spid="281606"/>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81622"/>
                                        </p:tgtEl>
                                        <p:attrNameLst>
                                          <p:attrName>style.visibility</p:attrName>
                                        </p:attrNameLst>
                                      </p:cBhvr>
                                      <p:to>
                                        <p:strVal val="visible"/>
                                      </p:to>
                                    </p:set>
                                  </p:childTnLst>
                                </p:cTn>
                              </p:par>
                            </p:childTnLst>
                          </p:cTn>
                        </p:par>
                        <p:par>
                          <p:cTn id="108" fill="hold">
                            <p:stCondLst>
                              <p:cond delay="0"/>
                            </p:stCondLst>
                            <p:childTnLst>
                              <p:par>
                                <p:cTn id="109" presetID="22" presetClass="entr" presetSubtype="8" fill="hold" grpId="0" nodeType="afterEffect">
                                  <p:stCondLst>
                                    <p:cond delay="0"/>
                                  </p:stCondLst>
                                  <p:childTnLst>
                                    <p:set>
                                      <p:cBhvr>
                                        <p:cTn id="110" dur="1" fill="hold">
                                          <p:stCondLst>
                                            <p:cond delay="0"/>
                                          </p:stCondLst>
                                        </p:cTn>
                                        <p:tgtEl>
                                          <p:spTgt spid="281629"/>
                                        </p:tgtEl>
                                        <p:attrNameLst>
                                          <p:attrName>style.visibility</p:attrName>
                                        </p:attrNameLst>
                                      </p:cBhvr>
                                      <p:to>
                                        <p:strVal val="visible"/>
                                      </p:to>
                                    </p:set>
                                    <p:animEffect transition="in" filter="wipe(left)">
                                      <p:cBhvr>
                                        <p:cTn id="111" dur="500"/>
                                        <p:tgtEl>
                                          <p:spTgt spid="281629"/>
                                        </p:tgtEl>
                                      </p:cBhvr>
                                    </p:animEffect>
                                  </p:childTnLst>
                                </p:cTn>
                              </p:par>
                            </p:childTnLst>
                          </p:cTn>
                        </p:par>
                      </p:childTnLst>
                    </p:cTn>
                  </p:par>
                  <p:par>
                    <p:cTn id="112" fill="hold">
                      <p:stCondLst>
                        <p:cond delay="indefinite"/>
                      </p:stCondLst>
                      <p:childTnLst>
                        <p:par>
                          <p:cTn id="113" fill="hold">
                            <p:stCondLst>
                              <p:cond delay="0"/>
                            </p:stCondLst>
                            <p:childTnLst>
                              <p:par>
                                <p:cTn id="114" presetID="23" presetClass="entr" presetSubtype="16" fill="hold" nodeType="clickEffect">
                                  <p:stCondLst>
                                    <p:cond delay="0"/>
                                  </p:stCondLst>
                                  <p:childTnLst>
                                    <p:set>
                                      <p:cBhvr>
                                        <p:cTn id="115" dur="1" fill="hold">
                                          <p:stCondLst>
                                            <p:cond delay="0"/>
                                          </p:stCondLst>
                                        </p:cTn>
                                        <p:tgtEl>
                                          <p:spTgt spid="4"/>
                                        </p:tgtEl>
                                        <p:attrNameLst>
                                          <p:attrName>style.visibility</p:attrName>
                                        </p:attrNameLst>
                                      </p:cBhvr>
                                      <p:to>
                                        <p:strVal val="visible"/>
                                      </p:to>
                                    </p:set>
                                    <p:anim calcmode="lin" valueType="num">
                                      <p:cBhvr>
                                        <p:cTn id="116" dur="500" fill="hold"/>
                                        <p:tgtEl>
                                          <p:spTgt spid="4"/>
                                        </p:tgtEl>
                                        <p:attrNameLst>
                                          <p:attrName>ppt_w</p:attrName>
                                        </p:attrNameLst>
                                      </p:cBhvr>
                                      <p:tavLst>
                                        <p:tav tm="0">
                                          <p:val>
                                            <p:fltVal val="0"/>
                                          </p:val>
                                        </p:tav>
                                        <p:tav tm="100000">
                                          <p:val>
                                            <p:strVal val="#ppt_w"/>
                                          </p:val>
                                        </p:tav>
                                      </p:tavLst>
                                    </p:anim>
                                    <p:anim calcmode="lin" valueType="num">
                                      <p:cBhvr>
                                        <p:cTn id="117"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81633"/>
                                        </p:tgtEl>
                                        <p:attrNameLst>
                                          <p:attrName>style.visibility</p:attrName>
                                        </p:attrNameLst>
                                      </p:cBhvr>
                                      <p:to>
                                        <p:strVal val="visible"/>
                                      </p:to>
                                    </p:set>
                                    <p:animEffect transition="in" filter="wipe(left)">
                                      <p:cBhvr>
                                        <p:cTn id="122" dur="500"/>
                                        <p:tgtEl>
                                          <p:spTgt spid="281633"/>
                                        </p:tgtEl>
                                      </p:cBhvr>
                                    </p:animEffect>
                                  </p:childTnLst>
                                </p:cTn>
                              </p:par>
                            </p:childTnLst>
                          </p:cTn>
                        </p:par>
                        <p:par>
                          <p:cTn id="123" fill="hold">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281632"/>
                                        </p:tgtEl>
                                        <p:attrNameLst>
                                          <p:attrName>style.visibility</p:attrName>
                                        </p:attrNameLst>
                                      </p:cBhvr>
                                      <p:to>
                                        <p:strVal val="visible"/>
                                      </p:to>
                                    </p:set>
                                    <p:animEffect transition="in" filter="wipe(left)">
                                      <p:cBhvr>
                                        <p:cTn id="126" dur="500"/>
                                        <p:tgtEl>
                                          <p:spTgt spid="281632"/>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281630"/>
                                        </p:tgtEl>
                                        <p:attrNameLst>
                                          <p:attrName>style.visibility</p:attrName>
                                        </p:attrNameLst>
                                      </p:cBhvr>
                                      <p:to>
                                        <p:strVal val="visible"/>
                                      </p:to>
                                    </p:set>
                                    <p:animEffect transition="in" filter="wipe(left)">
                                      <p:cBhvr>
                                        <p:cTn id="131" dur="500"/>
                                        <p:tgtEl>
                                          <p:spTgt spid="28163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81631"/>
                                        </p:tgtEl>
                                        <p:attrNameLst>
                                          <p:attrName>style.visibility</p:attrName>
                                        </p:attrNameLst>
                                      </p:cBhvr>
                                      <p:to>
                                        <p:strVal val="visible"/>
                                      </p:to>
                                    </p:set>
                                    <p:animEffect transition="in" filter="wipe(left)">
                                      <p:cBhvr>
                                        <p:cTn id="136" dur="500"/>
                                        <p:tgtEl>
                                          <p:spTgt spid="281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p:bldP spid="281605" grpId="0"/>
      <p:bldP spid="281614" grpId="0"/>
      <p:bldP spid="281614" grpId="1"/>
      <p:bldP spid="281615" grpId="0" animBg="1"/>
      <p:bldP spid="281615" grpId="1" animBg="1"/>
      <p:bldP spid="281616" grpId="0"/>
      <p:bldP spid="281616" grpId="1"/>
      <p:bldP spid="281617" grpId="0"/>
      <p:bldP spid="281617" grpId="1"/>
      <p:bldP spid="281618" grpId="0"/>
      <p:bldP spid="281618" grpId="1"/>
      <p:bldP spid="281619" grpId="0" animBg="1"/>
      <p:bldP spid="281620" grpId="0" animBg="1"/>
      <p:bldP spid="281621" grpId="0" animBg="1"/>
      <p:bldP spid="281622" grpId="0" animBg="1"/>
      <p:bldP spid="281623" grpId="0"/>
      <p:bldP spid="281624" grpId="0"/>
      <p:bldP spid="281625" grpId="0" animBg="1"/>
      <p:bldP spid="281626" grpId="0"/>
      <p:bldP spid="281627" grpId="0" animBg="1"/>
      <p:bldP spid="281628" grpId="0"/>
      <p:bldP spid="281629" grpId="0"/>
      <p:bldP spid="281631" grpId="0"/>
      <p:bldP spid="281632" grpId="0" autoUpdateAnimBg="0"/>
      <p:bldP spid="28163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79388" y="476250"/>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8.5.3   </a:t>
            </a:r>
            <a:r>
              <a:rPr kumimoji="1" lang="zh-CN" altLang="en-US" sz="2400" b="1">
                <a:solidFill>
                  <a:srgbClr val="0000FF"/>
                </a:solidFill>
              </a:rPr>
              <a:t>三种统计速率</a:t>
            </a:r>
            <a:r>
              <a:rPr kumimoji="1" lang="zh-CN" altLang="en-US" sz="2400"/>
              <a:t> </a:t>
            </a:r>
          </a:p>
        </p:txBody>
      </p:sp>
      <p:sp>
        <p:nvSpPr>
          <p:cNvPr id="3" name="Text Box 2"/>
          <p:cNvSpPr txBox="1">
            <a:spLocks noChangeArrowheads="1"/>
          </p:cNvSpPr>
          <p:nvPr/>
        </p:nvSpPr>
        <p:spPr bwMode="auto">
          <a:xfrm>
            <a:off x="285750" y="1114425"/>
            <a:ext cx="2324100" cy="457200"/>
          </a:xfrm>
          <a:prstGeom prst="rect">
            <a:avLst/>
          </a:prstGeom>
          <a:noFill/>
          <a:ln w="9525">
            <a:noFill/>
            <a:miter lim="800000"/>
            <a:headEnd/>
            <a:tailEnd/>
          </a:ln>
        </p:spPr>
        <p:txBody>
          <a:bodyPr>
            <a:spAutoFit/>
          </a:bodyPr>
          <a:lstStyle/>
          <a:p>
            <a:r>
              <a:rPr lang="en-US" altLang="zh-CN" sz="2400" b="1">
                <a:solidFill>
                  <a:srgbClr val="FF0000"/>
                </a:solidFill>
                <a:latin typeface="Times New Roman" pitchFamily="18" charset="0"/>
              </a:rPr>
              <a:t>1</a:t>
            </a:r>
            <a:r>
              <a:rPr lang="zh-CN" altLang="en-US" sz="2400" b="1">
                <a:solidFill>
                  <a:srgbClr val="FF0000"/>
                </a:solidFill>
                <a:latin typeface="Times New Roman" pitchFamily="18" charset="0"/>
              </a:rPr>
              <a:t>、最概然速率</a:t>
            </a:r>
          </a:p>
        </p:txBody>
      </p:sp>
      <p:pic>
        <p:nvPicPr>
          <p:cNvPr id="4" name="Picture 4" descr="f(H2)1"/>
          <p:cNvPicPr>
            <a:picLocks noChangeAspect="1" noChangeArrowheads="1"/>
          </p:cNvPicPr>
          <p:nvPr/>
        </p:nvPicPr>
        <p:blipFill>
          <a:blip r:embed="rId3"/>
          <a:srcRect/>
          <a:stretch>
            <a:fillRect/>
          </a:stretch>
        </p:blipFill>
        <p:spPr bwMode="auto">
          <a:xfrm>
            <a:off x="4932363" y="1916113"/>
            <a:ext cx="4032250" cy="3024187"/>
          </a:xfrm>
          <a:prstGeom prst="rect">
            <a:avLst/>
          </a:prstGeom>
          <a:noFill/>
          <a:ln w="9525">
            <a:noFill/>
            <a:miter lim="800000"/>
            <a:headEnd/>
            <a:tailEnd/>
          </a:ln>
        </p:spPr>
      </p:pic>
      <p:sp>
        <p:nvSpPr>
          <p:cNvPr id="5" name="Line 5"/>
          <p:cNvSpPr>
            <a:spLocks noChangeShapeType="1"/>
          </p:cNvSpPr>
          <p:nvPr/>
        </p:nvSpPr>
        <p:spPr bwMode="auto">
          <a:xfrm>
            <a:off x="5456238" y="2414588"/>
            <a:ext cx="989012" cy="0"/>
          </a:xfrm>
          <a:prstGeom prst="line">
            <a:avLst/>
          </a:prstGeom>
          <a:noFill/>
          <a:ln w="9525">
            <a:solidFill>
              <a:srgbClr val="008080"/>
            </a:solidFill>
            <a:prstDash val="dash"/>
            <a:round/>
            <a:headEnd/>
            <a:tailEnd/>
          </a:ln>
        </p:spPr>
        <p:txBody>
          <a:bodyPr/>
          <a:lstStyle/>
          <a:p>
            <a:endParaRPr lang="zh-CN" altLang="en-US"/>
          </a:p>
        </p:txBody>
      </p:sp>
      <p:sp>
        <p:nvSpPr>
          <p:cNvPr id="6" name="Line 6"/>
          <p:cNvSpPr>
            <a:spLocks noChangeShapeType="1"/>
          </p:cNvSpPr>
          <p:nvPr/>
        </p:nvSpPr>
        <p:spPr bwMode="auto">
          <a:xfrm>
            <a:off x="6426200" y="2420938"/>
            <a:ext cx="0" cy="2160587"/>
          </a:xfrm>
          <a:prstGeom prst="line">
            <a:avLst/>
          </a:prstGeom>
          <a:noFill/>
          <a:ln w="9525">
            <a:solidFill>
              <a:srgbClr val="FF0000"/>
            </a:solidFill>
            <a:prstDash val="dash"/>
            <a:round/>
            <a:headEnd/>
            <a:tailEnd/>
          </a:ln>
        </p:spPr>
        <p:txBody>
          <a:bodyPr/>
          <a:lstStyle/>
          <a:p>
            <a:endParaRPr lang="zh-CN" altLang="en-US"/>
          </a:p>
        </p:txBody>
      </p:sp>
      <p:sp>
        <p:nvSpPr>
          <p:cNvPr id="7" name="Text Box 7"/>
          <p:cNvSpPr txBox="1">
            <a:spLocks noChangeArrowheads="1"/>
          </p:cNvSpPr>
          <p:nvPr/>
        </p:nvSpPr>
        <p:spPr bwMode="auto">
          <a:xfrm>
            <a:off x="6281738" y="4646613"/>
            <a:ext cx="522287" cy="366712"/>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v</a:t>
            </a:r>
            <a:r>
              <a:rPr lang="en-US" altLang="zh-CN" b="1" i="1" baseline="-25000">
                <a:solidFill>
                  <a:srgbClr val="FF0000"/>
                </a:solidFill>
                <a:latin typeface="Times New Roman" pitchFamily="18" charset="0"/>
              </a:rPr>
              <a:t>p</a:t>
            </a:r>
            <a:endParaRPr lang="en-US" altLang="zh-CN" b="1" i="1">
              <a:solidFill>
                <a:srgbClr val="FF0000"/>
              </a:solidFill>
              <a:latin typeface="Times New Roman" pitchFamily="18" charset="0"/>
            </a:endParaRPr>
          </a:p>
        </p:txBody>
      </p:sp>
      <p:sp>
        <p:nvSpPr>
          <p:cNvPr id="8" name="Text Box 8"/>
          <p:cNvSpPr txBox="1">
            <a:spLocks noChangeArrowheads="1"/>
          </p:cNvSpPr>
          <p:nvPr/>
        </p:nvSpPr>
        <p:spPr bwMode="auto">
          <a:xfrm>
            <a:off x="2786063" y="1114425"/>
            <a:ext cx="4037012" cy="457200"/>
          </a:xfrm>
          <a:prstGeom prst="rect">
            <a:avLst/>
          </a:prstGeom>
          <a:noFill/>
          <a:ln w="9525">
            <a:noFill/>
            <a:miter lim="800000"/>
            <a:headEnd/>
            <a:tailEnd/>
          </a:ln>
        </p:spPr>
        <p:txBody>
          <a:bodyPr>
            <a:spAutoFit/>
          </a:bodyPr>
          <a:lstStyle/>
          <a:p>
            <a:r>
              <a:rPr lang="en-US" altLang="zh-CN" sz="2400" b="1" i="1">
                <a:latin typeface="Times New Roman" pitchFamily="18" charset="0"/>
              </a:rPr>
              <a:t>f </a:t>
            </a:r>
            <a:r>
              <a:rPr lang="en-US" altLang="zh-CN" sz="2400" b="1">
                <a:latin typeface="Times New Roman" pitchFamily="18" charset="0"/>
              </a:rPr>
              <a:t>(</a:t>
            </a:r>
            <a:r>
              <a:rPr lang="en-US" altLang="zh-CN" sz="2400" b="1" i="1">
                <a:latin typeface="Times New Roman" pitchFamily="18" charset="0"/>
              </a:rPr>
              <a:t>v</a:t>
            </a:r>
            <a:r>
              <a:rPr lang="en-US" altLang="zh-CN" sz="2400" b="1">
                <a:latin typeface="Times New Roman" pitchFamily="18" charset="0"/>
              </a:rPr>
              <a:t>) </a:t>
            </a:r>
            <a:r>
              <a:rPr lang="zh-CN" altLang="en-US" sz="2400" b="1">
                <a:latin typeface="Times New Roman" pitchFamily="18" charset="0"/>
              </a:rPr>
              <a:t>的极大值对应的 </a:t>
            </a:r>
            <a:r>
              <a:rPr lang="en-US" altLang="zh-CN" sz="2400" b="1" i="1">
                <a:latin typeface="Times New Roman" pitchFamily="18" charset="0"/>
              </a:rPr>
              <a:t>v</a:t>
            </a:r>
            <a:r>
              <a:rPr lang="en-US" altLang="zh-CN" sz="2400" b="1">
                <a:latin typeface="Times New Roman" pitchFamily="18" charset="0"/>
              </a:rPr>
              <a:t> </a:t>
            </a:r>
            <a:r>
              <a:rPr lang="zh-CN" altLang="en-US" sz="2400" b="1">
                <a:latin typeface="Times New Roman" pitchFamily="18" charset="0"/>
              </a:rPr>
              <a:t>值</a:t>
            </a:r>
          </a:p>
        </p:txBody>
      </p:sp>
      <p:graphicFrame>
        <p:nvGraphicFramePr>
          <p:cNvPr id="9" name="Object 9"/>
          <p:cNvGraphicFramePr>
            <a:graphicFrameLocks noChangeAspect="1"/>
          </p:cNvGraphicFramePr>
          <p:nvPr/>
        </p:nvGraphicFramePr>
        <p:xfrm>
          <a:off x="1714500" y="2000250"/>
          <a:ext cx="1817688" cy="1014413"/>
        </p:xfrm>
        <a:graphic>
          <a:graphicData uri="http://schemas.openxmlformats.org/presentationml/2006/ole">
            <p:oleObj spid="_x0000_s41986" name="公式" r:id="rId4" imgW="863280" imgH="482400" progId="Equation.3">
              <p:embed/>
            </p:oleObj>
          </a:graphicData>
        </a:graphic>
      </p:graphicFrame>
      <p:graphicFrame>
        <p:nvGraphicFramePr>
          <p:cNvPr id="10" name="Object 10"/>
          <p:cNvGraphicFramePr>
            <a:graphicFrameLocks noChangeAspect="1"/>
          </p:cNvGraphicFramePr>
          <p:nvPr/>
        </p:nvGraphicFramePr>
        <p:xfrm>
          <a:off x="179388" y="3644900"/>
          <a:ext cx="4910137" cy="838200"/>
        </p:xfrm>
        <a:graphic>
          <a:graphicData uri="http://schemas.openxmlformats.org/presentationml/2006/ole">
            <p:oleObj spid="_x0000_s41987" name="公式" r:id="rId5" imgW="2450880" imgH="419040" progId="Equation.3">
              <p:embed/>
            </p:oleObj>
          </a:graphicData>
        </a:graphic>
      </p:graphicFrame>
      <p:sp>
        <p:nvSpPr>
          <p:cNvPr id="11" name="AutoShape 11"/>
          <p:cNvSpPr>
            <a:spLocks noChangeArrowheads="1"/>
          </p:cNvSpPr>
          <p:nvPr/>
        </p:nvSpPr>
        <p:spPr bwMode="auto">
          <a:xfrm>
            <a:off x="250825" y="3213100"/>
            <a:ext cx="865188" cy="215900"/>
          </a:xfrm>
          <a:prstGeom prst="rightArrow">
            <a:avLst>
              <a:gd name="adj1" fmla="val 50000"/>
              <a:gd name="adj2" fmla="val 100184"/>
            </a:avLst>
          </a:prstGeom>
          <a:solidFill>
            <a:schemeClr val="accent1"/>
          </a:solidFill>
          <a:ln w="9525">
            <a:solidFill>
              <a:schemeClr val="tx1"/>
            </a:solidFill>
            <a:miter lim="800000"/>
            <a:headEnd/>
            <a:tailEnd/>
          </a:ln>
        </p:spPr>
        <p:txBody>
          <a:bodyPr wrap="none" anchor="ctr"/>
          <a:lstStyle/>
          <a:p>
            <a:endParaRPr lang="zh-CN" altLang="en-US"/>
          </a:p>
        </p:txBody>
      </p:sp>
      <p:sp>
        <p:nvSpPr>
          <p:cNvPr id="12" name="AutoShape 12"/>
          <p:cNvSpPr>
            <a:spLocks noChangeArrowheads="1"/>
          </p:cNvSpPr>
          <p:nvPr/>
        </p:nvSpPr>
        <p:spPr bwMode="auto">
          <a:xfrm>
            <a:off x="250825" y="4868863"/>
            <a:ext cx="865188" cy="215900"/>
          </a:xfrm>
          <a:prstGeom prst="rightArrow">
            <a:avLst>
              <a:gd name="adj1" fmla="val 50000"/>
              <a:gd name="adj2" fmla="val 100184"/>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3" name="Object 13"/>
          <p:cNvGraphicFramePr>
            <a:graphicFrameLocks noChangeAspect="1"/>
          </p:cNvGraphicFramePr>
          <p:nvPr/>
        </p:nvGraphicFramePr>
        <p:xfrm>
          <a:off x="1403350" y="4797425"/>
          <a:ext cx="3168650" cy="941388"/>
        </p:xfrm>
        <a:graphic>
          <a:graphicData uri="http://schemas.openxmlformats.org/presentationml/2006/ole">
            <p:oleObj spid="_x0000_s41988" name="公式" r:id="rId6" imgW="1473120" imgH="469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2500"/>
                            </p:stCondLst>
                            <p:childTnLst>
                              <p:par>
                                <p:cTn id="13" presetID="4" presetClass="entr" presetSubtype="3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ox(ou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up)">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p:bldP spid="5" grpId="0" animBg="1"/>
      <p:bldP spid="6" grpId="0" animBg="1"/>
      <p:bldP spid="7" grpId="0"/>
      <p:bldP spid="8" grpId="0"/>
      <p:bldP spid="11" grpId="0" animBg="1"/>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Text Box 3"/>
          <p:cNvSpPr txBox="1">
            <a:spLocks noChangeArrowheads="1"/>
          </p:cNvSpPr>
          <p:nvPr/>
        </p:nvSpPr>
        <p:spPr bwMode="auto">
          <a:xfrm>
            <a:off x="285750" y="428625"/>
            <a:ext cx="2324100" cy="457200"/>
          </a:xfrm>
          <a:prstGeom prst="rect">
            <a:avLst/>
          </a:prstGeom>
          <a:noFill/>
          <a:ln w="9525">
            <a:noFill/>
            <a:miter lim="800000"/>
            <a:headEnd/>
            <a:tailEnd/>
          </a:ln>
        </p:spPr>
        <p:txBody>
          <a:bodyPr>
            <a:spAutoFit/>
          </a:bodyPr>
          <a:lstStyle/>
          <a:p>
            <a:r>
              <a:rPr lang="en-US" altLang="zh-CN" sz="2400" b="1">
                <a:solidFill>
                  <a:srgbClr val="FF0000"/>
                </a:solidFill>
                <a:latin typeface="Times New Roman" pitchFamily="18" charset="0"/>
              </a:rPr>
              <a:t>2</a:t>
            </a:r>
            <a:r>
              <a:rPr lang="zh-CN" altLang="en-US" sz="2400" b="1">
                <a:solidFill>
                  <a:srgbClr val="FF0000"/>
                </a:solidFill>
                <a:latin typeface="Times New Roman" pitchFamily="18" charset="0"/>
              </a:rPr>
              <a:t>、平均速率</a:t>
            </a:r>
          </a:p>
        </p:txBody>
      </p:sp>
      <p:graphicFrame>
        <p:nvGraphicFramePr>
          <p:cNvPr id="155652" name="Object 4"/>
          <p:cNvGraphicFramePr>
            <a:graphicFrameLocks noChangeAspect="1"/>
          </p:cNvGraphicFramePr>
          <p:nvPr/>
        </p:nvGraphicFramePr>
        <p:xfrm>
          <a:off x="6651625" y="1824038"/>
          <a:ext cx="1957388" cy="1217612"/>
        </p:xfrm>
        <a:graphic>
          <a:graphicData uri="http://schemas.openxmlformats.org/presentationml/2006/ole">
            <p:oleObj spid="_x0000_s43010" name="公式" r:id="rId3" imgW="838080" imgH="520560" progId="Equation.3">
              <p:embed/>
            </p:oleObj>
          </a:graphicData>
        </a:graphic>
      </p:graphicFrame>
      <p:sp>
        <p:nvSpPr>
          <p:cNvPr id="155653" name="Text Box 5"/>
          <p:cNvSpPr txBox="1">
            <a:spLocks noChangeArrowheads="1"/>
          </p:cNvSpPr>
          <p:nvPr/>
        </p:nvSpPr>
        <p:spPr bwMode="auto">
          <a:xfrm>
            <a:off x="714375" y="928688"/>
            <a:ext cx="5564188" cy="457200"/>
          </a:xfrm>
          <a:prstGeom prst="rect">
            <a:avLst/>
          </a:prstGeom>
          <a:noFill/>
          <a:ln w="9525">
            <a:noFill/>
            <a:miter lim="800000"/>
            <a:headEnd/>
            <a:tailEnd/>
          </a:ln>
        </p:spPr>
        <p:txBody>
          <a:bodyPr>
            <a:spAutoFit/>
          </a:bodyPr>
          <a:lstStyle/>
          <a:p>
            <a:r>
              <a:rPr lang="zh-CN" altLang="en-US" sz="2400" b="1">
                <a:latin typeface="Times New Roman" pitchFamily="18" charset="0"/>
              </a:rPr>
              <a:t>气体分子的速率 </a:t>
            </a:r>
            <a:r>
              <a:rPr lang="en-US" altLang="zh-CN" sz="2400" b="1" i="1">
                <a:latin typeface="Times New Roman" pitchFamily="18" charset="0"/>
              </a:rPr>
              <a:t>v</a:t>
            </a:r>
            <a:r>
              <a:rPr lang="en-US" altLang="zh-CN" sz="2400" b="1">
                <a:latin typeface="Times New Roman" pitchFamily="18" charset="0"/>
              </a:rPr>
              <a:t> </a:t>
            </a:r>
            <a:r>
              <a:rPr lang="zh-CN" altLang="en-US" sz="2400" b="1">
                <a:solidFill>
                  <a:srgbClr val="FF6600"/>
                </a:solidFill>
                <a:latin typeface="Times New Roman" pitchFamily="18" charset="0"/>
              </a:rPr>
              <a:t>离散分布</a:t>
            </a:r>
            <a:r>
              <a:rPr lang="zh-CN" altLang="en-US" sz="2400" b="1">
                <a:latin typeface="Times New Roman" pitchFamily="18" charset="0"/>
              </a:rPr>
              <a:t>：</a:t>
            </a:r>
          </a:p>
        </p:txBody>
      </p:sp>
      <p:sp>
        <p:nvSpPr>
          <p:cNvPr id="155654" name="Rectangle 6"/>
          <p:cNvSpPr>
            <a:spLocks noChangeArrowheads="1"/>
          </p:cNvSpPr>
          <p:nvPr/>
        </p:nvSpPr>
        <p:spPr bwMode="auto">
          <a:xfrm>
            <a:off x="965200" y="1785938"/>
            <a:ext cx="890588" cy="719137"/>
          </a:xfrm>
          <a:prstGeom prst="rect">
            <a:avLst/>
          </a:prstGeom>
          <a:solidFill>
            <a:schemeClr val="accent1"/>
          </a:solidFill>
          <a:ln w="9525">
            <a:solidFill>
              <a:schemeClr val="tx1"/>
            </a:solidFill>
            <a:miter lim="800000"/>
            <a:headEnd/>
            <a:tailEnd/>
          </a:ln>
        </p:spPr>
        <p:txBody>
          <a:bodyPr wrap="none" anchor="ctr"/>
          <a:lstStyle/>
          <a:p>
            <a:r>
              <a:rPr lang="en-US" altLang="zh-CN" sz="2400" b="1" i="1">
                <a:latin typeface="Times New Roman" pitchFamily="18" charset="0"/>
              </a:rPr>
              <a:t>v</a:t>
            </a:r>
          </a:p>
        </p:txBody>
      </p:sp>
      <p:sp>
        <p:nvSpPr>
          <p:cNvPr id="155655" name="Rectangle 7"/>
          <p:cNvSpPr>
            <a:spLocks noChangeArrowheads="1"/>
          </p:cNvSpPr>
          <p:nvPr/>
        </p:nvSpPr>
        <p:spPr bwMode="auto">
          <a:xfrm>
            <a:off x="1874838" y="1785938"/>
            <a:ext cx="890587"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１</a:t>
            </a:r>
            <a:endParaRPr lang="zh-CN" altLang="en-US" sz="2400" b="1">
              <a:latin typeface="Times New Roman" pitchFamily="18" charset="0"/>
            </a:endParaRPr>
          </a:p>
        </p:txBody>
      </p:sp>
      <p:sp>
        <p:nvSpPr>
          <p:cNvPr id="155656" name="Rectangle 8"/>
          <p:cNvSpPr>
            <a:spLocks noChangeArrowheads="1"/>
          </p:cNvSpPr>
          <p:nvPr/>
        </p:nvSpPr>
        <p:spPr bwMode="auto">
          <a:xfrm>
            <a:off x="2752725" y="1785938"/>
            <a:ext cx="890588"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２</a:t>
            </a:r>
          </a:p>
        </p:txBody>
      </p:sp>
      <p:sp>
        <p:nvSpPr>
          <p:cNvPr id="155657" name="Rectangle 9"/>
          <p:cNvSpPr>
            <a:spLocks noChangeArrowheads="1"/>
          </p:cNvSpPr>
          <p:nvPr/>
        </p:nvSpPr>
        <p:spPr bwMode="auto">
          <a:xfrm>
            <a:off x="3643313" y="1785938"/>
            <a:ext cx="890587" cy="719137"/>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v</a:t>
            </a:r>
            <a:r>
              <a:rPr lang="zh-CN" altLang="en-US" sz="2400" b="1" baseline="-25000">
                <a:latin typeface="Times New Roman" pitchFamily="18" charset="0"/>
              </a:rPr>
              <a:t>３</a:t>
            </a:r>
          </a:p>
        </p:txBody>
      </p:sp>
      <p:sp>
        <p:nvSpPr>
          <p:cNvPr id="155658" name="Rectangle 10"/>
          <p:cNvSpPr>
            <a:spLocks noChangeArrowheads="1"/>
          </p:cNvSpPr>
          <p:nvPr/>
        </p:nvSpPr>
        <p:spPr bwMode="auto">
          <a:xfrm>
            <a:off x="4521200" y="1787525"/>
            <a:ext cx="1211263" cy="719138"/>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5659" name="Rectangle 11"/>
          <p:cNvSpPr>
            <a:spLocks noChangeArrowheads="1"/>
          </p:cNvSpPr>
          <p:nvPr/>
        </p:nvSpPr>
        <p:spPr bwMode="auto">
          <a:xfrm>
            <a:off x="963613" y="2505075"/>
            <a:ext cx="890587" cy="719138"/>
          </a:xfrm>
          <a:prstGeom prst="rect">
            <a:avLst/>
          </a:prstGeom>
          <a:solidFill>
            <a:schemeClr val="accent1"/>
          </a:solidFill>
          <a:ln w="9525">
            <a:solidFill>
              <a:schemeClr val="tx1"/>
            </a:solidFill>
            <a:miter lim="800000"/>
            <a:headEnd/>
            <a:tailEnd/>
          </a:ln>
        </p:spPr>
        <p:txBody>
          <a:bodyPr wrap="none" anchor="ctr"/>
          <a:lstStyle/>
          <a:p>
            <a:r>
              <a:rPr lang="zh-CN" altLang="en-US" sz="2400" b="1" i="1">
                <a:latin typeface="Times New Roman" pitchFamily="18" charset="0"/>
              </a:rPr>
              <a:t>Ｎ</a:t>
            </a:r>
          </a:p>
        </p:txBody>
      </p:sp>
      <p:sp>
        <p:nvSpPr>
          <p:cNvPr id="155660" name="Rectangle 12"/>
          <p:cNvSpPr>
            <a:spLocks noChangeArrowheads="1"/>
          </p:cNvSpPr>
          <p:nvPr/>
        </p:nvSpPr>
        <p:spPr bwMode="auto">
          <a:xfrm>
            <a:off x="1873250" y="2505075"/>
            <a:ext cx="890588"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１</a:t>
            </a:r>
            <a:endParaRPr lang="zh-CN" altLang="en-US" sz="2400" b="1">
              <a:latin typeface="Times New Roman" pitchFamily="18" charset="0"/>
            </a:endParaRPr>
          </a:p>
        </p:txBody>
      </p:sp>
      <p:sp>
        <p:nvSpPr>
          <p:cNvPr id="155661" name="Rectangle 13"/>
          <p:cNvSpPr>
            <a:spLocks noChangeArrowheads="1"/>
          </p:cNvSpPr>
          <p:nvPr/>
        </p:nvSpPr>
        <p:spPr bwMode="auto">
          <a:xfrm>
            <a:off x="2751138" y="2505075"/>
            <a:ext cx="890587"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２</a:t>
            </a:r>
          </a:p>
        </p:txBody>
      </p:sp>
      <p:sp>
        <p:nvSpPr>
          <p:cNvPr id="155662" name="Rectangle 14"/>
          <p:cNvSpPr>
            <a:spLocks noChangeArrowheads="1"/>
          </p:cNvSpPr>
          <p:nvPr/>
        </p:nvSpPr>
        <p:spPr bwMode="auto">
          <a:xfrm>
            <a:off x="3641725" y="2505075"/>
            <a:ext cx="890588"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３</a:t>
            </a:r>
          </a:p>
        </p:txBody>
      </p:sp>
      <p:sp>
        <p:nvSpPr>
          <p:cNvPr id="155663" name="Rectangle 15"/>
          <p:cNvSpPr>
            <a:spLocks noChangeArrowheads="1"/>
          </p:cNvSpPr>
          <p:nvPr/>
        </p:nvSpPr>
        <p:spPr bwMode="auto">
          <a:xfrm>
            <a:off x="4519613" y="2506663"/>
            <a:ext cx="1211262" cy="719137"/>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5664" name="AutoShape 16"/>
          <p:cNvSpPr>
            <a:spLocks noChangeArrowheads="1"/>
          </p:cNvSpPr>
          <p:nvPr/>
        </p:nvSpPr>
        <p:spPr bwMode="auto">
          <a:xfrm>
            <a:off x="5859463" y="2433638"/>
            <a:ext cx="647700" cy="2159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155665" name="Text Box 17"/>
          <p:cNvSpPr txBox="1">
            <a:spLocks noChangeArrowheads="1"/>
          </p:cNvSpPr>
          <p:nvPr/>
        </p:nvSpPr>
        <p:spPr bwMode="auto">
          <a:xfrm>
            <a:off x="785813" y="3643313"/>
            <a:ext cx="5564187" cy="457200"/>
          </a:xfrm>
          <a:prstGeom prst="rect">
            <a:avLst/>
          </a:prstGeom>
          <a:noFill/>
          <a:ln w="9525">
            <a:noFill/>
            <a:miter lim="800000"/>
            <a:headEnd/>
            <a:tailEnd/>
          </a:ln>
        </p:spPr>
        <p:txBody>
          <a:bodyPr>
            <a:spAutoFit/>
          </a:bodyPr>
          <a:lstStyle/>
          <a:p>
            <a:r>
              <a:rPr lang="zh-CN" altLang="en-US" sz="2400" b="1">
                <a:latin typeface="Times New Roman" pitchFamily="18" charset="0"/>
              </a:rPr>
              <a:t>气体分子的速率 </a:t>
            </a:r>
            <a:r>
              <a:rPr lang="en-US" altLang="zh-CN" sz="2400" b="1" i="1">
                <a:latin typeface="Times New Roman" pitchFamily="18" charset="0"/>
              </a:rPr>
              <a:t>v</a:t>
            </a:r>
            <a:r>
              <a:rPr lang="en-US" altLang="zh-CN" sz="2400" b="1">
                <a:latin typeface="Times New Roman" pitchFamily="18" charset="0"/>
              </a:rPr>
              <a:t> </a:t>
            </a:r>
            <a:r>
              <a:rPr lang="zh-CN" altLang="en-US" sz="2400" b="1">
                <a:solidFill>
                  <a:srgbClr val="FF6600"/>
                </a:solidFill>
                <a:latin typeface="Times New Roman" pitchFamily="18" charset="0"/>
              </a:rPr>
              <a:t>连续分布</a:t>
            </a:r>
            <a:r>
              <a:rPr lang="zh-CN" altLang="en-US" sz="2400" b="1">
                <a:latin typeface="Times New Roman" pitchFamily="18" charset="0"/>
              </a:rPr>
              <a:t>：</a:t>
            </a:r>
          </a:p>
        </p:txBody>
      </p:sp>
      <p:graphicFrame>
        <p:nvGraphicFramePr>
          <p:cNvPr id="155666" name="Object 18"/>
          <p:cNvGraphicFramePr>
            <a:graphicFrameLocks noChangeAspect="1"/>
          </p:cNvGraphicFramePr>
          <p:nvPr/>
        </p:nvGraphicFramePr>
        <p:xfrm>
          <a:off x="1200150" y="4425950"/>
          <a:ext cx="1914525" cy="766763"/>
        </p:xfrm>
        <a:graphic>
          <a:graphicData uri="http://schemas.openxmlformats.org/presentationml/2006/ole">
            <p:oleObj spid="_x0000_s43011" name="公式" r:id="rId4" imgW="901440" imgH="393480" progId="Equation.3">
              <p:embed/>
            </p:oleObj>
          </a:graphicData>
        </a:graphic>
      </p:graphicFrame>
      <p:graphicFrame>
        <p:nvGraphicFramePr>
          <p:cNvPr id="155667" name="Object 19"/>
          <p:cNvGraphicFramePr>
            <a:graphicFrameLocks noChangeAspect="1"/>
          </p:cNvGraphicFramePr>
          <p:nvPr/>
        </p:nvGraphicFramePr>
        <p:xfrm>
          <a:off x="4295775" y="4295775"/>
          <a:ext cx="1800225" cy="825500"/>
        </p:xfrm>
        <a:graphic>
          <a:graphicData uri="http://schemas.openxmlformats.org/presentationml/2006/ole">
            <p:oleObj spid="_x0000_s43012" name="公式" r:id="rId5" imgW="787320" imgH="393480" progId="Equation.3">
              <p:embed/>
            </p:oleObj>
          </a:graphicData>
        </a:graphic>
      </p:graphicFrame>
      <p:sp>
        <p:nvSpPr>
          <p:cNvPr id="155668" name="AutoShape 20"/>
          <p:cNvSpPr>
            <a:spLocks noChangeArrowheads="1"/>
          </p:cNvSpPr>
          <p:nvPr/>
        </p:nvSpPr>
        <p:spPr bwMode="auto">
          <a:xfrm>
            <a:off x="3143250" y="4714875"/>
            <a:ext cx="792163"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55669" name="Object 21"/>
          <p:cNvGraphicFramePr>
            <a:graphicFrameLocks noChangeAspect="1"/>
          </p:cNvGraphicFramePr>
          <p:nvPr/>
        </p:nvGraphicFramePr>
        <p:xfrm>
          <a:off x="6169025" y="4283075"/>
          <a:ext cx="2087563" cy="755650"/>
        </p:xfrm>
        <a:graphic>
          <a:graphicData uri="http://schemas.openxmlformats.org/presentationml/2006/ole">
            <p:oleObj spid="_x0000_s43013" name="公式" r:id="rId6" imgW="838080" imgH="330120" progId="Equation.3">
              <p:embed/>
            </p:oleObj>
          </a:graphicData>
        </a:graphic>
      </p:graphicFrame>
      <p:graphicFrame>
        <p:nvGraphicFramePr>
          <p:cNvPr id="23" name="Object 27"/>
          <p:cNvGraphicFramePr>
            <a:graphicFrameLocks noChangeAspect="1"/>
          </p:cNvGraphicFramePr>
          <p:nvPr/>
        </p:nvGraphicFramePr>
        <p:xfrm>
          <a:off x="1657350" y="5500688"/>
          <a:ext cx="1339850" cy="604837"/>
        </p:xfrm>
        <a:graphic>
          <a:graphicData uri="http://schemas.openxmlformats.org/presentationml/2006/ole">
            <p:oleObj spid="_x0000_s43014" name="公式" r:id="rId7" imgW="761760" imgH="355320" progId="Equation.3">
              <p:embed/>
            </p:oleObj>
          </a:graphicData>
        </a:graphic>
      </p:graphicFrame>
      <p:sp>
        <p:nvSpPr>
          <p:cNvPr id="24" name="Rectangle 28"/>
          <p:cNvSpPr>
            <a:spLocks noChangeArrowheads="1"/>
          </p:cNvSpPr>
          <p:nvPr/>
        </p:nvSpPr>
        <p:spPr bwMode="auto">
          <a:xfrm>
            <a:off x="746125" y="5565775"/>
            <a:ext cx="1576388" cy="457200"/>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思考：</a:t>
            </a:r>
            <a:r>
              <a:rPr kumimoji="1" lang="zh-CN" altLang="en-US" sz="2400" b="1">
                <a:solidFill>
                  <a:srgbClr val="FF0000"/>
                </a:solidFill>
                <a:latin typeface="Times New Roman" pitchFamily="18" charset="0"/>
                <a:ea typeface="楷体_GB2312" pitchFamily="49" charset="-122"/>
              </a:rPr>
              <a:t>                          </a:t>
            </a:r>
            <a:endParaRPr kumimoji="1" lang="zh-CN" altLang="en-US" sz="2400" b="1">
              <a:solidFill>
                <a:srgbClr val="FF0000"/>
              </a:solidFill>
              <a:latin typeface="Times New Roman" pitchFamily="18" charset="0"/>
            </a:endParaRPr>
          </a:p>
        </p:txBody>
      </p:sp>
      <p:sp>
        <p:nvSpPr>
          <p:cNvPr id="25" name="Rectangle 29"/>
          <p:cNvSpPr>
            <a:spLocks noChangeArrowheads="1"/>
          </p:cNvSpPr>
          <p:nvPr/>
        </p:nvSpPr>
        <p:spPr bwMode="auto">
          <a:xfrm>
            <a:off x="2951163" y="5527675"/>
            <a:ext cx="5688012" cy="479425"/>
          </a:xfrm>
          <a:prstGeom prst="rect">
            <a:avLst/>
          </a:prstGeom>
          <a:noFill/>
          <a:ln w="9525">
            <a:noFill/>
            <a:miter lim="800000"/>
            <a:headEnd/>
            <a:tailEnd/>
          </a:ln>
        </p:spPr>
        <p:txBody>
          <a:bodyPr>
            <a:spAutoFit/>
          </a:bodyPr>
          <a:lstStyle/>
          <a:p>
            <a:pPr>
              <a:lnSpc>
                <a:spcPct val="115000"/>
              </a:lnSpc>
              <a:defRPr/>
            </a:pPr>
            <a:r>
              <a:rPr kumimoji="1" lang="zh-CN" altLang="en-US" sz="2400" b="1">
                <a:latin typeface="Times New Roman" pitchFamily="18" charset="0"/>
                <a:ea typeface="+mn-ea"/>
                <a:cs typeface="Times New Roman" pitchFamily="18" charset="0"/>
              </a:rPr>
              <a:t>是否表示在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1</a:t>
            </a:r>
            <a:r>
              <a:rPr kumimoji="1" lang="en-US" altLang="zh-CN" sz="2400" b="1">
                <a:solidFill>
                  <a:srgbClr val="FF0000"/>
                </a:solidFill>
                <a:latin typeface="Times New Roman" pitchFamily="18" charset="0"/>
                <a:ea typeface="+mn-ea"/>
                <a:cs typeface="Times New Roman" pitchFamily="18" charset="0"/>
              </a:rPr>
              <a:t> ~ </a:t>
            </a:r>
            <a:r>
              <a:rPr kumimoji="1" lang="en-US" altLang="zh-CN" sz="2400" b="1" i="1">
                <a:solidFill>
                  <a:srgbClr val="FF0000"/>
                </a:solidFill>
                <a:latin typeface="Times New Roman" pitchFamily="18" charset="0"/>
                <a:ea typeface="+mn-ea"/>
                <a:cs typeface="Times New Roman" pitchFamily="18" charset="0"/>
              </a:rPr>
              <a:t>v</a:t>
            </a:r>
            <a:r>
              <a:rPr kumimoji="1" lang="en-US" altLang="zh-CN" sz="2400" b="1" baseline="-25000">
                <a:solidFill>
                  <a:srgbClr val="FF0000"/>
                </a:solidFill>
                <a:latin typeface="Times New Roman" pitchFamily="18" charset="0"/>
                <a:ea typeface="+mn-ea"/>
                <a:cs typeface="Times New Roman" pitchFamily="18" charset="0"/>
              </a:rPr>
              <a:t>2</a:t>
            </a:r>
            <a:r>
              <a:rPr kumimoji="1" lang="en-US" altLang="zh-CN" sz="2400" baseline="-25000">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区间内的平均速率 ？</a:t>
            </a:r>
          </a:p>
        </p:txBody>
      </p:sp>
      <p:sp>
        <p:nvSpPr>
          <p:cNvPr id="26" name="AutoShape 30"/>
          <p:cNvSpPr>
            <a:spLocks noChangeArrowheads="1"/>
          </p:cNvSpPr>
          <p:nvPr/>
        </p:nvSpPr>
        <p:spPr bwMode="auto">
          <a:xfrm>
            <a:off x="385763" y="5508625"/>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wipe(left)">
                                      <p:cBhvr>
                                        <p:cTn id="7" dur="500"/>
                                        <p:tgtEl>
                                          <p:spTgt spid="155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53"/>
                                        </p:tgtEl>
                                        <p:attrNameLst>
                                          <p:attrName>style.visibility</p:attrName>
                                        </p:attrNameLst>
                                      </p:cBhvr>
                                      <p:to>
                                        <p:strVal val="visible"/>
                                      </p:to>
                                    </p:set>
                                    <p:animEffect transition="in" filter="wipe(left)">
                                      <p:cBhvr>
                                        <p:cTn id="12" dur="500"/>
                                        <p:tgtEl>
                                          <p:spTgt spid="1556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54"/>
                                        </p:tgtEl>
                                        <p:attrNameLst>
                                          <p:attrName>style.visibility</p:attrName>
                                        </p:attrNameLst>
                                      </p:cBhvr>
                                      <p:to>
                                        <p:strVal val="visible"/>
                                      </p:to>
                                    </p:set>
                                    <p:animEffect transition="in" filter="wipe(left)">
                                      <p:cBhvr>
                                        <p:cTn id="17" dur="500"/>
                                        <p:tgtEl>
                                          <p:spTgt spid="15565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55659"/>
                                        </p:tgtEl>
                                        <p:attrNameLst>
                                          <p:attrName>style.visibility</p:attrName>
                                        </p:attrNameLst>
                                      </p:cBhvr>
                                      <p:to>
                                        <p:strVal val="visible"/>
                                      </p:to>
                                    </p:set>
                                    <p:animEffect transition="in" filter="wipe(left)">
                                      <p:cBhvr>
                                        <p:cTn id="21" dur="500"/>
                                        <p:tgtEl>
                                          <p:spTgt spid="15565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5655"/>
                                        </p:tgtEl>
                                        <p:attrNameLst>
                                          <p:attrName>style.visibility</p:attrName>
                                        </p:attrNameLst>
                                      </p:cBhvr>
                                      <p:to>
                                        <p:strVal val="visible"/>
                                      </p:to>
                                    </p:set>
                                    <p:animEffect transition="in" filter="wipe(left)">
                                      <p:cBhvr>
                                        <p:cTn id="26" dur="500"/>
                                        <p:tgtEl>
                                          <p:spTgt spid="155655"/>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55656"/>
                                        </p:tgtEl>
                                        <p:attrNameLst>
                                          <p:attrName>style.visibility</p:attrName>
                                        </p:attrNameLst>
                                      </p:cBhvr>
                                      <p:to>
                                        <p:strVal val="visible"/>
                                      </p:to>
                                    </p:set>
                                    <p:animEffect transition="in" filter="wipe(left)">
                                      <p:cBhvr>
                                        <p:cTn id="30" dur="500"/>
                                        <p:tgtEl>
                                          <p:spTgt spid="155656"/>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55657"/>
                                        </p:tgtEl>
                                        <p:attrNameLst>
                                          <p:attrName>style.visibility</p:attrName>
                                        </p:attrNameLst>
                                      </p:cBhvr>
                                      <p:to>
                                        <p:strVal val="visible"/>
                                      </p:to>
                                    </p:set>
                                    <p:animEffect transition="in" filter="wipe(left)">
                                      <p:cBhvr>
                                        <p:cTn id="34" dur="500"/>
                                        <p:tgtEl>
                                          <p:spTgt spid="155657"/>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155658"/>
                                        </p:tgtEl>
                                        <p:attrNameLst>
                                          <p:attrName>style.visibility</p:attrName>
                                        </p:attrNameLst>
                                      </p:cBhvr>
                                      <p:to>
                                        <p:strVal val="visible"/>
                                      </p:to>
                                    </p:set>
                                    <p:animEffect transition="in" filter="wipe(left)">
                                      <p:cBhvr>
                                        <p:cTn id="38" dur="500"/>
                                        <p:tgtEl>
                                          <p:spTgt spid="15565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5660"/>
                                        </p:tgtEl>
                                        <p:attrNameLst>
                                          <p:attrName>style.visibility</p:attrName>
                                        </p:attrNameLst>
                                      </p:cBhvr>
                                      <p:to>
                                        <p:strVal val="visible"/>
                                      </p:to>
                                    </p:set>
                                    <p:animEffect transition="in" filter="wipe(left)">
                                      <p:cBhvr>
                                        <p:cTn id="43" dur="500"/>
                                        <p:tgtEl>
                                          <p:spTgt spid="155660"/>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55661"/>
                                        </p:tgtEl>
                                        <p:attrNameLst>
                                          <p:attrName>style.visibility</p:attrName>
                                        </p:attrNameLst>
                                      </p:cBhvr>
                                      <p:to>
                                        <p:strVal val="visible"/>
                                      </p:to>
                                    </p:set>
                                    <p:animEffect transition="in" filter="wipe(left)">
                                      <p:cBhvr>
                                        <p:cTn id="47" dur="500"/>
                                        <p:tgtEl>
                                          <p:spTgt spid="155661"/>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55662"/>
                                        </p:tgtEl>
                                        <p:attrNameLst>
                                          <p:attrName>style.visibility</p:attrName>
                                        </p:attrNameLst>
                                      </p:cBhvr>
                                      <p:to>
                                        <p:strVal val="visible"/>
                                      </p:to>
                                    </p:set>
                                    <p:animEffect transition="in" filter="wipe(left)">
                                      <p:cBhvr>
                                        <p:cTn id="51" dur="500"/>
                                        <p:tgtEl>
                                          <p:spTgt spid="155662"/>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155663"/>
                                        </p:tgtEl>
                                        <p:attrNameLst>
                                          <p:attrName>style.visibility</p:attrName>
                                        </p:attrNameLst>
                                      </p:cBhvr>
                                      <p:to>
                                        <p:strVal val="visible"/>
                                      </p:to>
                                    </p:set>
                                    <p:animEffect transition="in" filter="wipe(left)">
                                      <p:cBhvr>
                                        <p:cTn id="55" dur="500"/>
                                        <p:tgtEl>
                                          <p:spTgt spid="15566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55664"/>
                                        </p:tgtEl>
                                        <p:attrNameLst>
                                          <p:attrName>style.visibility</p:attrName>
                                        </p:attrNameLst>
                                      </p:cBhvr>
                                      <p:to>
                                        <p:strVal val="visible"/>
                                      </p:to>
                                    </p:set>
                                    <p:animEffect transition="in" filter="wipe(left)">
                                      <p:cBhvr>
                                        <p:cTn id="60" dur="500"/>
                                        <p:tgtEl>
                                          <p:spTgt spid="15566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55652"/>
                                        </p:tgtEl>
                                        <p:attrNameLst>
                                          <p:attrName>style.visibility</p:attrName>
                                        </p:attrNameLst>
                                      </p:cBhvr>
                                      <p:to>
                                        <p:strVal val="visible"/>
                                      </p:to>
                                    </p:set>
                                    <p:animEffect transition="in" filter="wipe(left)">
                                      <p:cBhvr>
                                        <p:cTn id="65" dur="500"/>
                                        <p:tgtEl>
                                          <p:spTgt spid="15565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5665"/>
                                        </p:tgtEl>
                                        <p:attrNameLst>
                                          <p:attrName>style.visibility</p:attrName>
                                        </p:attrNameLst>
                                      </p:cBhvr>
                                      <p:to>
                                        <p:strVal val="visible"/>
                                      </p:to>
                                    </p:set>
                                    <p:animEffect transition="in" filter="wipe(left)">
                                      <p:cBhvr>
                                        <p:cTn id="70" dur="500"/>
                                        <p:tgtEl>
                                          <p:spTgt spid="15566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55666"/>
                                        </p:tgtEl>
                                        <p:attrNameLst>
                                          <p:attrName>style.visibility</p:attrName>
                                        </p:attrNameLst>
                                      </p:cBhvr>
                                      <p:to>
                                        <p:strVal val="visible"/>
                                      </p:to>
                                    </p:set>
                                    <p:animEffect transition="in" filter="wipe(left)">
                                      <p:cBhvr>
                                        <p:cTn id="75" dur="500"/>
                                        <p:tgtEl>
                                          <p:spTgt spid="15566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55668"/>
                                        </p:tgtEl>
                                        <p:attrNameLst>
                                          <p:attrName>style.visibility</p:attrName>
                                        </p:attrNameLst>
                                      </p:cBhvr>
                                      <p:to>
                                        <p:strVal val="visible"/>
                                      </p:to>
                                    </p:set>
                                    <p:animEffect transition="in" filter="wipe(left)">
                                      <p:cBhvr>
                                        <p:cTn id="80" dur="500"/>
                                        <p:tgtEl>
                                          <p:spTgt spid="15566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55667"/>
                                        </p:tgtEl>
                                        <p:attrNameLst>
                                          <p:attrName>style.visibility</p:attrName>
                                        </p:attrNameLst>
                                      </p:cBhvr>
                                      <p:to>
                                        <p:strVal val="visible"/>
                                      </p:to>
                                    </p:set>
                                    <p:animEffect transition="in" filter="wipe(left)">
                                      <p:cBhvr>
                                        <p:cTn id="85" dur="500"/>
                                        <p:tgtEl>
                                          <p:spTgt spid="15566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55669"/>
                                        </p:tgtEl>
                                        <p:attrNameLst>
                                          <p:attrName>style.visibility</p:attrName>
                                        </p:attrNameLst>
                                      </p:cBhvr>
                                      <p:to>
                                        <p:strVal val="visible"/>
                                      </p:to>
                                    </p:set>
                                    <p:animEffect transition="in" filter="wipe(left)">
                                      <p:cBhvr>
                                        <p:cTn id="90" dur="500"/>
                                        <p:tgtEl>
                                          <p:spTgt spid="155669"/>
                                        </p:tgtEl>
                                      </p:cBhvr>
                                    </p:animEffect>
                                  </p:childTnLst>
                                </p:cTn>
                              </p:par>
                            </p:childTnLst>
                          </p:cTn>
                        </p:par>
                      </p:childTnLst>
                    </p:cTn>
                  </p:par>
                  <p:par>
                    <p:cTn id="91" fill="hold">
                      <p:stCondLst>
                        <p:cond delay="indefinite"/>
                      </p:stCondLst>
                      <p:childTnLst>
                        <p:par>
                          <p:cTn id="92" fill="hold">
                            <p:stCondLst>
                              <p:cond delay="0"/>
                            </p:stCondLst>
                            <p:childTnLst>
                              <p:par>
                                <p:cTn id="93" presetID="23" presetClass="entr" presetSubtype="32"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p:cTn id="95" dur="500" fill="hold"/>
                                        <p:tgtEl>
                                          <p:spTgt spid="26"/>
                                        </p:tgtEl>
                                        <p:attrNameLst>
                                          <p:attrName>ppt_w</p:attrName>
                                        </p:attrNameLst>
                                      </p:cBhvr>
                                      <p:tavLst>
                                        <p:tav tm="0">
                                          <p:val>
                                            <p:strVal val="4*#ppt_w"/>
                                          </p:val>
                                        </p:tav>
                                        <p:tav tm="100000">
                                          <p:val>
                                            <p:strVal val="#ppt_w"/>
                                          </p:val>
                                        </p:tav>
                                      </p:tavLst>
                                    </p:anim>
                                    <p:anim calcmode="lin" valueType="num">
                                      <p:cBhvr>
                                        <p:cTn id="96" dur="500" fill="hold"/>
                                        <p:tgtEl>
                                          <p:spTgt spid="26"/>
                                        </p:tgtEl>
                                        <p:attrNameLst>
                                          <p:attrName>ppt_h</p:attrName>
                                        </p:attrNameLst>
                                      </p:cBhvr>
                                      <p:tavLst>
                                        <p:tav tm="0">
                                          <p:val>
                                            <p:strVal val="4*#ppt_h"/>
                                          </p:val>
                                        </p:tav>
                                        <p:tav tm="100000">
                                          <p:val>
                                            <p:strVal val="#ppt_h"/>
                                          </p:val>
                                        </p:tav>
                                      </p:tavLst>
                                    </p:anim>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wipe(left)">
                                      <p:cBhvr>
                                        <p:cTn id="100" dur="500"/>
                                        <p:tgtEl>
                                          <p:spTgt spid="2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wipe(left)">
                                      <p:cBhvr>
                                        <p:cTn id="105" dur="500"/>
                                        <p:tgtEl>
                                          <p:spTgt spid="23"/>
                                        </p:tgtEl>
                                      </p:cBhvr>
                                    </p:animEffect>
                                  </p:childTnLst>
                                </p:cTn>
                              </p:par>
                            </p:childTnLst>
                          </p:cTn>
                        </p:par>
                        <p:par>
                          <p:cTn id="106" fill="hold">
                            <p:stCondLst>
                              <p:cond delay="500"/>
                            </p:stCondLst>
                            <p:childTnLst>
                              <p:par>
                                <p:cTn id="107" presetID="22" presetClass="entr" presetSubtype="8" fill="hold" grpId="0" nodeType="after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wipe(left)">
                                      <p:cBhvr>
                                        <p:cTn id="10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p:bldP spid="155653" grpId="0"/>
      <p:bldP spid="155654" grpId="0" animBg="1"/>
      <p:bldP spid="155655" grpId="0" animBg="1"/>
      <p:bldP spid="155656" grpId="0" animBg="1"/>
      <p:bldP spid="155657" grpId="0" animBg="1"/>
      <p:bldP spid="155658" grpId="0" animBg="1"/>
      <p:bldP spid="155659" grpId="0" animBg="1"/>
      <p:bldP spid="155660" grpId="0" animBg="1"/>
      <p:bldP spid="155661" grpId="0" animBg="1"/>
      <p:bldP spid="155662" grpId="0" animBg="1"/>
      <p:bldP spid="155663" grpId="0" animBg="1"/>
      <p:bldP spid="155664" grpId="0" animBg="1"/>
      <p:bldP spid="155665" grpId="0"/>
      <p:bldP spid="155668" grpId="0" animBg="1"/>
      <p:bldP spid="24" grpId="0"/>
      <p:bldP spid="25" grpId="0"/>
      <p:bldP spid="2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Text Box 2"/>
          <p:cNvSpPr txBox="1">
            <a:spLocks noChangeArrowheads="1"/>
          </p:cNvSpPr>
          <p:nvPr/>
        </p:nvSpPr>
        <p:spPr bwMode="auto">
          <a:xfrm>
            <a:off x="1017588" y="554038"/>
            <a:ext cx="4275137" cy="457200"/>
          </a:xfrm>
          <a:prstGeom prst="rect">
            <a:avLst/>
          </a:prstGeom>
          <a:noFill/>
          <a:ln w="9525">
            <a:noFill/>
            <a:miter lim="800000"/>
            <a:headEnd/>
            <a:tailEnd/>
          </a:ln>
        </p:spPr>
        <p:txBody>
          <a:bodyPr>
            <a:spAutoFit/>
          </a:bodyPr>
          <a:lstStyle/>
          <a:p>
            <a:pPr>
              <a:spcBef>
                <a:spcPct val="50000"/>
              </a:spcBef>
              <a:defRPr/>
            </a:pPr>
            <a:r>
              <a:rPr kumimoji="1" lang="zh-CN" altLang="en-US" sz="2400" b="1">
                <a:latin typeface="Times New Roman" pitchFamily="18" charset="0"/>
                <a:ea typeface="+mn-ea"/>
                <a:cs typeface="Times New Roman" pitchFamily="18" charset="0"/>
              </a:rPr>
              <a:t>从平均速率的计算公式出发</a:t>
            </a:r>
          </a:p>
        </p:txBody>
      </p:sp>
      <p:graphicFrame>
        <p:nvGraphicFramePr>
          <p:cNvPr id="285699" name="Object 3"/>
          <p:cNvGraphicFramePr>
            <a:graphicFrameLocks noChangeAspect="1"/>
          </p:cNvGraphicFramePr>
          <p:nvPr/>
        </p:nvGraphicFramePr>
        <p:xfrm>
          <a:off x="5145088" y="414338"/>
          <a:ext cx="1854200" cy="731837"/>
        </p:xfrm>
        <a:graphic>
          <a:graphicData uri="http://schemas.openxmlformats.org/presentationml/2006/ole">
            <p:oleObj spid="_x0000_s44034" name="公式" r:id="rId3" imgW="1028520" imgH="406080" progId="Equation.3">
              <p:embed/>
            </p:oleObj>
          </a:graphicData>
        </a:graphic>
      </p:graphicFrame>
      <p:sp>
        <p:nvSpPr>
          <p:cNvPr id="285700" name="Text Box 4"/>
          <p:cNvSpPr txBox="1">
            <a:spLocks noChangeArrowheads="1"/>
          </p:cNvSpPr>
          <p:nvPr/>
        </p:nvSpPr>
        <p:spPr bwMode="auto">
          <a:xfrm>
            <a:off x="971550" y="1190625"/>
            <a:ext cx="5626100" cy="457200"/>
          </a:xfrm>
          <a:prstGeom prst="rect">
            <a:avLst/>
          </a:prstGeom>
          <a:noFill/>
          <a:ln w="9525">
            <a:noFill/>
            <a:miter lim="800000"/>
            <a:headEnd/>
            <a:tailEnd/>
          </a:ln>
        </p:spPr>
        <p:txBody>
          <a:bodyPr>
            <a:spAutoFit/>
          </a:bodyPr>
          <a:lstStyle/>
          <a:p>
            <a:pPr>
              <a:spcBef>
                <a:spcPct val="50000"/>
              </a:spcBef>
              <a:defRPr/>
            </a:pPr>
            <a:r>
              <a:rPr kumimoji="1" lang="en-US" altLang="zh-CN" sz="2400" b="1" i="1" dirty="0">
                <a:solidFill>
                  <a:srgbClr val="0000FF"/>
                </a:solidFill>
                <a:latin typeface="Times New Roman" pitchFamily="18" charset="0"/>
                <a:ea typeface="+mn-ea"/>
                <a:cs typeface="Times New Roman" pitchFamily="18" charset="0"/>
              </a:rPr>
              <a:t>N′</a:t>
            </a:r>
            <a:r>
              <a:rPr kumimoji="1" lang="zh-CN" altLang="en-US" sz="2400" b="1" dirty="0">
                <a:latin typeface="Times New Roman" pitchFamily="18" charset="0"/>
                <a:ea typeface="+mn-ea"/>
                <a:cs typeface="Times New Roman" pitchFamily="18" charset="0"/>
              </a:rPr>
              <a:t>表示在 </a:t>
            </a:r>
            <a:r>
              <a:rPr kumimoji="1" lang="en-US" altLang="zh-CN" sz="2400" b="1" i="1" dirty="0">
                <a:solidFill>
                  <a:srgbClr val="FF6600"/>
                </a:solidFill>
                <a:latin typeface="Times New Roman" pitchFamily="18" charset="0"/>
                <a:ea typeface="+mn-ea"/>
                <a:cs typeface="Times New Roman" pitchFamily="18" charset="0"/>
              </a:rPr>
              <a:t>v</a:t>
            </a:r>
            <a:r>
              <a:rPr kumimoji="1" lang="en-US" altLang="zh-CN" sz="2400" b="1" baseline="-25000" dirty="0">
                <a:solidFill>
                  <a:srgbClr val="FF6600"/>
                </a:solidFill>
                <a:latin typeface="Times New Roman" pitchFamily="18" charset="0"/>
                <a:ea typeface="+mn-ea"/>
                <a:cs typeface="Times New Roman" pitchFamily="18" charset="0"/>
              </a:rPr>
              <a:t>1 </a:t>
            </a:r>
            <a:r>
              <a:rPr kumimoji="1" lang="en-US" altLang="zh-CN" sz="2400" b="1" dirty="0">
                <a:solidFill>
                  <a:srgbClr val="FF6600"/>
                </a:solidFill>
                <a:latin typeface="Times New Roman" pitchFamily="18" charset="0"/>
                <a:ea typeface="+mn-ea"/>
                <a:cs typeface="Times New Roman" pitchFamily="18" charset="0"/>
              </a:rPr>
              <a:t>~ </a:t>
            </a:r>
            <a:r>
              <a:rPr kumimoji="1" lang="en-US" altLang="zh-CN" sz="2400" b="1" i="1" dirty="0">
                <a:solidFill>
                  <a:srgbClr val="FF6600"/>
                </a:solidFill>
                <a:latin typeface="Times New Roman" pitchFamily="18" charset="0"/>
                <a:ea typeface="+mn-ea"/>
                <a:cs typeface="Times New Roman" pitchFamily="18" charset="0"/>
              </a:rPr>
              <a:t>v</a:t>
            </a:r>
            <a:r>
              <a:rPr kumimoji="1" lang="en-US" altLang="zh-CN" sz="2400" b="1" baseline="-25000" dirty="0">
                <a:solidFill>
                  <a:srgbClr val="FF6600"/>
                </a:solidFill>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区间内的分子数</a:t>
            </a:r>
          </a:p>
        </p:txBody>
      </p:sp>
      <p:sp>
        <p:nvSpPr>
          <p:cNvPr id="285701" name="Text Box 5"/>
          <p:cNvSpPr txBox="1">
            <a:spLocks noChangeArrowheads="1"/>
          </p:cNvSpPr>
          <p:nvPr/>
        </p:nvSpPr>
        <p:spPr bwMode="auto">
          <a:xfrm>
            <a:off x="1149350" y="2089150"/>
            <a:ext cx="1216025" cy="457200"/>
          </a:xfrm>
          <a:prstGeom prst="rect">
            <a:avLst/>
          </a:prstGeom>
          <a:noFill/>
          <a:ln w="9525">
            <a:noFill/>
            <a:miter lim="800000"/>
            <a:headEnd/>
            <a:tailEnd/>
          </a:ln>
        </p:spPr>
        <p:txBody>
          <a:bodyPr>
            <a:spAutoFit/>
          </a:bodyPr>
          <a:lstStyle/>
          <a:p>
            <a:pPr>
              <a:spcBef>
                <a:spcPct val="50000"/>
              </a:spcBef>
              <a:defRPr/>
            </a:pPr>
            <a:r>
              <a:rPr kumimoji="1" lang="zh-CN" altLang="en-US" sz="2400" b="1">
                <a:latin typeface="Times New Roman" pitchFamily="18" charset="0"/>
                <a:ea typeface="+mn-ea"/>
                <a:cs typeface="Times New Roman" pitchFamily="18" charset="0"/>
              </a:rPr>
              <a:t>故：</a:t>
            </a:r>
          </a:p>
        </p:txBody>
      </p:sp>
      <p:graphicFrame>
        <p:nvGraphicFramePr>
          <p:cNvPr id="285702" name="Object 6"/>
          <p:cNvGraphicFramePr>
            <a:graphicFrameLocks noChangeAspect="1"/>
          </p:cNvGraphicFramePr>
          <p:nvPr/>
        </p:nvGraphicFramePr>
        <p:xfrm>
          <a:off x="1827213" y="1697038"/>
          <a:ext cx="3116262" cy="1371600"/>
        </p:xfrm>
        <a:graphic>
          <a:graphicData uri="http://schemas.openxmlformats.org/presentationml/2006/ole">
            <p:oleObj spid="_x0000_s44035" name="公式" r:id="rId4" imgW="1726920" imgH="761760" progId="Equation.3">
              <p:embed/>
            </p:oleObj>
          </a:graphicData>
        </a:graphic>
      </p:graphicFrame>
      <p:graphicFrame>
        <p:nvGraphicFramePr>
          <p:cNvPr id="285703" name="Object 7"/>
          <p:cNvGraphicFramePr>
            <a:graphicFrameLocks noChangeAspect="1"/>
          </p:cNvGraphicFramePr>
          <p:nvPr/>
        </p:nvGraphicFramePr>
        <p:xfrm>
          <a:off x="5021263" y="1697038"/>
          <a:ext cx="1284287" cy="1371600"/>
        </p:xfrm>
        <a:graphic>
          <a:graphicData uri="http://schemas.openxmlformats.org/presentationml/2006/ole">
            <p:oleObj spid="_x0000_s44036" name="公式" r:id="rId5" imgW="711000" imgH="761760" progId="Equation.3">
              <p:embed/>
            </p:oleObj>
          </a:graphicData>
        </a:graphic>
      </p:graphicFrame>
      <p:sp>
        <p:nvSpPr>
          <p:cNvPr id="285704" name="Text Box 8"/>
          <p:cNvSpPr txBox="1">
            <a:spLocks noChangeArrowheads="1"/>
          </p:cNvSpPr>
          <p:nvPr/>
        </p:nvSpPr>
        <p:spPr bwMode="auto">
          <a:xfrm>
            <a:off x="341313" y="3298825"/>
            <a:ext cx="5445125" cy="457200"/>
          </a:xfrm>
          <a:prstGeom prst="rect">
            <a:avLst/>
          </a:prstGeom>
          <a:noFill/>
          <a:ln w="9525">
            <a:noFill/>
            <a:miter lim="800000"/>
            <a:headEnd/>
            <a:tailEnd/>
          </a:ln>
        </p:spPr>
        <p:txBody>
          <a:bodyPr>
            <a:spAutoFit/>
          </a:bodyPr>
          <a:lstStyle/>
          <a:p>
            <a:pPr>
              <a:spcBef>
                <a:spcPct val="50000"/>
              </a:spcBef>
              <a:defRPr/>
            </a:pPr>
            <a:r>
              <a:rPr kumimoji="1" lang="en-US" altLang="zh-CN" sz="2400" b="1" i="1">
                <a:solidFill>
                  <a:srgbClr val="0000FF"/>
                </a:solidFill>
                <a:latin typeface="Times New Roman" pitchFamily="18" charset="0"/>
                <a:ea typeface="+mn-ea"/>
                <a:cs typeface="Times New Roman" pitchFamily="18" charset="0"/>
              </a:rPr>
              <a:t>N </a:t>
            </a:r>
            <a:r>
              <a:rPr kumimoji="1" lang="zh-CN" altLang="en-US" sz="2400" b="1">
                <a:latin typeface="Times New Roman" pitchFamily="18" charset="0"/>
                <a:ea typeface="+mn-ea"/>
                <a:cs typeface="Times New Roman" pitchFamily="18" charset="0"/>
              </a:rPr>
              <a:t>表示在 </a:t>
            </a:r>
            <a:r>
              <a:rPr kumimoji="1" lang="en-US" altLang="zh-CN" sz="2400" b="1">
                <a:solidFill>
                  <a:srgbClr val="FF6600"/>
                </a:solidFill>
                <a:latin typeface="Times New Roman" pitchFamily="18" charset="0"/>
                <a:ea typeface="+mn-ea"/>
                <a:cs typeface="Times New Roman" pitchFamily="18" charset="0"/>
              </a:rPr>
              <a:t>0</a:t>
            </a:r>
            <a:r>
              <a:rPr kumimoji="1" lang="en-US" altLang="zh-CN" sz="2400" b="1" i="1">
                <a:solidFill>
                  <a:srgbClr val="FF6600"/>
                </a:solidFill>
                <a:latin typeface="Times New Roman" pitchFamily="18" charset="0"/>
                <a:ea typeface="+mn-ea"/>
                <a:cs typeface="Times New Roman" pitchFamily="18" charset="0"/>
              </a:rPr>
              <a:t> </a:t>
            </a:r>
            <a:r>
              <a:rPr kumimoji="1" lang="en-US" altLang="zh-CN" sz="2400" b="1">
                <a:solidFill>
                  <a:srgbClr val="FF6600"/>
                </a:solidFill>
                <a:latin typeface="Times New Roman" pitchFamily="18" charset="0"/>
                <a:ea typeface="+mn-ea"/>
                <a:cs typeface="Times New Roman" pitchFamily="18" charset="0"/>
              </a:rPr>
              <a:t>~∞</a:t>
            </a:r>
            <a:r>
              <a:rPr kumimoji="1" lang="en-US" altLang="zh-CN" sz="2400" b="1" i="1">
                <a:solidFill>
                  <a:srgbClr val="FF6600"/>
                </a:solidFill>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区间内的分子总数，</a:t>
            </a:r>
          </a:p>
        </p:txBody>
      </p:sp>
      <p:graphicFrame>
        <p:nvGraphicFramePr>
          <p:cNvPr id="285705" name="Object 9"/>
          <p:cNvGraphicFramePr>
            <a:graphicFrameLocks noChangeAspect="1"/>
          </p:cNvGraphicFramePr>
          <p:nvPr/>
        </p:nvGraphicFramePr>
        <p:xfrm>
          <a:off x="5246688" y="3205163"/>
          <a:ext cx="1671637" cy="731837"/>
        </p:xfrm>
        <a:graphic>
          <a:graphicData uri="http://schemas.openxmlformats.org/presentationml/2006/ole">
            <p:oleObj spid="_x0000_s44037" name="公式" r:id="rId6" imgW="927000" imgH="406080" progId="Equation.3">
              <p:embed/>
            </p:oleObj>
          </a:graphicData>
        </a:graphic>
      </p:graphicFrame>
      <p:graphicFrame>
        <p:nvGraphicFramePr>
          <p:cNvPr id="285706" name="Object 10"/>
          <p:cNvGraphicFramePr>
            <a:graphicFrameLocks noChangeAspect="1"/>
          </p:cNvGraphicFramePr>
          <p:nvPr/>
        </p:nvGraphicFramePr>
        <p:xfrm>
          <a:off x="7170738" y="3159125"/>
          <a:ext cx="1812925" cy="730250"/>
        </p:xfrm>
        <a:graphic>
          <a:graphicData uri="http://schemas.openxmlformats.org/presentationml/2006/ole">
            <p:oleObj spid="_x0000_s44038" name="公式" r:id="rId7" imgW="1002960" imgH="406080" progId="Equation.3">
              <p:embed/>
            </p:oleObj>
          </a:graphicData>
        </a:graphic>
      </p:graphicFrame>
      <p:graphicFrame>
        <p:nvGraphicFramePr>
          <p:cNvPr id="285707" name="Object 11"/>
          <p:cNvGraphicFramePr>
            <a:graphicFrameLocks noChangeAspect="1"/>
          </p:cNvGraphicFramePr>
          <p:nvPr/>
        </p:nvGraphicFramePr>
        <p:xfrm>
          <a:off x="1947863" y="4013200"/>
          <a:ext cx="1905000" cy="1371600"/>
        </p:xfrm>
        <a:graphic>
          <a:graphicData uri="http://schemas.openxmlformats.org/presentationml/2006/ole">
            <p:oleObj spid="_x0000_s44039" name="公式" r:id="rId8" imgW="1054080" imgH="761760" progId="Equation.3">
              <p:embed/>
            </p:oleObj>
          </a:graphicData>
        </a:graphic>
      </p:graphicFrame>
      <p:sp>
        <p:nvSpPr>
          <p:cNvPr id="285708" name="Text Box 12"/>
          <p:cNvSpPr txBox="1">
            <a:spLocks noChangeArrowheads="1"/>
          </p:cNvSpPr>
          <p:nvPr/>
        </p:nvSpPr>
        <p:spPr bwMode="auto">
          <a:xfrm>
            <a:off x="1150938" y="4508500"/>
            <a:ext cx="765175" cy="457200"/>
          </a:xfrm>
          <a:prstGeom prst="rect">
            <a:avLst/>
          </a:prstGeom>
          <a:noFill/>
          <a:ln w="9525">
            <a:noFill/>
            <a:miter lim="800000"/>
            <a:headEnd/>
            <a:tailEnd/>
          </a:ln>
        </p:spPr>
        <p:txBody>
          <a:bodyPr>
            <a:spAutoFit/>
          </a:bodyPr>
          <a:lstStyle/>
          <a:p>
            <a:pPr>
              <a:spcBef>
                <a:spcPct val="50000"/>
              </a:spcBef>
              <a:defRPr/>
            </a:pPr>
            <a:r>
              <a:rPr kumimoji="1" lang="zh-CN" altLang="en-US" sz="2400" b="1">
                <a:latin typeface="Times New Roman" pitchFamily="18" charset="0"/>
                <a:ea typeface="+mn-ea"/>
                <a:cs typeface="Times New Roman" pitchFamily="18" charset="0"/>
              </a:rPr>
              <a:t>则</a:t>
            </a:r>
          </a:p>
        </p:txBody>
      </p:sp>
      <p:graphicFrame>
        <p:nvGraphicFramePr>
          <p:cNvPr id="285709" name="Object 13"/>
          <p:cNvGraphicFramePr>
            <a:graphicFrameLocks noChangeAspect="1"/>
          </p:cNvGraphicFramePr>
          <p:nvPr/>
        </p:nvGraphicFramePr>
        <p:xfrm>
          <a:off x="3930650" y="4089400"/>
          <a:ext cx="1492250" cy="1230313"/>
        </p:xfrm>
        <a:graphic>
          <a:graphicData uri="http://schemas.openxmlformats.org/presentationml/2006/ole">
            <p:oleObj spid="_x0000_s44040" name="公式" r:id="rId9" imgW="825480" imgH="685800" progId="Equation.3">
              <p:embed/>
            </p:oleObj>
          </a:graphicData>
        </a:graphic>
      </p:graphicFrame>
      <p:graphicFrame>
        <p:nvGraphicFramePr>
          <p:cNvPr id="285710" name="Object 14"/>
          <p:cNvGraphicFramePr>
            <a:graphicFrameLocks noChangeAspect="1"/>
          </p:cNvGraphicFramePr>
          <p:nvPr/>
        </p:nvGraphicFramePr>
        <p:xfrm>
          <a:off x="698500" y="5483225"/>
          <a:ext cx="1352550" cy="641350"/>
        </p:xfrm>
        <a:graphic>
          <a:graphicData uri="http://schemas.openxmlformats.org/presentationml/2006/ole">
            <p:oleObj spid="_x0000_s44041" name="公式" r:id="rId10" imgW="749160" imgH="355320" progId="Equation.3">
              <p:embed/>
            </p:oleObj>
          </a:graphicData>
        </a:graphic>
      </p:graphicFrame>
      <p:sp>
        <p:nvSpPr>
          <p:cNvPr id="285711" name="Text Box 15"/>
          <p:cNvSpPr txBox="1">
            <a:spLocks noChangeArrowheads="1"/>
          </p:cNvSpPr>
          <p:nvPr/>
        </p:nvSpPr>
        <p:spPr bwMode="auto">
          <a:xfrm>
            <a:off x="2276475" y="5576888"/>
            <a:ext cx="5940425" cy="830262"/>
          </a:xfrm>
          <a:prstGeom prst="rect">
            <a:avLst/>
          </a:prstGeom>
          <a:noFill/>
          <a:ln w="9525">
            <a:noFill/>
            <a:miter lim="800000"/>
            <a:headEnd/>
            <a:tailEnd/>
          </a:ln>
        </p:spPr>
        <p:txBody>
          <a:bodyPr>
            <a:spAutoFit/>
          </a:bodyPr>
          <a:lstStyle/>
          <a:p>
            <a:pPr>
              <a:spcBef>
                <a:spcPct val="50000"/>
              </a:spcBef>
              <a:defRPr/>
            </a:pPr>
            <a:r>
              <a:rPr kumimoji="1" lang="zh-CN" altLang="en-US" sz="2400" b="1" dirty="0">
                <a:latin typeface="Times New Roman" pitchFamily="18" charset="0"/>
                <a:ea typeface="+mn-ea"/>
                <a:cs typeface="Times New Roman" pitchFamily="18" charset="0"/>
              </a:rPr>
              <a:t>表示理想气体在平衡态下，在 </a:t>
            </a:r>
            <a:r>
              <a:rPr kumimoji="1" lang="en-US" altLang="zh-CN" sz="2400" b="1" i="1" dirty="0">
                <a:solidFill>
                  <a:srgbClr val="FF6600"/>
                </a:solidFill>
                <a:latin typeface="Times New Roman" pitchFamily="18" charset="0"/>
                <a:ea typeface="+mn-ea"/>
                <a:cs typeface="Times New Roman" pitchFamily="18" charset="0"/>
              </a:rPr>
              <a:t>v</a:t>
            </a:r>
            <a:r>
              <a:rPr kumimoji="1" lang="en-US" altLang="zh-CN" sz="2400" b="1" baseline="-25000" dirty="0">
                <a:solidFill>
                  <a:srgbClr val="FF6600"/>
                </a:solidFill>
                <a:latin typeface="Times New Roman" pitchFamily="18" charset="0"/>
                <a:ea typeface="+mn-ea"/>
                <a:cs typeface="Times New Roman" pitchFamily="18" charset="0"/>
              </a:rPr>
              <a:t>1</a:t>
            </a:r>
            <a:r>
              <a:rPr kumimoji="1" lang="en-US" altLang="zh-CN" sz="2400" b="1" dirty="0">
                <a:solidFill>
                  <a:srgbClr val="FF6600"/>
                </a:solidFill>
                <a:latin typeface="Times New Roman" pitchFamily="18" charset="0"/>
                <a:ea typeface="+mn-ea"/>
                <a:cs typeface="Times New Roman" pitchFamily="18" charset="0"/>
              </a:rPr>
              <a:t> </a:t>
            </a:r>
            <a:r>
              <a:rPr kumimoji="1" lang="en-US" altLang="zh-CN" sz="2400" b="1" i="1" dirty="0">
                <a:solidFill>
                  <a:srgbClr val="FF6600"/>
                </a:solidFill>
                <a:latin typeface="Times New Roman" pitchFamily="18" charset="0"/>
                <a:ea typeface="+mn-ea"/>
                <a:cs typeface="Times New Roman" pitchFamily="18" charset="0"/>
              </a:rPr>
              <a:t>~v</a:t>
            </a:r>
            <a:r>
              <a:rPr kumimoji="1" lang="en-US" altLang="zh-CN" sz="2400" b="1" baseline="-25000" dirty="0">
                <a:solidFill>
                  <a:srgbClr val="FF6600"/>
                </a:solidFill>
                <a:latin typeface="Times New Roman" pitchFamily="18" charset="0"/>
                <a:ea typeface="+mn-ea"/>
                <a:cs typeface="Times New Roman" pitchFamily="18" charset="0"/>
              </a:rPr>
              <a:t>2</a:t>
            </a: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区间内分子对</a:t>
            </a:r>
            <a:r>
              <a:rPr kumimoji="1" lang="zh-CN" altLang="en-US" sz="2400" b="1" dirty="0">
                <a:solidFill>
                  <a:srgbClr val="FF6600"/>
                </a:solidFill>
                <a:latin typeface="Times New Roman" pitchFamily="18" charset="0"/>
                <a:ea typeface="+mn-ea"/>
                <a:cs typeface="Times New Roman" pitchFamily="18" charset="0"/>
              </a:rPr>
              <a:t>平均速率</a:t>
            </a:r>
            <a:r>
              <a:rPr kumimoji="1" lang="zh-CN" altLang="en-US" sz="2400" b="1" dirty="0">
                <a:latin typeface="Times New Roman" pitchFamily="18" charset="0"/>
                <a:ea typeface="+mn-ea"/>
                <a:cs typeface="Times New Roman" pitchFamily="18" charset="0"/>
              </a:rPr>
              <a:t>的贡献。</a:t>
            </a:r>
          </a:p>
        </p:txBody>
      </p:sp>
      <p:sp>
        <p:nvSpPr>
          <p:cNvPr id="16" name="AutoShape 30"/>
          <p:cNvSpPr>
            <a:spLocks noChangeArrowheads="1"/>
          </p:cNvSpPr>
          <p:nvPr/>
        </p:nvSpPr>
        <p:spPr bwMode="auto">
          <a:xfrm>
            <a:off x="285750" y="5572125"/>
            <a:ext cx="360363" cy="576263"/>
          </a:xfrm>
          <a:prstGeom prst="star4">
            <a:avLst>
              <a:gd name="adj" fmla="val 14648"/>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5698"/>
                                        </p:tgtEl>
                                        <p:attrNameLst>
                                          <p:attrName>style.visibility</p:attrName>
                                        </p:attrNameLst>
                                      </p:cBhvr>
                                      <p:to>
                                        <p:strVal val="visible"/>
                                      </p:to>
                                    </p:set>
                                    <p:animEffect transition="in" filter="wipe(left)">
                                      <p:cBhvr>
                                        <p:cTn id="7" dur="500"/>
                                        <p:tgtEl>
                                          <p:spTgt spid="285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5699"/>
                                        </p:tgtEl>
                                        <p:attrNameLst>
                                          <p:attrName>style.visibility</p:attrName>
                                        </p:attrNameLst>
                                      </p:cBhvr>
                                      <p:to>
                                        <p:strVal val="visible"/>
                                      </p:to>
                                    </p:set>
                                    <p:animEffect transition="in" filter="wipe(left)">
                                      <p:cBhvr>
                                        <p:cTn id="12" dur="500"/>
                                        <p:tgtEl>
                                          <p:spTgt spid="2856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5700"/>
                                        </p:tgtEl>
                                        <p:attrNameLst>
                                          <p:attrName>style.visibility</p:attrName>
                                        </p:attrNameLst>
                                      </p:cBhvr>
                                      <p:to>
                                        <p:strVal val="visible"/>
                                      </p:to>
                                    </p:set>
                                    <p:animEffect transition="in" filter="wipe(left)">
                                      <p:cBhvr>
                                        <p:cTn id="17" dur="500"/>
                                        <p:tgtEl>
                                          <p:spTgt spid="2857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5701"/>
                                        </p:tgtEl>
                                        <p:attrNameLst>
                                          <p:attrName>style.visibility</p:attrName>
                                        </p:attrNameLst>
                                      </p:cBhvr>
                                      <p:to>
                                        <p:strVal val="visible"/>
                                      </p:to>
                                    </p:set>
                                    <p:animEffect transition="in" filter="wipe(left)">
                                      <p:cBhvr>
                                        <p:cTn id="22" dur="500"/>
                                        <p:tgtEl>
                                          <p:spTgt spid="2857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5702"/>
                                        </p:tgtEl>
                                        <p:attrNameLst>
                                          <p:attrName>style.visibility</p:attrName>
                                        </p:attrNameLst>
                                      </p:cBhvr>
                                      <p:to>
                                        <p:strVal val="visible"/>
                                      </p:to>
                                    </p:set>
                                    <p:animEffect transition="in" filter="wipe(left)">
                                      <p:cBhvr>
                                        <p:cTn id="27" dur="500"/>
                                        <p:tgtEl>
                                          <p:spTgt spid="2857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5703"/>
                                        </p:tgtEl>
                                        <p:attrNameLst>
                                          <p:attrName>style.visibility</p:attrName>
                                        </p:attrNameLst>
                                      </p:cBhvr>
                                      <p:to>
                                        <p:strVal val="visible"/>
                                      </p:to>
                                    </p:set>
                                    <p:animEffect transition="in" filter="wipe(left)">
                                      <p:cBhvr>
                                        <p:cTn id="32" dur="500"/>
                                        <p:tgtEl>
                                          <p:spTgt spid="28570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5704"/>
                                        </p:tgtEl>
                                        <p:attrNameLst>
                                          <p:attrName>style.visibility</p:attrName>
                                        </p:attrNameLst>
                                      </p:cBhvr>
                                      <p:to>
                                        <p:strVal val="visible"/>
                                      </p:to>
                                    </p:set>
                                    <p:animEffect transition="in" filter="wipe(left)">
                                      <p:cBhvr>
                                        <p:cTn id="37" dur="500"/>
                                        <p:tgtEl>
                                          <p:spTgt spid="285704"/>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85705"/>
                                        </p:tgtEl>
                                        <p:attrNameLst>
                                          <p:attrName>style.visibility</p:attrName>
                                        </p:attrNameLst>
                                      </p:cBhvr>
                                      <p:to>
                                        <p:strVal val="visible"/>
                                      </p:to>
                                    </p:set>
                                    <p:animEffect transition="in" filter="wipe(left)">
                                      <p:cBhvr>
                                        <p:cTn id="41" dur="1000"/>
                                        <p:tgtEl>
                                          <p:spTgt spid="285705"/>
                                        </p:tgtEl>
                                      </p:cBhvr>
                                    </p:animEffect>
                                  </p:childTnLst>
                                </p:cTn>
                              </p:par>
                            </p:childTnLst>
                          </p:cTn>
                        </p:par>
                        <p:par>
                          <p:cTn id="42" fill="hold">
                            <p:stCondLst>
                              <p:cond delay="1500"/>
                            </p:stCondLst>
                            <p:childTnLst>
                              <p:par>
                                <p:cTn id="43" presetID="22" presetClass="entr" presetSubtype="8" fill="hold" nodeType="afterEffect">
                                  <p:stCondLst>
                                    <p:cond delay="0"/>
                                  </p:stCondLst>
                                  <p:childTnLst>
                                    <p:set>
                                      <p:cBhvr>
                                        <p:cTn id="44" dur="1" fill="hold">
                                          <p:stCondLst>
                                            <p:cond delay="0"/>
                                          </p:stCondLst>
                                        </p:cTn>
                                        <p:tgtEl>
                                          <p:spTgt spid="285706"/>
                                        </p:tgtEl>
                                        <p:attrNameLst>
                                          <p:attrName>style.visibility</p:attrName>
                                        </p:attrNameLst>
                                      </p:cBhvr>
                                      <p:to>
                                        <p:strVal val="visible"/>
                                      </p:to>
                                    </p:set>
                                    <p:animEffect transition="in" filter="wipe(left)">
                                      <p:cBhvr>
                                        <p:cTn id="45" dur="500"/>
                                        <p:tgtEl>
                                          <p:spTgt spid="2857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85708"/>
                                        </p:tgtEl>
                                        <p:attrNameLst>
                                          <p:attrName>style.visibility</p:attrName>
                                        </p:attrNameLst>
                                      </p:cBhvr>
                                      <p:to>
                                        <p:strVal val="visible"/>
                                      </p:to>
                                    </p:set>
                                    <p:animEffect transition="in" filter="wipe(left)">
                                      <p:cBhvr>
                                        <p:cTn id="50" dur="500"/>
                                        <p:tgtEl>
                                          <p:spTgt spid="285708"/>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285707"/>
                                        </p:tgtEl>
                                        <p:attrNameLst>
                                          <p:attrName>style.visibility</p:attrName>
                                        </p:attrNameLst>
                                      </p:cBhvr>
                                      <p:to>
                                        <p:strVal val="visible"/>
                                      </p:to>
                                    </p:set>
                                    <p:animEffect transition="in" filter="wipe(left)">
                                      <p:cBhvr>
                                        <p:cTn id="54" dur="500"/>
                                        <p:tgtEl>
                                          <p:spTgt spid="28570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85709"/>
                                        </p:tgtEl>
                                        <p:attrNameLst>
                                          <p:attrName>style.visibility</p:attrName>
                                        </p:attrNameLst>
                                      </p:cBhvr>
                                      <p:to>
                                        <p:strVal val="visible"/>
                                      </p:to>
                                    </p:set>
                                    <p:animEffect transition="in" filter="wipe(left)">
                                      <p:cBhvr>
                                        <p:cTn id="59" dur="500"/>
                                        <p:tgtEl>
                                          <p:spTgt spid="285709"/>
                                        </p:tgtEl>
                                      </p:cBhvr>
                                    </p:animEffect>
                                  </p:childTnLst>
                                </p:cTn>
                              </p:par>
                            </p:childTnLst>
                          </p:cTn>
                        </p:par>
                      </p:childTnLst>
                    </p:cTn>
                  </p:par>
                  <p:par>
                    <p:cTn id="60" fill="hold">
                      <p:stCondLst>
                        <p:cond delay="indefinite"/>
                      </p:stCondLst>
                      <p:childTnLst>
                        <p:par>
                          <p:cTn id="61" fill="hold">
                            <p:stCondLst>
                              <p:cond delay="0"/>
                            </p:stCondLst>
                            <p:childTnLst>
                              <p:par>
                                <p:cTn id="62" presetID="23" presetClass="entr" presetSubtype="32"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strVal val="4*#ppt_w"/>
                                          </p:val>
                                        </p:tav>
                                        <p:tav tm="100000">
                                          <p:val>
                                            <p:strVal val="#ppt_w"/>
                                          </p:val>
                                        </p:tav>
                                      </p:tavLst>
                                    </p:anim>
                                    <p:anim calcmode="lin" valueType="num">
                                      <p:cBhvr>
                                        <p:cTn id="65" dur="500" fill="hold"/>
                                        <p:tgtEl>
                                          <p:spTgt spid="16"/>
                                        </p:tgtEl>
                                        <p:attrNameLst>
                                          <p:attrName>ppt_h</p:attrName>
                                        </p:attrNameLst>
                                      </p:cBhvr>
                                      <p:tavLst>
                                        <p:tav tm="0">
                                          <p:val>
                                            <p:strVal val="4*#ppt_h"/>
                                          </p:val>
                                        </p:tav>
                                        <p:tav tm="100000">
                                          <p:val>
                                            <p:strVal val="#ppt_h"/>
                                          </p:val>
                                        </p:tav>
                                      </p:tavLst>
                                    </p:anim>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285710"/>
                                        </p:tgtEl>
                                        <p:attrNameLst>
                                          <p:attrName>style.visibility</p:attrName>
                                        </p:attrNameLst>
                                      </p:cBhvr>
                                      <p:to>
                                        <p:strVal val="visible"/>
                                      </p:to>
                                    </p:set>
                                    <p:animEffect transition="in" filter="wipe(left)">
                                      <p:cBhvr>
                                        <p:cTn id="69" dur="1000"/>
                                        <p:tgtEl>
                                          <p:spTgt spid="285710"/>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285711"/>
                                        </p:tgtEl>
                                        <p:attrNameLst>
                                          <p:attrName>style.visibility</p:attrName>
                                        </p:attrNameLst>
                                      </p:cBhvr>
                                      <p:to>
                                        <p:strVal val="visible"/>
                                      </p:to>
                                    </p:set>
                                    <p:animEffect transition="in" filter="wipe(left)">
                                      <p:cBhvr>
                                        <p:cTn id="73" dur="1000"/>
                                        <p:tgtEl>
                                          <p:spTgt spid="285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p:bldP spid="285700" grpId="0"/>
      <p:bldP spid="285701" grpId="0"/>
      <p:bldP spid="285704" grpId="0"/>
      <p:bldP spid="285708" grpId="0"/>
      <p:bldP spid="285711" grpId="0"/>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674" name="Object 2"/>
          <p:cNvGraphicFramePr>
            <a:graphicFrameLocks noChangeAspect="1"/>
          </p:cNvGraphicFramePr>
          <p:nvPr/>
        </p:nvGraphicFramePr>
        <p:xfrm>
          <a:off x="2374900" y="1700213"/>
          <a:ext cx="4392613" cy="849312"/>
        </p:xfrm>
        <a:graphic>
          <a:graphicData uri="http://schemas.openxmlformats.org/presentationml/2006/ole">
            <p:oleObj spid="_x0000_s45058" name="公式" r:id="rId3" imgW="1866600" imgH="393480" progId="Equation.3">
              <p:embed/>
            </p:oleObj>
          </a:graphicData>
        </a:graphic>
      </p:graphicFrame>
      <p:sp>
        <p:nvSpPr>
          <p:cNvPr id="156675" name="Text Box 3"/>
          <p:cNvSpPr txBox="1">
            <a:spLocks noChangeArrowheads="1"/>
          </p:cNvSpPr>
          <p:nvPr/>
        </p:nvSpPr>
        <p:spPr bwMode="auto">
          <a:xfrm>
            <a:off x="900113" y="1125538"/>
            <a:ext cx="2540000" cy="457200"/>
          </a:xfrm>
          <a:prstGeom prst="rect">
            <a:avLst/>
          </a:prstGeom>
          <a:noFill/>
          <a:ln w="9525">
            <a:noFill/>
            <a:miter lim="800000"/>
            <a:headEnd/>
            <a:tailEnd/>
          </a:ln>
        </p:spPr>
        <p:txBody>
          <a:bodyPr>
            <a:spAutoFit/>
          </a:bodyPr>
          <a:lstStyle/>
          <a:p>
            <a:r>
              <a:rPr lang="zh-CN" altLang="en-US" sz="2400" b="1">
                <a:latin typeface="Times New Roman" pitchFamily="18" charset="0"/>
              </a:rPr>
              <a:t>对于理想气体</a:t>
            </a:r>
            <a:r>
              <a:rPr lang="en-US" altLang="zh-CN" sz="2400" b="1">
                <a:latin typeface="Times New Roman" pitchFamily="18" charset="0"/>
              </a:rPr>
              <a:t>:</a:t>
            </a:r>
          </a:p>
        </p:txBody>
      </p:sp>
      <p:sp>
        <p:nvSpPr>
          <p:cNvPr id="156676" name="AutoShape 4"/>
          <p:cNvSpPr>
            <a:spLocks noChangeArrowheads="1"/>
          </p:cNvSpPr>
          <p:nvPr/>
        </p:nvSpPr>
        <p:spPr bwMode="auto">
          <a:xfrm>
            <a:off x="1547813" y="3068638"/>
            <a:ext cx="719137" cy="215900"/>
          </a:xfrm>
          <a:prstGeom prst="rightArrow">
            <a:avLst>
              <a:gd name="adj1" fmla="val 50000"/>
              <a:gd name="adj2" fmla="val 83272"/>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56677" name="Object 5"/>
          <p:cNvGraphicFramePr>
            <a:graphicFrameLocks noChangeAspect="1"/>
          </p:cNvGraphicFramePr>
          <p:nvPr/>
        </p:nvGraphicFramePr>
        <p:xfrm>
          <a:off x="2487613" y="2708275"/>
          <a:ext cx="2732087" cy="869950"/>
        </p:xfrm>
        <a:graphic>
          <a:graphicData uri="http://schemas.openxmlformats.org/presentationml/2006/ole">
            <p:oleObj spid="_x0000_s45059" name="公式" r:id="rId4" imgW="952200" imgH="330120" progId="Equation.3">
              <p:embed/>
            </p:oleObj>
          </a:graphicData>
        </a:graphic>
      </p:graphicFrame>
      <p:graphicFrame>
        <p:nvGraphicFramePr>
          <p:cNvPr id="156678" name="Object 6"/>
          <p:cNvGraphicFramePr>
            <a:graphicFrameLocks noChangeAspect="1"/>
          </p:cNvGraphicFramePr>
          <p:nvPr/>
        </p:nvGraphicFramePr>
        <p:xfrm>
          <a:off x="2771775" y="3640138"/>
          <a:ext cx="5113338" cy="968375"/>
        </p:xfrm>
        <a:graphic>
          <a:graphicData uri="http://schemas.openxmlformats.org/presentationml/2006/ole">
            <p:oleObj spid="_x0000_s45060" name="公式" r:id="rId5" imgW="1904760" imgH="393480" progId="Equation.3">
              <p:embed/>
            </p:oleObj>
          </a:graphicData>
        </a:graphic>
      </p:graphicFrame>
      <p:graphicFrame>
        <p:nvGraphicFramePr>
          <p:cNvPr id="156679" name="Object 7"/>
          <p:cNvGraphicFramePr>
            <a:graphicFrameLocks noChangeAspect="1"/>
          </p:cNvGraphicFramePr>
          <p:nvPr/>
        </p:nvGraphicFramePr>
        <p:xfrm>
          <a:off x="2843213" y="4797425"/>
          <a:ext cx="1223962" cy="1052513"/>
        </p:xfrm>
        <a:graphic>
          <a:graphicData uri="http://schemas.openxmlformats.org/presentationml/2006/ole">
            <p:oleObj spid="_x0000_s45061" name="公式" r:id="rId6" imgW="545760" imgH="469800" progId="Equation.3">
              <p:embed/>
            </p:oleObj>
          </a:graphicData>
        </a:graphic>
      </p:graphicFrame>
      <p:graphicFrame>
        <p:nvGraphicFramePr>
          <p:cNvPr id="156680" name="Object 8"/>
          <p:cNvGraphicFramePr>
            <a:graphicFrameLocks noChangeAspect="1"/>
          </p:cNvGraphicFramePr>
          <p:nvPr/>
        </p:nvGraphicFramePr>
        <p:xfrm>
          <a:off x="4140200" y="4868863"/>
          <a:ext cx="1608138" cy="936625"/>
        </p:xfrm>
        <a:graphic>
          <a:graphicData uri="http://schemas.openxmlformats.org/presentationml/2006/ole">
            <p:oleObj spid="_x0000_s45062" name="公式" r:id="rId7" imgW="761760" imgH="4442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6675"/>
                                        </p:tgtEl>
                                        <p:attrNameLst>
                                          <p:attrName>style.visibility</p:attrName>
                                        </p:attrNameLst>
                                      </p:cBhvr>
                                      <p:to>
                                        <p:strVal val="visible"/>
                                      </p:to>
                                    </p:set>
                                    <p:animEffect transition="in" filter="wipe(left)">
                                      <p:cBhvr>
                                        <p:cTn id="7" dur="500"/>
                                        <p:tgtEl>
                                          <p:spTgt spid="1566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6674"/>
                                        </p:tgtEl>
                                        <p:attrNameLst>
                                          <p:attrName>style.visibility</p:attrName>
                                        </p:attrNameLst>
                                      </p:cBhvr>
                                      <p:to>
                                        <p:strVal val="visible"/>
                                      </p:to>
                                    </p:set>
                                    <p:animEffect transition="in" filter="wipe(left)">
                                      <p:cBhvr>
                                        <p:cTn id="12" dur="500"/>
                                        <p:tgtEl>
                                          <p:spTgt spid="1566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6"/>
                                        </p:tgtEl>
                                        <p:attrNameLst>
                                          <p:attrName>style.visibility</p:attrName>
                                        </p:attrNameLst>
                                      </p:cBhvr>
                                      <p:to>
                                        <p:strVal val="visible"/>
                                      </p:to>
                                    </p:set>
                                    <p:animEffect transition="in" filter="wipe(left)">
                                      <p:cBhvr>
                                        <p:cTn id="17" dur="500"/>
                                        <p:tgtEl>
                                          <p:spTgt spid="15667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56677"/>
                                        </p:tgtEl>
                                        <p:attrNameLst>
                                          <p:attrName>style.visibility</p:attrName>
                                        </p:attrNameLst>
                                      </p:cBhvr>
                                      <p:to>
                                        <p:strVal val="visible"/>
                                      </p:to>
                                    </p:set>
                                    <p:animEffect transition="in" filter="wipe(left)">
                                      <p:cBhvr>
                                        <p:cTn id="21" dur="500"/>
                                        <p:tgtEl>
                                          <p:spTgt spid="15667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56678"/>
                                        </p:tgtEl>
                                        <p:attrNameLst>
                                          <p:attrName>style.visibility</p:attrName>
                                        </p:attrNameLst>
                                      </p:cBhvr>
                                      <p:to>
                                        <p:strVal val="visible"/>
                                      </p:to>
                                    </p:set>
                                    <p:animEffect transition="in" filter="wipe(left)">
                                      <p:cBhvr>
                                        <p:cTn id="26" dur="500"/>
                                        <p:tgtEl>
                                          <p:spTgt spid="1566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6679"/>
                                        </p:tgtEl>
                                        <p:attrNameLst>
                                          <p:attrName>style.visibility</p:attrName>
                                        </p:attrNameLst>
                                      </p:cBhvr>
                                      <p:to>
                                        <p:strVal val="visible"/>
                                      </p:to>
                                    </p:set>
                                    <p:animEffect transition="in" filter="wipe(left)">
                                      <p:cBhvr>
                                        <p:cTn id="31" dur="500"/>
                                        <p:tgtEl>
                                          <p:spTgt spid="15667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6680"/>
                                        </p:tgtEl>
                                        <p:attrNameLst>
                                          <p:attrName>style.visibility</p:attrName>
                                        </p:attrNameLst>
                                      </p:cBhvr>
                                      <p:to>
                                        <p:strVal val="visible"/>
                                      </p:to>
                                    </p:set>
                                    <p:animEffect transition="in" filter="wipe(left)">
                                      <p:cBhvr>
                                        <p:cTn id="36" dur="500"/>
                                        <p:tgtEl>
                                          <p:spTgt spid="156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autoUpdateAnimBg="0"/>
      <p:bldP spid="15667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428625" y="642938"/>
            <a:ext cx="2324100" cy="457200"/>
          </a:xfrm>
          <a:prstGeom prst="rect">
            <a:avLst/>
          </a:prstGeom>
          <a:noFill/>
          <a:ln w="9525">
            <a:noFill/>
            <a:miter lim="800000"/>
            <a:headEnd/>
            <a:tailEnd/>
          </a:ln>
        </p:spPr>
        <p:txBody>
          <a:bodyPr>
            <a:spAutoFit/>
          </a:bodyPr>
          <a:lstStyle/>
          <a:p>
            <a:r>
              <a:rPr lang="en-US" altLang="zh-CN" sz="2400" b="1">
                <a:solidFill>
                  <a:srgbClr val="FF0000"/>
                </a:solidFill>
                <a:latin typeface="Times New Roman" pitchFamily="18" charset="0"/>
              </a:rPr>
              <a:t>3</a:t>
            </a:r>
            <a:r>
              <a:rPr lang="zh-CN" altLang="en-US" sz="2400" b="1">
                <a:solidFill>
                  <a:srgbClr val="FF0000"/>
                </a:solidFill>
                <a:latin typeface="Times New Roman" pitchFamily="18" charset="0"/>
              </a:rPr>
              <a:t>、方均根速率</a:t>
            </a:r>
          </a:p>
        </p:txBody>
      </p:sp>
      <p:sp>
        <p:nvSpPr>
          <p:cNvPr id="157700" name="Rectangle 4"/>
          <p:cNvSpPr>
            <a:spLocks noChangeArrowheads="1"/>
          </p:cNvSpPr>
          <p:nvPr/>
        </p:nvSpPr>
        <p:spPr bwMode="auto">
          <a:xfrm>
            <a:off x="4370388" y="1776413"/>
            <a:ext cx="1211262" cy="719137"/>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7701" name="Rectangle 5"/>
          <p:cNvSpPr>
            <a:spLocks noChangeArrowheads="1"/>
          </p:cNvSpPr>
          <p:nvPr/>
        </p:nvSpPr>
        <p:spPr bwMode="auto">
          <a:xfrm>
            <a:off x="828675" y="2495550"/>
            <a:ext cx="890588" cy="719138"/>
          </a:xfrm>
          <a:prstGeom prst="rect">
            <a:avLst/>
          </a:prstGeom>
          <a:solidFill>
            <a:schemeClr val="accent1"/>
          </a:solidFill>
          <a:ln w="9525">
            <a:solidFill>
              <a:schemeClr val="tx1"/>
            </a:solidFill>
            <a:miter lim="800000"/>
            <a:headEnd/>
            <a:tailEnd/>
          </a:ln>
        </p:spPr>
        <p:txBody>
          <a:bodyPr wrap="none" anchor="ctr"/>
          <a:lstStyle/>
          <a:p>
            <a:r>
              <a:rPr lang="zh-CN" altLang="en-US" sz="2400" b="1" i="1">
                <a:latin typeface="Times New Roman" pitchFamily="18" charset="0"/>
              </a:rPr>
              <a:t>Ｎ</a:t>
            </a:r>
          </a:p>
        </p:txBody>
      </p:sp>
      <p:sp>
        <p:nvSpPr>
          <p:cNvPr id="157702" name="Rectangle 6"/>
          <p:cNvSpPr>
            <a:spLocks noChangeArrowheads="1"/>
          </p:cNvSpPr>
          <p:nvPr/>
        </p:nvSpPr>
        <p:spPr bwMode="auto">
          <a:xfrm>
            <a:off x="1738313" y="2495550"/>
            <a:ext cx="890587"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１</a:t>
            </a:r>
            <a:endParaRPr lang="zh-CN" altLang="en-US" sz="2400" b="1">
              <a:latin typeface="Times New Roman" pitchFamily="18" charset="0"/>
            </a:endParaRPr>
          </a:p>
        </p:txBody>
      </p:sp>
      <p:sp>
        <p:nvSpPr>
          <p:cNvPr id="157703" name="Rectangle 7"/>
          <p:cNvSpPr>
            <a:spLocks noChangeArrowheads="1"/>
          </p:cNvSpPr>
          <p:nvPr/>
        </p:nvSpPr>
        <p:spPr bwMode="auto">
          <a:xfrm>
            <a:off x="2601913" y="2495550"/>
            <a:ext cx="890587"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２</a:t>
            </a:r>
          </a:p>
        </p:txBody>
      </p:sp>
      <p:sp>
        <p:nvSpPr>
          <p:cNvPr id="157704" name="Rectangle 8"/>
          <p:cNvSpPr>
            <a:spLocks noChangeArrowheads="1"/>
          </p:cNvSpPr>
          <p:nvPr/>
        </p:nvSpPr>
        <p:spPr bwMode="auto">
          <a:xfrm>
            <a:off x="3492500" y="2495550"/>
            <a:ext cx="890588" cy="719138"/>
          </a:xfrm>
          <a:prstGeom prst="rect">
            <a:avLst/>
          </a:prstGeom>
          <a:solidFill>
            <a:srgbClr val="FFCC00">
              <a:alpha val="50195"/>
            </a:srgbClr>
          </a:solidFill>
          <a:ln w="9525">
            <a:solidFill>
              <a:schemeClr val="bg1"/>
            </a:solidFill>
            <a:miter lim="800000"/>
            <a:headEnd/>
            <a:tailEnd/>
          </a:ln>
        </p:spPr>
        <p:txBody>
          <a:bodyPr wrap="none" anchor="ctr"/>
          <a:lstStyle/>
          <a:p>
            <a:r>
              <a:rPr lang="en-US" altLang="zh-CN" sz="2400" b="1" i="1">
                <a:latin typeface="Times New Roman" pitchFamily="18" charset="0"/>
              </a:rPr>
              <a:t>Δ</a:t>
            </a:r>
            <a:r>
              <a:rPr lang="zh-CN" altLang="en-US" sz="2400" b="1" i="1">
                <a:latin typeface="Times New Roman" pitchFamily="18" charset="0"/>
              </a:rPr>
              <a:t>Ｎ</a:t>
            </a:r>
            <a:r>
              <a:rPr lang="zh-CN" altLang="en-US" sz="2400" b="1" baseline="-25000">
                <a:latin typeface="Times New Roman" pitchFamily="18" charset="0"/>
              </a:rPr>
              <a:t>３</a:t>
            </a:r>
          </a:p>
        </p:txBody>
      </p:sp>
      <p:sp>
        <p:nvSpPr>
          <p:cNvPr id="157705" name="Rectangle 9"/>
          <p:cNvSpPr>
            <a:spLocks noChangeArrowheads="1"/>
          </p:cNvSpPr>
          <p:nvPr/>
        </p:nvSpPr>
        <p:spPr bwMode="auto">
          <a:xfrm>
            <a:off x="4370388" y="2497138"/>
            <a:ext cx="1211262" cy="719137"/>
          </a:xfrm>
          <a:prstGeom prst="rect">
            <a:avLst/>
          </a:prstGeom>
          <a:solidFill>
            <a:srgbClr val="FFCC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sp>
        <p:nvSpPr>
          <p:cNvPr id="157706" name="Rectangle 10"/>
          <p:cNvSpPr>
            <a:spLocks noChangeArrowheads="1"/>
          </p:cNvSpPr>
          <p:nvPr/>
        </p:nvSpPr>
        <p:spPr bwMode="auto">
          <a:xfrm>
            <a:off x="4370388" y="3216275"/>
            <a:ext cx="1211262" cy="719138"/>
          </a:xfrm>
          <a:prstGeom prst="rect">
            <a:avLst/>
          </a:prstGeom>
          <a:solidFill>
            <a:srgbClr val="FF6600">
              <a:alpha val="50000"/>
            </a:srgbClr>
          </a:solidFill>
          <a:ln w="9525">
            <a:solidFill>
              <a:schemeClr val="bg1"/>
            </a:solidFill>
            <a:miter lim="800000"/>
            <a:headEnd/>
            <a:tailEnd/>
          </a:ln>
          <a:effectLst/>
        </p:spPr>
        <p:txBody>
          <a:bodyPr wrap="none" anchor="ctr"/>
          <a:lstStyle/>
          <a:p>
            <a:pPr>
              <a:defRPr/>
            </a:pPr>
            <a:r>
              <a:rPr lang="en-US" altLang="zh-CN" sz="2400" b="1">
                <a:effectLst>
                  <a:outerShdw blurRad="38100" dist="38100" dir="2700000" algn="tl">
                    <a:srgbClr val="FFFFFF"/>
                  </a:outerShdw>
                </a:effectLst>
                <a:latin typeface="Times New Roman" pitchFamily="18" charset="0"/>
              </a:rPr>
              <a:t>… …</a:t>
            </a:r>
          </a:p>
        </p:txBody>
      </p:sp>
      <p:grpSp>
        <p:nvGrpSpPr>
          <p:cNvPr id="2" name="Group 11"/>
          <p:cNvGrpSpPr>
            <a:grpSpLocks/>
          </p:cNvGrpSpPr>
          <p:nvPr/>
        </p:nvGrpSpPr>
        <p:grpSpPr bwMode="auto">
          <a:xfrm>
            <a:off x="828675" y="1774825"/>
            <a:ext cx="890588" cy="719138"/>
            <a:chOff x="522" y="1253"/>
            <a:chExt cx="561" cy="453"/>
          </a:xfrm>
        </p:grpSpPr>
        <p:sp>
          <p:nvSpPr>
            <p:cNvPr id="46123" name="Rectangle 12"/>
            <p:cNvSpPr>
              <a:spLocks noChangeArrowheads="1"/>
            </p:cNvSpPr>
            <p:nvPr/>
          </p:nvSpPr>
          <p:spPr bwMode="auto">
            <a:xfrm>
              <a:off x="522" y="1253"/>
              <a:ext cx="561" cy="453"/>
            </a:xfrm>
            <a:prstGeom prst="rect">
              <a:avLst/>
            </a:prstGeom>
            <a:solidFill>
              <a:schemeClr val="accent1"/>
            </a:solidFill>
            <a:ln w="9525">
              <a:solidFill>
                <a:schemeClr val="tx1"/>
              </a:solidFill>
              <a:miter lim="800000"/>
              <a:headEnd/>
              <a:tailEnd/>
            </a:ln>
          </p:spPr>
          <p:txBody>
            <a:bodyPr wrap="none" anchor="ctr"/>
            <a:lstStyle/>
            <a:p>
              <a:endParaRPr lang="zh-CN" altLang="zh-CN" sz="2400" b="1" i="1">
                <a:latin typeface="Times New Roman" pitchFamily="18" charset="0"/>
              </a:endParaRPr>
            </a:p>
          </p:txBody>
        </p:sp>
        <p:graphicFrame>
          <p:nvGraphicFramePr>
            <p:cNvPr id="46094" name="Object 13"/>
            <p:cNvGraphicFramePr>
              <a:graphicFrameLocks noChangeAspect="1"/>
            </p:cNvGraphicFramePr>
            <p:nvPr/>
          </p:nvGraphicFramePr>
          <p:xfrm>
            <a:off x="702" y="1343"/>
            <a:ext cx="216" cy="279"/>
          </p:xfrm>
          <a:graphic>
            <a:graphicData uri="http://schemas.openxmlformats.org/presentationml/2006/ole">
              <p:oleObj spid="_x0000_s46094" name="公式" r:id="rId3" imgW="126720" imgH="164880" progId="Equation.3">
                <p:embed/>
              </p:oleObj>
            </a:graphicData>
          </a:graphic>
        </p:graphicFrame>
      </p:grpSp>
      <p:grpSp>
        <p:nvGrpSpPr>
          <p:cNvPr id="3" name="Group 14"/>
          <p:cNvGrpSpPr>
            <a:grpSpLocks/>
          </p:cNvGrpSpPr>
          <p:nvPr/>
        </p:nvGrpSpPr>
        <p:grpSpPr bwMode="auto">
          <a:xfrm>
            <a:off x="1738313" y="1774825"/>
            <a:ext cx="890587" cy="719138"/>
            <a:chOff x="1095" y="1253"/>
            <a:chExt cx="561" cy="453"/>
          </a:xfrm>
        </p:grpSpPr>
        <p:sp>
          <p:nvSpPr>
            <p:cNvPr id="46122" name="Rectangle 15"/>
            <p:cNvSpPr>
              <a:spLocks noChangeArrowheads="1"/>
            </p:cNvSpPr>
            <p:nvPr/>
          </p:nvSpPr>
          <p:spPr bwMode="auto">
            <a:xfrm>
              <a:off x="1095" y="1253"/>
              <a:ext cx="561" cy="453"/>
            </a:xfrm>
            <a:prstGeom prst="rect">
              <a:avLst/>
            </a:prstGeom>
            <a:solidFill>
              <a:srgbClr val="FFCC00">
                <a:alpha val="50195"/>
              </a:srgbClr>
            </a:solidFill>
            <a:ln w="9525">
              <a:solidFill>
                <a:schemeClr val="bg1"/>
              </a:solidFill>
              <a:miter lim="800000"/>
              <a:headEnd/>
              <a:tailEnd/>
            </a:ln>
          </p:spPr>
          <p:txBody>
            <a:bodyPr wrap="none" anchor="ctr"/>
            <a:lstStyle/>
            <a:p>
              <a:endParaRPr lang="zh-CN" altLang="zh-CN" sz="2400" b="1">
                <a:latin typeface="Times New Roman" pitchFamily="18" charset="0"/>
              </a:endParaRPr>
            </a:p>
          </p:txBody>
        </p:sp>
        <p:graphicFrame>
          <p:nvGraphicFramePr>
            <p:cNvPr id="46093" name="Object 16"/>
            <p:cNvGraphicFramePr>
              <a:graphicFrameLocks noChangeAspect="1"/>
            </p:cNvGraphicFramePr>
            <p:nvPr/>
          </p:nvGraphicFramePr>
          <p:xfrm>
            <a:off x="1237" y="1300"/>
            <a:ext cx="237" cy="365"/>
          </p:xfrm>
          <a:graphic>
            <a:graphicData uri="http://schemas.openxmlformats.org/presentationml/2006/ole">
              <p:oleObj spid="_x0000_s46093" name="公式" r:id="rId4" imgW="139680" imgH="215640" progId="Equation.3">
                <p:embed/>
              </p:oleObj>
            </a:graphicData>
          </a:graphic>
        </p:graphicFrame>
      </p:grpSp>
      <p:grpSp>
        <p:nvGrpSpPr>
          <p:cNvPr id="4" name="Group 17"/>
          <p:cNvGrpSpPr>
            <a:grpSpLocks/>
          </p:cNvGrpSpPr>
          <p:nvPr/>
        </p:nvGrpSpPr>
        <p:grpSpPr bwMode="auto">
          <a:xfrm>
            <a:off x="2601913" y="1774825"/>
            <a:ext cx="890587" cy="719138"/>
            <a:chOff x="1639" y="1253"/>
            <a:chExt cx="561" cy="453"/>
          </a:xfrm>
        </p:grpSpPr>
        <p:sp>
          <p:nvSpPr>
            <p:cNvPr id="46121" name="Rectangle 18"/>
            <p:cNvSpPr>
              <a:spLocks noChangeArrowheads="1"/>
            </p:cNvSpPr>
            <p:nvPr/>
          </p:nvSpPr>
          <p:spPr bwMode="auto">
            <a:xfrm>
              <a:off x="1639" y="1253"/>
              <a:ext cx="561" cy="453"/>
            </a:xfrm>
            <a:prstGeom prst="rect">
              <a:avLst/>
            </a:prstGeom>
            <a:solidFill>
              <a:srgbClr val="FFCC00">
                <a:alpha val="50195"/>
              </a:srgbClr>
            </a:solidFill>
            <a:ln w="9525">
              <a:solidFill>
                <a:schemeClr val="bg1"/>
              </a:solidFill>
              <a:miter lim="800000"/>
              <a:headEnd/>
              <a:tailEnd/>
            </a:ln>
          </p:spPr>
          <p:txBody>
            <a:bodyPr wrap="none" anchor="ctr"/>
            <a:lstStyle/>
            <a:p>
              <a:endParaRPr lang="zh-CN" altLang="zh-CN" sz="2400" b="1">
                <a:latin typeface="Times New Roman" pitchFamily="18" charset="0"/>
              </a:endParaRPr>
            </a:p>
          </p:txBody>
        </p:sp>
        <p:graphicFrame>
          <p:nvGraphicFramePr>
            <p:cNvPr id="46092" name="Object 19"/>
            <p:cNvGraphicFramePr>
              <a:graphicFrameLocks noChangeAspect="1"/>
            </p:cNvGraphicFramePr>
            <p:nvPr/>
          </p:nvGraphicFramePr>
          <p:xfrm>
            <a:off x="1770" y="1298"/>
            <a:ext cx="281" cy="365"/>
          </p:xfrm>
          <a:graphic>
            <a:graphicData uri="http://schemas.openxmlformats.org/presentationml/2006/ole">
              <p:oleObj spid="_x0000_s46092" name="公式" r:id="rId5" imgW="164880" imgH="215640" progId="Equation.3">
                <p:embed/>
              </p:oleObj>
            </a:graphicData>
          </a:graphic>
        </p:graphicFrame>
      </p:grpSp>
      <p:grpSp>
        <p:nvGrpSpPr>
          <p:cNvPr id="5" name="Group 20"/>
          <p:cNvGrpSpPr>
            <a:grpSpLocks/>
          </p:cNvGrpSpPr>
          <p:nvPr/>
        </p:nvGrpSpPr>
        <p:grpSpPr bwMode="auto">
          <a:xfrm>
            <a:off x="3492500" y="1774825"/>
            <a:ext cx="890588" cy="719138"/>
            <a:chOff x="2200" y="1253"/>
            <a:chExt cx="561" cy="453"/>
          </a:xfrm>
        </p:grpSpPr>
        <p:sp>
          <p:nvSpPr>
            <p:cNvPr id="46120" name="Rectangle 21"/>
            <p:cNvSpPr>
              <a:spLocks noChangeArrowheads="1"/>
            </p:cNvSpPr>
            <p:nvPr/>
          </p:nvSpPr>
          <p:spPr bwMode="auto">
            <a:xfrm>
              <a:off x="2200" y="1253"/>
              <a:ext cx="561" cy="453"/>
            </a:xfrm>
            <a:prstGeom prst="rect">
              <a:avLst/>
            </a:prstGeom>
            <a:solidFill>
              <a:srgbClr val="FFCC00">
                <a:alpha val="50195"/>
              </a:srgbClr>
            </a:solidFill>
            <a:ln w="9525">
              <a:solidFill>
                <a:schemeClr val="bg1"/>
              </a:solidFill>
              <a:miter lim="800000"/>
              <a:headEnd/>
              <a:tailEnd/>
            </a:ln>
          </p:spPr>
          <p:txBody>
            <a:bodyPr wrap="none" anchor="ctr"/>
            <a:lstStyle/>
            <a:p>
              <a:endParaRPr lang="zh-CN" altLang="zh-CN" sz="2400" b="1">
                <a:latin typeface="Times New Roman" pitchFamily="18" charset="0"/>
              </a:endParaRPr>
            </a:p>
          </p:txBody>
        </p:sp>
        <p:graphicFrame>
          <p:nvGraphicFramePr>
            <p:cNvPr id="46091" name="Object 22"/>
            <p:cNvGraphicFramePr>
              <a:graphicFrameLocks noChangeAspect="1"/>
            </p:cNvGraphicFramePr>
            <p:nvPr/>
          </p:nvGraphicFramePr>
          <p:xfrm>
            <a:off x="2370" y="1287"/>
            <a:ext cx="259" cy="387"/>
          </p:xfrm>
          <a:graphic>
            <a:graphicData uri="http://schemas.openxmlformats.org/presentationml/2006/ole">
              <p:oleObj spid="_x0000_s46091" name="公式" r:id="rId6" imgW="152280" imgH="228600" progId="Equation.3">
                <p:embed/>
              </p:oleObj>
            </a:graphicData>
          </a:graphic>
        </p:graphicFrame>
      </p:grpSp>
      <p:grpSp>
        <p:nvGrpSpPr>
          <p:cNvPr id="6" name="Group 23"/>
          <p:cNvGrpSpPr>
            <a:grpSpLocks/>
          </p:cNvGrpSpPr>
          <p:nvPr/>
        </p:nvGrpSpPr>
        <p:grpSpPr bwMode="auto">
          <a:xfrm>
            <a:off x="1738313" y="3214688"/>
            <a:ext cx="890587" cy="719137"/>
            <a:chOff x="1095" y="2160"/>
            <a:chExt cx="561" cy="453"/>
          </a:xfrm>
        </p:grpSpPr>
        <p:sp>
          <p:nvSpPr>
            <p:cNvPr id="46119" name="Rectangle 24"/>
            <p:cNvSpPr>
              <a:spLocks noChangeArrowheads="1"/>
            </p:cNvSpPr>
            <p:nvPr/>
          </p:nvSpPr>
          <p:spPr bwMode="auto">
            <a:xfrm>
              <a:off x="1095" y="2160"/>
              <a:ext cx="561" cy="453"/>
            </a:xfrm>
            <a:prstGeom prst="rect">
              <a:avLst/>
            </a:prstGeom>
            <a:solidFill>
              <a:srgbClr val="FF6600">
                <a:alpha val="50195"/>
              </a:srgbClr>
            </a:solidFill>
            <a:ln w="9525">
              <a:solidFill>
                <a:schemeClr val="bg1"/>
              </a:solidFill>
              <a:miter lim="800000"/>
              <a:headEnd/>
              <a:tailEnd/>
            </a:ln>
          </p:spPr>
          <p:txBody>
            <a:bodyPr wrap="none" anchor="ctr"/>
            <a:lstStyle/>
            <a:p>
              <a:endParaRPr lang="zh-CN" altLang="zh-CN" sz="2400" b="1" i="1">
                <a:latin typeface="Times New Roman" pitchFamily="18" charset="0"/>
              </a:endParaRPr>
            </a:p>
          </p:txBody>
        </p:sp>
        <p:graphicFrame>
          <p:nvGraphicFramePr>
            <p:cNvPr id="46090" name="Object 25"/>
            <p:cNvGraphicFramePr>
              <a:graphicFrameLocks noChangeAspect="1"/>
            </p:cNvGraphicFramePr>
            <p:nvPr/>
          </p:nvGraphicFramePr>
          <p:xfrm>
            <a:off x="1288" y="2200"/>
            <a:ext cx="259" cy="358"/>
          </p:xfrm>
          <a:graphic>
            <a:graphicData uri="http://schemas.openxmlformats.org/presentationml/2006/ole">
              <p:oleObj spid="_x0000_s46090" name="公式" r:id="rId7" imgW="164880" imgH="228600" progId="Equation.3">
                <p:embed/>
              </p:oleObj>
            </a:graphicData>
          </a:graphic>
        </p:graphicFrame>
      </p:grpSp>
      <p:grpSp>
        <p:nvGrpSpPr>
          <p:cNvPr id="7" name="Group 26"/>
          <p:cNvGrpSpPr>
            <a:grpSpLocks/>
          </p:cNvGrpSpPr>
          <p:nvPr/>
        </p:nvGrpSpPr>
        <p:grpSpPr bwMode="auto">
          <a:xfrm>
            <a:off x="2601913" y="3214688"/>
            <a:ext cx="890587" cy="719137"/>
            <a:chOff x="1639" y="2160"/>
            <a:chExt cx="561" cy="453"/>
          </a:xfrm>
        </p:grpSpPr>
        <p:sp>
          <p:nvSpPr>
            <p:cNvPr id="46118" name="Rectangle 27"/>
            <p:cNvSpPr>
              <a:spLocks noChangeArrowheads="1"/>
            </p:cNvSpPr>
            <p:nvPr/>
          </p:nvSpPr>
          <p:spPr bwMode="auto">
            <a:xfrm>
              <a:off x="1639" y="2160"/>
              <a:ext cx="561" cy="453"/>
            </a:xfrm>
            <a:prstGeom prst="rect">
              <a:avLst/>
            </a:prstGeom>
            <a:solidFill>
              <a:srgbClr val="FF6600">
                <a:alpha val="50195"/>
              </a:srgbClr>
            </a:solidFill>
            <a:ln w="9525">
              <a:solidFill>
                <a:schemeClr val="bg1"/>
              </a:solidFill>
              <a:miter lim="800000"/>
              <a:headEnd/>
              <a:tailEnd/>
            </a:ln>
          </p:spPr>
          <p:txBody>
            <a:bodyPr wrap="none" anchor="ctr"/>
            <a:lstStyle/>
            <a:p>
              <a:endParaRPr lang="zh-CN" altLang="zh-CN" sz="2400" b="1" i="1">
                <a:latin typeface="Times New Roman" pitchFamily="18" charset="0"/>
              </a:endParaRPr>
            </a:p>
          </p:txBody>
        </p:sp>
        <p:graphicFrame>
          <p:nvGraphicFramePr>
            <p:cNvPr id="46089" name="Object 28"/>
            <p:cNvGraphicFramePr>
              <a:graphicFrameLocks noChangeAspect="1"/>
            </p:cNvGraphicFramePr>
            <p:nvPr/>
          </p:nvGraphicFramePr>
          <p:xfrm>
            <a:off x="1774" y="2200"/>
            <a:ext cx="260" cy="359"/>
          </p:xfrm>
          <a:graphic>
            <a:graphicData uri="http://schemas.openxmlformats.org/presentationml/2006/ole">
              <p:oleObj spid="_x0000_s46089" name="公式" r:id="rId8" imgW="164880" imgH="228600" progId="Equation.3">
                <p:embed/>
              </p:oleObj>
            </a:graphicData>
          </a:graphic>
        </p:graphicFrame>
      </p:grpSp>
      <p:grpSp>
        <p:nvGrpSpPr>
          <p:cNvPr id="8" name="Group 29"/>
          <p:cNvGrpSpPr>
            <a:grpSpLocks/>
          </p:cNvGrpSpPr>
          <p:nvPr/>
        </p:nvGrpSpPr>
        <p:grpSpPr bwMode="auto">
          <a:xfrm>
            <a:off x="828675" y="3214688"/>
            <a:ext cx="890588" cy="719137"/>
            <a:chOff x="522" y="2160"/>
            <a:chExt cx="561" cy="453"/>
          </a:xfrm>
        </p:grpSpPr>
        <p:sp>
          <p:nvSpPr>
            <p:cNvPr id="46117" name="Rectangle 30"/>
            <p:cNvSpPr>
              <a:spLocks noChangeArrowheads="1"/>
            </p:cNvSpPr>
            <p:nvPr/>
          </p:nvSpPr>
          <p:spPr bwMode="auto">
            <a:xfrm>
              <a:off x="522" y="2160"/>
              <a:ext cx="561" cy="453"/>
            </a:xfrm>
            <a:prstGeom prst="rect">
              <a:avLst/>
            </a:prstGeom>
            <a:solidFill>
              <a:srgbClr val="99CC00">
                <a:alpha val="59999"/>
              </a:srgbClr>
            </a:solidFill>
            <a:ln w="9525">
              <a:solidFill>
                <a:schemeClr val="tx1"/>
              </a:solidFill>
              <a:miter lim="800000"/>
              <a:headEnd/>
              <a:tailEnd/>
            </a:ln>
          </p:spPr>
          <p:txBody>
            <a:bodyPr wrap="none" anchor="ctr"/>
            <a:lstStyle/>
            <a:p>
              <a:endParaRPr lang="zh-CN" altLang="zh-CN" sz="2400" b="1" i="1">
                <a:latin typeface="Times New Roman" pitchFamily="18" charset="0"/>
              </a:endParaRPr>
            </a:p>
          </p:txBody>
        </p:sp>
        <p:graphicFrame>
          <p:nvGraphicFramePr>
            <p:cNvPr id="46088" name="Object 31"/>
            <p:cNvGraphicFramePr>
              <a:graphicFrameLocks noChangeAspect="1"/>
            </p:cNvGraphicFramePr>
            <p:nvPr/>
          </p:nvGraphicFramePr>
          <p:xfrm>
            <a:off x="688" y="2210"/>
            <a:ext cx="259" cy="319"/>
          </p:xfrm>
          <a:graphic>
            <a:graphicData uri="http://schemas.openxmlformats.org/presentationml/2006/ole">
              <p:oleObj spid="_x0000_s46088" name="公式" r:id="rId9" imgW="164880" imgH="203040" progId="Equation.3">
                <p:embed/>
              </p:oleObj>
            </a:graphicData>
          </a:graphic>
        </p:graphicFrame>
      </p:grpSp>
      <p:grpSp>
        <p:nvGrpSpPr>
          <p:cNvPr id="9" name="Group 32"/>
          <p:cNvGrpSpPr>
            <a:grpSpLocks/>
          </p:cNvGrpSpPr>
          <p:nvPr/>
        </p:nvGrpSpPr>
        <p:grpSpPr bwMode="auto">
          <a:xfrm>
            <a:off x="3492500" y="3214688"/>
            <a:ext cx="890588" cy="719137"/>
            <a:chOff x="2200" y="2160"/>
            <a:chExt cx="561" cy="453"/>
          </a:xfrm>
        </p:grpSpPr>
        <p:sp>
          <p:nvSpPr>
            <p:cNvPr id="46116" name="Rectangle 33"/>
            <p:cNvSpPr>
              <a:spLocks noChangeArrowheads="1"/>
            </p:cNvSpPr>
            <p:nvPr/>
          </p:nvSpPr>
          <p:spPr bwMode="auto">
            <a:xfrm>
              <a:off x="2200" y="2160"/>
              <a:ext cx="561" cy="453"/>
            </a:xfrm>
            <a:prstGeom prst="rect">
              <a:avLst/>
            </a:prstGeom>
            <a:solidFill>
              <a:srgbClr val="FF6600">
                <a:alpha val="50195"/>
              </a:srgbClr>
            </a:solidFill>
            <a:ln w="9525">
              <a:solidFill>
                <a:schemeClr val="bg1"/>
              </a:solidFill>
              <a:miter lim="800000"/>
              <a:headEnd/>
              <a:tailEnd/>
            </a:ln>
          </p:spPr>
          <p:txBody>
            <a:bodyPr wrap="none" anchor="ctr"/>
            <a:lstStyle/>
            <a:p>
              <a:endParaRPr lang="zh-CN" altLang="zh-CN" sz="2400" b="1">
                <a:latin typeface="Times New Roman" pitchFamily="18" charset="0"/>
              </a:endParaRPr>
            </a:p>
          </p:txBody>
        </p:sp>
        <p:graphicFrame>
          <p:nvGraphicFramePr>
            <p:cNvPr id="46087" name="Object 34"/>
            <p:cNvGraphicFramePr>
              <a:graphicFrameLocks noChangeAspect="1"/>
            </p:cNvGraphicFramePr>
            <p:nvPr/>
          </p:nvGraphicFramePr>
          <p:xfrm>
            <a:off x="2375" y="2178"/>
            <a:ext cx="259" cy="379"/>
          </p:xfrm>
          <a:graphic>
            <a:graphicData uri="http://schemas.openxmlformats.org/presentationml/2006/ole">
              <p:oleObj spid="_x0000_s46087" name="公式" r:id="rId10" imgW="164880" imgH="241200" progId="Equation.3">
                <p:embed/>
              </p:oleObj>
            </a:graphicData>
          </a:graphic>
        </p:graphicFrame>
      </p:grpSp>
      <p:graphicFrame>
        <p:nvGraphicFramePr>
          <p:cNvPr id="157731" name="Object 35"/>
          <p:cNvGraphicFramePr>
            <a:graphicFrameLocks noChangeAspect="1"/>
          </p:cNvGraphicFramePr>
          <p:nvPr/>
        </p:nvGraphicFramePr>
        <p:xfrm>
          <a:off x="6659563" y="1701800"/>
          <a:ext cx="1922462" cy="1096963"/>
        </p:xfrm>
        <a:graphic>
          <a:graphicData uri="http://schemas.openxmlformats.org/presentationml/2006/ole">
            <p:oleObj spid="_x0000_s46082" name="公式" r:id="rId11" imgW="914400" imgH="520560" progId="Equation.3">
              <p:embed/>
            </p:oleObj>
          </a:graphicData>
        </a:graphic>
      </p:graphicFrame>
      <p:sp>
        <p:nvSpPr>
          <p:cNvPr id="157732" name="AutoShape 36"/>
          <p:cNvSpPr>
            <a:spLocks noChangeArrowheads="1"/>
          </p:cNvSpPr>
          <p:nvPr/>
        </p:nvSpPr>
        <p:spPr bwMode="auto">
          <a:xfrm>
            <a:off x="5724525" y="2135188"/>
            <a:ext cx="647700" cy="2159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157733" name="Text Box 37"/>
          <p:cNvSpPr txBox="1">
            <a:spLocks noChangeArrowheads="1"/>
          </p:cNvSpPr>
          <p:nvPr/>
        </p:nvSpPr>
        <p:spPr bwMode="auto">
          <a:xfrm>
            <a:off x="827088" y="1143000"/>
            <a:ext cx="5564187" cy="457200"/>
          </a:xfrm>
          <a:prstGeom prst="rect">
            <a:avLst/>
          </a:prstGeom>
          <a:noFill/>
          <a:ln w="9525">
            <a:noFill/>
            <a:miter lim="800000"/>
            <a:headEnd/>
            <a:tailEnd/>
          </a:ln>
        </p:spPr>
        <p:txBody>
          <a:bodyPr>
            <a:spAutoFit/>
          </a:bodyPr>
          <a:lstStyle/>
          <a:p>
            <a:r>
              <a:rPr lang="zh-CN" altLang="en-US" sz="2400" b="1">
                <a:latin typeface="Times New Roman" pitchFamily="18" charset="0"/>
              </a:rPr>
              <a:t>气体分子的速率 </a:t>
            </a:r>
            <a:r>
              <a:rPr lang="en-US" altLang="zh-CN" sz="2400" b="1" i="1">
                <a:latin typeface="Times New Roman" pitchFamily="18" charset="0"/>
              </a:rPr>
              <a:t>v</a:t>
            </a:r>
            <a:r>
              <a:rPr lang="en-US" altLang="zh-CN" sz="2400" b="1">
                <a:latin typeface="Times New Roman" pitchFamily="18" charset="0"/>
              </a:rPr>
              <a:t> </a:t>
            </a:r>
            <a:r>
              <a:rPr lang="zh-CN" altLang="en-US" sz="2400" b="1">
                <a:solidFill>
                  <a:srgbClr val="FF6600"/>
                </a:solidFill>
                <a:latin typeface="Times New Roman" pitchFamily="18" charset="0"/>
              </a:rPr>
              <a:t>离散分布</a:t>
            </a:r>
            <a:r>
              <a:rPr lang="zh-CN" altLang="en-US" sz="2400" b="1">
                <a:latin typeface="Times New Roman" pitchFamily="18" charset="0"/>
              </a:rPr>
              <a:t>：</a:t>
            </a:r>
          </a:p>
        </p:txBody>
      </p:sp>
      <p:graphicFrame>
        <p:nvGraphicFramePr>
          <p:cNvPr id="157734" name="Object 38"/>
          <p:cNvGraphicFramePr>
            <a:graphicFrameLocks noChangeAspect="1"/>
          </p:cNvGraphicFramePr>
          <p:nvPr/>
        </p:nvGraphicFramePr>
        <p:xfrm>
          <a:off x="6156325" y="3359150"/>
          <a:ext cx="2430463" cy="1204913"/>
        </p:xfrm>
        <a:graphic>
          <a:graphicData uri="http://schemas.openxmlformats.org/presentationml/2006/ole">
            <p:oleObj spid="_x0000_s46083" name="公式" r:id="rId12" imgW="1155600" imgH="571320" progId="Equation.3">
              <p:embed/>
            </p:oleObj>
          </a:graphicData>
        </a:graphic>
      </p:graphicFrame>
      <p:sp>
        <p:nvSpPr>
          <p:cNvPr id="157735" name="AutoShape 39"/>
          <p:cNvSpPr>
            <a:spLocks noChangeArrowheads="1"/>
          </p:cNvSpPr>
          <p:nvPr/>
        </p:nvSpPr>
        <p:spPr bwMode="auto">
          <a:xfrm>
            <a:off x="7092950" y="2709863"/>
            <a:ext cx="215900" cy="504825"/>
          </a:xfrm>
          <a:prstGeom prst="downArrow">
            <a:avLst>
              <a:gd name="adj1" fmla="val 50000"/>
              <a:gd name="adj2" fmla="val 58456"/>
            </a:avLst>
          </a:prstGeom>
          <a:solidFill>
            <a:schemeClr val="accent1"/>
          </a:solidFill>
          <a:ln w="9525">
            <a:solidFill>
              <a:schemeClr val="tx1"/>
            </a:solidFill>
            <a:miter lim="800000"/>
            <a:headEnd/>
            <a:tailEnd/>
          </a:ln>
        </p:spPr>
        <p:txBody>
          <a:bodyPr vert="eaVert" wrap="none" anchor="ctr"/>
          <a:lstStyle/>
          <a:p>
            <a:endParaRPr lang="zh-CN" altLang="en-US"/>
          </a:p>
        </p:txBody>
      </p:sp>
      <p:sp>
        <p:nvSpPr>
          <p:cNvPr id="157736" name="Text Box 40"/>
          <p:cNvSpPr txBox="1">
            <a:spLocks noChangeArrowheads="1"/>
          </p:cNvSpPr>
          <p:nvPr/>
        </p:nvSpPr>
        <p:spPr bwMode="auto">
          <a:xfrm>
            <a:off x="736600" y="4357688"/>
            <a:ext cx="5564188" cy="457200"/>
          </a:xfrm>
          <a:prstGeom prst="rect">
            <a:avLst/>
          </a:prstGeom>
          <a:noFill/>
          <a:ln w="9525">
            <a:noFill/>
            <a:miter lim="800000"/>
            <a:headEnd/>
            <a:tailEnd/>
          </a:ln>
        </p:spPr>
        <p:txBody>
          <a:bodyPr>
            <a:spAutoFit/>
          </a:bodyPr>
          <a:lstStyle/>
          <a:p>
            <a:r>
              <a:rPr lang="zh-CN" altLang="en-US" sz="2400" b="1">
                <a:latin typeface="Times New Roman" pitchFamily="18" charset="0"/>
              </a:rPr>
              <a:t>气体分子的速率 </a:t>
            </a:r>
            <a:r>
              <a:rPr lang="en-US" altLang="zh-CN" sz="2400" b="1" i="1">
                <a:latin typeface="Times New Roman" pitchFamily="18" charset="0"/>
              </a:rPr>
              <a:t>v</a:t>
            </a:r>
            <a:r>
              <a:rPr lang="en-US" altLang="zh-CN" sz="2400" b="1">
                <a:latin typeface="Times New Roman" pitchFamily="18" charset="0"/>
              </a:rPr>
              <a:t> </a:t>
            </a:r>
            <a:r>
              <a:rPr lang="zh-CN" altLang="en-US" sz="2400" b="1">
                <a:solidFill>
                  <a:srgbClr val="FF6600"/>
                </a:solidFill>
                <a:latin typeface="Times New Roman" pitchFamily="18" charset="0"/>
              </a:rPr>
              <a:t>连续分布</a:t>
            </a:r>
            <a:r>
              <a:rPr lang="zh-CN" altLang="en-US" sz="2400" b="1">
                <a:latin typeface="Times New Roman" pitchFamily="18" charset="0"/>
              </a:rPr>
              <a:t>：</a:t>
            </a:r>
          </a:p>
        </p:txBody>
      </p:sp>
      <p:graphicFrame>
        <p:nvGraphicFramePr>
          <p:cNvPr id="157737" name="Object 41"/>
          <p:cNvGraphicFramePr>
            <a:graphicFrameLocks noChangeAspect="1"/>
          </p:cNvGraphicFramePr>
          <p:nvPr/>
        </p:nvGraphicFramePr>
        <p:xfrm>
          <a:off x="938213" y="5121275"/>
          <a:ext cx="1914525" cy="766763"/>
        </p:xfrm>
        <a:graphic>
          <a:graphicData uri="http://schemas.openxmlformats.org/presentationml/2006/ole">
            <p:oleObj spid="_x0000_s46084" name="公式" r:id="rId13" imgW="901440" imgH="393480" progId="Equation.3">
              <p:embed/>
            </p:oleObj>
          </a:graphicData>
        </a:graphic>
      </p:graphicFrame>
      <p:sp>
        <p:nvSpPr>
          <p:cNvPr id="157738" name="AutoShape 42"/>
          <p:cNvSpPr>
            <a:spLocks noChangeArrowheads="1"/>
          </p:cNvSpPr>
          <p:nvPr/>
        </p:nvSpPr>
        <p:spPr bwMode="auto">
          <a:xfrm>
            <a:off x="2881313" y="5410200"/>
            <a:ext cx="792162"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57739" name="Object 43"/>
          <p:cNvGraphicFramePr>
            <a:graphicFrameLocks noChangeAspect="1"/>
          </p:cNvGraphicFramePr>
          <p:nvPr/>
        </p:nvGraphicFramePr>
        <p:xfrm>
          <a:off x="3889375" y="5051425"/>
          <a:ext cx="2062163" cy="877888"/>
        </p:xfrm>
        <a:graphic>
          <a:graphicData uri="http://schemas.openxmlformats.org/presentationml/2006/ole">
            <p:oleObj spid="_x0000_s46085" name="公式" r:id="rId14" imgW="901440" imgH="419040" progId="Equation.3">
              <p:embed/>
            </p:oleObj>
          </a:graphicData>
        </a:graphic>
      </p:graphicFrame>
      <p:graphicFrame>
        <p:nvGraphicFramePr>
          <p:cNvPr id="157740" name="Object 44"/>
          <p:cNvGraphicFramePr>
            <a:graphicFrameLocks noChangeAspect="1"/>
          </p:cNvGraphicFramePr>
          <p:nvPr/>
        </p:nvGraphicFramePr>
        <p:xfrm>
          <a:off x="5978525" y="5122863"/>
          <a:ext cx="2308225" cy="755650"/>
        </p:xfrm>
        <a:graphic>
          <a:graphicData uri="http://schemas.openxmlformats.org/presentationml/2006/ole">
            <p:oleObj spid="_x0000_s46086" name="公式" r:id="rId15" imgW="927000" imgH="33012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wipe(left)">
                                      <p:cBhvr>
                                        <p:cTn id="7" dur="500"/>
                                        <p:tgtEl>
                                          <p:spTgt spid="157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733"/>
                                        </p:tgtEl>
                                        <p:attrNameLst>
                                          <p:attrName>style.visibility</p:attrName>
                                        </p:attrNameLst>
                                      </p:cBhvr>
                                      <p:to>
                                        <p:strVal val="visible"/>
                                      </p:to>
                                    </p:set>
                                    <p:animEffect transition="in" filter="wipe(left)">
                                      <p:cBhvr>
                                        <p:cTn id="12" dur="500"/>
                                        <p:tgtEl>
                                          <p:spTgt spid="1577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57701"/>
                                        </p:tgtEl>
                                        <p:attrNameLst>
                                          <p:attrName>style.visibility</p:attrName>
                                        </p:attrNameLst>
                                      </p:cBhvr>
                                      <p:to>
                                        <p:strVal val="visible"/>
                                      </p:to>
                                    </p:set>
                                    <p:animEffect transition="in" filter="wipe(left)">
                                      <p:cBhvr>
                                        <p:cTn id="21" dur="500"/>
                                        <p:tgtEl>
                                          <p:spTgt spid="15770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157700"/>
                                        </p:tgtEl>
                                        <p:attrNameLst>
                                          <p:attrName>style.visibility</p:attrName>
                                        </p:attrNameLst>
                                      </p:cBhvr>
                                      <p:to>
                                        <p:strVal val="visible"/>
                                      </p:to>
                                    </p:set>
                                    <p:animEffect transition="in" filter="wipe(left)">
                                      <p:cBhvr>
                                        <p:cTn id="38" dur="500"/>
                                        <p:tgtEl>
                                          <p:spTgt spid="15770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7702"/>
                                        </p:tgtEl>
                                        <p:attrNameLst>
                                          <p:attrName>style.visibility</p:attrName>
                                        </p:attrNameLst>
                                      </p:cBhvr>
                                      <p:to>
                                        <p:strVal val="visible"/>
                                      </p:to>
                                    </p:set>
                                    <p:animEffect transition="in" filter="wipe(left)">
                                      <p:cBhvr>
                                        <p:cTn id="43" dur="500"/>
                                        <p:tgtEl>
                                          <p:spTgt spid="157702"/>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57703"/>
                                        </p:tgtEl>
                                        <p:attrNameLst>
                                          <p:attrName>style.visibility</p:attrName>
                                        </p:attrNameLst>
                                      </p:cBhvr>
                                      <p:to>
                                        <p:strVal val="visible"/>
                                      </p:to>
                                    </p:set>
                                    <p:animEffect transition="in" filter="wipe(left)">
                                      <p:cBhvr>
                                        <p:cTn id="47" dur="500"/>
                                        <p:tgtEl>
                                          <p:spTgt spid="157703"/>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57704"/>
                                        </p:tgtEl>
                                        <p:attrNameLst>
                                          <p:attrName>style.visibility</p:attrName>
                                        </p:attrNameLst>
                                      </p:cBhvr>
                                      <p:to>
                                        <p:strVal val="visible"/>
                                      </p:to>
                                    </p:set>
                                    <p:animEffect transition="in" filter="wipe(left)">
                                      <p:cBhvr>
                                        <p:cTn id="51" dur="500"/>
                                        <p:tgtEl>
                                          <p:spTgt spid="157704"/>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157705"/>
                                        </p:tgtEl>
                                        <p:attrNameLst>
                                          <p:attrName>style.visibility</p:attrName>
                                        </p:attrNameLst>
                                      </p:cBhvr>
                                      <p:to>
                                        <p:strVal val="visible"/>
                                      </p:to>
                                    </p:set>
                                    <p:animEffect transition="in" filter="wipe(left)">
                                      <p:cBhvr>
                                        <p:cTn id="55" dur="500"/>
                                        <p:tgtEl>
                                          <p:spTgt spid="15770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ipe(left)">
                                      <p:cBhvr>
                                        <p:cTn id="60" dur="5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ipe(left)">
                                      <p:cBhvr>
                                        <p:cTn id="65" dur="500"/>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wipe(left)">
                                      <p:cBhvr>
                                        <p:cTn id="70" dur="500"/>
                                        <p:tgtEl>
                                          <p:spTgt spid="7"/>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left)">
                                      <p:cBhvr>
                                        <p:cTn id="74" dur="500"/>
                                        <p:tgtEl>
                                          <p:spTgt spid="9"/>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157706"/>
                                        </p:tgtEl>
                                        <p:attrNameLst>
                                          <p:attrName>style.visibility</p:attrName>
                                        </p:attrNameLst>
                                      </p:cBhvr>
                                      <p:to>
                                        <p:strVal val="visible"/>
                                      </p:to>
                                    </p:set>
                                    <p:animEffect transition="in" filter="wipe(left)">
                                      <p:cBhvr>
                                        <p:cTn id="78" dur="500"/>
                                        <p:tgtEl>
                                          <p:spTgt spid="15770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57732"/>
                                        </p:tgtEl>
                                        <p:attrNameLst>
                                          <p:attrName>style.visibility</p:attrName>
                                        </p:attrNameLst>
                                      </p:cBhvr>
                                      <p:to>
                                        <p:strVal val="visible"/>
                                      </p:to>
                                    </p:set>
                                    <p:animEffect transition="in" filter="wipe(left)">
                                      <p:cBhvr>
                                        <p:cTn id="83" dur="500"/>
                                        <p:tgtEl>
                                          <p:spTgt spid="15773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57731"/>
                                        </p:tgtEl>
                                        <p:attrNameLst>
                                          <p:attrName>style.visibility</p:attrName>
                                        </p:attrNameLst>
                                      </p:cBhvr>
                                      <p:to>
                                        <p:strVal val="visible"/>
                                      </p:to>
                                    </p:set>
                                    <p:animEffect transition="in" filter="wipe(left)">
                                      <p:cBhvr>
                                        <p:cTn id="88" dur="500"/>
                                        <p:tgtEl>
                                          <p:spTgt spid="15773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57735"/>
                                        </p:tgtEl>
                                        <p:attrNameLst>
                                          <p:attrName>style.visibility</p:attrName>
                                        </p:attrNameLst>
                                      </p:cBhvr>
                                      <p:to>
                                        <p:strVal val="visible"/>
                                      </p:to>
                                    </p:set>
                                    <p:animEffect transition="in" filter="wipe(left)">
                                      <p:cBhvr>
                                        <p:cTn id="93" dur="500"/>
                                        <p:tgtEl>
                                          <p:spTgt spid="157735"/>
                                        </p:tgtEl>
                                      </p:cBhvr>
                                    </p:animEffec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157734"/>
                                        </p:tgtEl>
                                        <p:attrNameLst>
                                          <p:attrName>style.visibility</p:attrName>
                                        </p:attrNameLst>
                                      </p:cBhvr>
                                      <p:to>
                                        <p:strVal val="visible"/>
                                      </p:to>
                                    </p:set>
                                    <p:animEffect transition="in" filter="wipe(left)">
                                      <p:cBhvr>
                                        <p:cTn id="97" dur="500"/>
                                        <p:tgtEl>
                                          <p:spTgt spid="15773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57736"/>
                                        </p:tgtEl>
                                        <p:attrNameLst>
                                          <p:attrName>style.visibility</p:attrName>
                                        </p:attrNameLst>
                                      </p:cBhvr>
                                      <p:to>
                                        <p:strVal val="visible"/>
                                      </p:to>
                                    </p:set>
                                    <p:animEffect transition="in" filter="wipe(left)">
                                      <p:cBhvr>
                                        <p:cTn id="102" dur="500"/>
                                        <p:tgtEl>
                                          <p:spTgt spid="15773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57737"/>
                                        </p:tgtEl>
                                        <p:attrNameLst>
                                          <p:attrName>style.visibility</p:attrName>
                                        </p:attrNameLst>
                                      </p:cBhvr>
                                      <p:to>
                                        <p:strVal val="visible"/>
                                      </p:to>
                                    </p:set>
                                    <p:animEffect transition="in" filter="wipe(left)">
                                      <p:cBhvr>
                                        <p:cTn id="107" dur="500"/>
                                        <p:tgtEl>
                                          <p:spTgt spid="15773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57738"/>
                                        </p:tgtEl>
                                        <p:attrNameLst>
                                          <p:attrName>style.visibility</p:attrName>
                                        </p:attrNameLst>
                                      </p:cBhvr>
                                      <p:to>
                                        <p:strVal val="visible"/>
                                      </p:to>
                                    </p:set>
                                    <p:animEffect transition="in" filter="wipe(left)">
                                      <p:cBhvr>
                                        <p:cTn id="112" dur="500"/>
                                        <p:tgtEl>
                                          <p:spTgt spid="1577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57739"/>
                                        </p:tgtEl>
                                        <p:attrNameLst>
                                          <p:attrName>style.visibility</p:attrName>
                                        </p:attrNameLst>
                                      </p:cBhvr>
                                      <p:to>
                                        <p:strVal val="visible"/>
                                      </p:to>
                                    </p:set>
                                    <p:animEffect transition="in" filter="wipe(left)">
                                      <p:cBhvr>
                                        <p:cTn id="117" dur="500"/>
                                        <p:tgtEl>
                                          <p:spTgt spid="157739"/>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57740"/>
                                        </p:tgtEl>
                                        <p:attrNameLst>
                                          <p:attrName>style.visibility</p:attrName>
                                        </p:attrNameLst>
                                      </p:cBhvr>
                                      <p:to>
                                        <p:strVal val="visible"/>
                                      </p:to>
                                    </p:set>
                                    <p:animEffect transition="in" filter="wipe(left)">
                                      <p:cBhvr>
                                        <p:cTn id="122" dur="500"/>
                                        <p:tgtEl>
                                          <p:spTgt spid="157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p:bldP spid="157700" grpId="0" animBg="1"/>
      <p:bldP spid="157701" grpId="0" animBg="1"/>
      <p:bldP spid="157702" grpId="0" animBg="1"/>
      <p:bldP spid="157703" grpId="0" animBg="1"/>
      <p:bldP spid="157704" grpId="0" animBg="1"/>
      <p:bldP spid="157705" grpId="0" animBg="1"/>
      <p:bldP spid="157706" grpId="0" animBg="1"/>
      <p:bldP spid="157732" grpId="0" animBg="1"/>
      <p:bldP spid="157733" grpId="0"/>
      <p:bldP spid="157735" grpId="0" animBg="1"/>
      <p:bldP spid="157736" grpId="0"/>
      <p:bldP spid="15773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722" name="Object 2"/>
          <p:cNvGraphicFramePr>
            <a:graphicFrameLocks noChangeAspect="1"/>
          </p:cNvGraphicFramePr>
          <p:nvPr/>
        </p:nvGraphicFramePr>
        <p:xfrm>
          <a:off x="2374900" y="1484313"/>
          <a:ext cx="4392613" cy="849312"/>
        </p:xfrm>
        <a:graphic>
          <a:graphicData uri="http://schemas.openxmlformats.org/presentationml/2006/ole">
            <p:oleObj spid="_x0000_s47106" name="公式" r:id="rId3" imgW="1866600" imgH="393480" progId="Equation.3">
              <p:embed/>
            </p:oleObj>
          </a:graphicData>
        </a:graphic>
      </p:graphicFrame>
      <p:sp>
        <p:nvSpPr>
          <p:cNvPr id="158723" name="Text Box 3"/>
          <p:cNvSpPr txBox="1">
            <a:spLocks noChangeArrowheads="1"/>
          </p:cNvSpPr>
          <p:nvPr/>
        </p:nvSpPr>
        <p:spPr bwMode="auto">
          <a:xfrm>
            <a:off x="900113" y="1125538"/>
            <a:ext cx="2540000" cy="457200"/>
          </a:xfrm>
          <a:prstGeom prst="rect">
            <a:avLst/>
          </a:prstGeom>
          <a:noFill/>
          <a:ln w="9525">
            <a:noFill/>
            <a:miter lim="800000"/>
            <a:headEnd/>
            <a:tailEnd/>
          </a:ln>
        </p:spPr>
        <p:txBody>
          <a:bodyPr>
            <a:spAutoFit/>
          </a:bodyPr>
          <a:lstStyle/>
          <a:p>
            <a:r>
              <a:rPr lang="zh-CN" altLang="en-US" sz="2400" b="1">
                <a:latin typeface="Times New Roman" pitchFamily="18" charset="0"/>
              </a:rPr>
              <a:t>对于理想气体</a:t>
            </a:r>
            <a:r>
              <a:rPr lang="en-US" altLang="zh-CN" sz="2400" b="1">
                <a:latin typeface="Times New Roman" pitchFamily="18" charset="0"/>
              </a:rPr>
              <a:t>:</a:t>
            </a:r>
          </a:p>
        </p:txBody>
      </p:sp>
      <p:sp>
        <p:nvSpPr>
          <p:cNvPr id="158724" name="AutoShape 4"/>
          <p:cNvSpPr>
            <a:spLocks noChangeArrowheads="1"/>
          </p:cNvSpPr>
          <p:nvPr/>
        </p:nvSpPr>
        <p:spPr bwMode="auto">
          <a:xfrm>
            <a:off x="1547813" y="2578100"/>
            <a:ext cx="719137" cy="215900"/>
          </a:xfrm>
          <a:prstGeom prst="rightArrow">
            <a:avLst>
              <a:gd name="adj1" fmla="val 50000"/>
              <a:gd name="adj2" fmla="val 83272"/>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58725" name="Object 5"/>
          <p:cNvGraphicFramePr>
            <a:graphicFrameLocks noChangeAspect="1"/>
          </p:cNvGraphicFramePr>
          <p:nvPr/>
        </p:nvGraphicFramePr>
        <p:xfrm>
          <a:off x="2411413" y="2349500"/>
          <a:ext cx="2952750" cy="811213"/>
        </p:xfrm>
        <a:graphic>
          <a:graphicData uri="http://schemas.openxmlformats.org/presentationml/2006/ole">
            <p:oleObj spid="_x0000_s47107" name="公式" r:id="rId4" imgW="1104840" imgH="330120" progId="Equation.3">
              <p:embed/>
            </p:oleObj>
          </a:graphicData>
        </a:graphic>
      </p:graphicFrame>
      <p:graphicFrame>
        <p:nvGraphicFramePr>
          <p:cNvPr id="158726" name="Object 6"/>
          <p:cNvGraphicFramePr>
            <a:graphicFrameLocks noChangeAspect="1"/>
          </p:cNvGraphicFramePr>
          <p:nvPr/>
        </p:nvGraphicFramePr>
        <p:xfrm>
          <a:off x="2771775" y="3149600"/>
          <a:ext cx="5113338" cy="968375"/>
        </p:xfrm>
        <a:graphic>
          <a:graphicData uri="http://schemas.openxmlformats.org/presentationml/2006/ole">
            <p:oleObj spid="_x0000_s47108" name="公式" r:id="rId5" imgW="1904760" imgH="393480" progId="Equation.3">
              <p:embed/>
            </p:oleObj>
          </a:graphicData>
        </a:graphic>
      </p:graphicFrame>
      <p:graphicFrame>
        <p:nvGraphicFramePr>
          <p:cNvPr id="158727" name="Object 7"/>
          <p:cNvGraphicFramePr>
            <a:graphicFrameLocks noChangeAspect="1"/>
          </p:cNvGraphicFramePr>
          <p:nvPr/>
        </p:nvGraphicFramePr>
        <p:xfrm>
          <a:off x="2771775" y="4233863"/>
          <a:ext cx="968375" cy="939800"/>
        </p:xfrm>
        <a:graphic>
          <a:graphicData uri="http://schemas.openxmlformats.org/presentationml/2006/ole">
            <p:oleObj spid="_x0000_s47109" name="公式" r:id="rId6" imgW="431640" imgH="419040" progId="Equation.3">
              <p:embed/>
            </p:oleObj>
          </a:graphicData>
        </a:graphic>
      </p:graphicFrame>
      <p:sp>
        <p:nvSpPr>
          <p:cNvPr id="158728" name="AutoShape 8"/>
          <p:cNvSpPr>
            <a:spLocks noChangeArrowheads="1"/>
          </p:cNvSpPr>
          <p:nvPr/>
        </p:nvSpPr>
        <p:spPr bwMode="auto">
          <a:xfrm>
            <a:off x="1619250" y="5614988"/>
            <a:ext cx="719138" cy="215900"/>
          </a:xfrm>
          <a:prstGeom prst="rightArrow">
            <a:avLst>
              <a:gd name="adj1" fmla="val 50000"/>
              <a:gd name="adj2" fmla="val 83272"/>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58729" name="Object 9"/>
          <p:cNvGraphicFramePr>
            <a:graphicFrameLocks noChangeAspect="1"/>
          </p:cNvGraphicFramePr>
          <p:nvPr/>
        </p:nvGraphicFramePr>
        <p:xfrm>
          <a:off x="2700338" y="5183188"/>
          <a:ext cx="3530600" cy="1054100"/>
        </p:xfrm>
        <a:graphic>
          <a:graphicData uri="http://schemas.openxmlformats.org/presentationml/2006/ole">
            <p:oleObj spid="_x0000_s47110" name="公式" r:id="rId7" imgW="1574640" imgH="469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8723"/>
                                        </p:tgtEl>
                                        <p:attrNameLst>
                                          <p:attrName>style.visibility</p:attrName>
                                        </p:attrNameLst>
                                      </p:cBhvr>
                                      <p:to>
                                        <p:strVal val="visible"/>
                                      </p:to>
                                    </p:set>
                                    <p:animEffect transition="in" filter="wipe(left)">
                                      <p:cBhvr>
                                        <p:cTn id="7" dur="500"/>
                                        <p:tgtEl>
                                          <p:spTgt spid="158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8722"/>
                                        </p:tgtEl>
                                        <p:attrNameLst>
                                          <p:attrName>style.visibility</p:attrName>
                                        </p:attrNameLst>
                                      </p:cBhvr>
                                      <p:to>
                                        <p:strVal val="visible"/>
                                      </p:to>
                                    </p:set>
                                    <p:animEffect transition="in" filter="wipe(left)">
                                      <p:cBhvr>
                                        <p:cTn id="12" dur="500"/>
                                        <p:tgtEl>
                                          <p:spTgt spid="1587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8724"/>
                                        </p:tgtEl>
                                        <p:attrNameLst>
                                          <p:attrName>style.visibility</p:attrName>
                                        </p:attrNameLst>
                                      </p:cBhvr>
                                      <p:to>
                                        <p:strVal val="visible"/>
                                      </p:to>
                                    </p:set>
                                    <p:animEffect transition="in" filter="wipe(left)">
                                      <p:cBhvr>
                                        <p:cTn id="17" dur="500"/>
                                        <p:tgtEl>
                                          <p:spTgt spid="158724"/>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58725"/>
                                        </p:tgtEl>
                                        <p:attrNameLst>
                                          <p:attrName>style.visibility</p:attrName>
                                        </p:attrNameLst>
                                      </p:cBhvr>
                                      <p:to>
                                        <p:strVal val="visible"/>
                                      </p:to>
                                    </p:set>
                                    <p:animEffect transition="in" filter="wipe(left)">
                                      <p:cBhvr>
                                        <p:cTn id="21" dur="500"/>
                                        <p:tgtEl>
                                          <p:spTgt spid="15872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58726"/>
                                        </p:tgtEl>
                                        <p:attrNameLst>
                                          <p:attrName>style.visibility</p:attrName>
                                        </p:attrNameLst>
                                      </p:cBhvr>
                                      <p:to>
                                        <p:strVal val="visible"/>
                                      </p:to>
                                    </p:set>
                                    <p:animEffect transition="in" filter="wipe(left)">
                                      <p:cBhvr>
                                        <p:cTn id="26" dur="500"/>
                                        <p:tgtEl>
                                          <p:spTgt spid="15872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8727"/>
                                        </p:tgtEl>
                                        <p:attrNameLst>
                                          <p:attrName>style.visibility</p:attrName>
                                        </p:attrNameLst>
                                      </p:cBhvr>
                                      <p:to>
                                        <p:strVal val="visible"/>
                                      </p:to>
                                    </p:set>
                                    <p:animEffect transition="in" filter="wipe(left)">
                                      <p:cBhvr>
                                        <p:cTn id="31" dur="500"/>
                                        <p:tgtEl>
                                          <p:spTgt spid="1587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8728"/>
                                        </p:tgtEl>
                                        <p:attrNameLst>
                                          <p:attrName>style.visibility</p:attrName>
                                        </p:attrNameLst>
                                      </p:cBhvr>
                                      <p:to>
                                        <p:strVal val="visible"/>
                                      </p:to>
                                    </p:set>
                                    <p:animEffect transition="in" filter="wipe(left)">
                                      <p:cBhvr>
                                        <p:cTn id="36" dur="500"/>
                                        <p:tgtEl>
                                          <p:spTgt spid="158728"/>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58729"/>
                                        </p:tgtEl>
                                        <p:attrNameLst>
                                          <p:attrName>style.visibility</p:attrName>
                                        </p:attrNameLst>
                                      </p:cBhvr>
                                      <p:to>
                                        <p:strVal val="visible"/>
                                      </p:to>
                                    </p:set>
                                    <p:animEffect transition="in" filter="wipe(left)">
                                      <p:cBhvr>
                                        <p:cTn id="40" dur="500"/>
                                        <p:tgtEl>
                                          <p:spTgt spid="158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utoUpdateAnimBg="0"/>
      <p:bldP spid="158724" grpId="0" animBg="1"/>
      <p:bldP spid="15872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684213" y="1009650"/>
            <a:ext cx="3373437" cy="1006475"/>
          </a:xfrm>
          <a:prstGeom prst="rect">
            <a:avLst/>
          </a:prstGeom>
          <a:noFill/>
          <a:ln w="9525">
            <a:noFill/>
            <a:miter lim="800000"/>
            <a:headEnd/>
            <a:tailEnd/>
          </a:ln>
        </p:spPr>
        <p:txBody>
          <a:bodyPr wrap="none">
            <a:spAutoFit/>
          </a:bodyPr>
          <a:lstStyle/>
          <a:p>
            <a:pPr>
              <a:lnSpc>
                <a:spcPct val="125000"/>
              </a:lnSpc>
            </a:pPr>
            <a:r>
              <a:rPr kumimoji="1" lang="en-US" altLang="zh-CN" sz="2400" b="1">
                <a:solidFill>
                  <a:srgbClr val="0000FF"/>
                </a:solidFill>
                <a:latin typeface="Times New Roman" pitchFamily="18" charset="0"/>
              </a:rPr>
              <a:t>(1)</a:t>
            </a:r>
            <a:r>
              <a:rPr kumimoji="1" lang="en-US" altLang="zh-CN" sz="2400" b="1">
                <a:latin typeface="Times New Roman" pitchFamily="18" charset="0"/>
              </a:rPr>
              <a:t> </a:t>
            </a:r>
            <a:r>
              <a:rPr kumimoji="1" lang="zh-CN" altLang="en-US" sz="2400" b="1">
                <a:latin typeface="楷体_GB2312" pitchFamily="49" charset="-122"/>
                <a:ea typeface="楷体_GB2312" pitchFamily="49" charset="-122"/>
              </a:rPr>
              <a:t>一般三种速率用途各</a:t>
            </a:r>
          </a:p>
          <a:p>
            <a:pPr>
              <a:lnSpc>
                <a:spcPct val="125000"/>
              </a:lnSpc>
            </a:pPr>
            <a:r>
              <a:rPr kumimoji="1" lang="zh-CN" altLang="en-US" sz="2400" b="1">
                <a:latin typeface="楷体_GB2312" pitchFamily="49" charset="-122"/>
                <a:ea typeface="楷体_GB2312" pitchFamily="49" charset="-122"/>
              </a:rPr>
              <a:t>   不相同</a:t>
            </a:r>
            <a:r>
              <a:rPr kumimoji="1" lang="zh-CN" altLang="en-US" sz="2400" b="1">
                <a:latin typeface="Times New Roman" pitchFamily="18" charset="0"/>
              </a:rPr>
              <a:t>  </a:t>
            </a:r>
          </a:p>
        </p:txBody>
      </p:sp>
      <p:sp>
        <p:nvSpPr>
          <p:cNvPr id="160771" name="Text Box 3"/>
          <p:cNvSpPr txBox="1">
            <a:spLocks noChangeArrowheads="1"/>
          </p:cNvSpPr>
          <p:nvPr/>
        </p:nvSpPr>
        <p:spPr bwMode="auto">
          <a:xfrm>
            <a:off x="900113" y="2681288"/>
            <a:ext cx="4679950" cy="457200"/>
          </a:xfrm>
          <a:prstGeom prst="rect">
            <a:avLst/>
          </a:prstGeom>
          <a:noFill/>
          <a:ln w="9525">
            <a:noFill/>
            <a:miter lim="800000"/>
            <a:headEnd/>
            <a:tailEnd/>
          </a:ln>
        </p:spPr>
        <p:txBody>
          <a:bodyPr>
            <a:spAutoFit/>
          </a:bodyPr>
          <a:lstStyle/>
          <a:p>
            <a:r>
              <a:rPr kumimoji="1" lang="zh-CN" altLang="en-US" sz="2400" b="1">
                <a:latin typeface="Times New Roman" pitchFamily="18" charset="0"/>
                <a:ea typeface="楷体_GB2312" pitchFamily="49" charset="-122"/>
              </a:rPr>
              <a:t>讨论分子的</a:t>
            </a:r>
            <a:r>
              <a:rPr kumimoji="1" lang="zh-CN" altLang="en-US" sz="2400" b="1">
                <a:solidFill>
                  <a:srgbClr val="FF6600"/>
                </a:solidFill>
                <a:latin typeface="Times New Roman" pitchFamily="18" charset="0"/>
                <a:ea typeface="楷体_GB2312" pitchFamily="49" charset="-122"/>
              </a:rPr>
              <a:t>碰撞次数</a:t>
            </a:r>
            <a:r>
              <a:rPr kumimoji="1" lang="zh-CN" altLang="en-US" sz="2400" b="1">
                <a:latin typeface="Times New Roman" pitchFamily="18" charset="0"/>
                <a:ea typeface="楷体_GB2312" pitchFamily="49" charset="-122"/>
              </a:rPr>
              <a:t>用</a:t>
            </a:r>
          </a:p>
        </p:txBody>
      </p:sp>
      <p:sp>
        <p:nvSpPr>
          <p:cNvPr id="160772" name="Text Box 4"/>
          <p:cNvSpPr txBox="1">
            <a:spLocks noChangeArrowheads="1"/>
          </p:cNvSpPr>
          <p:nvPr/>
        </p:nvSpPr>
        <p:spPr bwMode="auto">
          <a:xfrm>
            <a:off x="755650" y="476250"/>
            <a:ext cx="1512888" cy="519113"/>
          </a:xfrm>
          <a:prstGeom prst="rect">
            <a:avLst/>
          </a:prstGeom>
          <a:noFill/>
          <a:ln w="9525">
            <a:noFill/>
            <a:miter lim="800000"/>
            <a:headEnd/>
            <a:tailEnd/>
          </a:ln>
        </p:spPr>
        <p:txBody>
          <a:bodyPr>
            <a:spAutoFit/>
          </a:bodyPr>
          <a:lstStyle/>
          <a:p>
            <a:r>
              <a:rPr lang="zh-CN" altLang="en-US" sz="2800" b="1">
                <a:solidFill>
                  <a:srgbClr val="0000FF"/>
                </a:solidFill>
                <a:latin typeface="Times New Roman" pitchFamily="18" charset="0"/>
              </a:rPr>
              <a:t>说 明</a:t>
            </a:r>
          </a:p>
        </p:txBody>
      </p:sp>
      <p:graphicFrame>
        <p:nvGraphicFramePr>
          <p:cNvPr id="160773" name="Object 5"/>
          <p:cNvGraphicFramePr>
            <a:graphicFrameLocks noChangeAspect="1"/>
          </p:cNvGraphicFramePr>
          <p:nvPr/>
        </p:nvGraphicFramePr>
        <p:xfrm>
          <a:off x="4176713" y="2801938"/>
          <a:ext cx="250825" cy="266700"/>
        </p:xfrm>
        <a:graphic>
          <a:graphicData uri="http://schemas.openxmlformats.org/presentationml/2006/ole">
            <p:oleObj spid="_x0000_s48130" name="公式" r:id="rId3" imgW="253800" imgH="266400" progId="Equation.3">
              <p:embed/>
            </p:oleObj>
          </a:graphicData>
        </a:graphic>
      </p:graphicFrame>
      <p:sp>
        <p:nvSpPr>
          <p:cNvPr id="160774" name="Text Box 6"/>
          <p:cNvSpPr txBox="1">
            <a:spLocks noChangeArrowheads="1"/>
          </p:cNvSpPr>
          <p:nvPr/>
        </p:nvSpPr>
        <p:spPr bwMode="auto">
          <a:xfrm>
            <a:off x="900113" y="3249613"/>
            <a:ext cx="5616575" cy="1187450"/>
          </a:xfrm>
          <a:prstGeom prst="rect">
            <a:avLst/>
          </a:prstGeom>
          <a:noFill/>
          <a:ln w="9525">
            <a:noFill/>
            <a:miter lim="800000"/>
            <a:headEnd/>
            <a:tailEnd/>
          </a:ln>
        </p:spPr>
        <p:txBody>
          <a:bodyPr>
            <a:spAutoFit/>
          </a:bodyPr>
          <a:lstStyle/>
          <a:p>
            <a:pPr>
              <a:lnSpc>
                <a:spcPct val="150000"/>
              </a:lnSpc>
            </a:pPr>
            <a:r>
              <a:rPr kumimoji="1" lang="zh-CN" altLang="en-US" sz="2400" b="1">
                <a:latin typeface="Times New Roman" pitchFamily="18" charset="0"/>
                <a:ea typeface="楷体_GB2312" pitchFamily="49" charset="-122"/>
              </a:rPr>
              <a:t>讨论分子的</a:t>
            </a:r>
            <a:r>
              <a:rPr kumimoji="1" lang="zh-CN" altLang="en-US" sz="2400" b="1">
                <a:solidFill>
                  <a:srgbClr val="FF6600"/>
                </a:solidFill>
                <a:latin typeface="Times New Roman" pitchFamily="18" charset="0"/>
                <a:ea typeface="楷体_GB2312" pitchFamily="49" charset="-122"/>
              </a:rPr>
              <a:t>平均平动动</a:t>
            </a:r>
          </a:p>
          <a:p>
            <a:pPr>
              <a:lnSpc>
                <a:spcPct val="150000"/>
              </a:lnSpc>
            </a:pPr>
            <a:r>
              <a:rPr kumimoji="1" lang="zh-CN" altLang="en-US" sz="2400" b="1">
                <a:solidFill>
                  <a:srgbClr val="FF6600"/>
                </a:solidFill>
                <a:latin typeface="Times New Roman" pitchFamily="18" charset="0"/>
                <a:ea typeface="楷体_GB2312" pitchFamily="49" charset="-122"/>
              </a:rPr>
              <a:t>能</a:t>
            </a:r>
            <a:r>
              <a:rPr kumimoji="1" lang="zh-CN" altLang="en-US" sz="2400" b="1">
                <a:latin typeface="Times New Roman" pitchFamily="18" charset="0"/>
                <a:ea typeface="楷体_GB2312" pitchFamily="49" charset="-122"/>
              </a:rPr>
              <a:t>用</a:t>
            </a:r>
          </a:p>
        </p:txBody>
      </p:sp>
      <p:graphicFrame>
        <p:nvGraphicFramePr>
          <p:cNvPr id="160775" name="Object 7"/>
          <p:cNvGraphicFramePr>
            <a:graphicFrameLocks noChangeAspect="1"/>
          </p:cNvGraphicFramePr>
          <p:nvPr/>
        </p:nvGraphicFramePr>
        <p:xfrm>
          <a:off x="1692275" y="4005263"/>
          <a:ext cx="641350" cy="473075"/>
        </p:xfrm>
        <a:graphic>
          <a:graphicData uri="http://schemas.openxmlformats.org/presentationml/2006/ole">
            <p:oleObj spid="_x0000_s48131" name="公式" r:id="rId4" imgW="634680" imgH="469800" progId="Equation.3">
              <p:embed/>
            </p:oleObj>
          </a:graphicData>
        </a:graphic>
      </p:graphicFrame>
      <p:sp>
        <p:nvSpPr>
          <p:cNvPr id="160776" name="Text Box 8"/>
          <p:cNvSpPr txBox="1">
            <a:spLocks noChangeArrowheads="1"/>
          </p:cNvSpPr>
          <p:nvPr/>
        </p:nvSpPr>
        <p:spPr bwMode="auto">
          <a:xfrm>
            <a:off x="900113" y="2063750"/>
            <a:ext cx="3600450" cy="457200"/>
          </a:xfrm>
          <a:prstGeom prst="rect">
            <a:avLst/>
          </a:prstGeom>
          <a:noFill/>
          <a:ln w="9525">
            <a:noFill/>
            <a:miter lim="800000"/>
            <a:headEnd/>
            <a:tailEnd/>
          </a:ln>
        </p:spPr>
        <p:txBody>
          <a:bodyPr>
            <a:spAutoFit/>
          </a:bodyPr>
          <a:lstStyle/>
          <a:p>
            <a:r>
              <a:rPr kumimoji="1" lang="zh-CN" altLang="en-US" sz="2400" b="1">
                <a:latin typeface="Times New Roman" pitchFamily="18" charset="0"/>
                <a:ea typeface="楷体_GB2312" pitchFamily="49" charset="-122"/>
              </a:rPr>
              <a:t>讨论</a:t>
            </a:r>
            <a:r>
              <a:rPr kumimoji="1" lang="zh-CN" altLang="en-US" sz="2400" b="1">
                <a:solidFill>
                  <a:srgbClr val="FF6600"/>
                </a:solidFill>
                <a:latin typeface="Times New Roman" pitchFamily="18" charset="0"/>
                <a:ea typeface="楷体_GB2312" pitchFamily="49" charset="-122"/>
              </a:rPr>
              <a:t>速率分布</a:t>
            </a:r>
            <a:r>
              <a:rPr kumimoji="1" lang="zh-CN" altLang="en-US" sz="2400" b="1">
                <a:latin typeface="Times New Roman" pitchFamily="18" charset="0"/>
                <a:ea typeface="楷体_GB2312" pitchFamily="49" charset="-122"/>
              </a:rPr>
              <a:t>一般用</a:t>
            </a:r>
          </a:p>
        </p:txBody>
      </p:sp>
      <p:graphicFrame>
        <p:nvGraphicFramePr>
          <p:cNvPr id="160777" name="Object 9"/>
          <p:cNvGraphicFramePr>
            <a:graphicFrameLocks noChangeAspect="1"/>
          </p:cNvGraphicFramePr>
          <p:nvPr/>
        </p:nvGraphicFramePr>
        <p:xfrm>
          <a:off x="3851275" y="2087563"/>
          <a:ext cx="381000" cy="466725"/>
        </p:xfrm>
        <a:graphic>
          <a:graphicData uri="http://schemas.openxmlformats.org/presentationml/2006/ole">
            <p:oleObj spid="_x0000_s48132" name="公式" r:id="rId5" imgW="380880" imgH="469800" progId="Equation.3">
              <p:embed/>
            </p:oleObj>
          </a:graphicData>
        </a:graphic>
      </p:graphicFrame>
      <p:graphicFrame>
        <p:nvGraphicFramePr>
          <p:cNvPr id="160778" name="Object 10"/>
          <p:cNvGraphicFramePr>
            <a:graphicFrameLocks noChangeAspect="1"/>
          </p:cNvGraphicFramePr>
          <p:nvPr/>
        </p:nvGraphicFramePr>
        <p:xfrm>
          <a:off x="6659563" y="4786313"/>
          <a:ext cx="1911350" cy="587375"/>
        </p:xfrm>
        <a:graphic>
          <a:graphicData uri="http://schemas.openxmlformats.org/presentationml/2006/ole">
            <p:oleObj spid="_x0000_s48133" name="公式" r:id="rId6" imgW="1892160" imgH="583920" progId="Equation.3">
              <p:embed/>
            </p:oleObj>
          </a:graphicData>
        </a:graphic>
      </p:graphicFrame>
      <p:sp>
        <p:nvSpPr>
          <p:cNvPr id="160779" name="Text Box 11"/>
          <p:cNvSpPr txBox="1">
            <a:spLocks noChangeArrowheads="1"/>
          </p:cNvSpPr>
          <p:nvPr/>
        </p:nvSpPr>
        <p:spPr bwMode="auto">
          <a:xfrm>
            <a:off x="755650" y="4821238"/>
            <a:ext cx="5926138" cy="457200"/>
          </a:xfrm>
          <a:prstGeom prst="rect">
            <a:avLst/>
          </a:prstGeom>
          <a:noFill/>
          <a:ln w="9525">
            <a:noFill/>
            <a:miter lim="800000"/>
            <a:headEnd/>
            <a:tailEnd/>
          </a:ln>
        </p:spPr>
        <p:txBody>
          <a:bodyPr wrap="none">
            <a:spAutoFit/>
          </a:bodyPr>
          <a:lstStyle/>
          <a:p>
            <a:r>
              <a:rPr kumimoji="1" lang="en-US" altLang="zh-CN" sz="2400" b="1">
                <a:solidFill>
                  <a:srgbClr val="0000FF"/>
                </a:solidFill>
                <a:latin typeface="Times New Roman" pitchFamily="18" charset="0"/>
              </a:rPr>
              <a:t>(2)</a:t>
            </a:r>
            <a:r>
              <a:rPr kumimoji="1" lang="en-US" altLang="zh-CN" sz="2400" b="1">
                <a:latin typeface="Times New Roman" pitchFamily="18" charset="0"/>
              </a:rPr>
              <a:t> </a:t>
            </a:r>
            <a:r>
              <a:rPr lang="zh-CN" altLang="en-US" sz="2400" b="1">
                <a:latin typeface="Times New Roman" pitchFamily="18" charset="0"/>
                <a:ea typeface="楷体_GB2312" pitchFamily="49" charset="-122"/>
              </a:rPr>
              <a:t>同一种气体分子的三种速率的大小关系</a:t>
            </a:r>
            <a:r>
              <a:rPr lang="en-US" altLang="zh-CN" sz="2400" b="1">
                <a:latin typeface="Times New Roman" pitchFamily="18" charset="0"/>
              </a:rPr>
              <a:t>:</a:t>
            </a:r>
          </a:p>
        </p:txBody>
      </p:sp>
      <p:sp>
        <p:nvSpPr>
          <p:cNvPr id="160780" name="AutoShape 12"/>
          <p:cNvSpPr>
            <a:spLocks noChangeArrowheads="1"/>
          </p:cNvSpPr>
          <p:nvPr/>
        </p:nvSpPr>
        <p:spPr bwMode="auto">
          <a:xfrm>
            <a:off x="395288" y="460375"/>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sp>
        <p:nvSpPr>
          <p:cNvPr id="160781" name="Rectangle 13"/>
          <p:cNvSpPr>
            <a:spLocks noChangeArrowheads="1"/>
          </p:cNvSpPr>
          <p:nvPr/>
        </p:nvSpPr>
        <p:spPr bwMode="auto">
          <a:xfrm>
            <a:off x="684213" y="1844675"/>
            <a:ext cx="355600" cy="914400"/>
          </a:xfrm>
          <a:prstGeom prst="rect">
            <a:avLst/>
          </a:prstGeom>
          <a:noFill/>
          <a:ln w="9525" algn="ctr">
            <a:noFill/>
            <a:miter lim="800000"/>
            <a:headEnd/>
            <a:tailEnd/>
          </a:ln>
        </p:spPr>
        <p:txBody>
          <a:bodyPr wrap="none">
            <a:spAutoFit/>
          </a:bodyPr>
          <a:lstStyle/>
          <a:p>
            <a:r>
              <a:rPr kumimoji="1" lang="en-US" altLang="zh-CN" sz="5400" b="1">
                <a:solidFill>
                  <a:srgbClr val="0000FF"/>
                </a:solidFill>
                <a:latin typeface="Times New Roman" pitchFamily="18" charset="0"/>
              </a:rPr>
              <a:t>·</a:t>
            </a:r>
          </a:p>
        </p:txBody>
      </p:sp>
      <p:sp>
        <p:nvSpPr>
          <p:cNvPr id="160782" name="Rectangle 14"/>
          <p:cNvSpPr>
            <a:spLocks noChangeArrowheads="1"/>
          </p:cNvSpPr>
          <p:nvPr/>
        </p:nvSpPr>
        <p:spPr bwMode="auto">
          <a:xfrm>
            <a:off x="684213" y="2443163"/>
            <a:ext cx="355600" cy="914400"/>
          </a:xfrm>
          <a:prstGeom prst="rect">
            <a:avLst/>
          </a:prstGeom>
          <a:noFill/>
          <a:ln w="9525" algn="ctr">
            <a:noFill/>
            <a:miter lim="800000"/>
            <a:headEnd/>
            <a:tailEnd/>
          </a:ln>
        </p:spPr>
        <p:txBody>
          <a:bodyPr wrap="none">
            <a:spAutoFit/>
          </a:bodyPr>
          <a:lstStyle/>
          <a:p>
            <a:r>
              <a:rPr kumimoji="1" lang="en-US" altLang="zh-CN" sz="5400" b="1">
                <a:solidFill>
                  <a:srgbClr val="0000FF"/>
                </a:solidFill>
                <a:latin typeface="Times New Roman" pitchFamily="18" charset="0"/>
              </a:rPr>
              <a:t>·</a:t>
            </a:r>
          </a:p>
        </p:txBody>
      </p:sp>
      <p:sp>
        <p:nvSpPr>
          <p:cNvPr id="160783" name="Rectangle 15"/>
          <p:cNvSpPr>
            <a:spLocks noChangeArrowheads="1"/>
          </p:cNvSpPr>
          <p:nvPr/>
        </p:nvSpPr>
        <p:spPr bwMode="auto">
          <a:xfrm>
            <a:off x="684213" y="3162300"/>
            <a:ext cx="355600" cy="914400"/>
          </a:xfrm>
          <a:prstGeom prst="rect">
            <a:avLst/>
          </a:prstGeom>
          <a:noFill/>
          <a:ln w="9525" algn="ctr">
            <a:noFill/>
            <a:miter lim="800000"/>
            <a:headEnd/>
            <a:tailEnd/>
          </a:ln>
        </p:spPr>
        <p:txBody>
          <a:bodyPr wrap="none">
            <a:spAutoFit/>
          </a:bodyPr>
          <a:lstStyle/>
          <a:p>
            <a:r>
              <a:rPr kumimoji="1" lang="en-US" altLang="zh-CN" sz="5400" b="1">
                <a:solidFill>
                  <a:srgbClr val="0000FF"/>
                </a:solidFill>
                <a:latin typeface="Times New Roman" pitchFamily="18" charset="0"/>
              </a:rPr>
              <a:t>·</a:t>
            </a:r>
          </a:p>
        </p:txBody>
      </p:sp>
      <p:grpSp>
        <p:nvGrpSpPr>
          <p:cNvPr id="2" name="Group 16"/>
          <p:cNvGrpSpPr>
            <a:grpSpLocks/>
          </p:cNvGrpSpPr>
          <p:nvPr/>
        </p:nvGrpSpPr>
        <p:grpSpPr bwMode="auto">
          <a:xfrm>
            <a:off x="4427538" y="908050"/>
            <a:ext cx="4119562" cy="2946400"/>
            <a:chOff x="2993" y="261"/>
            <a:chExt cx="2595" cy="1856"/>
          </a:xfrm>
        </p:grpSpPr>
        <p:grpSp>
          <p:nvGrpSpPr>
            <p:cNvPr id="48155" name="Group 17"/>
            <p:cNvGrpSpPr>
              <a:grpSpLocks/>
            </p:cNvGrpSpPr>
            <p:nvPr/>
          </p:nvGrpSpPr>
          <p:grpSpPr bwMode="auto">
            <a:xfrm>
              <a:off x="3164" y="261"/>
              <a:ext cx="439" cy="1603"/>
              <a:chOff x="3051" y="421"/>
              <a:chExt cx="439" cy="1603"/>
            </a:xfrm>
          </p:grpSpPr>
          <p:sp>
            <p:nvSpPr>
              <p:cNvPr id="48162" name="Line 18"/>
              <p:cNvSpPr>
                <a:spLocks noChangeShapeType="1"/>
              </p:cNvSpPr>
              <p:nvPr/>
            </p:nvSpPr>
            <p:spPr bwMode="auto">
              <a:xfrm>
                <a:off x="3051" y="505"/>
                <a:ext cx="0" cy="1519"/>
              </a:xfrm>
              <a:prstGeom prst="line">
                <a:avLst/>
              </a:prstGeom>
              <a:noFill/>
              <a:ln w="38100">
                <a:solidFill>
                  <a:srgbClr val="0000FF"/>
                </a:solidFill>
                <a:round/>
                <a:headEnd type="stealth" w="med" len="lg"/>
                <a:tailEnd/>
              </a:ln>
            </p:spPr>
            <p:txBody>
              <a:bodyPr/>
              <a:lstStyle/>
              <a:p>
                <a:endParaRPr lang="zh-CN" altLang="en-US"/>
              </a:p>
            </p:txBody>
          </p:sp>
          <p:sp>
            <p:nvSpPr>
              <p:cNvPr id="48163" name="Text Box 19"/>
              <p:cNvSpPr txBox="1">
                <a:spLocks noChangeArrowheads="1"/>
              </p:cNvSpPr>
              <p:nvPr/>
            </p:nvSpPr>
            <p:spPr bwMode="auto">
              <a:xfrm>
                <a:off x="3097" y="421"/>
                <a:ext cx="393" cy="288"/>
              </a:xfrm>
              <a:prstGeom prst="rect">
                <a:avLst/>
              </a:prstGeom>
              <a:noFill/>
              <a:ln w="38100">
                <a:noFill/>
                <a:miter lim="800000"/>
                <a:headEnd/>
                <a:tailEnd/>
              </a:ln>
            </p:spPr>
            <p:txBody>
              <a:bodyPr wrap="none">
                <a:spAutoFit/>
              </a:bodyPr>
              <a:lstStyle/>
              <a:p>
                <a:r>
                  <a:rPr lang="en-US" altLang="zh-CN" sz="2400" b="1" i="1">
                    <a:latin typeface="Times New Roman" pitchFamily="18" charset="0"/>
                  </a:rPr>
                  <a:t>f</a:t>
                </a:r>
                <a:r>
                  <a:rPr lang="en-US" altLang="zh-CN" sz="2400" b="1">
                    <a:latin typeface="Times New Roman" pitchFamily="18" charset="0"/>
                  </a:rPr>
                  <a:t>(</a:t>
                </a:r>
                <a:r>
                  <a:rPr lang="en-US" altLang="zh-CN" sz="2400" b="1" i="1">
                    <a:latin typeface="Bookman Old Style" pitchFamily="18" charset="0"/>
                  </a:rPr>
                  <a:t>v</a:t>
                </a:r>
                <a:r>
                  <a:rPr lang="en-US" altLang="zh-CN" sz="2400" b="1" i="1">
                    <a:latin typeface="Times New Roman" pitchFamily="18" charset="0"/>
                  </a:rPr>
                  <a:t>)</a:t>
                </a:r>
              </a:p>
            </p:txBody>
          </p:sp>
        </p:grpSp>
        <p:sp>
          <p:nvSpPr>
            <p:cNvPr id="48156" name="Rectangle 20"/>
            <p:cNvSpPr>
              <a:spLocks noChangeArrowheads="1"/>
            </p:cNvSpPr>
            <p:nvPr/>
          </p:nvSpPr>
          <p:spPr bwMode="auto">
            <a:xfrm>
              <a:off x="3991" y="397"/>
              <a:ext cx="233" cy="288"/>
            </a:xfrm>
            <a:prstGeom prst="rect">
              <a:avLst/>
            </a:prstGeom>
            <a:noFill/>
            <a:ln w="9525">
              <a:noFill/>
              <a:miter lim="800000"/>
              <a:headEnd/>
              <a:tailEnd/>
            </a:ln>
          </p:spPr>
          <p:txBody>
            <a:bodyPr wrap="none" anchor="ctr">
              <a:spAutoFit/>
            </a:bodyPr>
            <a:lstStyle/>
            <a:p>
              <a:r>
                <a:rPr lang="en-US" altLang="zh-CN" sz="2400" b="1" i="1">
                  <a:latin typeface="Times New Roman" pitchFamily="18" charset="0"/>
                </a:rPr>
                <a:t>T</a:t>
              </a:r>
            </a:p>
          </p:txBody>
        </p:sp>
        <p:sp>
          <p:nvSpPr>
            <p:cNvPr id="48157" name="Freeform 21"/>
            <p:cNvSpPr>
              <a:spLocks/>
            </p:cNvSpPr>
            <p:nvPr/>
          </p:nvSpPr>
          <p:spPr bwMode="auto">
            <a:xfrm>
              <a:off x="3186" y="606"/>
              <a:ext cx="2233" cy="1241"/>
            </a:xfrm>
            <a:custGeom>
              <a:avLst/>
              <a:gdLst>
                <a:gd name="T0" fmla="*/ 0 w 2233"/>
                <a:gd name="T1" fmla="*/ 1241 h 1241"/>
                <a:gd name="T2" fmla="*/ 85 w 2233"/>
                <a:gd name="T3" fmla="*/ 1212 h 1241"/>
                <a:gd name="T4" fmla="*/ 170 w 2233"/>
                <a:gd name="T5" fmla="*/ 1155 h 1241"/>
                <a:gd name="T6" fmla="*/ 289 w 2233"/>
                <a:gd name="T7" fmla="*/ 1034 h 1241"/>
                <a:gd name="T8" fmla="*/ 361 w 2233"/>
                <a:gd name="T9" fmla="*/ 914 h 1241"/>
                <a:gd name="T10" fmla="*/ 445 w 2233"/>
                <a:gd name="T11" fmla="*/ 746 h 1241"/>
                <a:gd name="T12" fmla="*/ 493 w 2233"/>
                <a:gd name="T13" fmla="*/ 602 h 1241"/>
                <a:gd name="T14" fmla="*/ 541 w 2233"/>
                <a:gd name="T15" fmla="*/ 458 h 1241"/>
                <a:gd name="T16" fmla="*/ 595 w 2233"/>
                <a:gd name="T17" fmla="*/ 305 h 1241"/>
                <a:gd name="T18" fmla="*/ 680 w 2233"/>
                <a:gd name="T19" fmla="*/ 135 h 1241"/>
                <a:gd name="T20" fmla="*/ 805 w 2233"/>
                <a:gd name="T21" fmla="*/ 14 h 1241"/>
                <a:gd name="T22" fmla="*/ 949 w 2233"/>
                <a:gd name="T23" fmla="*/ 50 h 1241"/>
                <a:gd name="T24" fmla="*/ 1049 w 2233"/>
                <a:gd name="T25" fmla="*/ 192 h 1241"/>
                <a:gd name="T26" fmla="*/ 1153 w 2233"/>
                <a:gd name="T27" fmla="*/ 350 h 1241"/>
                <a:gd name="T28" fmla="*/ 1247 w 2233"/>
                <a:gd name="T29" fmla="*/ 503 h 1241"/>
                <a:gd name="T30" fmla="*/ 1332 w 2233"/>
                <a:gd name="T31" fmla="*/ 645 h 1241"/>
                <a:gd name="T32" fmla="*/ 1474 w 2233"/>
                <a:gd name="T33" fmla="*/ 815 h 1241"/>
                <a:gd name="T34" fmla="*/ 1616 w 2233"/>
                <a:gd name="T35" fmla="*/ 957 h 1241"/>
                <a:gd name="T36" fmla="*/ 1729 w 2233"/>
                <a:gd name="T37" fmla="*/ 1042 h 1241"/>
                <a:gd name="T38" fmla="*/ 1909 w 2233"/>
                <a:gd name="T39" fmla="*/ 1130 h 1241"/>
                <a:gd name="T40" fmla="*/ 2041 w 2233"/>
                <a:gd name="T41" fmla="*/ 1166 h 1241"/>
                <a:gd name="T42" fmla="*/ 2137 w 2233"/>
                <a:gd name="T43" fmla="*/ 1178 h 1241"/>
                <a:gd name="T44" fmla="*/ 2233 w 2233"/>
                <a:gd name="T45" fmla="*/ 1178 h 12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33"/>
                <a:gd name="T70" fmla="*/ 0 h 1241"/>
                <a:gd name="T71" fmla="*/ 2233 w 2233"/>
                <a:gd name="T72" fmla="*/ 1241 h 12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33" h="1241">
                  <a:moveTo>
                    <a:pt x="0" y="1241"/>
                  </a:moveTo>
                  <a:cubicBezTo>
                    <a:pt x="28" y="1233"/>
                    <a:pt x="57" y="1226"/>
                    <a:pt x="85" y="1212"/>
                  </a:cubicBezTo>
                  <a:cubicBezTo>
                    <a:pt x="113" y="1198"/>
                    <a:pt x="136" y="1185"/>
                    <a:pt x="170" y="1155"/>
                  </a:cubicBezTo>
                  <a:cubicBezTo>
                    <a:pt x="204" y="1125"/>
                    <a:pt x="257" y="1074"/>
                    <a:pt x="289" y="1034"/>
                  </a:cubicBezTo>
                  <a:cubicBezTo>
                    <a:pt x="321" y="994"/>
                    <a:pt x="335" y="962"/>
                    <a:pt x="361" y="914"/>
                  </a:cubicBezTo>
                  <a:cubicBezTo>
                    <a:pt x="387" y="866"/>
                    <a:pt x="423" y="798"/>
                    <a:pt x="445" y="746"/>
                  </a:cubicBezTo>
                  <a:cubicBezTo>
                    <a:pt x="467" y="694"/>
                    <a:pt x="477" y="650"/>
                    <a:pt x="493" y="602"/>
                  </a:cubicBezTo>
                  <a:cubicBezTo>
                    <a:pt x="509" y="554"/>
                    <a:pt x="524" y="507"/>
                    <a:pt x="541" y="458"/>
                  </a:cubicBezTo>
                  <a:cubicBezTo>
                    <a:pt x="558" y="409"/>
                    <a:pt x="572" y="359"/>
                    <a:pt x="595" y="305"/>
                  </a:cubicBezTo>
                  <a:cubicBezTo>
                    <a:pt x="618" y="251"/>
                    <a:pt x="645" y="183"/>
                    <a:pt x="680" y="135"/>
                  </a:cubicBezTo>
                  <a:cubicBezTo>
                    <a:pt x="715" y="87"/>
                    <a:pt x="760" y="28"/>
                    <a:pt x="805" y="14"/>
                  </a:cubicBezTo>
                  <a:cubicBezTo>
                    <a:pt x="850" y="0"/>
                    <a:pt x="908" y="20"/>
                    <a:pt x="949" y="50"/>
                  </a:cubicBezTo>
                  <a:cubicBezTo>
                    <a:pt x="990" y="80"/>
                    <a:pt x="1015" y="142"/>
                    <a:pt x="1049" y="192"/>
                  </a:cubicBezTo>
                  <a:cubicBezTo>
                    <a:pt x="1083" y="242"/>
                    <a:pt x="1120" y="298"/>
                    <a:pt x="1153" y="350"/>
                  </a:cubicBezTo>
                  <a:cubicBezTo>
                    <a:pt x="1186" y="402"/>
                    <a:pt x="1217" y="454"/>
                    <a:pt x="1247" y="503"/>
                  </a:cubicBezTo>
                  <a:cubicBezTo>
                    <a:pt x="1277" y="552"/>
                    <a:pt x="1294" y="593"/>
                    <a:pt x="1332" y="645"/>
                  </a:cubicBezTo>
                  <a:cubicBezTo>
                    <a:pt x="1370" y="697"/>
                    <a:pt x="1427" y="763"/>
                    <a:pt x="1474" y="815"/>
                  </a:cubicBezTo>
                  <a:cubicBezTo>
                    <a:pt x="1521" y="867"/>
                    <a:pt x="1574" y="919"/>
                    <a:pt x="1616" y="957"/>
                  </a:cubicBezTo>
                  <a:cubicBezTo>
                    <a:pt x="1658" y="995"/>
                    <a:pt x="1680" y="1013"/>
                    <a:pt x="1729" y="1042"/>
                  </a:cubicBezTo>
                  <a:cubicBezTo>
                    <a:pt x="1778" y="1071"/>
                    <a:pt x="1857" y="1109"/>
                    <a:pt x="1909" y="1130"/>
                  </a:cubicBezTo>
                  <a:cubicBezTo>
                    <a:pt x="1961" y="1151"/>
                    <a:pt x="2003" y="1158"/>
                    <a:pt x="2041" y="1166"/>
                  </a:cubicBezTo>
                  <a:cubicBezTo>
                    <a:pt x="2079" y="1174"/>
                    <a:pt x="2105" y="1176"/>
                    <a:pt x="2137" y="1178"/>
                  </a:cubicBezTo>
                  <a:cubicBezTo>
                    <a:pt x="2169" y="1180"/>
                    <a:pt x="2213" y="1178"/>
                    <a:pt x="2233" y="1178"/>
                  </a:cubicBezTo>
                </a:path>
              </a:pathLst>
            </a:custGeom>
            <a:noFill/>
            <a:ln w="57150">
              <a:solidFill>
                <a:schemeClr val="hlink"/>
              </a:solidFill>
              <a:round/>
              <a:headEnd/>
              <a:tailEnd/>
            </a:ln>
          </p:spPr>
          <p:txBody>
            <a:bodyPr/>
            <a:lstStyle/>
            <a:p>
              <a:endParaRPr lang="zh-CN" altLang="en-US"/>
            </a:p>
          </p:txBody>
        </p:sp>
        <p:grpSp>
          <p:nvGrpSpPr>
            <p:cNvPr id="48158" name="Group 22"/>
            <p:cNvGrpSpPr>
              <a:grpSpLocks/>
            </p:cNvGrpSpPr>
            <p:nvPr/>
          </p:nvGrpSpPr>
          <p:grpSpPr bwMode="auto">
            <a:xfrm>
              <a:off x="2993" y="1815"/>
              <a:ext cx="2595" cy="302"/>
              <a:chOff x="2988" y="2957"/>
              <a:chExt cx="2595" cy="302"/>
            </a:xfrm>
          </p:grpSpPr>
          <p:sp>
            <p:nvSpPr>
              <p:cNvPr id="48159" name="Line 23"/>
              <p:cNvSpPr>
                <a:spLocks noChangeShapeType="1"/>
              </p:cNvSpPr>
              <p:nvPr/>
            </p:nvSpPr>
            <p:spPr bwMode="auto">
              <a:xfrm>
                <a:off x="3151" y="3002"/>
                <a:ext cx="2405" cy="0"/>
              </a:xfrm>
              <a:prstGeom prst="line">
                <a:avLst/>
              </a:prstGeom>
              <a:noFill/>
              <a:ln w="38100">
                <a:solidFill>
                  <a:srgbClr val="0000FF"/>
                </a:solidFill>
                <a:round/>
                <a:headEnd/>
                <a:tailEnd type="stealth" w="med" len="lg"/>
              </a:ln>
            </p:spPr>
            <p:txBody>
              <a:bodyPr/>
              <a:lstStyle/>
              <a:p>
                <a:endParaRPr lang="zh-CN" altLang="en-US"/>
              </a:p>
            </p:txBody>
          </p:sp>
          <p:sp>
            <p:nvSpPr>
              <p:cNvPr id="48160" name="Text Box 24"/>
              <p:cNvSpPr txBox="1">
                <a:spLocks noChangeArrowheads="1"/>
              </p:cNvSpPr>
              <p:nvPr/>
            </p:nvSpPr>
            <p:spPr bwMode="auto">
              <a:xfrm>
                <a:off x="5382" y="2957"/>
                <a:ext cx="201" cy="288"/>
              </a:xfrm>
              <a:prstGeom prst="rect">
                <a:avLst/>
              </a:prstGeom>
              <a:noFill/>
              <a:ln w="9525">
                <a:noFill/>
                <a:miter lim="800000"/>
                <a:headEnd/>
                <a:tailEnd/>
              </a:ln>
            </p:spPr>
            <p:txBody>
              <a:bodyPr wrap="none">
                <a:spAutoFit/>
              </a:bodyPr>
              <a:lstStyle/>
              <a:p>
                <a:r>
                  <a:rPr lang="en-US" altLang="zh-CN" sz="2400" b="1" i="1">
                    <a:latin typeface="Bookman Old Style" pitchFamily="18" charset="0"/>
                  </a:rPr>
                  <a:t>v</a:t>
                </a:r>
              </a:p>
            </p:txBody>
          </p:sp>
          <p:sp>
            <p:nvSpPr>
              <p:cNvPr id="48161" name="Text Box 25"/>
              <p:cNvSpPr txBox="1">
                <a:spLocks noChangeArrowheads="1"/>
              </p:cNvSpPr>
              <p:nvPr/>
            </p:nvSpPr>
            <p:spPr bwMode="auto">
              <a:xfrm>
                <a:off x="2988" y="2971"/>
                <a:ext cx="255"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pSp>
      </p:grpSp>
      <p:sp>
        <p:nvSpPr>
          <p:cNvPr id="160794" name="Line 26"/>
          <p:cNvSpPr>
            <a:spLocks noChangeShapeType="1"/>
          </p:cNvSpPr>
          <p:nvPr/>
        </p:nvSpPr>
        <p:spPr bwMode="auto">
          <a:xfrm>
            <a:off x="6048375" y="1492250"/>
            <a:ext cx="0" cy="1935163"/>
          </a:xfrm>
          <a:prstGeom prst="line">
            <a:avLst/>
          </a:prstGeom>
          <a:noFill/>
          <a:ln w="28575">
            <a:solidFill>
              <a:srgbClr val="CC0000"/>
            </a:solidFill>
            <a:prstDash val="dash"/>
            <a:round/>
            <a:headEnd/>
            <a:tailEnd/>
          </a:ln>
        </p:spPr>
        <p:txBody>
          <a:bodyPr/>
          <a:lstStyle/>
          <a:p>
            <a:endParaRPr lang="zh-CN" altLang="en-US"/>
          </a:p>
        </p:txBody>
      </p:sp>
      <p:graphicFrame>
        <p:nvGraphicFramePr>
          <p:cNvPr id="160795" name="Object 27"/>
          <p:cNvGraphicFramePr>
            <a:graphicFrameLocks noChangeAspect="1"/>
          </p:cNvGraphicFramePr>
          <p:nvPr/>
        </p:nvGraphicFramePr>
        <p:xfrm>
          <a:off x="5778500" y="3382963"/>
          <a:ext cx="390525" cy="495300"/>
        </p:xfrm>
        <a:graphic>
          <a:graphicData uri="http://schemas.openxmlformats.org/presentationml/2006/ole">
            <p:oleObj spid="_x0000_s48134" name="公式" r:id="rId7" imgW="190440" imgH="241200" progId="Equation.3">
              <p:embed/>
            </p:oleObj>
          </a:graphicData>
        </a:graphic>
      </p:graphicFrame>
      <p:sp>
        <p:nvSpPr>
          <p:cNvPr id="160796" name="Line 28"/>
          <p:cNvSpPr>
            <a:spLocks noChangeShapeType="1"/>
          </p:cNvSpPr>
          <p:nvPr/>
        </p:nvSpPr>
        <p:spPr bwMode="auto">
          <a:xfrm>
            <a:off x="6183313" y="1538288"/>
            <a:ext cx="0" cy="1935162"/>
          </a:xfrm>
          <a:prstGeom prst="line">
            <a:avLst/>
          </a:prstGeom>
          <a:noFill/>
          <a:ln w="28575">
            <a:solidFill>
              <a:srgbClr val="000099"/>
            </a:solidFill>
            <a:prstDash val="dash"/>
            <a:round/>
            <a:headEnd/>
            <a:tailEnd/>
          </a:ln>
        </p:spPr>
        <p:txBody>
          <a:bodyPr/>
          <a:lstStyle/>
          <a:p>
            <a:endParaRPr lang="zh-CN" altLang="en-US"/>
          </a:p>
        </p:txBody>
      </p:sp>
      <p:graphicFrame>
        <p:nvGraphicFramePr>
          <p:cNvPr id="160797" name="Object 29"/>
          <p:cNvGraphicFramePr>
            <a:graphicFrameLocks noChangeAspect="1"/>
          </p:cNvGraphicFramePr>
          <p:nvPr/>
        </p:nvGraphicFramePr>
        <p:xfrm>
          <a:off x="6048375" y="3429000"/>
          <a:ext cx="317500" cy="403225"/>
        </p:xfrm>
        <a:graphic>
          <a:graphicData uri="http://schemas.openxmlformats.org/presentationml/2006/ole">
            <p:oleObj spid="_x0000_s48135" name="公式" r:id="rId8" imgW="139680" imgH="177480" progId="Equation.3">
              <p:embed/>
            </p:oleObj>
          </a:graphicData>
        </a:graphic>
      </p:graphicFrame>
      <p:sp>
        <p:nvSpPr>
          <p:cNvPr id="160798" name="Line 30"/>
          <p:cNvSpPr>
            <a:spLocks noChangeShapeType="1"/>
          </p:cNvSpPr>
          <p:nvPr/>
        </p:nvSpPr>
        <p:spPr bwMode="auto">
          <a:xfrm>
            <a:off x="6362700" y="1808163"/>
            <a:ext cx="0" cy="1620837"/>
          </a:xfrm>
          <a:prstGeom prst="line">
            <a:avLst/>
          </a:prstGeom>
          <a:noFill/>
          <a:ln w="28575">
            <a:solidFill>
              <a:srgbClr val="006600"/>
            </a:solidFill>
            <a:prstDash val="dash"/>
            <a:round/>
            <a:headEnd/>
            <a:tailEnd/>
          </a:ln>
        </p:spPr>
        <p:txBody>
          <a:bodyPr/>
          <a:lstStyle/>
          <a:p>
            <a:endParaRPr lang="zh-CN" altLang="en-US"/>
          </a:p>
        </p:txBody>
      </p:sp>
      <p:graphicFrame>
        <p:nvGraphicFramePr>
          <p:cNvPr id="160799" name="Object 31"/>
          <p:cNvGraphicFramePr>
            <a:graphicFrameLocks noChangeAspect="1"/>
          </p:cNvGraphicFramePr>
          <p:nvPr/>
        </p:nvGraphicFramePr>
        <p:xfrm>
          <a:off x="6273800" y="3429000"/>
          <a:ext cx="563563" cy="525463"/>
        </p:xfrm>
        <a:graphic>
          <a:graphicData uri="http://schemas.openxmlformats.org/presentationml/2006/ole">
            <p:oleObj spid="_x0000_s48136" name="公式" r:id="rId9" imgW="317160" imgH="241200" progId="Equation.3">
              <p:embed/>
            </p:oleObj>
          </a:graphicData>
        </a:graphic>
      </p:graphicFrame>
      <p:grpSp>
        <p:nvGrpSpPr>
          <p:cNvPr id="5" name="Group 32"/>
          <p:cNvGrpSpPr>
            <a:grpSpLocks/>
          </p:cNvGrpSpPr>
          <p:nvPr/>
        </p:nvGrpSpPr>
        <p:grpSpPr bwMode="auto">
          <a:xfrm>
            <a:off x="755650" y="5373688"/>
            <a:ext cx="7632700" cy="1006475"/>
            <a:chOff x="431" y="3385"/>
            <a:chExt cx="4808" cy="634"/>
          </a:xfrm>
        </p:grpSpPr>
        <p:sp>
          <p:nvSpPr>
            <p:cNvPr id="160801" name="Text Box 33"/>
            <p:cNvSpPr txBox="1">
              <a:spLocks noChangeArrowheads="1"/>
            </p:cNvSpPr>
            <p:nvPr/>
          </p:nvSpPr>
          <p:spPr bwMode="auto">
            <a:xfrm>
              <a:off x="431" y="3385"/>
              <a:ext cx="4808" cy="634"/>
            </a:xfrm>
            <a:prstGeom prst="rect">
              <a:avLst/>
            </a:prstGeom>
            <a:noFill/>
            <a:ln w="9525">
              <a:noFill/>
              <a:miter lim="800000"/>
              <a:headEnd/>
              <a:tailEnd/>
            </a:ln>
            <a:effectLst/>
          </p:spPr>
          <p:txBody>
            <a:bodyPr>
              <a:spAutoFit/>
            </a:bodyPr>
            <a:lstStyle/>
            <a:p>
              <a:pPr>
                <a:lnSpc>
                  <a:spcPct val="125000"/>
                </a:lnSpc>
                <a:defRPr/>
              </a:pPr>
              <a:r>
                <a:rPr kumimoji="1" lang="en-US" altLang="zh-CN" sz="2400" b="1">
                  <a:solidFill>
                    <a:srgbClr val="0000FF"/>
                  </a:solidFill>
                  <a:latin typeface="Times New Roman" pitchFamily="18" charset="0"/>
                </a:rPr>
                <a:t>(3)</a:t>
              </a:r>
              <a:r>
                <a:rPr lang="zh-CN" altLang="en-US" sz="2400" b="1">
                  <a:effectLst>
                    <a:outerShdw blurRad="38100" dist="38100" dir="2700000" algn="tl">
                      <a:srgbClr val="C0C0C0"/>
                    </a:outerShdw>
                  </a:effectLst>
                  <a:latin typeface="楷体_GB2312" pitchFamily="49" charset="-122"/>
                  <a:ea typeface="楷体_GB2312" pitchFamily="49" charset="-122"/>
                </a:rPr>
                <a:t>三种速率均具有统计平均的意义，反映了多粒子体系  </a:t>
              </a:r>
            </a:p>
            <a:p>
              <a:pPr>
                <a:lnSpc>
                  <a:spcPct val="125000"/>
                </a:lnSpc>
                <a:defRPr/>
              </a:pPr>
              <a:r>
                <a:rPr lang="zh-CN" altLang="en-US" sz="2400" b="1">
                  <a:effectLst>
                    <a:outerShdw blurRad="38100" dist="38100" dir="2700000" algn="tl">
                      <a:srgbClr val="C0C0C0"/>
                    </a:outerShdw>
                  </a:effectLst>
                  <a:latin typeface="楷体_GB2312" pitchFamily="49" charset="-122"/>
                  <a:ea typeface="楷体_GB2312" pitchFamily="49" charset="-122"/>
                </a:rPr>
                <a:t>   的统计特征。三者均与   正比，与   成反比。</a:t>
              </a:r>
            </a:p>
          </p:txBody>
        </p:sp>
        <p:graphicFrame>
          <p:nvGraphicFramePr>
            <p:cNvPr id="48137" name="Object 34"/>
            <p:cNvGraphicFramePr>
              <a:graphicFrameLocks noChangeAspect="1"/>
            </p:cNvGraphicFramePr>
            <p:nvPr/>
          </p:nvGraphicFramePr>
          <p:xfrm>
            <a:off x="2699" y="3748"/>
            <a:ext cx="350" cy="269"/>
          </p:xfrm>
          <a:graphic>
            <a:graphicData uri="http://schemas.openxmlformats.org/presentationml/2006/ole">
              <p:oleObj spid="_x0000_s48137" name="公式" r:id="rId10" imgW="253800" imgH="215640" progId="Equation.3">
                <p:embed/>
              </p:oleObj>
            </a:graphicData>
          </a:graphic>
        </p:graphicFrame>
        <p:graphicFrame>
          <p:nvGraphicFramePr>
            <p:cNvPr id="48138" name="Object 35"/>
            <p:cNvGraphicFramePr>
              <a:graphicFrameLocks noChangeAspect="1"/>
            </p:cNvGraphicFramePr>
            <p:nvPr/>
          </p:nvGraphicFramePr>
          <p:xfrm>
            <a:off x="3742" y="3748"/>
            <a:ext cx="349" cy="221"/>
          </p:xfrm>
          <a:graphic>
            <a:graphicData uri="http://schemas.openxmlformats.org/presentationml/2006/ole">
              <p:oleObj spid="_x0000_s48138" name="公式" r:id="rId11" imgW="317160" imgH="2156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0794"/>
                                        </p:tgtEl>
                                        <p:attrNameLst>
                                          <p:attrName>style.visibility</p:attrName>
                                        </p:attrNameLst>
                                      </p:cBhvr>
                                      <p:to>
                                        <p:strVal val="visible"/>
                                      </p:to>
                                    </p:set>
                                    <p:animEffect transition="in" filter="wipe(up)">
                                      <p:cBhvr>
                                        <p:cTn id="12" dur="500"/>
                                        <p:tgtEl>
                                          <p:spTgt spid="1607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0795"/>
                                        </p:tgtEl>
                                        <p:attrNameLst>
                                          <p:attrName>style.visibility</p:attrName>
                                        </p:attrNameLst>
                                      </p:cBhvr>
                                      <p:to>
                                        <p:strVal val="visible"/>
                                      </p:to>
                                    </p:set>
                                    <p:animEffect transition="in" filter="wipe(up)">
                                      <p:cBhvr>
                                        <p:cTn id="17" dur="500"/>
                                        <p:tgtEl>
                                          <p:spTgt spid="1607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0796"/>
                                        </p:tgtEl>
                                        <p:attrNameLst>
                                          <p:attrName>style.visibility</p:attrName>
                                        </p:attrNameLst>
                                      </p:cBhvr>
                                      <p:to>
                                        <p:strVal val="visible"/>
                                      </p:to>
                                    </p:set>
                                    <p:animEffect transition="in" filter="wipe(up)">
                                      <p:cBhvr>
                                        <p:cTn id="22" dur="500"/>
                                        <p:tgtEl>
                                          <p:spTgt spid="1607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0797"/>
                                        </p:tgtEl>
                                        <p:attrNameLst>
                                          <p:attrName>style.visibility</p:attrName>
                                        </p:attrNameLst>
                                      </p:cBhvr>
                                      <p:to>
                                        <p:strVal val="visible"/>
                                      </p:to>
                                    </p:set>
                                    <p:animEffect transition="in" filter="wipe(up)">
                                      <p:cBhvr>
                                        <p:cTn id="27" dur="500"/>
                                        <p:tgtEl>
                                          <p:spTgt spid="1607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0798"/>
                                        </p:tgtEl>
                                        <p:attrNameLst>
                                          <p:attrName>style.visibility</p:attrName>
                                        </p:attrNameLst>
                                      </p:cBhvr>
                                      <p:to>
                                        <p:strVal val="visible"/>
                                      </p:to>
                                    </p:set>
                                    <p:animEffect transition="in" filter="wipe(up)">
                                      <p:cBhvr>
                                        <p:cTn id="32" dur="500"/>
                                        <p:tgtEl>
                                          <p:spTgt spid="16079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60799"/>
                                        </p:tgtEl>
                                        <p:attrNameLst>
                                          <p:attrName>style.visibility</p:attrName>
                                        </p:attrNameLst>
                                      </p:cBhvr>
                                      <p:to>
                                        <p:strVal val="visible"/>
                                      </p:to>
                                    </p:set>
                                    <p:animEffect transition="in" filter="wipe(up)">
                                      <p:cBhvr>
                                        <p:cTn id="37" dur="500"/>
                                        <p:tgtEl>
                                          <p:spTgt spid="16079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60780"/>
                                        </p:tgtEl>
                                        <p:attrNameLst>
                                          <p:attrName>style.visibility</p:attrName>
                                        </p:attrNameLst>
                                      </p:cBhvr>
                                      <p:to>
                                        <p:strVal val="visible"/>
                                      </p:to>
                                    </p:se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60772"/>
                                        </p:tgtEl>
                                        <p:attrNameLst>
                                          <p:attrName>style.visibility</p:attrName>
                                        </p:attrNameLst>
                                      </p:cBhvr>
                                      <p:to>
                                        <p:strVal val="visible"/>
                                      </p:to>
                                    </p:set>
                                    <p:animEffect transition="in" filter="wipe(left)">
                                      <p:cBhvr>
                                        <p:cTn id="45" dur="500"/>
                                        <p:tgtEl>
                                          <p:spTgt spid="16077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0770"/>
                                        </p:tgtEl>
                                        <p:attrNameLst>
                                          <p:attrName>style.visibility</p:attrName>
                                        </p:attrNameLst>
                                      </p:cBhvr>
                                      <p:to>
                                        <p:strVal val="visible"/>
                                      </p:to>
                                    </p:set>
                                    <p:animEffect transition="in" filter="wipe(left)">
                                      <p:cBhvr>
                                        <p:cTn id="50" dur="500"/>
                                        <p:tgtEl>
                                          <p:spTgt spid="16077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0781"/>
                                        </p:tgtEl>
                                        <p:attrNameLst>
                                          <p:attrName>style.visibility</p:attrName>
                                        </p:attrNameLst>
                                      </p:cBhvr>
                                      <p:to>
                                        <p:strVal val="visible"/>
                                      </p:to>
                                    </p:set>
                                    <p:animEffect transition="in" filter="wipe(left)">
                                      <p:cBhvr>
                                        <p:cTn id="55" dur="500"/>
                                        <p:tgtEl>
                                          <p:spTgt spid="160781"/>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60776"/>
                                        </p:tgtEl>
                                        <p:attrNameLst>
                                          <p:attrName>style.visibility</p:attrName>
                                        </p:attrNameLst>
                                      </p:cBhvr>
                                      <p:to>
                                        <p:strVal val="visible"/>
                                      </p:to>
                                    </p:set>
                                    <p:animEffect transition="in" filter="wipe(left)">
                                      <p:cBhvr>
                                        <p:cTn id="59" dur="500"/>
                                        <p:tgtEl>
                                          <p:spTgt spid="160776"/>
                                        </p:tgtEl>
                                      </p:cBhvr>
                                    </p:animEffect>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160777"/>
                                        </p:tgtEl>
                                        <p:attrNameLst>
                                          <p:attrName>style.visibility</p:attrName>
                                        </p:attrNameLst>
                                      </p:cBhvr>
                                      <p:to>
                                        <p:strVal val="visible"/>
                                      </p:to>
                                    </p:set>
                                    <p:animEffect transition="in" filter="wipe(left)">
                                      <p:cBhvr>
                                        <p:cTn id="63" dur="500"/>
                                        <p:tgtEl>
                                          <p:spTgt spid="16077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60782"/>
                                        </p:tgtEl>
                                        <p:attrNameLst>
                                          <p:attrName>style.visibility</p:attrName>
                                        </p:attrNameLst>
                                      </p:cBhvr>
                                      <p:to>
                                        <p:strVal val="visible"/>
                                      </p:to>
                                    </p:set>
                                    <p:animEffect transition="in" filter="wipe(left)">
                                      <p:cBhvr>
                                        <p:cTn id="68" dur="500"/>
                                        <p:tgtEl>
                                          <p:spTgt spid="160782"/>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160771"/>
                                        </p:tgtEl>
                                        <p:attrNameLst>
                                          <p:attrName>style.visibility</p:attrName>
                                        </p:attrNameLst>
                                      </p:cBhvr>
                                      <p:to>
                                        <p:strVal val="visible"/>
                                      </p:to>
                                    </p:set>
                                    <p:animEffect transition="in" filter="wipe(left)">
                                      <p:cBhvr>
                                        <p:cTn id="72" dur="500"/>
                                        <p:tgtEl>
                                          <p:spTgt spid="160771"/>
                                        </p:tgtEl>
                                      </p:cBhvr>
                                    </p:animEffect>
                                  </p:childTnLst>
                                </p:cTn>
                              </p:par>
                            </p:childTnLst>
                          </p:cTn>
                        </p:par>
                        <p:par>
                          <p:cTn id="73" fill="hold">
                            <p:stCondLst>
                              <p:cond delay="1000"/>
                            </p:stCondLst>
                            <p:childTnLst>
                              <p:par>
                                <p:cTn id="74" presetID="22" presetClass="entr" presetSubtype="8" fill="hold" nodeType="afterEffect">
                                  <p:stCondLst>
                                    <p:cond delay="0"/>
                                  </p:stCondLst>
                                  <p:childTnLst>
                                    <p:set>
                                      <p:cBhvr>
                                        <p:cTn id="75" dur="1" fill="hold">
                                          <p:stCondLst>
                                            <p:cond delay="0"/>
                                          </p:stCondLst>
                                        </p:cTn>
                                        <p:tgtEl>
                                          <p:spTgt spid="160773"/>
                                        </p:tgtEl>
                                        <p:attrNameLst>
                                          <p:attrName>style.visibility</p:attrName>
                                        </p:attrNameLst>
                                      </p:cBhvr>
                                      <p:to>
                                        <p:strVal val="visible"/>
                                      </p:to>
                                    </p:set>
                                    <p:animEffect transition="in" filter="wipe(left)">
                                      <p:cBhvr>
                                        <p:cTn id="76" dur="500"/>
                                        <p:tgtEl>
                                          <p:spTgt spid="16077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60783"/>
                                        </p:tgtEl>
                                        <p:attrNameLst>
                                          <p:attrName>style.visibility</p:attrName>
                                        </p:attrNameLst>
                                      </p:cBhvr>
                                      <p:to>
                                        <p:strVal val="visible"/>
                                      </p:to>
                                    </p:set>
                                    <p:animEffect transition="in" filter="wipe(left)">
                                      <p:cBhvr>
                                        <p:cTn id="81" dur="500"/>
                                        <p:tgtEl>
                                          <p:spTgt spid="160783"/>
                                        </p:tgtEl>
                                      </p:cBhvr>
                                    </p:animEffect>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160774"/>
                                        </p:tgtEl>
                                        <p:attrNameLst>
                                          <p:attrName>style.visibility</p:attrName>
                                        </p:attrNameLst>
                                      </p:cBhvr>
                                      <p:to>
                                        <p:strVal val="visible"/>
                                      </p:to>
                                    </p:set>
                                    <p:animEffect transition="in" filter="wipe(left)">
                                      <p:cBhvr>
                                        <p:cTn id="85" dur="500"/>
                                        <p:tgtEl>
                                          <p:spTgt spid="160774"/>
                                        </p:tgtEl>
                                      </p:cBhvr>
                                    </p:animEffect>
                                  </p:childTnLst>
                                </p:cTn>
                              </p:par>
                            </p:childTnLst>
                          </p:cTn>
                        </p:par>
                        <p:par>
                          <p:cTn id="86" fill="hold">
                            <p:stCondLst>
                              <p:cond delay="1000"/>
                            </p:stCondLst>
                            <p:childTnLst>
                              <p:par>
                                <p:cTn id="87" presetID="22" presetClass="entr" presetSubtype="8" fill="hold" nodeType="afterEffect">
                                  <p:stCondLst>
                                    <p:cond delay="0"/>
                                  </p:stCondLst>
                                  <p:childTnLst>
                                    <p:set>
                                      <p:cBhvr>
                                        <p:cTn id="88" dur="1" fill="hold">
                                          <p:stCondLst>
                                            <p:cond delay="0"/>
                                          </p:stCondLst>
                                        </p:cTn>
                                        <p:tgtEl>
                                          <p:spTgt spid="160775"/>
                                        </p:tgtEl>
                                        <p:attrNameLst>
                                          <p:attrName>style.visibility</p:attrName>
                                        </p:attrNameLst>
                                      </p:cBhvr>
                                      <p:to>
                                        <p:strVal val="visible"/>
                                      </p:to>
                                    </p:set>
                                    <p:animEffect transition="in" filter="wipe(left)">
                                      <p:cBhvr>
                                        <p:cTn id="89" dur="500"/>
                                        <p:tgtEl>
                                          <p:spTgt spid="16077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60779"/>
                                        </p:tgtEl>
                                        <p:attrNameLst>
                                          <p:attrName>style.visibility</p:attrName>
                                        </p:attrNameLst>
                                      </p:cBhvr>
                                      <p:to>
                                        <p:strVal val="visible"/>
                                      </p:to>
                                    </p:set>
                                    <p:animEffect transition="in" filter="wipe(left)">
                                      <p:cBhvr>
                                        <p:cTn id="94" dur="500"/>
                                        <p:tgtEl>
                                          <p:spTgt spid="16077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60778"/>
                                        </p:tgtEl>
                                        <p:attrNameLst>
                                          <p:attrName>style.visibility</p:attrName>
                                        </p:attrNameLst>
                                      </p:cBhvr>
                                      <p:to>
                                        <p:strVal val="visible"/>
                                      </p:to>
                                    </p:set>
                                    <p:animEffect transition="in" filter="wipe(left)">
                                      <p:cBhvr>
                                        <p:cTn id="99" dur="500"/>
                                        <p:tgtEl>
                                          <p:spTgt spid="16077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5"/>
                                        </p:tgtEl>
                                        <p:attrNameLst>
                                          <p:attrName>style.visibility</p:attrName>
                                        </p:attrNameLst>
                                      </p:cBhvr>
                                      <p:to>
                                        <p:strVal val="visible"/>
                                      </p:to>
                                    </p:set>
                                    <p:animEffect transition="in" filter="wipe(down)">
                                      <p:cBhvr>
                                        <p:cTn id="10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autoUpdateAnimBg="0"/>
      <p:bldP spid="160772" grpId="0" autoUpdateAnimBg="0"/>
      <p:bldP spid="160774" grpId="0" autoUpdateAnimBg="0"/>
      <p:bldP spid="160776" grpId="0" autoUpdateAnimBg="0"/>
      <p:bldP spid="160779" grpId="0" autoUpdateAnimBg="0"/>
      <p:bldP spid="160780" grpId="0" animBg="1"/>
      <p:bldP spid="160781" grpId="0" autoUpdateAnimBg="0"/>
      <p:bldP spid="160782" grpId="0" autoUpdateAnimBg="0"/>
      <p:bldP spid="160783" grpId="0" autoUpdateAnimBg="0"/>
      <p:bldP spid="160794" grpId="0" animBg="1"/>
      <p:bldP spid="160796" grpId="0" animBg="1"/>
      <p:bldP spid="16079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760413" y="1531938"/>
            <a:ext cx="2665412" cy="457200"/>
          </a:xfrm>
          <a:prstGeom prst="rect">
            <a:avLst/>
          </a:prstGeom>
          <a:noFill/>
          <a:ln w="9525">
            <a:noFill/>
            <a:miter lim="800000"/>
            <a:headEnd/>
            <a:tailEnd/>
          </a:ln>
        </p:spPr>
        <p:txBody>
          <a:bodyPr wrap="none">
            <a:spAutoFit/>
          </a:bodyPr>
          <a:lstStyle/>
          <a:p>
            <a:r>
              <a:rPr lang="en-US" altLang="zh-CN" sz="2400" b="1">
                <a:latin typeface="Times New Roman" pitchFamily="18" charset="0"/>
                <a:ea typeface="楷体_GB2312" pitchFamily="49" charset="-122"/>
              </a:rPr>
              <a:t>① </a:t>
            </a:r>
            <a:r>
              <a:rPr kumimoji="1" lang="en-US" altLang="zh-CN" sz="2400" b="1" i="1">
                <a:solidFill>
                  <a:srgbClr val="FF0000"/>
                </a:solidFill>
                <a:latin typeface="Times New Roman" pitchFamily="18" charset="0"/>
                <a:ea typeface="楷体_GB2312" pitchFamily="49" charset="-122"/>
              </a:rPr>
              <a:t>μ</a:t>
            </a:r>
            <a:r>
              <a:rPr lang="en-US" altLang="zh-CN" sz="2400" b="1" i="1">
                <a:latin typeface="Times New Roman" pitchFamily="18" charset="0"/>
                <a:ea typeface="楷体_GB2312" pitchFamily="49" charset="-122"/>
              </a:rPr>
              <a:t> </a:t>
            </a:r>
            <a:r>
              <a:rPr lang="zh-CN" altLang="en-US" sz="2400" b="1">
                <a:latin typeface="Times New Roman" pitchFamily="18" charset="0"/>
                <a:ea typeface="楷体_GB2312" pitchFamily="49" charset="-122"/>
              </a:rPr>
              <a:t>一定</a:t>
            </a:r>
            <a:r>
              <a:rPr lang="en-US" altLang="zh-CN" sz="2400" b="1">
                <a:latin typeface="Times New Roman" pitchFamily="18" charset="0"/>
                <a:ea typeface="楷体_GB2312" pitchFamily="49" charset="-122"/>
              </a:rPr>
              <a:t>,</a:t>
            </a:r>
            <a:r>
              <a:rPr lang="en-US" altLang="zh-CN" sz="2400" b="1" i="1">
                <a:solidFill>
                  <a:srgbClr val="FF0000"/>
                </a:solidFill>
                <a:latin typeface="Times New Roman" pitchFamily="18" charset="0"/>
                <a:ea typeface="楷体_GB2312" pitchFamily="49" charset="-122"/>
              </a:rPr>
              <a:t>T </a:t>
            </a:r>
            <a:r>
              <a:rPr lang="zh-CN" altLang="en-US" sz="2400" b="1">
                <a:latin typeface="Times New Roman" pitchFamily="18" charset="0"/>
                <a:ea typeface="楷体_GB2312" pitchFamily="49" charset="-122"/>
              </a:rPr>
              <a:t>越大</a:t>
            </a:r>
            <a:r>
              <a:rPr lang="en-US" altLang="zh-CN" sz="2400" b="1">
                <a:latin typeface="Times New Roman" pitchFamily="18" charset="0"/>
                <a:ea typeface="楷体_GB2312" pitchFamily="49" charset="-122"/>
              </a:rPr>
              <a:t>, </a:t>
            </a:r>
          </a:p>
        </p:txBody>
      </p:sp>
      <p:sp>
        <p:nvSpPr>
          <p:cNvPr id="162819" name="Text Box 3"/>
          <p:cNvSpPr txBox="1">
            <a:spLocks noChangeArrowheads="1"/>
          </p:cNvSpPr>
          <p:nvPr/>
        </p:nvSpPr>
        <p:spPr bwMode="auto">
          <a:xfrm>
            <a:off x="4862513" y="1490663"/>
            <a:ext cx="3981450"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这时曲线峰值向右移动</a:t>
            </a:r>
            <a:r>
              <a:rPr lang="en-US" altLang="zh-CN" sz="2400" b="1">
                <a:latin typeface="Times New Roman" pitchFamily="18" charset="0"/>
                <a:ea typeface="楷体_GB2312" pitchFamily="49" charset="-122"/>
              </a:rPr>
              <a:t>;</a:t>
            </a:r>
          </a:p>
        </p:txBody>
      </p:sp>
      <p:sp>
        <p:nvSpPr>
          <p:cNvPr id="162820" name="Rectangle 4"/>
          <p:cNvSpPr>
            <a:spLocks noChangeArrowheads="1"/>
          </p:cNvSpPr>
          <p:nvPr/>
        </p:nvSpPr>
        <p:spPr bwMode="auto">
          <a:xfrm>
            <a:off x="755650" y="1952625"/>
            <a:ext cx="2741613" cy="457200"/>
          </a:xfrm>
          <a:prstGeom prst="rect">
            <a:avLst/>
          </a:prstGeom>
          <a:noFill/>
          <a:ln w="9525">
            <a:noFill/>
            <a:miter lim="800000"/>
            <a:headEnd/>
            <a:tailEnd/>
          </a:ln>
        </p:spPr>
        <p:txBody>
          <a:bodyPr wrap="none">
            <a:spAutoFit/>
          </a:bodyPr>
          <a:lstStyle/>
          <a:p>
            <a:r>
              <a:rPr lang="en-US" altLang="zh-CN" sz="2400" b="1">
                <a:latin typeface="Times New Roman" pitchFamily="18" charset="0"/>
                <a:ea typeface="楷体_GB2312" pitchFamily="49" charset="-122"/>
              </a:rPr>
              <a:t>② </a:t>
            </a:r>
            <a:r>
              <a:rPr lang="en-US" altLang="zh-CN" sz="2400" b="1" i="1">
                <a:solidFill>
                  <a:srgbClr val="FF0000"/>
                </a:solidFill>
                <a:latin typeface="Times New Roman" pitchFamily="18" charset="0"/>
                <a:ea typeface="楷体_GB2312" pitchFamily="49" charset="-122"/>
              </a:rPr>
              <a:t>T </a:t>
            </a:r>
            <a:r>
              <a:rPr lang="zh-CN" altLang="en-US" sz="2400" b="1">
                <a:latin typeface="Times New Roman" pitchFamily="18" charset="0"/>
                <a:ea typeface="楷体_GB2312" pitchFamily="49" charset="-122"/>
              </a:rPr>
              <a:t>一定</a:t>
            </a:r>
            <a:r>
              <a:rPr lang="en-US" altLang="zh-CN" sz="2400" b="1">
                <a:latin typeface="Times New Roman" pitchFamily="18" charset="0"/>
                <a:ea typeface="楷体_GB2312" pitchFamily="49" charset="-122"/>
              </a:rPr>
              <a:t>,</a:t>
            </a:r>
            <a:r>
              <a:rPr lang="en-US" altLang="zh-CN" sz="2400" b="1" i="1">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μ</a:t>
            </a:r>
            <a:r>
              <a:rPr lang="en-US" altLang="zh-CN" sz="2400" b="1" i="1">
                <a:latin typeface="Times New Roman" pitchFamily="18" charset="0"/>
                <a:ea typeface="楷体_GB2312" pitchFamily="49" charset="-122"/>
              </a:rPr>
              <a:t> </a:t>
            </a:r>
            <a:r>
              <a:rPr lang="zh-CN" altLang="en-US" sz="2400" b="1">
                <a:latin typeface="Times New Roman" pitchFamily="18" charset="0"/>
                <a:ea typeface="楷体_GB2312" pitchFamily="49" charset="-122"/>
              </a:rPr>
              <a:t>越大</a:t>
            </a:r>
            <a:r>
              <a:rPr lang="en-US" altLang="zh-CN" sz="2400" b="1">
                <a:latin typeface="Times New Roman" pitchFamily="18" charset="0"/>
                <a:ea typeface="楷体_GB2312" pitchFamily="49" charset="-122"/>
              </a:rPr>
              <a:t>, </a:t>
            </a:r>
          </a:p>
        </p:txBody>
      </p:sp>
      <p:sp>
        <p:nvSpPr>
          <p:cNvPr id="162821" name="Text Box 5"/>
          <p:cNvSpPr txBox="1">
            <a:spLocks noChangeArrowheads="1"/>
          </p:cNvSpPr>
          <p:nvPr/>
        </p:nvSpPr>
        <p:spPr bwMode="auto">
          <a:xfrm>
            <a:off x="4906963" y="1935163"/>
            <a:ext cx="3981450"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这时曲线峰值向左移动。</a:t>
            </a:r>
          </a:p>
        </p:txBody>
      </p:sp>
      <p:sp>
        <p:nvSpPr>
          <p:cNvPr id="162822" name="Rectangle 6"/>
          <p:cNvSpPr>
            <a:spLocks noChangeArrowheads="1"/>
          </p:cNvSpPr>
          <p:nvPr/>
        </p:nvSpPr>
        <p:spPr bwMode="auto">
          <a:xfrm>
            <a:off x="3443288" y="1484313"/>
            <a:ext cx="1236662" cy="457200"/>
          </a:xfrm>
          <a:prstGeom prst="rect">
            <a:avLst/>
          </a:prstGeom>
          <a:noFill/>
          <a:ln w="9525">
            <a:noFill/>
            <a:miter lim="800000"/>
            <a:headEnd/>
            <a:tailEnd/>
          </a:ln>
        </p:spPr>
        <p:txBody>
          <a:bodyPr wrap="none">
            <a:spAutoFit/>
          </a:bodyPr>
          <a:lstStyle/>
          <a:p>
            <a:r>
              <a:rPr kumimoji="1" lang="en-US" altLang="zh-CN" sz="2400" b="1" i="1">
                <a:solidFill>
                  <a:srgbClr val="FF0000"/>
                </a:solidFill>
                <a:latin typeface="Bookman Old Style" pitchFamily="18" charset="0"/>
                <a:ea typeface="楷体_GB2312" pitchFamily="49" charset="-122"/>
              </a:rPr>
              <a:t>v</a:t>
            </a:r>
            <a:r>
              <a:rPr kumimoji="1" lang="en-US" altLang="zh-CN" sz="2400" b="1" i="1">
                <a:solidFill>
                  <a:srgbClr val="FF0000"/>
                </a:solidFill>
                <a:latin typeface="Times New Roman" pitchFamily="18" charset="0"/>
                <a:ea typeface="楷体_GB2312" pitchFamily="49" charset="-122"/>
              </a:rPr>
              <a:t> </a:t>
            </a:r>
            <a:r>
              <a:rPr kumimoji="1" lang="en-US" altLang="zh-CN" sz="2400" b="1" i="1" baseline="-25000">
                <a:solidFill>
                  <a:srgbClr val="FF0000"/>
                </a:solidFill>
                <a:latin typeface="Times New Roman" pitchFamily="18" charset="0"/>
                <a:ea typeface="楷体_GB2312" pitchFamily="49" charset="-122"/>
              </a:rPr>
              <a:t>p</a:t>
            </a:r>
            <a:r>
              <a:rPr kumimoji="1" lang="en-US" altLang="zh-CN" sz="2400" i="1" baseline="-25000">
                <a:solidFill>
                  <a:srgbClr val="FF0000"/>
                </a:solidFill>
                <a:latin typeface="Times New Roman" pitchFamily="18" charset="0"/>
                <a:ea typeface="楷体_GB2312" pitchFamily="49" charset="-122"/>
              </a:rPr>
              <a:t> </a:t>
            </a:r>
            <a:r>
              <a:rPr lang="zh-CN" altLang="en-US" sz="2400" b="1">
                <a:latin typeface="Times New Roman" pitchFamily="18" charset="0"/>
                <a:ea typeface="楷体_GB2312" pitchFamily="49" charset="-122"/>
              </a:rPr>
              <a:t>越大</a:t>
            </a:r>
            <a:r>
              <a:rPr lang="en-US" altLang="zh-CN" sz="2400" b="1">
                <a:solidFill>
                  <a:srgbClr val="FF0000"/>
                </a:solidFill>
                <a:latin typeface="Times New Roman" pitchFamily="18" charset="0"/>
                <a:ea typeface="楷体_GB2312" pitchFamily="49" charset="-122"/>
              </a:rPr>
              <a:t>,</a:t>
            </a:r>
          </a:p>
        </p:txBody>
      </p:sp>
      <p:sp>
        <p:nvSpPr>
          <p:cNvPr id="162823" name="Rectangle 7"/>
          <p:cNvSpPr>
            <a:spLocks noChangeArrowheads="1"/>
          </p:cNvSpPr>
          <p:nvPr/>
        </p:nvSpPr>
        <p:spPr bwMode="auto">
          <a:xfrm>
            <a:off x="3416300" y="1971675"/>
            <a:ext cx="1363663" cy="457200"/>
          </a:xfrm>
          <a:prstGeom prst="rect">
            <a:avLst/>
          </a:prstGeom>
          <a:noFill/>
          <a:ln w="9525">
            <a:noFill/>
            <a:miter lim="800000"/>
            <a:headEnd/>
            <a:tailEnd/>
          </a:ln>
        </p:spPr>
        <p:txBody>
          <a:bodyPr wrap="none">
            <a:spAutoFit/>
          </a:bodyPr>
          <a:lstStyle/>
          <a:p>
            <a:r>
              <a:rPr kumimoji="1" lang="en-US" altLang="zh-CN" sz="2400" i="1">
                <a:latin typeface="Times New Roman" pitchFamily="18" charset="0"/>
                <a:ea typeface="楷体_GB2312" pitchFamily="49" charset="-122"/>
              </a:rPr>
              <a:t> </a:t>
            </a:r>
            <a:r>
              <a:rPr kumimoji="1" lang="en-US" altLang="zh-CN" sz="2400" b="1" i="1">
                <a:solidFill>
                  <a:srgbClr val="FF6600"/>
                </a:solidFill>
                <a:latin typeface="Bookman Old Style" pitchFamily="18" charset="0"/>
                <a:ea typeface="楷体_GB2312" pitchFamily="49" charset="-122"/>
              </a:rPr>
              <a:t>v</a:t>
            </a:r>
            <a:r>
              <a:rPr kumimoji="1" lang="en-US" altLang="zh-CN" sz="2400" b="1" i="1">
                <a:solidFill>
                  <a:srgbClr val="FF6600"/>
                </a:solidFill>
                <a:latin typeface="Times New Roman" pitchFamily="18" charset="0"/>
                <a:ea typeface="楷体_GB2312" pitchFamily="49" charset="-122"/>
              </a:rPr>
              <a:t> </a:t>
            </a:r>
            <a:r>
              <a:rPr kumimoji="1" lang="en-US" altLang="zh-CN" sz="2400" b="1" i="1" baseline="-25000">
                <a:solidFill>
                  <a:srgbClr val="FF6600"/>
                </a:solidFill>
                <a:latin typeface="Times New Roman" pitchFamily="18" charset="0"/>
                <a:ea typeface="楷体_GB2312" pitchFamily="49" charset="-122"/>
              </a:rPr>
              <a:t>p</a:t>
            </a:r>
            <a:r>
              <a:rPr kumimoji="1" lang="en-US" altLang="zh-CN" sz="2400" i="1" baseline="-25000">
                <a:latin typeface="Times New Roman" pitchFamily="18" charset="0"/>
                <a:ea typeface="楷体_GB2312" pitchFamily="49" charset="-122"/>
              </a:rPr>
              <a:t>  </a:t>
            </a:r>
            <a:r>
              <a:rPr lang="zh-CN" altLang="en-US" sz="2400" b="1">
                <a:latin typeface="Times New Roman" pitchFamily="18" charset="0"/>
                <a:ea typeface="楷体_GB2312" pitchFamily="49" charset="-122"/>
              </a:rPr>
              <a:t>越小</a:t>
            </a:r>
            <a:r>
              <a:rPr lang="en-US" altLang="zh-CN" sz="2400" b="1">
                <a:latin typeface="Times New Roman" pitchFamily="18" charset="0"/>
                <a:ea typeface="楷体_GB2312" pitchFamily="49" charset="-122"/>
              </a:rPr>
              <a:t>,</a:t>
            </a:r>
          </a:p>
        </p:txBody>
      </p:sp>
      <p:sp>
        <p:nvSpPr>
          <p:cNvPr id="162824" name="Text Box 8"/>
          <p:cNvSpPr txBox="1">
            <a:spLocks noChangeArrowheads="1"/>
          </p:cNvSpPr>
          <p:nvPr/>
        </p:nvSpPr>
        <p:spPr bwMode="auto">
          <a:xfrm>
            <a:off x="1331913" y="1098550"/>
            <a:ext cx="5976937" cy="457200"/>
          </a:xfrm>
          <a:prstGeom prst="rect">
            <a:avLst/>
          </a:prstGeom>
          <a:noFill/>
          <a:ln w="9525">
            <a:noFill/>
            <a:miter lim="800000"/>
            <a:headEnd/>
            <a:tailEnd/>
          </a:ln>
        </p:spPr>
        <p:txBody>
          <a:bodyPr>
            <a:spAutoFit/>
          </a:bodyPr>
          <a:lstStyle/>
          <a:p>
            <a:r>
              <a:rPr lang="zh-CN" altLang="en-US" sz="2400" b="1">
                <a:latin typeface="Times New Roman" pitchFamily="18" charset="0"/>
                <a:ea typeface="楷体_GB2312" pitchFamily="49" charset="-122"/>
              </a:rPr>
              <a:t>由于曲线下的面积不变</a:t>
            </a:r>
            <a:r>
              <a:rPr lang="en-US" altLang="zh-CN" sz="2400" b="1">
                <a:latin typeface="Times New Roman" pitchFamily="18" charset="0"/>
                <a:ea typeface="楷体_GB2312" pitchFamily="49" charset="-122"/>
              </a:rPr>
              <a:t>,</a:t>
            </a:r>
            <a:r>
              <a:rPr lang="zh-CN" altLang="en-US" sz="2400" b="1">
                <a:latin typeface="Times New Roman" pitchFamily="18" charset="0"/>
                <a:ea typeface="楷体_GB2312" pitchFamily="49" charset="-122"/>
              </a:rPr>
              <a:t>由此可见</a:t>
            </a:r>
          </a:p>
        </p:txBody>
      </p:sp>
      <p:sp>
        <p:nvSpPr>
          <p:cNvPr id="162825" name="Text Box 9"/>
          <p:cNvSpPr txBox="1">
            <a:spLocks noChangeArrowheads="1"/>
          </p:cNvSpPr>
          <p:nvPr/>
        </p:nvSpPr>
        <p:spPr bwMode="auto">
          <a:xfrm>
            <a:off x="323850" y="620713"/>
            <a:ext cx="7632700" cy="457200"/>
          </a:xfrm>
          <a:prstGeom prst="rect">
            <a:avLst/>
          </a:prstGeom>
          <a:noFill/>
          <a:ln w="9525">
            <a:noFill/>
            <a:miter lim="800000"/>
            <a:headEnd/>
            <a:tailEnd/>
          </a:ln>
        </p:spPr>
        <p:txBody>
          <a:bodyPr>
            <a:spAutoFit/>
          </a:bodyPr>
          <a:lstStyle/>
          <a:p>
            <a:r>
              <a:rPr kumimoji="1" lang="en-US" altLang="zh-CN" sz="2400" b="1">
                <a:latin typeface="Times New Roman" pitchFamily="18" charset="0"/>
                <a:ea typeface="楷体_GB2312" pitchFamily="49" charset="-122"/>
              </a:rPr>
              <a:t> </a:t>
            </a:r>
            <a:r>
              <a:rPr kumimoji="1" lang="en-US" altLang="zh-CN" sz="2400" b="1">
                <a:solidFill>
                  <a:srgbClr val="0000FF"/>
                </a:solidFill>
                <a:latin typeface="Times New Roman" pitchFamily="18" charset="0"/>
                <a:ea typeface="楷体_GB2312" pitchFamily="49" charset="-122"/>
              </a:rPr>
              <a:t>(4)</a:t>
            </a:r>
            <a:r>
              <a:rPr kumimoji="1" lang="zh-CN" altLang="en-US" sz="2400" b="1">
                <a:latin typeface="Times New Roman" pitchFamily="18" charset="0"/>
                <a:ea typeface="楷体_GB2312" pitchFamily="49" charset="-122"/>
              </a:rPr>
              <a:t>速率分布曲线随</a:t>
            </a:r>
            <a:r>
              <a:rPr lang="zh-CN" altLang="en-US" sz="2400" b="1">
                <a:solidFill>
                  <a:srgbClr val="FF6600"/>
                </a:solidFill>
                <a:latin typeface="Times New Roman" pitchFamily="18" charset="0"/>
                <a:ea typeface="楷体_GB2312" pitchFamily="49" charset="-122"/>
              </a:rPr>
              <a:t>不同气体</a:t>
            </a:r>
            <a:r>
              <a:rPr lang="en-US" altLang="zh-CN" sz="2400" b="1">
                <a:latin typeface="Times New Roman" pitchFamily="18" charset="0"/>
                <a:ea typeface="楷体_GB2312" pitchFamily="49" charset="-122"/>
              </a:rPr>
              <a:t>, </a:t>
            </a:r>
            <a:r>
              <a:rPr lang="zh-CN" altLang="en-US" sz="2400" b="1">
                <a:solidFill>
                  <a:srgbClr val="FF6600"/>
                </a:solidFill>
                <a:latin typeface="Times New Roman" pitchFamily="18" charset="0"/>
                <a:ea typeface="楷体_GB2312" pitchFamily="49" charset="-122"/>
              </a:rPr>
              <a:t>不同温度</a:t>
            </a:r>
            <a:r>
              <a:rPr lang="zh-CN" altLang="en-US" sz="2400" b="1">
                <a:latin typeface="Times New Roman" pitchFamily="18" charset="0"/>
                <a:ea typeface="楷体_GB2312" pitchFamily="49" charset="-122"/>
              </a:rPr>
              <a:t>而变化。</a:t>
            </a:r>
            <a:endParaRPr kumimoji="1" lang="zh-CN" altLang="en-US" sz="2400" b="1">
              <a:latin typeface="Times New Roman" pitchFamily="18" charset="0"/>
              <a:ea typeface="楷体_GB2312" pitchFamily="49" charset="-122"/>
            </a:endParaRPr>
          </a:p>
        </p:txBody>
      </p:sp>
      <p:sp>
        <p:nvSpPr>
          <p:cNvPr id="162826" name="Text Box 10"/>
          <p:cNvSpPr txBox="1">
            <a:spLocks noChangeArrowheads="1"/>
          </p:cNvSpPr>
          <p:nvPr/>
        </p:nvSpPr>
        <p:spPr bwMode="auto">
          <a:xfrm>
            <a:off x="1646238" y="3025775"/>
            <a:ext cx="595312" cy="457200"/>
          </a:xfrm>
          <a:prstGeom prst="rect">
            <a:avLst/>
          </a:prstGeom>
          <a:noFill/>
          <a:ln w="9525">
            <a:noFill/>
            <a:miter lim="800000"/>
            <a:headEnd/>
            <a:tailEnd/>
          </a:ln>
        </p:spPr>
        <p:txBody>
          <a:bodyPr>
            <a:spAutoFit/>
          </a:bodyPr>
          <a:lstStyle/>
          <a:p>
            <a:r>
              <a:rPr lang="en-US" altLang="zh-CN" sz="2400" b="1" i="1">
                <a:solidFill>
                  <a:srgbClr val="CC0000"/>
                </a:solidFill>
                <a:latin typeface="Times New Roman" pitchFamily="18" charset="0"/>
              </a:rPr>
              <a:t>T</a:t>
            </a:r>
            <a:r>
              <a:rPr lang="en-US" altLang="zh-CN" sz="2400" b="1" baseline="-25000">
                <a:solidFill>
                  <a:srgbClr val="CC0000"/>
                </a:solidFill>
                <a:latin typeface="Times New Roman" pitchFamily="18" charset="0"/>
              </a:rPr>
              <a:t>1</a:t>
            </a:r>
            <a:endParaRPr lang="en-US" altLang="zh-CN" sz="2400" b="1" i="1">
              <a:solidFill>
                <a:srgbClr val="CC0000"/>
              </a:solidFill>
              <a:latin typeface="Times New Roman" pitchFamily="18" charset="0"/>
            </a:endParaRPr>
          </a:p>
        </p:txBody>
      </p:sp>
      <p:grpSp>
        <p:nvGrpSpPr>
          <p:cNvPr id="2" name="Group 11"/>
          <p:cNvGrpSpPr>
            <a:grpSpLocks/>
          </p:cNvGrpSpPr>
          <p:nvPr/>
        </p:nvGrpSpPr>
        <p:grpSpPr bwMode="auto">
          <a:xfrm>
            <a:off x="746125" y="2725738"/>
            <a:ext cx="696913" cy="2827337"/>
            <a:chOff x="3159" y="1233"/>
            <a:chExt cx="439" cy="1781"/>
          </a:xfrm>
        </p:grpSpPr>
        <p:sp>
          <p:nvSpPr>
            <p:cNvPr id="49190" name="Line 12"/>
            <p:cNvSpPr>
              <a:spLocks noChangeShapeType="1"/>
            </p:cNvSpPr>
            <p:nvPr/>
          </p:nvSpPr>
          <p:spPr bwMode="auto">
            <a:xfrm>
              <a:off x="3159" y="1382"/>
              <a:ext cx="0" cy="1632"/>
            </a:xfrm>
            <a:prstGeom prst="line">
              <a:avLst/>
            </a:prstGeom>
            <a:noFill/>
            <a:ln w="38100">
              <a:solidFill>
                <a:srgbClr val="0000FF"/>
              </a:solidFill>
              <a:round/>
              <a:headEnd type="stealth" w="med" len="lg"/>
              <a:tailEnd/>
            </a:ln>
          </p:spPr>
          <p:txBody>
            <a:bodyPr/>
            <a:lstStyle/>
            <a:p>
              <a:endParaRPr lang="zh-CN" altLang="en-US"/>
            </a:p>
          </p:txBody>
        </p:sp>
        <p:sp>
          <p:nvSpPr>
            <p:cNvPr id="49191" name="Text Box 13"/>
            <p:cNvSpPr txBox="1">
              <a:spLocks noChangeArrowheads="1"/>
            </p:cNvSpPr>
            <p:nvPr/>
          </p:nvSpPr>
          <p:spPr bwMode="auto">
            <a:xfrm>
              <a:off x="3205" y="1233"/>
              <a:ext cx="393"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f</a:t>
              </a:r>
              <a:r>
                <a:rPr lang="en-US" altLang="zh-CN" sz="2400" b="1">
                  <a:latin typeface="Times New Roman" pitchFamily="18" charset="0"/>
                </a:rPr>
                <a:t>(</a:t>
              </a:r>
              <a:r>
                <a:rPr lang="en-US" altLang="zh-CN" sz="2400" b="1" i="1">
                  <a:latin typeface="Bookman Old Style" pitchFamily="18" charset="0"/>
                </a:rPr>
                <a:t>v</a:t>
              </a:r>
              <a:r>
                <a:rPr lang="en-US" altLang="zh-CN" sz="2400" b="1" i="1">
                  <a:latin typeface="Times New Roman" pitchFamily="18" charset="0"/>
                </a:rPr>
                <a:t>)</a:t>
              </a:r>
            </a:p>
          </p:txBody>
        </p:sp>
      </p:grpSp>
      <p:grpSp>
        <p:nvGrpSpPr>
          <p:cNvPr id="3" name="Group 14"/>
          <p:cNvGrpSpPr>
            <a:grpSpLocks/>
          </p:cNvGrpSpPr>
          <p:nvPr/>
        </p:nvGrpSpPr>
        <p:grpSpPr bwMode="auto">
          <a:xfrm>
            <a:off x="468313" y="5475288"/>
            <a:ext cx="4119562" cy="479425"/>
            <a:chOff x="2988" y="2957"/>
            <a:chExt cx="2595" cy="302"/>
          </a:xfrm>
        </p:grpSpPr>
        <p:sp>
          <p:nvSpPr>
            <p:cNvPr id="49187" name="Line 15"/>
            <p:cNvSpPr>
              <a:spLocks noChangeShapeType="1"/>
            </p:cNvSpPr>
            <p:nvPr/>
          </p:nvSpPr>
          <p:spPr bwMode="auto">
            <a:xfrm>
              <a:off x="3151" y="3002"/>
              <a:ext cx="2405" cy="0"/>
            </a:xfrm>
            <a:prstGeom prst="line">
              <a:avLst/>
            </a:prstGeom>
            <a:noFill/>
            <a:ln w="38100">
              <a:solidFill>
                <a:srgbClr val="0000FF"/>
              </a:solidFill>
              <a:round/>
              <a:headEnd/>
              <a:tailEnd type="stealth" w="med" len="lg"/>
            </a:ln>
          </p:spPr>
          <p:txBody>
            <a:bodyPr/>
            <a:lstStyle/>
            <a:p>
              <a:endParaRPr lang="zh-CN" altLang="en-US"/>
            </a:p>
          </p:txBody>
        </p:sp>
        <p:sp>
          <p:nvSpPr>
            <p:cNvPr id="49188" name="Text Box 16"/>
            <p:cNvSpPr txBox="1">
              <a:spLocks noChangeArrowheads="1"/>
            </p:cNvSpPr>
            <p:nvPr/>
          </p:nvSpPr>
          <p:spPr bwMode="auto">
            <a:xfrm>
              <a:off x="5382" y="2957"/>
              <a:ext cx="201" cy="288"/>
            </a:xfrm>
            <a:prstGeom prst="rect">
              <a:avLst/>
            </a:prstGeom>
            <a:noFill/>
            <a:ln w="9525">
              <a:noFill/>
              <a:miter lim="800000"/>
              <a:headEnd/>
              <a:tailEnd/>
            </a:ln>
          </p:spPr>
          <p:txBody>
            <a:bodyPr wrap="none">
              <a:spAutoFit/>
            </a:bodyPr>
            <a:lstStyle/>
            <a:p>
              <a:r>
                <a:rPr lang="en-US" altLang="zh-CN" sz="2400" b="1" i="1">
                  <a:latin typeface="Bookman Old Style" pitchFamily="18" charset="0"/>
                </a:rPr>
                <a:t>v</a:t>
              </a:r>
            </a:p>
          </p:txBody>
        </p:sp>
        <p:sp>
          <p:nvSpPr>
            <p:cNvPr id="49189" name="Text Box 17"/>
            <p:cNvSpPr txBox="1">
              <a:spLocks noChangeArrowheads="1"/>
            </p:cNvSpPr>
            <p:nvPr/>
          </p:nvSpPr>
          <p:spPr bwMode="auto">
            <a:xfrm>
              <a:off x="2988" y="2971"/>
              <a:ext cx="255"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pSp>
      <p:sp>
        <p:nvSpPr>
          <p:cNvPr id="162834" name="Rectangle 18"/>
          <p:cNvSpPr>
            <a:spLocks noChangeArrowheads="1"/>
          </p:cNvSpPr>
          <p:nvPr/>
        </p:nvSpPr>
        <p:spPr bwMode="auto">
          <a:xfrm>
            <a:off x="2241550" y="3865563"/>
            <a:ext cx="1211263" cy="457200"/>
          </a:xfrm>
          <a:prstGeom prst="rect">
            <a:avLst/>
          </a:prstGeom>
          <a:noFill/>
          <a:ln w="9525">
            <a:noFill/>
            <a:miter lim="800000"/>
            <a:headEnd/>
            <a:tailEnd/>
          </a:ln>
        </p:spPr>
        <p:txBody>
          <a:bodyPr wrap="none">
            <a:spAutoFit/>
          </a:bodyPr>
          <a:lstStyle/>
          <a:p>
            <a:r>
              <a:rPr lang="en-US" altLang="zh-CN" sz="2400" b="1" i="1">
                <a:solidFill>
                  <a:srgbClr val="008000"/>
                </a:solidFill>
                <a:latin typeface="Times New Roman" pitchFamily="18" charset="0"/>
              </a:rPr>
              <a:t>T</a:t>
            </a:r>
            <a:r>
              <a:rPr lang="en-US" altLang="zh-CN" sz="2400" b="1" baseline="-25000">
                <a:solidFill>
                  <a:srgbClr val="008000"/>
                </a:solidFill>
                <a:latin typeface="Times New Roman" pitchFamily="18" charset="0"/>
              </a:rPr>
              <a:t>2</a:t>
            </a:r>
            <a:r>
              <a:rPr lang="en-US" altLang="zh-CN" sz="2400" b="1">
                <a:solidFill>
                  <a:srgbClr val="008000"/>
                </a:solidFill>
                <a:latin typeface="Times New Roman" pitchFamily="18" charset="0"/>
              </a:rPr>
              <a:t>(&gt; </a:t>
            </a:r>
            <a:r>
              <a:rPr lang="en-US" altLang="zh-CN" sz="2400" b="1" i="1">
                <a:solidFill>
                  <a:srgbClr val="008000"/>
                </a:solidFill>
                <a:latin typeface="Times New Roman" pitchFamily="18" charset="0"/>
              </a:rPr>
              <a:t>T</a:t>
            </a:r>
            <a:r>
              <a:rPr lang="en-US" altLang="zh-CN" sz="2400" b="1" baseline="-25000">
                <a:solidFill>
                  <a:srgbClr val="008000"/>
                </a:solidFill>
                <a:latin typeface="Times New Roman" pitchFamily="18" charset="0"/>
              </a:rPr>
              <a:t>1</a:t>
            </a:r>
            <a:r>
              <a:rPr lang="en-US" altLang="zh-CN" sz="2400" b="1">
                <a:solidFill>
                  <a:srgbClr val="008000"/>
                </a:solidFill>
                <a:latin typeface="Times New Roman" pitchFamily="18" charset="0"/>
              </a:rPr>
              <a:t>)</a:t>
            </a:r>
            <a:endParaRPr lang="en-US" altLang="zh-CN" sz="2400" b="1" baseline="-25000">
              <a:solidFill>
                <a:srgbClr val="008000"/>
              </a:solidFill>
              <a:latin typeface="Times New Roman" pitchFamily="18" charset="0"/>
            </a:endParaRPr>
          </a:p>
        </p:txBody>
      </p:sp>
      <p:sp>
        <p:nvSpPr>
          <p:cNvPr id="162835" name="Line 19"/>
          <p:cNvSpPr>
            <a:spLocks noChangeShapeType="1"/>
          </p:cNvSpPr>
          <p:nvPr/>
        </p:nvSpPr>
        <p:spPr bwMode="auto">
          <a:xfrm>
            <a:off x="1511300" y="3176588"/>
            <a:ext cx="0" cy="2374900"/>
          </a:xfrm>
          <a:prstGeom prst="line">
            <a:avLst/>
          </a:prstGeom>
          <a:noFill/>
          <a:ln w="28575">
            <a:solidFill>
              <a:srgbClr val="CC0000"/>
            </a:solidFill>
            <a:prstDash val="dash"/>
            <a:round/>
            <a:headEnd/>
            <a:tailEnd/>
          </a:ln>
        </p:spPr>
        <p:txBody>
          <a:bodyPr/>
          <a:lstStyle/>
          <a:p>
            <a:endParaRPr lang="zh-CN" altLang="en-US"/>
          </a:p>
        </p:txBody>
      </p:sp>
      <p:graphicFrame>
        <p:nvGraphicFramePr>
          <p:cNvPr id="162836" name="Object 20"/>
          <p:cNvGraphicFramePr>
            <a:graphicFrameLocks noChangeAspect="1"/>
          </p:cNvGraphicFramePr>
          <p:nvPr/>
        </p:nvGraphicFramePr>
        <p:xfrm>
          <a:off x="1331913" y="5516563"/>
          <a:ext cx="412750" cy="481012"/>
        </p:xfrm>
        <a:graphic>
          <a:graphicData uri="http://schemas.openxmlformats.org/presentationml/2006/ole">
            <p:oleObj spid="_x0000_s49154" name="公式" r:id="rId3" imgW="419040" imgH="482400" progId="Equation.3">
              <p:embed/>
            </p:oleObj>
          </a:graphicData>
        </a:graphic>
      </p:graphicFrame>
      <p:graphicFrame>
        <p:nvGraphicFramePr>
          <p:cNvPr id="162837" name="Object 21"/>
          <p:cNvGraphicFramePr>
            <a:graphicFrameLocks noChangeAspect="1"/>
          </p:cNvGraphicFramePr>
          <p:nvPr/>
        </p:nvGraphicFramePr>
        <p:xfrm>
          <a:off x="1981200" y="5516563"/>
          <a:ext cx="449263" cy="481012"/>
        </p:xfrm>
        <a:graphic>
          <a:graphicData uri="http://schemas.openxmlformats.org/presentationml/2006/ole">
            <p:oleObj spid="_x0000_s49155" name="公式" r:id="rId4" imgW="457200" imgH="482400" progId="Equation.3">
              <p:embed/>
            </p:oleObj>
          </a:graphicData>
        </a:graphic>
      </p:graphicFrame>
      <p:sp>
        <p:nvSpPr>
          <p:cNvPr id="162838" name="Line 22"/>
          <p:cNvSpPr>
            <a:spLocks noChangeShapeType="1"/>
          </p:cNvSpPr>
          <p:nvPr/>
        </p:nvSpPr>
        <p:spPr bwMode="auto">
          <a:xfrm>
            <a:off x="2185988" y="4179888"/>
            <a:ext cx="0" cy="1366837"/>
          </a:xfrm>
          <a:prstGeom prst="line">
            <a:avLst/>
          </a:prstGeom>
          <a:noFill/>
          <a:ln w="28575">
            <a:solidFill>
              <a:srgbClr val="008000"/>
            </a:solidFill>
            <a:prstDash val="dash"/>
            <a:round/>
            <a:headEnd/>
            <a:tailEnd/>
          </a:ln>
        </p:spPr>
        <p:txBody>
          <a:bodyPr/>
          <a:lstStyle/>
          <a:p>
            <a:endParaRPr lang="zh-CN" altLang="en-US"/>
          </a:p>
        </p:txBody>
      </p:sp>
      <p:sp>
        <p:nvSpPr>
          <p:cNvPr id="162839" name="Text Box 23"/>
          <p:cNvSpPr txBox="1">
            <a:spLocks noChangeArrowheads="1"/>
          </p:cNvSpPr>
          <p:nvPr/>
        </p:nvSpPr>
        <p:spPr bwMode="auto">
          <a:xfrm>
            <a:off x="6551613" y="3843338"/>
            <a:ext cx="892175" cy="457200"/>
          </a:xfrm>
          <a:prstGeom prst="rect">
            <a:avLst/>
          </a:prstGeom>
          <a:noFill/>
          <a:ln w="9525">
            <a:noFill/>
            <a:miter lim="800000"/>
            <a:headEnd/>
            <a:tailEnd/>
          </a:ln>
        </p:spPr>
        <p:txBody>
          <a:bodyPr>
            <a:spAutoFit/>
          </a:bodyPr>
          <a:lstStyle/>
          <a:p>
            <a:r>
              <a:rPr kumimoji="1" lang="en-US" altLang="zh-CN" sz="2400" b="1" i="1">
                <a:solidFill>
                  <a:srgbClr val="008000"/>
                </a:solidFill>
                <a:latin typeface="Times New Roman" pitchFamily="18" charset="0"/>
              </a:rPr>
              <a:t>μ</a:t>
            </a:r>
            <a:r>
              <a:rPr lang="en-US" altLang="zh-CN" sz="2400" b="1" baseline="-25000">
                <a:solidFill>
                  <a:srgbClr val="008000"/>
                </a:solidFill>
                <a:latin typeface="Times New Roman" pitchFamily="18" charset="0"/>
              </a:rPr>
              <a:t>1</a:t>
            </a:r>
          </a:p>
        </p:txBody>
      </p:sp>
      <p:grpSp>
        <p:nvGrpSpPr>
          <p:cNvPr id="4" name="Group 24"/>
          <p:cNvGrpSpPr>
            <a:grpSpLocks/>
          </p:cNvGrpSpPr>
          <p:nvPr/>
        </p:nvGrpSpPr>
        <p:grpSpPr bwMode="auto">
          <a:xfrm>
            <a:off x="4987925" y="2759075"/>
            <a:ext cx="696913" cy="2827338"/>
            <a:chOff x="3159" y="1233"/>
            <a:chExt cx="439" cy="1781"/>
          </a:xfrm>
        </p:grpSpPr>
        <p:sp>
          <p:nvSpPr>
            <p:cNvPr id="49185" name="Line 25"/>
            <p:cNvSpPr>
              <a:spLocks noChangeShapeType="1"/>
            </p:cNvSpPr>
            <p:nvPr/>
          </p:nvSpPr>
          <p:spPr bwMode="auto">
            <a:xfrm>
              <a:off x="3159" y="1382"/>
              <a:ext cx="0" cy="1632"/>
            </a:xfrm>
            <a:prstGeom prst="line">
              <a:avLst/>
            </a:prstGeom>
            <a:noFill/>
            <a:ln w="38100">
              <a:solidFill>
                <a:srgbClr val="0000FF"/>
              </a:solidFill>
              <a:round/>
              <a:headEnd type="stealth" w="med" len="lg"/>
              <a:tailEnd/>
            </a:ln>
          </p:spPr>
          <p:txBody>
            <a:bodyPr/>
            <a:lstStyle/>
            <a:p>
              <a:endParaRPr lang="zh-CN" altLang="en-US"/>
            </a:p>
          </p:txBody>
        </p:sp>
        <p:sp>
          <p:nvSpPr>
            <p:cNvPr id="49186" name="Text Box 26"/>
            <p:cNvSpPr txBox="1">
              <a:spLocks noChangeArrowheads="1"/>
            </p:cNvSpPr>
            <p:nvPr/>
          </p:nvSpPr>
          <p:spPr bwMode="auto">
            <a:xfrm>
              <a:off x="3205" y="1233"/>
              <a:ext cx="393"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f</a:t>
              </a:r>
              <a:r>
                <a:rPr lang="en-US" altLang="zh-CN" sz="2400" b="1">
                  <a:latin typeface="Times New Roman" pitchFamily="18" charset="0"/>
                </a:rPr>
                <a:t>(</a:t>
              </a:r>
              <a:r>
                <a:rPr lang="en-US" altLang="zh-CN" sz="2400" b="1" i="1">
                  <a:latin typeface="Bookman Old Style" pitchFamily="18" charset="0"/>
                </a:rPr>
                <a:t>v</a:t>
              </a:r>
              <a:r>
                <a:rPr lang="en-US" altLang="zh-CN" sz="2400" b="1" i="1">
                  <a:latin typeface="Times New Roman" pitchFamily="18" charset="0"/>
                </a:rPr>
                <a:t>)</a:t>
              </a:r>
            </a:p>
          </p:txBody>
        </p:sp>
      </p:grpSp>
      <p:grpSp>
        <p:nvGrpSpPr>
          <p:cNvPr id="5" name="Group 27"/>
          <p:cNvGrpSpPr>
            <a:grpSpLocks/>
          </p:cNvGrpSpPr>
          <p:nvPr/>
        </p:nvGrpSpPr>
        <p:grpSpPr bwMode="auto">
          <a:xfrm>
            <a:off x="4716463" y="5495925"/>
            <a:ext cx="4119562" cy="479425"/>
            <a:chOff x="2988" y="2957"/>
            <a:chExt cx="2595" cy="302"/>
          </a:xfrm>
        </p:grpSpPr>
        <p:sp>
          <p:nvSpPr>
            <p:cNvPr id="49182" name="Line 28"/>
            <p:cNvSpPr>
              <a:spLocks noChangeShapeType="1"/>
            </p:cNvSpPr>
            <p:nvPr/>
          </p:nvSpPr>
          <p:spPr bwMode="auto">
            <a:xfrm>
              <a:off x="3151" y="3002"/>
              <a:ext cx="2405" cy="0"/>
            </a:xfrm>
            <a:prstGeom prst="line">
              <a:avLst/>
            </a:prstGeom>
            <a:noFill/>
            <a:ln w="38100">
              <a:solidFill>
                <a:srgbClr val="0000FF"/>
              </a:solidFill>
              <a:round/>
              <a:headEnd/>
              <a:tailEnd type="stealth" w="med" len="lg"/>
            </a:ln>
          </p:spPr>
          <p:txBody>
            <a:bodyPr/>
            <a:lstStyle/>
            <a:p>
              <a:endParaRPr lang="zh-CN" altLang="en-US"/>
            </a:p>
          </p:txBody>
        </p:sp>
        <p:sp>
          <p:nvSpPr>
            <p:cNvPr id="49183" name="Text Box 29"/>
            <p:cNvSpPr txBox="1">
              <a:spLocks noChangeArrowheads="1"/>
            </p:cNvSpPr>
            <p:nvPr/>
          </p:nvSpPr>
          <p:spPr bwMode="auto">
            <a:xfrm>
              <a:off x="5382" y="2957"/>
              <a:ext cx="201" cy="288"/>
            </a:xfrm>
            <a:prstGeom prst="rect">
              <a:avLst/>
            </a:prstGeom>
            <a:noFill/>
            <a:ln w="9525">
              <a:noFill/>
              <a:miter lim="800000"/>
              <a:headEnd/>
              <a:tailEnd/>
            </a:ln>
          </p:spPr>
          <p:txBody>
            <a:bodyPr wrap="none">
              <a:spAutoFit/>
            </a:bodyPr>
            <a:lstStyle/>
            <a:p>
              <a:r>
                <a:rPr lang="en-US" altLang="zh-CN" sz="2400" b="1" i="1">
                  <a:latin typeface="Bookman Old Style" pitchFamily="18" charset="0"/>
                </a:rPr>
                <a:t>v</a:t>
              </a:r>
            </a:p>
          </p:txBody>
        </p:sp>
        <p:sp>
          <p:nvSpPr>
            <p:cNvPr id="49184" name="Text Box 30"/>
            <p:cNvSpPr txBox="1">
              <a:spLocks noChangeArrowheads="1"/>
            </p:cNvSpPr>
            <p:nvPr/>
          </p:nvSpPr>
          <p:spPr bwMode="auto">
            <a:xfrm>
              <a:off x="2988" y="2971"/>
              <a:ext cx="255"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pSp>
      <p:sp>
        <p:nvSpPr>
          <p:cNvPr id="162847" name="Rectangle 31"/>
          <p:cNvSpPr>
            <a:spLocks noChangeArrowheads="1"/>
          </p:cNvSpPr>
          <p:nvPr/>
        </p:nvSpPr>
        <p:spPr bwMode="auto">
          <a:xfrm>
            <a:off x="5840413" y="2901950"/>
            <a:ext cx="1452562" cy="457200"/>
          </a:xfrm>
          <a:prstGeom prst="rect">
            <a:avLst/>
          </a:prstGeom>
          <a:noFill/>
          <a:ln w="9525">
            <a:noFill/>
            <a:miter lim="800000"/>
            <a:headEnd/>
            <a:tailEnd/>
          </a:ln>
        </p:spPr>
        <p:txBody>
          <a:bodyPr wrap="none">
            <a:spAutoFit/>
          </a:bodyPr>
          <a:lstStyle/>
          <a:p>
            <a:r>
              <a:rPr kumimoji="1" lang="en-US" altLang="zh-CN" sz="2400" b="1" i="1">
                <a:solidFill>
                  <a:srgbClr val="CC0000"/>
                </a:solidFill>
                <a:latin typeface="Times New Roman" pitchFamily="18" charset="0"/>
              </a:rPr>
              <a:t>μ</a:t>
            </a:r>
            <a:r>
              <a:rPr lang="en-US" altLang="zh-CN" sz="2400" b="1" baseline="-25000">
                <a:solidFill>
                  <a:srgbClr val="CC0000"/>
                </a:solidFill>
                <a:latin typeface="Times New Roman" pitchFamily="18" charset="0"/>
              </a:rPr>
              <a:t>2</a:t>
            </a:r>
            <a:r>
              <a:rPr lang="en-US" altLang="zh-CN" sz="2400" b="1">
                <a:solidFill>
                  <a:srgbClr val="CC0000"/>
                </a:solidFill>
                <a:latin typeface="Times New Roman" pitchFamily="18" charset="0"/>
              </a:rPr>
              <a:t>(&gt; </a:t>
            </a:r>
            <a:r>
              <a:rPr kumimoji="1" lang="en-US" altLang="zh-CN" sz="2400" b="1" i="1">
                <a:solidFill>
                  <a:srgbClr val="CC0000"/>
                </a:solidFill>
                <a:latin typeface="Times New Roman" pitchFamily="18" charset="0"/>
              </a:rPr>
              <a:t>μ</a:t>
            </a:r>
            <a:r>
              <a:rPr lang="en-US" altLang="zh-CN" sz="2400" b="1" baseline="-25000">
                <a:solidFill>
                  <a:srgbClr val="CC0000"/>
                </a:solidFill>
                <a:latin typeface="Times New Roman" pitchFamily="18" charset="0"/>
              </a:rPr>
              <a:t>1</a:t>
            </a:r>
            <a:r>
              <a:rPr lang="en-US" altLang="zh-CN" sz="2400" b="1">
                <a:solidFill>
                  <a:srgbClr val="CC0000"/>
                </a:solidFill>
                <a:latin typeface="Times New Roman" pitchFamily="18" charset="0"/>
              </a:rPr>
              <a:t>)</a:t>
            </a:r>
          </a:p>
        </p:txBody>
      </p:sp>
      <p:graphicFrame>
        <p:nvGraphicFramePr>
          <p:cNvPr id="162848" name="Object 32"/>
          <p:cNvGraphicFramePr>
            <a:graphicFrameLocks noChangeAspect="1"/>
          </p:cNvGraphicFramePr>
          <p:nvPr/>
        </p:nvGraphicFramePr>
        <p:xfrm>
          <a:off x="6219825" y="5638800"/>
          <a:ext cx="412750" cy="481013"/>
        </p:xfrm>
        <a:graphic>
          <a:graphicData uri="http://schemas.openxmlformats.org/presentationml/2006/ole">
            <p:oleObj spid="_x0000_s49156" name="公式" r:id="rId5" imgW="419040" imgH="482400" progId="Equation.3">
              <p:embed/>
            </p:oleObj>
          </a:graphicData>
        </a:graphic>
      </p:graphicFrame>
      <p:graphicFrame>
        <p:nvGraphicFramePr>
          <p:cNvPr id="162849" name="Object 33"/>
          <p:cNvGraphicFramePr>
            <a:graphicFrameLocks noChangeAspect="1"/>
          </p:cNvGraphicFramePr>
          <p:nvPr/>
        </p:nvGraphicFramePr>
        <p:xfrm>
          <a:off x="5624513" y="5638800"/>
          <a:ext cx="449262" cy="481013"/>
        </p:xfrm>
        <a:graphic>
          <a:graphicData uri="http://schemas.openxmlformats.org/presentationml/2006/ole">
            <p:oleObj spid="_x0000_s49157" name="公式" r:id="rId6" imgW="457200" imgH="482400" progId="Equation.3">
              <p:embed/>
            </p:oleObj>
          </a:graphicData>
        </a:graphic>
      </p:graphicFrame>
      <p:sp>
        <p:nvSpPr>
          <p:cNvPr id="162850" name="Freeform 34"/>
          <p:cNvSpPr>
            <a:spLocks/>
          </p:cNvSpPr>
          <p:nvPr/>
        </p:nvSpPr>
        <p:spPr bwMode="auto">
          <a:xfrm>
            <a:off x="746125" y="3170238"/>
            <a:ext cx="1882775" cy="2346325"/>
          </a:xfrm>
          <a:custGeom>
            <a:avLst/>
            <a:gdLst>
              <a:gd name="T0" fmla="*/ 0 w 1186"/>
              <a:gd name="T1" fmla="*/ 2147483647 h 1478"/>
              <a:gd name="T2" fmla="*/ 2147483647 w 1186"/>
              <a:gd name="T3" fmla="*/ 2147483647 h 1478"/>
              <a:gd name="T4" fmla="*/ 2147483647 w 1186"/>
              <a:gd name="T5" fmla="*/ 2147483647 h 1478"/>
              <a:gd name="T6" fmla="*/ 2147483647 w 1186"/>
              <a:gd name="T7" fmla="*/ 2147483647 h 1478"/>
              <a:gd name="T8" fmla="*/ 2147483647 w 1186"/>
              <a:gd name="T9" fmla="*/ 2147483647 h 1478"/>
              <a:gd name="T10" fmla="*/ 2147483647 w 1186"/>
              <a:gd name="T11" fmla="*/ 2147483647 h 1478"/>
              <a:gd name="T12" fmla="*/ 2147483647 w 1186"/>
              <a:gd name="T13" fmla="*/ 2147483647 h 1478"/>
              <a:gd name="T14" fmla="*/ 2147483647 w 1186"/>
              <a:gd name="T15" fmla="*/ 2147483647 h 1478"/>
              <a:gd name="T16" fmla="*/ 2147483647 w 1186"/>
              <a:gd name="T17" fmla="*/ 2147483647 h 1478"/>
              <a:gd name="T18" fmla="*/ 2147483647 w 1186"/>
              <a:gd name="T19" fmla="*/ 2147483647 h 1478"/>
              <a:gd name="T20" fmla="*/ 2147483647 w 1186"/>
              <a:gd name="T21" fmla="*/ 2147483647 h 1478"/>
              <a:gd name="T22" fmla="*/ 2147483647 w 1186"/>
              <a:gd name="T23" fmla="*/ 2147483647 h 1478"/>
              <a:gd name="T24" fmla="*/ 2147483647 w 1186"/>
              <a:gd name="T25" fmla="*/ 2147483647 h 14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86"/>
              <a:gd name="T40" fmla="*/ 0 h 1478"/>
              <a:gd name="T41" fmla="*/ 1186 w 1186"/>
              <a:gd name="T42" fmla="*/ 1478 h 14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86" h="1478">
                <a:moveTo>
                  <a:pt x="0" y="1478"/>
                </a:moveTo>
                <a:cubicBezTo>
                  <a:pt x="18" y="1459"/>
                  <a:pt x="76" y="1415"/>
                  <a:pt x="106" y="1362"/>
                </a:cubicBezTo>
                <a:cubicBezTo>
                  <a:pt x="136" y="1309"/>
                  <a:pt x="134" y="1344"/>
                  <a:pt x="178" y="1158"/>
                </a:cubicBezTo>
                <a:cubicBezTo>
                  <a:pt x="222" y="972"/>
                  <a:pt x="332" y="422"/>
                  <a:pt x="370" y="246"/>
                </a:cubicBezTo>
                <a:cubicBezTo>
                  <a:pt x="408" y="70"/>
                  <a:pt x="388" y="142"/>
                  <a:pt x="406" y="102"/>
                </a:cubicBezTo>
                <a:cubicBezTo>
                  <a:pt x="424" y="62"/>
                  <a:pt x="456" y="12"/>
                  <a:pt x="478" y="6"/>
                </a:cubicBezTo>
                <a:cubicBezTo>
                  <a:pt x="500" y="0"/>
                  <a:pt x="516" y="32"/>
                  <a:pt x="538" y="66"/>
                </a:cubicBezTo>
                <a:cubicBezTo>
                  <a:pt x="560" y="100"/>
                  <a:pt x="577" y="112"/>
                  <a:pt x="610" y="210"/>
                </a:cubicBezTo>
                <a:cubicBezTo>
                  <a:pt x="643" y="308"/>
                  <a:pt x="697" y="525"/>
                  <a:pt x="737" y="656"/>
                </a:cubicBezTo>
                <a:cubicBezTo>
                  <a:pt x="777" y="787"/>
                  <a:pt x="820" y="915"/>
                  <a:pt x="851" y="996"/>
                </a:cubicBezTo>
                <a:cubicBezTo>
                  <a:pt x="882" y="1077"/>
                  <a:pt x="894" y="1099"/>
                  <a:pt x="922" y="1146"/>
                </a:cubicBezTo>
                <a:cubicBezTo>
                  <a:pt x="950" y="1193"/>
                  <a:pt x="974" y="1240"/>
                  <a:pt x="1018" y="1278"/>
                </a:cubicBezTo>
                <a:cubicBezTo>
                  <a:pt x="1062" y="1316"/>
                  <a:pt x="1151" y="1354"/>
                  <a:pt x="1186" y="1374"/>
                </a:cubicBezTo>
              </a:path>
            </a:pathLst>
          </a:custGeom>
          <a:noFill/>
          <a:ln w="57150">
            <a:solidFill>
              <a:srgbClr val="CC0000"/>
            </a:solidFill>
            <a:round/>
            <a:headEnd/>
            <a:tailEnd/>
          </a:ln>
        </p:spPr>
        <p:txBody>
          <a:bodyPr/>
          <a:lstStyle/>
          <a:p>
            <a:endParaRPr lang="zh-CN" altLang="en-US"/>
          </a:p>
        </p:txBody>
      </p:sp>
      <p:sp>
        <p:nvSpPr>
          <p:cNvPr id="162851" name="Freeform 35"/>
          <p:cNvSpPr>
            <a:spLocks/>
          </p:cNvSpPr>
          <p:nvPr/>
        </p:nvSpPr>
        <p:spPr bwMode="auto">
          <a:xfrm>
            <a:off x="746125" y="4135438"/>
            <a:ext cx="3556000" cy="1381125"/>
          </a:xfrm>
          <a:custGeom>
            <a:avLst/>
            <a:gdLst>
              <a:gd name="T0" fmla="*/ 0 w 2240"/>
              <a:gd name="T1" fmla="*/ 2147483647 h 870"/>
              <a:gd name="T2" fmla="*/ 2147483647 w 2240"/>
              <a:gd name="T3" fmla="*/ 2147483647 h 870"/>
              <a:gd name="T4" fmla="*/ 2147483647 w 2240"/>
              <a:gd name="T5" fmla="*/ 2147483647 h 870"/>
              <a:gd name="T6" fmla="*/ 2147483647 w 2240"/>
              <a:gd name="T7" fmla="*/ 2147483647 h 870"/>
              <a:gd name="T8" fmla="*/ 2147483647 w 2240"/>
              <a:gd name="T9" fmla="*/ 2147483647 h 870"/>
              <a:gd name="T10" fmla="*/ 2147483647 w 2240"/>
              <a:gd name="T11" fmla="*/ 2147483647 h 870"/>
              <a:gd name="T12" fmla="*/ 2147483647 w 2240"/>
              <a:gd name="T13" fmla="*/ 2147483647 h 870"/>
              <a:gd name="T14" fmla="*/ 2147483647 w 2240"/>
              <a:gd name="T15" fmla="*/ 2147483647 h 870"/>
              <a:gd name="T16" fmla="*/ 2147483647 w 2240"/>
              <a:gd name="T17" fmla="*/ 2147483647 h 870"/>
              <a:gd name="T18" fmla="*/ 2147483647 w 2240"/>
              <a:gd name="T19" fmla="*/ 2147483647 h 870"/>
              <a:gd name="T20" fmla="*/ 2147483647 w 2240"/>
              <a:gd name="T21" fmla="*/ 2147483647 h 870"/>
              <a:gd name="T22" fmla="*/ 2147483647 w 2240"/>
              <a:gd name="T23" fmla="*/ 2147483647 h 870"/>
              <a:gd name="T24" fmla="*/ 2147483647 w 2240"/>
              <a:gd name="T25" fmla="*/ 2147483647 h 870"/>
              <a:gd name="T26" fmla="*/ 2147483647 w 2240"/>
              <a:gd name="T27" fmla="*/ 2147483647 h 870"/>
              <a:gd name="T28" fmla="*/ 2147483647 w 2240"/>
              <a:gd name="T29" fmla="*/ 2147483647 h 870"/>
              <a:gd name="T30" fmla="*/ 2147483647 w 2240"/>
              <a:gd name="T31" fmla="*/ 2147483647 h 870"/>
              <a:gd name="T32" fmla="*/ 2147483647 w 2240"/>
              <a:gd name="T33" fmla="*/ 2147483647 h 870"/>
              <a:gd name="T34" fmla="*/ 2147483647 w 2240"/>
              <a:gd name="T35" fmla="*/ 2147483647 h 870"/>
              <a:gd name="T36" fmla="*/ 2147483647 w 2240"/>
              <a:gd name="T37" fmla="*/ 2147483647 h 8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40"/>
              <a:gd name="T58" fmla="*/ 0 h 870"/>
              <a:gd name="T59" fmla="*/ 2240 w 2240"/>
              <a:gd name="T60" fmla="*/ 870 h 8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40" h="870">
                <a:moveTo>
                  <a:pt x="0" y="870"/>
                </a:moveTo>
                <a:cubicBezTo>
                  <a:pt x="18" y="867"/>
                  <a:pt x="72" y="863"/>
                  <a:pt x="106" y="850"/>
                </a:cubicBezTo>
                <a:cubicBezTo>
                  <a:pt x="140" y="837"/>
                  <a:pt x="174" y="810"/>
                  <a:pt x="202" y="790"/>
                </a:cubicBezTo>
                <a:cubicBezTo>
                  <a:pt x="230" y="770"/>
                  <a:pt x="251" y="754"/>
                  <a:pt x="274" y="730"/>
                </a:cubicBezTo>
                <a:cubicBezTo>
                  <a:pt x="297" y="706"/>
                  <a:pt x="308" y="691"/>
                  <a:pt x="340" y="643"/>
                </a:cubicBezTo>
                <a:cubicBezTo>
                  <a:pt x="372" y="595"/>
                  <a:pt x="423" y="510"/>
                  <a:pt x="466" y="442"/>
                </a:cubicBezTo>
                <a:cubicBezTo>
                  <a:pt x="509" y="374"/>
                  <a:pt x="558" y="294"/>
                  <a:pt x="598" y="238"/>
                </a:cubicBezTo>
                <a:cubicBezTo>
                  <a:pt x="638" y="182"/>
                  <a:pt x="665" y="142"/>
                  <a:pt x="709" y="104"/>
                </a:cubicBezTo>
                <a:cubicBezTo>
                  <a:pt x="753" y="66"/>
                  <a:pt x="813" y="20"/>
                  <a:pt x="862" y="10"/>
                </a:cubicBezTo>
                <a:cubicBezTo>
                  <a:pt x="911" y="0"/>
                  <a:pt x="961" y="16"/>
                  <a:pt x="1006" y="46"/>
                </a:cubicBezTo>
                <a:cubicBezTo>
                  <a:pt x="1051" y="76"/>
                  <a:pt x="1092" y="142"/>
                  <a:pt x="1134" y="190"/>
                </a:cubicBezTo>
                <a:cubicBezTo>
                  <a:pt x="1176" y="238"/>
                  <a:pt x="1216" y="287"/>
                  <a:pt x="1258" y="334"/>
                </a:cubicBezTo>
                <a:cubicBezTo>
                  <a:pt x="1300" y="381"/>
                  <a:pt x="1347" y="431"/>
                  <a:pt x="1389" y="473"/>
                </a:cubicBezTo>
                <a:cubicBezTo>
                  <a:pt x="1431" y="515"/>
                  <a:pt x="1458" y="548"/>
                  <a:pt x="1510" y="586"/>
                </a:cubicBezTo>
                <a:cubicBezTo>
                  <a:pt x="1562" y="624"/>
                  <a:pt x="1647" y="670"/>
                  <a:pt x="1701" y="700"/>
                </a:cubicBezTo>
                <a:cubicBezTo>
                  <a:pt x="1755" y="730"/>
                  <a:pt x="1784" y="749"/>
                  <a:pt x="1834" y="766"/>
                </a:cubicBezTo>
                <a:cubicBezTo>
                  <a:pt x="1884" y="783"/>
                  <a:pt x="1949" y="794"/>
                  <a:pt x="2002" y="802"/>
                </a:cubicBezTo>
                <a:cubicBezTo>
                  <a:pt x="2055" y="810"/>
                  <a:pt x="2115" y="811"/>
                  <a:pt x="2155" y="813"/>
                </a:cubicBezTo>
                <a:cubicBezTo>
                  <a:pt x="2195" y="815"/>
                  <a:pt x="2226" y="813"/>
                  <a:pt x="2240" y="813"/>
                </a:cubicBezTo>
              </a:path>
            </a:pathLst>
          </a:custGeom>
          <a:noFill/>
          <a:ln w="57150">
            <a:solidFill>
              <a:srgbClr val="008000"/>
            </a:solidFill>
            <a:round/>
            <a:headEnd/>
            <a:tailEnd/>
          </a:ln>
        </p:spPr>
        <p:txBody>
          <a:bodyPr/>
          <a:lstStyle/>
          <a:p>
            <a:endParaRPr lang="zh-CN" altLang="en-US"/>
          </a:p>
        </p:txBody>
      </p:sp>
      <p:sp>
        <p:nvSpPr>
          <p:cNvPr id="162852" name="Line 36"/>
          <p:cNvSpPr>
            <a:spLocks noChangeShapeType="1"/>
          </p:cNvSpPr>
          <p:nvPr/>
        </p:nvSpPr>
        <p:spPr bwMode="auto">
          <a:xfrm>
            <a:off x="5832475" y="3232150"/>
            <a:ext cx="0" cy="2374900"/>
          </a:xfrm>
          <a:prstGeom prst="line">
            <a:avLst/>
          </a:prstGeom>
          <a:noFill/>
          <a:ln w="28575">
            <a:solidFill>
              <a:srgbClr val="CC0000"/>
            </a:solidFill>
            <a:prstDash val="dash"/>
            <a:round/>
            <a:headEnd/>
            <a:tailEnd/>
          </a:ln>
        </p:spPr>
        <p:txBody>
          <a:bodyPr/>
          <a:lstStyle/>
          <a:p>
            <a:endParaRPr lang="zh-CN" altLang="en-US"/>
          </a:p>
        </p:txBody>
      </p:sp>
      <p:sp>
        <p:nvSpPr>
          <p:cNvPr id="162853" name="Line 37"/>
          <p:cNvSpPr>
            <a:spLocks noChangeShapeType="1"/>
          </p:cNvSpPr>
          <p:nvPr/>
        </p:nvSpPr>
        <p:spPr bwMode="auto">
          <a:xfrm>
            <a:off x="6462713" y="4235450"/>
            <a:ext cx="0" cy="1366838"/>
          </a:xfrm>
          <a:prstGeom prst="line">
            <a:avLst/>
          </a:prstGeom>
          <a:noFill/>
          <a:ln w="28575">
            <a:solidFill>
              <a:srgbClr val="008000"/>
            </a:solidFill>
            <a:prstDash val="dash"/>
            <a:round/>
            <a:headEnd/>
            <a:tailEnd/>
          </a:ln>
        </p:spPr>
        <p:txBody>
          <a:bodyPr/>
          <a:lstStyle/>
          <a:p>
            <a:endParaRPr lang="zh-CN" altLang="en-US"/>
          </a:p>
        </p:txBody>
      </p:sp>
      <p:sp>
        <p:nvSpPr>
          <p:cNvPr id="162854" name="Freeform 38"/>
          <p:cNvSpPr>
            <a:spLocks/>
          </p:cNvSpPr>
          <p:nvPr/>
        </p:nvSpPr>
        <p:spPr bwMode="auto">
          <a:xfrm>
            <a:off x="4976813" y="3221038"/>
            <a:ext cx="2116137" cy="2346325"/>
          </a:xfrm>
          <a:custGeom>
            <a:avLst/>
            <a:gdLst>
              <a:gd name="T0" fmla="*/ 0 w 1186"/>
              <a:gd name="T1" fmla="*/ 2147483647 h 1478"/>
              <a:gd name="T2" fmla="*/ 2147483647 w 1186"/>
              <a:gd name="T3" fmla="*/ 2147483647 h 1478"/>
              <a:gd name="T4" fmla="*/ 2147483647 w 1186"/>
              <a:gd name="T5" fmla="*/ 2147483647 h 1478"/>
              <a:gd name="T6" fmla="*/ 2147483647 w 1186"/>
              <a:gd name="T7" fmla="*/ 2147483647 h 1478"/>
              <a:gd name="T8" fmla="*/ 2147483647 w 1186"/>
              <a:gd name="T9" fmla="*/ 2147483647 h 1478"/>
              <a:gd name="T10" fmla="*/ 2147483647 w 1186"/>
              <a:gd name="T11" fmla="*/ 2147483647 h 1478"/>
              <a:gd name="T12" fmla="*/ 2147483647 w 1186"/>
              <a:gd name="T13" fmla="*/ 2147483647 h 1478"/>
              <a:gd name="T14" fmla="*/ 2147483647 w 1186"/>
              <a:gd name="T15" fmla="*/ 2147483647 h 1478"/>
              <a:gd name="T16" fmla="*/ 2147483647 w 1186"/>
              <a:gd name="T17" fmla="*/ 2147483647 h 1478"/>
              <a:gd name="T18" fmla="*/ 2147483647 w 1186"/>
              <a:gd name="T19" fmla="*/ 2147483647 h 1478"/>
              <a:gd name="T20" fmla="*/ 2147483647 w 1186"/>
              <a:gd name="T21" fmla="*/ 2147483647 h 1478"/>
              <a:gd name="T22" fmla="*/ 2147483647 w 1186"/>
              <a:gd name="T23" fmla="*/ 2147483647 h 1478"/>
              <a:gd name="T24" fmla="*/ 2147483647 w 1186"/>
              <a:gd name="T25" fmla="*/ 2147483647 h 14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86"/>
              <a:gd name="T40" fmla="*/ 0 h 1478"/>
              <a:gd name="T41" fmla="*/ 1186 w 1186"/>
              <a:gd name="T42" fmla="*/ 1478 h 14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86" h="1478">
                <a:moveTo>
                  <a:pt x="0" y="1478"/>
                </a:moveTo>
                <a:cubicBezTo>
                  <a:pt x="18" y="1459"/>
                  <a:pt x="76" y="1415"/>
                  <a:pt x="106" y="1362"/>
                </a:cubicBezTo>
                <a:cubicBezTo>
                  <a:pt x="136" y="1309"/>
                  <a:pt x="134" y="1344"/>
                  <a:pt x="178" y="1158"/>
                </a:cubicBezTo>
                <a:cubicBezTo>
                  <a:pt x="222" y="972"/>
                  <a:pt x="332" y="422"/>
                  <a:pt x="370" y="246"/>
                </a:cubicBezTo>
                <a:cubicBezTo>
                  <a:pt x="408" y="70"/>
                  <a:pt x="388" y="142"/>
                  <a:pt x="406" y="102"/>
                </a:cubicBezTo>
                <a:cubicBezTo>
                  <a:pt x="424" y="62"/>
                  <a:pt x="456" y="12"/>
                  <a:pt x="478" y="6"/>
                </a:cubicBezTo>
                <a:cubicBezTo>
                  <a:pt x="500" y="0"/>
                  <a:pt x="516" y="32"/>
                  <a:pt x="538" y="66"/>
                </a:cubicBezTo>
                <a:cubicBezTo>
                  <a:pt x="560" y="100"/>
                  <a:pt x="577" y="112"/>
                  <a:pt x="610" y="210"/>
                </a:cubicBezTo>
                <a:cubicBezTo>
                  <a:pt x="643" y="308"/>
                  <a:pt x="697" y="525"/>
                  <a:pt x="737" y="656"/>
                </a:cubicBezTo>
                <a:cubicBezTo>
                  <a:pt x="777" y="787"/>
                  <a:pt x="820" y="915"/>
                  <a:pt x="851" y="996"/>
                </a:cubicBezTo>
                <a:cubicBezTo>
                  <a:pt x="882" y="1077"/>
                  <a:pt x="894" y="1099"/>
                  <a:pt x="922" y="1146"/>
                </a:cubicBezTo>
                <a:cubicBezTo>
                  <a:pt x="950" y="1193"/>
                  <a:pt x="974" y="1240"/>
                  <a:pt x="1018" y="1278"/>
                </a:cubicBezTo>
                <a:cubicBezTo>
                  <a:pt x="1062" y="1316"/>
                  <a:pt x="1151" y="1354"/>
                  <a:pt x="1186" y="1374"/>
                </a:cubicBezTo>
              </a:path>
            </a:pathLst>
          </a:custGeom>
          <a:noFill/>
          <a:ln w="57150">
            <a:solidFill>
              <a:srgbClr val="CC0000"/>
            </a:solidFill>
            <a:round/>
            <a:headEnd/>
            <a:tailEnd/>
          </a:ln>
        </p:spPr>
        <p:txBody>
          <a:bodyPr/>
          <a:lstStyle/>
          <a:p>
            <a:endParaRPr lang="zh-CN" altLang="en-US"/>
          </a:p>
        </p:txBody>
      </p:sp>
      <p:sp>
        <p:nvSpPr>
          <p:cNvPr id="162855" name="Freeform 39"/>
          <p:cNvSpPr>
            <a:spLocks/>
          </p:cNvSpPr>
          <p:nvPr/>
        </p:nvSpPr>
        <p:spPr bwMode="auto">
          <a:xfrm>
            <a:off x="4976813" y="4154488"/>
            <a:ext cx="3735387" cy="1406525"/>
          </a:xfrm>
          <a:custGeom>
            <a:avLst/>
            <a:gdLst>
              <a:gd name="T0" fmla="*/ 0 w 2240"/>
              <a:gd name="T1" fmla="*/ 2147483647 h 870"/>
              <a:gd name="T2" fmla="*/ 2147483647 w 2240"/>
              <a:gd name="T3" fmla="*/ 2147483647 h 870"/>
              <a:gd name="T4" fmla="*/ 2147483647 w 2240"/>
              <a:gd name="T5" fmla="*/ 2147483647 h 870"/>
              <a:gd name="T6" fmla="*/ 2147483647 w 2240"/>
              <a:gd name="T7" fmla="*/ 2147483647 h 870"/>
              <a:gd name="T8" fmla="*/ 2147483647 w 2240"/>
              <a:gd name="T9" fmla="*/ 2147483647 h 870"/>
              <a:gd name="T10" fmla="*/ 2147483647 w 2240"/>
              <a:gd name="T11" fmla="*/ 2147483647 h 870"/>
              <a:gd name="T12" fmla="*/ 2147483647 w 2240"/>
              <a:gd name="T13" fmla="*/ 2147483647 h 870"/>
              <a:gd name="T14" fmla="*/ 2147483647 w 2240"/>
              <a:gd name="T15" fmla="*/ 2147483647 h 870"/>
              <a:gd name="T16" fmla="*/ 2147483647 w 2240"/>
              <a:gd name="T17" fmla="*/ 2147483647 h 870"/>
              <a:gd name="T18" fmla="*/ 2147483647 w 2240"/>
              <a:gd name="T19" fmla="*/ 2147483647 h 870"/>
              <a:gd name="T20" fmla="*/ 2147483647 w 2240"/>
              <a:gd name="T21" fmla="*/ 2147483647 h 870"/>
              <a:gd name="T22" fmla="*/ 2147483647 w 2240"/>
              <a:gd name="T23" fmla="*/ 2147483647 h 870"/>
              <a:gd name="T24" fmla="*/ 2147483647 w 2240"/>
              <a:gd name="T25" fmla="*/ 2147483647 h 870"/>
              <a:gd name="T26" fmla="*/ 2147483647 w 2240"/>
              <a:gd name="T27" fmla="*/ 2147483647 h 870"/>
              <a:gd name="T28" fmla="*/ 2147483647 w 2240"/>
              <a:gd name="T29" fmla="*/ 2147483647 h 870"/>
              <a:gd name="T30" fmla="*/ 2147483647 w 2240"/>
              <a:gd name="T31" fmla="*/ 2147483647 h 870"/>
              <a:gd name="T32" fmla="*/ 2147483647 w 2240"/>
              <a:gd name="T33" fmla="*/ 2147483647 h 870"/>
              <a:gd name="T34" fmla="*/ 2147483647 w 2240"/>
              <a:gd name="T35" fmla="*/ 2147483647 h 870"/>
              <a:gd name="T36" fmla="*/ 2147483647 w 2240"/>
              <a:gd name="T37" fmla="*/ 2147483647 h 8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40"/>
              <a:gd name="T58" fmla="*/ 0 h 870"/>
              <a:gd name="T59" fmla="*/ 2240 w 2240"/>
              <a:gd name="T60" fmla="*/ 870 h 8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40" h="870">
                <a:moveTo>
                  <a:pt x="0" y="870"/>
                </a:moveTo>
                <a:cubicBezTo>
                  <a:pt x="18" y="867"/>
                  <a:pt x="72" y="863"/>
                  <a:pt x="106" y="850"/>
                </a:cubicBezTo>
                <a:cubicBezTo>
                  <a:pt x="140" y="837"/>
                  <a:pt x="174" y="810"/>
                  <a:pt x="202" y="790"/>
                </a:cubicBezTo>
                <a:cubicBezTo>
                  <a:pt x="230" y="770"/>
                  <a:pt x="251" y="754"/>
                  <a:pt x="274" y="730"/>
                </a:cubicBezTo>
                <a:cubicBezTo>
                  <a:pt x="297" y="706"/>
                  <a:pt x="308" y="691"/>
                  <a:pt x="340" y="643"/>
                </a:cubicBezTo>
                <a:cubicBezTo>
                  <a:pt x="372" y="595"/>
                  <a:pt x="423" y="510"/>
                  <a:pt x="466" y="442"/>
                </a:cubicBezTo>
                <a:cubicBezTo>
                  <a:pt x="509" y="374"/>
                  <a:pt x="558" y="294"/>
                  <a:pt x="598" y="238"/>
                </a:cubicBezTo>
                <a:cubicBezTo>
                  <a:pt x="638" y="182"/>
                  <a:pt x="665" y="142"/>
                  <a:pt x="709" y="104"/>
                </a:cubicBezTo>
                <a:cubicBezTo>
                  <a:pt x="753" y="66"/>
                  <a:pt x="813" y="20"/>
                  <a:pt x="862" y="10"/>
                </a:cubicBezTo>
                <a:cubicBezTo>
                  <a:pt x="911" y="0"/>
                  <a:pt x="961" y="16"/>
                  <a:pt x="1006" y="46"/>
                </a:cubicBezTo>
                <a:cubicBezTo>
                  <a:pt x="1051" y="76"/>
                  <a:pt x="1092" y="142"/>
                  <a:pt x="1134" y="190"/>
                </a:cubicBezTo>
                <a:cubicBezTo>
                  <a:pt x="1176" y="238"/>
                  <a:pt x="1216" y="287"/>
                  <a:pt x="1258" y="334"/>
                </a:cubicBezTo>
                <a:cubicBezTo>
                  <a:pt x="1300" y="381"/>
                  <a:pt x="1347" y="431"/>
                  <a:pt x="1389" y="473"/>
                </a:cubicBezTo>
                <a:cubicBezTo>
                  <a:pt x="1431" y="515"/>
                  <a:pt x="1458" y="548"/>
                  <a:pt x="1510" y="586"/>
                </a:cubicBezTo>
                <a:cubicBezTo>
                  <a:pt x="1562" y="624"/>
                  <a:pt x="1647" y="670"/>
                  <a:pt x="1701" y="700"/>
                </a:cubicBezTo>
                <a:cubicBezTo>
                  <a:pt x="1755" y="730"/>
                  <a:pt x="1784" y="749"/>
                  <a:pt x="1834" y="766"/>
                </a:cubicBezTo>
                <a:cubicBezTo>
                  <a:pt x="1884" y="783"/>
                  <a:pt x="1949" y="794"/>
                  <a:pt x="2002" y="802"/>
                </a:cubicBezTo>
                <a:cubicBezTo>
                  <a:pt x="2055" y="810"/>
                  <a:pt x="2115" y="811"/>
                  <a:pt x="2155" y="813"/>
                </a:cubicBezTo>
                <a:cubicBezTo>
                  <a:pt x="2195" y="815"/>
                  <a:pt x="2226" y="813"/>
                  <a:pt x="2240" y="813"/>
                </a:cubicBezTo>
              </a:path>
            </a:pathLst>
          </a:custGeom>
          <a:noFill/>
          <a:ln w="57150">
            <a:solidFill>
              <a:srgbClr val="008000"/>
            </a:solidFill>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5"/>
                                        </p:tgtEl>
                                        <p:attrNameLst>
                                          <p:attrName>style.visibility</p:attrName>
                                        </p:attrNameLst>
                                      </p:cBhvr>
                                      <p:to>
                                        <p:strVal val="visible"/>
                                      </p:to>
                                    </p:set>
                                    <p:animEffect transition="in" filter="wipe(left)">
                                      <p:cBhvr>
                                        <p:cTn id="7" dur="500"/>
                                        <p:tgtEl>
                                          <p:spTgt spid="1628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24"/>
                                        </p:tgtEl>
                                        <p:attrNameLst>
                                          <p:attrName>style.visibility</p:attrName>
                                        </p:attrNameLst>
                                      </p:cBhvr>
                                      <p:to>
                                        <p:strVal val="visible"/>
                                      </p:to>
                                    </p:set>
                                    <p:animEffect transition="in" filter="wipe(left)">
                                      <p:cBhvr>
                                        <p:cTn id="12" dur="500"/>
                                        <p:tgtEl>
                                          <p:spTgt spid="162824"/>
                                        </p:tgtEl>
                                      </p:cBhvr>
                                    </p:animEffect>
                                  </p:childTnLst>
                                </p:cTn>
                              </p:par>
                              <p:par>
                                <p:cTn id="13" presetID="2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2850"/>
                                        </p:tgtEl>
                                        <p:attrNameLst>
                                          <p:attrName>style.visibility</p:attrName>
                                        </p:attrNameLst>
                                      </p:cBhvr>
                                      <p:to>
                                        <p:strVal val="visible"/>
                                      </p:to>
                                    </p:set>
                                    <p:animEffect transition="in" filter="wipe(left)">
                                      <p:cBhvr>
                                        <p:cTn id="18" dur="1000"/>
                                        <p:tgtEl>
                                          <p:spTgt spid="162850"/>
                                        </p:tgtEl>
                                      </p:cBhvr>
                                    </p:animEffect>
                                  </p:childTnLst>
                                </p:cTn>
                              </p:par>
                              <p:par>
                                <p:cTn id="19" presetID="2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62826"/>
                                        </p:tgtEl>
                                        <p:attrNameLst>
                                          <p:attrName>style.visibility</p:attrName>
                                        </p:attrNameLst>
                                      </p:cBhvr>
                                      <p:to>
                                        <p:strVal val="visible"/>
                                      </p:to>
                                    </p:set>
                                    <p:animEffect transition="in" filter="wipe(down)">
                                      <p:cBhvr>
                                        <p:cTn id="24" dur="500"/>
                                        <p:tgtEl>
                                          <p:spTgt spid="162826"/>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62835"/>
                                        </p:tgtEl>
                                        <p:attrNameLst>
                                          <p:attrName>style.visibility</p:attrName>
                                        </p:attrNameLst>
                                      </p:cBhvr>
                                      <p:to>
                                        <p:strVal val="visible"/>
                                      </p:to>
                                    </p:set>
                                    <p:animEffect transition="in" filter="wipe(left)">
                                      <p:cBhvr>
                                        <p:cTn id="28" dur="500"/>
                                        <p:tgtEl>
                                          <p:spTgt spid="162835"/>
                                        </p:tgtEl>
                                      </p:cBhvr>
                                    </p:animEffect>
                                  </p:childTnLst>
                                </p:cTn>
                              </p:par>
                              <p:par>
                                <p:cTn id="29" presetID="22" presetClass="entr" presetSubtype="8" fill="hold" nodeType="withEffect">
                                  <p:stCondLst>
                                    <p:cond delay="0"/>
                                  </p:stCondLst>
                                  <p:childTnLst>
                                    <p:set>
                                      <p:cBhvr>
                                        <p:cTn id="30" dur="1" fill="hold">
                                          <p:stCondLst>
                                            <p:cond delay="0"/>
                                          </p:stCondLst>
                                        </p:cTn>
                                        <p:tgtEl>
                                          <p:spTgt spid="162836"/>
                                        </p:tgtEl>
                                        <p:attrNameLst>
                                          <p:attrName>style.visibility</p:attrName>
                                        </p:attrNameLst>
                                      </p:cBhvr>
                                      <p:to>
                                        <p:strVal val="visible"/>
                                      </p:to>
                                    </p:set>
                                    <p:animEffect transition="in" filter="wipe(left)">
                                      <p:cBhvr>
                                        <p:cTn id="31" dur="500"/>
                                        <p:tgtEl>
                                          <p:spTgt spid="16283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2818"/>
                                        </p:tgtEl>
                                        <p:attrNameLst>
                                          <p:attrName>style.visibility</p:attrName>
                                        </p:attrNameLst>
                                      </p:cBhvr>
                                      <p:to>
                                        <p:strVal val="visible"/>
                                      </p:to>
                                    </p:set>
                                    <p:animEffect transition="in" filter="wipe(left)">
                                      <p:cBhvr>
                                        <p:cTn id="36" dur="500"/>
                                        <p:tgtEl>
                                          <p:spTgt spid="162818"/>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62822"/>
                                        </p:tgtEl>
                                        <p:attrNameLst>
                                          <p:attrName>style.visibility</p:attrName>
                                        </p:attrNameLst>
                                      </p:cBhvr>
                                      <p:to>
                                        <p:strVal val="visible"/>
                                      </p:to>
                                    </p:set>
                                    <p:animEffect transition="in" filter="wipe(left)">
                                      <p:cBhvr>
                                        <p:cTn id="40" dur="500"/>
                                        <p:tgtEl>
                                          <p:spTgt spid="162822"/>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62819"/>
                                        </p:tgtEl>
                                        <p:attrNameLst>
                                          <p:attrName>style.visibility</p:attrName>
                                        </p:attrNameLst>
                                      </p:cBhvr>
                                      <p:to>
                                        <p:strVal val="visible"/>
                                      </p:to>
                                    </p:set>
                                    <p:animEffect transition="in" filter="wipe(left)">
                                      <p:cBhvr>
                                        <p:cTn id="44" dur="500"/>
                                        <p:tgtEl>
                                          <p:spTgt spid="16281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62851"/>
                                        </p:tgtEl>
                                        <p:attrNameLst>
                                          <p:attrName>style.visibility</p:attrName>
                                        </p:attrNameLst>
                                      </p:cBhvr>
                                      <p:to>
                                        <p:strVal val="visible"/>
                                      </p:to>
                                    </p:set>
                                    <p:animEffect transition="in" filter="wipe(left)">
                                      <p:cBhvr>
                                        <p:cTn id="49" dur="1000"/>
                                        <p:tgtEl>
                                          <p:spTgt spid="16285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62834"/>
                                        </p:tgtEl>
                                        <p:attrNameLst>
                                          <p:attrName>style.visibility</p:attrName>
                                        </p:attrNameLst>
                                      </p:cBhvr>
                                      <p:to>
                                        <p:strVal val="visible"/>
                                      </p:to>
                                    </p:set>
                                    <p:animEffect transition="in" filter="wipe(down)">
                                      <p:cBhvr>
                                        <p:cTn id="54" dur="500"/>
                                        <p:tgtEl>
                                          <p:spTgt spid="162834"/>
                                        </p:tgtEl>
                                      </p:cBhvr>
                                    </p:animEffect>
                                  </p:childTnLst>
                                </p:cTn>
                              </p:par>
                            </p:childTnLst>
                          </p:cTn>
                        </p:par>
                        <p:par>
                          <p:cTn id="55" fill="hold">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162838"/>
                                        </p:tgtEl>
                                        <p:attrNameLst>
                                          <p:attrName>style.visibility</p:attrName>
                                        </p:attrNameLst>
                                      </p:cBhvr>
                                      <p:to>
                                        <p:strVal val="visible"/>
                                      </p:to>
                                    </p:set>
                                    <p:animEffect transition="in" filter="wipe(down)">
                                      <p:cBhvr>
                                        <p:cTn id="58" dur="500"/>
                                        <p:tgtEl>
                                          <p:spTgt spid="162838"/>
                                        </p:tgtEl>
                                      </p:cBhvr>
                                    </p:animEffect>
                                  </p:childTnLst>
                                </p:cTn>
                              </p:par>
                              <p:par>
                                <p:cTn id="59" presetID="22" presetClass="entr" presetSubtype="8" fill="hold" nodeType="withEffect">
                                  <p:stCondLst>
                                    <p:cond delay="0"/>
                                  </p:stCondLst>
                                  <p:childTnLst>
                                    <p:set>
                                      <p:cBhvr>
                                        <p:cTn id="60" dur="1" fill="hold">
                                          <p:stCondLst>
                                            <p:cond delay="0"/>
                                          </p:stCondLst>
                                        </p:cTn>
                                        <p:tgtEl>
                                          <p:spTgt spid="162837"/>
                                        </p:tgtEl>
                                        <p:attrNameLst>
                                          <p:attrName>style.visibility</p:attrName>
                                        </p:attrNameLst>
                                      </p:cBhvr>
                                      <p:to>
                                        <p:strVal val="visible"/>
                                      </p:to>
                                    </p:set>
                                    <p:animEffect transition="in" filter="wipe(left)">
                                      <p:cBhvr>
                                        <p:cTn id="61" dur="500"/>
                                        <p:tgtEl>
                                          <p:spTgt spid="16283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2820"/>
                                        </p:tgtEl>
                                        <p:attrNameLst>
                                          <p:attrName>style.visibility</p:attrName>
                                        </p:attrNameLst>
                                      </p:cBhvr>
                                      <p:to>
                                        <p:strVal val="visible"/>
                                      </p:to>
                                    </p:set>
                                    <p:animEffect transition="in" filter="wipe(left)">
                                      <p:cBhvr>
                                        <p:cTn id="66" dur="500"/>
                                        <p:tgtEl>
                                          <p:spTgt spid="162820"/>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162823"/>
                                        </p:tgtEl>
                                        <p:attrNameLst>
                                          <p:attrName>style.visibility</p:attrName>
                                        </p:attrNameLst>
                                      </p:cBhvr>
                                      <p:to>
                                        <p:strVal val="visible"/>
                                      </p:to>
                                    </p:set>
                                    <p:animEffect transition="in" filter="wipe(left)">
                                      <p:cBhvr>
                                        <p:cTn id="70" dur="500"/>
                                        <p:tgtEl>
                                          <p:spTgt spid="162823"/>
                                        </p:tgtEl>
                                      </p:cBhvr>
                                    </p:animEffect>
                                  </p:childTnLst>
                                </p:cTn>
                              </p:par>
                            </p:childTnLst>
                          </p:cTn>
                        </p:par>
                        <p:par>
                          <p:cTn id="71" fill="hold">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162821"/>
                                        </p:tgtEl>
                                        <p:attrNameLst>
                                          <p:attrName>style.visibility</p:attrName>
                                        </p:attrNameLst>
                                      </p:cBhvr>
                                      <p:to>
                                        <p:strVal val="visible"/>
                                      </p:to>
                                    </p:set>
                                    <p:animEffect transition="in" filter="wipe(left)">
                                      <p:cBhvr>
                                        <p:cTn id="74" dur="500"/>
                                        <p:tgtEl>
                                          <p:spTgt spid="16282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wipe(left)">
                                      <p:cBhvr>
                                        <p:cTn id="79" dur="500"/>
                                        <p:tgtEl>
                                          <p:spTgt spid="4"/>
                                        </p:tgtEl>
                                      </p:cBhvr>
                                    </p:animEffect>
                                  </p:childTnLst>
                                </p:cTn>
                              </p:par>
                              <p:par>
                                <p:cTn id="80" presetID="22" presetClass="entr" presetSubtype="8" fill="hold" nodeType="with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wipe(left)">
                                      <p:cBhvr>
                                        <p:cTn id="82" dur="500"/>
                                        <p:tgtEl>
                                          <p:spTgt spid="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62855"/>
                                        </p:tgtEl>
                                        <p:attrNameLst>
                                          <p:attrName>style.visibility</p:attrName>
                                        </p:attrNameLst>
                                      </p:cBhvr>
                                      <p:to>
                                        <p:strVal val="visible"/>
                                      </p:to>
                                    </p:set>
                                    <p:animEffect transition="in" filter="wipe(left)">
                                      <p:cBhvr>
                                        <p:cTn id="87" dur="1000"/>
                                        <p:tgtEl>
                                          <p:spTgt spid="162855"/>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162839"/>
                                        </p:tgtEl>
                                        <p:attrNameLst>
                                          <p:attrName>style.visibility</p:attrName>
                                        </p:attrNameLst>
                                      </p:cBhvr>
                                      <p:to>
                                        <p:strVal val="visible"/>
                                      </p:to>
                                    </p:set>
                                    <p:animEffect transition="in" filter="wipe(left)">
                                      <p:cBhvr>
                                        <p:cTn id="90" dur="500"/>
                                        <p:tgtEl>
                                          <p:spTgt spid="162839"/>
                                        </p:tgtEl>
                                      </p:cBhvr>
                                    </p:animEffect>
                                  </p:childTnLst>
                                </p:cTn>
                              </p:par>
                              <p:par>
                                <p:cTn id="91" presetID="22" presetClass="entr" presetSubtype="8" fill="hold" nodeType="withEffect">
                                  <p:stCondLst>
                                    <p:cond delay="0"/>
                                  </p:stCondLst>
                                  <p:childTnLst>
                                    <p:set>
                                      <p:cBhvr>
                                        <p:cTn id="92" dur="1" fill="hold">
                                          <p:stCondLst>
                                            <p:cond delay="0"/>
                                          </p:stCondLst>
                                        </p:cTn>
                                        <p:tgtEl>
                                          <p:spTgt spid="162848"/>
                                        </p:tgtEl>
                                        <p:attrNameLst>
                                          <p:attrName>style.visibility</p:attrName>
                                        </p:attrNameLst>
                                      </p:cBhvr>
                                      <p:to>
                                        <p:strVal val="visible"/>
                                      </p:to>
                                    </p:set>
                                    <p:animEffect transition="in" filter="wipe(left)">
                                      <p:cBhvr>
                                        <p:cTn id="93" dur="500"/>
                                        <p:tgtEl>
                                          <p:spTgt spid="16284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62854"/>
                                        </p:tgtEl>
                                        <p:attrNameLst>
                                          <p:attrName>style.visibility</p:attrName>
                                        </p:attrNameLst>
                                      </p:cBhvr>
                                      <p:to>
                                        <p:strVal val="visible"/>
                                      </p:to>
                                    </p:set>
                                    <p:animEffect transition="in" filter="wipe(left)">
                                      <p:cBhvr>
                                        <p:cTn id="98" dur="1000"/>
                                        <p:tgtEl>
                                          <p:spTgt spid="16285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62847"/>
                                        </p:tgtEl>
                                        <p:attrNameLst>
                                          <p:attrName>style.visibility</p:attrName>
                                        </p:attrNameLst>
                                      </p:cBhvr>
                                      <p:to>
                                        <p:strVal val="visible"/>
                                      </p:to>
                                    </p:set>
                                    <p:animEffect transition="in" filter="wipe(left)">
                                      <p:cBhvr>
                                        <p:cTn id="103" dur="500"/>
                                        <p:tgtEl>
                                          <p:spTgt spid="162847"/>
                                        </p:tgtEl>
                                      </p:cBhvr>
                                    </p:animEffect>
                                  </p:childTnLst>
                                </p:cTn>
                              </p:par>
                              <p:par>
                                <p:cTn id="104" presetID="22" presetClass="entr" presetSubtype="8" fill="hold" nodeType="withEffect">
                                  <p:stCondLst>
                                    <p:cond delay="0"/>
                                  </p:stCondLst>
                                  <p:childTnLst>
                                    <p:set>
                                      <p:cBhvr>
                                        <p:cTn id="105" dur="1" fill="hold">
                                          <p:stCondLst>
                                            <p:cond delay="0"/>
                                          </p:stCondLst>
                                        </p:cTn>
                                        <p:tgtEl>
                                          <p:spTgt spid="162849"/>
                                        </p:tgtEl>
                                        <p:attrNameLst>
                                          <p:attrName>style.visibility</p:attrName>
                                        </p:attrNameLst>
                                      </p:cBhvr>
                                      <p:to>
                                        <p:strVal val="visible"/>
                                      </p:to>
                                    </p:set>
                                    <p:animEffect transition="in" filter="wipe(left)">
                                      <p:cBhvr>
                                        <p:cTn id="106" dur="500"/>
                                        <p:tgtEl>
                                          <p:spTgt spid="162849"/>
                                        </p:tgtEl>
                                      </p:cBhvr>
                                    </p:animEffect>
                                  </p:childTnLst>
                                </p:cTn>
                              </p:par>
                            </p:childTnLst>
                          </p:cTn>
                        </p:par>
                        <p:par>
                          <p:cTn id="107" fill="hold">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162852"/>
                                        </p:tgtEl>
                                        <p:attrNameLst>
                                          <p:attrName>style.visibility</p:attrName>
                                        </p:attrNameLst>
                                      </p:cBhvr>
                                      <p:to>
                                        <p:strVal val="visible"/>
                                      </p:to>
                                    </p:set>
                                    <p:animEffect transition="in" filter="wipe(left)">
                                      <p:cBhvr>
                                        <p:cTn id="110" dur="500"/>
                                        <p:tgtEl>
                                          <p:spTgt spid="162852"/>
                                        </p:tgtEl>
                                      </p:cBhvr>
                                    </p:animEffect>
                                  </p:childTnLst>
                                </p:cTn>
                              </p:par>
                            </p:childTnLst>
                          </p:cTn>
                        </p:par>
                        <p:par>
                          <p:cTn id="111" fill="hold">
                            <p:stCondLst>
                              <p:cond delay="1000"/>
                            </p:stCondLst>
                            <p:childTnLst>
                              <p:par>
                                <p:cTn id="112" presetID="22" presetClass="entr" presetSubtype="4" fill="hold" grpId="0" nodeType="afterEffect">
                                  <p:stCondLst>
                                    <p:cond delay="0"/>
                                  </p:stCondLst>
                                  <p:childTnLst>
                                    <p:set>
                                      <p:cBhvr>
                                        <p:cTn id="113" dur="1" fill="hold">
                                          <p:stCondLst>
                                            <p:cond delay="0"/>
                                          </p:stCondLst>
                                        </p:cTn>
                                        <p:tgtEl>
                                          <p:spTgt spid="162853"/>
                                        </p:tgtEl>
                                        <p:attrNameLst>
                                          <p:attrName>style.visibility</p:attrName>
                                        </p:attrNameLst>
                                      </p:cBhvr>
                                      <p:to>
                                        <p:strVal val="visible"/>
                                      </p:to>
                                    </p:set>
                                    <p:animEffect transition="in" filter="wipe(down)">
                                      <p:cBhvr>
                                        <p:cTn id="114" dur="500"/>
                                        <p:tgtEl>
                                          <p:spTgt spid="16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19" grpId="0"/>
      <p:bldP spid="162820" grpId="0"/>
      <p:bldP spid="162821" grpId="0"/>
      <p:bldP spid="162822" grpId="0"/>
      <p:bldP spid="162823" grpId="0"/>
      <p:bldP spid="162824" grpId="0"/>
      <p:bldP spid="162825" grpId="0"/>
      <p:bldP spid="162826" grpId="0"/>
      <p:bldP spid="162834" grpId="0"/>
      <p:bldP spid="162835" grpId="0" animBg="1"/>
      <p:bldP spid="162838" grpId="0" animBg="1"/>
      <p:bldP spid="162839" grpId="0"/>
      <p:bldP spid="162847" grpId="0"/>
      <p:bldP spid="162850" grpId="0" animBg="1"/>
      <p:bldP spid="162851" grpId="0" animBg="1"/>
      <p:bldP spid="162852" grpId="0" animBg="1"/>
      <p:bldP spid="162853" grpId="0" animBg="1"/>
      <p:bldP spid="162854" grpId="0" animBg="1"/>
      <p:bldP spid="16285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611188" y="476250"/>
            <a:ext cx="6561137" cy="549275"/>
          </a:xfrm>
          <a:prstGeom prst="rect">
            <a:avLst/>
          </a:prstGeom>
          <a:noFill/>
          <a:ln w="9525">
            <a:noFill/>
            <a:miter lim="800000"/>
            <a:headEnd/>
            <a:tailEnd/>
          </a:ln>
        </p:spPr>
        <p:txBody>
          <a:bodyPr>
            <a:spAutoFit/>
          </a:bodyPr>
          <a:lstStyle/>
          <a:p>
            <a:pPr>
              <a:lnSpc>
                <a:spcPct val="125000"/>
              </a:lnSpc>
            </a:pPr>
            <a:r>
              <a:rPr kumimoji="1" lang="zh-CN" altLang="en-US" sz="2400" b="1">
                <a:latin typeface="宋体" charset="-122"/>
              </a:rPr>
              <a:t>氦气的速率分布曲线如图所示。</a:t>
            </a:r>
          </a:p>
        </p:txBody>
      </p:sp>
      <p:sp>
        <p:nvSpPr>
          <p:cNvPr id="75779" name="Text Box 3"/>
          <p:cNvSpPr txBox="1">
            <a:spLocks noChangeArrowheads="1"/>
          </p:cNvSpPr>
          <p:nvPr/>
        </p:nvSpPr>
        <p:spPr bwMode="auto">
          <a:xfrm>
            <a:off x="250825" y="2376488"/>
            <a:ext cx="488950" cy="457200"/>
          </a:xfrm>
          <a:prstGeom prst="rect">
            <a:avLst/>
          </a:prstGeom>
          <a:noFill/>
          <a:ln w="9525">
            <a:noFill/>
            <a:miter lim="800000"/>
            <a:headEnd/>
            <a:tailEnd/>
          </a:ln>
        </p:spPr>
        <p:txBody>
          <a:bodyPr wrap="none">
            <a:spAutoFit/>
          </a:bodyPr>
          <a:lstStyle/>
          <a:p>
            <a:r>
              <a:rPr lang="zh-CN" altLang="en-US" sz="2400" b="1">
                <a:solidFill>
                  <a:srgbClr val="FF0000"/>
                </a:solidFill>
                <a:latin typeface="宋体" charset="-122"/>
              </a:rPr>
              <a:t>解</a:t>
            </a:r>
          </a:p>
        </p:txBody>
      </p:sp>
      <p:sp>
        <p:nvSpPr>
          <p:cNvPr id="75780" name="Text Box 4"/>
          <p:cNvSpPr txBox="1">
            <a:spLocks noChangeArrowheads="1"/>
          </p:cNvSpPr>
          <p:nvPr/>
        </p:nvSpPr>
        <p:spPr bwMode="auto">
          <a:xfrm>
            <a:off x="107950" y="550863"/>
            <a:ext cx="488950" cy="457200"/>
          </a:xfrm>
          <a:prstGeom prst="rect">
            <a:avLst/>
          </a:prstGeom>
          <a:noFill/>
          <a:ln w="9525">
            <a:noFill/>
            <a:miter lim="800000"/>
            <a:headEnd/>
            <a:tailEnd/>
          </a:ln>
        </p:spPr>
        <p:txBody>
          <a:bodyPr wrap="none">
            <a:spAutoFit/>
          </a:bodyPr>
          <a:lstStyle/>
          <a:p>
            <a:r>
              <a:rPr lang="zh-CN" altLang="en-US" sz="2400" b="1">
                <a:solidFill>
                  <a:srgbClr val="FF0000"/>
                </a:solidFill>
                <a:latin typeface="宋体" charset="-122"/>
              </a:rPr>
              <a:t>例</a:t>
            </a:r>
          </a:p>
        </p:txBody>
      </p:sp>
      <p:sp>
        <p:nvSpPr>
          <p:cNvPr id="75781" name="Text Box 5"/>
          <p:cNvSpPr txBox="1">
            <a:spLocks noChangeArrowheads="1"/>
          </p:cNvSpPr>
          <p:nvPr/>
        </p:nvSpPr>
        <p:spPr bwMode="auto">
          <a:xfrm>
            <a:off x="107950" y="1095375"/>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宋体" charset="-122"/>
              </a:rPr>
              <a:t>求</a:t>
            </a:r>
          </a:p>
        </p:txBody>
      </p:sp>
      <p:sp>
        <p:nvSpPr>
          <p:cNvPr id="75782" name="Rectangle 6"/>
          <p:cNvSpPr>
            <a:spLocks noChangeArrowheads="1"/>
          </p:cNvSpPr>
          <p:nvPr/>
        </p:nvSpPr>
        <p:spPr bwMode="auto">
          <a:xfrm>
            <a:off x="600075" y="1619250"/>
            <a:ext cx="7264400"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(2)  </a:t>
            </a:r>
            <a:r>
              <a:rPr kumimoji="1" lang="zh-CN" altLang="en-US" sz="2400" b="1">
                <a:latin typeface="Times New Roman" pitchFamily="18" charset="0"/>
              </a:rPr>
              <a:t>氢气在该温度时的最概然速率和方均根速率。</a:t>
            </a:r>
          </a:p>
        </p:txBody>
      </p:sp>
      <p:sp>
        <p:nvSpPr>
          <p:cNvPr id="75783" name="Line 7"/>
          <p:cNvSpPr>
            <a:spLocks noChangeShapeType="1"/>
          </p:cNvSpPr>
          <p:nvPr/>
        </p:nvSpPr>
        <p:spPr bwMode="auto">
          <a:xfrm flipH="1">
            <a:off x="6156325" y="4221163"/>
            <a:ext cx="17463" cy="1435100"/>
          </a:xfrm>
          <a:prstGeom prst="line">
            <a:avLst/>
          </a:prstGeom>
          <a:noFill/>
          <a:ln w="28575">
            <a:solidFill>
              <a:srgbClr val="FF0000"/>
            </a:solidFill>
            <a:prstDash val="dash"/>
            <a:round/>
            <a:headEnd/>
            <a:tailEnd/>
          </a:ln>
        </p:spPr>
        <p:txBody>
          <a:bodyPr/>
          <a:lstStyle/>
          <a:p>
            <a:endParaRPr lang="zh-CN" altLang="en-US"/>
          </a:p>
        </p:txBody>
      </p:sp>
      <p:graphicFrame>
        <p:nvGraphicFramePr>
          <p:cNvPr id="75784" name="Object 8"/>
          <p:cNvGraphicFramePr>
            <a:graphicFrameLocks noChangeAspect="1"/>
          </p:cNvGraphicFramePr>
          <p:nvPr/>
        </p:nvGraphicFramePr>
        <p:xfrm>
          <a:off x="5875338" y="5734050"/>
          <a:ext cx="641350" cy="284163"/>
        </p:xfrm>
        <a:graphic>
          <a:graphicData uri="http://schemas.openxmlformats.org/presentationml/2006/ole">
            <p:oleObj spid="_x0000_s50178" name="公式" r:id="rId4" imgW="711000" imgH="317160" progId="Equation.3">
              <p:embed/>
            </p:oleObj>
          </a:graphicData>
        </a:graphic>
      </p:graphicFrame>
      <p:graphicFrame>
        <p:nvGraphicFramePr>
          <p:cNvPr id="75785" name="Object 9"/>
          <p:cNvGraphicFramePr>
            <a:graphicFrameLocks noChangeAspect="1"/>
          </p:cNvGraphicFramePr>
          <p:nvPr/>
        </p:nvGraphicFramePr>
        <p:xfrm>
          <a:off x="6551613" y="4238625"/>
          <a:ext cx="414337" cy="274638"/>
        </p:xfrm>
        <a:graphic>
          <a:graphicData uri="http://schemas.openxmlformats.org/presentationml/2006/ole">
            <p:oleObj spid="_x0000_s50179" name="公式" r:id="rId5" imgW="457200" imgH="304560" progId="Equation.3">
              <p:embed/>
            </p:oleObj>
          </a:graphicData>
        </a:graphic>
      </p:graphicFrame>
      <p:graphicFrame>
        <p:nvGraphicFramePr>
          <p:cNvPr id="75786" name="Object 10"/>
          <p:cNvGraphicFramePr>
            <a:graphicFrameLocks noChangeAspect="1"/>
          </p:cNvGraphicFramePr>
          <p:nvPr/>
        </p:nvGraphicFramePr>
        <p:xfrm>
          <a:off x="7175500" y="4665663"/>
          <a:ext cx="377825" cy="376237"/>
        </p:xfrm>
        <a:graphic>
          <a:graphicData uri="http://schemas.openxmlformats.org/presentationml/2006/ole">
            <p:oleObj spid="_x0000_s50180" name="公式" r:id="rId6" imgW="419040" imgH="419040" progId="Equation.3">
              <p:embed/>
            </p:oleObj>
          </a:graphicData>
        </a:graphic>
      </p:graphicFrame>
      <p:graphicFrame>
        <p:nvGraphicFramePr>
          <p:cNvPr id="75787" name="Object 11"/>
          <p:cNvGraphicFramePr>
            <a:graphicFrameLocks noChangeAspect="1"/>
          </p:cNvGraphicFramePr>
          <p:nvPr/>
        </p:nvGraphicFramePr>
        <p:xfrm>
          <a:off x="2473325" y="2398713"/>
          <a:ext cx="2760663" cy="798512"/>
        </p:xfrm>
        <a:graphic>
          <a:graphicData uri="http://schemas.openxmlformats.org/presentationml/2006/ole">
            <p:oleObj spid="_x0000_s50181" name="公式" r:id="rId7" imgW="1536480" imgH="444240" progId="Equation.3">
              <p:embed/>
            </p:oleObj>
          </a:graphicData>
        </a:graphic>
      </p:graphicFrame>
      <p:graphicFrame>
        <p:nvGraphicFramePr>
          <p:cNvPr id="75788" name="Object 12"/>
          <p:cNvGraphicFramePr>
            <a:graphicFrameLocks noChangeAspect="1"/>
          </p:cNvGraphicFramePr>
          <p:nvPr/>
        </p:nvGraphicFramePr>
        <p:xfrm>
          <a:off x="876300" y="3551238"/>
          <a:ext cx="1824038" cy="798512"/>
        </p:xfrm>
        <a:graphic>
          <a:graphicData uri="http://schemas.openxmlformats.org/presentationml/2006/ole">
            <p:oleObj spid="_x0000_s50182" name="公式" r:id="rId8" imgW="1015920" imgH="444240" progId="Equation.3">
              <p:embed/>
            </p:oleObj>
          </a:graphicData>
        </a:graphic>
      </p:graphicFrame>
      <p:graphicFrame>
        <p:nvGraphicFramePr>
          <p:cNvPr id="75789" name="Object 13"/>
          <p:cNvGraphicFramePr>
            <a:graphicFrameLocks noChangeAspect="1"/>
          </p:cNvGraphicFramePr>
          <p:nvPr/>
        </p:nvGraphicFramePr>
        <p:xfrm>
          <a:off x="2700338" y="3740150"/>
          <a:ext cx="1809750" cy="409575"/>
        </p:xfrm>
        <a:graphic>
          <a:graphicData uri="http://schemas.openxmlformats.org/presentationml/2006/ole">
            <p:oleObj spid="_x0000_s50183" name="公式" r:id="rId9" imgW="1002960" imgH="228600" progId="Equation.3">
              <p:embed/>
            </p:oleObj>
          </a:graphicData>
        </a:graphic>
      </p:graphicFrame>
      <p:graphicFrame>
        <p:nvGraphicFramePr>
          <p:cNvPr id="75790" name="Object 14"/>
          <p:cNvGraphicFramePr>
            <a:graphicFrameLocks noChangeAspect="1"/>
          </p:cNvGraphicFramePr>
          <p:nvPr/>
        </p:nvGraphicFramePr>
        <p:xfrm>
          <a:off x="827088" y="4868863"/>
          <a:ext cx="2076450" cy="798512"/>
        </p:xfrm>
        <a:graphic>
          <a:graphicData uri="http://schemas.openxmlformats.org/presentationml/2006/ole">
            <p:oleObj spid="_x0000_s50184" name="公式" r:id="rId10" imgW="1155600" imgH="444240" progId="Equation.3">
              <p:embed/>
            </p:oleObj>
          </a:graphicData>
        </a:graphic>
      </p:graphicFrame>
      <p:graphicFrame>
        <p:nvGraphicFramePr>
          <p:cNvPr id="75791" name="Object 15"/>
          <p:cNvGraphicFramePr>
            <a:graphicFrameLocks noChangeAspect="1"/>
          </p:cNvGraphicFramePr>
          <p:nvPr/>
        </p:nvGraphicFramePr>
        <p:xfrm>
          <a:off x="2921000" y="5084763"/>
          <a:ext cx="1809750" cy="414337"/>
        </p:xfrm>
        <a:graphic>
          <a:graphicData uri="http://schemas.openxmlformats.org/presentationml/2006/ole">
            <p:oleObj spid="_x0000_s50185" name="公式" r:id="rId11" imgW="1002960" imgH="228600" progId="Equation.3">
              <p:embed/>
            </p:oleObj>
          </a:graphicData>
        </a:graphic>
      </p:graphicFrame>
      <p:graphicFrame>
        <p:nvGraphicFramePr>
          <p:cNvPr id="75792" name="Object 16"/>
          <p:cNvGraphicFramePr>
            <a:graphicFrameLocks noChangeAspect="1"/>
          </p:cNvGraphicFramePr>
          <p:nvPr/>
        </p:nvGraphicFramePr>
        <p:xfrm>
          <a:off x="971550" y="2398713"/>
          <a:ext cx="1460500" cy="798512"/>
        </p:xfrm>
        <a:graphic>
          <a:graphicData uri="http://schemas.openxmlformats.org/presentationml/2006/ole">
            <p:oleObj spid="_x0000_s50186" name="公式" r:id="rId12" imgW="812520" imgH="444240" progId="Equation.3">
              <p:embed/>
            </p:oleObj>
          </a:graphicData>
        </a:graphic>
      </p:graphicFrame>
      <p:sp>
        <p:nvSpPr>
          <p:cNvPr id="75793" name="Rectangle 17"/>
          <p:cNvSpPr>
            <a:spLocks noChangeArrowheads="1"/>
          </p:cNvSpPr>
          <p:nvPr/>
        </p:nvSpPr>
        <p:spPr bwMode="auto">
          <a:xfrm>
            <a:off x="600075" y="1114425"/>
            <a:ext cx="8748713"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(1)  </a:t>
            </a:r>
            <a:r>
              <a:rPr kumimoji="1" lang="zh-CN" altLang="en-US" sz="2400" b="1">
                <a:latin typeface="Times New Roman" pitchFamily="18" charset="0"/>
              </a:rPr>
              <a:t>试在图上画出同温度下氢气的速率分布曲线的大致情况； </a:t>
            </a:r>
          </a:p>
        </p:txBody>
      </p:sp>
      <p:sp>
        <p:nvSpPr>
          <p:cNvPr id="75794" name="Text Box 18"/>
          <p:cNvSpPr txBox="1">
            <a:spLocks noChangeArrowheads="1"/>
          </p:cNvSpPr>
          <p:nvPr/>
        </p:nvSpPr>
        <p:spPr bwMode="auto">
          <a:xfrm>
            <a:off x="728663" y="2349500"/>
            <a:ext cx="539750" cy="457200"/>
          </a:xfrm>
          <a:prstGeom prst="rect">
            <a:avLst/>
          </a:prstGeom>
          <a:noFill/>
          <a:ln w="9525" algn="ctr">
            <a:noFill/>
            <a:miter lim="800000"/>
            <a:headEnd/>
            <a:tailEnd/>
          </a:ln>
        </p:spPr>
        <p:txBody>
          <a:bodyPr wrap="none">
            <a:spAutoFit/>
          </a:bodyPr>
          <a:lstStyle/>
          <a:p>
            <a:r>
              <a:rPr kumimoji="1" lang="en-US" altLang="zh-CN" sz="2400" b="1">
                <a:solidFill>
                  <a:schemeClr val="bg1"/>
                </a:solidFill>
                <a:latin typeface="Times New Roman" pitchFamily="18" charset="0"/>
                <a:ea typeface="楷体_GB2312" pitchFamily="49" charset="-122"/>
              </a:rPr>
              <a:t>(2)</a:t>
            </a:r>
          </a:p>
        </p:txBody>
      </p:sp>
      <p:sp>
        <p:nvSpPr>
          <p:cNvPr id="75795" name="Freeform 19"/>
          <p:cNvSpPr>
            <a:spLocks/>
          </p:cNvSpPr>
          <p:nvPr/>
        </p:nvSpPr>
        <p:spPr bwMode="auto">
          <a:xfrm>
            <a:off x="5343525" y="4186238"/>
            <a:ext cx="2097088" cy="1443037"/>
          </a:xfrm>
          <a:custGeom>
            <a:avLst/>
            <a:gdLst>
              <a:gd name="T0" fmla="*/ 0 w 1321"/>
              <a:gd name="T1" fmla="*/ 2147483647 h 909"/>
              <a:gd name="T2" fmla="*/ 2147483647 w 1321"/>
              <a:gd name="T3" fmla="*/ 2147483647 h 909"/>
              <a:gd name="T4" fmla="*/ 2147483647 w 1321"/>
              <a:gd name="T5" fmla="*/ 2147483647 h 909"/>
              <a:gd name="T6" fmla="*/ 2147483647 w 1321"/>
              <a:gd name="T7" fmla="*/ 2147483647 h 909"/>
              <a:gd name="T8" fmla="*/ 2147483647 w 1321"/>
              <a:gd name="T9" fmla="*/ 2147483647 h 909"/>
              <a:gd name="T10" fmla="*/ 2147483647 w 1321"/>
              <a:gd name="T11" fmla="*/ 2147483647 h 909"/>
              <a:gd name="T12" fmla="*/ 2147483647 w 1321"/>
              <a:gd name="T13" fmla="*/ 2147483647 h 909"/>
              <a:gd name="T14" fmla="*/ 2147483647 w 1321"/>
              <a:gd name="T15" fmla="*/ 2147483647 h 909"/>
              <a:gd name="T16" fmla="*/ 2147483647 w 1321"/>
              <a:gd name="T17" fmla="*/ 2147483647 h 909"/>
              <a:gd name="T18" fmla="*/ 2147483647 w 1321"/>
              <a:gd name="T19" fmla="*/ 2147483647 h 909"/>
              <a:gd name="T20" fmla="*/ 2147483647 w 1321"/>
              <a:gd name="T21" fmla="*/ 2147483647 h 909"/>
              <a:gd name="T22" fmla="*/ 2147483647 w 1321"/>
              <a:gd name="T23" fmla="*/ 2147483647 h 909"/>
              <a:gd name="T24" fmla="*/ 2147483647 w 1321"/>
              <a:gd name="T25" fmla="*/ 2147483647 h 9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21"/>
              <a:gd name="T40" fmla="*/ 0 h 909"/>
              <a:gd name="T41" fmla="*/ 1321 w 1321"/>
              <a:gd name="T42" fmla="*/ 909 h 9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21" h="909">
                <a:moveTo>
                  <a:pt x="0" y="909"/>
                </a:moveTo>
                <a:cubicBezTo>
                  <a:pt x="22" y="902"/>
                  <a:pt x="96" y="898"/>
                  <a:pt x="135" y="864"/>
                </a:cubicBezTo>
                <a:cubicBezTo>
                  <a:pt x="174" y="830"/>
                  <a:pt x="204" y="783"/>
                  <a:pt x="237" y="706"/>
                </a:cubicBezTo>
                <a:cubicBezTo>
                  <a:pt x="270" y="629"/>
                  <a:pt x="310" y="483"/>
                  <a:pt x="336" y="402"/>
                </a:cubicBezTo>
                <a:cubicBezTo>
                  <a:pt x="362" y="321"/>
                  <a:pt x="376" y="275"/>
                  <a:pt x="396" y="219"/>
                </a:cubicBezTo>
                <a:cubicBezTo>
                  <a:pt x="416" y="163"/>
                  <a:pt x="434" y="102"/>
                  <a:pt x="454" y="67"/>
                </a:cubicBezTo>
                <a:cubicBezTo>
                  <a:pt x="474" y="32"/>
                  <a:pt x="492" y="0"/>
                  <a:pt x="519" y="6"/>
                </a:cubicBezTo>
                <a:cubicBezTo>
                  <a:pt x="546" y="12"/>
                  <a:pt x="588" y="55"/>
                  <a:pt x="619" y="102"/>
                </a:cubicBezTo>
                <a:cubicBezTo>
                  <a:pt x="650" y="149"/>
                  <a:pt x="677" y="221"/>
                  <a:pt x="705" y="288"/>
                </a:cubicBezTo>
                <a:cubicBezTo>
                  <a:pt x="733" y="355"/>
                  <a:pt x="757" y="437"/>
                  <a:pt x="790" y="503"/>
                </a:cubicBezTo>
                <a:cubicBezTo>
                  <a:pt x="823" y="569"/>
                  <a:pt x="847" y="625"/>
                  <a:pt x="903" y="685"/>
                </a:cubicBezTo>
                <a:cubicBezTo>
                  <a:pt x="959" y="745"/>
                  <a:pt x="1059" y="830"/>
                  <a:pt x="1129" y="864"/>
                </a:cubicBezTo>
                <a:cubicBezTo>
                  <a:pt x="1199" y="898"/>
                  <a:pt x="1281" y="882"/>
                  <a:pt x="1321" y="887"/>
                </a:cubicBezTo>
              </a:path>
            </a:pathLst>
          </a:custGeom>
          <a:noFill/>
          <a:ln w="38100">
            <a:solidFill>
              <a:srgbClr val="006600"/>
            </a:solidFill>
            <a:round/>
            <a:headEnd/>
            <a:tailEnd/>
          </a:ln>
        </p:spPr>
        <p:txBody>
          <a:bodyPr/>
          <a:lstStyle/>
          <a:p>
            <a:pPr algn="ctr"/>
            <a:endParaRPr lang="zh-CN" altLang="en-US"/>
          </a:p>
        </p:txBody>
      </p:sp>
      <p:sp>
        <p:nvSpPr>
          <p:cNvPr id="75796" name="Freeform 20"/>
          <p:cNvSpPr>
            <a:spLocks/>
          </p:cNvSpPr>
          <p:nvPr/>
        </p:nvSpPr>
        <p:spPr bwMode="auto">
          <a:xfrm>
            <a:off x="5337175" y="4721225"/>
            <a:ext cx="3240088" cy="912813"/>
          </a:xfrm>
          <a:custGeom>
            <a:avLst/>
            <a:gdLst>
              <a:gd name="T0" fmla="*/ 0 w 2041"/>
              <a:gd name="T1" fmla="*/ 2147483647 h 575"/>
              <a:gd name="T2" fmla="*/ 2147483647 w 2041"/>
              <a:gd name="T3" fmla="*/ 2147483647 h 575"/>
              <a:gd name="T4" fmla="*/ 2147483647 w 2041"/>
              <a:gd name="T5" fmla="*/ 2147483647 h 575"/>
              <a:gd name="T6" fmla="*/ 2147483647 w 2041"/>
              <a:gd name="T7" fmla="*/ 2147483647 h 575"/>
              <a:gd name="T8" fmla="*/ 2147483647 w 2041"/>
              <a:gd name="T9" fmla="*/ 2147483647 h 575"/>
              <a:gd name="T10" fmla="*/ 2147483647 w 2041"/>
              <a:gd name="T11" fmla="*/ 2147483647 h 575"/>
              <a:gd name="T12" fmla="*/ 2147483647 w 2041"/>
              <a:gd name="T13" fmla="*/ 2147483647 h 575"/>
              <a:gd name="T14" fmla="*/ 2147483647 w 2041"/>
              <a:gd name="T15" fmla="*/ 2147483647 h 575"/>
              <a:gd name="T16" fmla="*/ 2147483647 w 2041"/>
              <a:gd name="T17" fmla="*/ 0 h 575"/>
              <a:gd name="T18" fmla="*/ 2147483647 w 2041"/>
              <a:gd name="T19" fmla="*/ 2147483647 h 575"/>
              <a:gd name="T20" fmla="*/ 2147483647 w 2041"/>
              <a:gd name="T21" fmla="*/ 2147483647 h 575"/>
              <a:gd name="T22" fmla="*/ 2147483647 w 2041"/>
              <a:gd name="T23" fmla="*/ 2147483647 h 575"/>
              <a:gd name="T24" fmla="*/ 2147483647 w 2041"/>
              <a:gd name="T25" fmla="*/ 2147483647 h 575"/>
              <a:gd name="T26" fmla="*/ 2147483647 w 2041"/>
              <a:gd name="T27" fmla="*/ 2147483647 h 575"/>
              <a:gd name="T28" fmla="*/ 2147483647 w 2041"/>
              <a:gd name="T29" fmla="*/ 2147483647 h 575"/>
              <a:gd name="T30" fmla="*/ 2147483647 w 2041"/>
              <a:gd name="T31" fmla="*/ 2147483647 h 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41"/>
              <a:gd name="T49" fmla="*/ 0 h 575"/>
              <a:gd name="T50" fmla="*/ 2041 w 2041"/>
              <a:gd name="T51" fmla="*/ 575 h 5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41" h="575">
                <a:moveTo>
                  <a:pt x="0" y="570"/>
                </a:moveTo>
                <a:cubicBezTo>
                  <a:pt x="23" y="572"/>
                  <a:pt x="47" y="575"/>
                  <a:pt x="85" y="570"/>
                </a:cubicBezTo>
                <a:cubicBezTo>
                  <a:pt x="123" y="565"/>
                  <a:pt x="180" y="560"/>
                  <a:pt x="227" y="541"/>
                </a:cubicBezTo>
                <a:cubicBezTo>
                  <a:pt x="274" y="522"/>
                  <a:pt x="326" y="489"/>
                  <a:pt x="364" y="458"/>
                </a:cubicBezTo>
                <a:cubicBezTo>
                  <a:pt x="402" y="427"/>
                  <a:pt x="425" y="395"/>
                  <a:pt x="458" y="352"/>
                </a:cubicBezTo>
                <a:cubicBezTo>
                  <a:pt x="491" y="309"/>
                  <a:pt x="536" y="238"/>
                  <a:pt x="564" y="199"/>
                </a:cubicBezTo>
                <a:cubicBezTo>
                  <a:pt x="592" y="160"/>
                  <a:pt x="605" y="139"/>
                  <a:pt x="624" y="116"/>
                </a:cubicBezTo>
                <a:cubicBezTo>
                  <a:pt x="643" y="93"/>
                  <a:pt x="649" y="78"/>
                  <a:pt x="680" y="59"/>
                </a:cubicBezTo>
                <a:cubicBezTo>
                  <a:pt x="711" y="40"/>
                  <a:pt x="760" y="0"/>
                  <a:pt x="811" y="0"/>
                </a:cubicBezTo>
                <a:cubicBezTo>
                  <a:pt x="862" y="0"/>
                  <a:pt x="938" y="29"/>
                  <a:pt x="987" y="58"/>
                </a:cubicBezTo>
                <a:cubicBezTo>
                  <a:pt x="1036" y="87"/>
                  <a:pt x="1058" y="125"/>
                  <a:pt x="1106" y="173"/>
                </a:cubicBezTo>
                <a:cubicBezTo>
                  <a:pt x="1154" y="221"/>
                  <a:pt x="1205" y="291"/>
                  <a:pt x="1276" y="343"/>
                </a:cubicBezTo>
                <a:cubicBezTo>
                  <a:pt x="1347" y="395"/>
                  <a:pt x="1446" y="450"/>
                  <a:pt x="1531" y="485"/>
                </a:cubicBezTo>
                <a:cubicBezTo>
                  <a:pt x="1616" y="520"/>
                  <a:pt x="1721" y="539"/>
                  <a:pt x="1787" y="552"/>
                </a:cubicBezTo>
                <a:cubicBezTo>
                  <a:pt x="1853" y="565"/>
                  <a:pt x="1886" y="561"/>
                  <a:pt x="1928" y="564"/>
                </a:cubicBezTo>
                <a:cubicBezTo>
                  <a:pt x="1970" y="567"/>
                  <a:pt x="2018" y="569"/>
                  <a:pt x="2041" y="570"/>
                </a:cubicBezTo>
              </a:path>
            </a:pathLst>
          </a:custGeom>
          <a:noFill/>
          <a:ln w="38100">
            <a:solidFill>
              <a:srgbClr val="CC0000"/>
            </a:solidFill>
            <a:round/>
            <a:headEnd/>
            <a:tailEnd/>
          </a:ln>
        </p:spPr>
        <p:txBody>
          <a:bodyPr/>
          <a:lstStyle/>
          <a:p>
            <a:pPr algn="ctr"/>
            <a:endParaRPr lang="zh-CN" altLang="en-US"/>
          </a:p>
        </p:txBody>
      </p:sp>
      <p:grpSp>
        <p:nvGrpSpPr>
          <p:cNvPr id="2" name="Group 21"/>
          <p:cNvGrpSpPr>
            <a:grpSpLocks/>
          </p:cNvGrpSpPr>
          <p:nvPr/>
        </p:nvGrpSpPr>
        <p:grpSpPr bwMode="auto">
          <a:xfrm>
            <a:off x="4976813" y="3203575"/>
            <a:ext cx="3908425" cy="2868613"/>
            <a:chOff x="3140" y="2027"/>
            <a:chExt cx="2462" cy="1807"/>
          </a:xfrm>
        </p:grpSpPr>
        <p:sp>
          <p:nvSpPr>
            <p:cNvPr id="50200" name="Line 22"/>
            <p:cNvSpPr>
              <a:spLocks noChangeShapeType="1"/>
            </p:cNvSpPr>
            <p:nvPr/>
          </p:nvSpPr>
          <p:spPr bwMode="auto">
            <a:xfrm>
              <a:off x="3360" y="2027"/>
              <a:ext cx="0" cy="1536"/>
            </a:xfrm>
            <a:prstGeom prst="line">
              <a:avLst/>
            </a:prstGeom>
            <a:noFill/>
            <a:ln w="38100">
              <a:solidFill>
                <a:srgbClr val="0000FF"/>
              </a:solidFill>
              <a:round/>
              <a:headEnd type="stealth" w="med" len="lg"/>
              <a:tailEnd type="none" w="med" len="lg"/>
            </a:ln>
          </p:spPr>
          <p:txBody>
            <a:bodyPr/>
            <a:lstStyle/>
            <a:p>
              <a:endParaRPr lang="zh-CN" altLang="en-US"/>
            </a:p>
          </p:txBody>
        </p:sp>
        <p:sp>
          <p:nvSpPr>
            <p:cNvPr id="50201" name="Line 23"/>
            <p:cNvSpPr>
              <a:spLocks noChangeShapeType="1"/>
            </p:cNvSpPr>
            <p:nvPr/>
          </p:nvSpPr>
          <p:spPr bwMode="auto">
            <a:xfrm>
              <a:off x="3360" y="3563"/>
              <a:ext cx="2160" cy="0"/>
            </a:xfrm>
            <a:prstGeom prst="line">
              <a:avLst/>
            </a:prstGeom>
            <a:noFill/>
            <a:ln w="38100">
              <a:solidFill>
                <a:srgbClr val="0000FF"/>
              </a:solidFill>
              <a:round/>
              <a:headEnd/>
              <a:tailEnd type="stealth" w="med" len="lg"/>
            </a:ln>
          </p:spPr>
          <p:txBody>
            <a:bodyPr/>
            <a:lstStyle/>
            <a:p>
              <a:endParaRPr lang="zh-CN" altLang="en-US"/>
            </a:p>
          </p:txBody>
        </p:sp>
        <p:graphicFrame>
          <p:nvGraphicFramePr>
            <p:cNvPr id="50187" name="Object 24"/>
            <p:cNvGraphicFramePr>
              <a:graphicFrameLocks noChangeAspect="1"/>
            </p:cNvGraphicFramePr>
            <p:nvPr/>
          </p:nvGraphicFramePr>
          <p:xfrm>
            <a:off x="3423" y="2028"/>
            <a:ext cx="410" cy="223"/>
          </p:xfrm>
          <a:graphic>
            <a:graphicData uri="http://schemas.openxmlformats.org/presentationml/2006/ole">
              <p:oleObj spid="_x0000_s50187" name="公式" r:id="rId13" imgW="723600" imgH="393480" progId="Equation.3">
                <p:embed/>
              </p:oleObj>
            </a:graphicData>
          </a:graphic>
        </p:graphicFrame>
        <p:graphicFrame>
          <p:nvGraphicFramePr>
            <p:cNvPr id="50188" name="Object 25"/>
            <p:cNvGraphicFramePr>
              <a:graphicFrameLocks noChangeAspect="1"/>
            </p:cNvGraphicFramePr>
            <p:nvPr/>
          </p:nvGraphicFramePr>
          <p:xfrm>
            <a:off x="5035" y="3612"/>
            <a:ext cx="567" cy="222"/>
          </p:xfrm>
          <a:graphic>
            <a:graphicData uri="http://schemas.openxmlformats.org/presentationml/2006/ole">
              <p:oleObj spid="_x0000_s50188" name="公式" r:id="rId14" imgW="990360" imgH="393480" progId="Equation.3">
                <p:embed/>
              </p:oleObj>
            </a:graphicData>
          </a:graphic>
        </p:graphicFrame>
        <p:sp>
          <p:nvSpPr>
            <p:cNvPr id="50202" name="Text Box 26"/>
            <p:cNvSpPr txBox="1">
              <a:spLocks noChangeArrowheads="1"/>
            </p:cNvSpPr>
            <p:nvPr/>
          </p:nvSpPr>
          <p:spPr bwMode="auto">
            <a:xfrm>
              <a:off x="3140" y="3565"/>
              <a:ext cx="232" cy="250"/>
            </a:xfrm>
            <a:prstGeom prst="rect">
              <a:avLst/>
            </a:prstGeom>
            <a:noFill/>
            <a:ln w="9525">
              <a:noFill/>
              <a:miter lim="800000"/>
              <a:headEnd/>
              <a:tailEnd/>
            </a:ln>
          </p:spPr>
          <p:txBody>
            <a:bodyPr wrap="none">
              <a:spAutoFit/>
            </a:bodyPr>
            <a:lstStyle/>
            <a:p>
              <a:r>
                <a:rPr lang="en-US" altLang="zh-CN" sz="2000" b="1" i="1">
                  <a:latin typeface="Times New Roman" pitchFamily="18" charset="0"/>
                </a:rPr>
                <a:t>O</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wipe(left)">
                                      <p:cBhvr>
                                        <p:cTn id="7" dur="500"/>
                                        <p:tgtEl>
                                          <p:spTgt spid="7578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5778"/>
                                        </p:tgtEl>
                                        <p:attrNameLst>
                                          <p:attrName>style.visibility</p:attrName>
                                        </p:attrNameLst>
                                      </p:cBhvr>
                                      <p:to>
                                        <p:strVal val="visible"/>
                                      </p:to>
                                    </p:set>
                                    <p:animEffect transition="in" filter="wipe(left)">
                                      <p:cBhvr>
                                        <p:cTn id="11" dur="500"/>
                                        <p:tgtEl>
                                          <p:spTgt spid="757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5795"/>
                                        </p:tgtEl>
                                        <p:attrNameLst>
                                          <p:attrName>style.visibility</p:attrName>
                                        </p:attrNameLst>
                                      </p:cBhvr>
                                      <p:to>
                                        <p:strVal val="visible"/>
                                      </p:to>
                                    </p:set>
                                    <p:animEffect transition="in" filter="wipe(left)">
                                      <p:cBhvr>
                                        <p:cTn id="21" dur="1000"/>
                                        <p:tgtEl>
                                          <p:spTgt spid="7579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5785"/>
                                        </p:tgtEl>
                                        <p:attrNameLst>
                                          <p:attrName>style.visibility</p:attrName>
                                        </p:attrNameLst>
                                      </p:cBhvr>
                                      <p:to>
                                        <p:strVal val="visible"/>
                                      </p:to>
                                    </p:set>
                                    <p:animEffect transition="in" filter="wipe(left)">
                                      <p:cBhvr>
                                        <p:cTn id="26" dur="500"/>
                                        <p:tgtEl>
                                          <p:spTgt spid="7578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75783"/>
                                        </p:tgtEl>
                                        <p:attrNameLst>
                                          <p:attrName>style.visibility</p:attrName>
                                        </p:attrNameLst>
                                      </p:cBhvr>
                                      <p:to>
                                        <p:strVal val="visible"/>
                                      </p:to>
                                    </p:set>
                                    <p:animEffect transition="in" filter="wipe(up)">
                                      <p:cBhvr>
                                        <p:cTn id="31" dur="500"/>
                                        <p:tgtEl>
                                          <p:spTgt spid="7578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5784"/>
                                        </p:tgtEl>
                                        <p:attrNameLst>
                                          <p:attrName>style.visibility</p:attrName>
                                        </p:attrNameLst>
                                      </p:cBhvr>
                                      <p:to>
                                        <p:strVal val="visible"/>
                                      </p:to>
                                    </p:set>
                                    <p:animEffect transition="in" filter="wipe(up)">
                                      <p:cBhvr>
                                        <p:cTn id="36" dur="500"/>
                                        <p:tgtEl>
                                          <p:spTgt spid="7578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5781"/>
                                        </p:tgtEl>
                                        <p:attrNameLst>
                                          <p:attrName>style.visibility</p:attrName>
                                        </p:attrNameLst>
                                      </p:cBhvr>
                                      <p:to>
                                        <p:strVal val="visible"/>
                                      </p:to>
                                    </p:set>
                                    <p:animEffect transition="in" filter="wipe(left)">
                                      <p:cBhvr>
                                        <p:cTn id="41" dur="500"/>
                                        <p:tgtEl>
                                          <p:spTgt spid="75781"/>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75793"/>
                                        </p:tgtEl>
                                        <p:attrNameLst>
                                          <p:attrName>style.visibility</p:attrName>
                                        </p:attrNameLst>
                                      </p:cBhvr>
                                      <p:to>
                                        <p:strVal val="visible"/>
                                      </p:to>
                                    </p:set>
                                    <p:animEffect transition="in" filter="wipe(left)">
                                      <p:cBhvr>
                                        <p:cTn id="45" dur="500"/>
                                        <p:tgtEl>
                                          <p:spTgt spid="75793"/>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75782"/>
                                        </p:tgtEl>
                                        <p:attrNameLst>
                                          <p:attrName>style.visibility</p:attrName>
                                        </p:attrNameLst>
                                      </p:cBhvr>
                                      <p:to>
                                        <p:strVal val="visible"/>
                                      </p:to>
                                    </p:set>
                                    <p:animEffect transition="in" filter="wipe(left)">
                                      <p:cBhvr>
                                        <p:cTn id="49" dur="500"/>
                                        <p:tgtEl>
                                          <p:spTgt spid="7578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5779"/>
                                        </p:tgtEl>
                                        <p:attrNameLst>
                                          <p:attrName>style.visibility</p:attrName>
                                        </p:attrNameLst>
                                      </p:cBhvr>
                                      <p:to>
                                        <p:strVal val="visible"/>
                                      </p:to>
                                    </p:set>
                                    <p:animEffect transition="in" filter="wipe(left)">
                                      <p:cBhvr>
                                        <p:cTn id="54" dur="500"/>
                                        <p:tgtEl>
                                          <p:spTgt spid="7577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75796"/>
                                        </p:tgtEl>
                                        <p:attrNameLst>
                                          <p:attrName>style.visibility</p:attrName>
                                        </p:attrNameLst>
                                      </p:cBhvr>
                                      <p:to>
                                        <p:strVal val="visible"/>
                                      </p:to>
                                    </p:set>
                                    <p:animEffect transition="in" filter="wipe(left)">
                                      <p:cBhvr>
                                        <p:cTn id="59" dur="2000"/>
                                        <p:tgtEl>
                                          <p:spTgt spid="75796"/>
                                        </p:tgtEl>
                                      </p:cBhvr>
                                    </p:animEffect>
                                  </p:childTnLst>
                                </p:cTn>
                              </p:par>
                              <p:par>
                                <p:cTn id="60" presetID="22" presetClass="entr" presetSubtype="4" fill="hold" nodeType="withEffect">
                                  <p:stCondLst>
                                    <p:cond delay="0"/>
                                  </p:stCondLst>
                                  <p:childTnLst>
                                    <p:set>
                                      <p:cBhvr>
                                        <p:cTn id="61" dur="1" fill="hold">
                                          <p:stCondLst>
                                            <p:cond delay="0"/>
                                          </p:stCondLst>
                                        </p:cTn>
                                        <p:tgtEl>
                                          <p:spTgt spid="75786"/>
                                        </p:tgtEl>
                                        <p:attrNameLst>
                                          <p:attrName>style.visibility</p:attrName>
                                        </p:attrNameLst>
                                      </p:cBhvr>
                                      <p:to>
                                        <p:strVal val="visible"/>
                                      </p:to>
                                    </p:set>
                                    <p:animEffect transition="in" filter="wipe(down)">
                                      <p:cBhvr>
                                        <p:cTn id="62" dur="500"/>
                                        <p:tgtEl>
                                          <p:spTgt spid="7578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5794"/>
                                        </p:tgtEl>
                                        <p:attrNameLst>
                                          <p:attrName>style.visibility</p:attrName>
                                        </p:attrNameLst>
                                      </p:cBhvr>
                                      <p:to>
                                        <p:strVal val="visible"/>
                                      </p:to>
                                    </p:set>
                                    <p:animEffect transition="in" filter="wipe(left)">
                                      <p:cBhvr>
                                        <p:cTn id="67" dur="500"/>
                                        <p:tgtEl>
                                          <p:spTgt spid="7579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75792"/>
                                        </p:tgtEl>
                                        <p:attrNameLst>
                                          <p:attrName>style.visibility</p:attrName>
                                        </p:attrNameLst>
                                      </p:cBhvr>
                                      <p:to>
                                        <p:strVal val="visible"/>
                                      </p:to>
                                    </p:set>
                                    <p:animEffect transition="in" filter="wipe(left)">
                                      <p:cBhvr>
                                        <p:cTn id="72" dur="500"/>
                                        <p:tgtEl>
                                          <p:spTgt spid="7579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5787"/>
                                        </p:tgtEl>
                                        <p:attrNameLst>
                                          <p:attrName>style.visibility</p:attrName>
                                        </p:attrNameLst>
                                      </p:cBhvr>
                                      <p:to>
                                        <p:strVal val="visible"/>
                                      </p:to>
                                    </p:set>
                                    <p:animEffect transition="in" filter="wipe(left)">
                                      <p:cBhvr>
                                        <p:cTn id="77" dur="500"/>
                                        <p:tgtEl>
                                          <p:spTgt spid="7578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75788"/>
                                        </p:tgtEl>
                                        <p:attrNameLst>
                                          <p:attrName>style.visibility</p:attrName>
                                        </p:attrNameLst>
                                      </p:cBhvr>
                                      <p:to>
                                        <p:strVal val="visible"/>
                                      </p:to>
                                    </p:set>
                                    <p:animEffect transition="in" filter="wipe(left)">
                                      <p:cBhvr>
                                        <p:cTn id="82" dur="500"/>
                                        <p:tgtEl>
                                          <p:spTgt spid="7578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75789"/>
                                        </p:tgtEl>
                                        <p:attrNameLst>
                                          <p:attrName>style.visibility</p:attrName>
                                        </p:attrNameLst>
                                      </p:cBhvr>
                                      <p:to>
                                        <p:strVal val="visible"/>
                                      </p:to>
                                    </p:set>
                                    <p:animEffect transition="in" filter="wipe(left)">
                                      <p:cBhvr>
                                        <p:cTn id="87" dur="500"/>
                                        <p:tgtEl>
                                          <p:spTgt spid="7578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75790"/>
                                        </p:tgtEl>
                                        <p:attrNameLst>
                                          <p:attrName>style.visibility</p:attrName>
                                        </p:attrNameLst>
                                      </p:cBhvr>
                                      <p:to>
                                        <p:strVal val="visible"/>
                                      </p:to>
                                    </p:set>
                                    <p:animEffect transition="in" filter="wipe(left)">
                                      <p:cBhvr>
                                        <p:cTn id="92" dur="500"/>
                                        <p:tgtEl>
                                          <p:spTgt spid="7579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75791"/>
                                        </p:tgtEl>
                                        <p:attrNameLst>
                                          <p:attrName>style.visibility</p:attrName>
                                        </p:attrNameLst>
                                      </p:cBhvr>
                                      <p:to>
                                        <p:strVal val="visible"/>
                                      </p:to>
                                    </p:set>
                                    <p:animEffect transition="in" filter="wipe(left)">
                                      <p:cBhvr>
                                        <p:cTn id="97" dur="500"/>
                                        <p:tgtEl>
                                          <p:spTgt spid="75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79" grpId="0"/>
      <p:bldP spid="75780" grpId="0"/>
      <p:bldP spid="75781" grpId="0"/>
      <p:bldP spid="75782" grpId="0"/>
      <p:bldP spid="75783" grpId="0" animBg="1"/>
      <p:bldP spid="75793" grpId="0"/>
      <p:bldP spid="75794" grpId="0"/>
      <p:bldP spid="75795" grpId="0" animBg="1"/>
      <p:bldP spid="7579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ext Box 2"/>
          <p:cNvSpPr txBox="1">
            <a:spLocks noChangeArrowheads="1"/>
          </p:cNvSpPr>
          <p:nvPr/>
        </p:nvSpPr>
        <p:spPr bwMode="auto">
          <a:xfrm>
            <a:off x="179388" y="476250"/>
            <a:ext cx="647700"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rPr>
              <a:t>例</a:t>
            </a:r>
            <a:endParaRPr lang="zh-CN" altLang="en-US" sz="2400" b="1">
              <a:latin typeface="Times New Roman" pitchFamily="18" charset="0"/>
            </a:endParaRPr>
          </a:p>
        </p:txBody>
      </p:sp>
      <p:sp>
        <p:nvSpPr>
          <p:cNvPr id="293891" name="Text Box 3"/>
          <p:cNvSpPr txBox="1">
            <a:spLocks noChangeArrowheads="1"/>
          </p:cNvSpPr>
          <p:nvPr/>
        </p:nvSpPr>
        <p:spPr bwMode="auto">
          <a:xfrm>
            <a:off x="755650" y="404813"/>
            <a:ext cx="8083550" cy="1463675"/>
          </a:xfrm>
          <a:prstGeom prst="rect">
            <a:avLst/>
          </a:prstGeom>
          <a:noFill/>
          <a:ln w="9525">
            <a:noFill/>
            <a:miter lim="800000"/>
            <a:headEnd/>
            <a:tailEnd/>
          </a:ln>
        </p:spPr>
        <p:txBody>
          <a:bodyPr>
            <a:spAutoFit/>
          </a:bodyPr>
          <a:lstStyle/>
          <a:p>
            <a:pPr>
              <a:lnSpc>
                <a:spcPct val="125000"/>
              </a:lnSpc>
            </a:pPr>
            <a:r>
              <a:rPr lang="zh-CN" altLang="en-US" sz="2400" b="1">
                <a:latin typeface="Times New Roman" pitchFamily="18" charset="0"/>
              </a:rPr>
              <a:t>有</a:t>
            </a:r>
            <a:r>
              <a:rPr lang="zh-CN" altLang="en-US" sz="2400" b="1">
                <a:solidFill>
                  <a:srgbClr val="FF6600"/>
                </a:solidFill>
                <a:latin typeface="Times New Roman" pitchFamily="18" charset="0"/>
              </a:rPr>
              <a:t> </a:t>
            </a:r>
            <a:r>
              <a:rPr lang="en-US" altLang="zh-CN" sz="2400" b="1" i="1">
                <a:solidFill>
                  <a:srgbClr val="FF6600"/>
                </a:solidFill>
                <a:latin typeface="Times New Roman" pitchFamily="18" charset="0"/>
              </a:rPr>
              <a:t>N</a:t>
            </a:r>
            <a:r>
              <a:rPr lang="en-US" altLang="zh-CN" sz="2400" b="1">
                <a:solidFill>
                  <a:srgbClr val="FF6600"/>
                </a:solidFill>
                <a:latin typeface="Times New Roman" pitchFamily="18" charset="0"/>
              </a:rPr>
              <a:t> </a:t>
            </a:r>
            <a:r>
              <a:rPr lang="zh-CN" altLang="en-US" sz="2400" b="1">
                <a:latin typeface="Times New Roman" pitchFamily="18" charset="0"/>
              </a:rPr>
              <a:t>个质量为</a:t>
            </a:r>
            <a:r>
              <a:rPr lang="zh-CN" altLang="en-US" sz="2400" b="1">
                <a:solidFill>
                  <a:srgbClr val="FF6600"/>
                </a:solidFill>
                <a:latin typeface="Times New Roman" pitchFamily="18" charset="0"/>
              </a:rPr>
              <a:t> </a:t>
            </a:r>
            <a:r>
              <a:rPr lang="en-US" altLang="zh-CN" sz="2400" b="1" i="1">
                <a:solidFill>
                  <a:srgbClr val="FF6600"/>
                </a:solidFill>
                <a:latin typeface="Times New Roman" pitchFamily="18" charset="0"/>
              </a:rPr>
              <a:t>m</a:t>
            </a:r>
            <a:r>
              <a:rPr lang="en-US" altLang="zh-CN" sz="2400" b="1">
                <a:solidFill>
                  <a:srgbClr val="FF6600"/>
                </a:solidFill>
                <a:latin typeface="Times New Roman" pitchFamily="18" charset="0"/>
              </a:rPr>
              <a:t> </a:t>
            </a:r>
            <a:r>
              <a:rPr lang="zh-CN" altLang="en-US" sz="2400" b="1">
                <a:latin typeface="Times New Roman" pitchFamily="18" charset="0"/>
              </a:rPr>
              <a:t>的同种气体分子，它们的速度分布如图所示。</a:t>
            </a:r>
            <a:r>
              <a:rPr lang="en-US" altLang="zh-CN" sz="2400" b="1">
                <a:latin typeface="Times New Roman" pitchFamily="18" charset="0"/>
              </a:rPr>
              <a:t>(1) </a:t>
            </a:r>
            <a:r>
              <a:rPr lang="zh-CN" altLang="en-US" sz="2400" b="1">
                <a:latin typeface="Times New Roman" pitchFamily="18" charset="0"/>
              </a:rPr>
              <a:t>由 </a:t>
            </a:r>
            <a:r>
              <a:rPr lang="en-US" altLang="zh-CN" sz="2400" b="1" i="1">
                <a:solidFill>
                  <a:srgbClr val="FF6600"/>
                </a:solidFill>
                <a:latin typeface="Times New Roman" pitchFamily="18" charset="0"/>
              </a:rPr>
              <a:t>N</a:t>
            </a:r>
            <a:r>
              <a:rPr lang="en-US" altLang="zh-CN" sz="2400" b="1">
                <a:solidFill>
                  <a:srgbClr val="FF6600"/>
                </a:solidFill>
                <a:latin typeface="Times New Roman" pitchFamily="18" charset="0"/>
              </a:rPr>
              <a:t> </a:t>
            </a:r>
            <a:r>
              <a:rPr lang="zh-CN" altLang="en-US" sz="2400" b="1">
                <a:latin typeface="Times New Roman" pitchFamily="18" charset="0"/>
              </a:rPr>
              <a:t>和</a:t>
            </a:r>
            <a:r>
              <a:rPr lang="zh-CN" altLang="en-US" sz="2400" b="1">
                <a:solidFill>
                  <a:srgbClr val="FF6600"/>
                </a:solidFill>
                <a:latin typeface="Times New Roman" pitchFamily="18" charset="0"/>
              </a:rPr>
              <a:t> </a:t>
            </a:r>
            <a:r>
              <a:rPr lang="en-US" altLang="zh-CN" sz="2400" b="1" i="1">
                <a:solidFill>
                  <a:srgbClr val="FF6600"/>
                </a:solidFill>
                <a:latin typeface="Times New Roman" pitchFamily="18" charset="0"/>
              </a:rPr>
              <a:t>v</a:t>
            </a:r>
            <a:r>
              <a:rPr lang="en-US" altLang="zh-CN" sz="2400" b="1" baseline="-25000">
                <a:solidFill>
                  <a:srgbClr val="FF6600"/>
                </a:solidFill>
                <a:latin typeface="Times New Roman" pitchFamily="18" charset="0"/>
              </a:rPr>
              <a:t>0</a:t>
            </a:r>
            <a:r>
              <a:rPr lang="en-US" altLang="zh-CN" sz="2400" b="1">
                <a:solidFill>
                  <a:srgbClr val="FF6600"/>
                </a:solidFill>
                <a:latin typeface="Times New Roman" pitchFamily="18" charset="0"/>
              </a:rPr>
              <a:t> </a:t>
            </a:r>
            <a:r>
              <a:rPr lang="zh-CN" altLang="en-US" sz="2400" b="1">
                <a:latin typeface="Times New Roman" pitchFamily="18" charset="0"/>
              </a:rPr>
              <a:t>求 </a:t>
            </a:r>
            <a:r>
              <a:rPr lang="en-US" altLang="zh-CN" sz="2400" b="1" i="1">
                <a:solidFill>
                  <a:srgbClr val="FF6600"/>
                </a:solidFill>
                <a:latin typeface="Times New Roman" pitchFamily="18" charset="0"/>
              </a:rPr>
              <a:t>a</a:t>
            </a:r>
            <a:r>
              <a:rPr lang="en-US" altLang="zh-CN" sz="2400" b="1">
                <a:latin typeface="Times New Roman" pitchFamily="18" charset="0"/>
              </a:rPr>
              <a:t> </a:t>
            </a:r>
            <a:r>
              <a:rPr lang="zh-CN" altLang="en-US" sz="2400" b="1">
                <a:latin typeface="Times New Roman" pitchFamily="18" charset="0"/>
              </a:rPr>
              <a:t>值；</a:t>
            </a:r>
            <a:r>
              <a:rPr lang="en-US" altLang="zh-CN" sz="2400" b="1">
                <a:latin typeface="Times New Roman" pitchFamily="18" charset="0"/>
              </a:rPr>
              <a:t>(2) </a:t>
            </a:r>
            <a:r>
              <a:rPr lang="zh-CN" altLang="en-US" sz="2400" b="1">
                <a:latin typeface="Times New Roman" pitchFamily="18" charset="0"/>
              </a:rPr>
              <a:t>求在速率 </a:t>
            </a:r>
            <a:r>
              <a:rPr lang="en-US" altLang="zh-CN" sz="2400" b="1" i="1">
                <a:solidFill>
                  <a:srgbClr val="FF6600"/>
                </a:solidFill>
                <a:latin typeface="Times New Roman" pitchFamily="18" charset="0"/>
              </a:rPr>
              <a:t>v</a:t>
            </a:r>
            <a:r>
              <a:rPr lang="en-US" altLang="zh-CN" sz="2400" b="1" baseline="-25000">
                <a:solidFill>
                  <a:srgbClr val="FF6600"/>
                </a:solidFill>
                <a:latin typeface="Times New Roman" pitchFamily="18" charset="0"/>
              </a:rPr>
              <a:t>0</a:t>
            </a:r>
            <a:r>
              <a:rPr lang="en-US" altLang="zh-CN" sz="2400" b="1">
                <a:solidFill>
                  <a:srgbClr val="FF6600"/>
                </a:solidFill>
                <a:latin typeface="Times New Roman" pitchFamily="18" charset="0"/>
              </a:rPr>
              <a:t>/2 </a:t>
            </a:r>
            <a:r>
              <a:rPr lang="zh-CN" altLang="en-US" sz="2400" b="1">
                <a:latin typeface="Times New Roman" pitchFamily="18" charset="0"/>
              </a:rPr>
              <a:t>到</a:t>
            </a:r>
            <a:r>
              <a:rPr lang="zh-CN" altLang="en-US" sz="2400" b="1">
                <a:solidFill>
                  <a:srgbClr val="FF6600"/>
                </a:solidFill>
                <a:latin typeface="Times New Roman" pitchFamily="18" charset="0"/>
              </a:rPr>
              <a:t> </a:t>
            </a:r>
            <a:r>
              <a:rPr lang="en-US" altLang="zh-CN" sz="2400" b="1">
                <a:solidFill>
                  <a:srgbClr val="FF6600"/>
                </a:solidFill>
                <a:latin typeface="Times New Roman" pitchFamily="18" charset="0"/>
              </a:rPr>
              <a:t>3</a:t>
            </a:r>
            <a:r>
              <a:rPr lang="en-US" altLang="zh-CN" sz="2400" b="1" i="1">
                <a:solidFill>
                  <a:srgbClr val="FF6600"/>
                </a:solidFill>
                <a:latin typeface="Times New Roman" pitchFamily="18" charset="0"/>
              </a:rPr>
              <a:t>v</a:t>
            </a:r>
            <a:r>
              <a:rPr lang="en-US" altLang="zh-CN" sz="2400" b="1" baseline="-25000">
                <a:solidFill>
                  <a:srgbClr val="FF6600"/>
                </a:solidFill>
                <a:latin typeface="Times New Roman" pitchFamily="18" charset="0"/>
              </a:rPr>
              <a:t>0</a:t>
            </a:r>
            <a:r>
              <a:rPr lang="en-US" altLang="zh-CN" sz="2400" b="1">
                <a:solidFill>
                  <a:srgbClr val="FF6600"/>
                </a:solidFill>
                <a:latin typeface="Times New Roman" pitchFamily="18" charset="0"/>
              </a:rPr>
              <a:t>/2</a:t>
            </a:r>
            <a:r>
              <a:rPr lang="zh-CN" altLang="en-US" sz="2400" b="1">
                <a:latin typeface="Times New Roman" pitchFamily="18" charset="0"/>
              </a:rPr>
              <a:t>间隔内的分子数；</a:t>
            </a:r>
            <a:r>
              <a:rPr lang="en-US" altLang="zh-CN" sz="2400" b="1">
                <a:latin typeface="Times New Roman" pitchFamily="18" charset="0"/>
              </a:rPr>
              <a:t>(3) </a:t>
            </a:r>
            <a:r>
              <a:rPr lang="zh-CN" altLang="en-US" sz="2400" b="1">
                <a:latin typeface="Times New Roman" pitchFamily="18" charset="0"/>
              </a:rPr>
              <a:t>求分子的平均平动动能。</a:t>
            </a:r>
          </a:p>
        </p:txBody>
      </p:sp>
      <p:sp>
        <p:nvSpPr>
          <p:cNvPr id="293892" name="Text Box 4"/>
          <p:cNvSpPr txBox="1">
            <a:spLocks noChangeArrowheads="1"/>
          </p:cNvSpPr>
          <p:nvPr/>
        </p:nvSpPr>
        <p:spPr bwMode="auto">
          <a:xfrm>
            <a:off x="252413" y="2276475"/>
            <a:ext cx="647700"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rPr>
              <a:t>解</a:t>
            </a:r>
            <a:endParaRPr lang="zh-CN" altLang="en-US" sz="2400" b="1">
              <a:latin typeface="Times New Roman" pitchFamily="18" charset="0"/>
            </a:endParaRPr>
          </a:p>
        </p:txBody>
      </p:sp>
      <p:sp>
        <p:nvSpPr>
          <p:cNvPr id="293893" name="Line 5"/>
          <p:cNvSpPr>
            <a:spLocks noChangeShapeType="1"/>
          </p:cNvSpPr>
          <p:nvPr/>
        </p:nvSpPr>
        <p:spPr bwMode="auto">
          <a:xfrm flipV="1">
            <a:off x="6516688" y="3103563"/>
            <a:ext cx="647700" cy="792162"/>
          </a:xfrm>
          <a:prstGeom prst="line">
            <a:avLst/>
          </a:prstGeom>
          <a:noFill/>
          <a:ln w="38100">
            <a:solidFill>
              <a:srgbClr val="0000FF"/>
            </a:solidFill>
            <a:round/>
            <a:headEnd/>
            <a:tailEnd/>
          </a:ln>
        </p:spPr>
        <p:txBody>
          <a:bodyPr/>
          <a:lstStyle/>
          <a:p>
            <a:endParaRPr lang="zh-CN" altLang="en-US"/>
          </a:p>
        </p:txBody>
      </p:sp>
      <p:sp>
        <p:nvSpPr>
          <p:cNvPr id="293894" name="Line 6"/>
          <p:cNvSpPr>
            <a:spLocks noChangeShapeType="1"/>
          </p:cNvSpPr>
          <p:nvPr/>
        </p:nvSpPr>
        <p:spPr bwMode="auto">
          <a:xfrm>
            <a:off x="7164388" y="3103563"/>
            <a:ext cx="647700" cy="0"/>
          </a:xfrm>
          <a:prstGeom prst="line">
            <a:avLst/>
          </a:prstGeom>
          <a:noFill/>
          <a:ln w="38100">
            <a:solidFill>
              <a:srgbClr val="0000FF"/>
            </a:solidFill>
            <a:round/>
            <a:headEnd/>
            <a:tailEnd/>
          </a:ln>
        </p:spPr>
        <p:txBody>
          <a:bodyPr/>
          <a:lstStyle/>
          <a:p>
            <a:endParaRPr lang="zh-CN" altLang="en-US"/>
          </a:p>
        </p:txBody>
      </p:sp>
      <p:sp>
        <p:nvSpPr>
          <p:cNvPr id="293895" name="Line 7"/>
          <p:cNvSpPr>
            <a:spLocks noChangeShapeType="1"/>
          </p:cNvSpPr>
          <p:nvPr/>
        </p:nvSpPr>
        <p:spPr bwMode="auto">
          <a:xfrm>
            <a:off x="7178675" y="3103563"/>
            <a:ext cx="0" cy="792162"/>
          </a:xfrm>
          <a:prstGeom prst="line">
            <a:avLst/>
          </a:prstGeom>
          <a:noFill/>
          <a:ln w="9525">
            <a:solidFill>
              <a:schemeClr val="tx1"/>
            </a:solidFill>
            <a:prstDash val="dash"/>
            <a:round/>
            <a:headEnd/>
            <a:tailEnd/>
          </a:ln>
        </p:spPr>
        <p:txBody>
          <a:bodyPr/>
          <a:lstStyle/>
          <a:p>
            <a:endParaRPr lang="zh-CN" altLang="en-US"/>
          </a:p>
        </p:txBody>
      </p:sp>
      <p:sp>
        <p:nvSpPr>
          <p:cNvPr id="293896" name="Line 8"/>
          <p:cNvSpPr>
            <a:spLocks noChangeShapeType="1"/>
          </p:cNvSpPr>
          <p:nvPr/>
        </p:nvSpPr>
        <p:spPr bwMode="auto">
          <a:xfrm>
            <a:off x="7812088" y="3103563"/>
            <a:ext cx="0" cy="792162"/>
          </a:xfrm>
          <a:prstGeom prst="line">
            <a:avLst/>
          </a:prstGeom>
          <a:noFill/>
          <a:ln w="38100">
            <a:solidFill>
              <a:srgbClr val="0000FF"/>
            </a:solidFill>
            <a:round/>
            <a:headEnd/>
            <a:tailEnd/>
          </a:ln>
        </p:spPr>
        <p:txBody>
          <a:bodyPr/>
          <a:lstStyle/>
          <a:p>
            <a:endParaRPr lang="zh-CN" altLang="en-US"/>
          </a:p>
        </p:txBody>
      </p:sp>
      <p:sp>
        <p:nvSpPr>
          <p:cNvPr id="293897" name="Line 9"/>
          <p:cNvSpPr>
            <a:spLocks noChangeShapeType="1"/>
          </p:cNvSpPr>
          <p:nvPr/>
        </p:nvSpPr>
        <p:spPr bwMode="auto">
          <a:xfrm>
            <a:off x="6516688" y="3103563"/>
            <a:ext cx="647700" cy="0"/>
          </a:xfrm>
          <a:prstGeom prst="line">
            <a:avLst/>
          </a:prstGeom>
          <a:noFill/>
          <a:ln w="9525">
            <a:solidFill>
              <a:schemeClr val="tx1"/>
            </a:solidFill>
            <a:prstDash val="dash"/>
            <a:round/>
            <a:headEnd/>
            <a:tailEnd/>
          </a:ln>
        </p:spPr>
        <p:txBody>
          <a:bodyPr/>
          <a:lstStyle/>
          <a:p>
            <a:endParaRPr lang="zh-CN" altLang="en-US"/>
          </a:p>
        </p:txBody>
      </p:sp>
      <p:grpSp>
        <p:nvGrpSpPr>
          <p:cNvPr id="2" name="Group 10"/>
          <p:cNvGrpSpPr>
            <a:grpSpLocks/>
          </p:cNvGrpSpPr>
          <p:nvPr/>
        </p:nvGrpSpPr>
        <p:grpSpPr bwMode="auto">
          <a:xfrm>
            <a:off x="5724525" y="2347913"/>
            <a:ext cx="3095625" cy="1801812"/>
            <a:chOff x="3606" y="1729"/>
            <a:chExt cx="1950" cy="1135"/>
          </a:xfrm>
        </p:grpSpPr>
        <p:sp>
          <p:nvSpPr>
            <p:cNvPr id="51221" name="Line 11"/>
            <p:cNvSpPr>
              <a:spLocks noChangeShapeType="1"/>
            </p:cNvSpPr>
            <p:nvPr/>
          </p:nvSpPr>
          <p:spPr bwMode="auto">
            <a:xfrm flipV="1">
              <a:off x="4105" y="1848"/>
              <a:ext cx="0" cy="862"/>
            </a:xfrm>
            <a:prstGeom prst="line">
              <a:avLst/>
            </a:prstGeom>
            <a:noFill/>
            <a:ln w="38100">
              <a:solidFill>
                <a:schemeClr val="tx1"/>
              </a:solidFill>
              <a:round/>
              <a:headEnd/>
              <a:tailEnd type="triangle" w="med" len="med"/>
            </a:ln>
          </p:spPr>
          <p:txBody>
            <a:bodyPr/>
            <a:lstStyle/>
            <a:p>
              <a:endParaRPr lang="zh-CN" altLang="en-US"/>
            </a:p>
          </p:txBody>
        </p:sp>
        <p:sp>
          <p:nvSpPr>
            <p:cNvPr id="51222" name="Line 12"/>
            <p:cNvSpPr>
              <a:spLocks noChangeShapeType="1"/>
            </p:cNvSpPr>
            <p:nvPr/>
          </p:nvSpPr>
          <p:spPr bwMode="auto">
            <a:xfrm rot="5400000" flipV="1">
              <a:off x="4695" y="2114"/>
              <a:ext cx="0" cy="1179"/>
            </a:xfrm>
            <a:prstGeom prst="line">
              <a:avLst/>
            </a:prstGeom>
            <a:noFill/>
            <a:ln w="38100">
              <a:solidFill>
                <a:schemeClr val="tx1"/>
              </a:solidFill>
              <a:round/>
              <a:headEnd/>
              <a:tailEnd type="triangle" w="med" len="med"/>
            </a:ln>
          </p:spPr>
          <p:txBody>
            <a:bodyPr/>
            <a:lstStyle/>
            <a:p>
              <a:endParaRPr lang="zh-CN" altLang="en-US"/>
            </a:p>
          </p:txBody>
        </p:sp>
        <p:sp>
          <p:nvSpPr>
            <p:cNvPr id="51223" name="Text Box 13"/>
            <p:cNvSpPr txBox="1">
              <a:spLocks noChangeArrowheads="1"/>
            </p:cNvSpPr>
            <p:nvPr/>
          </p:nvSpPr>
          <p:spPr bwMode="auto">
            <a:xfrm>
              <a:off x="3878" y="2614"/>
              <a:ext cx="317" cy="250"/>
            </a:xfrm>
            <a:prstGeom prst="rect">
              <a:avLst/>
            </a:prstGeom>
            <a:noFill/>
            <a:ln w="9525">
              <a:noFill/>
              <a:miter lim="800000"/>
              <a:headEnd/>
              <a:tailEnd/>
            </a:ln>
          </p:spPr>
          <p:txBody>
            <a:bodyPr>
              <a:spAutoFit/>
            </a:bodyPr>
            <a:lstStyle/>
            <a:p>
              <a:r>
                <a:rPr lang="en-US" altLang="zh-CN" sz="2000" b="1" i="1">
                  <a:latin typeface="Times New Roman" pitchFamily="18" charset="0"/>
                </a:rPr>
                <a:t>O</a:t>
              </a:r>
            </a:p>
          </p:txBody>
        </p:sp>
        <p:sp>
          <p:nvSpPr>
            <p:cNvPr id="51224" name="Text Box 14"/>
            <p:cNvSpPr txBox="1">
              <a:spLocks noChangeArrowheads="1"/>
            </p:cNvSpPr>
            <p:nvPr/>
          </p:nvSpPr>
          <p:spPr bwMode="auto">
            <a:xfrm>
              <a:off x="5239" y="2614"/>
              <a:ext cx="317" cy="250"/>
            </a:xfrm>
            <a:prstGeom prst="rect">
              <a:avLst/>
            </a:prstGeom>
            <a:noFill/>
            <a:ln w="9525">
              <a:noFill/>
              <a:miter lim="800000"/>
              <a:headEnd/>
              <a:tailEnd/>
            </a:ln>
          </p:spPr>
          <p:txBody>
            <a:bodyPr>
              <a:spAutoFit/>
            </a:bodyPr>
            <a:lstStyle/>
            <a:p>
              <a:r>
                <a:rPr lang="en-US" altLang="zh-CN" sz="2000" b="1" i="1">
                  <a:latin typeface="Times New Roman" pitchFamily="18" charset="0"/>
                </a:rPr>
                <a:t>v</a:t>
              </a:r>
            </a:p>
          </p:txBody>
        </p:sp>
        <p:sp>
          <p:nvSpPr>
            <p:cNvPr id="51225" name="Text Box 15"/>
            <p:cNvSpPr txBox="1">
              <a:spLocks noChangeArrowheads="1"/>
            </p:cNvSpPr>
            <p:nvPr/>
          </p:nvSpPr>
          <p:spPr bwMode="auto">
            <a:xfrm>
              <a:off x="3606" y="1729"/>
              <a:ext cx="681" cy="250"/>
            </a:xfrm>
            <a:prstGeom prst="rect">
              <a:avLst/>
            </a:prstGeom>
            <a:noFill/>
            <a:ln w="9525">
              <a:noFill/>
              <a:miter lim="800000"/>
              <a:headEnd/>
              <a:tailEnd/>
            </a:ln>
          </p:spPr>
          <p:txBody>
            <a:bodyPr>
              <a:spAutoFit/>
            </a:bodyPr>
            <a:lstStyle/>
            <a:p>
              <a:r>
                <a:rPr lang="en-US" altLang="zh-CN" sz="2000" b="1" i="1">
                  <a:latin typeface="Times New Roman" pitchFamily="18" charset="0"/>
                </a:rPr>
                <a:t>Nf</a:t>
              </a:r>
              <a:r>
                <a:rPr lang="en-US" altLang="zh-CN" sz="2000" b="1">
                  <a:latin typeface="Times New Roman" pitchFamily="18" charset="0"/>
                </a:rPr>
                <a:t>(</a:t>
              </a:r>
              <a:r>
                <a:rPr lang="en-US" altLang="zh-CN" sz="2000" b="1" i="1">
                  <a:latin typeface="Times New Roman" pitchFamily="18" charset="0"/>
                </a:rPr>
                <a:t>v</a:t>
              </a:r>
              <a:r>
                <a:rPr lang="en-US" altLang="zh-CN" sz="2000" b="1">
                  <a:latin typeface="Times New Roman" pitchFamily="18" charset="0"/>
                </a:rPr>
                <a:t>)</a:t>
              </a:r>
            </a:p>
          </p:txBody>
        </p:sp>
      </p:grpSp>
      <p:sp>
        <p:nvSpPr>
          <p:cNvPr id="293904" name="Text Box 16"/>
          <p:cNvSpPr txBox="1">
            <a:spLocks noChangeArrowheads="1"/>
          </p:cNvSpPr>
          <p:nvPr/>
        </p:nvSpPr>
        <p:spPr bwMode="auto">
          <a:xfrm>
            <a:off x="7019925" y="3895725"/>
            <a:ext cx="647700" cy="396875"/>
          </a:xfrm>
          <a:prstGeom prst="rect">
            <a:avLst/>
          </a:prstGeom>
          <a:noFill/>
          <a:ln w="9525">
            <a:noFill/>
            <a:miter lim="800000"/>
            <a:headEnd/>
            <a:tailEnd/>
          </a:ln>
        </p:spPr>
        <p:txBody>
          <a:bodyPr>
            <a:spAutoFit/>
          </a:bodyPr>
          <a:lstStyle/>
          <a:p>
            <a:r>
              <a:rPr lang="en-US" altLang="zh-CN" sz="2000" b="1" i="1">
                <a:latin typeface="Times New Roman" pitchFamily="18" charset="0"/>
              </a:rPr>
              <a:t>v</a:t>
            </a:r>
            <a:r>
              <a:rPr lang="en-US" altLang="zh-CN" sz="2000" b="1" baseline="-25000">
                <a:latin typeface="Times New Roman" pitchFamily="18" charset="0"/>
              </a:rPr>
              <a:t>0</a:t>
            </a:r>
            <a:endParaRPr lang="en-US" altLang="zh-CN" sz="2000" b="1">
              <a:latin typeface="Times New Roman" pitchFamily="18" charset="0"/>
            </a:endParaRPr>
          </a:p>
        </p:txBody>
      </p:sp>
      <p:sp>
        <p:nvSpPr>
          <p:cNvPr id="293905" name="Text Box 17"/>
          <p:cNvSpPr txBox="1">
            <a:spLocks noChangeArrowheads="1"/>
          </p:cNvSpPr>
          <p:nvPr/>
        </p:nvSpPr>
        <p:spPr bwMode="auto">
          <a:xfrm>
            <a:off x="7669213" y="3895725"/>
            <a:ext cx="935037" cy="396875"/>
          </a:xfrm>
          <a:prstGeom prst="rect">
            <a:avLst/>
          </a:prstGeom>
          <a:noFill/>
          <a:ln w="9525">
            <a:noFill/>
            <a:miter lim="800000"/>
            <a:headEnd/>
            <a:tailEnd/>
          </a:ln>
        </p:spPr>
        <p:txBody>
          <a:bodyPr>
            <a:spAutoFit/>
          </a:bodyPr>
          <a:lstStyle/>
          <a:p>
            <a:r>
              <a:rPr lang="en-US" altLang="zh-CN" sz="2000" b="1" i="1">
                <a:latin typeface="Times New Roman" pitchFamily="18" charset="0"/>
              </a:rPr>
              <a:t>2v</a:t>
            </a:r>
            <a:r>
              <a:rPr lang="en-US" altLang="zh-CN" sz="2000" b="1" baseline="-25000">
                <a:latin typeface="Times New Roman" pitchFamily="18" charset="0"/>
              </a:rPr>
              <a:t>0</a:t>
            </a:r>
            <a:endParaRPr lang="en-US" altLang="zh-CN" sz="2000" b="1">
              <a:latin typeface="Times New Roman" pitchFamily="18" charset="0"/>
            </a:endParaRPr>
          </a:p>
        </p:txBody>
      </p:sp>
      <p:sp>
        <p:nvSpPr>
          <p:cNvPr id="293906" name="Text Box 18"/>
          <p:cNvSpPr txBox="1">
            <a:spLocks noChangeArrowheads="1"/>
          </p:cNvSpPr>
          <p:nvPr/>
        </p:nvSpPr>
        <p:spPr bwMode="auto">
          <a:xfrm>
            <a:off x="6156325" y="2887663"/>
            <a:ext cx="647700" cy="396875"/>
          </a:xfrm>
          <a:prstGeom prst="rect">
            <a:avLst/>
          </a:prstGeom>
          <a:noFill/>
          <a:ln w="9525">
            <a:noFill/>
            <a:miter lim="800000"/>
            <a:headEnd/>
            <a:tailEnd/>
          </a:ln>
        </p:spPr>
        <p:txBody>
          <a:bodyPr>
            <a:spAutoFit/>
          </a:bodyPr>
          <a:lstStyle/>
          <a:p>
            <a:r>
              <a:rPr lang="en-US" altLang="zh-CN" sz="2000" b="1" i="1">
                <a:latin typeface="Times New Roman" pitchFamily="18" charset="0"/>
              </a:rPr>
              <a:t>a</a:t>
            </a:r>
            <a:endParaRPr lang="en-US" altLang="zh-CN" sz="2000" b="1">
              <a:latin typeface="Times New Roman" pitchFamily="18" charset="0"/>
            </a:endParaRPr>
          </a:p>
        </p:txBody>
      </p:sp>
      <p:sp>
        <p:nvSpPr>
          <p:cNvPr id="293907" name="Text Box 19"/>
          <p:cNvSpPr txBox="1">
            <a:spLocks noChangeArrowheads="1"/>
          </p:cNvSpPr>
          <p:nvPr/>
        </p:nvSpPr>
        <p:spPr bwMode="auto">
          <a:xfrm>
            <a:off x="827088" y="2276475"/>
            <a:ext cx="4124325" cy="457200"/>
          </a:xfrm>
          <a:prstGeom prst="rect">
            <a:avLst/>
          </a:prstGeom>
          <a:noFill/>
          <a:ln w="9525">
            <a:noFill/>
            <a:miter lim="800000"/>
            <a:headEnd/>
            <a:tailEnd/>
          </a:ln>
        </p:spPr>
        <p:txBody>
          <a:bodyPr>
            <a:spAutoFit/>
          </a:bodyPr>
          <a:lstStyle/>
          <a:p>
            <a:r>
              <a:rPr lang="en-US" altLang="zh-CN" sz="2400" b="1">
                <a:latin typeface="Times New Roman" pitchFamily="18" charset="0"/>
                <a:ea typeface="楷体_GB2312" pitchFamily="49" charset="-122"/>
              </a:rPr>
              <a:t>(1) </a:t>
            </a:r>
            <a:r>
              <a:rPr lang="zh-CN" altLang="en-US" sz="2400" b="1">
                <a:latin typeface="Times New Roman" pitchFamily="18" charset="0"/>
                <a:ea typeface="楷体_GB2312" pitchFamily="49" charset="-122"/>
              </a:rPr>
              <a:t>由</a:t>
            </a:r>
            <a:r>
              <a:rPr lang="zh-CN" altLang="en-US" sz="2400" b="1">
                <a:solidFill>
                  <a:srgbClr val="FF6600"/>
                </a:solidFill>
                <a:latin typeface="Times New Roman" pitchFamily="18" charset="0"/>
                <a:ea typeface="楷体_GB2312" pitchFamily="49" charset="-122"/>
              </a:rPr>
              <a:t>归一化条件</a:t>
            </a:r>
            <a:r>
              <a:rPr lang="zh-CN" altLang="en-US" sz="2400" b="1">
                <a:latin typeface="Times New Roman" pitchFamily="18" charset="0"/>
                <a:ea typeface="楷体_GB2312" pitchFamily="49" charset="-122"/>
              </a:rPr>
              <a:t>，得</a:t>
            </a:r>
          </a:p>
        </p:txBody>
      </p:sp>
      <p:graphicFrame>
        <p:nvGraphicFramePr>
          <p:cNvPr id="293908" name="Object 20"/>
          <p:cNvGraphicFramePr>
            <a:graphicFrameLocks noChangeAspect="1"/>
          </p:cNvGraphicFramePr>
          <p:nvPr/>
        </p:nvGraphicFramePr>
        <p:xfrm>
          <a:off x="1908175" y="2852738"/>
          <a:ext cx="1598613" cy="593725"/>
        </p:xfrm>
        <a:graphic>
          <a:graphicData uri="http://schemas.openxmlformats.org/presentationml/2006/ole">
            <p:oleObj spid="_x0000_s51202" name="公式" r:id="rId3" imgW="888840" imgH="330120" progId="Equation.3">
              <p:embed/>
            </p:oleObj>
          </a:graphicData>
        </a:graphic>
      </p:graphicFrame>
      <p:sp>
        <p:nvSpPr>
          <p:cNvPr id="293909" name="AutoShape 21"/>
          <p:cNvSpPr>
            <a:spLocks noChangeArrowheads="1"/>
          </p:cNvSpPr>
          <p:nvPr/>
        </p:nvSpPr>
        <p:spPr bwMode="auto">
          <a:xfrm>
            <a:off x="1187450" y="3862388"/>
            <a:ext cx="468313" cy="90487"/>
          </a:xfrm>
          <a:prstGeom prst="rightArrow">
            <a:avLst>
              <a:gd name="adj1" fmla="val 50000"/>
              <a:gd name="adj2" fmla="val 129387"/>
            </a:avLst>
          </a:prstGeom>
          <a:solidFill>
            <a:schemeClr val="accent1"/>
          </a:solidFill>
          <a:ln w="9525">
            <a:solidFill>
              <a:schemeClr val="tx1"/>
            </a:solidFill>
            <a:miter lim="800000"/>
            <a:headEnd/>
            <a:tailEnd/>
          </a:ln>
        </p:spPr>
        <p:txBody>
          <a:bodyPr wrap="none" anchor="ctr"/>
          <a:lstStyle/>
          <a:p>
            <a:pPr algn="ctr"/>
            <a:endParaRPr lang="zh-CN" altLang="en-US"/>
          </a:p>
        </p:txBody>
      </p:sp>
      <p:graphicFrame>
        <p:nvGraphicFramePr>
          <p:cNvPr id="293910" name="Object 22"/>
          <p:cNvGraphicFramePr>
            <a:graphicFrameLocks noChangeAspect="1"/>
          </p:cNvGraphicFramePr>
          <p:nvPr/>
        </p:nvGraphicFramePr>
        <p:xfrm>
          <a:off x="1835150" y="3500438"/>
          <a:ext cx="2659063" cy="800100"/>
        </p:xfrm>
        <a:graphic>
          <a:graphicData uri="http://schemas.openxmlformats.org/presentationml/2006/ole">
            <p:oleObj spid="_x0000_s51203" name="公式" r:id="rId4" imgW="1473120" imgH="444240" progId="Equation.3">
              <p:embed/>
            </p:oleObj>
          </a:graphicData>
        </a:graphic>
      </p:graphicFrame>
      <p:graphicFrame>
        <p:nvGraphicFramePr>
          <p:cNvPr id="293911" name="Object 23"/>
          <p:cNvGraphicFramePr>
            <a:graphicFrameLocks noChangeAspect="1"/>
          </p:cNvGraphicFramePr>
          <p:nvPr/>
        </p:nvGraphicFramePr>
        <p:xfrm>
          <a:off x="1763713" y="4364038"/>
          <a:ext cx="3297237" cy="823912"/>
        </p:xfrm>
        <a:graphic>
          <a:graphicData uri="http://schemas.openxmlformats.org/presentationml/2006/ole">
            <p:oleObj spid="_x0000_s51204" name="公式" r:id="rId5" imgW="1828800" imgH="457200" progId="Equation.3">
              <p:embed/>
            </p:oleObj>
          </a:graphicData>
        </a:graphic>
      </p:graphicFrame>
      <p:sp>
        <p:nvSpPr>
          <p:cNvPr id="293912" name="AutoShape 24"/>
          <p:cNvSpPr>
            <a:spLocks noChangeArrowheads="1"/>
          </p:cNvSpPr>
          <p:nvPr/>
        </p:nvSpPr>
        <p:spPr bwMode="auto">
          <a:xfrm>
            <a:off x="1160463" y="5786438"/>
            <a:ext cx="468312" cy="90487"/>
          </a:xfrm>
          <a:prstGeom prst="rightArrow">
            <a:avLst>
              <a:gd name="adj1" fmla="val 50000"/>
              <a:gd name="adj2" fmla="val 129387"/>
            </a:avLst>
          </a:prstGeom>
          <a:solidFill>
            <a:schemeClr val="accent1"/>
          </a:solidFill>
          <a:ln w="9525">
            <a:solidFill>
              <a:schemeClr val="tx1"/>
            </a:solidFill>
            <a:miter lim="800000"/>
            <a:headEnd/>
            <a:tailEnd/>
          </a:ln>
        </p:spPr>
        <p:txBody>
          <a:bodyPr wrap="none" anchor="ctr"/>
          <a:lstStyle/>
          <a:p>
            <a:pPr algn="ctr"/>
            <a:endParaRPr lang="zh-CN" altLang="en-US"/>
          </a:p>
        </p:txBody>
      </p:sp>
      <p:graphicFrame>
        <p:nvGraphicFramePr>
          <p:cNvPr id="293913" name="Object 25"/>
          <p:cNvGraphicFramePr>
            <a:graphicFrameLocks noChangeAspect="1"/>
          </p:cNvGraphicFramePr>
          <p:nvPr/>
        </p:nvGraphicFramePr>
        <p:xfrm>
          <a:off x="1763713" y="5445125"/>
          <a:ext cx="957262" cy="800100"/>
        </p:xfrm>
        <a:graphic>
          <a:graphicData uri="http://schemas.openxmlformats.org/presentationml/2006/ole">
            <p:oleObj spid="_x0000_s51205" name="公式" r:id="rId6" imgW="533160" imgH="4442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3890"/>
                                        </p:tgtEl>
                                        <p:attrNameLst>
                                          <p:attrName>style.visibility</p:attrName>
                                        </p:attrNameLst>
                                      </p:cBhvr>
                                      <p:to>
                                        <p:strVal val="visible"/>
                                      </p:to>
                                    </p:set>
                                    <p:animEffect transition="in" filter="wipe(left)">
                                      <p:cBhvr>
                                        <p:cTn id="7" dur="1000"/>
                                        <p:tgtEl>
                                          <p:spTgt spid="29389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93891"/>
                                        </p:tgtEl>
                                        <p:attrNameLst>
                                          <p:attrName>style.visibility</p:attrName>
                                        </p:attrNameLst>
                                      </p:cBhvr>
                                      <p:to>
                                        <p:strVal val="visible"/>
                                      </p:to>
                                    </p:set>
                                    <p:animEffect transition="in" filter="wipe(left)">
                                      <p:cBhvr>
                                        <p:cTn id="11" dur="1000"/>
                                        <p:tgtEl>
                                          <p:spTgt spid="293891"/>
                                        </p:tgtEl>
                                      </p:cBhvr>
                                    </p:animEffect>
                                  </p:childTnLst>
                                </p:cTn>
                              </p:par>
                            </p:childTnLst>
                          </p:cTn>
                        </p:par>
                        <p:par>
                          <p:cTn id="12" fill="hold">
                            <p:stCondLst>
                              <p:cond delay="2000"/>
                            </p:stCondLst>
                            <p:childTnLst>
                              <p:par>
                                <p:cTn id="13" presetID="4" presetClass="entr" presetSubtype="3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ox(out)">
                                      <p:cBhvr>
                                        <p:cTn id="15" dur="1000"/>
                                        <p:tgtEl>
                                          <p:spTgt spid="2"/>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293893"/>
                                        </p:tgtEl>
                                        <p:attrNameLst>
                                          <p:attrName>style.visibility</p:attrName>
                                        </p:attrNameLst>
                                      </p:cBhvr>
                                      <p:to>
                                        <p:strVal val="visible"/>
                                      </p:to>
                                    </p:set>
                                    <p:animEffect transition="in" filter="wipe(left)">
                                      <p:cBhvr>
                                        <p:cTn id="19" dur="1000"/>
                                        <p:tgtEl>
                                          <p:spTgt spid="293893"/>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293894"/>
                                        </p:tgtEl>
                                        <p:attrNameLst>
                                          <p:attrName>style.visibility</p:attrName>
                                        </p:attrNameLst>
                                      </p:cBhvr>
                                      <p:to>
                                        <p:strVal val="visible"/>
                                      </p:to>
                                    </p:set>
                                    <p:animEffect transition="in" filter="wipe(left)">
                                      <p:cBhvr>
                                        <p:cTn id="23" dur="1000"/>
                                        <p:tgtEl>
                                          <p:spTgt spid="293894"/>
                                        </p:tgtEl>
                                      </p:cBhvr>
                                    </p:animEffect>
                                  </p:childTnLst>
                                </p:cTn>
                              </p:par>
                            </p:childTnLst>
                          </p:cTn>
                        </p:par>
                        <p:par>
                          <p:cTn id="24" fill="hold">
                            <p:stCondLst>
                              <p:cond delay="5000"/>
                            </p:stCondLst>
                            <p:childTnLst>
                              <p:par>
                                <p:cTn id="25" presetID="22" presetClass="entr" presetSubtype="1" fill="hold" grpId="0" nodeType="afterEffect">
                                  <p:stCondLst>
                                    <p:cond delay="0"/>
                                  </p:stCondLst>
                                  <p:childTnLst>
                                    <p:set>
                                      <p:cBhvr>
                                        <p:cTn id="26" dur="1" fill="hold">
                                          <p:stCondLst>
                                            <p:cond delay="0"/>
                                          </p:stCondLst>
                                        </p:cTn>
                                        <p:tgtEl>
                                          <p:spTgt spid="293896"/>
                                        </p:tgtEl>
                                        <p:attrNameLst>
                                          <p:attrName>style.visibility</p:attrName>
                                        </p:attrNameLst>
                                      </p:cBhvr>
                                      <p:to>
                                        <p:strVal val="visible"/>
                                      </p:to>
                                    </p:set>
                                    <p:animEffect transition="in" filter="wipe(up)">
                                      <p:cBhvr>
                                        <p:cTn id="27" dur="1000"/>
                                        <p:tgtEl>
                                          <p:spTgt spid="293896"/>
                                        </p:tgtEl>
                                      </p:cBhvr>
                                    </p:animEffect>
                                  </p:childTnLst>
                                </p:cTn>
                              </p:par>
                            </p:childTnLst>
                          </p:cTn>
                        </p:par>
                        <p:par>
                          <p:cTn id="28" fill="hold">
                            <p:stCondLst>
                              <p:cond delay="6000"/>
                            </p:stCondLst>
                            <p:childTnLst>
                              <p:par>
                                <p:cTn id="29" presetID="22" presetClass="entr" presetSubtype="1" fill="hold" grpId="0" nodeType="afterEffect">
                                  <p:stCondLst>
                                    <p:cond delay="0"/>
                                  </p:stCondLst>
                                  <p:childTnLst>
                                    <p:set>
                                      <p:cBhvr>
                                        <p:cTn id="30" dur="1" fill="hold">
                                          <p:stCondLst>
                                            <p:cond delay="0"/>
                                          </p:stCondLst>
                                        </p:cTn>
                                        <p:tgtEl>
                                          <p:spTgt spid="293895"/>
                                        </p:tgtEl>
                                        <p:attrNameLst>
                                          <p:attrName>style.visibility</p:attrName>
                                        </p:attrNameLst>
                                      </p:cBhvr>
                                      <p:to>
                                        <p:strVal val="visible"/>
                                      </p:to>
                                    </p:set>
                                    <p:animEffect transition="in" filter="wipe(up)">
                                      <p:cBhvr>
                                        <p:cTn id="31" dur="1000"/>
                                        <p:tgtEl>
                                          <p:spTgt spid="29389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93897"/>
                                        </p:tgtEl>
                                        <p:attrNameLst>
                                          <p:attrName>style.visibility</p:attrName>
                                        </p:attrNameLst>
                                      </p:cBhvr>
                                      <p:to>
                                        <p:strVal val="visible"/>
                                      </p:to>
                                    </p:set>
                                    <p:animEffect transition="in" filter="wipe(up)">
                                      <p:cBhvr>
                                        <p:cTn id="34" dur="1000"/>
                                        <p:tgtEl>
                                          <p:spTgt spid="293897"/>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293906"/>
                                        </p:tgtEl>
                                        <p:attrNameLst>
                                          <p:attrName>style.visibility</p:attrName>
                                        </p:attrNameLst>
                                      </p:cBhvr>
                                      <p:to>
                                        <p:strVal val="visible"/>
                                      </p:to>
                                    </p:set>
                                    <p:animEffect transition="in" filter="wipe(up)">
                                      <p:cBhvr>
                                        <p:cTn id="37" dur="1000"/>
                                        <p:tgtEl>
                                          <p:spTgt spid="29390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293904"/>
                                        </p:tgtEl>
                                        <p:attrNameLst>
                                          <p:attrName>style.visibility</p:attrName>
                                        </p:attrNameLst>
                                      </p:cBhvr>
                                      <p:to>
                                        <p:strVal val="visible"/>
                                      </p:to>
                                    </p:set>
                                    <p:animEffect transition="in" filter="wipe(up)">
                                      <p:cBhvr>
                                        <p:cTn id="40" dur="1000"/>
                                        <p:tgtEl>
                                          <p:spTgt spid="293904"/>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93905"/>
                                        </p:tgtEl>
                                        <p:attrNameLst>
                                          <p:attrName>style.visibility</p:attrName>
                                        </p:attrNameLst>
                                      </p:cBhvr>
                                      <p:to>
                                        <p:strVal val="visible"/>
                                      </p:to>
                                    </p:set>
                                    <p:animEffect transition="in" filter="wipe(up)">
                                      <p:cBhvr>
                                        <p:cTn id="43" dur="1000"/>
                                        <p:tgtEl>
                                          <p:spTgt spid="29390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3892"/>
                                        </p:tgtEl>
                                        <p:attrNameLst>
                                          <p:attrName>style.visibility</p:attrName>
                                        </p:attrNameLst>
                                      </p:cBhvr>
                                      <p:to>
                                        <p:strVal val="visible"/>
                                      </p:to>
                                    </p:set>
                                    <p:animEffect transition="in" filter="wipe(left)">
                                      <p:cBhvr>
                                        <p:cTn id="48" dur="1000"/>
                                        <p:tgtEl>
                                          <p:spTgt spid="29389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93907"/>
                                        </p:tgtEl>
                                        <p:attrNameLst>
                                          <p:attrName>style.visibility</p:attrName>
                                        </p:attrNameLst>
                                      </p:cBhvr>
                                      <p:to>
                                        <p:strVal val="visible"/>
                                      </p:to>
                                    </p:set>
                                    <p:animEffect transition="in" filter="wipe(left)">
                                      <p:cBhvr>
                                        <p:cTn id="53" dur="1000"/>
                                        <p:tgtEl>
                                          <p:spTgt spid="29390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93908"/>
                                        </p:tgtEl>
                                        <p:attrNameLst>
                                          <p:attrName>style.visibility</p:attrName>
                                        </p:attrNameLst>
                                      </p:cBhvr>
                                      <p:to>
                                        <p:strVal val="visible"/>
                                      </p:to>
                                    </p:set>
                                    <p:animEffect transition="in" filter="wipe(left)">
                                      <p:cBhvr>
                                        <p:cTn id="58" dur="1000"/>
                                        <p:tgtEl>
                                          <p:spTgt spid="29390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93909"/>
                                        </p:tgtEl>
                                        <p:attrNameLst>
                                          <p:attrName>style.visibility</p:attrName>
                                        </p:attrNameLst>
                                      </p:cBhvr>
                                      <p:to>
                                        <p:strVal val="visible"/>
                                      </p:to>
                                    </p:set>
                                    <p:animEffect transition="in" filter="wipe(left)">
                                      <p:cBhvr>
                                        <p:cTn id="63" dur="1000"/>
                                        <p:tgtEl>
                                          <p:spTgt spid="29390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93910"/>
                                        </p:tgtEl>
                                        <p:attrNameLst>
                                          <p:attrName>style.visibility</p:attrName>
                                        </p:attrNameLst>
                                      </p:cBhvr>
                                      <p:to>
                                        <p:strVal val="visible"/>
                                      </p:to>
                                    </p:set>
                                    <p:animEffect transition="in" filter="wipe(left)">
                                      <p:cBhvr>
                                        <p:cTn id="68" dur="1000"/>
                                        <p:tgtEl>
                                          <p:spTgt spid="29391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93911"/>
                                        </p:tgtEl>
                                        <p:attrNameLst>
                                          <p:attrName>style.visibility</p:attrName>
                                        </p:attrNameLst>
                                      </p:cBhvr>
                                      <p:to>
                                        <p:strVal val="visible"/>
                                      </p:to>
                                    </p:set>
                                    <p:animEffect transition="in" filter="wipe(left)">
                                      <p:cBhvr>
                                        <p:cTn id="73" dur="1000"/>
                                        <p:tgtEl>
                                          <p:spTgt spid="29391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93912"/>
                                        </p:tgtEl>
                                        <p:attrNameLst>
                                          <p:attrName>style.visibility</p:attrName>
                                        </p:attrNameLst>
                                      </p:cBhvr>
                                      <p:to>
                                        <p:strVal val="visible"/>
                                      </p:to>
                                    </p:set>
                                    <p:animEffect transition="in" filter="wipe(left)">
                                      <p:cBhvr>
                                        <p:cTn id="78" dur="1000"/>
                                        <p:tgtEl>
                                          <p:spTgt spid="293912"/>
                                        </p:tgtEl>
                                      </p:cBhvr>
                                    </p:animEffect>
                                  </p:childTnLst>
                                </p:cTn>
                              </p:par>
                            </p:childTnLst>
                          </p:cTn>
                        </p:par>
                        <p:par>
                          <p:cTn id="79" fill="hold">
                            <p:stCondLst>
                              <p:cond delay="1000"/>
                            </p:stCondLst>
                            <p:childTnLst>
                              <p:par>
                                <p:cTn id="80" presetID="22" presetClass="entr" presetSubtype="8" fill="hold" nodeType="afterEffect">
                                  <p:stCondLst>
                                    <p:cond delay="0"/>
                                  </p:stCondLst>
                                  <p:childTnLst>
                                    <p:set>
                                      <p:cBhvr>
                                        <p:cTn id="81" dur="1" fill="hold">
                                          <p:stCondLst>
                                            <p:cond delay="0"/>
                                          </p:stCondLst>
                                        </p:cTn>
                                        <p:tgtEl>
                                          <p:spTgt spid="293913"/>
                                        </p:tgtEl>
                                        <p:attrNameLst>
                                          <p:attrName>style.visibility</p:attrName>
                                        </p:attrNameLst>
                                      </p:cBhvr>
                                      <p:to>
                                        <p:strVal val="visible"/>
                                      </p:to>
                                    </p:set>
                                    <p:animEffect transition="in" filter="wipe(left)">
                                      <p:cBhvr>
                                        <p:cTn id="82" dur="1000"/>
                                        <p:tgtEl>
                                          <p:spTgt spid="293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0" grpId="0"/>
      <p:bldP spid="293891" grpId="0"/>
      <p:bldP spid="293892" grpId="0"/>
      <p:bldP spid="293893" grpId="0" animBg="1"/>
      <p:bldP spid="293894" grpId="0" animBg="1"/>
      <p:bldP spid="293895" grpId="0" animBg="1"/>
      <p:bldP spid="293896" grpId="0" animBg="1"/>
      <p:bldP spid="293897" grpId="0" animBg="1"/>
      <p:bldP spid="293904" grpId="0"/>
      <p:bldP spid="293905" grpId="0"/>
      <p:bldP spid="293906" grpId="0"/>
      <p:bldP spid="293907" grpId="0"/>
      <p:bldP spid="293909" grpId="0" animBg="1"/>
      <p:bldP spid="29391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37" name="Group 4"/>
          <p:cNvGrpSpPr>
            <a:grpSpLocks/>
          </p:cNvGrpSpPr>
          <p:nvPr/>
        </p:nvGrpSpPr>
        <p:grpSpPr bwMode="auto">
          <a:xfrm>
            <a:off x="5942013" y="549275"/>
            <a:ext cx="2951162" cy="1944688"/>
            <a:chOff x="3788" y="1344"/>
            <a:chExt cx="1859" cy="1225"/>
          </a:xfrm>
        </p:grpSpPr>
        <p:sp>
          <p:nvSpPr>
            <p:cNvPr id="52242" name="Line 5"/>
            <p:cNvSpPr>
              <a:spLocks noChangeShapeType="1"/>
            </p:cNvSpPr>
            <p:nvPr/>
          </p:nvSpPr>
          <p:spPr bwMode="auto">
            <a:xfrm flipV="1">
              <a:off x="4287" y="1463"/>
              <a:ext cx="0" cy="862"/>
            </a:xfrm>
            <a:prstGeom prst="line">
              <a:avLst/>
            </a:prstGeom>
            <a:noFill/>
            <a:ln w="38100">
              <a:solidFill>
                <a:schemeClr val="tx1"/>
              </a:solidFill>
              <a:round/>
              <a:headEnd/>
              <a:tailEnd type="triangle" w="med" len="med"/>
            </a:ln>
          </p:spPr>
          <p:txBody>
            <a:bodyPr/>
            <a:lstStyle/>
            <a:p>
              <a:endParaRPr lang="zh-CN" altLang="en-US"/>
            </a:p>
          </p:txBody>
        </p:sp>
        <p:sp>
          <p:nvSpPr>
            <p:cNvPr id="52243" name="Line 6"/>
            <p:cNvSpPr>
              <a:spLocks noChangeShapeType="1"/>
            </p:cNvSpPr>
            <p:nvPr/>
          </p:nvSpPr>
          <p:spPr bwMode="auto">
            <a:xfrm rot="5400000" flipV="1">
              <a:off x="4877" y="1729"/>
              <a:ext cx="0" cy="1179"/>
            </a:xfrm>
            <a:prstGeom prst="line">
              <a:avLst/>
            </a:prstGeom>
            <a:noFill/>
            <a:ln w="38100">
              <a:solidFill>
                <a:schemeClr val="tx1"/>
              </a:solidFill>
              <a:round/>
              <a:headEnd/>
              <a:tailEnd type="triangle" w="med" len="med"/>
            </a:ln>
          </p:spPr>
          <p:txBody>
            <a:bodyPr/>
            <a:lstStyle/>
            <a:p>
              <a:endParaRPr lang="zh-CN" altLang="en-US"/>
            </a:p>
          </p:txBody>
        </p:sp>
        <p:sp>
          <p:nvSpPr>
            <p:cNvPr id="52244" name="Line 7"/>
            <p:cNvSpPr>
              <a:spLocks noChangeShapeType="1"/>
            </p:cNvSpPr>
            <p:nvPr/>
          </p:nvSpPr>
          <p:spPr bwMode="auto">
            <a:xfrm flipV="1">
              <a:off x="4287" y="1820"/>
              <a:ext cx="408" cy="499"/>
            </a:xfrm>
            <a:prstGeom prst="line">
              <a:avLst/>
            </a:prstGeom>
            <a:noFill/>
            <a:ln w="38100">
              <a:solidFill>
                <a:srgbClr val="0000FF"/>
              </a:solidFill>
              <a:round/>
              <a:headEnd/>
              <a:tailEnd/>
            </a:ln>
          </p:spPr>
          <p:txBody>
            <a:bodyPr/>
            <a:lstStyle/>
            <a:p>
              <a:endParaRPr lang="zh-CN" altLang="en-US"/>
            </a:p>
          </p:txBody>
        </p:sp>
        <p:sp>
          <p:nvSpPr>
            <p:cNvPr id="52245" name="Line 8"/>
            <p:cNvSpPr>
              <a:spLocks noChangeShapeType="1"/>
            </p:cNvSpPr>
            <p:nvPr/>
          </p:nvSpPr>
          <p:spPr bwMode="auto">
            <a:xfrm>
              <a:off x="4695" y="1820"/>
              <a:ext cx="408" cy="0"/>
            </a:xfrm>
            <a:prstGeom prst="line">
              <a:avLst/>
            </a:prstGeom>
            <a:noFill/>
            <a:ln w="38100">
              <a:solidFill>
                <a:srgbClr val="0000FF"/>
              </a:solidFill>
              <a:round/>
              <a:headEnd/>
              <a:tailEnd/>
            </a:ln>
          </p:spPr>
          <p:txBody>
            <a:bodyPr/>
            <a:lstStyle/>
            <a:p>
              <a:endParaRPr lang="zh-CN" altLang="en-US"/>
            </a:p>
          </p:txBody>
        </p:sp>
        <p:sp>
          <p:nvSpPr>
            <p:cNvPr id="52246" name="Line 9"/>
            <p:cNvSpPr>
              <a:spLocks noChangeShapeType="1"/>
            </p:cNvSpPr>
            <p:nvPr/>
          </p:nvSpPr>
          <p:spPr bwMode="auto">
            <a:xfrm>
              <a:off x="4704" y="1820"/>
              <a:ext cx="0" cy="499"/>
            </a:xfrm>
            <a:prstGeom prst="line">
              <a:avLst/>
            </a:prstGeom>
            <a:noFill/>
            <a:ln w="9525">
              <a:solidFill>
                <a:schemeClr val="tx1"/>
              </a:solidFill>
              <a:prstDash val="dash"/>
              <a:round/>
              <a:headEnd/>
              <a:tailEnd/>
            </a:ln>
          </p:spPr>
          <p:txBody>
            <a:bodyPr/>
            <a:lstStyle/>
            <a:p>
              <a:endParaRPr lang="zh-CN" altLang="en-US"/>
            </a:p>
          </p:txBody>
        </p:sp>
        <p:sp>
          <p:nvSpPr>
            <p:cNvPr id="52247" name="Line 10"/>
            <p:cNvSpPr>
              <a:spLocks noChangeShapeType="1"/>
            </p:cNvSpPr>
            <p:nvPr/>
          </p:nvSpPr>
          <p:spPr bwMode="auto">
            <a:xfrm>
              <a:off x="5103" y="1820"/>
              <a:ext cx="0" cy="499"/>
            </a:xfrm>
            <a:prstGeom prst="line">
              <a:avLst/>
            </a:prstGeom>
            <a:noFill/>
            <a:ln w="38100">
              <a:solidFill>
                <a:srgbClr val="0000FF"/>
              </a:solidFill>
              <a:round/>
              <a:headEnd/>
              <a:tailEnd/>
            </a:ln>
          </p:spPr>
          <p:txBody>
            <a:bodyPr/>
            <a:lstStyle/>
            <a:p>
              <a:endParaRPr lang="zh-CN" altLang="en-US"/>
            </a:p>
          </p:txBody>
        </p:sp>
        <p:sp>
          <p:nvSpPr>
            <p:cNvPr id="52248" name="Line 11"/>
            <p:cNvSpPr>
              <a:spLocks noChangeShapeType="1"/>
            </p:cNvSpPr>
            <p:nvPr/>
          </p:nvSpPr>
          <p:spPr bwMode="auto">
            <a:xfrm>
              <a:off x="4287" y="1820"/>
              <a:ext cx="408" cy="0"/>
            </a:xfrm>
            <a:prstGeom prst="line">
              <a:avLst/>
            </a:prstGeom>
            <a:noFill/>
            <a:ln w="9525">
              <a:solidFill>
                <a:schemeClr val="tx1"/>
              </a:solidFill>
              <a:prstDash val="dash"/>
              <a:round/>
              <a:headEnd/>
              <a:tailEnd/>
            </a:ln>
          </p:spPr>
          <p:txBody>
            <a:bodyPr/>
            <a:lstStyle/>
            <a:p>
              <a:endParaRPr lang="zh-CN" altLang="en-US"/>
            </a:p>
          </p:txBody>
        </p:sp>
        <p:sp>
          <p:nvSpPr>
            <p:cNvPr id="52249" name="Text Box 12"/>
            <p:cNvSpPr txBox="1">
              <a:spLocks noChangeArrowheads="1"/>
            </p:cNvSpPr>
            <p:nvPr/>
          </p:nvSpPr>
          <p:spPr bwMode="auto">
            <a:xfrm>
              <a:off x="4060" y="2229"/>
              <a:ext cx="317" cy="250"/>
            </a:xfrm>
            <a:prstGeom prst="rect">
              <a:avLst/>
            </a:prstGeom>
            <a:noFill/>
            <a:ln w="9525">
              <a:noFill/>
              <a:miter lim="800000"/>
              <a:headEnd/>
              <a:tailEnd/>
            </a:ln>
          </p:spPr>
          <p:txBody>
            <a:bodyPr>
              <a:spAutoFit/>
            </a:bodyPr>
            <a:lstStyle/>
            <a:p>
              <a:r>
                <a:rPr lang="en-US" altLang="zh-CN" sz="2000" b="1" i="1">
                  <a:latin typeface="Times New Roman" pitchFamily="18" charset="0"/>
                </a:rPr>
                <a:t>O</a:t>
              </a:r>
            </a:p>
          </p:txBody>
        </p:sp>
        <p:sp>
          <p:nvSpPr>
            <p:cNvPr id="52250" name="Text Box 13"/>
            <p:cNvSpPr txBox="1">
              <a:spLocks noChangeArrowheads="1"/>
            </p:cNvSpPr>
            <p:nvPr/>
          </p:nvSpPr>
          <p:spPr bwMode="auto">
            <a:xfrm>
              <a:off x="5330" y="2229"/>
              <a:ext cx="317" cy="250"/>
            </a:xfrm>
            <a:prstGeom prst="rect">
              <a:avLst/>
            </a:prstGeom>
            <a:noFill/>
            <a:ln w="9525">
              <a:noFill/>
              <a:miter lim="800000"/>
              <a:headEnd/>
              <a:tailEnd/>
            </a:ln>
          </p:spPr>
          <p:txBody>
            <a:bodyPr>
              <a:spAutoFit/>
            </a:bodyPr>
            <a:lstStyle/>
            <a:p>
              <a:r>
                <a:rPr lang="en-US" altLang="zh-CN" sz="2000" b="1" i="1">
                  <a:latin typeface="Times New Roman" pitchFamily="18" charset="0"/>
                </a:rPr>
                <a:t>v</a:t>
              </a:r>
            </a:p>
          </p:txBody>
        </p:sp>
        <p:sp>
          <p:nvSpPr>
            <p:cNvPr id="52251" name="Text Box 14"/>
            <p:cNvSpPr txBox="1">
              <a:spLocks noChangeArrowheads="1"/>
            </p:cNvSpPr>
            <p:nvPr/>
          </p:nvSpPr>
          <p:spPr bwMode="auto">
            <a:xfrm>
              <a:off x="3788" y="1344"/>
              <a:ext cx="681" cy="250"/>
            </a:xfrm>
            <a:prstGeom prst="rect">
              <a:avLst/>
            </a:prstGeom>
            <a:noFill/>
            <a:ln w="9525">
              <a:noFill/>
              <a:miter lim="800000"/>
              <a:headEnd/>
              <a:tailEnd/>
            </a:ln>
          </p:spPr>
          <p:txBody>
            <a:bodyPr>
              <a:spAutoFit/>
            </a:bodyPr>
            <a:lstStyle/>
            <a:p>
              <a:r>
                <a:rPr lang="en-US" altLang="zh-CN" sz="2000" b="1" i="1">
                  <a:latin typeface="Times New Roman" pitchFamily="18" charset="0"/>
                </a:rPr>
                <a:t>Nf</a:t>
              </a:r>
              <a:r>
                <a:rPr lang="en-US" altLang="zh-CN" sz="2000" b="1">
                  <a:latin typeface="Times New Roman" pitchFamily="18" charset="0"/>
                </a:rPr>
                <a:t>(</a:t>
              </a:r>
              <a:r>
                <a:rPr lang="en-US" altLang="zh-CN" sz="2000" b="1" i="1">
                  <a:latin typeface="Times New Roman" pitchFamily="18" charset="0"/>
                </a:rPr>
                <a:t>v</a:t>
              </a:r>
              <a:r>
                <a:rPr lang="en-US" altLang="zh-CN" sz="2000" b="1">
                  <a:latin typeface="Times New Roman" pitchFamily="18" charset="0"/>
                </a:rPr>
                <a:t>)</a:t>
              </a:r>
            </a:p>
          </p:txBody>
        </p:sp>
        <p:sp>
          <p:nvSpPr>
            <p:cNvPr id="52252" name="Text Box 15"/>
            <p:cNvSpPr txBox="1">
              <a:spLocks noChangeArrowheads="1"/>
            </p:cNvSpPr>
            <p:nvPr/>
          </p:nvSpPr>
          <p:spPr bwMode="auto">
            <a:xfrm>
              <a:off x="4604" y="2319"/>
              <a:ext cx="408" cy="250"/>
            </a:xfrm>
            <a:prstGeom prst="rect">
              <a:avLst/>
            </a:prstGeom>
            <a:noFill/>
            <a:ln w="9525">
              <a:noFill/>
              <a:miter lim="800000"/>
              <a:headEnd/>
              <a:tailEnd/>
            </a:ln>
          </p:spPr>
          <p:txBody>
            <a:bodyPr>
              <a:spAutoFit/>
            </a:bodyPr>
            <a:lstStyle/>
            <a:p>
              <a:r>
                <a:rPr lang="en-US" altLang="zh-CN" sz="2000" b="1" i="1">
                  <a:latin typeface="Times New Roman" pitchFamily="18" charset="0"/>
                </a:rPr>
                <a:t>v</a:t>
              </a:r>
              <a:r>
                <a:rPr lang="en-US" altLang="zh-CN" sz="2000" b="1" baseline="-25000">
                  <a:latin typeface="Times New Roman" pitchFamily="18" charset="0"/>
                </a:rPr>
                <a:t>0</a:t>
              </a:r>
              <a:endParaRPr lang="en-US" altLang="zh-CN" sz="2000" b="1">
                <a:latin typeface="Times New Roman" pitchFamily="18" charset="0"/>
              </a:endParaRPr>
            </a:p>
          </p:txBody>
        </p:sp>
        <p:sp>
          <p:nvSpPr>
            <p:cNvPr id="52253" name="Text Box 16"/>
            <p:cNvSpPr txBox="1">
              <a:spLocks noChangeArrowheads="1"/>
            </p:cNvSpPr>
            <p:nvPr/>
          </p:nvSpPr>
          <p:spPr bwMode="auto">
            <a:xfrm>
              <a:off x="5013" y="2319"/>
              <a:ext cx="589" cy="250"/>
            </a:xfrm>
            <a:prstGeom prst="rect">
              <a:avLst/>
            </a:prstGeom>
            <a:noFill/>
            <a:ln w="9525">
              <a:noFill/>
              <a:miter lim="800000"/>
              <a:headEnd/>
              <a:tailEnd/>
            </a:ln>
          </p:spPr>
          <p:txBody>
            <a:bodyPr>
              <a:spAutoFit/>
            </a:bodyPr>
            <a:lstStyle/>
            <a:p>
              <a:r>
                <a:rPr lang="en-US" altLang="zh-CN" sz="2000" b="1" i="1">
                  <a:latin typeface="Times New Roman" pitchFamily="18" charset="0"/>
                </a:rPr>
                <a:t>2v</a:t>
              </a:r>
              <a:r>
                <a:rPr lang="en-US" altLang="zh-CN" sz="2000" b="1" baseline="-25000">
                  <a:latin typeface="Times New Roman" pitchFamily="18" charset="0"/>
                </a:rPr>
                <a:t>0</a:t>
              </a:r>
              <a:endParaRPr lang="en-US" altLang="zh-CN" sz="2000" b="1">
                <a:latin typeface="Times New Roman" pitchFamily="18" charset="0"/>
              </a:endParaRPr>
            </a:p>
          </p:txBody>
        </p:sp>
        <p:sp>
          <p:nvSpPr>
            <p:cNvPr id="52254" name="Text Box 17"/>
            <p:cNvSpPr txBox="1">
              <a:spLocks noChangeArrowheads="1"/>
            </p:cNvSpPr>
            <p:nvPr/>
          </p:nvSpPr>
          <p:spPr bwMode="auto">
            <a:xfrm>
              <a:off x="4060" y="1684"/>
              <a:ext cx="408" cy="250"/>
            </a:xfrm>
            <a:prstGeom prst="rect">
              <a:avLst/>
            </a:prstGeom>
            <a:noFill/>
            <a:ln w="9525">
              <a:noFill/>
              <a:miter lim="800000"/>
              <a:headEnd/>
              <a:tailEnd/>
            </a:ln>
          </p:spPr>
          <p:txBody>
            <a:bodyPr>
              <a:spAutoFit/>
            </a:bodyPr>
            <a:lstStyle/>
            <a:p>
              <a:r>
                <a:rPr lang="en-US" altLang="zh-CN" sz="2000" b="1" i="1">
                  <a:latin typeface="Times New Roman" pitchFamily="18" charset="0"/>
                </a:rPr>
                <a:t>a</a:t>
              </a:r>
              <a:endParaRPr lang="en-US" altLang="zh-CN" sz="2000" b="1">
                <a:latin typeface="Times New Roman" pitchFamily="18" charset="0"/>
              </a:endParaRPr>
            </a:p>
          </p:txBody>
        </p:sp>
      </p:grpSp>
      <p:graphicFrame>
        <p:nvGraphicFramePr>
          <p:cNvPr id="295954" name="Object 18"/>
          <p:cNvGraphicFramePr>
            <a:graphicFrameLocks noChangeAspect="1"/>
          </p:cNvGraphicFramePr>
          <p:nvPr/>
        </p:nvGraphicFramePr>
        <p:xfrm>
          <a:off x="990600" y="620713"/>
          <a:ext cx="1460500" cy="731837"/>
        </p:xfrm>
        <a:graphic>
          <a:graphicData uri="http://schemas.openxmlformats.org/presentationml/2006/ole">
            <p:oleObj spid="_x0000_s52226" name="公式" r:id="rId3" imgW="812520" imgH="406080" progId="Equation.3">
              <p:embed/>
            </p:oleObj>
          </a:graphicData>
        </a:graphic>
      </p:graphicFrame>
      <p:sp>
        <p:nvSpPr>
          <p:cNvPr id="295955" name="Text Box 19"/>
          <p:cNvSpPr txBox="1">
            <a:spLocks noChangeArrowheads="1"/>
          </p:cNvSpPr>
          <p:nvPr/>
        </p:nvSpPr>
        <p:spPr bwMode="auto">
          <a:xfrm>
            <a:off x="179388" y="714375"/>
            <a:ext cx="811212" cy="457200"/>
          </a:xfrm>
          <a:prstGeom prst="rect">
            <a:avLst/>
          </a:prstGeom>
          <a:noFill/>
          <a:ln w="9525">
            <a:noFill/>
            <a:miter lim="800000"/>
            <a:headEnd/>
            <a:tailEnd/>
          </a:ln>
        </p:spPr>
        <p:txBody>
          <a:bodyPr>
            <a:spAutoFit/>
          </a:bodyPr>
          <a:lstStyle/>
          <a:p>
            <a:r>
              <a:rPr lang="en-US" altLang="zh-CN" sz="2400" b="1">
                <a:latin typeface="Times New Roman" pitchFamily="18" charset="0"/>
              </a:rPr>
              <a:t>(2)</a:t>
            </a:r>
          </a:p>
        </p:txBody>
      </p:sp>
      <p:sp>
        <p:nvSpPr>
          <p:cNvPr id="295956" name="AutoShape 20"/>
          <p:cNvSpPr>
            <a:spLocks noChangeArrowheads="1"/>
          </p:cNvSpPr>
          <p:nvPr/>
        </p:nvSpPr>
        <p:spPr bwMode="auto">
          <a:xfrm>
            <a:off x="715963" y="1773238"/>
            <a:ext cx="468312" cy="90487"/>
          </a:xfrm>
          <a:prstGeom prst="rightArrow">
            <a:avLst>
              <a:gd name="adj1" fmla="val 50000"/>
              <a:gd name="adj2" fmla="val 129387"/>
            </a:avLst>
          </a:prstGeom>
          <a:solidFill>
            <a:schemeClr val="accent1"/>
          </a:solidFill>
          <a:ln w="9525">
            <a:solidFill>
              <a:schemeClr val="tx1"/>
            </a:solidFill>
            <a:miter lim="800000"/>
            <a:headEnd/>
            <a:tailEnd/>
          </a:ln>
        </p:spPr>
        <p:txBody>
          <a:bodyPr wrap="none" anchor="ctr"/>
          <a:lstStyle/>
          <a:p>
            <a:pPr algn="ctr"/>
            <a:endParaRPr lang="zh-CN" altLang="en-US"/>
          </a:p>
        </p:txBody>
      </p:sp>
      <p:graphicFrame>
        <p:nvGraphicFramePr>
          <p:cNvPr id="295957" name="Object 21"/>
          <p:cNvGraphicFramePr>
            <a:graphicFrameLocks noChangeAspect="1"/>
          </p:cNvGraphicFramePr>
          <p:nvPr/>
        </p:nvGraphicFramePr>
        <p:xfrm>
          <a:off x="1328738" y="1557338"/>
          <a:ext cx="2559050" cy="639762"/>
        </p:xfrm>
        <a:graphic>
          <a:graphicData uri="http://schemas.openxmlformats.org/presentationml/2006/ole">
            <p:oleObj spid="_x0000_s52227" name="公式" r:id="rId4" imgW="1422360" imgH="355320" progId="Equation.3">
              <p:embed/>
            </p:oleObj>
          </a:graphicData>
        </a:graphic>
      </p:graphicFrame>
      <p:graphicFrame>
        <p:nvGraphicFramePr>
          <p:cNvPr id="295958" name="Object 22"/>
          <p:cNvGraphicFramePr>
            <a:graphicFrameLocks noChangeAspect="1"/>
          </p:cNvGraphicFramePr>
          <p:nvPr/>
        </p:nvGraphicFramePr>
        <p:xfrm>
          <a:off x="3992563" y="1557338"/>
          <a:ext cx="1874837" cy="641350"/>
        </p:xfrm>
        <a:graphic>
          <a:graphicData uri="http://schemas.openxmlformats.org/presentationml/2006/ole">
            <p:oleObj spid="_x0000_s52228" name="公式" r:id="rId5" imgW="1041120" imgH="355320" progId="Equation.3">
              <p:embed/>
            </p:oleObj>
          </a:graphicData>
        </a:graphic>
      </p:graphicFrame>
      <p:graphicFrame>
        <p:nvGraphicFramePr>
          <p:cNvPr id="295959" name="Object 23"/>
          <p:cNvGraphicFramePr>
            <a:graphicFrameLocks noChangeAspect="1"/>
          </p:cNvGraphicFramePr>
          <p:nvPr/>
        </p:nvGraphicFramePr>
        <p:xfrm>
          <a:off x="2552700" y="2278063"/>
          <a:ext cx="2760663" cy="800100"/>
        </p:xfrm>
        <a:graphic>
          <a:graphicData uri="http://schemas.openxmlformats.org/presentationml/2006/ole">
            <p:oleObj spid="_x0000_s52229" name="公式" r:id="rId6" imgW="1536480" imgH="444240" progId="Equation.3">
              <p:embed/>
            </p:oleObj>
          </a:graphicData>
        </a:graphic>
      </p:graphicFrame>
      <p:graphicFrame>
        <p:nvGraphicFramePr>
          <p:cNvPr id="295960" name="Object 24"/>
          <p:cNvGraphicFramePr>
            <a:graphicFrameLocks noChangeAspect="1"/>
          </p:cNvGraphicFramePr>
          <p:nvPr/>
        </p:nvGraphicFramePr>
        <p:xfrm>
          <a:off x="2571750" y="3068638"/>
          <a:ext cx="1781175" cy="730250"/>
        </p:xfrm>
        <a:graphic>
          <a:graphicData uri="http://schemas.openxmlformats.org/presentationml/2006/ole">
            <p:oleObj spid="_x0000_s52230" name="公式" r:id="rId7" imgW="990360" imgH="406080" progId="Equation.3">
              <p:embed/>
            </p:oleObj>
          </a:graphicData>
        </a:graphic>
      </p:graphicFrame>
      <p:sp>
        <p:nvSpPr>
          <p:cNvPr id="295961" name="Text Box 25"/>
          <p:cNvSpPr txBox="1">
            <a:spLocks noChangeArrowheads="1"/>
          </p:cNvSpPr>
          <p:nvPr/>
        </p:nvSpPr>
        <p:spPr bwMode="auto">
          <a:xfrm>
            <a:off x="323850" y="4078288"/>
            <a:ext cx="1171575" cy="457200"/>
          </a:xfrm>
          <a:prstGeom prst="rect">
            <a:avLst/>
          </a:prstGeom>
          <a:noFill/>
          <a:ln w="9525">
            <a:noFill/>
            <a:miter lim="800000"/>
            <a:headEnd/>
            <a:tailEnd/>
          </a:ln>
        </p:spPr>
        <p:txBody>
          <a:bodyPr>
            <a:spAutoFit/>
          </a:bodyPr>
          <a:lstStyle/>
          <a:p>
            <a:r>
              <a:rPr lang="en-US" altLang="zh-CN" sz="2400" b="1">
                <a:latin typeface="Times New Roman" pitchFamily="18" charset="0"/>
              </a:rPr>
              <a:t>(3)</a:t>
            </a:r>
          </a:p>
        </p:txBody>
      </p:sp>
      <p:graphicFrame>
        <p:nvGraphicFramePr>
          <p:cNvPr id="295962" name="Object 26"/>
          <p:cNvGraphicFramePr>
            <a:graphicFrameLocks noChangeAspect="1"/>
          </p:cNvGraphicFramePr>
          <p:nvPr/>
        </p:nvGraphicFramePr>
        <p:xfrm>
          <a:off x="1073150" y="4060825"/>
          <a:ext cx="1987550" cy="593725"/>
        </p:xfrm>
        <a:graphic>
          <a:graphicData uri="http://schemas.openxmlformats.org/presentationml/2006/ole">
            <p:oleObj spid="_x0000_s52231" name="公式" r:id="rId8" imgW="1104840" imgH="330120" progId="Equation.3">
              <p:embed/>
            </p:oleObj>
          </a:graphicData>
        </a:graphic>
      </p:graphicFrame>
      <p:graphicFrame>
        <p:nvGraphicFramePr>
          <p:cNvPr id="295963" name="Object 27"/>
          <p:cNvGraphicFramePr>
            <a:graphicFrameLocks noChangeAspect="1"/>
          </p:cNvGraphicFramePr>
          <p:nvPr/>
        </p:nvGraphicFramePr>
        <p:xfrm>
          <a:off x="3135313" y="4005263"/>
          <a:ext cx="3454400" cy="798512"/>
        </p:xfrm>
        <a:graphic>
          <a:graphicData uri="http://schemas.openxmlformats.org/presentationml/2006/ole">
            <p:oleObj spid="_x0000_s52232" name="公式" r:id="rId9" imgW="1917360" imgH="444240" progId="Equation.3">
              <p:embed/>
            </p:oleObj>
          </a:graphicData>
        </a:graphic>
      </p:graphicFrame>
      <p:graphicFrame>
        <p:nvGraphicFramePr>
          <p:cNvPr id="295964" name="Object 28"/>
          <p:cNvGraphicFramePr>
            <a:graphicFrameLocks noChangeAspect="1"/>
          </p:cNvGraphicFramePr>
          <p:nvPr/>
        </p:nvGraphicFramePr>
        <p:xfrm>
          <a:off x="1341438" y="4870450"/>
          <a:ext cx="3448050" cy="798513"/>
        </p:xfrm>
        <a:graphic>
          <a:graphicData uri="http://schemas.openxmlformats.org/presentationml/2006/ole">
            <p:oleObj spid="_x0000_s52233" name="公式" r:id="rId10" imgW="1917360" imgH="444240" progId="Equation.3">
              <p:embed/>
            </p:oleObj>
          </a:graphicData>
        </a:graphic>
      </p:graphicFrame>
      <p:graphicFrame>
        <p:nvGraphicFramePr>
          <p:cNvPr id="295965" name="Object 29"/>
          <p:cNvGraphicFramePr>
            <a:graphicFrameLocks noChangeAspect="1"/>
          </p:cNvGraphicFramePr>
          <p:nvPr/>
        </p:nvGraphicFramePr>
        <p:xfrm>
          <a:off x="5005388" y="4833938"/>
          <a:ext cx="1882775" cy="755650"/>
        </p:xfrm>
        <a:graphic>
          <a:graphicData uri="http://schemas.openxmlformats.org/presentationml/2006/ole">
            <p:oleObj spid="_x0000_s52234" name="公式" r:id="rId11" imgW="1041120" imgH="419040" progId="Equation.3">
              <p:embed/>
            </p:oleObj>
          </a:graphicData>
        </a:graphic>
      </p:graphicFrame>
      <p:sp>
        <p:nvSpPr>
          <p:cNvPr id="295966" name="AutoShape 30"/>
          <p:cNvSpPr>
            <a:spLocks noChangeArrowheads="1"/>
          </p:cNvSpPr>
          <p:nvPr/>
        </p:nvSpPr>
        <p:spPr bwMode="auto">
          <a:xfrm>
            <a:off x="774700" y="6102350"/>
            <a:ext cx="468313" cy="90488"/>
          </a:xfrm>
          <a:prstGeom prst="rightArrow">
            <a:avLst>
              <a:gd name="adj1" fmla="val 50000"/>
              <a:gd name="adj2" fmla="val 129385"/>
            </a:avLst>
          </a:prstGeom>
          <a:solidFill>
            <a:schemeClr val="accent1"/>
          </a:solidFill>
          <a:ln w="9525">
            <a:solidFill>
              <a:schemeClr val="tx1"/>
            </a:solidFill>
            <a:miter lim="800000"/>
            <a:headEnd/>
            <a:tailEnd/>
          </a:ln>
        </p:spPr>
        <p:txBody>
          <a:bodyPr wrap="none" anchor="ctr"/>
          <a:lstStyle/>
          <a:p>
            <a:pPr algn="ctr"/>
            <a:endParaRPr lang="zh-CN" altLang="en-US"/>
          </a:p>
        </p:txBody>
      </p:sp>
      <p:graphicFrame>
        <p:nvGraphicFramePr>
          <p:cNvPr id="295967" name="Object 31"/>
          <p:cNvGraphicFramePr>
            <a:graphicFrameLocks noChangeAspect="1"/>
          </p:cNvGraphicFramePr>
          <p:nvPr/>
        </p:nvGraphicFramePr>
        <p:xfrm>
          <a:off x="1298575" y="5805488"/>
          <a:ext cx="1303338" cy="731837"/>
        </p:xfrm>
        <a:graphic>
          <a:graphicData uri="http://schemas.openxmlformats.org/presentationml/2006/ole">
            <p:oleObj spid="_x0000_s52235" name="公式" r:id="rId12" imgW="723600" imgH="406080" progId="Equation.3">
              <p:embed/>
            </p:oleObj>
          </a:graphicData>
        </a:graphic>
      </p:graphicFrame>
      <p:graphicFrame>
        <p:nvGraphicFramePr>
          <p:cNvPr id="295968" name="Object 32"/>
          <p:cNvGraphicFramePr>
            <a:graphicFrameLocks noChangeAspect="1"/>
          </p:cNvGraphicFramePr>
          <p:nvPr/>
        </p:nvGraphicFramePr>
        <p:xfrm>
          <a:off x="2574925" y="5799138"/>
          <a:ext cx="1122363" cy="735012"/>
        </p:xfrm>
        <a:graphic>
          <a:graphicData uri="http://schemas.openxmlformats.org/presentationml/2006/ole">
            <p:oleObj spid="_x0000_s52236" name="公式" r:id="rId13" imgW="62208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5955"/>
                                        </p:tgtEl>
                                        <p:attrNameLst>
                                          <p:attrName>style.visibility</p:attrName>
                                        </p:attrNameLst>
                                      </p:cBhvr>
                                      <p:to>
                                        <p:strVal val="visible"/>
                                      </p:to>
                                    </p:set>
                                    <p:animEffect transition="in" filter="wipe(left)">
                                      <p:cBhvr>
                                        <p:cTn id="7" dur="1000"/>
                                        <p:tgtEl>
                                          <p:spTgt spid="29595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5954"/>
                                        </p:tgtEl>
                                        <p:attrNameLst>
                                          <p:attrName>style.visibility</p:attrName>
                                        </p:attrNameLst>
                                      </p:cBhvr>
                                      <p:to>
                                        <p:strVal val="visible"/>
                                      </p:to>
                                    </p:set>
                                    <p:animEffect transition="in" filter="wipe(left)">
                                      <p:cBhvr>
                                        <p:cTn id="11" dur="1000"/>
                                        <p:tgtEl>
                                          <p:spTgt spid="29595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5956"/>
                                        </p:tgtEl>
                                        <p:attrNameLst>
                                          <p:attrName>style.visibility</p:attrName>
                                        </p:attrNameLst>
                                      </p:cBhvr>
                                      <p:to>
                                        <p:strVal val="visible"/>
                                      </p:to>
                                    </p:set>
                                    <p:animEffect transition="in" filter="wipe(left)">
                                      <p:cBhvr>
                                        <p:cTn id="16" dur="1000"/>
                                        <p:tgtEl>
                                          <p:spTgt spid="295956"/>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95957"/>
                                        </p:tgtEl>
                                        <p:attrNameLst>
                                          <p:attrName>style.visibility</p:attrName>
                                        </p:attrNameLst>
                                      </p:cBhvr>
                                      <p:to>
                                        <p:strVal val="visible"/>
                                      </p:to>
                                    </p:set>
                                    <p:animEffect transition="in" filter="wipe(left)">
                                      <p:cBhvr>
                                        <p:cTn id="20" dur="1000"/>
                                        <p:tgtEl>
                                          <p:spTgt spid="29595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95958"/>
                                        </p:tgtEl>
                                        <p:attrNameLst>
                                          <p:attrName>style.visibility</p:attrName>
                                        </p:attrNameLst>
                                      </p:cBhvr>
                                      <p:to>
                                        <p:strVal val="visible"/>
                                      </p:to>
                                    </p:set>
                                    <p:animEffect transition="in" filter="wipe(left)">
                                      <p:cBhvr>
                                        <p:cTn id="25" dur="1000"/>
                                        <p:tgtEl>
                                          <p:spTgt spid="29595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95959"/>
                                        </p:tgtEl>
                                        <p:attrNameLst>
                                          <p:attrName>style.visibility</p:attrName>
                                        </p:attrNameLst>
                                      </p:cBhvr>
                                      <p:to>
                                        <p:strVal val="visible"/>
                                      </p:to>
                                    </p:set>
                                    <p:animEffect transition="in" filter="wipe(left)">
                                      <p:cBhvr>
                                        <p:cTn id="30" dur="1000"/>
                                        <p:tgtEl>
                                          <p:spTgt spid="29595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95960"/>
                                        </p:tgtEl>
                                        <p:attrNameLst>
                                          <p:attrName>style.visibility</p:attrName>
                                        </p:attrNameLst>
                                      </p:cBhvr>
                                      <p:to>
                                        <p:strVal val="visible"/>
                                      </p:to>
                                    </p:set>
                                    <p:animEffect transition="in" filter="wipe(left)">
                                      <p:cBhvr>
                                        <p:cTn id="35" dur="1000"/>
                                        <p:tgtEl>
                                          <p:spTgt spid="29596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5961"/>
                                        </p:tgtEl>
                                        <p:attrNameLst>
                                          <p:attrName>style.visibility</p:attrName>
                                        </p:attrNameLst>
                                      </p:cBhvr>
                                      <p:to>
                                        <p:strVal val="visible"/>
                                      </p:to>
                                    </p:set>
                                    <p:animEffect transition="in" filter="wipe(left)">
                                      <p:cBhvr>
                                        <p:cTn id="40" dur="1000"/>
                                        <p:tgtEl>
                                          <p:spTgt spid="29596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95962"/>
                                        </p:tgtEl>
                                        <p:attrNameLst>
                                          <p:attrName>style.visibility</p:attrName>
                                        </p:attrNameLst>
                                      </p:cBhvr>
                                      <p:to>
                                        <p:strVal val="visible"/>
                                      </p:to>
                                    </p:set>
                                    <p:animEffect transition="in" filter="wipe(left)">
                                      <p:cBhvr>
                                        <p:cTn id="45" dur="1000"/>
                                        <p:tgtEl>
                                          <p:spTgt spid="29596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95963"/>
                                        </p:tgtEl>
                                        <p:attrNameLst>
                                          <p:attrName>style.visibility</p:attrName>
                                        </p:attrNameLst>
                                      </p:cBhvr>
                                      <p:to>
                                        <p:strVal val="visible"/>
                                      </p:to>
                                    </p:set>
                                    <p:animEffect transition="in" filter="wipe(left)">
                                      <p:cBhvr>
                                        <p:cTn id="50" dur="1000"/>
                                        <p:tgtEl>
                                          <p:spTgt spid="2959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95964"/>
                                        </p:tgtEl>
                                        <p:attrNameLst>
                                          <p:attrName>style.visibility</p:attrName>
                                        </p:attrNameLst>
                                      </p:cBhvr>
                                      <p:to>
                                        <p:strVal val="visible"/>
                                      </p:to>
                                    </p:set>
                                    <p:animEffect transition="in" filter="wipe(left)">
                                      <p:cBhvr>
                                        <p:cTn id="55" dur="1000"/>
                                        <p:tgtEl>
                                          <p:spTgt spid="29596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95965"/>
                                        </p:tgtEl>
                                        <p:attrNameLst>
                                          <p:attrName>style.visibility</p:attrName>
                                        </p:attrNameLst>
                                      </p:cBhvr>
                                      <p:to>
                                        <p:strVal val="visible"/>
                                      </p:to>
                                    </p:set>
                                    <p:animEffect transition="in" filter="wipe(left)">
                                      <p:cBhvr>
                                        <p:cTn id="60" dur="1000"/>
                                        <p:tgtEl>
                                          <p:spTgt spid="29596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95966"/>
                                        </p:tgtEl>
                                        <p:attrNameLst>
                                          <p:attrName>style.visibility</p:attrName>
                                        </p:attrNameLst>
                                      </p:cBhvr>
                                      <p:to>
                                        <p:strVal val="visible"/>
                                      </p:to>
                                    </p:set>
                                    <p:animEffect transition="in" filter="wipe(left)">
                                      <p:cBhvr>
                                        <p:cTn id="65" dur="1000"/>
                                        <p:tgtEl>
                                          <p:spTgt spid="29596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95967"/>
                                        </p:tgtEl>
                                        <p:attrNameLst>
                                          <p:attrName>style.visibility</p:attrName>
                                        </p:attrNameLst>
                                      </p:cBhvr>
                                      <p:to>
                                        <p:strVal val="visible"/>
                                      </p:to>
                                    </p:set>
                                    <p:animEffect transition="in" filter="wipe(left)">
                                      <p:cBhvr>
                                        <p:cTn id="70" dur="1000"/>
                                        <p:tgtEl>
                                          <p:spTgt spid="29596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95968"/>
                                        </p:tgtEl>
                                        <p:attrNameLst>
                                          <p:attrName>style.visibility</p:attrName>
                                        </p:attrNameLst>
                                      </p:cBhvr>
                                      <p:to>
                                        <p:strVal val="visible"/>
                                      </p:to>
                                    </p:set>
                                    <p:animEffect transition="in" filter="wipe(left)">
                                      <p:cBhvr>
                                        <p:cTn id="75" dur="1000"/>
                                        <p:tgtEl>
                                          <p:spTgt spid="295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5" grpId="0"/>
      <p:bldP spid="295956" grpId="0" animBg="1"/>
      <p:bldP spid="295961" grpId="0"/>
      <p:bldP spid="29596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Line 2"/>
          <p:cNvSpPr>
            <a:spLocks noChangeShapeType="1"/>
          </p:cNvSpPr>
          <p:nvPr/>
        </p:nvSpPr>
        <p:spPr bwMode="auto">
          <a:xfrm flipV="1">
            <a:off x="6064250" y="4418013"/>
            <a:ext cx="914400" cy="1447800"/>
          </a:xfrm>
          <a:prstGeom prst="line">
            <a:avLst/>
          </a:prstGeom>
          <a:noFill/>
          <a:ln w="38100">
            <a:solidFill>
              <a:srgbClr val="0000FF"/>
            </a:solidFill>
            <a:round/>
            <a:headEnd/>
            <a:tailEnd/>
          </a:ln>
        </p:spPr>
        <p:txBody>
          <a:bodyPr/>
          <a:lstStyle/>
          <a:p>
            <a:endParaRPr lang="zh-CN" altLang="en-US"/>
          </a:p>
        </p:txBody>
      </p:sp>
      <p:grpSp>
        <p:nvGrpSpPr>
          <p:cNvPr id="2" name="Group 3"/>
          <p:cNvGrpSpPr>
            <a:grpSpLocks/>
          </p:cNvGrpSpPr>
          <p:nvPr/>
        </p:nvGrpSpPr>
        <p:grpSpPr bwMode="auto">
          <a:xfrm>
            <a:off x="6750050" y="4418013"/>
            <a:ext cx="430213" cy="1981200"/>
            <a:chOff x="3870" y="2787"/>
            <a:chExt cx="271" cy="1248"/>
          </a:xfrm>
        </p:grpSpPr>
        <p:sp>
          <p:nvSpPr>
            <p:cNvPr id="53280" name="Line 4"/>
            <p:cNvSpPr>
              <a:spLocks noChangeShapeType="1"/>
            </p:cNvSpPr>
            <p:nvPr/>
          </p:nvSpPr>
          <p:spPr bwMode="auto">
            <a:xfrm>
              <a:off x="4014" y="2787"/>
              <a:ext cx="0" cy="912"/>
            </a:xfrm>
            <a:prstGeom prst="line">
              <a:avLst/>
            </a:prstGeom>
            <a:noFill/>
            <a:ln w="12700">
              <a:solidFill>
                <a:schemeClr val="tx1"/>
              </a:solidFill>
              <a:prstDash val="dash"/>
              <a:round/>
              <a:headEnd/>
              <a:tailEnd/>
            </a:ln>
          </p:spPr>
          <p:txBody>
            <a:bodyPr/>
            <a:lstStyle/>
            <a:p>
              <a:endParaRPr lang="zh-CN" altLang="en-US"/>
            </a:p>
          </p:txBody>
        </p:sp>
        <p:graphicFrame>
          <p:nvGraphicFramePr>
            <p:cNvPr id="53259" name="Object 5"/>
            <p:cNvGraphicFramePr>
              <a:graphicFrameLocks noChangeAspect="1"/>
            </p:cNvGraphicFramePr>
            <p:nvPr/>
          </p:nvGraphicFramePr>
          <p:xfrm>
            <a:off x="3870" y="3689"/>
            <a:ext cx="271" cy="346"/>
          </p:xfrm>
          <a:graphic>
            <a:graphicData uri="http://schemas.openxmlformats.org/presentationml/2006/ole">
              <p:oleObj spid="_x0000_s53259" name="Equation" r:id="rId3" imgW="177480" imgH="228600" progId="Equation.3">
                <p:embed/>
              </p:oleObj>
            </a:graphicData>
          </a:graphic>
        </p:graphicFrame>
      </p:grpSp>
      <p:grpSp>
        <p:nvGrpSpPr>
          <p:cNvPr id="3" name="Group 6"/>
          <p:cNvGrpSpPr>
            <a:grpSpLocks/>
          </p:cNvGrpSpPr>
          <p:nvPr/>
        </p:nvGrpSpPr>
        <p:grpSpPr bwMode="auto">
          <a:xfrm>
            <a:off x="5610225" y="4257675"/>
            <a:ext cx="1371600" cy="334963"/>
            <a:chOff x="3264" y="2784"/>
            <a:chExt cx="864" cy="211"/>
          </a:xfrm>
        </p:grpSpPr>
        <p:sp>
          <p:nvSpPr>
            <p:cNvPr id="53279" name="Line 7"/>
            <p:cNvSpPr>
              <a:spLocks noChangeShapeType="1"/>
            </p:cNvSpPr>
            <p:nvPr/>
          </p:nvSpPr>
          <p:spPr bwMode="auto">
            <a:xfrm flipH="1">
              <a:off x="3552" y="2880"/>
              <a:ext cx="576" cy="0"/>
            </a:xfrm>
            <a:prstGeom prst="line">
              <a:avLst/>
            </a:prstGeom>
            <a:noFill/>
            <a:ln w="9525">
              <a:solidFill>
                <a:schemeClr val="bg1"/>
              </a:solidFill>
              <a:prstDash val="dash"/>
              <a:round/>
              <a:headEnd/>
              <a:tailEnd/>
            </a:ln>
          </p:spPr>
          <p:txBody>
            <a:bodyPr/>
            <a:lstStyle/>
            <a:p>
              <a:endParaRPr lang="zh-CN" altLang="en-US"/>
            </a:p>
          </p:txBody>
        </p:sp>
        <p:graphicFrame>
          <p:nvGraphicFramePr>
            <p:cNvPr id="53258" name="Object 8"/>
            <p:cNvGraphicFramePr>
              <a:graphicFrameLocks noChangeAspect="1"/>
            </p:cNvGraphicFramePr>
            <p:nvPr/>
          </p:nvGraphicFramePr>
          <p:xfrm>
            <a:off x="3264" y="2784"/>
            <a:ext cx="193" cy="211"/>
          </p:xfrm>
          <a:graphic>
            <a:graphicData uri="http://schemas.openxmlformats.org/presentationml/2006/ole">
              <p:oleObj spid="_x0000_s53258" name="Equation" r:id="rId4" imgW="126720" imgH="139680" progId="Equation.3">
                <p:embed/>
              </p:oleObj>
            </a:graphicData>
          </a:graphic>
        </p:graphicFrame>
      </p:grpSp>
      <p:sp>
        <p:nvSpPr>
          <p:cNvPr id="296969" name="Text Box 9"/>
          <p:cNvSpPr txBox="1">
            <a:spLocks noChangeArrowheads="1"/>
          </p:cNvSpPr>
          <p:nvPr/>
        </p:nvSpPr>
        <p:spPr bwMode="auto">
          <a:xfrm>
            <a:off x="755650" y="485775"/>
            <a:ext cx="6021388" cy="512763"/>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rPr>
              <a:t>有 </a:t>
            </a:r>
            <a:r>
              <a:rPr kumimoji="1" lang="en-US" altLang="zh-CN" sz="2400" b="1" i="1">
                <a:latin typeface="Times New Roman" pitchFamily="18" charset="0"/>
              </a:rPr>
              <a:t>N </a:t>
            </a:r>
            <a:r>
              <a:rPr kumimoji="1" lang="zh-CN" altLang="en-US" sz="2400" b="1">
                <a:latin typeface="Times New Roman" pitchFamily="18" charset="0"/>
              </a:rPr>
              <a:t>个粒子，其速率分布函数为</a:t>
            </a:r>
          </a:p>
        </p:txBody>
      </p:sp>
      <p:graphicFrame>
        <p:nvGraphicFramePr>
          <p:cNvPr id="296970" name="Object 10"/>
          <p:cNvGraphicFramePr>
            <a:graphicFrameLocks noChangeAspect="1"/>
          </p:cNvGraphicFramePr>
          <p:nvPr/>
        </p:nvGraphicFramePr>
        <p:xfrm>
          <a:off x="1466850" y="1133475"/>
          <a:ext cx="3635375" cy="1281113"/>
        </p:xfrm>
        <a:graphic>
          <a:graphicData uri="http://schemas.openxmlformats.org/presentationml/2006/ole">
            <p:oleObj spid="_x0000_s53250" name="公式" r:id="rId5" imgW="2019240" imgH="711000" progId="Equation.3">
              <p:embed/>
            </p:oleObj>
          </a:graphicData>
        </a:graphic>
      </p:graphicFrame>
      <p:sp>
        <p:nvSpPr>
          <p:cNvPr id="296971" name="Rectangle 11"/>
          <p:cNvSpPr>
            <a:spLocks noChangeArrowheads="1"/>
          </p:cNvSpPr>
          <p:nvPr/>
        </p:nvSpPr>
        <p:spPr bwMode="auto">
          <a:xfrm>
            <a:off x="728663" y="2528888"/>
            <a:ext cx="6985000" cy="933450"/>
          </a:xfrm>
          <a:prstGeom prst="rect">
            <a:avLst/>
          </a:prstGeom>
          <a:noFill/>
          <a:ln w="9525">
            <a:noFill/>
            <a:miter lim="800000"/>
            <a:headEnd/>
            <a:tailEnd/>
          </a:ln>
        </p:spPr>
        <p:txBody>
          <a:bodyPr anchor="ctr">
            <a:spAutoFit/>
          </a:bodyPr>
          <a:lstStyle/>
          <a:p>
            <a:pPr>
              <a:lnSpc>
                <a:spcPct val="115000"/>
              </a:lnSpc>
            </a:pPr>
            <a:r>
              <a:rPr kumimoji="1" lang="en-US" altLang="zh-CN" sz="2400" b="1">
                <a:latin typeface="Times New Roman" pitchFamily="18" charset="0"/>
              </a:rPr>
              <a:t>(1)  </a:t>
            </a:r>
            <a:r>
              <a:rPr kumimoji="1" lang="zh-CN" altLang="en-US" sz="2400" b="1">
                <a:latin typeface="Times New Roman" pitchFamily="18" charset="0"/>
              </a:rPr>
              <a:t>作速率分布曲线并求常数 </a:t>
            </a:r>
            <a:r>
              <a:rPr kumimoji="1" lang="en-US" altLang="zh-CN" sz="2400" b="1" i="1">
                <a:latin typeface="Times New Roman" pitchFamily="18" charset="0"/>
              </a:rPr>
              <a:t>a</a:t>
            </a:r>
          </a:p>
          <a:p>
            <a:pPr>
              <a:lnSpc>
                <a:spcPct val="115000"/>
              </a:lnSpc>
            </a:pPr>
            <a:r>
              <a:rPr kumimoji="1" lang="en-US" altLang="zh-CN" sz="2400" b="1">
                <a:latin typeface="Times New Roman" pitchFamily="18" charset="0"/>
              </a:rPr>
              <a:t>(2)  </a:t>
            </a:r>
            <a:r>
              <a:rPr kumimoji="1" lang="zh-CN" altLang="en-US" sz="2400" b="1">
                <a:latin typeface="Times New Roman" pitchFamily="18" charset="0"/>
              </a:rPr>
              <a:t>速率大于 </a:t>
            </a:r>
            <a:r>
              <a:rPr kumimoji="1" lang="en-US" altLang="zh-CN" sz="2400" i="1">
                <a:latin typeface="Times New Roman" pitchFamily="18" charset="0"/>
              </a:rPr>
              <a:t>v</a:t>
            </a:r>
            <a:r>
              <a:rPr kumimoji="1" lang="en-US" altLang="zh-CN" sz="2400" baseline="-25000">
                <a:latin typeface="Times New Roman" pitchFamily="18" charset="0"/>
              </a:rPr>
              <a:t>0</a:t>
            </a:r>
            <a:r>
              <a:rPr kumimoji="1" lang="en-US" altLang="zh-CN" sz="2400" b="1">
                <a:latin typeface="Times New Roman" pitchFamily="18" charset="0"/>
              </a:rPr>
              <a:t> </a:t>
            </a:r>
            <a:r>
              <a:rPr kumimoji="1" lang="zh-CN" altLang="en-US" sz="2400" b="1">
                <a:latin typeface="Times New Roman" pitchFamily="18" charset="0"/>
              </a:rPr>
              <a:t>和速率小于 </a:t>
            </a:r>
            <a:r>
              <a:rPr kumimoji="1" lang="en-US" altLang="zh-CN" sz="2400" i="1">
                <a:latin typeface="Times New Roman" pitchFamily="18" charset="0"/>
              </a:rPr>
              <a:t>v</a:t>
            </a:r>
            <a:r>
              <a:rPr kumimoji="1" lang="en-US" altLang="zh-CN" sz="2400" baseline="-25000">
                <a:latin typeface="Times New Roman" pitchFamily="18" charset="0"/>
              </a:rPr>
              <a:t>0</a:t>
            </a:r>
            <a:r>
              <a:rPr kumimoji="1" lang="en-US" altLang="zh-CN" sz="2400">
                <a:latin typeface="Times New Roman" pitchFamily="18" charset="0"/>
              </a:rPr>
              <a:t> </a:t>
            </a:r>
            <a:r>
              <a:rPr kumimoji="1" lang="zh-CN" altLang="en-US" sz="2400" b="1">
                <a:latin typeface="Times New Roman" pitchFamily="18" charset="0"/>
              </a:rPr>
              <a:t>的粒子数</a:t>
            </a:r>
          </a:p>
        </p:txBody>
      </p:sp>
      <p:sp>
        <p:nvSpPr>
          <p:cNvPr id="296972" name="Text Box 12"/>
          <p:cNvSpPr txBox="1">
            <a:spLocks noChangeArrowheads="1"/>
          </p:cNvSpPr>
          <p:nvPr/>
        </p:nvSpPr>
        <p:spPr bwMode="auto">
          <a:xfrm>
            <a:off x="166688" y="3698875"/>
            <a:ext cx="490537"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Times New Roman" pitchFamily="18" charset="0"/>
              </a:rPr>
              <a:t>解</a:t>
            </a:r>
          </a:p>
        </p:txBody>
      </p:sp>
      <p:sp>
        <p:nvSpPr>
          <p:cNvPr id="296973" name="Text Box 13"/>
          <p:cNvSpPr txBox="1">
            <a:spLocks noChangeArrowheads="1"/>
          </p:cNvSpPr>
          <p:nvPr/>
        </p:nvSpPr>
        <p:spPr bwMode="auto">
          <a:xfrm>
            <a:off x="206375" y="485775"/>
            <a:ext cx="490538"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Times New Roman" pitchFamily="18" charset="0"/>
              </a:rPr>
              <a:t>例</a:t>
            </a:r>
          </a:p>
        </p:txBody>
      </p:sp>
      <p:sp>
        <p:nvSpPr>
          <p:cNvPr id="296974" name="Text Box 14"/>
          <p:cNvSpPr txBox="1">
            <a:spLocks noChangeArrowheads="1"/>
          </p:cNvSpPr>
          <p:nvPr/>
        </p:nvSpPr>
        <p:spPr bwMode="auto">
          <a:xfrm>
            <a:off x="206375" y="2517775"/>
            <a:ext cx="490538" cy="512763"/>
          </a:xfrm>
          <a:prstGeom prst="rect">
            <a:avLst/>
          </a:prstGeom>
          <a:noFill/>
          <a:ln w="9525">
            <a:noFill/>
            <a:miter lim="800000"/>
            <a:headEnd/>
            <a:tailEnd/>
          </a:ln>
        </p:spPr>
        <p:txBody>
          <a:bodyPr wrap="none">
            <a:spAutoFit/>
          </a:bodyPr>
          <a:lstStyle/>
          <a:p>
            <a:pPr>
              <a:lnSpc>
                <a:spcPct val="115000"/>
              </a:lnSpc>
            </a:pPr>
            <a:r>
              <a:rPr lang="zh-CN" altLang="en-US" sz="2400" b="1">
                <a:solidFill>
                  <a:srgbClr val="FF0000"/>
                </a:solidFill>
                <a:latin typeface="Times New Roman" pitchFamily="18" charset="0"/>
              </a:rPr>
              <a:t>求</a:t>
            </a:r>
          </a:p>
        </p:txBody>
      </p:sp>
      <p:grpSp>
        <p:nvGrpSpPr>
          <p:cNvPr id="4" name="Group 15"/>
          <p:cNvGrpSpPr>
            <a:grpSpLocks/>
          </p:cNvGrpSpPr>
          <p:nvPr/>
        </p:nvGrpSpPr>
        <p:grpSpPr bwMode="auto">
          <a:xfrm>
            <a:off x="6048375" y="3494088"/>
            <a:ext cx="858838" cy="2362200"/>
            <a:chOff x="3927" y="2205"/>
            <a:chExt cx="541" cy="1488"/>
          </a:xfrm>
        </p:grpSpPr>
        <p:graphicFrame>
          <p:nvGraphicFramePr>
            <p:cNvPr id="53257" name="Object 16"/>
            <p:cNvGraphicFramePr>
              <a:graphicFrameLocks noChangeAspect="1"/>
            </p:cNvGraphicFramePr>
            <p:nvPr/>
          </p:nvGraphicFramePr>
          <p:xfrm>
            <a:off x="3927" y="2205"/>
            <a:ext cx="541" cy="308"/>
          </p:xfrm>
          <a:graphic>
            <a:graphicData uri="http://schemas.openxmlformats.org/presentationml/2006/ole">
              <p:oleObj spid="_x0000_s53257" name="Equation" r:id="rId6" imgW="355320" imgH="203040" progId="Equation.3">
                <p:embed/>
              </p:oleObj>
            </a:graphicData>
          </a:graphic>
        </p:graphicFrame>
        <p:sp>
          <p:nvSpPr>
            <p:cNvPr id="53278" name="Line 17"/>
            <p:cNvSpPr>
              <a:spLocks noChangeShapeType="1"/>
            </p:cNvSpPr>
            <p:nvPr/>
          </p:nvSpPr>
          <p:spPr bwMode="auto">
            <a:xfrm>
              <a:off x="3937" y="2310"/>
              <a:ext cx="0" cy="1383"/>
            </a:xfrm>
            <a:prstGeom prst="line">
              <a:avLst/>
            </a:prstGeom>
            <a:noFill/>
            <a:ln w="28575">
              <a:solidFill>
                <a:schemeClr val="tx1"/>
              </a:solidFill>
              <a:round/>
              <a:headEnd type="triangle" w="med" len="med"/>
              <a:tailEnd/>
            </a:ln>
          </p:spPr>
          <p:txBody>
            <a:bodyPr/>
            <a:lstStyle/>
            <a:p>
              <a:endParaRPr lang="zh-CN" altLang="en-US"/>
            </a:p>
          </p:txBody>
        </p:sp>
      </p:grpSp>
      <p:sp>
        <p:nvSpPr>
          <p:cNvPr id="296978" name="Line 18"/>
          <p:cNvSpPr>
            <a:spLocks noChangeShapeType="1"/>
          </p:cNvSpPr>
          <p:nvPr/>
        </p:nvSpPr>
        <p:spPr bwMode="auto">
          <a:xfrm>
            <a:off x="6958013" y="4418013"/>
            <a:ext cx="990600" cy="0"/>
          </a:xfrm>
          <a:prstGeom prst="line">
            <a:avLst/>
          </a:prstGeom>
          <a:noFill/>
          <a:ln w="38100">
            <a:solidFill>
              <a:srgbClr val="0000FF"/>
            </a:solidFill>
            <a:round/>
            <a:headEnd/>
            <a:tailEnd/>
          </a:ln>
        </p:spPr>
        <p:txBody>
          <a:bodyPr/>
          <a:lstStyle/>
          <a:p>
            <a:endParaRPr lang="zh-CN" altLang="en-US"/>
          </a:p>
        </p:txBody>
      </p:sp>
      <p:grpSp>
        <p:nvGrpSpPr>
          <p:cNvPr id="5" name="Group 19"/>
          <p:cNvGrpSpPr>
            <a:grpSpLocks/>
          </p:cNvGrpSpPr>
          <p:nvPr/>
        </p:nvGrpSpPr>
        <p:grpSpPr bwMode="auto">
          <a:xfrm>
            <a:off x="7664450" y="4418013"/>
            <a:ext cx="614363" cy="1981200"/>
            <a:chOff x="4446" y="2787"/>
            <a:chExt cx="387" cy="1248"/>
          </a:xfrm>
        </p:grpSpPr>
        <p:sp>
          <p:nvSpPr>
            <p:cNvPr id="53277" name="Line 20"/>
            <p:cNvSpPr>
              <a:spLocks noChangeShapeType="1"/>
            </p:cNvSpPr>
            <p:nvPr/>
          </p:nvSpPr>
          <p:spPr bwMode="auto">
            <a:xfrm>
              <a:off x="4615" y="2787"/>
              <a:ext cx="0" cy="912"/>
            </a:xfrm>
            <a:prstGeom prst="line">
              <a:avLst/>
            </a:prstGeom>
            <a:noFill/>
            <a:ln w="12700">
              <a:solidFill>
                <a:schemeClr val="tx1"/>
              </a:solidFill>
              <a:prstDash val="dash"/>
              <a:round/>
              <a:headEnd/>
              <a:tailEnd/>
            </a:ln>
          </p:spPr>
          <p:txBody>
            <a:bodyPr/>
            <a:lstStyle/>
            <a:p>
              <a:endParaRPr lang="zh-CN" altLang="en-US"/>
            </a:p>
          </p:txBody>
        </p:sp>
        <p:graphicFrame>
          <p:nvGraphicFramePr>
            <p:cNvPr id="53256" name="Object 21"/>
            <p:cNvGraphicFramePr>
              <a:graphicFrameLocks noChangeAspect="1"/>
            </p:cNvGraphicFramePr>
            <p:nvPr/>
          </p:nvGraphicFramePr>
          <p:xfrm>
            <a:off x="4446" y="3689"/>
            <a:ext cx="387" cy="346"/>
          </p:xfrm>
          <a:graphic>
            <a:graphicData uri="http://schemas.openxmlformats.org/presentationml/2006/ole">
              <p:oleObj spid="_x0000_s53256" name="Equation" r:id="rId7" imgW="253800" imgH="228600" progId="Equation.3">
                <p:embed/>
              </p:oleObj>
            </a:graphicData>
          </a:graphic>
        </p:graphicFrame>
      </p:grpSp>
      <p:sp>
        <p:nvSpPr>
          <p:cNvPr id="296982" name="Line 22"/>
          <p:cNvSpPr>
            <a:spLocks noChangeShapeType="1"/>
          </p:cNvSpPr>
          <p:nvPr/>
        </p:nvSpPr>
        <p:spPr bwMode="auto">
          <a:xfrm>
            <a:off x="7947025" y="5826125"/>
            <a:ext cx="431800" cy="0"/>
          </a:xfrm>
          <a:prstGeom prst="line">
            <a:avLst/>
          </a:prstGeom>
          <a:noFill/>
          <a:ln w="38100">
            <a:solidFill>
              <a:srgbClr val="0000FF"/>
            </a:solidFill>
            <a:round/>
            <a:headEnd/>
            <a:tailEnd/>
          </a:ln>
        </p:spPr>
        <p:txBody>
          <a:bodyPr/>
          <a:lstStyle/>
          <a:p>
            <a:endParaRPr lang="zh-CN" altLang="en-US"/>
          </a:p>
        </p:txBody>
      </p:sp>
      <p:graphicFrame>
        <p:nvGraphicFramePr>
          <p:cNvPr id="296983" name="Object 23"/>
          <p:cNvGraphicFramePr>
            <a:graphicFrameLocks noChangeAspect="1"/>
          </p:cNvGraphicFramePr>
          <p:nvPr/>
        </p:nvGraphicFramePr>
        <p:xfrm>
          <a:off x="4302125" y="5510213"/>
          <a:ext cx="965200" cy="798512"/>
        </p:xfrm>
        <a:graphic>
          <a:graphicData uri="http://schemas.openxmlformats.org/presentationml/2006/ole">
            <p:oleObj spid="_x0000_s53251" name="公式" r:id="rId8" imgW="533160" imgH="444240" progId="Equation.3">
              <p:embed/>
            </p:oleObj>
          </a:graphicData>
        </a:graphic>
      </p:graphicFrame>
      <p:graphicFrame>
        <p:nvGraphicFramePr>
          <p:cNvPr id="296984" name="Object 24"/>
          <p:cNvGraphicFramePr>
            <a:graphicFrameLocks noChangeAspect="1"/>
          </p:cNvGraphicFramePr>
          <p:nvPr/>
        </p:nvGraphicFramePr>
        <p:xfrm>
          <a:off x="1466850" y="5534025"/>
          <a:ext cx="1730375" cy="730250"/>
        </p:xfrm>
        <a:graphic>
          <a:graphicData uri="http://schemas.openxmlformats.org/presentationml/2006/ole">
            <p:oleObj spid="_x0000_s53252" name="公式" r:id="rId9" imgW="952200" imgH="406080" progId="Equation.3">
              <p:embed/>
            </p:oleObj>
          </a:graphicData>
        </a:graphic>
      </p:graphicFrame>
      <p:sp>
        <p:nvSpPr>
          <p:cNvPr id="296985" name="Text Box 25"/>
          <p:cNvSpPr txBox="1">
            <a:spLocks noChangeArrowheads="1"/>
          </p:cNvSpPr>
          <p:nvPr/>
        </p:nvSpPr>
        <p:spPr bwMode="auto">
          <a:xfrm>
            <a:off x="657225" y="3698875"/>
            <a:ext cx="3382963" cy="512763"/>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(1) </a:t>
            </a:r>
            <a:r>
              <a:rPr kumimoji="1" lang="zh-CN" altLang="en-US" sz="2400" b="1">
                <a:latin typeface="Times New Roman" pitchFamily="18" charset="0"/>
                <a:ea typeface="楷体_GB2312" pitchFamily="49" charset="-122"/>
              </a:rPr>
              <a:t>由归一化条件：</a:t>
            </a:r>
          </a:p>
        </p:txBody>
      </p:sp>
      <p:graphicFrame>
        <p:nvGraphicFramePr>
          <p:cNvPr id="296986" name="Object 26"/>
          <p:cNvGraphicFramePr>
            <a:graphicFrameLocks noChangeAspect="1"/>
          </p:cNvGraphicFramePr>
          <p:nvPr/>
        </p:nvGraphicFramePr>
        <p:xfrm>
          <a:off x="1601788" y="4565650"/>
          <a:ext cx="2638425" cy="798513"/>
        </p:xfrm>
        <a:graphic>
          <a:graphicData uri="http://schemas.openxmlformats.org/presentationml/2006/ole">
            <p:oleObj spid="_x0000_s53253" name="公式" r:id="rId10" imgW="1485720" imgH="444240" progId="Equation.3">
              <p:embed/>
            </p:oleObj>
          </a:graphicData>
        </a:graphic>
      </p:graphicFrame>
      <p:sp>
        <p:nvSpPr>
          <p:cNvPr id="296987" name="AutoShape 27"/>
          <p:cNvSpPr>
            <a:spLocks noChangeArrowheads="1"/>
          </p:cNvSpPr>
          <p:nvPr/>
        </p:nvSpPr>
        <p:spPr bwMode="auto">
          <a:xfrm>
            <a:off x="3405188" y="5805488"/>
            <a:ext cx="647700" cy="188912"/>
          </a:xfrm>
          <a:prstGeom prst="rightArrow">
            <a:avLst>
              <a:gd name="adj1" fmla="val 50000"/>
              <a:gd name="adj2" fmla="val 85715"/>
            </a:avLst>
          </a:prstGeom>
          <a:solidFill>
            <a:srgbClr val="0000FF"/>
          </a:solidFill>
          <a:ln w="9525">
            <a:solidFill>
              <a:schemeClr val="tx1"/>
            </a:solidFill>
            <a:miter lim="800000"/>
            <a:headEnd/>
            <a:tailEnd/>
          </a:ln>
        </p:spPr>
        <p:txBody>
          <a:bodyPr wrap="none" anchor="ctr"/>
          <a:lstStyle/>
          <a:p>
            <a:pPr algn="ctr"/>
            <a:endParaRPr lang="zh-CN" altLang="en-US"/>
          </a:p>
        </p:txBody>
      </p:sp>
      <p:grpSp>
        <p:nvGrpSpPr>
          <p:cNvPr id="6" name="Group 28"/>
          <p:cNvGrpSpPr>
            <a:grpSpLocks/>
          </p:cNvGrpSpPr>
          <p:nvPr/>
        </p:nvGrpSpPr>
        <p:grpSpPr bwMode="auto">
          <a:xfrm>
            <a:off x="5853113" y="5859463"/>
            <a:ext cx="2873375" cy="446087"/>
            <a:chOff x="3804" y="3699"/>
            <a:chExt cx="1810" cy="281"/>
          </a:xfrm>
        </p:grpSpPr>
        <p:sp>
          <p:nvSpPr>
            <p:cNvPr id="53275" name="Line 29"/>
            <p:cNvSpPr>
              <a:spLocks noChangeShapeType="1"/>
            </p:cNvSpPr>
            <p:nvPr/>
          </p:nvSpPr>
          <p:spPr bwMode="auto">
            <a:xfrm>
              <a:off x="3937" y="3699"/>
              <a:ext cx="1574" cy="3"/>
            </a:xfrm>
            <a:prstGeom prst="line">
              <a:avLst/>
            </a:prstGeom>
            <a:noFill/>
            <a:ln w="28575">
              <a:solidFill>
                <a:schemeClr val="tx1"/>
              </a:solidFill>
              <a:round/>
              <a:headEnd/>
              <a:tailEnd type="triangle" w="med" len="med"/>
            </a:ln>
          </p:spPr>
          <p:txBody>
            <a:bodyPr/>
            <a:lstStyle/>
            <a:p>
              <a:endParaRPr lang="zh-CN" altLang="en-US"/>
            </a:p>
          </p:txBody>
        </p:sp>
        <p:graphicFrame>
          <p:nvGraphicFramePr>
            <p:cNvPr id="53255" name="Object 30"/>
            <p:cNvGraphicFramePr>
              <a:graphicFrameLocks noChangeAspect="1"/>
            </p:cNvGraphicFramePr>
            <p:nvPr/>
          </p:nvGraphicFramePr>
          <p:xfrm>
            <a:off x="5420" y="3748"/>
            <a:ext cx="194" cy="211"/>
          </p:xfrm>
          <a:graphic>
            <a:graphicData uri="http://schemas.openxmlformats.org/presentationml/2006/ole">
              <p:oleObj spid="_x0000_s53255" name="Equation" r:id="rId11" imgW="126720" imgH="139680" progId="Equation.3">
                <p:embed/>
              </p:oleObj>
            </a:graphicData>
          </a:graphic>
        </p:graphicFrame>
        <p:sp>
          <p:nvSpPr>
            <p:cNvPr id="53276" name="Text Box 31"/>
            <p:cNvSpPr txBox="1">
              <a:spLocks noChangeArrowheads="1"/>
            </p:cNvSpPr>
            <p:nvPr/>
          </p:nvSpPr>
          <p:spPr bwMode="auto">
            <a:xfrm>
              <a:off x="3804" y="3701"/>
              <a:ext cx="232" cy="279"/>
            </a:xfrm>
            <a:prstGeom prst="rect">
              <a:avLst/>
            </a:prstGeom>
            <a:noFill/>
            <a:ln w="9525">
              <a:noFill/>
              <a:miter lim="800000"/>
              <a:headEnd/>
              <a:tailEnd/>
            </a:ln>
          </p:spPr>
          <p:txBody>
            <a:bodyPr wrap="none">
              <a:spAutoFit/>
            </a:bodyPr>
            <a:lstStyle/>
            <a:p>
              <a:pPr>
                <a:lnSpc>
                  <a:spcPct val="115000"/>
                </a:lnSpc>
              </a:pPr>
              <a:r>
                <a:rPr lang="en-US" altLang="zh-CN" sz="2000" b="1" i="1">
                  <a:latin typeface="Times New Roman" pitchFamily="18" charset="0"/>
                </a:rPr>
                <a:t>O</a:t>
              </a:r>
            </a:p>
          </p:txBody>
        </p:sp>
      </p:grpSp>
      <p:graphicFrame>
        <p:nvGraphicFramePr>
          <p:cNvPr id="296992" name="Object 32"/>
          <p:cNvGraphicFramePr>
            <a:graphicFrameLocks noChangeAspect="1"/>
          </p:cNvGraphicFramePr>
          <p:nvPr/>
        </p:nvGraphicFramePr>
        <p:xfrm>
          <a:off x="3408363" y="3689350"/>
          <a:ext cx="1627187" cy="595313"/>
        </p:xfrm>
        <a:graphic>
          <a:graphicData uri="http://schemas.openxmlformats.org/presentationml/2006/ole">
            <p:oleObj spid="_x0000_s53254" name="公式" r:id="rId12" imgW="914400" imgH="33012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73"/>
                                        </p:tgtEl>
                                        <p:attrNameLst>
                                          <p:attrName>style.visibility</p:attrName>
                                        </p:attrNameLst>
                                      </p:cBhvr>
                                      <p:to>
                                        <p:strVal val="visible"/>
                                      </p:to>
                                    </p:set>
                                    <p:animEffect transition="in" filter="wipe(left)">
                                      <p:cBhvr>
                                        <p:cTn id="7" dur="500"/>
                                        <p:tgtEl>
                                          <p:spTgt spid="29697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6969"/>
                                        </p:tgtEl>
                                        <p:attrNameLst>
                                          <p:attrName>style.visibility</p:attrName>
                                        </p:attrNameLst>
                                      </p:cBhvr>
                                      <p:to>
                                        <p:strVal val="visible"/>
                                      </p:to>
                                    </p:set>
                                    <p:animEffect transition="in" filter="wipe(left)">
                                      <p:cBhvr>
                                        <p:cTn id="11" dur="500"/>
                                        <p:tgtEl>
                                          <p:spTgt spid="29696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96970"/>
                                        </p:tgtEl>
                                        <p:attrNameLst>
                                          <p:attrName>style.visibility</p:attrName>
                                        </p:attrNameLst>
                                      </p:cBhvr>
                                      <p:to>
                                        <p:strVal val="visible"/>
                                      </p:to>
                                    </p:set>
                                    <p:animEffect transition="in" filter="wipe(left)">
                                      <p:cBhvr>
                                        <p:cTn id="15" dur="500"/>
                                        <p:tgtEl>
                                          <p:spTgt spid="29697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96974"/>
                                        </p:tgtEl>
                                        <p:attrNameLst>
                                          <p:attrName>style.visibility</p:attrName>
                                        </p:attrNameLst>
                                      </p:cBhvr>
                                      <p:to>
                                        <p:strVal val="visible"/>
                                      </p:to>
                                    </p:set>
                                    <p:animEffect transition="in" filter="wipe(left)">
                                      <p:cBhvr>
                                        <p:cTn id="20" dur="500"/>
                                        <p:tgtEl>
                                          <p:spTgt spid="296974"/>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96971"/>
                                        </p:tgtEl>
                                        <p:attrNameLst>
                                          <p:attrName>style.visibility</p:attrName>
                                        </p:attrNameLst>
                                      </p:cBhvr>
                                      <p:to>
                                        <p:strVal val="visible"/>
                                      </p:to>
                                    </p:set>
                                    <p:animEffect transition="in" filter="wipe(left)">
                                      <p:cBhvr>
                                        <p:cTn id="24" dur="500"/>
                                        <p:tgtEl>
                                          <p:spTgt spid="29697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96972"/>
                                        </p:tgtEl>
                                        <p:attrNameLst>
                                          <p:attrName>style.visibility</p:attrName>
                                        </p:attrNameLst>
                                      </p:cBhvr>
                                      <p:to>
                                        <p:strVal val="visible"/>
                                      </p:to>
                                    </p:set>
                                    <p:animEffect transition="in" filter="wipe(left)">
                                      <p:cBhvr>
                                        <p:cTn id="29" dur="500"/>
                                        <p:tgtEl>
                                          <p:spTgt spid="29697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down)">
                                      <p:cBhvr>
                                        <p:cTn id="34" dur="500"/>
                                        <p:tgtEl>
                                          <p:spTgt spid="6"/>
                                        </p:tgtEl>
                                      </p:cBhvr>
                                    </p:animEffect>
                                  </p:childTnLst>
                                </p:cTn>
                              </p:par>
                              <p:par>
                                <p:cTn id="35" presetID="22" presetClass="entr" presetSubtype="8"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1000"/>
                                        <p:tgtEl>
                                          <p:spTgt spid="2"/>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296962"/>
                                        </p:tgtEl>
                                        <p:attrNameLst>
                                          <p:attrName>style.visibility</p:attrName>
                                        </p:attrNameLst>
                                      </p:cBhvr>
                                      <p:to>
                                        <p:strVal val="visible"/>
                                      </p:to>
                                    </p:set>
                                    <p:animEffect transition="in" filter="wipe(left)">
                                      <p:cBhvr>
                                        <p:cTn id="50" dur="1000"/>
                                        <p:tgtEl>
                                          <p:spTgt spid="29696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up)">
                                      <p:cBhvr>
                                        <p:cTn id="55" dur="1000"/>
                                        <p:tgtEl>
                                          <p:spTgt spid="5"/>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96978"/>
                                        </p:tgtEl>
                                        <p:attrNameLst>
                                          <p:attrName>style.visibility</p:attrName>
                                        </p:attrNameLst>
                                      </p:cBhvr>
                                      <p:to>
                                        <p:strVal val="visible"/>
                                      </p:to>
                                    </p:set>
                                    <p:animEffect transition="in" filter="wipe(left)">
                                      <p:cBhvr>
                                        <p:cTn id="59" dur="1000"/>
                                        <p:tgtEl>
                                          <p:spTgt spid="29697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96982"/>
                                        </p:tgtEl>
                                        <p:attrNameLst>
                                          <p:attrName>style.visibility</p:attrName>
                                        </p:attrNameLst>
                                      </p:cBhvr>
                                      <p:to>
                                        <p:strVal val="visible"/>
                                      </p:to>
                                    </p:set>
                                    <p:animEffect transition="in" filter="wipe(left)">
                                      <p:cBhvr>
                                        <p:cTn id="64" dur="500"/>
                                        <p:tgtEl>
                                          <p:spTgt spid="29698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96985"/>
                                        </p:tgtEl>
                                        <p:attrNameLst>
                                          <p:attrName>style.visibility</p:attrName>
                                        </p:attrNameLst>
                                      </p:cBhvr>
                                      <p:to>
                                        <p:strVal val="visible"/>
                                      </p:to>
                                    </p:set>
                                    <p:animEffect transition="in" filter="wipe(left)">
                                      <p:cBhvr>
                                        <p:cTn id="69" dur="500"/>
                                        <p:tgtEl>
                                          <p:spTgt spid="29698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96992"/>
                                        </p:tgtEl>
                                        <p:attrNameLst>
                                          <p:attrName>style.visibility</p:attrName>
                                        </p:attrNameLst>
                                      </p:cBhvr>
                                      <p:to>
                                        <p:strVal val="visible"/>
                                      </p:to>
                                    </p:set>
                                    <p:animEffect transition="in" filter="wipe(left)">
                                      <p:cBhvr>
                                        <p:cTn id="74" dur="500"/>
                                        <p:tgtEl>
                                          <p:spTgt spid="29699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96986"/>
                                        </p:tgtEl>
                                        <p:attrNameLst>
                                          <p:attrName>style.visibility</p:attrName>
                                        </p:attrNameLst>
                                      </p:cBhvr>
                                      <p:to>
                                        <p:strVal val="visible"/>
                                      </p:to>
                                    </p:set>
                                    <p:animEffect transition="in" filter="wipe(left)">
                                      <p:cBhvr>
                                        <p:cTn id="79" dur="500"/>
                                        <p:tgtEl>
                                          <p:spTgt spid="29698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96984"/>
                                        </p:tgtEl>
                                        <p:attrNameLst>
                                          <p:attrName>style.visibility</p:attrName>
                                        </p:attrNameLst>
                                      </p:cBhvr>
                                      <p:to>
                                        <p:strVal val="visible"/>
                                      </p:to>
                                    </p:set>
                                    <p:animEffect transition="in" filter="wipe(left)">
                                      <p:cBhvr>
                                        <p:cTn id="84" dur="500"/>
                                        <p:tgtEl>
                                          <p:spTgt spid="29698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96987"/>
                                        </p:tgtEl>
                                        <p:attrNameLst>
                                          <p:attrName>style.visibility</p:attrName>
                                        </p:attrNameLst>
                                      </p:cBhvr>
                                      <p:to>
                                        <p:strVal val="visible"/>
                                      </p:to>
                                    </p:set>
                                    <p:animEffect transition="in" filter="wipe(left)">
                                      <p:cBhvr>
                                        <p:cTn id="89" dur="500"/>
                                        <p:tgtEl>
                                          <p:spTgt spid="296987"/>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96983"/>
                                        </p:tgtEl>
                                        <p:attrNameLst>
                                          <p:attrName>style.visibility</p:attrName>
                                        </p:attrNameLst>
                                      </p:cBhvr>
                                      <p:to>
                                        <p:strVal val="visible"/>
                                      </p:to>
                                    </p:set>
                                    <p:animEffect transition="in" filter="wipe(left)">
                                      <p:cBhvr>
                                        <p:cTn id="94" dur="500"/>
                                        <p:tgtEl>
                                          <p:spTgt spid="296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animBg="1"/>
      <p:bldP spid="296969" grpId="0"/>
      <p:bldP spid="296971" grpId="0"/>
      <p:bldP spid="296972" grpId="0"/>
      <p:bldP spid="296973" grpId="0"/>
      <p:bldP spid="296974" grpId="0"/>
      <p:bldP spid="296978" grpId="0" animBg="1"/>
      <p:bldP spid="296982" grpId="0" animBg="1"/>
      <p:bldP spid="296985" grpId="0" autoUpdateAnimBg="0"/>
      <p:bldP spid="29698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p:cNvSpPr txBox="1">
            <a:spLocks noChangeArrowheads="1"/>
          </p:cNvSpPr>
          <p:nvPr/>
        </p:nvSpPr>
        <p:spPr bwMode="auto">
          <a:xfrm>
            <a:off x="206375" y="476250"/>
            <a:ext cx="8686800" cy="933450"/>
          </a:xfrm>
          <a:prstGeom prst="rect">
            <a:avLst/>
          </a:prstGeom>
          <a:noFill/>
          <a:ln w="9525">
            <a:noFill/>
            <a:miter lim="800000"/>
            <a:headEnd/>
            <a:tailEnd/>
          </a:ln>
        </p:spPr>
        <p:txBody>
          <a:bodyPr>
            <a:spAutoFit/>
          </a:bodyPr>
          <a:lstStyle/>
          <a:p>
            <a:pPr>
              <a:lnSpc>
                <a:spcPct val="115000"/>
              </a:lnSpc>
            </a:pPr>
            <a:r>
              <a:rPr kumimoji="1" lang="en-US" altLang="zh-CN" sz="2400" b="1">
                <a:latin typeface="Times New Roman" pitchFamily="18" charset="0"/>
              </a:rPr>
              <a:t>(2)  </a:t>
            </a:r>
            <a:r>
              <a:rPr kumimoji="1" lang="zh-CN" altLang="en-US" sz="2400" b="1">
                <a:latin typeface="楷体_GB2312" pitchFamily="49" charset="-122"/>
                <a:ea typeface="楷体_GB2312" pitchFamily="49" charset="-122"/>
              </a:rPr>
              <a:t>因为速率分布曲线下某一窄条的面积代表一定速率区间内的分子数与总分子数的比率，所以</a:t>
            </a:r>
          </a:p>
        </p:txBody>
      </p:sp>
      <p:graphicFrame>
        <p:nvGraphicFramePr>
          <p:cNvPr id="297987" name="Object 3"/>
          <p:cNvGraphicFramePr>
            <a:graphicFrameLocks noChangeAspect="1"/>
          </p:cNvGraphicFramePr>
          <p:nvPr/>
        </p:nvGraphicFramePr>
        <p:xfrm>
          <a:off x="2660650" y="2287588"/>
          <a:ext cx="1604963" cy="798512"/>
        </p:xfrm>
        <a:graphic>
          <a:graphicData uri="http://schemas.openxmlformats.org/presentationml/2006/ole">
            <p:oleObj spid="_x0000_s54274" name="公式" r:id="rId3" imgW="888840" imgH="444240" progId="Equation.3">
              <p:embed/>
            </p:oleObj>
          </a:graphicData>
        </a:graphic>
      </p:graphicFrame>
      <p:sp>
        <p:nvSpPr>
          <p:cNvPr id="297988" name="Text Box 4"/>
          <p:cNvSpPr txBox="1">
            <a:spLocks noChangeArrowheads="1"/>
          </p:cNvSpPr>
          <p:nvPr/>
        </p:nvSpPr>
        <p:spPr bwMode="auto">
          <a:xfrm>
            <a:off x="522288" y="3384550"/>
            <a:ext cx="6192837" cy="512763"/>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ea typeface="楷体_GB2312" pitchFamily="49" charset="-122"/>
              </a:rPr>
              <a:t>因此</a:t>
            </a:r>
            <a:r>
              <a:rPr kumimoji="1" lang="zh-CN" altLang="en-US" sz="2400" b="1">
                <a:latin typeface="Times New Roman" pitchFamily="18" charset="0"/>
              </a:rPr>
              <a:t>，</a:t>
            </a:r>
            <a:r>
              <a:rPr kumimoji="1" lang="en-US" altLang="zh-CN" sz="2400" i="1">
                <a:solidFill>
                  <a:srgbClr val="FF6600"/>
                </a:solidFill>
                <a:latin typeface="Bookman Old Style" pitchFamily="18" charset="0"/>
              </a:rPr>
              <a:t>v&gt;v</a:t>
            </a:r>
            <a:r>
              <a:rPr kumimoji="1" lang="en-US" altLang="zh-CN" sz="2400" baseline="-25000">
                <a:solidFill>
                  <a:srgbClr val="FF6600"/>
                </a:solidFill>
                <a:latin typeface="Times New Roman" pitchFamily="18" charset="0"/>
              </a:rPr>
              <a:t>0</a:t>
            </a:r>
            <a:r>
              <a:rPr kumimoji="1" lang="en-US" altLang="zh-CN" sz="2400">
                <a:solidFill>
                  <a:srgbClr val="FF6600"/>
                </a:solidFill>
                <a:latin typeface="Times New Roman" pitchFamily="18" charset="0"/>
              </a:rPr>
              <a:t> </a:t>
            </a:r>
            <a:r>
              <a:rPr kumimoji="1" lang="zh-CN" altLang="en-US" sz="2400" b="1">
                <a:latin typeface="Times New Roman" pitchFamily="18" charset="0"/>
                <a:ea typeface="楷体_GB2312" pitchFamily="49" charset="-122"/>
              </a:rPr>
              <a:t>的分子数为</a:t>
            </a:r>
            <a:r>
              <a:rPr kumimoji="1" lang="zh-CN" altLang="en-US" sz="2400" b="1">
                <a:solidFill>
                  <a:schemeClr val="bg1"/>
                </a:solidFill>
                <a:latin typeface="Times New Roman" pitchFamily="18" charset="0"/>
              </a:rPr>
              <a:t> </a:t>
            </a:r>
            <a:r>
              <a:rPr kumimoji="1" lang="en-US" altLang="zh-CN" sz="2400" b="1">
                <a:solidFill>
                  <a:srgbClr val="FF6600"/>
                </a:solidFill>
                <a:latin typeface="Times New Roman" pitchFamily="18" charset="0"/>
              </a:rPr>
              <a:t>( 2</a:t>
            </a:r>
            <a:r>
              <a:rPr kumimoji="1" lang="en-US" altLang="zh-CN" sz="2400" b="1" i="1">
                <a:solidFill>
                  <a:srgbClr val="FF6600"/>
                </a:solidFill>
                <a:latin typeface="Times New Roman" pitchFamily="18" charset="0"/>
              </a:rPr>
              <a:t>N</a:t>
            </a:r>
            <a:r>
              <a:rPr kumimoji="1" lang="en-US" altLang="zh-CN" sz="2400" b="1">
                <a:solidFill>
                  <a:srgbClr val="FF6600"/>
                </a:solidFill>
                <a:latin typeface="Times New Roman" pitchFamily="18" charset="0"/>
              </a:rPr>
              <a:t>/3 )</a:t>
            </a:r>
            <a:endParaRPr kumimoji="1" lang="en-US" altLang="zh-CN" sz="2400" b="1" i="1">
              <a:solidFill>
                <a:srgbClr val="FF6600"/>
              </a:solidFill>
              <a:latin typeface="Times New Roman" pitchFamily="18" charset="0"/>
            </a:endParaRPr>
          </a:p>
        </p:txBody>
      </p:sp>
      <p:sp>
        <p:nvSpPr>
          <p:cNvPr id="297989" name="Text Box 5"/>
          <p:cNvSpPr txBox="1">
            <a:spLocks noChangeArrowheads="1"/>
          </p:cNvSpPr>
          <p:nvPr/>
        </p:nvSpPr>
        <p:spPr bwMode="auto">
          <a:xfrm>
            <a:off x="547688" y="4176713"/>
            <a:ext cx="6526212" cy="512762"/>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ea typeface="楷体_GB2312" pitchFamily="49" charset="-122"/>
              </a:rPr>
              <a:t>同理，</a:t>
            </a:r>
            <a:r>
              <a:rPr kumimoji="1" lang="en-US" altLang="zh-CN" sz="2400" i="1">
                <a:solidFill>
                  <a:srgbClr val="FF6600"/>
                </a:solidFill>
                <a:latin typeface="Bookman Old Style" pitchFamily="18" charset="0"/>
              </a:rPr>
              <a:t>v&lt;v</a:t>
            </a:r>
            <a:r>
              <a:rPr kumimoji="1" lang="en-US" altLang="zh-CN" sz="2400" baseline="-25000">
                <a:solidFill>
                  <a:srgbClr val="FF6600"/>
                </a:solidFill>
                <a:latin typeface="Times New Roman" pitchFamily="18" charset="0"/>
              </a:rPr>
              <a:t>0</a:t>
            </a:r>
            <a:r>
              <a:rPr kumimoji="1" lang="en-US" altLang="zh-CN" sz="2400" b="1">
                <a:solidFill>
                  <a:srgbClr val="FF6600"/>
                </a:solidFill>
                <a:latin typeface="Times New Roman" pitchFamily="18" charset="0"/>
              </a:rPr>
              <a:t> </a:t>
            </a:r>
            <a:r>
              <a:rPr kumimoji="1" lang="zh-CN" altLang="en-US" sz="2400" b="1">
                <a:latin typeface="Times New Roman" pitchFamily="18" charset="0"/>
                <a:ea typeface="楷体_GB2312" pitchFamily="49" charset="-122"/>
              </a:rPr>
              <a:t>的分子数为</a:t>
            </a:r>
            <a:r>
              <a:rPr kumimoji="1" lang="zh-CN" altLang="en-US" sz="2400" b="1">
                <a:solidFill>
                  <a:schemeClr val="bg1"/>
                </a:solidFill>
                <a:latin typeface="Times New Roman" pitchFamily="18" charset="0"/>
              </a:rPr>
              <a:t> </a:t>
            </a:r>
            <a:r>
              <a:rPr kumimoji="1" lang="en-US" altLang="zh-CN" sz="2400" b="1">
                <a:solidFill>
                  <a:srgbClr val="FF6600"/>
                </a:solidFill>
                <a:latin typeface="Times New Roman" pitchFamily="18" charset="0"/>
              </a:rPr>
              <a:t>( </a:t>
            </a:r>
            <a:r>
              <a:rPr kumimoji="1" lang="en-US" altLang="zh-CN" sz="2400" b="1" i="1">
                <a:solidFill>
                  <a:srgbClr val="FF6600"/>
                </a:solidFill>
                <a:latin typeface="Times New Roman" pitchFamily="18" charset="0"/>
              </a:rPr>
              <a:t>N</a:t>
            </a:r>
            <a:r>
              <a:rPr kumimoji="1" lang="en-US" altLang="zh-CN" sz="2400" b="1">
                <a:solidFill>
                  <a:srgbClr val="FF6600"/>
                </a:solidFill>
                <a:latin typeface="Times New Roman" pitchFamily="18" charset="0"/>
              </a:rPr>
              <a:t>/3 )</a:t>
            </a:r>
            <a:endParaRPr kumimoji="1" lang="en-US" altLang="zh-CN" sz="2400" b="1" i="1">
              <a:solidFill>
                <a:srgbClr val="FF6600"/>
              </a:solidFill>
              <a:latin typeface="Times New Roman" pitchFamily="18" charset="0"/>
            </a:endParaRPr>
          </a:p>
        </p:txBody>
      </p:sp>
      <p:graphicFrame>
        <p:nvGraphicFramePr>
          <p:cNvPr id="297990" name="Object 6"/>
          <p:cNvGraphicFramePr>
            <a:graphicFrameLocks noChangeAspect="1"/>
          </p:cNvGraphicFramePr>
          <p:nvPr/>
        </p:nvGraphicFramePr>
        <p:xfrm>
          <a:off x="1377950" y="2289175"/>
          <a:ext cx="1227138" cy="730250"/>
        </p:xfrm>
        <a:graphic>
          <a:graphicData uri="http://schemas.openxmlformats.org/presentationml/2006/ole">
            <p:oleObj spid="_x0000_s54275" name="公式" r:id="rId4" imgW="672840" imgH="406080" progId="Equation.3">
              <p:embed/>
            </p:oleObj>
          </a:graphicData>
        </a:graphic>
      </p:graphicFrame>
      <p:graphicFrame>
        <p:nvGraphicFramePr>
          <p:cNvPr id="297991" name="Object 7"/>
          <p:cNvGraphicFramePr>
            <a:graphicFrameLocks noChangeAspect="1"/>
          </p:cNvGraphicFramePr>
          <p:nvPr/>
        </p:nvGraphicFramePr>
        <p:xfrm>
          <a:off x="463550" y="1684338"/>
          <a:ext cx="733425" cy="409575"/>
        </p:xfrm>
        <a:graphic>
          <a:graphicData uri="http://schemas.openxmlformats.org/presentationml/2006/ole">
            <p:oleObj spid="_x0000_s54276" name="公式" r:id="rId5" imgW="406080" imgH="228600" progId="Equation.3">
              <p:embed/>
            </p:oleObj>
          </a:graphicData>
        </a:graphic>
      </p:graphicFrame>
      <p:graphicFrame>
        <p:nvGraphicFramePr>
          <p:cNvPr id="297992" name="Object 8"/>
          <p:cNvGraphicFramePr>
            <a:graphicFrameLocks noChangeAspect="1"/>
          </p:cNvGraphicFramePr>
          <p:nvPr/>
        </p:nvGraphicFramePr>
        <p:xfrm>
          <a:off x="5181600" y="2276475"/>
          <a:ext cx="1235075" cy="731838"/>
        </p:xfrm>
        <a:graphic>
          <a:graphicData uri="http://schemas.openxmlformats.org/presentationml/2006/ole">
            <p:oleObj spid="_x0000_s54277" name="公式" r:id="rId6" imgW="685800" imgH="406080" progId="Equation.3">
              <p:embed/>
            </p:oleObj>
          </a:graphicData>
        </a:graphic>
      </p:graphicFrame>
      <p:sp>
        <p:nvSpPr>
          <p:cNvPr id="297993" name="Rectangle 9"/>
          <p:cNvSpPr>
            <a:spLocks noChangeArrowheads="1"/>
          </p:cNvSpPr>
          <p:nvPr/>
        </p:nvSpPr>
        <p:spPr bwMode="auto">
          <a:xfrm>
            <a:off x="1163638" y="1557338"/>
            <a:ext cx="5554662" cy="512762"/>
          </a:xfrm>
          <a:prstGeom prst="rect">
            <a:avLst/>
          </a:prstGeom>
          <a:noFill/>
          <a:ln w="9525">
            <a:noFill/>
            <a:miter lim="800000"/>
            <a:headEnd/>
            <a:tailEnd/>
          </a:ln>
        </p:spPr>
        <p:txBody>
          <a:bodyPr>
            <a:spAutoFit/>
          </a:bodyPr>
          <a:lstStyle/>
          <a:p>
            <a:pPr>
              <a:lnSpc>
                <a:spcPct val="115000"/>
              </a:lnSpc>
            </a:pPr>
            <a:r>
              <a:rPr kumimoji="1" lang="zh-CN" altLang="en-US" sz="2400" b="1">
                <a:latin typeface="Times New Roman" pitchFamily="18" charset="0"/>
                <a:ea typeface="楷体_GB2312" pitchFamily="49" charset="-122"/>
              </a:rPr>
              <a:t>的分子数与总分子数的比率为</a:t>
            </a:r>
          </a:p>
        </p:txBody>
      </p:sp>
      <p:sp>
        <p:nvSpPr>
          <p:cNvPr id="297994" name="AutoShape 10"/>
          <p:cNvSpPr>
            <a:spLocks noChangeArrowheads="1"/>
          </p:cNvSpPr>
          <p:nvPr/>
        </p:nvSpPr>
        <p:spPr bwMode="auto">
          <a:xfrm>
            <a:off x="4443413" y="2544763"/>
            <a:ext cx="647700" cy="182562"/>
          </a:xfrm>
          <a:prstGeom prst="rightArrow">
            <a:avLst>
              <a:gd name="adj1" fmla="val 50000"/>
              <a:gd name="adj2" fmla="val 88696"/>
            </a:avLst>
          </a:prstGeom>
          <a:solidFill>
            <a:srgbClr val="0000FF"/>
          </a:solidFill>
          <a:ln w="9525">
            <a:solidFill>
              <a:schemeClr val="tx1"/>
            </a:solidFill>
            <a:miter lim="800000"/>
            <a:headEnd/>
            <a:tailEnd/>
          </a:ln>
        </p:spPr>
        <p:txBody>
          <a:bodyPr wrap="none" anchor="ctr"/>
          <a:lstStyle/>
          <a:p>
            <a:pPr algn="ctr"/>
            <a:endParaRPr lang="zh-CN" altLang="en-US"/>
          </a:p>
        </p:txBody>
      </p:sp>
      <p:grpSp>
        <p:nvGrpSpPr>
          <p:cNvPr id="54288" name="Group 31"/>
          <p:cNvGrpSpPr>
            <a:grpSpLocks/>
          </p:cNvGrpSpPr>
          <p:nvPr/>
        </p:nvGrpSpPr>
        <p:grpSpPr bwMode="auto">
          <a:xfrm>
            <a:off x="5610225" y="3494088"/>
            <a:ext cx="3116263" cy="2905125"/>
            <a:chOff x="3534" y="2201"/>
            <a:chExt cx="1963" cy="1830"/>
          </a:xfrm>
        </p:grpSpPr>
        <p:sp>
          <p:nvSpPr>
            <p:cNvPr id="54289" name="Line 12"/>
            <p:cNvSpPr>
              <a:spLocks noChangeShapeType="1"/>
            </p:cNvSpPr>
            <p:nvPr/>
          </p:nvSpPr>
          <p:spPr bwMode="auto">
            <a:xfrm flipV="1">
              <a:off x="3820" y="2783"/>
              <a:ext cx="576" cy="912"/>
            </a:xfrm>
            <a:prstGeom prst="line">
              <a:avLst/>
            </a:prstGeom>
            <a:noFill/>
            <a:ln w="38100">
              <a:solidFill>
                <a:srgbClr val="0000FF"/>
              </a:solidFill>
              <a:round/>
              <a:headEnd/>
              <a:tailEnd/>
            </a:ln>
          </p:spPr>
          <p:txBody>
            <a:bodyPr/>
            <a:lstStyle/>
            <a:p>
              <a:endParaRPr lang="zh-CN" altLang="en-US"/>
            </a:p>
          </p:txBody>
        </p:sp>
        <p:grpSp>
          <p:nvGrpSpPr>
            <p:cNvPr id="54290" name="Group 13"/>
            <p:cNvGrpSpPr>
              <a:grpSpLocks/>
            </p:cNvGrpSpPr>
            <p:nvPr/>
          </p:nvGrpSpPr>
          <p:grpSpPr bwMode="auto">
            <a:xfrm>
              <a:off x="4252" y="2783"/>
              <a:ext cx="271" cy="1248"/>
              <a:chOff x="3870" y="2787"/>
              <a:chExt cx="271" cy="1248"/>
            </a:xfrm>
          </p:grpSpPr>
          <p:sp>
            <p:nvSpPr>
              <p:cNvPr id="54302" name="Line 14"/>
              <p:cNvSpPr>
                <a:spLocks noChangeShapeType="1"/>
              </p:cNvSpPr>
              <p:nvPr/>
            </p:nvSpPr>
            <p:spPr bwMode="auto">
              <a:xfrm>
                <a:off x="4014" y="2787"/>
                <a:ext cx="0" cy="912"/>
              </a:xfrm>
              <a:prstGeom prst="line">
                <a:avLst/>
              </a:prstGeom>
              <a:noFill/>
              <a:ln w="12700">
                <a:solidFill>
                  <a:schemeClr val="tx1"/>
                </a:solidFill>
                <a:prstDash val="dash"/>
                <a:round/>
                <a:headEnd/>
                <a:tailEnd/>
              </a:ln>
            </p:spPr>
            <p:txBody>
              <a:bodyPr/>
              <a:lstStyle/>
              <a:p>
                <a:endParaRPr lang="zh-CN" altLang="en-US"/>
              </a:p>
            </p:txBody>
          </p:sp>
          <p:graphicFrame>
            <p:nvGraphicFramePr>
              <p:cNvPr id="54282" name="Object 15"/>
              <p:cNvGraphicFramePr>
                <a:graphicFrameLocks noChangeAspect="1"/>
              </p:cNvGraphicFramePr>
              <p:nvPr/>
            </p:nvGraphicFramePr>
            <p:xfrm>
              <a:off x="3870" y="3689"/>
              <a:ext cx="271" cy="346"/>
            </p:xfrm>
            <a:graphic>
              <a:graphicData uri="http://schemas.openxmlformats.org/presentationml/2006/ole">
                <p:oleObj spid="_x0000_s54282" name="Equation" r:id="rId7" imgW="177480" imgH="228600" progId="Equation.3">
                  <p:embed/>
                </p:oleObj>
              </a:graphicData>
            </a:graphic>
          </p:graphicFrame>
        </p:grpSp>
        <p:grpSp>
          <p:nvGrpSpPr>
            <p:cNvPr id="54291" name="Group 16"/>
            <p:cNvGrpSpPr>
              <a:grpSpLocks/>
            </p:cNvGrpSpPr>
            <p:nvPr/>
          </p:nvGrpSpPr>
          <p:grpSpPr bwMode="auto">
            <a:xfrm>
              <a:off x="3534" y="2682"/>
              <a:ext cx="864" cy="211"/>
              <a:chOff x="3264" y="2784"/>
              <a:chExt cx="864" cy="211"/>
            </a:xfrm>
          </p:grpSpPr>
          <p:sp>
            <p:nvSpPr>
              <p:cNvPr id="54301" name="Line 17"/>
              <p:cNvSpPr>
                <a:spLocks noChangeShapeType="1"/>
              </p:cNvSpPr>
              <p:nvPr/>
            </p:nvSpPr>
            <p:spPr bwMode="auto">
              <a:xfrm flipH="1">
                <a:off x="3552" y="2880"/>
                <a:ext cx="576" cy="0"/>
              </a:xfrm>
              <a:prstGeom prst="line">
                <a:avLst/>
              </a:prstGeom>
              <a:noFill/>
              <a:ln w="9525">
                <a:solidFill>
                  <a:schemeClr val="bg1"/>
                </a:solidFill>
                <a:prstDash val="dash"/>
                <a:round/>
                <a:headEnd/>
                <a:tailEnd/>
              </a:ln>
            </p:spPr>
            <p:txBody>
              <a:bodyPr/>
              <a:lstStyle/>
              <a:p>
                <a:endParaRPr lang="zh-CN" altLang="en-US"/>
              </a:p>
            </p:txBody>
          </p:sp>
          <p:graphicFrame>
            <p:nvGraphicFramePr>
              <p:cNvPr id="54281" name="Object 18"/>
              <p:cNvGraphicFramePr>
                <a:graphicFrameLocks noChangeAspect="1"/>
              </p:cNvGraphicFramePr>
              <p:nvPr/>
            </p:nvGraphicFramePr>
            <p:xfrm>
              <a:off x="3264" y="2784"/>
              <a:ext cx="193" cy="211"/>
            </p:xfrm>
            <a:graphic>
              <a:graphicData uri="http://schemas.openxmlformats.org/presentationml/2006/ole">
                <p:oleObj spid="_x0000_s54281" name="Equation" r:id="rId8" imgW="126720" imgH="139680" progId="Equation.3">
                  <p:embed/>
                </p:oleObj>
              </a:graphicData>
            </a:graphic>
          </p:graphicFrame>
        </p:grpSp>
        <p:grpSp>
          <p:nvGrpSpPr>
            <p:cNvPr id="54292" name="Group 19"/>
            <p:cNvGrpSpPr>
              <a:grpSpLocks/>
            </p:cNvGrpSpPr>
            <p:nvPr/>
          </p:nvGrpSpPr>
          <p:grpSpPr bwMode="auto">
            <a:xfrm>
              <a:off x="3810" y="2201"/>
              <a:ext cx="541" cy="1488"/>
              <a:chOff x="3927" y="2205"/>
              <a:chExt cx="541" cy="1488"/>
            </a:xfrm>
          </p:grpSpPr>
          <p:graphicFrame>
            <p:nvGraphicFramePr>
              <p:cNvPr id="54280" name="Object 20"/>
              <p:cNvGraphicFramePr>
                <a:graphicFrameLocks noChangeAspect="1"/>
              </p:cNvGraphicFramePr>
              <p:nvPr/>
            </p:nvGraphicFramePr>
            <p:xfrm>
              <a:off x="3927" y="2205"/>
              <a:ext cx="541" cy="308"/>
            </p:xfrm>
            <a:graphic>
              <a:graphicData uri="http://schemas.openxmlformats.org/presentationml/2006/ole">
                <p:oleObj spid="_x0000_s54280" name="Equation" r:id="rId9" imgW="355320" imgH="203040" progId="Equation.3">
                  <p:embed/>
                </p:oleObj>
              </a:graphicData>
            </a:graphic>
          </p:graphicFrame>
          <p:sp>
            <p:nvSpPr>
              <p:cNvPr id="54300" name="Line 21"/>
              <p:cNvSpPr>
                <a:spLocks noChangeShapeType="1"/>
              </p:cNvSpPr>
              <p:nvPr/>
            </p:nvSpPr>
            <p:spPr bwMode="auto">
              <a:xfrm>
                <a:off x="3937" y="2310"/>
                <a:ext cx="0" cy="1383"/>
              </a:xfrm>
              <a:prstGeom prst="line">
                <a:avLst/>
              </a:prstGeom>
              <a:noFill/>
              <a:ln w="28575">
                <a:solidFill>
                  <a:schemeClr val="tx1"/>
                </a:solidFill>
                <a:round/>
                <a:headEnd type="triangle" w="med" len="med"/>
                <a:tailEnd/>
              </a:ln>
            </p:spPr>
            <p:txBody>
              <a:bodyPr/>
              <a:lstStyle/>
              <a:p>
                <a:endParaRPr lang="zh-CN" altLang="en-US"/>
              </a:p>
            </p:txBody>
          </p:sp>
        </p:grpSp>
        <p:sp>
          <p:nvSpPr>
            <p:cNvPr id="54293" name="Line 22"/>
            <p:cNvSpPr>
              <a:spLocks noChangeShapeType="1"/>
            </p:cNvSpPr>
            <p:nvPr/>
          </p:nvSpPr>
          <p:spPr bwMode="auto">
            <a:xfrm>
              <a:off x="4383" y="2783"/>
              <a:ext cx="624" cy="0"/>
            </a:xfrm>
            <a:prstGeom prst="line">
              <a:avLst/>
            </a:prstGeom>
            <a:noFill/>
            <a:ln w="38100">
              <a:solidFill>
                <a:srgbClr val="0000FF"/>
              </a:solidFill>
              <a:round/>
              <a:headEnd/>
              <a:tailEnd/>
            </a:ln>
          </p:spPr>
          <p:txBody>
            <a:bodyPr/>
            <a:lstStyle/>
            <a:p>
              <a:endParaRPr lang="zh-CN" altLang="en-US"/>
            </a:p>
          </p:txBody>
        </p:sp>
        <p:grpSp>
          <p:nvGrpSpPr>
            <p:cNvPr id="54294" name="Group 23"/>
            <p:cNvGrpSpPr>
              <a:grpSpLocks/>
            </p:cNvGrpSpPr>
            <p:nvPr/>
          </p:nvGrpSpPr>
          <p:grpSpPr bwMode="auto">
            <a:xfrm>
              <a:off x="4828" y="2783"/>
              <a:ext cx="387" cy="1248"/>
              <a:chOff x="4446" y="2787"/>
              <a:chExt cx="387" cy="1248"/>
            </a:xfrm>
          </p:grpSpPr>
          <p:sp>
            <p:nvSpPr>
              <p:cNvPr id="54299" name="Line 24"/>
              <p:cNvSpPr>
                <a:spLocks noChangeShapeType="1"/>
              </p:cNvSpPr>
              <p:nvPr/>
            </p:nvSpPr>
            <p:spPr bwMode="auto">
              <a:xfrm>
                <a:off x="4615" y="2787"/>
                <a:ext cx="0" cy="912"/>
              </a:xfrm>
              <a:prstGeom prst="line">
                <a:avLst/>
              </a:prstGeom>
              <a:noFill/>
              <a:ln w="12700">
                <a:solidFill>
                  <a:schemeClr val="tx1"/>
                </a:solidFill>
                <a:prstDash val="dash"/>
                <a:round/>
                <a:headEnd/>
                <a:tailEnd/>
              </a:ln>
            </p:spPr>
            <p:txBody>
              <a:bodyPr/>
              <a:lstStyle/>
              <a:p>
                <a:endParaRPr lang="zh-CN" altLang="en-US"/>
              </a:p>
            </p:txBody>
          </p:sp>
          <p:graphicFrame>
            <p:nvGraphicFramePr>
              <p:cNvPr id="54279" name="Object 25"/>
              <p:cNvGraphicFramePr>
                <a:graphicFrameLocks noChangeAspect="1"/>
              </p:cNvGraphicFramePr>
              <p:nvPr/>
            </p:nvGraphicFramePr>
            <p:xfrm>
              <a:off x="4446" y="3689"/>
              <a:ext cx="387" cy="346"/>
            </p:xfrm>
            <a:graphic>
              <a:graphicData uri="http://schemas.openxmlformats.org/presentationml/2006/ole">
                <p:oleObj spid="_x0000_s54279" name="Equation" r:id="rId10" imgW="253800" imgH="228600" progId="Equation.3">
                  <p:embed/>
                </p:oleObj>
              </a:graphicData>
            </a:graphic>
          </p:graphicFrame>
        </p:grpSp>
        <p:sp>
          <p:nvSpPr>
            <p:cNvPr id="54295" name="Line 26"/>
            <p:cNvSpPr>
              <a:spLocks noChangeShapeType="1"/>
            </p:cNvSpPr>
            <p:nvPr/>
          </p:nvSpPr>
          <p:spPr bwMode="auto">
            <a:xfrm>
              <a:off x="5006" y="3670"/>
              <a:ext cx="272" cy="0"/>
            </a:xfrm>
            <a:prstGeom prst="line">
              <a:avLst/>
            </a:prstGeom>
            <a:noFill/>
            <a:ln w="38100">
              <a:solidFill>
                <a:srgbClr val="0000FF"/>
              </a:solidFill>
              <a:round/>
              <a:headEnd/>
              <a:tailEnd/>
            </a:ln>
          </p:spPr>
          <p:txBody>
            <a:bodyPr/>
            <a:lstStyle/>
            <a:p>
              <a:endParaRPr lang="zh-CN" altLang="en-US"/>
            </a:p>
          </p:txBody>
        </p:sp>
        <p:grpSp>
          <p:nvGrpSpPr>
            <p:cNvPr id="54296" name="Group 27"/>
            <p:cNvGrpSpPr>
              <a:grpSpLocks/>
            </p:cNvGrpSpPr>
            <p:nvPr/>
          </p:nvGrpSpPr>
          <p:grpSpPr bwMode="auto">
            <a:xfrm>
              <a:off x="3687" y="3691"/>
              <a:ext cx="1810" cy="281"/>
              <a:chOff x="3804" y="3699"/>
              <a:chExt cx="1810" cy="281"/>
            </a:xfrm>
          </p:grpSpPr>
          <p:sp>
            <p:nvSpPr>
              <p:cNvPr id="54297" name="Line 28"/>
              <p:cNvSpPr>
                <a:spLocks noChangeShapeType="1"/>
              </p:cNvSpPr>
              <p:nvPr/>
            </p:nvSpPr>
            <p:spPr bwMode="auto">
              <a:xfrm>
                <a:off x="3937" y="3699"/>
                <a:ext cx="1574" cy="3"/>
              </a:xfrm>
              <a:prstGeom prst="line">
                <a:avLst/>
              </a:prstGeom>
              <a:noFill/>
              <a:ln w="28575">
                <a:solidFill>
                  <a:schemeClr val="tx1"/>
                </a:solidFill>
                <a:round/>
                <a:headEnd/>
                <a:tailEnd type="triangle" w="med" len="med"/>
              </a:ln>
            </p:spPr>
            <p:txBody>
              <a:bodyPr/>
              <a:lstStyle/>
              <a:p>
                <a:endParaRPr lang="zh-CN" altLang="en-US"/>
              </a:p>
            </p:txBody>
          </p:sp>
          <p:graphicFrame>
            <p:nvGraphicFramePr>
              <p:cNvPr id="54278" name="Object 29"/>
              <p:cNvGraphicFramePr>
                <a:graphicFrameLocks noChangeAspect="1"/>
              </p:cNvGraphicFramePr>
              <p:nvPr/>
            </p:nvGraphicFramePr>
            <p:xfrm>
              <a:off x="5420" y="3748"/>
              <a:ext cx="194" cy="211"/>
            </p:xfrm>
            <a:graphic>
              <a:graphicData uri="http://schemas.openxmlformats.org/presentationml/2006/ole">
                <p:oleObj spid="_x0000_s54278" name="Equation" r:id="rId11" imgW="126720" imgH="139680" progId="Equation.3">
                  <p:embed/>
                </p:oleObj>
              </a:graphicData>
            </a:graphic>
          </p:graphicFrame>
          <p:sp>
            <p:nvSpPr>
              <p:cNvPr id="54298" name="Text Box 30"/>
              <p:cNvSpPr txBox="1">
                <a:spLocks noChangeArrowheads="1"/>
              </p:cNvSpPr>
              <p:nvPr/>
            </p:nvSpPr>
            <p:spPr bwMode="auto">
              <a:xfrm>
                <a:off x="3804" y="3701"/>
                <a:ext cx="232" cy="279"/>
              </a:xfrm>
              <a:prstGeom prst="rect">
                <a:avLst/>
              </a:prstGeom>
              <a:noFill/>
              <a:ln w="9525">
                <a:noFill/>
                <a:miter lim="800000"/>
                <a:headEnd/>
                <a:tailEnd/>
              </a:ln>
            </p:spPr>
            <p:txBody>
              <a:bodyPr wrap="none">
                <a:spAutoFit/>
              </a:bodyPr>
              <a:lstStyle/>
              <a:p>
                <a:pPr>
                  <a:lnSpc>
                    <a:spcPct val="115000"/>
                  </a:lnSpc>
                </a:pPr>
                <a:r>
                  <a:rPr lang="en-US" altLang="zh-CN" sz="2000" b="1" i="1">
                    <a:latin typeface="Times New Roman" pitchFamily="18" charset="0"/>
                  </a:rPr>
                  <a:t>O</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986"/>
                                        </p:tgtEl>
                                        <p:attrNameLst>
                                          <p:attrName>style.visibility</p:attrName>
                                        </p:attrNameLst>
                                      </p:cBhvr>
                                      <p:to>
                                        <p:strVal val="visible"/>
                                      </p:to>
                                    </p:set>
                                    <p:animEffect transition="in" filter="wipe(left)">
                                      <p:cBhvr>
                                        <p:cTn id="7" dur="500"/>
                                        <p:tgtEl>
                                          <p:spTgt spid="29798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7991"/>
                                        </p:tgtEl>
                                        <p:attrNameLst>
                                          <p:attrName>style.visibility</p:attrName>
                                        </p:attrNameLst>
                                      </p:cBhvr>
                                      <p:to>
                                        <p:strVal val="visible"/>
                                      </p:to>
                                    </p:set>
                                    <p:animEffect transition="in" filter="wipe(left)">
                                      <p:cBhvr>
                                        <p:cTn id="11" dur="500"/>
                                        <p:tgtEl>
                                          <p:spTgt spid="29799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97993"/>
                                        </p:tgtEl>
                                        <p:attrNameLst>
                                          <p:attrName>style.visibility</p:attrName>
                                        </p:attrNameLst>
                                      </p:cBhvr>
                                      <p:to>
                                        <p:strVal val="visible"/>
                                      </p:to>
                                    </p:set>
                                    <p:animEffect transition="in" filter="wipe(left)">
                                      <p:cBhvr>
                                        <p:cTn id="15" dur="500"/>
                                        <p:tgtEl>
                                          <p:spTgt spid="2979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97990"/>
                                        </p:tgtEl>
                                        <p:attrNameLst>
                                          <p:attrName>style.visibility</p:attrName>
                                        </p:attrNameLst>
                                      </p:cBhvr>
                                      <p:to>
                                        <p:strVal val="visible"/>
                                      </p:to>
                                    </p:set>
                                    <p:animEffect transition="in" filter="wipe(left)">
                                      <p:cBhvr>
                                        <p:cTn id="20" dur="500"/>
                                        <p:tgtEl>
                                          <p:spTgt spid="29799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97987"/>
                                        </p:tgtEl>
                                        <p:attrNameLst>
                                          <p:attrName>style.visibility</p:attrName>
                                        </p:attrNameLst>
                                      </p:cBhvr>
                                      <p:to>
                                        <p:strVal val="visible"/>
                                      </p:to>
                                    </p:set>
                                    <p:animEffect transition="in" filter="wipe(left)">
                                      <p:cBhvr>
                                        <p:cTn id="25" dur="500"/>
                                        <p:tgtEl>
                                          <p:spTgt spid="29798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97994"/>
                                        </p:tgtEl>
                                        <p:attrNameLst>
                                          <p:attrName>style.visibility</p:attrName>
                                        </p:attrNameLst>
                                      </p:cBhvr>
                                      <p:to>
                                        <p:strVal val="visible"/>
                                      </p:to>
                                    </p:set>
                                    <p:animEffect transition="in" filter="wipe(left)">
                                      <p:cBhvr>
                                        <p:cTn id="30" dur="500"/>
                                        <p:tgtEl>
                                          <p:spTgt spid="29799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97992"/>
                                        </p:tgtEl>
                                        <p:attrNameLst>
                                          <p:attrName>style.visibility</p:attrName>
                                        </p:attrNameLst>
                                      </p:cBhvr>
                                      <p:to>
                                        <p:strVal val="visible"/>
                                      </p:to>
                                    </p:set>
                                    <p:animEffect transition="in" filter="wipe(left)">
                                      <p:cBhvr>
                                        <p:cTn id="35" dur="500"/>
                                        <p:tgtEl>
                                          <p:spTgt spid="29799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7988"/>
                                        </p:tgtEl>
                                        <p:attrNameLst>
                                          <p:attrName>style.visibility</p:attrName>
                                        </p:attrNameLst>
                                      </p:cBhvr>
                                      <p:to>
                                        <p:strVal val="visible"/>
                                      </p:to>
                                    </p:set>
                                    <p:animEffect transition="in" filter="wipe(left)">
                                      <p:cBhvr>
                                        <p:cTn id="40" dur="500"/>
                                        <p:tgtEl>
                                          <p:spTgt spid="29798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7989"/>
                                        </p:tgtEl>
                                        <p:attrNameLst>
                                          <p:attrName>style.visibility</p:attrName>
                                        </p:attrNameLst>
                                      </p:cBhvr>
                                      <p:to>
                                        <p:strVal val="visible"/>
                                      </p:to>
                                    </p:set>
                                    <p:animEffect transition="in" filter="wipe(left)">
                                      <p:cBhvr>
                                        <p:cTn id="45" dur="1000"/>
                                        <p:tgtEl>
                                          <p:spTgt spid="297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autoUpdateAnimBg="0"/>
      <p:bldP spid="297988" grpId="0" autoUpdateAnimBg="0"/>
      <p:bldP spid="297989" grpId="0"/>
      <p:bldP spid="297993" grpId="0"/>
      <p:bldP spid="29799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4"/>
          <p:cNvSpPr txBox="1">
            <a:spLocks noChangeArrowheads="1"/>
          </p:cNvSpPr>
          <p:nvPr/>
        </p:nvSpPr>
        <p:spPr bwMode="auto">
          <a:xfrm>
            <a:off x="179388" y="450850"/>
            <a:ext cx="5040312" cy="457200"/>
          </a:xfrm>
          <a:prstGeom prst="rect">
            <a:avLst/>
          </a:prstGeom>
          <a:noFill/>
          <a:ln w="9525">
            <a:noFill/>
            <a:miter lim="800000"/>
            <a:headEnd/>
            <a:tailEnd/>
          </a:ln>
        </p:spPr>
        <p:txBody>
          <a:bodyPr>
            <a:spAutoFit/>
          </a:bodyPr>
          <a:lstStyle/>
          <a:p>
            <a:r>
              <a:rPr kumimoji="1" lang="en-US" altLang="zh-CN" sz="2400" b="1" dirty="0">
                <a:solidFill>
                  <a:srgbClr val="0000FF"/>
                </a:solidFill>
                <a:latin typeface="Times New Roman" pitchFamily="18" charset="0"/>
              </a:rPr>
              <a:t>8.5.4   </a:t>
            </a:r>
            <a:r>
              <a:rPr kumimoji="1" lang="zh-CN" altLang="en-US" sz="2400" b="1" dirty="0" smtClean="0">
                <a:solidFill>
                  <a:srgbClr val="0000FF"/>
                </a:solidFill>
              </a:rPr>
              <a:t>气体分子速率</a:t>
            </a:r>
            <a:r>
              <a:rPr kumimoji="1" lang="zh-CN" altLang="en-US" sz="2400" b="1" dirty="0">
                <a:solidFill>
                  <a:srgbClr val="0000FF"/>
                </a:solidFill>
              </a:rPr>
              <a:t>分布的实验测定</a:t>
            </a:r>
            <a:r>
              <a:rPr kumimoji="1" lang="zh-CN" altLang="en-US" sz="2400" dirty="0"/>
              <a:t> </a:t>
            </a:r>
          </a:p>
        </p:txBody>
      </p:sp>
      <p:sp>
        <p:nvSpPr>
          <p:cNvPr id="25614" name="Text Box 14"/>
          <p:cNvSpPr txBox="1">
            <a:spLocks noChangeArrowheads="1"/>
          </p:cNvSpPr>
          <p:nvPr/>
        </p:nvSpPr>
        <p:spPr bwMode="auto">
          <a:xfrm>
            <a:off x="153988" y="981075"/>
            <a:ext cx="3554412" cy="830263"/>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斯特恩实验</a:t>
            </a:r>
            <a:r>
              <a:rPr kumimoji="1" lang="en-US" altLang="zh-CN" sz="2400" b="1">
                <a:solidFill>
                  <a:srgbClr val="FF0000"/>
                </a:solidFill>
                <a:latin typeface="Times New Roman" pitchFamily="18" charset="0"/>
              </a:rPr>
              <a:t>( </a:t>
            </a:r>
            <a:r>
              <a:rPr kumimoji="1" lang="en-US" altLang="zh-CN" sz="2400" b="1">
                <a:solidFill>
                  <a:srgbClr val="FF0000"/>
                </a:solidFill>
                <a:latin typeface="Times New Roman" pitchFamily="18" charset="0"/>
                <a:cs typeface="Times New Roman" pitchFamily="18" charset="0"/>
              </a:rPr>
              <a:t>1920</a:t>
            </a:r>
            <a:r>
              <a:rPr kumimoji="1" lang="zh-CN" altLang="en-US" sz="2400" b="1">
                <a:solidFill>
                  <a:srgbClr val="FF0000"/>
                </a:solidFill>
                <a:latin typeface="Times New Roman" pitchFamily="18" charset="0"/>
                <a:cs typeface="Times New Roman" pitchFamily="18" charset="0"/>
              </a:rPr>
              <a:t>年</a:t>
            </a:r>
            <a:r>
              <a:rPr kumimoji="1" lang="en-US" altLang="zh-CN" sz="2400" b="1">
                <a:solidFill>
                  <a:srgbClr val="FF0000"/>
                </a:solidFill>
                <a:latin typeface="Times New Roman" pitchFamily="18" charset="0"/>
              </a:rPr>
              <a:t>)</a:t>
            </a:r>
          </a:p>
          <a:p>
            <a:pPr>
              <a:buFont typeface="Wingdings" pitchFamily="2" charset="2"/>
              <a:buNone/>
            </a:pPr>
            <a:endParaRPr kumimoji="1" lang="zh-CN" altLang="en-US" sz="2400" b="1">
              <a:solidFill>
                <a:srgbClr val="FF0000"/>
              </a:solidFill>
              <a:latin typeface="Times New Roman" pitchFamily="18" charset="0"/>
              <a:cs typeface="Times New Roman" pitchFamily="18" charset="0"/>
            </a:endParaRPr>
          </a:p>
        </p:txBody>
      </p:sp>
      <p:sp>
        <p:nvSpPr>
          <p:cNvPr id="15" name="Text Box 31"/>
          <p:cNvSpPr txBox="1">
            <a:spLocks noChangeArrowheads="1"/>
          </p:cNvSpPr>
          <p:nvPr/>
        </p:nvSpPr>
        <p:spPr bwMode="auto">
          <a:xfrm>
            <a:off x="142875" y="1428750"/>
            <a:ext cx="3554413" cy="457200"/>
          </a:xfrm>
          <a:prstGeom prst="rect">
            <a:avLst/>
          </a:prstGeom>
          <a:noFill/>
          <a:ln w="9525">
            <a:noFill/>
            <a:miter lim="800000"/>
            <a:headEnd/>
            <a:tailEnd/>
          </a:ln>
        </p:spPr>
        <p:txBody>
          <a:bodyPr>
            <a:spAutoFit/>
          </a:bodyPr>
          <a:lstStyle/>
          <a:p>
            <a:pPr>
              <a:buFont typeface="Wingdings" pitchFamily="2" charset="2"/>
              <a:buNone/>
            </a:pPr>
            <a:r>
              <a:rPr kumimoji="1" lang="zh-CN" altLang="en-US" sz="2400" b="1">
                <a:solidFill>
                  <a:srgbClr val="FF0000"/>
                </a:solidFill>
                <a:latin typeface="Times New Roman" pitchFamily="18" charset="0"/>
              </a:rPr>
              <a:t>葛正权实验</a:t>
            </a:r>
            <a:r>
              <a:rPr kumimoji="1" lang="en-US" altLang="zh-CN" sz="2400" b="1">
                <a:solidFill>
                  <a:srgbClr val="FF0000"/>
                </a:solidFill>
                <a:latin typeface="Times New Roman" pitchFamily="18" charset="0"/>
              </a:rPr>
              <a:t>(1934</a:t>
            </a:r>
            <a:r>
              <a:rPr kumimoji="1" lang="zh-CN" altLang="en-US" sz="2400" b="1">
                <a:solidFill>
                  <a:srgbClr val="FF0000"/>
                </a:solidFill>
                <a:latin typeface="Times New Roman" pitchFamily="18" charset="0"/>
              </a:rPr>
              <a:t>年</a:t>
            </a:r>
            <a:r>
              <a:rPr kumimoji="1" lang="en-US" altLang="zh-CN" sz="2400" b="1">
                <a:solidFill>
                  <a:srgbClr val="FF0000"/>
                </a:solidFill>
                <a:latin typeface="Times New Roman" pitchFamily="18" charset="0"/>
              </a:rPr>
              <a:t>)</a:t>
            </a:r>
          </a:p>
        </p:txBody>
      </p:sp>
      <p:pic>
        <p:nvPicPr>
          <p:cNvPr id="116741" name="Picture 4" descr="葛正权"/>
          <p:cNvPicPr>
            <a:picLocks noChangeAspect="1" noChangeArrowheads="1"/>
          </p:cNvPicPr>
          <p:nvPr/>
        </p:nvPicPr>
        <p:blipFill>
          <a:blip r:embed="rId2"/>
          <a:srcRect/>
          <a:stretch>
            <a:fillRect/>
          </a:stretch>
        </p:blipFill>
        <p:spPr bwMode="auto">
          <a:xfrm>
            <a:off x="7286625" y="428625"/>
            <a:ext cx="1571625" cy="2286000"/>
          </a:xfrm>
          <a:prstGeom prst="rect">
            <a:avLst/>
          </a:prstGeom>
          <a:noFill/>
          <a:ln w="9525">
            <a:noFill/>
            <a:miter lim="800000"/>
            <a:headEnd/>
            <a:tailEnd/>
          </a:ln>
        </p:spPr>
      </p:pic>
      <p:pic>
        <p:nvPicPr>
          <p:cNvPr id="116742" name="Picture 2" descr="Maxstatc"/>
          <p:cNvPicPr>
            <a:picLocks noChangeAspect="1" noChangeArrowheads="1"/>
          </p:cNvPicPr>
          <p:nvPr/>
        </p:nvPicPr>
        <p:blipFill>
          <a:blip r:embed="rId3"/>
          <a:srcRect l="9348" t="16629" r="11168"/>
          <a:stretch>
            <a:fillRect/>
          </a:stretch>
        </p:blipFill>
        <p:spPr bwMode="auto">
          <a:xfrm>
            <a:off x="285750" y="2071688"/>
            <a:ext cx="4608513" cy="3625850"/>
          </a:xfrm>
          <a:prstGeom prst="rect">
            <a:avLst/>
          </a:prstGeom>
          <a:noFill/>
          <a:ln w="9525">
            <a:noFill/>
            <a:miter lim="800000"/>
            <a:headEnd/>
            <a:tailEnd/>
          </a:ln>
        </p:spPr>
      </p:pic>
      <p:sp>
        <p:nvSpPr>
          <p:cNvPr id="116743" name="Text Box 4"/>
          <p:cNvSpPr txBox="1">
            <a:spLocks noChangeArrowheads="1"/>
          </p:cNvSpPr>
          <p:nvPr/>
        </p:nvSpPr>
        <p:spPr bwMode="auto">
          <a:xfrm>
            <a:off x="5046663" y="1804988"/>
            <a:ext cx="3311525" cy="1552575"/>
          </a:xfrm>
          <a:prstGeom prst="rect">
            <a:avLst/>
          </a:prstGeom>
          <a:noFill/>
          <a:ln w="9525">
            <a:noFill/>
            <a:miter lim="800000"/>
            <a:headEnd/>
            <a:tailEnd/>
          </a:ln>
        </p:spPr>
        <p:txBody>
          <a:bodyPr>
            <a:spAutoFit/>
          </a:bodyPr>
          <a:lstStyle/>
          <a:p>
            <a:pPr>
              <a:spcBef>
                <a:spcPct val="50000"/>
              </a:spcBef>
            </a:pPr>
            <a:r>
              <a:rPr kumimoji="1" lang="en-US" altLang="zh-CN" sz="2400" b="1" i="1">
                <a:solidFill>
                  <a:srgbClr val="FF3300"/>
                </a:solidFill>
                <a:latin typeface="Times New Roman" pitchFamily="18" charset="0"/>
                <a:cs typeface="Times New Roman" pitchFamily="18" charset="0"/>
              </a:rPr>
              <a:t>O</a:t>
            </a:r>
            <a:r>
              <a:rPr kumimoji="1" lang="en-US" altLang="zh-CN" sz="2400" b="1">
                <a:latin typeface="Times New Roman" pitchFamily="18" charset="0"/>
                <a:cs typeface="Times New Roman" pitchFamily="18" charset="0"/>
              </a:rPr>
              <a:t>  --- </a:t>
            </a:r>
            <a:r>
              <a:rPr kumimoji="1" lang="zh-CN" altLang="en-US" sz="2400" b="1">
                <a:latin typeface="Times New Roman" pitchFamily="18" charset="0"/>
                <a:ea typeface="楷体_GB2312" pitchFamily="49" charset="-122"/>
                <a:cs typeface="Times New Roman" pitchFamily="18" charset="0"/>
              </a:rPr>
              <a:t>分子源</a:t>
            </a:r>
            <a:r>
              <a:rPr kumimoji="1" lang="zh-CN" altLang="en-US" sz="2400" b="1">
                <a:latin typeface="Times New Roman" pitchFamily="18" charset="0"/>
                <a:cs typeface="Times New Roman" pitchFamily="18" charset="0"/>
              </a:rPr>
              <a:t/>
            </a:r>
            <a:br>
              <a:rPr kumimoji="1" lang="zh-CN" altLang="en-US" sz="2400" b="1">
                <a:latin typeface="Times New Roman" pitchFamily="18" charset="0"/>
                <a:cs typeface="Times New Roman" pitchFamily="18" charset="0"/>
              </a:rPr>
            </a:br>
            <a:r>
              <a:rPr kumimoji="1" lang="en-US" altLang="zh-CN" sz="2400" b="1" i="1">
                <a:solidFill>
                  <a:srgbClr val="FF3300"/>
                </a:solidFill>
                <a:latin typeface="Times New Roman" pitchFamily="18" charset="0"/>
                <a:cs typeface="Times New Roman" pitchFamily="18" charset="0"/>
              </a:rPr>
              <a:t>C</a:t>
            </a:r>
            <a:r>
              <a:rPr kumimoji="1" lang="en-US" altLang="zh-CN" sz="2400" b="1">
                <a:latin typeface="Times New Roman" pitchFamily="18" charset="0"/>
                <a:cs typeface="Times New Roman" pitchFamily="18" charset="0"/>
              </a:rPr>
              <a:t>  --- </a:t>
            </a:r>
            <a:r>
              <a:rPr kumimoji="1" lang="zh-CN" altLang="en-US" sz="2400" b="1">
                <a:latin typeface="Times New Roman" pitchFamily="18" charset="0"/>
                <a:ea typeface="楷体_GB2312" pitchFamily="49" charset="-122"/>
              </a:rPr>
              <a:t>空心圆筒</a:t>
            </a:r>
            <a:r>
              <a:rPr kumimoji="1" lang="zh-CN" altLang="en-US" sz="2400" b="1">
                <a:latin typeface="Times New Roman" pitchFamily="18" charset="0"/>
                <a:cs typeface="Times New Roman" pitchFamily="18" charset="0"/>
              </a:rPr>
              <a:t/>
            </a:r>
            <a:br>
              <a:rPr kumimoji="1" lang="zh-CN" altLang="en-US" sz="2400" b="1">
                <a:latin typeface="Times New Roman" pitchFamily="18" charset="0"/>
                <a:cs typeface="Times New Roman" pitchFamily="18" charset="0"/>
              </a:rPr>
            </a:br>
            <a:r>
              <a:rPr kumimoji="1" lang="en-US" altLang="zh-CN" sz="2400" b="1" i="1">
                <a:solidFill>
                  <a:srgbClr val="FF3300"/>
                </a:solidFill>
                <a:latin typeface="Times New Roman" pitchFamily="18" charset="0"/>
                <a:ea typeface="楷体_GB2312" pitchFamily="49" charset="-122"/>
              </a:rPr>
              <a:t>G</a:t>
            </a:r>
            <a:r>
              <a:rPr kumimoji="1" lang="en-US" altLang="zh-CN" sz="2400" b="1">
                <a:latin typeface="Times New Roman" pitchFamily="18" charset="0"/>
                <a:cs typeface="Times New Roman" pitchFamily="18" charset="0"/>
              </a:rPr>
              <a:t>  ---</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玻璃板</a:t>
            </a:r>
            <a:r>
              <a:rPr kumimoji="1" lang="zh-CN" altLang="en-US" sz="2400" b="1">
                <a:latin typeface="Times New Roman" pitchFamily="18" charset="0"/>
                <a:cs typeface="Times New Roman" pitchFamily="18" charset="0"/>
              </a:rPr>
              <a:t/>
            </a:r>
            <a:br>
              <a:rPr kumimoji="1" lang="zh-CN" altLang="en-US" sz="2400" b="1">
                <a:latin typeface="Times New Roman" pitchFamily="18" charset="0"/>
                <a:cs typeface="Times New Roman" pitchFamily="18" charset="0"/>
              </a:rPr>
            </a:br>
            <a:r>
              <a:rPr kumimoji="1" lang="en-US" altLang="zh-CN" sz="2400" b="1" i="1">
                <a:solidFill>
                  <a:srgbClr val="FF3300"/>
                </a:solidFill>
                <a:latin typeface="Times New Roman" pitchFamily="18" charset="0"/>
                <a:cs typeface="Times New Roman" pitchFamily="18" charset="0"/>
              </a:rPr>
              <a:t>S</a:t>
            </a:r>
            <a:r>
              <a:rPr kumimoji="1" lang="en-US" altLang="zh-CN" sz="2400" b="1" baseline="-25000">
                <a:solidFill>
                  <a:srgbClr val="FF3300"/>
                </a:solidFill>
                <a:latin typeface="Times New Roman" pitchFamily="18" charset="0"/>
                <a:cs typeface="Times New Roman" pitchFamily="18" charset="0"/>
              </a:rPr>
              <a:t>1 </a:t>
            </a:r>
            <a:r>
              <a:rPr kumimoji="1" lang="zh-CN" altLang="en-US" sz="2400" b="1">
                <a:latin typeface="Times New Roman" pitchFamily="18" charset="0"/>
                <a:cs typeface="Times New Roman" pitchFamily="18" charset="0"/>
              </a:rPr>
              <a:t>、</a:t>
            </a:r>
            <a:r>
              <a:rPr kumimoji="1" lang="en-US" altLang="zh-CN" sz="2400" b="1" i="1">
                <a:solidFill>
                  <a:srgbClr val="FF3300"/>
                </a:solidFill>
                <a:latin typeface="Times New Roman" pitchFamily="18" charset="0"/>
                <a:cs typeface="Times New Roman" pitchFamily="18" charset="0"/>
              </a:rPr>
              <a:t>S</a:t>
            </a:r>
            <a:r>
              <a:rPr kumimoji="1" lang="en-US" altLang="zh-CN" sz="2400" b="1" baseline="-25000">
                <a:solidFill>
                  <a:srgbClr val="FF3300"/>
                </a:solidFill>
                <a:latin typeface="Times New Roman" pitchFamily="18" charset="0"/>
                <a:cs typeface="Times New Roman" pitchFamily="18" charset="0"/>
              </a:rPr>
              <a:t>2</a:t>
            </a:r>
            <a:r>
              <a:rPr kumimoji="1" lang="en-US" altLang="zh-CN" sz="2400" b="1" baseline="-25000">
                <a:latin typeface="Times New Roman" pitchFamily="18" charset="0"/>
                <a:cs typeface="Times New Roman" pitchFamily="18" charset="0"/>
              </a:rPr>
              <a:t> </a:t>
            </a:r>
            <a:r>
              <a:rPr kumimoji="1" lang="zh-CN" altLang="en-US" sz="2400" b="1">
                <a:latin typeface="Times New Roman" pitchFamily="18" charset="0"/>
                <a:cs typeface="Times New Roman" pitchFamily="18" charset="0"/>
              </a:rPr>
              <a:t>、</a:t>
            </a:r>
            <a:r>
              <a:rPr kumimoji="1" lang="en-US" altLang="zh-CN" sz="2400" b="1" i="1">
                <a:solidFill>
                  <a:srgbClr val="FF3300"/>
                </a:solidFill>
                <a:latin typeface="Times New Roman" pitchFamily="18" charset="0"/>
                <a:cs typeface="Times New Roman" pitchFamily="18" charset="0"/>
              </a:rPr>
              <a:t>S</a:t>
            </a:r>
            <a:r>
              <a:rPr kumimoji="1" lang="en-US" altLang="zh-CN" sz="2400" b="1" baseline="-25000">
                <a:solidFill>
                  <a:srgbClr val="FF3300"/>
                </a:solidFill>
                <a:latin typeface="Times New Roman" pitchFamily="18" charset="0"/>
                <a:cs typeface="Times New Roman" pitchFamily="18" charset="0"/>
              </a:rPr>
              <a:t>3</a:t>
            </a:r>
            <a:r>
              <a:rPr kumimoji="1" lang="en-US" altLang="zh-CN" sz="2400" b="1">
                <a:latin typeface="Times New Roman" pitchFamily="18" charset="0"/>
                <a:cs typeface="Times New Roman" pitchFamily="18" charset="0"/>
              </a:rPr>
              <a:t>  --- </a:t>
            </a:r>
            <a:r>
              <a:rPr kumimoji="1" lang="zh-CN" altLang="en-US" sz="2400" b="1">
                <a:latin typeface="Times New Roman" pitchFamily="18" charset="0"/>
                <a:ea typeface="楷体_GB2312" pitchFamily="49" charset="-122"/>
              </a:rPr>
              <a:t>狭缝</a:t>
            </a:r>
            <a:r>
              <a:rPr kumimoji="1" lang="zh-CN" altLang="en-US" sz="2400" b="1">
                <a:latin typeface="Times New Roman" pitchFamily="18" charset="0"/>
                <a:cs typeface="Times New Roman" pitchFamily="18" charset="0"/>
              </a:rPr>
              <a:t> </a:t>
            </a:r>
          </a:p>
        </p:txBody>
      </p:sp>
      <p:sp>
        <p:nvSpPr>
          <p:cNvPr id="116744" name="Text Box 5"/>
          <p:cNvSpPr txBox="1">
            <a:spLocks noChangeArrowheads="1"/>
          </p:cNvSpPr>
          <p:nvPr/>
        </p:nvSpPr>
        <p:spPr bwMode="auto">
          <a:xfrm>
            <a:off x="5000625" y="3714750"/>
            <a:ext cx="3889375" cy="1844675"/>
          </a:xfrm>
          <a:prstGeom prst="rect">
            <a:avLst/>
          </a:prstGeom>
          <a:noFill/>
          <a:ln w="9525">
            <a:noFill/>
            <a:miter lim="800000"/>
            <a:headEnd/>
            <a:tailEnd/>
          </a:ln>
        </p:spPr>
        <p:txBody>
          <a:bodyPr>
            <a:spAutoFit/>
          </a:bodyPr>
          <a:lstStyle/>
          <a:p>
            <a:pPr>
              <a:lnSpc>
                <a:spcPct val="120000"/>
              </a:lnSpc>
            </a:pPr>
            <a:r>
              <a:rPr kumimoji="1" lang="zh-CN" altLang="en-US" sz="2400" b="1">
                <a:latin typeface="楷体_GB2312" pitchFamily="49" charset="-122"/>
                <a:ea typeface="楷体_GB2312" pitchFamily="49" charset="-122"/>
                <a:cs typeface="Times New Roman" pitchFamily="18" charset="0"/>
              </a:rPr>
              <a:t>铋分子从分子源开口逸出，通过狭缝 </a:t>
            </a:r>
            <a:r>
              <a:rPr kumimoji="1" lang="en-US" altLang="zh-CN" sz="2400" b="1" i="1">
                <a:solidFill>
                  <a:srgbClr val="FF3300"/>
                </a:solidFill>
                <a:latin typeface="Times New Roman" pitchFamily="18" charset="0"/>
                <a:ea typeface="楷体_GB2312" pitchFamily="49" charset="-122"/>
                <a:cs typeface="Times New Roman" pitchFamily="18" charset="0"/>
              </a:rPr>
              <a:t>S</a:t>
            </a:r>
            <a:r>
              <a:rPr kumimoji="1" lang="en-US" altLang="zh-CN" sz="2400" b="1" baseline="-25000">
                <a:solidFill>
                  <a:srgbClr val="FF3300"/>
                </a:solidFill>
                <a:latin typeface="Times New Roman" pitchFamily="18" charset="0"/>
                <a:ea typeface="楷体_GB2312" pitchFamily="49" charset="-122"/>
                <a:cs typeface="Times New Roman" pitchFamily="18" charset="0"/>
              </a:rPr>
              <a:t>1</a:t>
            </a:r>
            <a:r>
              <a:rPr kumimoji="1" lang="en-US" altLang="zh-CN" sz="2400" b="1" baseline="-25000">
                <a:latin typeface="Times New Roman" pitchFamily="18" charset="0"/>
                <a:ea typeface="楷体_GB2312" pitchFamily="49" charset="-122"/>
                <a:cs typeface="Times New Roman" pitchFamily="18" charset="0"/>
              </a:rPr>
              <a:t> </a:t>
            </a:r>
            <a:r>
              <a:rPr kumimoji="1" lang="zh-CN" altLang="en-US" sz="2400" b="1">
                <a:latin typeface="Times New Roman" pitchFamily="18" charset="0"/>
                <a:ea typeface="楷体_GB2312" pitchFamily="49" charset="-122"/>
                <a:cs typeface="Times New Roman" pitchFamily="18" charset="0"/>
              </a:rPr>
              <a:t>、</a:t>
            </a:r>
            <a:r>
              <a:rPr kumimoji="1" lang="en-US" altLang="zh-CN" sz="2400" b="1" i="1">
                <a:solidFill>
                  <a:srgbClr val="FF3300"/>
                </a:solidFill>
                <a:latin typeface="Times New Roman" pitchFamily="18" charset="0"/>
                <a:ea typeface="楷体_GB2312" pitchFamily="49" charset="-122"/>
                <a:cs typeface="Times New Roman" pitchFamily="18" charset="0"/>
              </a:rPr>
              <a:t>S</a:t>
            </a:r>
            <a:r>
              <a:rPr kumimoji="1" lang="en-US" altLang="zh-CN" sz="2400" b="1" baseline="-25000">
                <a:solidFill>
                  <a:srgbClr val="FF3300"/>
                </a:solidFill>
                <a:latin typeface="Times New Roman" pitchFamily="18" charset="0"/>
                <a:ea typeface="楷体_GB2312" pitchFamily="49" charset="-122"/>
                <a:cs typeface="Times New Roman" pitchFamily="18" charset="0"/>
              </a:rPr>
              <a:t>2 </a:t>
            </a:r>
            <a:r>
              <a:rPr kumimoji="1" lang="zh-CN" altLang="en-US" sz="2400" b="1">
                <a:latin typeface="楷体_GB2312" pitchFamily="49" charset="-122"/>
                <a:ea typeface="楷体_GB2312" pitchFamily="49" charset="-122"/>
                <a:cs typeface="Times New Roman" pitchFamily="18" charset="0"/>
              </a:rPr>
              <a:t>后，进入圆筒 </a:t>
            </a:r>
            <a:r>
              <a:rPr kumimoji="1" lang="en-US" altLang="zh-CN" sz="2400" b="1" i="1">
                <a:solidFill>
                  <a:srgbClr val="FF3300"/>
                </a:solidFill>
                <a:latin typeface="Times New Roman" pitchFamily="18" charset="0"/>
                <a:ea typeface="楷体_GB2312" pitchFamily="49" charset="-122"/>
                <a:cs typeface="Times New Roman" pitchFamily="18" charset="0"/>
              </a:rPr>
              <a:t>C </a:t>
            </a:r>
            <a:r>
              <a:rPr kumimoji="1" lang="zh-CN" altLang="en-US" sz="2400" b="1">
                <a:latin typeface="楷体_GB2312" pitchFamily="49" charset="-122"/>
                <a:ea typeface="楷体_GB2312" pitchFamily="49" charset="-122"/>
                <a:cs typeface="Times New Roman" pitchFamily="18" charset="0"/>
              </a:rPr>
              <a:t>，撞击并粘附在弯曲玻璃板 </a:t>
            </a:r>
            <a:r>
              <a:rPr kumimoji="1" lang="en-US" altLang="zh-CN" sz="2400" b="1" i="1">
                <a:solidFill>
                  <a:srgbClr val="FF3300"/>
                </a:solidFill>
                <a:latin typeface="Times New Roman" pitchFamily="18" charset="0"/>
                <a:ea typeface="楷体_GB2312" pitchFamily="49" charset="-122"/>
                <a:cs typeface="Times New Roman" pitchFamily="18" charset="0"/>
              </a:rPr>
              <a:t>G </a:t>
            </a:r>
            <a:r>
              <a:rPr kumimoji="1" lang="zh-CN" altLang="en-US" sz="2400" b="1">
                <a:latin typeface="楷体_GB2312" pitchFamily="49" charset="-122"/>
                <a:ea typeface="楷体_GB2312" pitchFamily="49" charset="-122"/>
                <a:cs typeface="Times New Roman" pitchFamily="18" charset="0"/>
              </a:rPr>
              <a:t>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wipe(left)">
                                      <p:cBhvr>
                                        <p:cTn id="7" dur="500"/>
                                        <p:tgtEl>
                                          <p:spTgt spid="1167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14"/>
                                        </p:tgtEl>
                                        <p:attrNameLst>
                                          <p:attrName>style.visibility</p:attrName>
                                        </p:attrNameLst>
                                      </p:cBhvr>
                                      <p:to>
                                        <p:strVal val="visible"/>
                                      </p:to>
                                    </p:set>
                                    <p:animEffect transition="in" filter="wipe(left)">
                                      <p:cBhvr>
                                        <p:cTn id="12" dur="500"/>
                                        <p:tgtEl>
                                          <p:spTgt spid="256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6741"/>
                                        </p:tgtEl>
                                        <p:attrNameLst>
                                          <p:attrName>style.visibility</p:attrName>
                                        </p:attrNameLst>
                                      </p:cBhvr>
                                      <p:to>
                                        <p:strVal val="visible"/>
                                      </p:to>
                                    </p:set>
                                    <p:animEffect transition="in" filter="wipe(left)">
                                      <p:cBhvr>
                                        <p:cTn id="22" dur="500"/>
                                        <p:tgtEl>
                                          <p:spTgt spid="1167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6742"/>
                                        </p:tgtEl>
                                        <p:attrNameLst>
                                          <p:attrName>style.visibility</p:attrName>
                                        </p:attrNameLst>
                                      </p:cBhvr>
                                      <p:to>
                                        <p:strVal val="visible"/>
                                      </p:to>
                                    </p:set>
                                    <p:animEffect transition="in" filter="wipe(left)">
                                      <p:cBhvr>
                                        <p:cTn id="27" dur="500"/>
                                        <p:tgtEl>
                                          <p:spTgt spid="11674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6743"/>
                                        </p:tgtEl>
                                        <p:attrNameLst>
                                          <p:attrName>style.visibility</p:attrName>
                                        </p:attrNameLst>
                                      </p:cBhvr>
                                      <p:to>
                                        <p:strVal val="visible"/>
                                      </p:to>
                                    </p:set>
                                    <p:animEffect transition="in" filter="wipe(left)">
                                      <p:cBhvr>
                                        <p:cTn id="32" dur="500"/>
                                        <p:tgtEl>
                                          <p:spTgt spid="1167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6744"/>
                                        </p:tgtEl>
                                        <p:attrNameLst>
                                          <p:attrName>style.visibility</p:attrName>
                                        </p:attrNameLst>
                                      </p:cBhvr>
                                      <p:to>
                                        <p:strVal val="visible"/>
                                      </p:to>
                                    </p:set>
                                    <p:animEffect transition="in" filter="wipe(left)">
                                      <p:cBhvr>
                                        <p:cTn id="37" dur="500"/>
                                        <p:tgtEl>
                                          <p:spTgt spid="116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p:bldP spid="25614" grpId="0"/>
      <p:bldP spid="15" grpId="0"/>
      <p:bldP spid="116743" grpId="0"/>
      <p:bldP spid="11674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ChangeArrowheads="1"/>
          </p:cNvSpPr>
          <p:nvPr/>
        </p:nvSpPr>
        <p:spPr bwMode="auto">
          <a:xfrm>
            <a:off x="5291138" y="4221163"/>
            <a:ext cx="3600450" cy="1512887"/>
          </a:xfrm>
          <a:prstGeom prst="rect">
            <a:avLst/>
          </a:prstGeom>
          <a:solidFill>
            <a:schemeClr val="bg1"/>
          </a:solidFill>
          <a:ln w="9525">
            <a:solidFill>
              <a:schemeClr val="tx1"/>
            </a:solidFill>
            <a:miter lim="800000"/>
            <a:headEnd/>
            <a:tailEnd/>
          </a:ln>
        </p:spPr>
        <p:txBody>
          <a:bodyPr wrap="none" anchor="ctr"/>
          <a:lstStyle/>
          <a:p>
            <a:endParaRPr lang="zh-CN" altLang="en-US"/>
          </a:p>
        </p:txBody>
      </p:sp>
      <p:pic>
        <p:nvPicPr>
          <p:cNvPr id="169987" name="Picture 3" descr="葛正权实验装置"/>
          <p:cNvPicPr>
            <a:picLocks noChangeAspect="1" noChangeArrowheads="1"/>
          </p:cNvPicPr>
          <p:nvPr/>
        </p:nvPicPr>
        <p:blipFill>
          <a:blip r:embed="rId3"/>
          <a:srcRect/>
          <a:stretch>
            <a:fillRect/>
          </a:stretch>
        </p:blipFill>
        <p:spPr bwMode="auto">
          <a:xfrm>
            <a:off x="5580063" y="1125538"/>
            <a:ext cx="3190875" cy="2393950"/>
          </a:xfrm>
          <a:prstGeom prst="rect">
            <a:avLst/>
          </a:prstGeom>
          <a:noFill/>
          <a:ln w="9525">
            <a:noFill/>
            <a:miter lim="800000"/>
            <a:headEnd/>
            <a:tailEnd/>
          </a:ln>
        </p:spPr>
      </p:pic>
      <p:sp>
        <p:nvSpPr>
          <p:cNvPr id="169988" name="AutoShape 4"/>
          <p:cNvSpPr>
            <a:spLocks noChangeArrowheads="1"/>
          </p:cNvSpPr>
          <p:nvPr/>
        </p:nvSpPr>
        <p:spPr bwMode="auto">
          <a:xfrm>
            <a:off x="7019925" y="3573463"/>
            <a:ext cx="288925" cy="576262"/>
          </a:xfrm>
          <a:prstGeom prst="downArrow">
            <a:avLst>
              <a:gd name="adj1" fmla="val 50000"/>
              <a:gd name="adj2" fmla="val 49863"/>
            </a:avLst>
          </a:prstGeom>
          <a:solidFill>
            <a:schemeClr val="accent1"/>
          </a:solidFill>
          <a:ln w="9525">
            <a:solidFill>
              <a:schemeClr val="tx1"/>
            </a:solidFill>
            <a:miter lim="800000"/>
            <a:headEnd/>
            <a:tailEnd/>
          </a:ln>
        </p:spPr>
        <p:txBody>
          <a:bodyPr vert="eaVert" wrap="none" anchor="ctr"/>
          <a:lstStyle/>
          <a:p>
            <a:endParaRPr lang="zh-CN" altLang="en-US"/>
          </a:p>
        </p:txBody>
      </p:sp>
      <p:sp>
        <p:nvSpPr>
          <p:cNvPr id="169989" name="Rectangle 5" descr="20%"/>
          <p:cNvSpPr>
            <a:spLocks noChangeArrowheads="1"/>
          </p:cNvSpPr>
          <p:nvPr/>
        </p:nvSpPr>
        <p:spPr bwMode="auto">
          <a:xfrm>
            <a:off x="5795963" y="4724400"/>
            <a:ext cx="504825" cy="504825"/>
          </a:xfrm>
          <a:prstGeom prst="rect">
            <a:avLst/>
          </a:prstGeom>
          <a:pattFill prst="pct20">
            <a:fgClr>
              <a:schemeClr val="bg2"/>
            </a:fgClr>
            <a:bgClr>
              <a:schemeClr val="bg1"/>
            </a:bgClr>
          </a:pattFill>
          <a:ln w="28575">
            <a:solidFill>
              <a:schemeClr val="tx1"/>
            </a:solidFill>
            <a:miter lim="800000"/>
            <a:headEnd/>
            <a:tailEnd/>
          </a:ln>
        </p:spPr>
        <p:txBody>
          <a:bodyPr wrap="none" anchor="ctr"/>
          <a:lstStyle/>
          <a:p>
            <a:endParaRPr lang="zh-CN" altLang="en-US"/>
          </a:p>
        </p:txBody>
      </p:sp>
      <p:sp>
        <p:nvSpPr>
          <p:cNvPr id="169990" name="Line 6"/>
          <p:cNvSpPr>
            <a:spLocks noChangeShapeType="1"/>
          </p:cNvSpPr>
          <p:nvPr/>
        </p:nvSpPr>
        <p:spPr bwMode="auto">
          <a:xfrm>
            <a:off x="6875463" y="4510088"/>
            <a:ext cx="0" cy="863600"/>
          </a:xfrm>
          <a:prstGeom prst="line">
            <a:avLst/>
          </a:prstGeom>
          <a:noFill/>
          <a:ln w="28575">
            <a:solidFill>
              <a:schemeClr val="accent2"/>
            </a:solidFill>
            <a:round/>
            <a:headEnd/>
            <a:tailEnd/>
          </a:ln>
        </p:spPr>
        <p:txBody>
          <a:bodyPr/>
          <a:lstStyle/>
          <a:p>
            <a:endParaRPr lang="zh-CN" altLang="en-US"/>
          </a:p>
        </p:txBody>
      </p:sp>
      <p:sp>
        <p:nvSpPr>
          <p:cNvPr id="169991" name="Line 7"/>
          <p:cNvSpPr>
            <a:spLocks noChangeShapeType="1"/>
          </p:cNvSpPr>
          <p:nvPr/>
        </p:nvSpPr>
        <p:spPr bwMode="auto">
          <a:xfrm>
            <a:off x="6948488" y="4510088"/>
            <a:ext cx="0" cy="863600"/>
          </a:xfrm>
          <a:prstGeom prst="line">
            <a:avLst/>
          </a:prstGeom>
          <a:noFill/>
          <a:ln w="28575">
            <a:solidFill>
              <a:schemeClr val="accent2"/>
            </a:solidFill>
            <a:round/>
            <a:headEnd/>
            <a:tailEnd/>
          </a:ln>
        </p:spPr>
        <p:txBody>
          <a:bodyPr/>
          <a:lstStyle/>
          <a:p>
            <a:endParaRPr lang="zh-CN" altLang="en-US"/>
          </a:p>
        </p:txBody>
      </p:sp>
      <p:sp>
        <p:nvSpPr>
          <p:cNvPr id="169992" name="Oval 8" descr="5%"/>
          <p:cNvSpPr>
            <a:spLocks noChangeArrowheads="1"/>
          </p:cNvSpPr>
          <p:nvPr/>
        </p:nvSpPr>
        <p:spPr bwMode="auto">
          <a:xfrm>
            <a:off x="7667625" y="4508500"/>
            <a:ext cx="936625" cy="936625"/>
          </a:xfrm>
          <a:prstGeom prst="ellipse">
            <a:avLst/>
          </a:prstGeom>
          <a:noFill/>
          <a:ln w="28575">
            <a:solidFill>
              <a:schemeClr val="tx1"/>
            </a:solidFill>
            <a:round/>
            <a:headEnd/>
            <a:tailEnd/>
          </a:ln>
        </p:spPr>
        <p:txBody>
          <a:bodyPr wrap="none" anchor="ctr"/>
          <a:lstStyle/>
          <a:p>
            <a:endParaRPr lang="zh-CN" altLang="en-US"/>
          </a:p>
        </p:txBody>
      </p:sp>
      <p:sp>
        <p:nvSpPr>
          <p:cNvPr id="169993" name="AutoShape 9"/>
          <p:cNvSpPr>
            <a:spLocks noChangeArrowheads="1"/>
          </p:cNvSpPr>
          <p:nvPr/>
        </p:nvSpPr>
        <p:spPr bwMode="auto">
          <a:xfrm rot="3786018">
            <a:off x="7739062" y="4581526"/>
            <a:ext cx="792163" cy="79216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1205 w 21600"/>
              <a:gd name="T13" fmla="*/ 0 h 21600"/>
              <a:gd name="T14" fmla="*/ 20395 w 21600"/>
              <a:gd name="T15" fmla="*/ 6586 h 21600"/>
            </a:gdLst>
            <a:ahLst/>
            <a:cxnLst>
              <a:cxn ang="T8">
                <a:pos x="T0" y="T1"/>
              </a:cxn>
              <a:cxn ang="T9">
                <a:pos x="T2" y="T3"/>
              </a:cxn>
              <a:cxn ang="T10">
                <a:pos x="T4" y="T5"/>
              </a:cxn>
              <a:cxn ang="T11">
                <a:pos x="T6" y="T7"/>
              </a:cxn>
            </a:cxnLst>
            <a:rect l="T12" t="T13" r="T14" b="T15"/>
            <a:pathLst>
              <a:path w="21600" h="21600">
                <a:moveTo>
                  <a:pt x="3788" y="4871"/>
                </a:moveTo>
                <a:cubicBezTo>
                  <a:pt x="5533" y="2808"/>
                  <a:pt x="8097" y="1617"/>
                  <a:pt x="10800" y="1618"/>
                </a:cubicBezTo>
                <a:cubicBezTo>
                  <a:pt x="13502" y="1618"/>
                  <a:pt x="16066" y="2808"/>
                  <a:pt x="17811" y="4871"/>
                </a:cubicBezTo>
                <a:lnTo>
                  <a:pt x="19047" y="3826"/>
                </a:lnTo>
                <a:cubicBezTo>
                  <a:pt x="16994" y="1399"/>
                  <a:pt x="13978" y="-1"/>
                  <a:pt x="10799" y="0"/>
                </a:cubicBezTo>
                <a:cubicBezTo>
                  <a:pt x="7621" y="0"/>
                  <a:pt x="4605" y="1399"/>
                  <a:pt x="2552" y="3826"/>
                </a:cubicBez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55313" name="Rectangle 10"/>
          <p:cNvSpPr>
            <a:spLocks noChangeArrowheads="1"/>
          </p:cNvSpPr>
          <p:nvPr/>
        </p:nvSpPr>
        <p:spPr bwMode="auto">
          <a:xfrm>
            <a:off x="6284913" y="4941888"/>
            <a:ext cx="1511300" cy="71437"/>
          </a:xfrm>
          <a:prstGeom prst="rect">
            <a:avLst/>
          </a:prstGeom>
          <a:solidFill>
            <a:schemeClr val="bg1"/>
          </a:solidFill>
          <a:ln w="9525">
            <a:noFill/>
            <a:miter lim="800000"/>
            <a:headEnd/>
            <a:tailEnd/>
          </a:ln>
        </p:spPr>
        <p:txBody>
          <a:bodyPr wrap="none" anchor="ctr"/>
          <a:lstStyle/>
          <a:p>
            <a:endParaRPr lang="zh-CN" altLang="en-US"/>
          </a:p>
        </p:txBody>
      </p:sp>
      <p:sp>
        <p:nvSpPr>
          <p:cNvPr id="169995" name="Line 11"/>
          <p:cNvSpPr>
            <a:spLocks noChangeShapeType="1"/>
          </p:cNvSpPr>
          <p:nvPr/>
        </p:nvSpPr>
        <p:spPr bwMode="auto">
          <a:xfrm>
            <a:off x="6299200" y="4970463"/>
            <a:ext cx="2160588" cy="0"/>
          </a:xfrm>
          <a:prstGeom prst="line">
            <a:avLst/>
          </a:prstGeom>
          <a:noFill/>
          <a:ln w="28575" cap="rnd">
            <a:solidFill>
              <a:schemeClr val="tx1"/>
            </a:solidFill>
            <a:prstDash val="sysDot"/>
            <a:round/>
            <a:headEnd/>
            <a:tailEnd/>
          </a:ln>
        </p:spPr>
        <p:txBody>
          <a:bodyPr/>
          <a:lstStyle/>
          <a:p>
            <a:endParaRPr lang="zh-CN" altLang="en-US"/>
          </a:p>
        </p:txBody>
      </p:sp>
      <p:sp>
        <p:nvSpPr>
          <p:cNvPr id="169996" name="Text Box 12"/>
          <p:cNvSpPr txBox="1">
            <a:spLocks noChangeArrowheads="1"/>
          </p:cNvSpPr>
          <p:nvPr/>
        </p:nvSpPr>
        <p:spPr bwMode="auto">
          <a:xfrm>
            <a:off x="5765800" y="5229225"/>
            <a:ext cx="811213" cy="366713"/>
          </a:xfrm>
          <a:prstGeom prst="rect">
            <a:avLst/>
          </a:prstGeom>
          <a:noFill/>
          <a:ln w="9525">
            <a:noFill/>
            <a:miter lim="800000"/>
            <a:headEnd/>
            <a:tailEnd/>
          </a:ln>
        </p:spPr>
        <p:txBody>
          <a:bodyPr>
            <a:spAutoFit/>
          </a:bodyPr>
          <a:lstStyle/>
          <a:p>
            <a:r>
              <a:rPr lang="en-US" altLang="zh-CN" b="1" i="1">
                <a:latin typeface="Times New Roman" pitchFamily="18" charset="0"/>
              </a:rPr>
              <a:t>O</a:t>
            </a:r>
          </a:p>
        </p:txBody>
      </p:sp>
      <p:sp>
        <p:nvSpPr>
          <p:cNvPr id="169997" name="Text Box 13"/>
          <p:cNvSpPr txBox="1">
            <a:spLocks noChangeArrowheads="1"/>
          </p:cNvSpPr>
          <p:nvPr/>
        </p:nvSpPr>
        <p:spPr bwMode="auto">
          <a:xfrm>
            <a:off x="6569075" y="5222875"/>
            <a:ext cx="811213"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1</a:t>
            </a:r>
            <a:endParaRPr lang="en-US" altLang="zh-CN" b="1">
              <a:solidFill>
                <a:schemeClr val="accent2"/>
              </a:solidFill>
              <a:latin typeface="Times New Roman" pitchFamily="18" charset="0"/>
            </a:endParaRPr>
          </a:p>
        </p:txBody>
      </p:sp>
      <p:sp>
        <p:nvSpPr>
          <p:cNvPr id="169998" name="Text Box 14"/>
          <p:cNvSpPr txBox="1">
            <a:spLocks noChangeArrowheads="1"/>
          </p:cNvSpPr>
          <p:nvPr/>
        </p:nvSpPr>
        <p:spPr bwMode="auto">
          <a:xfrm>
            <a:off x="6875463" y="5229225"/>
            <a:ext cx="811212"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2</a:t>
            </a:r>
            <a:endParaRPr lang="en-US" altLang="zh-CN" b="1">
              <a:solidFill>
                <a:schemeClr val="accent2"/>
              </a:solidFill>
              <a:latin typeface="Times New Roman" pitchFamily="18" charset="0"/>
            </a:endParaRPr>
          </a:p>
        </p:txBody>
      </p:sp>
      <p:sp>
        <p:nvSpPr>
          <p:cNvPr id="169999" name="Text Box 15"/>
          <p:cNvSpPr txBox="1">
            <a:spLocks noChangeArrowheads="1"/>
          </p:cNvSpPr>
          <p:nvPr/>
        </p:nvSpPr>
        <p:spPr bwMode="auto">
          <a:xfrm>
            <a:off x="7307263" y="4581525"/>
            <a:ext cx="811212"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3</a:t>
            </a:r>
            <a:endParaRPr lang="en-US" altLang="zh-CN" b="1">
              <a:solidFill>
                <a:schemeClr val="accent2"/>
              </a:solidFill>
              <a:latin typeface="Times New Roman" pitchFamily="18" charset="0"/>
            </a:endParaRPr>
          </a:p>
        </p:txBody>
      </p:sp>
      <p:sp>
        <p:nvSpPr>
          <p:cNvPr id="170000" name="Text Box 16"/>
          <p:cNvSpPr txBox="1">
            <a:spLocks noChangeArrowheads="1"/>
          </p:cNvSpPr>
          <p:nvPr/>
        </p:nvSpPr>
        <p:spPr bwMode="auto">
          <a:xfrm>
            <a:off x="8053388" y="4652963"/>
            <a:ext cx="811212" cy="366712"/>
          </a:xfrm>
          <a:prstGeom prst="rect">
            <a:avLst/>
          </a:prstGeom>
          <a:noFill/>
          <a:ln w="9525">
            <a:noFill/>
            <a:miter lim="800000"/>
            <a:headEnd/>
            <a:tailEnd/>
          </a:ln>
        </p:spPr>
        <p:txBody>
          <a:bodyPr>
            <a:spAutoFit/>
          </a:bodyPr>
          <a:lstStyle/>
          <a:p>
            <a:r>
              <a:rPr lang="en-US" altLang="zh-CN" b="1" i="1">
                <a:solidFill>
                  <a:srgbClr val="008080"/>
                </a:solidFill>
                <a:latin typeface="Times New Roman" pitchFamily="18" charset="0"/>
              </a:rPr>
              <a:t>G</a:t>
            </a:r>
            <a:endParaRPr lang="en-US" altLang="zh-CN" b="1">
              <a:solidFill>
                <a:srgbClr val="008080"/>
              </a:solidFill>
              <a:latin typeface="Times New Roman" pitchFamily="18" charset="0"/>
            </a:endParaRPr>
          </a:p>
        </p:txBody>
      </p:sp>
      <p:sp>
        <p:nvSpPr>
          <p:cNvPr id="170001" name="Freeform 17"/>
          <p:cNvSpPr>
            <a:spLocks/>
          </p:cNvSpPr>
          <p:nvPr/>
        </p:nvSpPr>
        <p:spPr bwMode="auto">
          <a:xfrm rot="-2681007">
            <a:off x="7999413" y="4321175"/>
            <a:ext cx="287337" cy="288925"/>
          </a:xfrm>
          <a:custGeom>
            <a:avLst/>
            <a:gdLst>
              <a:gd name="T0" fmla="*/ 0 w 181"/>
              <a:gd name="T1" fmla="*/ 0 h 182"/>
              <a:gd name="T2" fmla="*/ 2147483647 w 181"/>
              <a:gd name="T3" fmla="*/ 2147483647 h 182"/>
              <a:gd name="T4" fmla="*/ 2147483647 w 181"/>
              <a:gd name="T5" fmla="*/ 2147483647 h 182"/>
              <a:gd name="T6" fmla="*/ 2147483647 w 181"/>
              <a:gd name="T7" fmla="*/ 2147483647 h 182"/>
              <a:gd name="T8" fmla="*/ 0 60000 65536"/>
              <a:gd name="T9" fmla="*/ 0 60000 65536"/>
              <a:gd name="T10" fmla="*/ 0 60000 65536"/>
              <a:gd name="T11" fmla="*/ 0 60000 65536"/>
              <a:gd name="T12" fmla="*/ 0 w 181"/>
              <a:gd name="T13" fmla="*/ 0 h 182"/>
              <a:gd name="T14" fmla="*/ 181 w 181"/>
              <a:gd name="T15" fmla="*/ 182 h 182"/>
            </a:gdLst>
            <a:ahLst/>
            <a:cxnLst>
              <a:cxn ang="T8">
                <a:pos x="T0" y="T1"/>
              </a:cxn>
              <a:cxn ang="T9">
                <a:pos x="T2" y="T3"/>
              </a:cxn>
              <a:cxn ang="T10">
                <a:pos x="T4" y="T5"/>
              </a:cxn>
              <a:cxn ang="T11">
                <a:pos x="T6" y="T7"/>
              </a:cxn>
            </a:cxnLst>
            <a:rect l="T12" t="T13" r="T14" b="T15"/>
            <a:pathLst>
              <a:path w="181" h="182">
                <a:moveTo>
                  <a:pt x="0" y="0"/>
                </a:moveTo>
                <a:cubicBezTo>
                  <a:pt x="30" y="8"/>
                  <a:pt x="64" y="26"/>
                  <a:pt x="90" y="46"/>
                </a:cubicBezTo>
                <a:cubicBezTo>
                  <a:pt x="116" y="66"/>
                  <a:pt x="140" y="98"/>
                  <a:pt x="155" y="121"/>
                </a:cubicBezTo>
                <a:cubicBezTo>
                  <a:pt x="170" y="144"/>
                  <a:pt x="176" y="169"/>
                  <a:pt x="181" y="182"/>
                </a:cubicBezTo>
              </a:path>
            </a:pathLst>
          </a:custGeom>
          <a:noFill/>
          <a:ln w="19050">
            <a:solidFill>
              <a:schemeClr val="accent2"/>
            </a:solidFill>
            <a:round/>
            <a:headEnd/>
            <a:tailEnd type="stealth" w="med" len="med"/>
          </a:ln>
        </p:spPr>
        <p:txBody>
          <a:bodyPr/>
          <a:lstStyle/>
          <a:p>
            <a:endParaRPr lang="zh-CN" altLang="en-US"/>
          </a:p>
        </p:txBody>
      </p:sp>
      <p:sp>
        <p:nvSpPr>
          <p:cNvPr id="170002" name="Text Box 18"/>
          <p:cNvSpPr txBox="1">
            <a:spLocks noChangeArrowheads="1"/>
          </p:cNvSpPr>
          <p:nvPr/>
        </p:nvSpPr>
        <p:spPr bwMode="auto">
          <a:xfrm>
            <a:off x="7885113" y="4119563"/>
            <a:ext cx="811212" cy="366712"/>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ω</a:t>
            </a:r>
            <a:endParaRPr lang="en-US" altLang="zh-CN" b="1">
              <a:solidFill>
                <a:schemeClr val="accent2"/>
              </a:solidFill>
              <a:latin typeface="Times New Roman" pitchFamily="18" charset="0"/>
            </a:endParaRPr>
          </a:p>
        </p:txBody>
      </p:sp>
      <p:sp>
        <p:nvSpPr>
          <p:cNvPr id="170003" name="Text Box 19"/>
          <p:cNvSpPr txBox="1">
            <a:spLocks noChangeArrowheads="1"/>
          </p:cNvSpPr>
          <p:nvPr/>
        </p:nvSpPr>
        <p:spPr bwMode="auto">
          <a:xfrm>
            <a:off x="265113" y="1573213"/>
            <a:ext cx="1674812" cy="466725"/>
          </a:xfrm>
          <a:prstGeom prst="rect">
            <a:avLst/>
          </a:prstGeom>
          <a:solidFill>
            <a:schemeClr val="accent1">
              <a:alpha val="59999"/>
            </a:schemeClr>
          </a:solidFill>
          <a:ln w="9525">
            <a:solidFill>
              <a:schemeClr val="tx1"/>
            </a:solidFill>
            <a:miter lim="800000"/>
            <a:headEnd/>
            <a:tailEnd/>
          </a:ln>
        </p:spPr>
        <p:txBody>
          <a:bodyPr>
            <a:spAutoFit/>
          </a:bodyPr>
          <a:lstStyle/>
          <a:p>
            <a:r>
              <a:rPr lang="zh-CN" altLang="en-US" sz="2400" b="1">
                <a:latin typeface="Times New Roman" pitchFamily="18" charset="0"/>
              </a:rPr>
              <a:t>滚筒不转</a:t>
            </a:r>
          </a:p>
        </p:txBody>
      </p:sp>
      <p:sp>
        <p:nvSpPr>
          <p:cNvPr id="170004" name="Text Box 20"/>
          <p:cNvSpPr txBox="1">
            <a:spLocks noChangeArrowheads="1"/>
          </p:cNvSpPr>
          <p:nvPr/>
        </p:nvSpPr>
        <p:spPr bwMode="auto">
          <a:xfrm>
            <a:off x="257175" y="2046288"/>
            <a:ext cx="1674813" cy="466725"/>
          </a:xfrm>
          <a:prstGeom prst="rect">
            <a:avLst/>
          </a:prstGeom>
          <a:solidFill>
            <a:schemeClr val="accent1">
              <a:alpha val="59999"/>
            </a:schemeClr>
          </a:solidFill>
          <a:ln w="9525">
            <a:solidFill>
              <a:schemeClr val="tx1"/>
            </a:solidFill>
            <a:miter lim="800000"/>
            <a:headEnd/>
            <a:tailEnd/>
          </a:ln>
        </p:spPr>
        <p:txBody>
          <a:bodyPr>
            <a:spAutoFit/>
          </a:bodyPr>
          <a:lstStyle/>
          <a:p>
            <a:r>
              <a:rPr lang="zh-CN" altLang="en-US" sz="2400" b="1">
                <a:latin typeface="Times New Roman" pitchFamily="18" charset="0"/>
              </a:rPr>
              <a:t>滚筒转动</a:t>
            </a:r>
          </a:p>
        </p:txBody>
      </p:sp>
      <p:sp>
        <p:nvSpPr>
          <p:cNvPr id="170005" name="Text Box 21"/>
          <p:cNvSpPr txBox="1">
            <a:spLocks noChangeArrowheads="1"/>
          </p:cNvSpPr>
          <p:nvPr/>
        </p:nvSpPr>
        <p:spPr bwMode="auto">
          <a:xfrm>
            <a:off x="1931988" y="1109663"/>
            <a:ext cx="3043237" cy="466725"/>
          </a:xfrm>
          <a:prstGeom prst="rect">
            <a:avLst/>
          </a:prstGeom>
          <a:solidFill>
            <a:schemeClr val="accent1">
              <a:alpha val="59999"/>
            </a:schemeClr>
          </a:solidFill>
          <a:ln w="9525">
            <a:solidFill>
              <a:schemeClr val="tx1"/>
            </a:solidFill>
            <a:miter lim="800000"/>
            <a:headEnd/>
            <a:tailEnd/>
          </a:ln>
        </p:spPr>
        <p:txBody>
          <a:bodyPr>
            <a:spAutoFit/>
          </a:bodyPr>
          <a:lstStyle/>
          <a:p>
            <a:r>
              <a:rPr lang="en-US" altLang="zh-CN" sz="2400" b="1">
                <a:solidFill>
                  <a:srgbClr val="FF6600"/>
                </a:solidFill>
                <a:latin typeface="Times New Roman" pitchFamily="18" charset="0"/>
              </a:rPr>
              <a:t>Bi </a:t>
            </a:r>
            <a:r>
              <a:rPr lang="zh-CN" altLang="en-US" sz="2400" b="1">
                <a:solidFill>
                  <a:srgbClr val="FF6600"/>
                </a:solidFill>
                <a:latin typeface="Times New Roman" pitchFamily="18" charset="0"/>
              </a:rPr>
              <a:t>分子沉积的位置</a:t>
            </a:r>
          </a:p>
        </p:txBody>
      </p:sp>
      <p:graphicFrame>
        <p:nvGraphicFramePr>
          <p:cNvPr id="170006" name="Object 22"/>
          <p:cNvGraphicFramePr>
            <a:graphicFrameLocks noChangeAspect="1"/>
          </p:cNvGraphicFramePr>
          <p:nvPr/>
        </p:nvGraphicFramePr>
        <p:xfrm>
          <a:off x="971550" y="2954338"/>
          <a:ext cx="1223963" cy="528637"/>
        </p:xfrm>
        <a:graphic>
          <a:graphicData uri="http://schemas.openxmlformats.org/presentationml/2006/ole">
            <p:oleObj spid="_x0000_s55298" name="公式" r:id="rId4" imgW="469800" imgH="203040" progId="Equation.3">
              <p:embed/>
            </p:oleObj>
          </a:graphicData>
        </a:graphic>
      </p:graphicFrame>
      <p:graphicFrame>
        <p:nvGraphicFramePr>
          <p:cNvPr id="170007" name="Object 23"/>
          <p:cNvGraphicFramePr>
            <a:graphicFrameLocks noChangeAspect="1"/>
          </p:cNvGraphicFramePr>
          <p:nvPr/>
        </p:nvGraphicFramePr>
        <p:xfrm>
          <a:off x="2195513" y="2852738"/>
          <a:ext cx="890587" cy="836612"/>
        </p:xfrm>
        <a:graphic>
          <a:graphicData uri="http://schemas.openxmlformats.org/presentationml/2006/ole">
            <p:oleObj spid="_x0000_s55299" name="公式" r:id="rId5" imgW="419040" imgH="393480" progId="Equation.3">
              <p:embed/>
            </p:oleObj>
          </a:graphicData>
        </a:graphic>
      </p:graphicFrame>
      <p:graphicFrame>
        <p:nvGraphicFramePr>
          <p:cNvPr id="170008" name="Object 24"/>
          <p:cNvGraphicFramePr>
            <a:graphicFrameLocks noChangeAspect="1"/>
          </p:cNvGraphicFramePr>
          <p:nvPr/>
        </p:nvGraphicFramePr>
        <p:xfrm>
          <a:off x="3130550" y="2852738"/>
          <a:ext cx="1136650" cy="836612"/>
        </p:xfrm>
        <a:graphic>
          <a:graphicData uri="http://schemas.openxmlformats.org/presentationml/2006/ole">
            <p:oleObj spid="_x0000_s55300" name="Equation" r:id="rId6" imgW="482400" imgH="393480" progId="Equation.3">
              <p:embed/>
            </p:oleObj>
          </a:graphicData>
        </a:graphic>
      </p:graphicFrame>
      <p:graphicFrame>
        <p:nvGraphicFramePr>
          <p:cNvPr id="170009" name="Object 25"/>
          <p:cNvGraphicFramePr>
            <a:graphicFrameLocks noChangeAspect="1"/>
          </p:cNvGraphicFramePr>
          <p:nvPr/>
        </p:nvGraphicFramePr>
        <p:xfrm>
          <a:off x="1763713" y="3789363"/>
          <a:ext cx="838200" cy="836612"/>
        </p:xfrm>
        <a:graphic>
          <a:graphicData uri="http://schemas.openxmlformats.org/presentationml/2006/ole">
            <p:oleObj spid="_x0000_s55301" name="公式" r:id="rId7" imgW="393480" imgH="393480" progId="Equation.3">
              <p:embed/>
            </p:oleObj>
          </a:graphicData>
        </a:graphic>
      </p:graphicFrame>
      <p:sp>
        <p:nvSpPr>
          <p:cNvPr id="170010" name="AutoShape 26"/>
          <p:cNvSpPr>
            <a:spLocks/>
          </p:cNvSpPr>
          <p:nvPr/>
        </p:nvSpPr>
        <p:spPr bwMode="auto">
          <a:xfrm>
            <a:off x="4211638" y="3213100"/>
            <a:ext cx="215900" cy="1152525"/>
          </a:xfrm>
          <a:prstGeom prst="rightBrace">
            <a:avLst>
              <a:gd name="adj1" fmla="val 44485"/>
              <a:gd name="adj2" fmla="val 50000"/>
            </a:avLst>
          </a:prstGeom>
          <a:noFill/>
          <a:ln w="9525">
            <a:solidFill>
              <a:schemeClr val="tx1"/>
            </a:solidFill>
            <a:round/>
            <a:headEnd/>
            <a:tailEnd/>
          </a:ln>
        </p:spPr>
        <p:txBody>
          <a:bodyPr wrap="none" anchor="ctr"/>
          <a:lstStyle/>
          <a:p>
            <a:endParaRPr lang="zh-CN" altLang="en-US"/>
          </a:p>
        </p:txBody>
      </p:sp>
      <p:sp>
        <p:nvSpPr>
          <p:cNvPr id="170011" name="AutoShape 27"/>
          <p:cNvSpPr>
            <a:spLocks noChangeArrowheads="1"/>
          </p:cNvSpPr>
          <p:nvPr/>
        </p:nvSpPr>
        <p:spPr bwMode="auto">
          <a:xfrm>
            <a:off x="682625" y="5084763"/>
            <a:ext cx="647700" cy="2159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70012" name="Object 28"/>
          <p:cNvGraphicFramePr>
            <a:graphicFrameLocks noChangeAspect="1"/>
          </p:cNvGraphicFramePr>
          <p:nvPr/>
        </p:nvGraphicFramePr>
        <p:xfrm>
          <a:off x="1835150" y="4725988"/>
          <a:ext cx="1216025" cy="890587"/>
        </p:xfrm>
        <a:graphic>
          <a:graphicData uri="http://schemas.openxmlformats.org/presentationml/2006/ole">
            <p:oleObj spid="_x0000_s55302" name="公式" r:id="rId8" imgW="571320" imgH="419040" progId="Equation.3">
              <p:embed/>
            </p:oleObj>
          </a:graphicData>
        </a:graphic>
      </p:graphicFrame>
      <p:graphicFrame>
        <p:nvGraphicFramePr>
          <p:cNvPr id="170013" name="Object 29"/>
          <p:cNvGraphicFramePr>
            <a:graphicFrameLocks noChangeAspect="1"/>
          </p:cNvGraphicFramePr>
          <p:nvPr/>
        </p:nvGraphicFramePr>
        <p:xfrm>
          <a:off x="1546225" y="5868988"/>
          <a:ext cx="242888" cy="296862"/>
        </p:xfrm>
        <a:graphic>
          <a:graphicData uri="http://schemas.openxmlformats.org/presentationml/2006/ole">
            <p:oleObj spid="_x0000_s55303" name="公式" r:id="rId9" imgW="114120" imgH="139680" progId="Equation.3">
              <p:embed/>
            </p:oleObj>
          </a:graphicData>
        </a:graphic>
      </p:graphicFrame>
      <p:graphicFrame>
        <p:nvGraphicFramePr>
          <p:cNvPr id="170014" name="Object 30"/>
          <p:cNvGraphicFramePr>
            <a:graphicFrameLocks noChangeAspect="1"/>
          </p:cNvGraphicFramePr>
          <p:nvPr/>
        </p:nvGraphicFramePr>
        <p:xfrm>
          <a:off x="3130550" y="5767388"/>
          <a:ext cx="231775" cy="461962"/>
        </p:xfrm>
        <a:graphic>
          <a:graphicData uri="http://schemas.openxmlformats.org/presentationml/2006/ole">
            <p:oleObj spid="_x0000_s55304" name="公式" r:id="rId10" imgW="88560" imgH="177480" progId="Equation.3">
              <p:embed/>
            </p:oleObj>
          </a:graphicData>
        </a:graphic>
      </p:graphicFrame>
      <p:sp>
        <p:nvSpPr>
          <p:cNvPr id="170015" name="AutoShape 31"/>
          <p:cNvSpPr>
            <a:spLocks noChangeArrowheads="1"/>
          </p:cNvSpPr>
          <p:nvPr/>
        </p:nvSpPr>
        <p:spPr bwMode="auto">
          <a:xfrm>
            <a:off x="1835150" y="5949950"/>
            <a:ext cx="1152525" cy="71438"/>
          </a:xfrm>
          <a:prstGeom prst="rightArrow">
            <a:avLst>
              <a:gd name="adj1" fmla="val 50000"/>
              <a:gd name="adj2" fmla="val 403331"/>
            </a:avLst>
          </a:prstGeom>
          <a:solidFill>
            <a:schemeClr val="accent2"/>
          </a:solidFill>
          <a:ln w="9525">
            <a:solidFill>
              <a:schemeClr val="tx1"/>
            </a:solidFill>
            <a:miter lim="800000"/>
            <a:headEnd/>
            <a:tailEnd/>
          </a:ln>
        </p:spPr>
        <p:txBody>
          <a:bodyPr wrap="none" anchor="ctr"/>
          <a:lstStyle/>
          <a:p>
            <a:endParaRPr lang="zh-CN" altLang="en-US"/>
          </a:p>
        </p:txBody>
      </p:sp>
      <p:sp>
        <p:nvSpPr>
          <p:cNvPr id="170016" name="Text Box 32"/>
          <p:cNvSpPr txBox="1">
            <a:spLocks noChangeArrowheads="1"/>
          </p:cNvSpPr>
          <p:nvPr/>
        </p:nvSpPr>
        <p:spPr bwMode="auto">
          <a:xfrm>
            <a:off x="1931988" y="1579563"/>
            <a:ext cx="3043237" cy="466725"/>
          </a:xfrm>
          <a:prstGeom prst="rect">
            <a:avLst/>
          </a:prstGeom>
          <a:solidFill>
            <a:srgbClr val="FFCC99">
              <a:alpha val="59999"/>
            </a:srgbClr>
          </a:solidFill>
          <a:ln w="9525">
            <a:solidFill>
              <a:schemeClr val="tx1"/>
            </a:solidFill>
            <a:miter lim="800000"/>
            <a:headEnd/>
            <a:tailEnd/>
          </a:ln>
        </p:spPr>
        <p:txBody>
          <a:bodyPr>
            <a:spAutoFit/>
          </a:bodyPr>
          <a:lstStyle/>
          <a:p>
            <a:pPr algn="ctr"/>
            <a:r>
              <a:rPr lang="en-US" altLang="zh-CN" sz="2400" b="1" i="1">
                <a:latin typeface="Times New Roman" pitchFamily="18" charset="0"/>
              </a:rPr>
              <a:t>P</a:t>
            </a:r>
          </a:p>
        </p:txBody>
      </p:sp>
      <p:sp>
        <p:nvSpPr>
          <p:cNvPr id="170017" name="Text Box 33"/>
          <p:cNvSpPr txBox="1">
            <a:spLocks noChangeArrowheads="1"/>
          </p:cNvSpPr>
          <p:nvPr/>
        </p:nvSpPr>
        <p:spPr bwMode="auto">
          <a:xfrm>
            <a:off x="1931988" y="2046288"/>
            <a:ext cx="3043237" cy="466725"/>
          </a:xfrm>
          <a:prstGeom prst="rect">
            <a:avLst/>
          </a:prstGeom>
          <a:solidFill>
            <a:srgbClr val="FFCC99">
              <a:alpha val="59999"/>
            </a:srgbClr>
          </a:solidFill>
          <a:ln w="9525">
            <a:solidFill>
              <a:schemeClr val="tx1"/>
            </a:solidFill>
            <a:miter lim="800000"/>
            <a:headEnd/>
            <a:tailEnd/>
          </a:ln>
        </p:spPr>
        <p:txBody>
          <a:bodyPr>
            <a:spAutoFit/>
          </a:bodyPr>
          <a:lstStyle/>
          <a:p>
            <a:pPr algn="ctr"/>
            <a:r>
              <a:rPr lang="en-US" altLang="zh-CN" sz="2400" b="1" i="1">
                <a:latin typeface="Times New Roman" pitchFamily="18" charset="0"/>
              </a:rPr>
              <a:t>P′</a:t>
            </a:r>
            <a:r>
              <a:rPr lang="zh-CN" altLang="en-US" sz="2400" b="1">
                <a:latin typeface="Times New Roman" pitchFamily="18" charset="0"/>
              </a:rPr>
              <a:t>与</a:t>
            </a:r>
            <a:r>
              <a:rPr lang="zh-CN" altLang="en-US" sz="2400" b="1" i="1">
                <a:latin typeface="Times New Roman" pitchFamily="18" charset="0"/>
              </a:rPr>
              <a:t> </a:t>
            </a:r>
            <a:r>
              <a:rPr lang="en-US" altLang="zh-CN" sz="2400" b="1" i="1">
                <a:latin typeface="Times New Roman" pitchFamily="18" charset="0"/>
              </a:rPr>
              <a:t>v </a:t>
            </a:r>
            <a:r>
              <a:rPr lang="zh-CN" altLang="en-US" sz="2400" b="1">
                <a:latin typeface="Times New Roman" pitchFamily="18" charset="0"/>
              </a:rPr>
              <a:t>有关</a:t>
            </a:r>
          </a:p>
        </p:txBody>
      </p:sp>
      <p:grpSp>
        <p:nvGrpSpPr>
          <p:cNvPr id="2" name="Group 34"/>
          <p:cNvGrpSpPr>
            <a:grpSpLocks/>
          </p:cNvGrpSpPr>
          <p:nvPr/>
        </p:nvGrpSpPr>
        <p:grpSpPr bwMode="auto">
          <a:xfrm>
            <a:off x="265113" y="1104900"/>
            <a:ext cx="1674812" cy="466725"/>
            <a:chOff x="158" y="696"/>
            <a:chExt cx="1055" cy="294"/>
          </a:xfrm>
        </p:grpSpPr>
        <p:sp>
          <p:nvSpPr>
            <p:cNvPr id="55337" name="Text Box 35"/>
            <p:cNvSpPr txBox="1">
              <a:spLocks noChangeArrowheads="1"/>
            </p:cNvSpPr>
            <p:nvPr/>
          </p:nvSpPr>
          <p:spPr bwMode="auto">
            <a:xfrm>
              <a:off x="158" y="696"/>
              <a:ext cx="1055" cy="294"/>
            </a:xfrm>
            <a:prstGeom prst="rect">
              <a:avLst/>
            </a:prstGeom>
            <a:solidFill>
              <a:schemeClr val="accent1">
                <a:alpha val="59999"/>
              </a:schemeClr>
            </a:solidFill>
            <a:ln w="9525">
              <a:solidFill>
                <a:schemeClr val="tx1"/>
              </a:solidFill>
              <a:miter lim="800000"/>
              <a:headEnd/>
              <a:tailEnd/>
            </a:ln>
          </p:spPr>
          <p:txBody>
            <a:bodyPr>
              <a:spAutoFit/>
            </a:bodyPr>
            <a:lstStyle/>
            <a:p>
              <a:endParaRPr lang="zh-CN" altLang="zh-CN" sz="2400" b="1">
                <a:latin typeface="Times New Roman" pitchFamily="18" charset="0"/>
              </a:endParaRPr>
            </a:p>
          </p:txBody>
        </p:sp>
        <p:sp>
          <p:nvSpPr>
            <p:cNvPr id="55338" name="Line 36"/>
            <p:cNvSpPr>
              <a:spLocks noChangeShapeType="1"/>
            </p:cNvSpPr>
            <p:nvPr/>
          </p:nvSpPr>
          <p:spPr bwMode="auto">
            <a:xfrm>
              <a:off x="158" y="709"/>
              <a:ext cx="1044" cy="272"/>
            </a:xfrm>
            <a:prstGeom prst="line">
              <a:avLst/>
            </a:prstGeom>
            <a:noFill/>
            <a:ln w="9525">
              <a:solidFill>
                <a:schemeClr val="tx1"/>
              </a:solidFill>
              <a:round/>
              <a:headEnd/>
              <a:tailEnd/>
            </a:ln>
          </p:spPr>
          <p:txBody>
            <a:bodyPr/>
            <a:lstStyle/>
            <a:p>
              <a:endParaRPr lang="zh-CN" altLang="en-US"/>
            </a:p>
          </p:txBody>
        </p:sp>
      </p:grpSp>
      <p:sp>
        <p:nvSpPr>
          <p:cNvPr id="170021" name="Text Box 37"/>
          <p:cNvSpPr txBox="1">
            <a:spLocks noChangeArrowheads="1"/>
          </p:cNvSpPr>
          <p:nvPr/>
        </p:nvSpPr>
        <p:spPr bwMode="auto">
          <a:xfrm>
            <a:off x="8547100" y="4752975"/>
            <a:ext cx="811213"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P</a:t>
            </a:r>
            <a:endParaRPr lang="en-US" altLang="zh-CN" b="1">
              <a:solidFill>
                <a:srgbClr val="FF0000"/>
              </a:solidFill>
              <a:latin typeface="Times New Roman" pitchFamily="18" charset="0"/>
            </a:endParaRPr>
          </a:p>
        </p:txBody>
      </p:sp>
      <p:sp>
        <p:nvSpPr>
          <p:cNvPr id="170022" name="Text Box 38"/>
          <p:cNvSpPr txBox="1">
            <a:spLocks noChangeArrowheads="1"/>
          </p:cNvSpPr>
          <p:nvPr/>
        </p:nvSpPr>
        <p:spPr bwMode="auto">
          <a:xfrm>
            <a:off x="8332788" y="4437063"/>
            <a:ext cx="811212" cy="366712"/>
          </a:xfrm>
          <a:prstGeom prst="rect">
            <a:avLst/>
          </a:prstGeom>
          <a:noFill/>
          <a:ln w="9525">
            <a:noFill/>
            <a:miter lim="800000"/>
            <a:headEnd/>
            <a:tailEnd/>
          </a:ln>
        </p:spPr>
        <p:txBody>
          <a:bodyPr>
            <a:spAutoFit/>
          </a:bodyPr>
          <a:lstStyle/>
          <a:p>
            <a:r>
              <a:rPr lang="en-US" altLang="zh-CN" b="1" i="1">
                <a:solidFill>
                  <a:srgbClr val="CC0066"/>
                </a:solidFill>
                <a:latin typeface="Times New Roman" pitchFamily="18" charset="0"/>
              </a:rPr>
              <a:t>P′</a:t>
            </a:r>
            <a:endParaRPr lang="en-US" altLang="zh-CN" b="1">
              <a:solidFill>
                <a:srgbClr val="CC0066"/>
              </a:solidFill>
              <a:latin typeface="Times New Roman" pitchFamily="18" charset="0"/>
            </a:endParaRPr>
          </a:p>
        </p:txBody>
      </p:sp>
      <p:sp>
        <p:nvSpPr>
          <p:cNvPr id="170023" name="Oval 39"/>
          <p:cNvSpPr>
            <a:spLocks noChangeArrowheads="1"/>
          </p:cNvSpPr>
          <p:nvPr/>
        </p:nvSpPr>
        <p:spPr bwMode="auto">
          <a:xfrm>
            <a:off x="8416925" y="4927600"/>
            <a:ext cx="71438" cy="71438"/>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170024" name="Oval 40"/>
          <p:cNvSpPr>
            <a:spLocks noChangeArrowheads="1"/>
          </p:cNvSpPr>
          <p:nvPr/>
        </p:nvSpPr>
        <p:spPr bwMode="auto">
          <a:xfrm>
            <a:off x="8340725" y="4724400"/>
            <a:ext cx="71438" cy="71438"/>
          </a:xfrm>
          <a:prstGeom prst="ellipse">
            <a:avLst/>
          </a:prstGeom>
          <a:solidFill>
            <a:srgbClr val="CC0066"/>
          </a:solidFill>
          <a:ln w="9525">
            <a:solidFill>
              <a:schemeClr val="tx1"/>
            </a:solidFill>
            <a:round/>
            <a:headEnd/>
            <a:tailEnd/>
          </a:ln>
        </p:spPr>
        <p:txBody>
          <a:bodyPr wrap="none" anchor="ctr"/>
          <a:lstStyle/>
          <a:p>
            <a:endParaRPr lang="zh-CN" altLang="en-US"/>
          </a:p>
        </p:txBody>
      </p:sp>
      <p:sp>
        <p:nvSpPr>
          <p:cNvPr id="42" name="Text Box 31"/>
          <p:cNvSpPr txBox="1">
            <a:spLocks noChangeArrowheads="1"/>
          </p:cNvSpPr>
          <p:nvPr/>
        </p:nvSpPr>
        <p:spPr bwMode="auto">
          <a:xfrm>
            <a:off x="285750" y="500063"/>
            <a:ext cx="3554413" cy="457200"/>
          </a:xfrm>
          <a:prstGeom prst="rect">
            <a:avLst/>
          </a:prstGeom>
          <a:noFill/>
          <a:ln w="9525">
            <a:noFill/>
            <a:miter lim="800000"/>
            <a:headEnd/>
            <a:tailEnd/>
          </a:ln>
        </p:spPr>
        <p:txBody>
          <a:bodyPr>
            <a:spAutoFit/>
          </a:bodyPr>
          <a:lstStyle/>
          <a:p>
            <a:pPr>
              <a:buFont typeface="Wingdings" pitchFamily="2" charset="2"/>
              <a:buNone/>
            </a:pPr>
            <a:r>
              <a:rPr kumimoji="1" lang="zh-CN" altLang="en-US" sz="2400" b="1">
                <a:solidFill>
                  <a:srgbClr val="FF0000"/>
                </a:solidFill>
                <a:latin typeface="Times New Roman" pitchFamily="18" charset="0"/>
              </a:rPr>
              <a:t>葛正权实验测量原理：</a:t>
            </a:r>
            <a:endParaRPr kumimoji="1" lang="en-US" altLang="zh-CN" sz="2400" b="1">
              <a:solidFill>
                <a:srgbClr val="FF0000"/>
              </a:solidFill>
              <a:latin typeface="Times New Roman" pitchFamily="18" charset="0"/>
            </a:endParaRPr>
          </a:p>
        </p:txBody>
      </p:sp>
      <p:sp>
        <p:nvSpPr>
          <p:cNvPr id="43" name="Text Box 31"/>
          <p:cNvSpPr txBox="1">
            <a:spLocks noChangeArrowheads="1"/>
          </p:cNvSpPr>
          <p:nvPr/>
        </p:nvSpPr>
        <p:spPr bwMode="auto">
          <a:xfrm>
            <a:off x="3143250" y="5000625"/>
            <a:ext cx="2214563" cy="400050"/>
          </a:xfrm>
          <a:prstGeom prst="rect">
            <a:avLst/>
          </a:prstGeom>
          <a:noFill/>
          <a:ln w="9525">
            <a:noFill/>
            <a:miter lim="800000"/>
            <a:headEnd/>
            <a:tailEnd/>
          </a:ln>
        </p:spPr>
        <p:txBody>
          <a:bodyPr>
            <a:spAutoFit/>
          </a:bodyPr>
          <a:lstStyle/>
          <a:p>
            <a:pPr>
              <a:buFont typeface="Wingdings" pitchFamily="2" charset="2"/>
              <a:buNone/>
            </a:pPr>
            <a:r>
              <a:rPr kumimoji="1" lang="zh-CN" altLang="en-US" sz="2000" b="1">
                <a:solidFill>
                  <a:srgbClr val="0000FF"/>
                </a:solidFill>
                <a:latin typeface="Times New Roman" pitchFamily="18" charset="0"/>
              </a:rPr>
              <a:t>（</a:t>
            </a:r>
            <a:r>
              <a:rPr kumimoji="1" lang="en-US" altLang="zh-CN" sz="2000" b="1" i="1">
                <a:solidFill>
                  <a:srgbClr val="0000FF"/>
                </a:solidFill>
                <a:latin typeface="Times New Roman" pitchFamily="18" charset="0"/>
              </a:rPr>
              <a:t>D</a:t>
            </a:r>
            <a:r>
              <a:rPr kumimoji="1" lang="zh-CN" altLang="en-US" sz="2000" b="1">
                <a:solidFill>
                  <a:srgbClr val="0000FF"/>
                </a:solidFill>
                <a:latin typeface="Times New Roman" pitchFamily="18" charset="0"/>
              </a:rPr>
              <a:t>为圆筒直径）</a:t>
            </a:r>
            <a:endParaRPr kumimoji="1" lang="en-US" altLang="zh-CN" sz="2000" b="1">
              <a:solidFill>
                <a:srgbClr val="0000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69987"/>
                                        </p:tgtEl>
                                        <p:attrNameLst>
                                          <p:attrName>style.visibility</p:attrName>
                                        </p:attrNameLst>
                                      </p:cBhvr>
                                      <p:to>
                                        <p:strVal val="visible"/>
                                      </p:to>
                                    </p:set>
                                    <p:animEffect transition="in" filter="box(out)">
                                      <p:cBhvr>
                                        <p:cTn id="11" dur="500"/>
                                        <p:tgtEl>
                                          <p:spTgt spid="16998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69988"/>
                                        </p:tgtEl>
                                        <p:attrNameLst>
                                          <p:attrName>style.visibility</p:attrName>
                                        </p:attrNameLst>
                                      </p:cBhvr>
                                      <p:to>
                                        <p:strVal val="visible"/>
                                      </p:to>
                                    </p:set>
                                    <p:animEffect transition="in" filter="wipe(up)">
                                      <p:cBhvr>
                                        <p:cTn id="16" dur="500"/>
                                        <p:tgtEl>
                                          <p:spTgt spid="169988"/>
                                        </p:tgtEl>
                                      </p:cBhvr>
                                    </p:animEffect>
                                  </p:childTnLst>
                                </p:cTn>
                              </p:par>
                            </p:childTnLst>
                          </p:cTn>
                        </p:par>
                        <p:par>
                          <p:cTn id="17" fill="hold">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169986"/>
                                        </p:tgtEl>
                                        <p:attrNameLst>
                                          <p:attrName>style.visibility</p:attrName>
                                        </p:attrNameLst>
                                      </p:cBhvr>
                                      <p:to>
                                        <p:strVal val="visible"/>
                                      </p:to>
                                    </p:set>
                                    <p:animEffect transition="in" filter="box(out)">
                                      <p:cBhvr>
                                        <p:cTn id="20" dur="500"/>
                                        <p:tgtEl>
                                          <p:spTgt spid="169986"/>
                                        </p:tgtEl>
                                      </p:cBhvr>
                                    </p:animEffect>
                                  </p:childTnLst>
                                </p:cTn>
                              </p:par>
                              <p:par>
                                <p:cTn id="21" presetID="4" presetClass="entr" presetSubtype="32" fill="hold" grpId="0" nodeType="withEffect">
                                  <p:stCondLst>
                                    <p:cond delay="0"/>
                                  </p:stCondLst>
                                  <p:childTnLst>
                                    <p:set>
                                      <p:cBhvr>
                                        <p:cTn id="22" dur="1" fill="hold">
                                          <p:stCondLst>
                                            <p:cond delay="0"/>
                                          </p:stCondLst>
                                        </p:cTn>
                                        <p:tgtEl>
                                          <p:spTgt spid="169989"/>
                                        </p:tgtEl>
                                        <p:attrNameLst>
                                          <p:attrName>style.visibility</p:attrName>
                                        </p:attrNameLst>
                                      </p:cBhvr>
                                      <p:to>
                                        <p:strVal val="visible"/>
                                      </p:to>
                                    </p:set>
                                    <p:animEffect transition="in" filter="box(out)">
                                      <p:cBhvr>
                                        <p:cTn id="23" dur="500"/>
                                        <p:tgtEl>
                                          <p:spTgt spid="169989"/>
                                        </p:tgtEl>
                                      </p:cBhvr>
                                    </p:animEffect>
                                  </p:childTnLst>
                                </p:cTn>
                              </p:par>
                              <p:par>
                                <p:cTn id="24" presetID="4" presetClass="entr" presetSubtype="32" fill="hold" grpId="0" nodeType="withEffect">
                                  <p:stCondLst>
                                    <p:cond delay="0"/>
                                  </p:stCondLst>
                                  <p:childTnLst>
                                    <p:set>
                                      <p:cBhvr>
                                        <p:cTn id="25" dur="1" fill="hold">
                                          <p:stCondLst>
                                            <p:cond delay="0"/>
                                          </p:stCondLst>
                                        </p:cTn>
                                        <p:tgtEl>
                                          <p:spTgt spid="169990"/>
                                        </p:tgtEl>
                                        <p:attrNameLst>
                                          <p:attrName>style.visibility</p:attrName>
                                        </p:attrNameLst>
                                      </p:cBhvr>
                                      <p:to>
                                        <p:strVal val="visible"/>
                                      </p:to>
                                    </p:set>
                                    <p:animEffect transition="in" filter="box(out)">
                                      <p:cBhvr>
                                        <p:cTn id="26" dur="500"/>
                                        <p:tgtEl>
                                          <p:spTgt spid="169990"/>
                                        </p:tgtEl>
                                      </p:cBhvr>
                                    </p:animEffect>
                                  </p:childTnLst>
                                </p:cTn>
                              </p:par>
                              <p:par>
                                <p:cTn id="27" presetID="4" presetClass="entr" presetSubtype="32" fill="hold" grpId="0" nodeType="withEffect">
                                  <p:stCondLst>
                                    <p:cond delay="0"/>
                                  </p:stCondLst>
                                  <p:childTnLst>
                                    <p:set>
                                      <p:cBhvr>
                                        <p:cTn id="28" dur="1" fill="hold">
                                          <p:stCondLst>
                                            <p:cond delay="0"/>
                                          </p:stCondLst>
                                        </p:cTn>
                                        <p:tgtEl>
                                          <p:spTgt spid="169991"/>
                                        </p:tgtEl>
                                        <p:attrNameLst>
                                          <p:attrName>style.visibility</p:attrName>
                                        </p:attrNameLst>
                                      </p:cBhvr>
                                      <p:to>
                                        <p:strVal val="visible"/>
                                      </p:to>
                                    </p:set>
                                    <p:animEffect transition="in" filter="box(out)">
                                      <p:cBhvr>
                                        <p:cTn id="29" dur="500"/>
                                        <p:tgtEl>
                                          <p:spTgt spid="169991"/>
                                        </p:tgtEl>
                                      </p:cBhvr>
                                    </p:animEffect>
                                  </p:childTnLst>
                                </p:cTn>
                              </p:par>
                              <p:par>
                                <p:cTn id="30" presetID="4" presetClass="entr" presetSubtype="32" fill="hold" grpId="0" nodeType="withEffect">
                                  <p:stCondLst>
                                    <p:cond delay="0"/>
                                  </p:stCondLst>
                                  <p:childTnLst>
                                    <p:set>
                                      <p:cBhvr>
                                        <p:cTn id="31" dur="1" fill="hold">
                                          <p:stCondLst>
                                            <p:cond delay="0"/>
                                          </p:stCondLst>
                                        </p:cTn>
                                        <p:tgtEl>
                                          <p:spTgt spid="169997"/>
                                        </p:tgtEl>
                                        <p:attrNameLst>
                                          <p:attrName>style.visibility</p:attrName>
                                        </p:attrNameLst>
                                      </p:cBhvr>
                                      <p:to>
                                        <p:strVal val="visible"/>
                                      </p:to>
                                    </p:set>
                                    <p:animEffect transition="in" filter="box(out)">
                                      <p:cBhvr>
                                        <p:cTn id="32" dur="500"/>
                                        <p:tgtEl>
                                          <p:spTgt spid="169997"/>
                                        </p:tgtEl>
                                      </p:cBhvr>
                                    </p:animEffect>
                                  </p:childTnLst>
                                </p:cTn>
                              </p:par>
                              <p:par>
                                <p:cTn id="33" presetID="4" presetClass="entr" presetSubtype="32" fill="hold" grpId="0" nodeType="withEffect">
                                  <p:stCondLst>
                                    <p:cond delay="0"/>
                                  </p:stCondLst>
                                  <p:childTnLst>
                                    <p:set>
                                      <p:cBhvr>
                                        <p:cTn id="34" dur="1" fill="hold">
                                          <p:stCondLst>
                                            <p:cond delay="0"/>
                                          </p:stCondLst>
                                        </p:cTn>
                                        <p:tgtEl>
                                          <p:spTgt spid="169998"/>
                                        </p:tgtEl>
                                        <p:attrNameLst>
                                          <p:attrName>style.visibility</p:attrName>
                                        </p:attrNameLst>
                                      </p:cBhvr>
                                      <p:to>
                                        <p:strVal val="visible"/>
                                      </p:to>
                                    </p:set>
                                    <p:animEffect transition="in" filter="box(out)">
                                      <p:cBhvr>
                                        <p:cTn id="35" dur="500"/>
                                        <p:tgtEl>
                                          <p:spTgt spid="169998"/>
                                        </p:tgtEl>
                                      </p:cBhvr>
                                    </p:animEffect>
                                  </p:childTnLst>
                                </p:cTn>
                              </p:par>
                              <p:par>
                                <p:cTn id="36" presetID="4" presetClass="entr" presetSubtype="32" fill="hold" grpId="0" nodeType="withEffect">
                                  <p:stCondLst>
                                    <p:cond delay="0"/>
                                  </p:stCondLst>
                                  <p:childTnLst>
                                    <p:set>
                                      <p:cBhvr>
                                        <p:cTn id="37" dur="1" fill="hold">
                                          <p:stCondLst>
                                            <p:cond delay="0"/>
                                          </p:stCondLst>
                                        </p:cTn>
                                        <p:tgtEl>
                                          <p:spTgt spid="169999"/>
                                        </p:tgtEl>
                                        <p:attrNameLst>
                                          <p:attrName>style.visibility</p:attrName>
                                        </p:attrNameLst>
                                      </p:cBhvr>
                                      <p:to>
                                        <p:strVal val="visible"/>
                                      </p:to>
                                    </p:set>
                                    <p:animEffect transition="in" filter="box(out)">
                                      <p:cBhvr>
                                        <p:cTn id="38" dur="500"/>
                                        <p:tgtEl>
                                          <p:spTgt spid="169999"/>
                                        </p:tgtEl>
                                      </p:cBhvr>
                                    </p:animEffect>
                                  </p:childTnLst>
                                </p:cTn>
                              </p:par>
                              <p:par>
                                <p:cTn id="39" presetID="4" presetClass="entr" presetSubtype="32" fill="hold" grpId="0" nodeType="withEffect">
                                  <p:stCondLst>
                                    <p:cond delay="0"/>
                                  </p:stCondLst>
                                  <p:childTnLst>
                                    <p:set>
                                      <p:cBhvr>
                                        <p:cTn id="40" dur="1" fill="hold">
                                          <p:stCondLst>
                                            <p:cond delay="0"/>
                                          </p:stCondLst>
                                        </p:cTn>
                                        <p:tgtEl>
                                          <p:spTgt spid="169992"/>
                                        </p:tgtEl>
                                        <p:attrNameLst>
                                          <p:attrName>style.visibility</p:attrName>
                                        </p:attrNameLst>
                                      </p:cBhvr>
                                      <p:to>
                                        <p:strVal val="visible"/>
                                      </p:to>
                                    </p:set>
                                    <p:animEffect transition="in" filter="box(out)">
                                      <p:cBhvr>
                                        <p:cTn id="41" dur="500"/>
                                        <p:tgtEl>
                                          <p:spTgt spid="169992"/>
                                        </p:tgtEl>
                                      </p:cBhvr>
                                    </p:animEffect>
                                  </p:childTnLst>
                                </p:cTn>
                              </p:par>
                              <p:par>
                                <p:cTn id="42" presetID="4" presetClass="entr" presetSubtype="32" fill="hold" grpId="0" nodeType="withEffect">
                                  <p:stCondLst>
                                    <p:cond delay="0"/>
                                  </p:stCondLst>
                                  <p:childTnLst>
                                    <p:set>
                                      <p:cBhvr>
                                        <p:cTn id="43" dur="1" fill="hold">
                                          <p:stCondLst>
                                            <p:cond delay="0"/>
                                          </p:stCondLst>
                                        </p:cTn>
                                        <p:tgtEl>
                                          <p:spTgt spid="170000"/>
                                        </p:tgtEl>
                                        <p:attrNameLst>
                                          <p:attrName>style.visibility</p:attrName>
                                        </p:attrNameLst>
                                      </p:cBhvr>
                                      <p:to>
                                        <p:strVal val="visible"/>
                                      </p:to>
                                    </p:set>
                                    <p:animEffect transition="in" filter="box(out)">
                                      <p:cBhvr>
                                        <p:cTn id="44" dur="500"/>
                                        <p:tgtEl>
                                          <p:spTgt spid="170000"/>
                                        </p:tgtEl>
                                      </p:cBhvr>
                                    </p:animEffect>
                                  </p:childTnLst>
                                </p:cTn>
                              </p:par>
                              <p:par>
                                <p:cTn id="45" presetID="4" presetClass="entr" presetSubtype="32" fill="hold" grpId="0" nodeType="withEffect">
                                  <p:stCondLst>
                                    <p:cond delay="0"/>
                                  </p:stCondLst>
                                  <p:childTnLst>
                                    <p:set>
                                      <p:cBhvr>
                                        <p:cTn id="46" dur="1" fill="hold">
                                          <p:stCondLst>
                                            <p:cond delay="0"/>
                                          </p:stCondLst>
                                        </p:cTn>
                                        <p:tgtEl>
                                          <p:spTgt spid="169993"/>
                                        </p:tgtEl>
                                        <p:attrNameLst>
                                          <p:attrName>style.visibility</p:attrName>
                                        </p:attrNameLst>
                                      </p:cBhvr>
                                      <p:to>
                                        <p:strVal val="visible"/>
                                      </p:to>
                                    </p:set>
                                    <p:animEffect transition="in" filter="box(out)">
                                      <p:cBhvr>
                                        <p:cTn id="47" dur="500"/>
                                        <p:tgtEl>
                                          <p:spTgt spid="169993"/>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69996"/>
                                        </p:tgtEl>
                                        <p:attrNameLst>
                                          <p:attrName>style.visibility</p:attrName>
                                        </p:attrNameLst>
                                      </p:cBhvr>
                                      <p:to>
                                        <p:strVal val="visible"/>
                                      </p:to>
                                    </p:set>
                                    <p:animEffect transition="in" filter="wipe(up)">
                                      <p:cBhvr>
                                        <p:cTn id="50" dur="500"/>
                                        <p:tgtEl>
                                          <p:spTgt spid="16999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70005"/>
                                        </p:tgtEl>
                                        <p:attrNameLst>
                                          <p:attrName>style.visibility</p:attrName>
                                        </p:attrNameLst>
                                      </p:cBhvr>
                                      <p:to>
                                        <p:strVal val="visible"/>
                                      </p:to>
                                    </p:set>
                                    <p:animEffect transition="in" filter="wipe(left)">
                                      <p:cBhvr>
                                        <p:cTn id="59" dur="500"/>
                                        <p:tgtEl>
                                          <p:spTgt spid="170005"/>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170003"/>
                                        </p:tgtEl>
                                        <p:attrNameLst>
                                          <p:attrName>style.visibility</p:attrName>
                                        </p:attrNameLst>
                                      </p:cBhvr>
                                      <p:to>
                                        <p:strVal val="visible"/>
                                      </p:to>
                                    </p:set>
                                    <p:animEffect transition="in" filter="wipe(left)">
                                      <p:cBhvr>
                                        <p:cTn id="63" dur="500"/>
                                        <p:tgtEl>
                                          <p:spTgt spid="17000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69995"/>
                                        </p:tgtEl>
                                        <p:attrNameLst>
                                          <p:attrName>style.visibility</p:attrName>
                                        </p:attrNameLst>
                                      </p:cBhvr>
                                      <p:to>
                                        <p:strVal val="visible"/>
                                      </p:to>
                                    </p:set>
                                    <p:animEffect transition="in" filter="wipe(left)">
                                      <p:cBhvr>
                                        <p:cTn id="68" dur="500"/>
                                        <p:tgtEl>
                                          <p:spTgt spid="169995"/>
                                        </p:tgtEl>
                                      </p:cBhvr>
                                    </p:animEffect>
                                  </p:childTnLst>
                                </p:cTn>
                              </p:par>
                            </p:childTnLst>
                          </p:cTn>
                        </p:par>
                        <p:par>
                          <p:cTn id="69" fill="hold">
                            <p:stCondLst>
                              <p:cond delay="500"/>
                            </p:stCondLst>
                            <p:childTnLst>
                              <p:par>
                                <p:cTn id="70" presetID="22" presetClass="entr" presetSubtype="1" fill="hold" grpId="0" nodeType="afterEffect">
                                  <p:stCondLst>
                                    <p:cond delay="0"/>
                                  </p:stCondLst>
                                  <p:childTnLst>
                                    <p:set>
                                      <p:cBhvr>
                                        <p:cTn id="71" dur="1" fill="hold">
                                          <p:stCondLst>
                                            <p:cond delay="0"/>
                                          </p:stCondLst>
                                        </p:cTn>
                                        <p:tgtEl>
                                          <p:spTgt spid="170023"/>
                                        </p:tgtEl>
                                        <p:attrNameLst>
                                          <p:attrName>style.visibility</p:attrName>
                                        </p:attrNameLst>
                                      </p:cBhvr>
                                      <p:to>
                                        <p:strVal val="visible"/>
                                      </p:to>
                                    </p:set>
                                    <p:animEffect transition="in" filter="wipe(up)">
                                      <p:cBhvr>
                                        <p:cTn id="72" dur="500"/>
                                        <p:tgtEl>
                                          <p:spTgt spid="170023"/>
                                        </p:tgtEl>
                                      </p:cBhvr>
                                    </p:animEffect>
                                  </p:childTnLst>
                                </p:cTn>
                              </p:par>
                              <p:par>
                                <p:cTn id="73" presetID="22" presetClass="entr" presetSubtype="1" fill="hold" grpId="2" nodeType="withEffect">
                                  <p:stCondLst>
                                    <p:cond delay="0"/>
                                  </p:stCondLst>
                                  <p:childTnLst>
                                    <p:set>
                                      <p:cBhvr>
                                        <p:cTn id="74" dur="1" fill="hold">
                                          <p:stCondLst>
                                            <p:cond delay="0"/>
                                          </p:stCondLst>
                                        </p:cTn>
                                        <p:tgtEl>
                                          <p:spTgt spid="170021"/>
                                        </p:tgtEl>
                                        <p:attrNameLst>
                                          <p:attrName>style.visibility</p:attrName>
                                        </p:attrNameLst>
                                      </p:cBhvr>
                                      <p:to>
                                        <p:strVal val="visible"/>
                                      </p:to>
                                    </p:set>
                                    <p:animEffect transition="in" filter="wipe(up)">
                                      <p:cBhvr>
                                        <p:cTn id="75" dur="500"/>
                                        <p:tgtEl>
                                          <p:spTgt spid="17002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0016"/>
                                        </p:tgtEl>
                                        <p:attrNameLst>
                                          <p:attrName>style.visibility</p:attrName>
                                        </p:attrNameLst>
                                      </p:cBhvr>
                                      <p:to>
                                        <p:strVal val="visible"/>
                                      </p:to>
                                    </p:set>
                                    <p:animEffect transition="in" filter="wipe(left)">
                                      <p:cBhvr>
                                        <p:cTn id="80" dur="500"/>
                                        <p:tgtEl>
                                          <p:spTgt spid="17001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70004"/>
                                        </p:tgtEl>
                                        <p:attrNameLst>
                                          <p:attrName>style.visibility</p:attrName>
                                        </p:attrNameLst>
                                      </p:cBhvr>
                                      <p:to>
                                        <p:strVal val="visible"/>
                                      </p:to>
                                    </p:set>
                                    <p:animEffect transition="in" filter="wipe(left)">
                                      <p:cBhvr>
                                        <p:cTn id="85" dur="500"/>
                                        <p:tgtEl>
                                          <p:spTgt spid="170004"/>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70001"/>
                                        </p:tgtEl>
                                        <p:attrNameLst>
                                          <p:attrName>style.visibility</p:attrName>
                                        </p:attrNameLst>
                                      </p:cBhvr>
                                      <p:to>
                                        <p:strVal val="visible"/>
                                      </p:to>
                                    </p:set>
                                    <p:animEffect transition="in" filter="wipe(left)">
                                      <p:cBhvr>
                                        <p:cTn id="89" dur="500"/>
                                        <p:tgtEl>
                                          <p:spTgt spid="170001"/>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170002"/>
                                        </p:tgtEl>
                                        <p:attrNameLst>
                                          <p:attrName>style.visibility</p:attrName>
                                        </p:attrNameLst>
                                      </p:cBhvr>
                                      <p:to>
                                        <p:strVal val="visible"/>
                                      </p:to>
                                    </p:set>
                                    <p:animEffect transition="in" filter="wipe(left)">
                                      <p:cBhvr>
                                        <p:cTn id="92" dur="500"/>
                                        <p:tgtEl>
                                          <p:spTgt spid="170002"/>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0" nodeType="clickEffect">
                                  <p:stCondLst>
                                    <p:cond delay="0"/>
                                  </p:stCondLst>
                                  <p:childTnLst>
                                    <p:set>
                                      <p:cBhvr>
                                        <p:cTn id="96" dur="1" fill="hold">
                                          <p:stCondLst>
                                            <p:cond delay="0"/>
                                          </p:stCondLst>
                                        </p:cTn>
                                        <p:tgtEl>
                                          <p:spTgt spid="170021"/>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70023"/>
                                        </p:tgtEl>
                                        <p:attrNameLst>
                                          <p:attrName>style.visibility</p:attrName>
                                        </p:attrNameLst>
                                      </p:cBhvr>
                                      <p:to>
                                        <p:strVal val="hidden"/>
                                      </p:to>
                                    </p:set>
                                  </p:childTnLst>
                                </p:cTn>
                              </p:par>
                            </p:childTnLst>
                          </p:cTn>
                        </p:par>
                        <p:par>
                          <p:cTn id="99" fill="hold">
                            <p:stCondLst>
                              <p:cond delay="0"/>
                            </p:stCondLst>
                            <p:childTnLst>
                              <p:par>
                                <p:cTn id="100" presetID="22" presetClass="entr" presetSubtype="1" fill="hold" grpId="0" nodeType="afterEffect">
                                  <p:stCondLst>
                                    <p:cond delay="0"/>
                                  </p:stCondLst>
                                  <p:childTnLst>
                                    <p:set>
                                      <p:cBhvr>
                                        <p:cTn id="101" dur="1" fill="hold">
                                          <p:stCondLst>
                                            <p:cond delay="0"/>
                                          </p:stCondLst>
                                        </p:cTn>
                                        <p:tgtEl>
                                          <p:spTgt spid="170024"/>
                                        </p:tgtEl>
                                        <p:attrNameLst>
                                          <p:attrName>style.visibility</p:attrName>
                                        </p:attrNameLst>
                                      </p:cBhvr>
                                      <p:to>
                                        <p:strVal val="visible"/>
                                      </p:to>
                                    </p:set>
                                    <p:animEffect transition="in" filter="wipe(up)">
                                      <p:cBhvr>
                                        <p:cTn id="102" dur="500"/>
                                        <p:tgtEl>
                                          <p:spTgt spid="170024"/>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70022"/>
                                        </p:tgtEl>
                                        <p:attrNameLst>
                                          <p:attrName>style.visibility</p:attrName>
                                        </p:attrNameLst>
                                      </p:cBhvr>
                                      <p:to>
                                        <p:strVal val="visible"/>
                                      </p:to>
                                    </p:set>
                                    <p:animEffect transition="in" filter="wipe(up)">
                                      <p:cBhvr>
                                        <p:cTn id="105" dur="500"/>
                                        <p:tgtEl>
                                          <p:spTgt spid="17002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70017"/>
                                        </p:tgtEl>
                                        <p:attrNameLst>
                                          <p:attrName>style.visibility</p:attrName>
                                        </p:attrNameLst>
                                      </p:cBhvr>
                                      <p:to>
                                        <p:strVal val="visible"/>
                                      </p:to>
                                    </p:set>
                                    <p:animEffect transition="in" filter="wipe(left)">
                                      <p:cBhvr>
                                        <p:cTn id="110" dur="500"/>
                                        <p:tgtEl>
                                          <p:spTgt spid="170017"/>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2" nodeType="clickEffect">
                                  <p:stCondLst>
                                    <p:cond delay="0"/>
                                  </p:stCondLst>
                                  <p:childTnLst>
                                    <p:set>
                                      <p:cBhvr>
                                        <p:cTn id="114" dur="1" fill="hold">
                                          <p:stCondLst>
                                            <p:cond delay="0"/>
                                          </p:stCondLst>
                                        </p:cTn>
                                        <p:tgtEl>
                                          <p:spTgt spid="170023"/>
                                        </p:tgtEl>
                                        <p:attrNameLst>
                                          <p:attrName>style.visibility</p:attrName>
                                        </p:attrNameLst>
                                      </p:cBhvr>
                                      <p:to>
                                        <p:strVal val="visible"/>
                                      </p:to>
                                    </p:set>
                                  </p:childTnLst>
                                </p:cTn>
                              </p:par>
                              <p:par>
                                <p:cTn id="115" presetID="1" presetClass="entr" presetSubtype="0" fill="hold" grpId="1" nodeType="withEffect">
                                  <p:stCondLst>
                                    <p:cond delay="0"/>
                                  </p:stCondLst>
                                  <p:childTnLst>
                                    <p:set>
                                      <p:cBhvr>
                                        <p:cTn id="116" dur="1" fill="hold">
                                          <p:stCondLst>
                                            <p:cond delay="0"/>
                                          </p:stCondLst>
                                        </p:cTn>
                                        <p:tgtEl>
                                          <p:spTgt spid="170021"/>
                                        </p:tgtEl>
                                        <p:attrNameLst>
                                          <p:attrName>style.visibility</p:attrName>
                                        </p:attrNameLst>
                                      </p:cBhvr>
                                      <p:to>
                                        <p:strVal val="visible"/>
                                      </p:to>
                                    </p:set>
                                  </p:childTnLst>
                                </p:cTn>
                              </p:par>
                            </p:childTnLst>
                          </p:cTn>
                        </p:par>
                        <p:par>
                          <p:cTn id="117" fill="hold">
                            <p:stCondLst>
                              <p:cond delay="0"/>
                            </p:stCondLst>
                            <p:childTnLst>
                              <p:par>
                                <p:cTn id="118" presetID="22" presetClass="entr" presetSubtype="8" fill="hold" nodeType="afterEffect">
                                  <p:stCondLst>
                                    <p:cond delay="0"/>
                                  </p:stCondLst>
                                  <p:childTnLst>
                                    <p:set>
                                      <p:cBhvr>
                                        <p:cTn id="119" dur="1" fill="hold">
                                          <p:stCondLst>
                                            <p:cond delay="0"/>
                                          </p:stCondLst>
                                        </p:cTn>
                                        <p:tgtEl>
                                          <p:spTgt spid="170006"/>
                                        </p:tgtEl>
                                        <p:attrNameLst>
                                          <p:attrName>style.visibility</p:attrName>
                                        </p:attrNameLst>
                                      </p:cBhvr>
                                      <p:to>
                                        <p:strVal val="visible"/>
                                      </p:to>
                                    </p:set>
                                    <p:animEffect transition="in" filter="wipe(left)">
                                      <p:cBhvr>
                                        <p:cTn id="120" dur="500"/>
                                        <p:tgtEl>
                                          <p:spTgt spid="170006"/>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170007"/>
                                        </p:tgtEl>
                                        <p:attrNameLst>
                                          <p:attrName>style.visibility</p:attrName>
                                        </p:attrNameLst>
                                      </p:cBhvr>
                                      <p:to>
                                        <p:strVal val="visible"/>
                                      </p:to>
                                    </p:set>
                                    <p:animEffect transition="in" filter="wipe(left)">
                                      <p:cBhvr>
                                        <p:cTn id="125" dur="500"/>
                                        <p:tgtEl>
                                          <p:spTgt spid="170007"/>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170008"/>
                                        </p:tgtEl>
                                        <p:attrNameLst>
                                          <p:attrName>style.visibility</p:attrName>
                                        </p:attrNameLst>
                                      </p:cBhvr>
                                      <p:to>
                                        <p:strVal val="visible"/>
                                      </p:to>
                                    </p:set>
                                    <p:animEffect transition="in" filter="wipe(left)">
                                      <p:cBhvr>
                                        <p:cTn id="130" dur="500"/>
                                        <p:tgtEl>
                                          <p:spTgt spid="170008"/>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170009"/>
                                        </p:tgtEl>
                                        <p:attrNameLst>
                                          <p:attrName>style.visibility</p:attrName>
                                        </p:attrNameLst>
                                      </p:cBhvr>
                                      <p:to>
                                        <p:strVal val="visible"/>
                                      </p:to>
                                    </p:set>
                                    <p:animEffect transition="in" filter="wipe(left)">
                                      <p:cBhvr>
                                        <p:cTn id="135" dur="500"/>
                                        <p:tgtEl>
                                          <p:spTgt spid="170009"/>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170010"/>
                                        </p:tgtEl>
                                        <p:attrNameLst>
                                          <p:attrName>style.visibility</p:attrName>
                                        </p:attrNameLst>
                                      </p:cBhvr>
                                      <p:to>
                                        <p:strVal val="visible"/>
                                      </p:to>
                                    </p:set>
                                    <p:animEffect transition="in" filter="blinds(horizontal)">
                                      <p:cBhvr>
                                        <p:cTn id="140" dur="500"/>
                                        <p:tgtEl>
                                          <p:spTgt spid="170010"/>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70011"/>
                                        </p:tgtEl>
                                        <p:attrNameLst>
                                          <p:attrName>style.visibility</p:attrName>
                                        </p:attrNameLst>
                                      </p:cBhvr>
                                      <p:to>
                                        <p:strVal val="visible"/>
                                      </p:to>
                                    </p:set>
                                    <p:animEffect transition="in" filter="wipe(left)">
                                      <p:cBhvr>
                                        <p:cTn id="145" dur="500"/>
                                        <p:tgtEl>
                                          <p:spTgt spid="170011"/>
                                        </p:tgtEl>
                                      </p:cBhvr>
                                    </p:animEffect>
                                  </p:childTnLst>
                                </p:cTn>
                              </p:par>
                            </p:childTnLst>
                          </p:cTn>
                        </p:par>
                        <p:par>
                          <p:cTn id="146" fill="hold">
                            <p:stCondLst>
                              <p:cond delay="500"/>
                            </p:stCondLst>
                            <p:childTnLst>
                              <p:par>
                                <p:cTn id="147" presetID="22" presetClass="entr" presetSubtype="8" fill="hold" nodeType="afterEffect">
                                  <p:stCondLst>
                                    <p:cond delay="0"/>
                                  </p:stCondLst>
                                  <p:childTnLst>
                                    <p:set>
                                      <p:cBhvr>
                                        <p:cTn id="148" dur="1" fill="hold">
                                          <p:stCondLst>
                                            <p:cond delay="0"/>
                                          </p:stCondLst>
                                        </p:cTn>
                                        <p:tgtEl>
                                          <p:spTgt spid="170012"/>
                                        </p:tgtEl>
                                        <p:attrNameLst>
                                          <p:attrName>style.visibility</p:attrName>
                                        </p:attrNameLst>
                                      </p:cBhvr>
                                      <p:to>
                                        <p:strVal val="visible"/>
                                      </p:to>
                                    </p:set>
                                    <p:animEffect transition="in" filter="wipe(left)">
                                      <p:cBhvr>
                                        <p:cTn id="149" dur="500"/>
                                        <p:tgtEl>
                                          <p:spTgt spid="170012"/>
                                        </p:tgtEl>
                                      </p:cBhvr>
                                    </p:animEffect>
                                  </p:childTnLst>
                                </p:cTn>
                              </p:par>
                            </p:childTnLst>
                          </p:cTn>
                        </p:par>
                        <p:par>
                          <p:cTn id="150" fill="hold">
                            <p:stCondLst>
                              <p:cond delay="1000"/>
                            </p:stCondLst>
                            <p:childTnLst>
                              <p:par>
                                <p:cTn id="151" presetID="22" presetClass="entr" presetSubtype="8" fill="hold" grpId="0" nodeType="afterEffect">
                                  <p:stCondLst>
                                    <p:cond delay="0"/>
                                  </p:stCondLst>
                                  <p:childTnLst>
                                    <p:set>
                                      <p:cBhvr>
                                        <p:cTn id="152" dur="1" fill="hold">
                                          <p:stCondLst>
                                            <p:cond delay="0"/>
                                          </p:stCondLst>
                                        </p:cTn>
                                        <p:tgtEl>
                                          <p:spTgt spid="43"/>
                                        </p:tgtEl>
                                        <p:attrNameLst>
                                          <p:attrName>style.visibility</p:attrName>
                                        </p:attrNameLst>
                                      </p:cBhvr>
                                      <p:to>
                                        <p:strVal val="visible"/>
                                      </p:to>
                                    </p:set>
                                    <p:animEffect transition="in" filter="wipe(left)">
                                      <p:cBhvr>
                                        <p:cTn id="153" dur="500"/>
                                        <p:tgtEl>
                                          <p:spTgt spid="43"/>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170013"/>
                                        </p:tgtEl>
                                        <p:attrNameLst>
                                          <p:attrName>style.visibility</p:attrName>
                                        </p:attrNameLst>
                                      </p:cBhvr>
                                      <p:to>
                                        <p:strVal val="visible"/>
                                      </p:to>
                                    </p:set>
                                    <p:animEffect transition="in" filter="wipe(left)">
                                      <p:cBhvr>
                                        <p:cTn id="158" dur="500"/>
                                        <p:tgtEl>
                                          <p:spTgt spid="170013"/>
                                        </p:tgtEl>
                                      </p:cBhvr>
                                    </p:animEffect>
                                  </p:childTnLst>
                                </p:cTn>
                              </p:par>
                            </p:childTnLst>
                          </p:cTn>
                        </p:par>
                        <p:par>
                          <p:cTn id="159" fill="hold">
                            <p:stCondLst>
                              <p:cond delay="500"/>
                            </p:stCondLst>
                            <p:childTnLst>
                              <p:par>
                                <p:cTn id="160" presetID="22" presetClass="entr" presetSubtype="8" fill="hold" grpId="0" nodeType="afterEffect">
                                  <p:stCondLst>
                                    <p:cond delay="0"/>
                                  </p:stCondLst>
                                  <p:childTnLst>
                                    <p:set>
                                      <p:cBhvr>
                                        <p:cTn id="161" dur="1" fill="hold">
                                          <p:stCondLst>
                                            <p:cond delay="0"/>
                                          </p:stCondLst>
                                        </p:cTn>
                                        <p:tgtEl>
                                          <p:spTgt spid="170015"/>
                                        </p:tgtEl>
                                        <p:attrNameLst>
                                          <p:attrName>style.visibility</p:attrName>
                                        </p:attrNameLst>
                                      </p:cBhvr>
                                      <p:to>
                                        <p:strVal val="visible"/>
                                      </p:to>
                                    </p:set>
                                    <p:animEffect transition="in" filter="wipe(left)">
                                      <p:cBhvr>
                                        <p:cTn id="162" dur="500"/>
                                        <p:tgtEl>
                                          <p:spTgt spid="170015"/>
                                        </p:tgtEl>
                                      </p:cBhvr>
                                    </p:animEffect>
                                  </p:childTnLst>
                                </p:cTn>
                              </p:par>
                            </p:childTnLst>
                          </p:cTn>
                        </p:par>
                        <p:par>
                          <p:cTn id="163" fill="hold">
                            <p:stCondLst>
                              <p:cond delay="1000"/>
                            </p:stCondLst>
                            <p:childTnLst>
                              <p:par>
                                <p:cTn id="164" presetID="22" presetClass="entr" presetSubtype="8" fill="hold" nodeType="afterEffect">
                                  <p:stCondLst>
                                    <p:cond delay="0"/>
                                  </p:stCondLst>
                                  <p:childTnLst>
                                    <p:set>
                                      <p:cBhvr>
                                        <p:cTn id="165" dur="1" fill="hold">
                                          <p:stCondLst>
                                            <p:cond delay="0"/>
                                          </p:stCondLst>
                                        </p:cTn>
                                        <p:tgtEl>
                                          <p:spTgt spid="170014"/>
                                        </p:tgtEl>
                                        <p:attrNameLst>
                                          <p:attrName>style.visibility</p:attrName>
                                        </p:attrNameLst>
                                      </p:cBhvr>
                                      <p:to>
                                        <p:strVal val="visible"/>
                                      </p:to>
                                    </p:set>
                                    <p:animEffect transition="in" filter="wipe(left)">
                                      <p:cBhvr>
                                        <p:cTn id="166" dur="500"/>
                                        <p:tgtEl>
                                          <p:spTgt spid="170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animBg="1"/>
      <p:bldP spid="169988" grpId="0" animBg="1"/>
      <p:bldP spid="169989" grpId="0" animBg="1"/>
      <p:bldP spid="169990" grpId="0" animBg="1"/>
      <p:bldP spid="169991" grpId="0" animBg="1"/>
      <p:bldP spid="169992" grpId="0" animBg="1"/>
      <p:bldP spid="169993" grpId="0" animBg="1"/>
      <p:bldP spid="169995" grpId="0" animBg="1"/>
      <p:bldP spid="169996" grpId="0"/>
      <p:bldP spid="169997" grpId="0"/>
      <p:bldP spid="169998" grpId="0"/>
      <p:bldP spid="169999" grpId="0"/>
      <p:bldP spid="170000" grpId="0"/>
      <p:bldP spid="170001" grpId="0" animBg="1"/>
      <p:bldP spid="170002" grpId="0"/>
      <p:bldP spid="170003" grpId="0" animBg="1"/>
      <p:bldP spid="170004" grpId="0" animBg="1"/>
      <p:bldP spid="170005" grpId="0" animBg="1"/>
      <p:bldP spid="170010" grpId="0" animBg="1"/>
      <p:bldP spid="170011" grpId="0" animBg="1"/>
      <p:bldP spid="170015" grpId="0" animBg="1"/>
      <p:bldP spid="170016" grpId="0" animBg="1"/>
      <p:bldP spid="170017" grpId="0" animBg="1"/>
      <p:bldP spid="170021" grpId="0"/>
      <p:bldP spid="170021" grpId="1"/>
      <p:bldP spid="170021" grpId="2"/>
      <p:bldP spid="170022" grpId="0"/>
      <p:bldP spid="170023" grpId="0" animBg="1"/>
      <p:bldP spid="170023" grpId="1" animBg="1"/>
      <p:bldP spid="170023" grpId="2" animBg="1"/>
      <p:bldP spid="170024" grpId="0" animBg="1"/>
      <p:bldP spid="42" grpId="0" autoUpdateAnimBg="0"/>
      <p:bldP spid="4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4859338" y="1341438"/>
            <a:ext cx="3600450" cy="1512887"/>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71011" name="Rectangle 3" descr="20%"/>
          <p:cNvSpPr>
            <a:spLocks noChangeArrowheads="1"/>
          </p:cNvSpPr>
          <p:nvPr/>
        </p:nvSpPr>
        <p:spPr bwMode="auto">
          <a:xfrm>
            <a:off x="5364163" y="1844675"/>
            <a:ext cx="504825" cy="504825"/>
          </a:xfrm>
          <a:prstGeom prst="rect">
            <a:avLst/>
          </a:prstGeom>
          <a:pattFill prst="pct20">
            <a:fgClr>
              <a:schemeClr val="bg2"/>
            </a:fgClr>
            <a:bgClr>
              <a:schemeClr val="bg1"/>
            </a:bgClr>
          </a:pattFill>
          <a:ln w="28575">
            <a:solidFill>
              <a:schemeClr val="tx1"/>
            </a:solidFill>
            <a:miter lim="800000"/>
            <a:headEnd/>
            <a:tailEnd/>
          </a:ln>
        </p:spPr>
        <p:txBody>
          <a:bodyPr wrap="none" anchor="ctr"/>
          <a:lstStyle/>
          <a:p>
            <a:endParaRPr lang="zh-CN" altLang="en-US"/>
          </a:p>
        </p:txBody>
      </p:sp>
      <p:sp>
        <p:nvSpPr>
          <p:cNvPr id="171012" name="Line 4"/>
          <p:cNvSpPr>
            <a:spLocks noChangeShapeType="1"/>
          </p:cNvSpPr>
          <p:nvPr/>
        </p:nvSpPr>
        <p:spPr bwMode="auto">
          <a:xfrm>
            <a:off x="6443663" y="1630363"/>
            <a:ext cx="0" cy="863600"/>
          </a:xfrm>
          <a:prstGeom prst="line">
            <a:avLst/>
          </a:prstGeom>
          <a:noFill/>
          <a:ln w="28575">
            <a:solidFill>
              <a:schemeClr val="accent2"/>
            </a:solidFill>
            <a:round/>
            <a:headEnd/>
            <a:tailEnd/>
          </a:ln>
        </p:spPr>
        <p:txBody>
          <a:bodyPr/>
          <a:lstStyle/>
          <a:p>
            <a:endParaRPr lang="zh-CN" altLang="en-US"/>
          </a:p>
        </p:txBody>
      </p:sp>
      <p:sp>
        <p:nvSpPr>
          <p:cNvPr id="171013" name="Line 5"/>
          <p:cNvSpPr>
            <a:spLocks noChangeShapeType="1"/>
          </p:cNvSpPr>
          <p:nvPr/>
        </p:nvSpPr>
        <p:spPr bwMode="auto">
          <a:xfrm>
            <a:off x="6516688" y="1630363"/>
            <a:ext cx="0" cy="863600"/>
          </a:xfrm>
          <a:prstGeom prst="line">
            <a:avLst/>
          </a:prstGeom>
          <a:noFill/>
          <a:ln w="28575">
            <a:solidFill>
              <a:schemeClr val="accent2"/>
            </a:solidFill>
            <a:round/>
            <a:headEnd/>
            <a:tailEnd/>
          </a:ln>
        </p:spPr>
        <p:txBody>
          <a:bodyPr/>
          <a:lstStyle/>
          <a:p>
            <a:endParaRPr lang="zh-CN" altLang="en-US"/>
          </a:p>
        </p:txBody>
      </p:sp>
      <p:sp>
        <p:nvSpPr>
          <p:cNvPr id="171014" name="Oval 6" descr="5%"/>
          <p:cNvSpPr>
            <a:spLocks noChangeArrowheads="1"/>
          </p:cNvSpPr>
          <p:nvPr/>
        </p:nvSpPr>
        <p:spPr bwMode="auto">
          <a:xfrm>
            <a:off x="7235825" y="1628775"/>
            <a:ext cx="936625" cy="936625"/>
          </a:xfrm>
          <a:prstGeom prst="ellipse">
            <a:avLst/>
          </a:prstGeom>
          <a:noFill/>
          <a:ln w="28575">
            <a:solidFill>
              <a:schemeClr val="tx1"/>
            </a:solidFill>
            <a:round/>
            <a:headEnd/>
            <a:tailEnd/>
          </a:ln>
        </p:spPr>
        <p:txBody>
          <a:bodyPr wrap="none" anchor="ctr"/>
          <a:lstStyle/>
          <a:p>
            <a:endParaRPr lang="zh-CN" altLang="en-US"/>
          </a:p>
        </p:txBody>
      </p:sp>
      <p:sp>
        <p:nvSpPr>
          <p:cNvPr id="171015" name="AutoShape 7"/>
          <p:cNvSpPr>
            <a:spLocks noChangeArrowheads="1"/>
          </p:cNvSpPr>
          <p:nvPr/>
        </p:nvSpPr>
        <p:spPr bwMode="auto">
          <a:xfrm rot="3786018">
            <a:off x="7307262" y="1701801"/>
            <a:ext cx="792163" cy="79216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1205 w 21600"/>
              <a:gd name="T13" fmla="*/ 0 h 21600"/>
              <a:gd name="T14" fmla="*/ 20395 w 21600"/>
              <a:gd name="T15" fmla="*/ 6586 h 21600"/>
            </a:gdLst>
            <a:ahLst/>
            <a:cxnLst>
              <a:cxn ang="T8">
                <a:pos x="T0" y="T1"/>
              </a:cxn>
              <a:cxn ang="T9">
                <a:pos x="T2" y="T3"/>
              </a:cxn>
              <a:cxn ang="T10">
                <a:pos x="T4" y="T5"/>
              </a:cxn>
              <a:cxn ang="T11">
                <a:pos x="T6" y="T7"/>
              </a:cxn>
            </a:cxnLst>
            <a:rect l="T12" t="T13" r="T14" b="T15"/>
            <a:pathLst>
              <a:path w="21600" h="21600">
                <a:moveTo>
                  <a:pt x="3788" y="4871"/>
                </a:moveTo>
                <a:cubicBezTo>
                  <a:pt x="5533" y="2808"/>
                  <a:pt x="8097" y="1617"/>
                  <a:pt x="10800" y="1618"/>
                </a:cubicBezTo>
                <a:cubicBezTo>
                  <a:pt x="13502" y="1618"/>
                  <a:pt x="16066" y="2808"/>
                  <a:pt x="17811" y="4871"/>
                </a:cubicBezTo>
                <a:lnTo>
                  <a:pt x="19047" y="3826"/>
                </a:lnTo>
                <a:cubicBezTo>
                  <a:pt x="16994" y="1399"/>
                  <a:pt x="13978" y="-1"/>
                  <a:pt x="10799" y="0"/>
                </a:cubicBezTo>
                <a:cubicBezTo>
                  <a:pt x="7621" y="0"/>
                  <a:pt x="4605" y="1399"/>
                  <a:pt x="2552" y="3826"/>
                </a:cubicBez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71016" name="Rectangle 8"/>
          <p:cNvSpPr>
            <a:spLocks noChangeArrowheads="1"/>
          </p:cNvSpPr>
          <p:nvPr/>
        </p:nvSpPr>
        <p:spPr bwMode="auto">
          <a:xfrm>
            <a:off x="5853113" y="2062163"/>
            <a:ext cx="1511300" cy="71437"/>
          </a:xfrm>
          <a:prstGeom prst="rect">
            <a:avLst/>
          </a:prstGeom>
          <a:solidFill>
            <a:schemeClr val="bg1"/>
          </a:solidFill>
          <a:ln w="9525">
            <a:noFill/>
            <a:miter lim="800000"/>
            <a:headEnd/>
            <a:tailEnd/>
          </a:ln>
        </p:spPr>
        <p:txBody>
          <a:bodyPr wrap="none" anchor="ctr"/>
          <a:lstStyle/>
          <a:p>
            <a:endParaRPr lang="zh-CN" altLang="en-US"/>
          </a:p>
        </p:txBody>
      </p:sp>
      <p:sp>
        <p:nvSpPr>
          <p:cNvPr id="171017" name="Line 9"/>
          <p:cNvSpPr>
            <a:spLocks noChangeShapeType="1"/>
          </p:cNvSpPr>
          <p:nvPr/>
        </p:nvSpPr>
        <p:spPr bwMode="auto">
          <a:xfrm>
            <a:off x="5867400" y="2090738"/>
            <a:ext cx="2160588" cy="0"/>
          </a:xfrm>
          <a:prstGeom prst="line">
            <a:avLst/>
          </a:prstGeom>
          <a:noFill/>
          <a:ln w="28575" cap="rnd">
            <a:solidFill>
              <a:schemeClr val="tx1"/>
            </a:solidFill>
            <a:prstDash val="sysDot"/>
            <a:round/>
            <a:headEnd/>
            <a:tailEnd/>
          </a:ln>
        </p:spPr>
        <p:txBody>
          <a:bodyPr/>
          <a:lstStyle/>
          <a:p>
            <a:endParaRPr lang="zh-CN" altLang="en-US"/>
          </a:p>
        </p:txBody>
      </p:sp>
      <p:sp>
        <p:nvSpPr>
          <p:cNvPr id="171018" name="Text Box 10"/>
          <p:cNvSpPr txBox="1">
            <a:spLocks noChangeArrowheads="1"/>
          </p:cNvSpPr>
          <p:nvPr/>
        </p:nvSpPr>
        <p:spPr bwMode="auto">
          <a:xfrm>
            <a:off x="5334000" y="2349500"/>
            <a:ext cx="811213" cy="366713"/>
          </a:xfrm>
          <a:prstGeom prst="rect">
            <a:avLst/>
          </a:prstGeom>
          <a:noFill/>
          <a:ln w="9525">
            <a:noFill/>
            <a:miter lim="800000"/>
            <a:headEnd/>
            <a:tailEnd/>
          </a:ln>
        </p:spPr>
        <p:txBody>
          <a:bodyPr>
            <a:spAutoFit/>
          </a:bodyPr>
          <a:lstStyle/>
          <a:p>
            <a:r>
              <a:rPr lang="en-US" altLang="zh-CN" b="1" i="1">
                <a:latin typeface="Times New Roman" pitchFamily="18" charset="0"/>
              </a:rPr>
              <a:t>O</a:t>
            </a:r>
          </a:p>
        </p:txBody>
      </p:sp>
      <p:sp>
        <p:nvSpPr>
          <p:cNvPr id="171019" name="Text Box 11"/>
          <p:cNvSpPr txBox="1">
            <a:spLocks noChangeArrowheads="1"/>
          </p:cNvSpPr>
          <p:nvPr/>
        </p:nvSpPr>
        <p:spPr bwMode="auto">
          <a:xfrm>
            <a:off x="6137275" y="2343150"/>
            <a:ext cx="811213"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1</a:t>
            </a:r>
            <a:endParaRPr lang="en-US" altLang="zh-CN" b="1">
              <a:solidFill>
                <a:schemeClr val="accent2"/>
              </a:solidFill>
              <a:latin typeface="Times New Roman" pitchFamily="18" charset="0"/>
            </a:endParaRPr>
          </a:p>
        </p:txBody>
      </p:sp>
      <p:sp>
        <p:nvSpPr>
          <p:cNvPr id="171020" name="Text Box 12"/>
          <p:cNvSpPr txBox="1">
            <a:spLocks noChangeArrowheads="1"/>
          </p:cNvSpPr>
          <p:nvPr/>
        </p:nvSpPr>
        <p:spPr bwMode="auto">
          <a:xfrm>
            <a:off x="6443663" y="2349500"/>
            <a:ext cx="811212"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2</a:t>
            </a:r>
            <a:endParaRPr lang="en-US" altLang="zh-CN" b="1">
              <a:solidFill>
                <a:schemeClr val="accent2"/>
              </a:solidFill>
              <a:latin typeface="Times New Roman" pitchFamily="18" charset="0"/>
            </a:endParaRPr>
          </a:p>
        </p:txBody>
      </p:sp>
      <p:sp>
        <p:nvSpPr>
          <p:cNvPr id="171021" name="Text Box 13"/>
          <p:cNvSpPr txBox="1">
            <a:spLocks noChangeArrowheads="1"/>
          </p:cNvSpPr>
          <p:nvPr/>
        </p:nvSpPr>
        <p:spPr bwMode="auto">
          <a:xfrm>
            <a:off x="6875463" y="1701800"/>
            <a:ext cx="811212" cy="366713"/>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S</a:t>
            </a:r>
            <a:r>
              <a:rPr lang="en-US" altLang="zh-CN" b="1" baseline="-25000">
                <a:solidFill>
                  <a:schemeClr val="accent2"/>
                </a:solidFill>
                <a:latin typeface="Times New Roman" pitchFamily="18" charset="0"/>
              </a:rPr>
              <a:t>3</a:t>
            </a:r>
            <a:endParaRPr lang="en-US" altLang="zh-CN" b="1">
              <a:solidFill>
                <a:schemeClr val="accent2"/>
              </a:solidFill>
              <a:latin typeface="Times New Roman" pitchFamily="18" charset="0"/>
            </a:endParaRPr>
          </a:p>
        </p:txBody>
      </p:sp>
      <p:sp>
        <p:nvSpPr>
          <p:cNvPr id="171022" name="Text Box 14"/>
          <p:cNvSpPr txBox="1">
            <a:spLocks noChangeArrowheads="1"/>
          </p:cNvSpPr>
          <p:nvPr/>
        </p:nvSpPr>
        <p:spPr bwMode="auto">
          <a:xfrm>
            <a:off x="7653338" y="1773238"/>
            <a:ext cx="811212" cy="366712"/>
          </a:xfrm>
          <a:prstGeom prst="rect">
            <a:avLst/>
          </a:prstGeom>
          <a:noFill/>
          <a:ln w="9525">
            <a:noFill/>
            <a:miter lim="800000"/>
            <a:headEnd/>
            <a:tailEnd/>
          </a:ln>
        </p:spPr>
        <p:txBody>
          <a:bodyPr>
            <a:spAutoFit/>
          </a:bodyPr>
          <a:lstStyle/>
          <a:p>
            <a:r>
              <a:rPr lang="en-US" altLang="zh-CN" b="1" i="1">
                <a:solidFill>
                  <a:srgbClr val="008080"/>
                </a:solidFill>
                <a:latin typeface="Times New Roman" pitchFamily="18" charset="0"/>
              </a:rPr>
              <a:t>G</a:t>
            </a:r>
            <a:endParaRPr lang="en-US" altLang="zh-CN" b="1">
              <a:solidFill>
                <a:srgbClr val="008080"/>
              </a:solidFill>
              <a:latin typeface="Times New Roman" pitchFamily="18" charset="0"/>
            </a:endParaRPr>
          </a:p>
        </p:txBody>
      </p:sp>
      <p:sp>
        <p:nvSpPr>
          <p:cNvPr id="171023" name="Freeform 15"/>
          <p:cNvSpPr>
            <a:spLocks/>
          </p:cNvSpPr>
          <p:nvPr/>
        </p:nvSpPr>
        <p:spPr bwMode="auto">
          <a:xfrm>
            <a:off x="7956550" y="1557338"/>
            <a:ext cx="287338" cy="288925"/>
          </a:xfrm>
          <a:custGeom>
            <a:avLst/>
            <a:gdLst>
              <a:gd name="T0" fmla="*/ 0 w 181"/>
              <a:gd name="T1" fmla="*/ 0 h 182"/>
              <a:gd name="T2" fmla="*/ 2147483647 w 181"/>
              <a:gd name="T3" fmla="*/ 2147483647 h 182"/>
              <a:gd name="T4" fmla="*/ 2147483647 w 181"/>
              <a:gd name="T5" fmla="*/ 2147483647 h 182"/>
              <a:gd name="T6" fmla="*/ 2147483647 w 181"/>
              <a:gd name="T7" fmla="*/ 2147483647 h 182"/>
              <a:gd name="T8" fmla="*/ 0 60000 65536"/>
              <a:gd name="T9" fmla="*/ 0 60000 65536"/>
              <a:gd name="T10" fmla="*/ 0 60000 65536"/>
              <a:gd name="T11" fmla="*/ 0 60000 65536"/>
              <a:gd name="T12" fmla="*/ 0 w 181"/>
              <a:gd name="T13" fmla="*/ 0 h 182"/>
              <a:gd name="T14" fmla="*/ 181 w 181"/>
              <a:gd name="T15" fmla="*/ 182 h 182"/>
            </a:gdLst>
            <a:ahLst/>
            <a:cxnLst>
              <a:cxn ang="T8">
                <a:pos x="T0" y="T1"/>
              </a:cxn>
              <a:cxn ang="T9">
                <a:pos x="T2" y="T3"/>
              </a:cxn>
              <a:cxn ang="T10">
                <a:pos x="T4" y="T5"/>
              </a:cxn>
              <a:cxn ang="T11">
                <a:pos x="T6" y="T7"/>
              </a:cxn>
            </a:cxnLst>
            <a:rect l="T12" t="T13" r="T14" b="T15"/>
            <a:pathLst>
              <a:path w="181" h="182">
                <a:moveTo>
                  <a:pt x="0" y="0"/>
                </a:moveTo>
                <a:cubicBezTo>
                  <a:pt x="30" y="8"/>
                  <a:pt x="64" y="26"/>
                  <a:pt x="90" y="46"/>
                </a:cubicBezTo>
                <a:cubicBezTo>
                  <a:pt x="116" y="66"/>
                  <a:pt x="140" y="98"/>
                  <a:pt x="155" y="121"/>
                </a:cubicBezTo>
                <a:cubicBezTo>
                  <a:pt x="170" y="144"/>
                  <a:pt x="176" y="169"/>
                  <a:pt x="181" y="182"/>
                </a:cubicBezTo>
              </a:path>
            </a:pathLst>
          </a:custGeom>
          <a:noFill/>
          <a:ln w="19050">
            <a:solidFill>
              <a:schemeClr val="accent2"/>
            </a:solidFill>
            <a:round/>
            <a:headEnd/>
            <a:tailEnd type="stealth" w="med" len="med"/>
          </a:ln>
        </p:spPr>
        <p:txBody>
          <a:bodyPr/>
          <a:lstStyle/>
          <a:p>
            <a:endParaRPr lang="zh-CN" altLang="en-US"/>
          </a:p>
        </p:txBody>
      </p:sp>
      <p:sp>
        <p:nvSpPr>
          <p:cNvPr id="171024" name="Text Box 16"/>
          <p:cNvSpPr txBox="1">
            <a:spLocks noChangeArrowheads="1"/>
          </p:cNvSpPr>
          <p:nvPr/>
        </p:nvSpPr>
        <p:spPr bwMode="auto">
          <a:xfrm>
            <a:off x="7937500" y="1341438"/>
            <a:ext cx="811213" cy="366712"/>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ω</a:t>
            </a:r>
            <a:endParaRPr lang="en-US" altLang="zh-CN" b="1">
              <a:solidFill>
                <a:schemeClr val="accent2"/>
              </a:solidFill>
              <a:latin typeface="Times New Roman" pitchFamily="18" charset="0"/>
            </a:endParaRPr>
          </a:p>
        </p:txBody>
      </p:sp>
      <p:sp>
        <p:nvSpPr>
          <p:cNvPr id="171025" name="AutoShape 17"/>
          <p:cNvSpPr>
            <a:spLocks noChangeArrowheads="1"/>
          </p:cNvSpPr>
          <p:nvPr/>
        </p:nvSpPr>
        <p:spPr bwMode="auto">
          <a:xfrm>
            <a:off x="6659563" y="2997200"/>
            <a:ext cx="217487" cy="792163"/>
          </a:xfrm>
          <a:prstGeom prst="downArrow">
            <a:avLst>
              <a:gd name="adj1" fmla="val 50000"/>
              <a:gd name="adj2" fmla="val 91059"/>
            </a:avLst>
          </a:prstGeom>
          <a:solidFill>
            <a:schemeClr val="accent1"/>
          </a:solidFill>
          <a:ln w="9525">
            <a:solidFill>
              <a:schemeClr val="tx1"/>
            </a:solidFill>
            <a:miter lim="800000"/>
            <a:headEnd/>
            <a:tailEnd/>
          </a:ln>
        </p:spPr>
        <p:txBody>
          <a:bodyPr vert="eaVert" wrap="none" anchor="ctr"/>
          <a:lstStyle/>
          <a:p>
            <a:endParaRPr lang="zh-CN" altLang="en-US"/>
          </a:p>
        </p:txBody>
      </p:sp>
      <p:sp>
        <p:nvSpPr>
          <p:cNvPr id="171026" name="Rectangle 18"/>
          <p:cNvSpPr>
            <a:spLocks noChangeArrowheads="1"/>
          </p:cNvSpPr>
          <p:nvPr/>
        </p:nvSpPr>
        <p:spPr bwMode="auto">
          <a:xfrm>
            <a:off x="5364163" y="4292600"/>
            <a:ext cx="2665412" cy="792163"/>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71027" name="Rectangle 19"/>
          <p:cNvSpPr>
            <a:spLocks noChangeArrowheads="1"/>
          </p:cNvSpPr>
          <p:nvPr/>
        </p:nvSpPr>
        <p:spPr bwMode="auto">
          <a:xfrm>
            <a:off x="5724525" y="4351338"/>
            <a:ext cx="1727200" cy="690562"/>
          </a:xfrm>
          <a:prstGeom prst="rect">
            <a:avLst/>
          </a:prstGeom>
          <a:gradFill rotWithShape="1">
            <a:gsLst>
              <a:gs pos="0">
                <a:schemeClr val="bg2"/>
              </a:gs>
              <a:gs pos="50000">
                <a:schemeClr val="bg2">
                  <a:gamma/>
                  <a:shade val="20000"/>
                  <a:invGamma/>
                </a:schemeClr>
              </a:gs>
              <a:gs pos="100000">
                <a:schemeClr val="bg2"/>
              </a:gs>
            </a:gsLst>
            <a:lin ang="0" scaled="1"/>
          </a:gradFill>
          <a:ln w="9525">
            <a:noFill/>
            <a:miter lim="800000"/>
            <a:headEnd/>
            <a:tailEnd/>
          </a:ln>
          <a:effectLst/>
        </p:spPr>
        <p:txBody>
          <a:bodyPr wrap="none" anchor="ctr"/>
          <a:lstStyle/>
          <a:p>
            <a:pPr>
              <a:defRPr/>
            </a:pPr>
            <a:endParaRPr lang="zh-CN" altLang="en-US"/>
          </a:p>
        </p:txBody>
      </p:sp>
      <p:graphicFrame>
        <p:nvGraphicFramePr>
          <p:cNvPr id="171028" name="Object 20"/>
          <p:cNvGraphicFramePr>
            <a:graphicFrameLocks noChangeAspect="1"/>
          </p:cNvGraphicFramePr>
          <p:nvPr/>
        </p:nvGraphicFramePr>
        <p:xfrm>
          <a:off x="1403350" y="1243013"/>
          <a:ext cx="1216025" cy="890587"/>
        </p:xfrm>
        <a:graphic>
          <a:graphicData uri="http://schemas.openxmlformats.org/presentationml/2006/ole">
            <p:oleObj spid="_x0000_s56322" name="公式" r:id="rId3" imgW="571320" imgH="419040" progId="Equation.3">
              <p:embed/>
            </p:oleObj>
          </a:graphicData>
        </a:graphic>
      </p:graphicFrame>
      <p:graphicFrame>
        <p:nvGraphicFramePr>
          <p:cNvPr id="171029" name="Object 21"/>
          <p:cNvGraphicFramePr>
            <a:graphicFrameLocks noChangeAspect="1"/>
          </p:cNvGraphicFramePr>
          <p:nvPr/>
        </p:nvGraphicFramePr>
        <p:xfrm>
          <a:off x="1114425" y="2386013"/>
          <a:ext cx="242888" cy="296862"/>
        </p:xfrm>
        <a:graphic>
          <a:graphicData uri="http://schemas.openxmlformats.org/presentationml/2006/ole">
            <p:oleObj spid="_x0000_s56323" name="公式" r:id="rId4" imgW="114120" imgH="139680" progId="Equation.3">
              <p:embed/>
            </p:oleObj>
          </a:graphicData>
        </a:graphic>
      </p:graphicFrame>
      <p:graphicFrame>
        <p:nvGraphicFramePr>
          <p:cNvPr id="171030" name="Object 22"/>
          <p:cNvGraphicFramePr>
            <a:graphicFrameLocks noChangeAspect="1"/>
          </p:cNvGraphicFramePr>
          <p:nvPr/>
        </p:nvGraphicFramePr>
        <p:xfrm>
          <a:off x="2698750" y="2284413"/>
          <a:ext cx="231775" cy="461962"/>
        </p:xfrm>
        <a:graphic>
          <a:graphicData uri="http://schemas.openxmlformats.org/presentationml/2006/ole">
            <p:oleObj spid="_x0000_s56324" name="公式" r:id="rId5" imgW="88560" imgH="177480" progId="Equation.3">
              <p:embed/>
            </p:oleObj>
          </a:graphicData>
        </a:graphic>
      </p:graphicFrame>
      <p:sp>
        <p:nvSpPr>
          <p:cNvPr id="171031" name="AutoShape 23"/>
          <p:cNvSpPr>
            <a:spLocks noChangeArrowheads="1"/>
          </p:cNvSpPr>
          <p:nvPr/>
        </p:nvSpPr>
        <p:spPr bwMode="auto">
          <a:xfrm>
            <a:off x="1403350" y="2466975"/>
            <a:ext cx="1152525" cy="71438"/>
          </a:xfrm>
          <a:prstGeom prst="rightArrow">
            <a:avLst>
              <a:gd name="adj1" fmla="val 50000"/>
              <a:gd name="adj2" fmla="val 403331"/>
            </a:avLst>
          </a:prstGeom>
          <a:solidFill>
            <a:schemeClr val="accent2"/>
          </a:solidFill>
          <a:ln w="9525">
            <a:solidFill>
              <a:schemeClr val="tx1"/>
            </a:solidFill>
            <a:miter lim="800000"/>
            <a:headEnd/>
            <a:tailEnd/>
          </a:ln>
        </p:spPr>
        <p:txBody>
          <a:bodyPr wrap="none" anchor="ctr"/>
          <a:lstStyle/>
          <a:p>
            <a:endParaRPr lang="zh-CN" altLang="en-US"/>
          </a:p>
        </p:txBody>
      </p:sp>
      <p:sp>
        <p:nvSpPr>
          <p:cNvPr id="171032" name="Line 24"/>
          <p:cNvSpPr>
            <a:spLocks noChangeShapeType="1"/>
          </p:cNvSpPr>
          <p:nvPr/>
        </p:nvSpPr>
        <p:spPr bwMode="auto">
          <a:xfrm>
            <a:off x="5364163" y="4292600"/>
            <a:ext cx="3095625" cy="0"/>
          </a:xfrm>
          <a:prstGeom prst="line">
            <a:avLst/>
          </a:prstGeom>
          <a:noFill/>
          <a:ln w="19050">
            <a:solidFill>
              <a:srgbClr val="FF0000"/>
            </a:solidFill>
            <a:round/>
            <a:headEnd/>
            <a:tailEnd type="triangle" w="med" len="med"/>
          </a:ln>
        </p:spPr>
        <p:txBody>
          <a:bodyPr/>
          <a:lstStyle/>
          <a:p>
            <a:endParaRPr lang="zh-CN" altLang="en-US"/>
          </a:p>
        </p:txBody>
      </p:sp>
      <p:sp>
        <p:nvSpPr>
          <p:cNvPr id="171033" name="Line 25"/>
          <p:cNvSpPr>
            <a:spLocks noChangeShapeType="1"/>
          </p:cNvSpPr>
          <p:nvPr/>
        </p:nvSpPr>
        <p:spPr bwMode="auto">
          <a:xfrm>
            <a:off x="5724525" y="4195763"/>
            <a:ext cx="0" cy="142875"/>
          </a:xfrm>
          <a:prstGeom prst="line">
            <a:avLst/>
          </a:prstGeom>
          <a:noFill/>
          <a:ln w="9525">
            <a:solidFill>
              <a:srgbClr val="FF0000"/>
            </a:solidFill>
            <a:round/>
            <a:headEnd/>
            <a:tailEnd/>
          </a:ln>
        </p:spPr>
        <p:txBody>
          <a:bodyPr/>
          <a:lstStyle/>
          <a:p>
            <a:endParaRPr lang="zh-CN" altLang="en-US"/>
          </a:p>
        </p:txBody>
      </p:sp>
      <p:sp>
        <p:nvSpPr>
          <p:cNvPr id="171034" name="Text Box 26"/>
          <p:cNvSpPr txBox="1">
            <a:spLocks noChangeArrowheads="1"/>
          </p:cNvSpPr>
          <p:nvPr/>
        </p:nvSpPr>
        <p:spPr bwMode="auto">
          <a:xfrm>
            <a:off x="8512175" y="4025900"/>
            <a:ext cx="452438" cy="457200"/>
          </a:xfrm>
          <a:prstGeom prst="rect">
            <a:avLst/>
          </a:prstGeom>
          <a:noFill/>
          <a:ln w="9525">
            <a:noFill/>
            <a:miter lim="800000"/>
            <a:headEnd/>
            <a:tailEnd/>
          </a:ln>
        </p:spPr>
        <p:txBody>
          <a:bodyPr>
            <a:spAutoFit/>
          </a:bodyPr>
          <a:lstStyle/>
          <a:p>
            <a:r>
              <a:rPr lang="en-US" altLang="zh-CN" sz="2400" b="1" i="1">
                <a:solidFill>
                  <a:srgbClr val="FF0000"/>
                </a:solidFill>
                <a:latin typeface="Times New Roman" pitchFamily="18" charset="0"/>
              </a:rPr>
              <a:t>l</a:t>
            </a:r>
          </a:p>
        </p:txBody>
      </p:sp>
      <p:sp>
        <p:nvSpPr>
          <p:cNvPr id="171035" name="Text Box 27"/>
          <p:cNvSpPr txBox="1">
            <a:spLocks noChangeArrowheads="1"/>
          </p:cNvSpPr>
          <p:nvPr/>
        </p:nvSpPr>
        <p:spPr bwMode="auto">
          <a:xfrm>
            <a:off x="5580063" y="3854450"/>
            <a:ext cx="647700" cy="366713"/>
          </a:xfrm>
          <a:prstGeom prst="rect">
            <a:avLst/>
          </a:prstGeom>
          <a:noFill/>
          <a:ln w="9525">
            <a:noFill/>
            <a:miter lim="800000"/>
            <a:headEnd/>
            <a:tailEnd/>
          </a:ln>
        </p:spPr>
        <p:txBody>
          <a:bodyPr>
            <a:spAutoFit/>
          </a:bodyPr>
          <a:lstStyle/>
          <a:p>
            <a:r>
              <a:rPr lang="en-US" altLang="zh-CN" b="1" i="1">
                <a:solidFill>
                  <a:srgbClr val="FF0000"/>
                </a:solidFill>
                <a:latin typeface="Times New Roman" pitchFamily="18" charset="0"/>
              </a:rPr>
              <a:t>P</a:t>
            </a:r>
          </a:p>
        </p:txBody>
      </p:sp>
      <p:sp>
        <p:nvSpPr>
          <p:cNvPr id="171036" name="Line 28"/>
          <p:cNvSpPr>
            <a:spLocks noChangeShapeType="1"/>
          </p:cNvSpPr>
          <p:nvPr/>
        </p:nvSpPr>
        <p:spPr bwMode="auto">
          <a:xfrm>
            <a:off x="6732588" y="4202113"/>
            <a:ext cx="0" cy="142875"/>
          </a:xfrm>
          <a:prstGeom prst="line">
            <a:avLst/>
          </a:prstGeom>
          <a:noFill/>
          <a:ln w="9525">
            <a:solidFill>
              <a:srgbClr val="FF0000"/>
            </a:solidFill>
            <a:round/>
            <a:headEnd/>
            <a:tailEnd/>
          </a:ln>
        </p:spPr>
        <p:txBody>
          <a:bodyPr/>
          <a:lstStyle/>
          <a:p>
            <a:endParaRPr lang="zh-CN" altLang="en-US"/>
          </a:p>
        </p:txBody>
      </p:sp>
      <p:sp>
        <p:nvSpPr>
          <p:cNvPr id="171037" name="Text Box 29"/>
          <p:cNvSpPr txBox="1">
            <a:spLocks noChangeArrowheads="1"/>
          </p:cNvSpPr>
          <p:nvPr/>
        </p:nvSpPr>
        <p:spPr bwMode="auto">
          <a:xfrm>
            <a:off x="6588125" y="3860800"/>
            <a:ext cx="647700" cy="366713"/>
          </a:xfrm>
          <a:prstGeom prst="rect">
            <a:avLst/>
          </a:prstGeom>
          <a:noFill/>
          <a:ln w="9525">
            <a:noFill/>
            <a:miter lim="800000"/>
            <a:headEnd/>
            <a:tailEnd/>
          </a:ln>
        </p:spPr>
        <p:txBody>
          <a:bodyPr>
            <a:spAutoFit/>
          </a:bodyPr>
          <a:lstStyle/>
          <a:p>
            <a:r>
              <a:rPr lang="en-US" altLang="zh-CN" b="1" i="1">
                <a:solidFill>
                  <a:srgbClr val="CC0066"/>
                </a:solidFill>
                <a:latin typeface="Times New Roman" pitchFamily="18" charset="0"/>
              </a:rPr>
              <a:t>P’</a:t>
            </a:r>
          </a:p>
        </p:txBody>
      </p:sp>
      <p:sp>
        <p:nvSpPr>
          <p:cNvPr id="171038" name="Line 30"/>
          <p:cNvSpPr>
            <a:spLocks noChangeShapeType="1"/>
          </p:cNvSpPr>
          <p:nvPr/>
        </p:nvSpPr>
        <p:spPr bwMode="auto">
          <a:xfrm flipH="1">
            <a:off x="5076825" y="5084763"/>
            <a:ext cx="3167063" cy="0"/>
          </a:xfrm>
          <a:prstGeom prst="line">
            <a:avLst/>
          </a:prstGeom>
          <a:noFill/>
          <a:ln w="19050">
            <a:solidFill>
              <a:srgbClr val="0000FF"/>
            </a:solidFill>
            <a:round/>
            <a:headEnd/>
            <a:tailEnd type="triangle" w="med" len="med"/>
          </a:ln>
        </p:spPr>
        <p:txBody>
          <a:bodyPr/>
          <a:lstStyle/>
          <a:p>
            <a:endParaRPr lang="zh-CN" altLang="en-US"/>
          </a:p>
        </p:txBody>
      </p:sp>
      <p:sp>
        <p:nvSpPr>
          <p:cNvPr id="171039" name="Text Box 31"/>
          <p:cNvSpPr txBox="1">
            <a:spLocks noChangeArrowheads="1"/>
          </p:cNvSpPr>
          <p:nvPr/>
        </p:nvSpPr>
        <p:spPr bwMode="auto">
          <a:xfrm>
            <a:off x="4787900" y="4916488"/>
            <a:ext cx="452438" cy="457200"/>
          </a:xfrm>
          <a:prstGeom prst="rect">
            <a:avLst/>
          </a:prstGeom>
          <a:noFill/>
          <a:ln w="9525">
            <a:noFill/>
            <a:miter lim="800000"/>
            <a:headEnd/>
            <a:tailEnd/>
          </a:ln>
        </p:spPr>
        <p:txBody>
          <a:bodyPr>
            <a:spAutoFit/>
          </a:bodyPr>
          <a:lstStyle/>
          <a:p>
            <a:r>
              <a:rPr lang="en-US" altLang="zh-CN" sz="2400" b="1" i="1">
                <a:solidFill>
                  <a:srgbClr val="0000FF"/>
                </a:solidFill>
                <a:latin typeface="Times New Roman" pitchFamily="18" charset="0"/>
              </a:rPr>
              <a:t>v</a:t>
            </a:r>
          </a:p>
        </p:txBody>
      </p:sp>
      <p:sp>
        <p:nvSpPr>
          <p:cNvPr id="171040" name="Line 32"/>
          <p:cNvSpPr>
            <a:spLocks noChangeShapeType="1"/>
          </p:cNvSpPr>
          <p:nvPr/>
        </p:nvSpPr>
        <p:spPr bwMode="auto">
          <a:xfrm>
            <a:off x="5724525" y="5013325"/>
            <a:ext cx="0" cy="142875"/>
          </a:xfrm>
          <a:prstGeom prst="line">
            <a:avLst/>
          </a:prstGeom>
          <a:noFill/>
          <a:ln w="9525">
            <a:solidFill>
              <a:srgbClr val="0000FF"/>
            </a:solidFill>
            <a:round/>
            <a:headEnd/>
            <a:tailEnd/>
          </a:ln>
        </p:spPr>
        <p:txBody>
          <a:bodyPr/>
          <a:lstStyle/>
          <a:p>
            <a:endParaRPr lang="zh-CN" altLang="en-US"/>
          </a:p>
        </p:txBody>
      </p:sp>
      <p:sp>
        <p:nvSpPr>
          <p:cNvPr id="171041" name="Line 33"/>
          <p:cNvSpPr>
            <a:spLocks noChangeShapeType="1"/>
          </p:cNvSpPr>
          <p:nvPr/>
        </p:nvSpPr>
        <p:spPr bwMode="auto">
          <a:xfrm>
            <a:off x="6732588" y="5019675"/>
            <a:ext cx="0" cy="142875"/>
          </a:xfrm>
          <a:prstGeom prst="line">
            <a:avLst/>
          </a:prstGeom>
          <a:noFill/>
          <a:ln w="9525">
            <a:solidFill>
              <a:srgbClr val="0000FF"/>
            </a:solidFill>
            <a:round/>
            <a:headEnd/>
            <a:tailEnd/>
          </a:ln>
        </p:spPr>
        <p:txBody>
          <a:bodyPr/>
          <a:lstStyle/>
          <a:p>
            <a:endParaRPr lang="zh-CN" altLang="en-US"/>
          </a:p>
        </p:txBody>
      </p:sp>
      <p:sp>
        <p:nvSpPr>
          <p:cNvPr id="171042" name="Text Box 34"/>
          <p:cNvSpPr txBox="1">
            <a:spLocks noChangeArrowheads="1"/>
          </p:cNvSpPr>
          <p:nvPr/>
        </p:nvSpPr>
        <p:spPr bwMode="auto">
          <a:xfrm>
            <a:off x="5508625" y="5149850"/>
            <a:ext cx="647700" cy="366713"/>
          </a:xfrm>
          <a:prstGeom prst="rect">
            <a:avLst/>
          </a:prstGeom>
          <a:noFill/>
          <a:ln w="9525">
            <a:noFill/>
            <a:miter lim="800000"/>
            <a:headEnd/>
            <a:tailEnd/>
          </a:ln>
        </p:spPr>
        <p:txBody>
          <a:bodyPr>
            <a:spAutoFit/>
          </a:bodyPr>
          <a:lstStyle/>
          <a:p>
            <a:r>
              <a:rPr lang="en-US" altLang="zh-CN" b="1">
                <a:solidFill>
                  <a:srgbClr val="0000FF"/>
                </a:solidFill>
                <a:latin typeface="Times New Roman" pitchFamily="18" charset="0"/>
              </a:rPr>
              <a:t>+∞</a:t>
            </a:r>
          </a:p>
        </p:txBody>
      </p:sp>
      <p:sp>
        <p:nvSpPr>
          <p:cNvPr id="171043" name="Text Box 35"/>
          <p:cNvSpPr txBox="1">
            <a:spLocks noChangeArrowheads="1"/>
          </p:cNvSpPr>
          <p:nvPr/>
        </p:nvSpPr>
        <p:spPr bwMode="auto">
          <a:xfrm>
            <a:off x="6588125" y="5084763"/>
            <a:ext cx="647700" cy="366712"/>
          </a:xfrm>
          <a:prstGeom prst="rect">
            <a:avLst/>
          </a:prstGeom>
          <a:noFill/>
          <a:ln w="9525">
            <a:noFill/>
            <a:miter lim="800000"/>
            <a:headEnd/>
            <a:tailEnd/>
          </a:ln>
        </p:spPr>
        <p:txBody>
          <a:bodyPr>
            <a:spAutoFit/>
          </a:bodyPr>
          <a:lstStyle/>
          <a:p>
            <a:r>
              <a:rPr lang="en-US" altLang="zh-CN" b="1" i="1">
                <a:solidFill>
                  <a:schemeClr val="accent2"/>
                </a:solidFill>
                <a:latin typeface="Times New Roman" pitchFamily="18" charset="0"/>
              </a:rPr>
              <a:t>v</a:t>
            </a:r>
          </a:p>
        </p:txBody>
      </p:sp>
      <p:sp>
        <p:nvSpPr>
          <p:cNvPr id="171044" name="Text Box 36"/>
          <p:cNvSpPr txBox="1">
            <a:spLocks noChangeArrowheads="1"/>
          </p:cNvSpPr>
          <p:nvPr/>
        </p:nvSpPr>
        <p:spPr bwMode="auto">
          <a:xfrm>
            <a:off x="592138" y="3213100"/>
            <a:ext cx="3116262" cy="457200"/>
          </a:xfrm>
          <a:prstGeom prst="rect">
            <a:avLst/>
          </a:prstGeom>
          <a:noFill/>
          <a:ln w="9525">
            <a:noFill/>
            <a:miter lim="800000"/>
            <a:headEnd/>
            <a:tailEnd/>
          </a:ln>
        </p:spPr>
        <p:txBody>
          <a:bodyPr>
            <a:spAutoFit/>
          </a:bodyPr>
          <a:lstStyle/>
          <a:p>
            <a:r>
              <a:rPr lang="zh-CN" altLang="en-US" sz="2400" b="1">
                <a:latin typeface="Times New Roman" pitchFamily="18" charset="0"/>
              </a:rPr>
              <a:t>测定 </a:t>
            </a:r>
            <a:r>
              <a:rPr lang="en-US" altLang="zh-CN" sz="2400" b="1">
                <a:latin typeface="Times New Roman" pitchFamily="18" charset="0"/>
              </a:rPr>
              <a:t>Bi </a:t>
            </a:r>
            <a:r>
              <a:rPr lang="zh-CN" altLang="en-US" sz="2400" b="1">
                <a:latin typeface="Times New Roman" pitchFamily="18" charset="0"/>
              </a:rPr>
              <a:t>膜厚度分布</a:t>
            </a:r>
          </a:p>
        </p:txBody>
      </p:sp>
      <p:sp>
        <p:nvSpPr>
          <p:cNvPr id="171045" name="Text Box 37"/>
          <p:cNvSpPr txBox="1">
            <a:spLocks noChangeArrowheads="1"/>
          </p:cNvSpPr>
          <p:nvPr/>
        </p:nvSpPr>
        <p:spPr bwMode="auto">
          <a:xfrm>
            <a:off x="1168400" y="4318000"/>
            <a:ext cx="2466975" cy="457200"/>
          </a:xfrm>
          <a:prstGeom prst="rect">
            <a:avLst/>
          </a:prstGeom>
          <a:noFill/>
          <a:ln w="9525">
            <a:noFill/>
            <a:miter lim="800000"/>
            <a:headEnd/>
            <a:tailEnd/>
          </a:ln>
        </p:spPr>
        <p:txBody>
          <a:bodyPr>
            <a:spAutoFit/>
          </a:bodyPr>
          <a:lstStyle/>
          <a:p>
            <a:r>
              <a:rPr lang="zh-CN" altLang="en-US" sz="2400" b="1">
                <a:latin typeface="Times New Roman" pitchFamily="18" charset="0"/>
              </a:rPr>
              <a:t>速率分布</a:t>
            </a:r>
          </a:p>
        </p:txBody>
      </p:sp>
      <p:sp>
        <p:nvSpPr>
          <p:cNvPr id="171046" name="AutoShape 38"/>
          <p:cNvSpPr>
            <a:spLocks noChangeArrowheads="1"/>
          </p:cNvSpPr>
          <p:nvPr/>
        </p:nvSpPr>
        <p:spPr bwMode="auto">
          <a:xfrm>
            <a:off x="1619250" y="3813175"/>
            <a:ext cx="288925" cy="433388"/>
          </a:xfrm>
          <a:prstGeom prst="downArrow">
            <a:avLst>
              <a:gd name="adj1" fmla="val 50000"/>
              <a:gd name="adj2" fmla="val 37500"/>
            </a:avLst>
          </a:prstGeom>
          <a:solidFill>
            <a:schemeClr val="accent1"/>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1028"/>
                                        </p:tgtEl>
                                        <p:attrNameLst>
                                          <p:attrName>style.visibility</p:attrName>
                                        </p:attrNameLst>
                                      </p:cBhvr>
                                      <p:to>
                                        <p:strVal val="visible"/>
                                      </p:to>
                                    </p:set>
                                    <p:animEffect transition="in" filter="wipe(left)">
                                      <p:cBhvr>
                                        <p:cTn id="7" dur="500"/>
                                        <p:tgtEl>
                                          <p:spTgt spid="171028"/>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71010"/>
                                        </p:tgtEl>
                                        <p:attrNameLst>
                                          <p:attrName>style.visibility</p:attrName>
                                        </p:attrNameLst>
                                      </p:cBhvr>
                                      <p:to>
                                        <p:strVal val="visible"/>
                                      </p:to>
                                    </p:set>
                                    <p:animEffect transition="in" filter="box(out)">
                                      <p:cBhvr>
                                        <p:cTn id="11" dur="500"/>
                                        <p:tgtEl>
                                          <p:spTgt spid="171010"/>
                                        </p:tgtEl>
                                      </p:cBhvr>
                                    </p:animEffect>
                                  </p:childTnLst>
                                </p:cTn>
                              </p:par>
                              <p:par>
                                <p:cTn id="12" presetID="4" presetClass="entr" presetSubtype="32" fill="hold" grpId="0" nodeType="withEffect">
                                  <p:stCondLst>
                                    <p:cond delay="0"/>
                                  </p:stCondLst>
                                  <p:childTnLst>
                                    <p:set>
                                      <p:cBhvr>
                                        <p:cTn id="13" dur="1" fill="hold">
                                          <p:stCondLst>
                                            <p:cond delay="0"/>
                                          </p:stCondLst>
                                        </p:cTn>
                                        <p:tgtEl>
                                          <p:spTgt spid="171011"/>
                                        </p:tgtEl>
                                        <p:attrNameLst>
                                          <p:attrName>style.visibility</p:attrName>
                                        </p:attrNameLst>
                                      </p:cBhvr>
                                      <p:to>
                                        <p:strVal val="visible"/>
                                      </p:to>
                                    </p:set>
                                    <p:animEffect transition="in" filter="box(out)">
                                      <p:cBhvr>
                                        <p:cTn id="14" dur="500"/>
                                        <p:tgtEl>
                                          <p:spTgt spid="171011"/>
                                        </p:tgtEl>
                                      </p:cBhvr>
                                    </p:animEffect>
                                  </p:childTnLst>
                                </p:cTn>
                              </p:par>
                              <p:par>
                                <p:cTn id="15" presetID="4" presetClass="entr" presetSubtype="32" fill="hold" grpId="0" nodeType="withEffect">
                                  <p:stCondLst>
                                    <p:cond delay="0"/>
                                  </p:stCondLst>
                                  <p:childTnLst>
                                    <p:set>
                                      <p:cBhvr>
                                        <p:cTn id="16" dur="1" fill="hold">
                                          <p:stCondLst>
                                            <p:cond delay="0"/>
                                          </p:stCondLst>
                                        </p:cTn>
                                        <p:tgtEl>
                                          <p:spTgt spid="171012"/>
                                        </p:tgtEl>
                                        <p:attrNameLst>
                                          <p:attrName>style.visibility</p:attrName>
                                        </p:attrNameLst>
                                      </p:cBhvr>
                                      <p:to>
                                        <p:strVal val="visible"/>
                                      </p:to>
                                    </p:set>
                                    <p:animEffect transition="in" filter="box(out)">
                                      <p:cBhvr>
                                        <p:cTn id="17" dur="500"/>
                                        <p:tgtEl>
                                          <p:spTgt spid="171012"/>
                                        </p:tgtEl>
                                      </p:cBhvr>
                                    </p:animEffect>
                                  </p:childTnLst>
                                </p:cTn>
                              </p:par>
                              <p:par>
                                <p:cTn id="18" presetID="4" presetClass="entr" presetSubtype="32" fill="hold" grpId="0" nodeType="withEffect">
                                  <p:stCondLst>
                                    <p:cond delay="0"/>
                                  </p:stCondLst>
                                  <p:childTnLst>
                                    <p:set>
                                      <p:cBhvr>
                                        <p:cTn id="19" dur="1" fill="hold">
                                          <p:stCondLst>
                                            <p:cond delay="0"/>
                                          </p:stCondLst>
                                        </p:cTn>
                                        <p:tgtEl>
                                          <p:spTgt spid="171013"/>
                                        </p:tgtEl>
                                        <p:attrNameLst>
                                          <p:attrName>style.visibility</p:attrName>
                                        </p:attrNameLst>
                                      </p:cBhvr>
                                      <p:to>
                                        <p:strVal val="visible"/>
                                      </p:to>
                                    </p:set>
                                    <p:animEffect transition="in" filter="box(out)">
                                      <p:cBhvr>
                                        <p:cTn id="20" dur="500"/>
                                        <p:tgtEl>
                                          <p:spTgt spid="171013"/>
                                        </p:tgtEl>
                                      </p:cBhvr>
                                    </p:animEffect>
                                  </p:childTnLst>
                                </p:cTn>
                              </p:par>
                              <p:par>
                                <p:cTn id="21" presetID="4" presetClass="entr" presetSubtype="32" fill="hold" grpId="0" nodeType="withEffect">
                                  <p:stCondLst>
                                    <p:cond delay="0"/>
                                  </p:stCondLst>
                                  <p:childTnLst>
                                    <p:set>
                                      <p:cBhvr>
                                        <p:cTn id="22" dur="1" fill="hold">
                                          <p:stCondLst>
                                            <p:cond delay="0"/>
                                          </p:stCondLst>
                                        </p:cTn>
                                        <p:tgtEl>
                                          <p:spTgt spid="171014"/>
                                        </p:tgtEl>
                                        <p:attrNameLst>
                                          <p:attrName>style.visibility</p:attrName>
                                        </p:attrNameLst>
                                      </p:cBhvr>
                                      <p:to>
                                        <p:strVal val="visible"/>
                                      </p:to>
                                    </p:set>
                                    <p:animEffect transition="in" filter="box(out)">
                                      <p:cBhvr>
                                        <p:cTn id="23" dur="500"/>
                                        <p:tgtEl>
                                          <p:spTgt spid="171014"/>
                                        </p:tgtEl>
                                      </p:cBhvr>
                                    </p:animEffect>
                                  </p:childTnLst>
                                </p:cTn>
                              </p:par>
                              <p:par>
                                <p:cTn id="24" presetID="4" presetClass="entr" presetSubtype="32" fill="hold" grpId="0" nodeType="withEffect">
                                  <p:stCondLst>
                                    <p:cond delay="0"/>
                                  </p:stCondLst>
                                  <p:childTnLst>
                                    <p:set>
                                      <p:cBhvr>
                                        <p:cTn id="25" dur="1" fill="hold">
                                          <p:stCondLst>
                                            <p:cond delay="0"/>
                                          </p:stCondLst>
                                        </p:cTn>
                                        <p:tgtEl>
                                          <p:spTgt spid="171015"/>
                                        </p:tgtEl>
                                        <p:attrNameLst>
                                          <p:attrName>style.visibility</p:attrName>
                                        </p:attrNameLst>
                                      </p:cBhvr>
                                      <p:to>
                                        <p:strVal val="visible"/>
                                      </p:to>
                                    </p:set>
                                    <p:animEffect transition="in" filter="box(out)">
                                      <p:cBhvr>
                                        <p:cTn id="26" dur="500"/>
                                        <p:tgtEl>
                                          <p:spTgt spid="171015"/>
                                        </p:tgtEl>
                                      </p:cBhvr>
                                    </p:animEffect>
                                  </p:childTnLst>
                                </p:cTn>
                              </p:par>
                              <p:par>
                                <p:cTn id="27" presetID="4" presetClass="entr" presetSubtype="32" fill="hold" grpId="0" nodeType="withEffect">
                                  <p:stCondLst>
                                    <p:cond delay="0"/>
                                  </p:stCondLst>
                                  <p:childTnLst>
                                    <p:set>
                                      <p:cBhvr>
                                        <p:cTn id="28" dur="1" fill="hold">
                                          <p:stCondLst>
                                            <p:cond delay="0"/>
                                          </p:stCondLst>
                                        </p:cTn>
                                        <p:tgtEl>
                                          <p:spTgt spid="171016"/>
                                        </p:tgtEl>
                                        <p:attrNameLst>
                                          <p:attrName>style.visibility</p:attrName>
                                        </p:attrNameLst>
                                      </p:cBhvr>
                                      <p:to>
                                        <p:strVal val="visible"/>
                                      </p:to>
                                    </p:set>
                                    <p:animEffect transition="in" filter="box(out)">
                                      <p:cBhvr>
                                        <p:cTn id="29" dur="500"/>
                                        <p:tgtEl>
                                          <p:spTgt spid="171016"/>
                                        </p:tgtEl>
                                      </p:cBhvr>
                                    </p:animEffect>
                                  </p:childTnLst>
                                </p:cTn>
                              </p:par>
                              <p:par>
                                <p:cTn id="30" presetID="4" presetClass="entr" presetSubtype="32" fill="hold" grpId="0" nodeType="withEffect">
                                  <p:stCondLst>
                                    <p:cond delay="0"/>
                                  </p:stCondLst>
                                  <p:childTnLst>
                                    <p:set>
                                      <p:cBhvr>
                                        <p:cTn id="31" dur="1" fill="hold">
                                          <p:stCondLst>
                                            <p:cond delay="0"/>
                                          </p:stCondLst>
                                        </p:cTn>
                                        <p:tgtEl>
                                          <p:spTgt spid="171017"/>
                                        </p:tgtEl>
                                        <p:attrNameLst>
                                          <p:attrName>style.visibility</p:attrName>
                                        </p:attrNameLst>
                                      </p:cBhvr>
                                      <p:to>
                                        <p:strVal val="visible"/>
                                      </p:to>
                                    </p:set>
                                    <p:animEffect transition="in" filter="box(out)">
                                      <p:cBhvr>
                                        <p:cTn id="32" dur="500"/>
                                        <p:tgtEl>
                                          <p:spTgt spid="171017"/>
                                        </p:tgtEl>
                                      </p:cBhvr>
                                    </p:animEffect>
                                  </p:childTnLst>
                                </p:cTn>
                              </p:par>
                              <p:par>
                                <p:cTn id="33" presetID="4" presetClass="entr" presetSubtype="32" fill="hold" grpId="0" nodeType="withEffect">
                                  <p:stCondLst>
                                    <p:cond delay="0"/>
                                  </p:stCondLst>
                                  <p:childTnLst>
                                    <p:set>
                                      <p:cBhvr>
                                        <p:cTn id="34" dur="1" fill="hold">
                                          <p:stCondLst>
                                            <p:cond delay="0"/>
                                          </p:stCondLst>
                                        </p:cTn>
                                        <p:tgtEl>
                                          <p:spTgt spid="171018"/>
                                        </p:tgtEl>
                                        <p:attrNameLst>
                                          <p:attrName>style.visibility</p:attrName>
                                        </p:attrNameLst>
                                      </p:cBhvr>
                                      <p:to>
                                        <p:strVal val="visible"/>
                                      </p:to>
                                    </p:set>
                                    <p:animEffect transition="in" filter="box(out)">
                                      <p:cBhvr>
                                        <p:cTn id="35" dur="500"/>
                                        <p:tgtEl>
                                          <p:spTgt spid="171018"/>
                                        </p:tgtEl>
                                      </p:cBhvr>
                                    </p:animEffect>
                                  </p:childTnLst>
                                </p:cTn>
                              </p:par>
                              <p:par>
                                <p:cTn id="36" presetID="4" presetClass="entr" presetSubtype="32" fill="hold" grpId="0" nodeType="withEffect">
                                  <p:stCondLst>
                                    <p:cond delay="0"/>
                                  </p:stCondLst>
                                  <p:childTnLst>
                                    <p:set>
                                      <p:cBhvr>
                                        <p:cTn id="37" dur="1" fill="hold">
                                          <p:stCondLst>
                                            <p:cond delay="0"/>
                                          </p:stCondLst>
                                        </p:cTn>
                                        <p:tgtEl>
                                          <p:spTgt spid="171019"/>
                                        </p:tgtEl>
                                        <p:attrNameLst>
                                          <p:attrName>style.visibility</p:attrName>
                                        </p:attrNameLst>
                                      </p:cBhvr>
                                      <p:to>
                                        <p:strVal val="visible"/>
                                      </p:to>
                                    </p:set>
                                    <p:animEffect transition="in" filter="box(out)">
                                      <p:cBhvr>
                                        <p:cTn id="38" dur="500"/>
                                        <p:tgtEl>
                                          <p:spTgt spid="171019"/>
                                        </p:tgtEl>
                                      </p:cBhvr>
                                    </p:animEffect>
                                  </p:childTnLst>
                                </p:cTn>
                              </p:par>
                              <p:par>
                                <p:cTn id="39" presetID="4" presetClass="entr" presetSubtype="32" fill="hold" grpId="0" nodeType="withEffect">
                                  <p:stCondLst>
                                    <p:cond delay="0"/>
                                  </p:stCondLst>
                                  <p:childTnLst>
                                    <p:set>
                                      <p:cBhvr>
                                        <p:cTn id="40" dur="1" fill="hold">
                                          <p:stCondLst>
                                            <p:cond delay="0"/>
                                          </p:stCondLst>
                                        </p:cTn>
                                        <p:tgtEl>
                                          <p:spTgt spid="171020"/>
                                        </p:tgtEl>
                                        <p:attrNameLst>
                                          <p:attrName>style.visibility</p:attrName>
                                        </p:attrNameLst>
                                      </p:cBhvr>
                                      <p:to>
                                        <p:strVal val="visible"/>
                                      </p:to>
                                    </p:set>
                                    <p:animEffect transition="in" filter="box(out)">
                                      <p:cBhvr>
                                        <p:cTn id="41" dur="500"/>
                                        <p:tgtEl>
                                          <p:spTgt spid="171020"/>
                                        </p:tgtEl>
                                      </p:cBhvr>
                                    </p:animEffect>
                                  </p:childTnLst>
                                </p:cTn>
                              </p:par>
                              <p:par>
                                <p:cTn id="42" presetID="4" presetClass="entr" presetSubtype="32" fill="hold" grpId="0" nodeType="withEffect">
                                  <p:stCondLst>
                                    <p:cond delay="0"/>
                                  </p:stCondLst>
                                  <p:childTnLst>
                                    <p:set>
                                      <p:cBhvr>
                                        <p:cTn id="43" dur="1" fill="hold">
                                          <p:stCondLst>
                                            <p:cond delay="0"/>
                                          </p:stCondLst>
                                        </p:cTn>
                                        <p:tgtEl>
                                          <p:spTgt spid="171021"/>
                                        </p:tgtEl>
                                        <p:attrNameLst>
                                          <p:attrName>style.visibility</p:attrName>
                                        </p:attrNameLst>
                                      </p:cBhvr>
                                      <p:to>
                                        <p:strVal val="visible"/>
                                      </p:to>
                                    </p:set>
                                    <p:animEffect transition="in" filter="box(out)">
                                      <p:cBhvr>
                                        <p:cTn id="44" dur="500"/>
                                        <p:tgtEl>
                                          <p:spTgt spid="171021"/>
                                        </p:tgtEl>
                                      </p:cBhvr>
                                    </p:animEffect>
                                  </p:childTnLst>
                                </p:cTn>
                              </p:par>
                              <p:par>
                                <p:cTn id="45" presetID="4" presetClass="entr" presetSubtype="32" fill="hold" grpId="0" nodeType="withEffect">
                                  <p:stCondLst>
                                    <p:cond delay="0"/>
                                  </p:stCondLst>
                                  <p:childTnLst>
                                    <p:set>
                                      <p:cBhvr>
                                        <p:cTn id="46" dur="1" fill="hold">
                                          <p:stCondLst>
                                            <p:cond delay="0"/>
                                          </p:stCondLst>
                                        </p:cTn>
                                        <p:tgtEl>
                                          <p:spTgt spid="171022"/>
                                        </p:tgtEl>
                                        <p:attrNameLst>
                                          <p:attrName>style.visibility</p:attrName>
                                        </p:attrNameLst>
                                      </p:cBhvr>
                                      <p:to>
                                        <p:strVal val="visible"/>
                                      </p:to>
                                    </p:set>
                                    <p:animEffect transition="in" filter="box(out)">
                                      <p:cBhvr>
                                        <p:cTn id="47" dur="500"/>
                                        <p:tgtEl>
                                          <p:spTgt spid="171022"/>
                                        </p:tgtEl>
                                      </p:cBhvr>
                                    </p:animEffect>
                                  </p:childTnLst>
                                </p:cTn>
                              </p:par>
                              <p:par>
                                <p:cTn id="48" presetID="4" presetClass="entr" presetSubtype="32" fill="hold" grpId="0" nodeType="withEffect">
                                  <p:stCondLst>
                                    <p:cond delay="0"/>
                                  </p:stCondLst>
                                  <p:childTnLst>
                                    <p:set>
                                      <p:cBhvr>
                                        <p:cTn id="49" dur="1" fill="hold">
                                          <p:stCondLst>
                                            <p:cond delay="0"/>
                                          </p:stCondLst>
                                        </p:cTn>
                                        <p:tgtEl>
                                          <p:spTgt spid="171023"/>
                                        </p:tgtEl>
                                        <p:attrNameLst>
                                          <p:attrName>style.visibility</p:attrName>
                                        </p:attrNameLst>
                                      </p:cBhvr>
                                      <p:to>
                                        <p:strVal val="visible"/>
                                      </p:to>
                                    </p:set>
                                    <p:animEffect transition="in" filter="box(out)">
                                      <p:cBhvr>
                                        <p:cTn id="50" dur="500"/>
                                        <p:tgtEl>
                                          <p:spTgt spid="171023"/>
                                        </p:tgtEl>
                                      </p:cBhvr>
                                    </p:animEffect>
                                  </p:childTnLst>
                                </p:cTn>
                              </p:par>
                              <p:par>
                                <p:cTn id="51" presetID="4" presetClass="entr" presetSubtype="32" fill="hold" grpId="0" nodeType="withEffect">
                                  <p:stCondLst>
                                    <p:cond delay="0"/>
                                  </p:stCondLst>
                                  <p:childTnLst>
                                    <p:set>
                                      <p:cBhvr>
                                        <p:cTn id="52" dur="1" fill="hold">
                                          <p:stCondLst>
                                            <p:cond delay="0"/>
                                          </p:stCondLst>
                                        </p:cTn>
                                        <p:tgtEl>
                                          <p:spTgt spid="171024"/>
                                        </p:tgtEl>
                                        <p:attrNameLst>
                                          <p:attrName>style.visibility</p:attrName>
                                        </p:attrNameLst>
                                      </p:cBhvr>
                                      <p:to>
                                        <p:strVal val="visible"/>
                                      </p:to>
                                    </p:set>
                                    <p:animEffect transition="in" filter="box(out)">
                                      <p:cBhvr>
                                        <p:cTn id="53" dur="500"/>
                                        <p:tgtEl>
                                          <p:spTgt spid="17102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1029"/>
                                        </p:tgtEl>
                                        <p:attrNameLst>
                                          <p:attrName>style.visibility</p:attrName>
                                        </p:attrNameLst>
                                      </p:cBhvr>
                                      <p:to>
                                        <p:strVal val="visible"/>
                                      </p:to>
                                    </p:set>
                                    <p:animEffect transition="in" filter="wipe(left)">
                                      <p:cBhvr>
                                        <p:cTn id="58" dur="500"/>
                                        <p:tgtEl>
                                          <p:spTgt spid="171029"/>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71031"/>
                                        </p:tgtEl>
                                        <p:attrNameLst>
                                          <p:attrName>style.visibility</p:attrName>
                                        </p:attrNameLst>
                                      </p:cBhvr>
                                      <p:to>
                                        <p:strVal val="visible"/>
                                      </p:to>
                                    </p:set>
                                    <p:animEffect transition="in" filter="wipe(left)">
                                      <p:cBhvr>
                                        <p:cTn id="62" dur="500"/>
                                        <p:tgtEl>
                                          <p:spTgt spid="171031"/>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171030"/>
                                        </p:tgtEl>
                                        <p:attrNameLst>
                                          <p:attrName>style.visibility</p:attrName>
                                        </p:attrNameLst>
                                      </p:cBhvr>
                                      <p:to>
                                        <p:strVal val="visible"/>
                                      </p:to>
                                    </p:set>
                                    <p:animEffect transition="in" filter="wipe(left)">
                                      <p:cBhvr>
                                        <p:cTn id="66" dur="500"/>
                                        <p:tgtEl>
                                          <p:spTgt spid="17103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171025"/>
                                        </p:tgtEl>
                                        <p:attrNameLst>
                                          <p:attrName>style.visibility</p:attrName>
                                        </p:attrNameLst>
                                      </p:cBhvr>
                                      <p:to>
                                        <p:strVal val="visible"/>
                                      </p:to>
                                    </p:set>
                                    <p:animEffect transition="in" filter="wipe(up)">
                                      <p:cBhvr>
                                        <p:cTn id="71" dur="500"/>
                                        <p:tgtEl>
                                          <p:spTgt spid="17102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1026"/>
                                        </p:tgtEl>
                                        <p:attrNameLst>
                                          <p:attrName>style.visibility</p:attrName>
                                        </p:attrNameLst>
                                      </p:cBhvr>
                                      <p:to>
                                        <p:strVal val="visible"/>
                                      </p:to>
                                    </p:set>
                                    <p:animEffect transition="in" filter="wipe(left)">
                                      <p:cBhvr>
                                        <p:cTn id="76" dur="500"/>
                                        <p:tgtEl>
                                          <p:spTgt spid="17102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71027"/>
                                        </p:tgtEl>
                                        <p:attrNameLst>
                                          <p:attrName>style.visibility</p:attrName>
                                        </p:attrNameLst>
                                      </p:cBhvr>
                                      <p:to>
                                        <p:strVal val="visible"/>
                                      </p:to>
                                    </p:set>
                                    <p:animEffect transition="in" filter="wipe(left)">
                                      <p:cBhvr>
                                        <p:cTn id="81" dur="500"/>
                                        <p:tgtEl>
                                          <p:spTgt spid="17102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71032"/>
                                        </p:tgtEl>
                                        <p:attrNameLst>
                                          <p:attrName>style.visibility</p:attrName>
                                        </p:attrNameLst>
                                      </p:cBhvr>
                                      <p:to>
                                        <p:strVal val="visible"/>
                                      </p:to>
                                    </p:set>
                                    <p:animEffect transition="in" filter="wipe(left)">
                                      <p:cBhvr>
                                        <p:cTn id="86" dur="500"/>
                                        <p:tgtEl>
                                          <p:spTgt spid="171032"/>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171034"/>
                                        </p:tgtEl>
                                        <p:attrNameLst>
                                          <p:attrName>style.visibility</p:attrName>
                                        </p:attrNameLst>
                                      </p:cBhvr>
                                      <p:to>
                                        <p:strVal val="visible"/>
                                      </p:to>
                                    </p:set>
                                    <p:animEffect transition="in" filter="wipe(left)">
                                      <p:cBhvr>
                                        <p:cTn id="90" dur="500"/>
                                        <p:tgtEl>
                                          <p:spTgt spid="1710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71033"/>
                                        </p:tgtEl>
                                        <p:attrNameLst>
                                          <p:attrName>style.visibility</p:attrName>
                                        </p:attrNameLst>
                                      </p:cBhvr>
                                      <p:to>
                                        <p:strVal val="visible"/>
                                      </p:to>
                                    </p:set>
                                    <p:animEffect transition="in" filter="wipe(up)">
                                      <p:cBhvr>
                                        <p:cTn id="95" dur="500"/>
                                        <p:tgtEl>
                                          <p:spTgt spid="171033"/>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171035"/>
                                        </p:tgtEl>
                                        <p:attrNameLst>
                                          <p:attrName>style.visibility</p:attrName>
                                        </p:attrNameLst>
                                      </p:cBhvr>
                                      <p:to>
                                        <p:strVal val="visible"/>
                                      </p:to>
                                    </p:set>
                                    <p:animEffect transition="in" filter="wipe(up)">
                                      <p:cBhvr>
                                        <p:cTn id="98" dur="500"/>
                                        <p:tgtEl>
                                          <p:spTgt spid="17103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171038"/>
                                        </p:tgtEl>
                                        <p:attrNameLst>
                                          <p:attrName>style.visibility</p:attrName>
                                        </p:attrNameLst>
                                      </p:cBhvr>
                                      <p:to>
                                        <p:strVal val="visible"/>
                                      </p:to>
                                    </p:set>
                                    <p:animEffect transition="in" filter="wipe(right)">
                                      <p:cBhvr>
                                        <p:cTn id="103" dur="500"/>
                                        <p:tgtEl>
                                          <p:spTgt spid="171038"/>
                                        </p:tgtEl>
                                      </p:cBhvr>
                                    </p:animEffect>
                                  </p:childTnLst>
                                </p:cTn>
                              </p:par>
                              <p:par>
                                <p:cTn id="104" presetID="22" presetClass="entr" presetSubtype="1" fill="hold" grpId="0" nodeType="withEffect">
                                  <p:stCondLst>
                                    <p:cond delay="0"/>
                                  </p:stCondLst>
                                  <p:childTnLst>
                                    <p:set>
                                      <p:cBhvr>
                                        <p:cTn id="105" dur="1" fill="hold">
                                          <p:stCondLst>
                                            <p:cond delay="0"/>
                                          </p:stCondLst>
                                        </p:cTn>
                                        <p:tgtEl>
                                          <p:spTgt spid="171039"/>
                                        </p:tgtEl>
                                        <p:attrNameLst>
                                          <p:attrName>style.visibility</p:attrName>
                                        </p:attrNameLst>
                                      </p:cBhvr>
                                      <p:to>
                                        <p:strVal val="visible"/>
                                      </p:to>
                                    </p:set>
                                    <p:animEffect transition="in" filter="wipe(up)">
                                      <p:cBhvr>
                                        <p:cTn id="106" dur="500"/>
                                        <p:tgtEl>
                                          <p:spTgt spid="171039"/>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171040"/>
                                        </p:tgtEl>
                                        <p:attrNameLst>
                                          <p:attrName>style.visibility</p:attrName>
                                        </p:attrNameLst>
                                      </p:cBhvr>
                                      <p:to>
                                        <p:strVal val="visible"/>
                                      </p:to>
                                    </p:set>
                                    <p:animEffect transition="in" filter="wipe(up)">
                                      <p:cBhvr>
                                        <p:cTn id="111" dur="500"/>
                                        <p:tgtEl>
                                          <p:spTgt spid="171040"/>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171042"/>
                                        </p:tgtEl>
                                        <p:attrNameLst>
                                          <p:attrName>style.visibility</p:attrName>
                                        </p:attrNameLst>
                                      </p:cBhvr>
                                      <p:to>
                                        <p:strVal val="visible"/>
                                      </p:to>
                                    </p:set>
                                    <p:animEffect transition="in" filter="wipe(up)">
                                      <p:cBhvr>
                                        <p:cTn id="114" dur="500"/>
                                        <p:tgtEl>
                                          <p:spTgt spid="17104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171036"/>
                                        </p:tgtEl>
                                        <p:attrNameLst>
                                          <p:attrName>style.visibility</p:attrName>
                                        </p:attrNameLst>
                                      </p:cBhvr>
                                      <p:to>
                                        <p:strVal val="visible"/>
                                      </p:to>
                                    </p:set>
                                    <p:animEffect transition="in" filter="wipe(up)">
                                      <p:cBhvr>
                                        <p:cTn id="119" dur="500"/>
                                        <p:tgtEl>
                                          <p:spTgt spid="171036"/>
                                        </p:tgtEl>
                                      </p:cBhvr>
                                    </p:animEffect>
                                  </p:childTnLst>
                                </p:cTn>
                              </p:par>
                              <p:par>
                                <p:cTn id="120" presetID="22" presetClass="entr" presetSubtype="1" fill="hold" grpId="0" nodeType="withEffect">
                                  <p:stCondLst>
                                    <p:cond delay="0"/>
                                  </p:stCondLst>
                                  <p:childTnLst>
                                    <p:set>
                                      <p:cBhvr>
                                        <p:cTn id="121" dur="1" fill="hold">
                                          <p:stCondLst>
                                            <p:cond delay="0"/>
                                          </p:stCondLst>
                                        </p:cTn>
                                        <p:tgtEl>
                                          <p:spTgt spid="171037"/>
                                        </p:tgtEl>
                                        <p:attrNameLst>
                                          <p:attrName>style.visibility</p:attrName>
                                        </p:attrNameLst>
                                      </p:cBhvr>
                                      <p:to>
                                        <p:strVal val="visible"/>
                                      </p:to>
                                    </p:set>
                                    <p:animEffect transition="in" filter="wipe(up)">
                                      <p:cBhvr>
                                        <p:cTn id="122" dur="500"/>
                                        <p:tgtEl>
                                          <p:spTgt spid="17103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171041"/>
                                        </p:tgtEl>
                                        <p:attrNameLst>
                                          <p:attrName>style.visibility</p:attrName>
                                        </p:attrNameLst>
                                      </p:cBhvr>
                                      <p:to>
                                        <p:strVal val="visible"/>
                                      </p:to>
                                    </p:set>
                                    <p:animEffect transition="in" filter="wipe(up)">
                                      <p:cBhvr>
                                        <p:cTn id="127" dur="500"/>
                                        <p:tgtEl>
                                          <p:spTgt spid="171041"/>
                                        </p:tgtEl>
                                      </p:cBhvr>
                                    </p:animEffect>
                                  </p:childTnLst>
                                </p:cTn>
                              </p:par>
                              <p:par>
                                <p:cTn id="128" presetID="22" presetClass="entr" presetSubtype="1" fill="hold" grpId="0" nodeType="withEffect">
                                  <p:stCondLst>
                                    <p:cond delay="0"/>
                                  </p:stCondLst>
                                  <p:childTnLst>
                                    <p:set>
                                      <p:cBhvr>
                                        <p:cTn id="129" dur="1" fill="hold">
                                          <p:stCondLst>
                                            <p:cond delay="0"/>
                                          </p:stCondLst>
                                        </p:cTn>
                                        <p:tgtEl>
                                          <p:spTgt spid="171043"/>
                                        </p:tgtEl>
                                        <p:attrNameLst>
                                          <p:attrName>style.visibility</p:attrName>
                                        </p:attrNameLst>
                                      </p:cBhvr>
                                      <p:to>
                                        <p:strVal val="visible"/>
                                      </p:to>
                                    </p:set>
                                    <p:animEffect transition="in" filter="wipe(up)">
                                      <p:cBhvr>
                                        <p:cTn id="130" dur="500"/>
                                        <p:tgtEl>
                                          <p:spTgt spid="171043"/>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71044"/>
                                        </p:tgtEl>
                                        <p:attrNameLst>
                                          <p:attrName>style.visibility</p:attrName>
                                        </p:attrNameLst>
                                      </p:cBhvr>
                                      <p:to>
                                        <p:strVal val="visible"/>
                                      </p:to>
                                    </p:set>
                                    <p:animEffect transition="in" filter="wipe(left)">
                                      <p:cBhvr>
                                        <p:cTn id="135" dur="500"/>
                                        <p:tgtEl>
                                          <p:spTgt spid="171044"/>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1" fill="hold" grpId="0" nodeType="clickEffect">
                                  <p:stCondLst>
                                    <p:cond delay="0"/>
                                  </p:stCondLst>
                                  <p:childTnLst>
                                    <p:set>
                                      <p:cBhvr>
                                        <p:cTn id="139" dur="1" fill="hold">
                                          <p:stCondLst>
                                            <p:cond delay="0"/>
                                          </p:stCondLst>
                                        </p:cTn>
                                        <p:tgtEl>
                                          <p:spTgt spid="171046"/>
                                        </p:tgtEl>
                                        <p:attrNameLst>
                                          <p:attrName>style.visibility</p:attrName>
                                        </p:attrNameLst>
                                      </p:cBhvr>
                                      <p:to>
                                        <p:strVal val="visible"/>
                                      </p:to>
                                    </p:set>
                                    <p:animEffect transition="in" filter="wipe(up)">
                                      <p:cBhvr>
                                        <p:cTn id="140" dur="500"/>
                                        <p:tgtEl>
                                          <p:spTgt spid="171046"/>
                                        </p:tgtEl>
                                      </p:cBhvr>
                                    </p:animEffect>
                                  </p:childTnLst>
                                </p:cTn>
                              </p:par>
                            </p:childTnLst>
                          </p:cTn>
                        </p:par>
                        <p:par>
                          <p:cTn id="141" fill="hold">
                            <p:stCondLst>
                              <p:cond delay="500"/>
                            </p:stCondLst>
                            <p:childTnLst>
                              <p:par>
                                <p:cTn id="142" presetID="22" presetClass="entr" presetSubtype="8" fill="hold" grpId="0" nodeType="afterEffect">
                                  <p:stCondLst>
                                    <p:cond delay="0"/>
                                  </p:stCondLst>
                                  <p:childTnLst>
                                    <p:set>
                                      <p:cBhvr>
                                        <p:cTn id="143" dur="1" fill="hold">
                                          <p:stCondLst>
                                            <p:cond delay="0"/>
                                          </p:stCondLst>
                                        </p:cTn>
                                        <p:tgtEl>
                                          <p:spTgt spid="171045"/>
                                        </p:tgtEl>
                                        <p:attrNameLst>
                                          <p:attrName>style.visibility</p:attrName>
                                        </p:attrNameLst>
                                      </p:cBhvr>
                                      <p:to>
                                        <p:strVal val="visible"/>
                                      </p:to>
                                    </p:set>
                                    <p:animEffect transition="in" filter="wipe(left)">
                                      <p:cBhvr>
                                        <p:cTn id="144" dur="500"/>
                                        <p:tgtEl>
                                          <p:spTgt spid="17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nimBg="1"/>
      <p:bldP spid="171011" grpId="0" animBg="1"/>
      <p:bldP spid="171012" grpId="0" animBg="1"/>
      <p:bldP spid="171013" grpId="0" animBg="1"/>
      <p:bldP spid="171014" grpId="0" animBg="1"/>
      <p:bldP spid="171015" grpId="0" animBg="1"/>
      <p:bldP spid="171016" grpId="0" animBg="1"/>
      <p:bldP spid="171017" grpId="0" animBg="1"/>
      <p:bldP spid="171018" grpId="0"/>
      <p:bldP spid="171019" grpId="0"/>
      <p:bldP spid="171020" grpId="0"/>
      <p:bldP spid="171021" grpId="0"/>
      <p:bldP spid="171022" grpId="0"/>
      <p:bldP spid="171023" grpId="0" animBg="1"/>
      <p:bldP spid="171024" grpId="0"/>
      <p:bldP spid="171025" grpId="0" animBg="1"/>
      <p:bldP spid="171026" grpId="0" animBg="1"/>
      <p:bldP spid="171027" grpId="0" animBg="1"/>
      <p:bldP spid="171031" grpId="0" animBg="1"/>
      <p:bldP spid="171032" grpId="0" animBg="1"/>
      <p:bldP spid="171033" grpId="0" animBg="1"/>
      <p:bldP spid="171034" grpId="0"/>
      <p:bldP spid="171035" grpId="0"/>
      <p:bldP spid="171036" grpId="0" animBg="1"/>
      <p:bldP spid="171037" grpId="0"/>
      <p:bldP spid="171038" grpId="0" animBg="1"/>
      <p:bldP spid="171039" grpId="0"/>
      <p:bldP spid="171040" grpId="0" animBg="1"/>
      <p:bldP spid="171041" grpId="0" animBg="1"/>
      <p:bldP spid="171042" grpId="0"/>
      <p:bldP spid="171043" grpId="0"/>
      <p:bldP spid="171044" grpId="0"/>
      <p:bldP spid="171045" grpId="0"/>
      <p:bldP spid="17104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descr="宽上对角线"/>
          <p:cNvSpPr>
            <a:spLocks noChangeArrowheads="1"/>
          </p:cNvSpPr>
          <p:nvPr/>
        </p:nvSpPr>
        <p:spPr bwMode="auto">
          <a:xfrm>
            <a:off x="2979738" y="5108575"/>
            <a:ext cx="228600" cy="76200"/>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4" name="Line 6"/>
          <p:cNvSpPr>
            <a:spLocks noChangeShapeType="1"/>
          </p:cNvSpPr>
          <p:nvPr/>
        </p:nvSpPr>
        <p:spPr bwMode="auto">
          <a:xfrm>
            <a:off x="2938463" y="2803525"/>
            <a:ext cx="0" cy="2411413"/>
          </a:xfrm>
          <a:prstGeom prst="line">
            <a:avLst/>
          </a:prstGeom>
          <a:noFill/>
          <a:ln w="38100">
            <a:solidFill>
              <a:srgbClr val="0000FF"/>
            </a:solidFill>
            <a:round/>
            <a:headEnd type="stealth" w="med" len="lg"/>
            <a:tailEnd type="none" w="med" len="lg"/>
          </a:ln>
        </p:spPr>
        <p:txBody>
          <a:bodyPr/>
          <a:lstStyle/>
          <a:p>
            <a:endParaRPr lang="zh-CN" altLang="en-US"/>
          </a:p>
        </p:txBody>
      </p:sp>
      <p:sp>
        <p:nvSpPr>
          <p:cNvPr id="5" name="Rectangle 7" descr="宽上对角线"/>
          <p:cNvSpPr>
            <a:spLocks noChangeArrowheads="1"/>
          </p:cNvSpPr>
          <p:nvPr/>
        </p:nvSpPr>
        <p:spPr bwMode="auto">
          <a:xfrm>
            <a:off x="4330700" y="3595688"/>
            <a:ext cx="228600" cy="15843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6" name="Rectangle 8"/>
          <p:cNvSpPr>
            <a:spLocks noChangeArrowheads="1"/>
          </p:cNvSpPr>
          <p:nvPr/>
        </p:nvSpPr>
        <p:spPr bwMode="auto">
          <a:xfrm>
            <a:off x="4203700" y="2886075"/>
            <a:ext cx="369888" cy="457200"/>
          </a:xfrm>
          <a:prstGeom prst="rect">
            <a:avLst/>
          </a:prstGeom>
          <a:noFill/>
          <a:ln w="9525">
            <a:noFill/>
            <a:miter lim="800000"/>
            <a:headEnd/>
            <a:tailEnd/>
          </a:ln>
        </p:spPr>
        <p:txBody>
          <a:bodyPr wrap="none" anchor="ctr">
            <a:spAutoFit/>
          </a:bodyPr>
          <a:lstStyle/>
          <a:p>
            <a:r>
              <a:rPr lang="en-US" altLang="zh-CN" sz="2400" b="1" i="1">
                <a:solidFill>
                  <a:srgbClr val="FF3300"/>
                </a:solidFill>
                <a:latin typeface="Times New Roman" pitchFamily="18" charset="0"/>
              </a:rPr>
              <a:t>T</a:t>
            </a:r>
          </a:p>
        </p:txBody>
      </p:sp>
      <p:sp>
        <p:nvSpPr>
          <p:cNvPr id="7" name="Rectangle 9" descr="宽上对角线"/>
          <p:cNvSpPr>
            <a:spLocks noChangeArrowheads="1"/>
          </p:cNvSpPr>
          <p:nvPr/>
        </p:nvSpPr>
        <p:spPr bwMode="auto">
          <a:xfrm>
            <a:off x="3187700" y="5032375"/>
            <a:ext cx="228600" cy="1365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8" name="Rectangle 10" descr="宽上对角线"/>
          <p:cNvSpPr>
            <a:spLocks noChangeArrowheads="1"/>
          </p:cNvSpPr>
          <p:nvPr/>
        </p:nvSpPr>
        <p:spPr bwMode="auto">
          <a:xfrm>
            <a:off x="3416300" y="4651375"/>
            <a:ext cx="228600" cy="5175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9" name="Rectangle 11" descr="宽上对角线"/>
          <p:cNvSpPr>
            <a:spLocks noChangeArrowheads="1"/>
          </p:cNvSpPr>
          <p:nvPr/>
        </p:nvSpPr>
        <p:spPr bwMode="auto">
          <a:xfrm>
            <a:off x="3644900" y="4194175"/>
            <a:ext cx="228600" cy="9747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0" name="Rectangle 12" descr="宽上对角线"/>
          <p:cNvSpPr>
            <a:spLocks noChangeArrowheads="1"/>
          </p:cNvSpPr>
          <p:nvPr/>
        </p:nvSpPr>
        <p:spPr bwMode="auto">
          <a:xfrm>
            <a:off x="3873500" y="3584575"/>
            <a:ext cx="228600" cy="15843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1" name="Rectangle 13" descr="宽上对角线"/>
          <p:cNvSpPr>
            <a:spLocks noChangeArrowheads="1"/>
          </p:cNvSpPr>
          <p:nvPr/>
        </p:nvSpPr>
        <p:spPr bwMode="auto">
          <a:xfrm>
            <a:off x="4102100" y="3355975"/>
            <a:ext cx="228600" cy="18129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2" name="Rectangle 14" descr="宽上对角线"/>
          <p:cNvSpPr>
            <a:spLocks noChangeArrowheads="1"/>
          </p:cNvSpPr>
          <p:nvPr/>
        </p:nvSpPr>
        <p:spPr bwMode="auto">
          <a:xfrm>
            <a:off x="4559300" y="3889375"/>
            <a:ext cx="228600" cy="12795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3" name="Rectangle 15" descr="宽上对角线"/>
          <p:cNvSpPr>
            <a:spLocks noChangeArrowheads="1"/>
          </p:cNvSpPr>
          <p:nvPr/>
        </p:nvSpPr>
        <p:spPr bwMode="auto">
          <a:xfrm>
            <a:off x="4787900" y="4270375"/>
            <a:ext cx="228600" cy="8985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4" name="Rectangle 16" descr="宽上对角线"/>
          <p:cNvSpPr>
            <a:spLocks noChangeArrowheads="1"/>
          </p:cNvSpPr>
          <p:nvPr/>
        </p:nvSpPr>
        <p:spPr bwMode="auto">
          <a:xfrm>
            <a:off x="5016500" y="4575175"/>
            <a:ext cx="228600" cy="5937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5" name="Rectangle 17" descr="宽上对角线"/>
          <p:cNvSpPr>
            <a:spLocks noChangeArrowheads="1"/>
          </p:cNvSpPr>
          <p:nvPr/>
        </p:nvSpPr>
        <p:spPr bwMode="auto">
          <a:xfrm>
            <a:off x="5245100" y="4803775"/>
            <a:ext cx="228600" cy="3651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6" name="Rectangle 18" descr="宽上对角线"/>
          <p:cNvSpPr>
            <a:spLocks noChangeArrowheads="1"/>
          </p:cNvSpPr>
          <p:nvPr/>
        </p:nvSpPr>
        <p:spPr bwMode="auto">
          <a:xfrm>
            <a:off x="5473700" y="4956175"/>
            <a:ext cx="228600" cy="228600"/>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7" name="Rectangle 19" descr="宽上对角线"/>
          <p:cNvSpPr>
            <a:spLocks noChangeArrowheads="1"/>
          </p:cNvSpPr>
          <p:nvPr/>
        </p:nvSpPr>
        <p:spPr bwMode="auto">
          <a:xfrm>
            <a:off x="5702300" y="5032375"/>
            <a:ext cx="228600" cy="136525"/>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8" name="Rectangle 20" descr="宽上对角线"/>
          <p:cNvSpPr>
            <a:spLocks noChangeArrowheads="1"/>
          </p:cNvSpPr>
          <p:nvPr/>
        </p:nvSpPr>
        <p:spPr bwMode="auto">
          <a:xfrm>
            <a:off x="5930900" y="5108575"/>
            <a:ext cx="228600" cy="76200"/>
          </a:xfrm>
          <a:prstGeom prst="rect">
            <a:avLst/>
          </a:prstGeom>
          <a:pattFill prst="wdUpDiag">
            <a:fgClr>
              <a:srgbClr val="006600"/>
            </a:fgClr>
            <a:bgClr>
              <a:srgbClr val="FF00FF"/>
            </a:bgClr>
          </a:pattFill>
          <a:ln w="9525">
            <a:pattFill prst="pct5">
              <a:fgClr>
                <a:srgbClr val="0099CC"/>
              </a:fgClr>
              <a:bgClr>
                <a:srgbClr val="FFFFFF"/>
              </a:bgClr>
            </a:pattFill>
            <a:miter lim="800000"/>
            <a:headEnd/>
            <a:tailEnd/>
          </a:ln>
        </p:spPr>
        <p:txBody>
          <a:bodyPr wrap="none" anchor="ctr"/>
          <a:lstStyle/>
          <a:p>
            <a:pPr algn="ctr"/>
            <a:endParaRPr lang="zh-CN" altLang="en-US"/>
          </a:p>
        </p:txBody>
      </p:sp>
      <p:sp>
        <p:nvSpPr>
          <p:cNvPr id="19" name="Text Box 21"/>
          <p:cNvSpPr txBox="1">
            <a:spLocks noChangeArrowheads="1"/>
          </p:cNvSpPr>
          <p:nvPr/>
        </p:nvSpPr>
        <p:spPr bwMode="auto">
          <a:xfrm>
            <a:off x="6396038" y="5102225"/>
            <a:ext cx="349250" cy="457200"/>
          </a:xfrm>
          <a:prstGeom prst="rect">
            <a:avLst/>
          </a:prstGeom>
          <a:noFill/>
          <a:ln w="9525">
            <a:noFill/>
            <a:miter lim="800000"/>
            <a:headEnd/>
            <a:tailEnd/>
          </a:ln>
        </p:spPr>
        <p:txBody>
          <a:bodyPr wrap="none">
            <a:spAutoFit/>
          </a:bodyPr>
          <a:lstStyle/>
          <a:p>
            <a:r>
              <a:rPr lang="en-US" altLang="zh-CN" sz="2400" b="1" i="1">
                <a:latin typeface="Bookman Old Style" pitchFamily="18" charset="0"/>
              </a:rPr>
              <a:t>v</a:t>
            </a:r>
          </a:p>
        </p:txBody>
      </p:sp>
      <p:sp>
        <p:nvSpPr>
          <p:cNvPr id="20" name="Text Box 22"/>
          <p:cNvSpPr txBox="1">
            <a:spLocks noChangeArrowheads="1"/>
          </p:cNvSpPr>
          <p:nvPr/>
        </p:nvSpPr>
        <p:spPr bwMode="auto">
          <a:xfrm>
            <a:off x="2855913" y="5172075"/>
            <a:ext cx="404812" cy="457200"/>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aphicFrame>
        <p:nvGraphicFramePr>
          <p:cNvPr id="21" name="Object 23"/>
          <p:cNvGraphicFramePr>
            <a:graphicFrameLocks noChangeAspect="1"/>
          </p:cNvGraphicFramePr>
          <p:nvPr/>
        </p:nvGraphicFramePr>
        <p:xfrm>
          <a:off x="3033713" y="2725738"/>
          <a:ext cx="593725" cy="704850"/>
        </p:xfrm>
        <a:graphic>
          <a:graphicData uri="http://schemas.openxmlformats.org/presentationml/2006/ole">
            <p:oleObj spid="_x0000_s57346" name="Equation" r:id="rId3" imgW="330120" imgH="393480" progId="">
              <p:embed/>
            </p:oleObj>
          </a:graphicData>
        </a:graphic>
      </p:graphicFrame>
      <p:sp>
        <p:nvSpPr>
          <p:cNvPr id="22" name="Rectangle 24"/>
          <p:cNvSpPr>
            <a:spLocks noChangeArrowheads="1"/>
          </p:cNvSpPr>
          <p:nvPr/>
        </p:nvSpPr>
        <p:spPr bwMode="auto">
          <a:xfrm>
            <a:off x="4167188" y="5108575"/>
            <a:ext cx="773112" cy="457200"/>
          </a:xfrm>
          <a:prstGeom prst="rect">
            <a:avLst/>
          </a:prstGeom>
          <a:noFill/>
          <a:ln w="9525">
            <a:noFill/>
            <a:miter lim="800000"/>
            <a:headEnd/>
            <a:tailEnd/>
          </a:ln>
        </p:spPr>
        <p:txBody>
          <a:bodyPr>
            <a:spAutoFit/>
          </a:bodyPr>
          <a:lstStyle/>
          <a:p>
            <a:r>
              <a:rPr kumimoji="1" lang="en-US" altLang="zh-CN" sz="2400" b="1">
                <a:latin typeface="Times New Roman" pitchFamily="18" charset="0"/>
              </a:rPr>
              <a:t>d</a:t>
            </a:r>
            <a:r>
              <a:rPr kumimoji="1" lang="en-US" altLang="zh-CN" sz="2400" b="1" i="1">
                <a:latin typeface="Bookman Old Style" pitchFamily="18" charset="0"/>
              </a:rPr>
              <a:t>v</a:t>
            </a:r>
          </a:p>
        </p:txBody>
      </p:sp>
      <p:sp>
        <p:nvSpPr>
          <p:cNvPr id="23" name="Text Box 25"/>
          <p:cNvSpPr txBox="1">
            <a:spLocks noChangeArrowheads="1"/>
          </p:cNvSpPr>
          <p:nvPr/>
        </p:nvSpPr>
        <p:spPr bwMode="auto">
          <a:xfrm>
            <a:off x="635000" y="1922463"/>
            <a:ext cx="3937000" cy="504825"/>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mn-ea"/>
                <a:ea typeface="+mn-ea"/>
              </a:rPr>
              <a:t> </a:t>
            </a:r>
            <a:r>
              <a:rPr kumimoji="1" lang="zh-CN" altLang="en-US" sz="2400" b="1" dirty="0">
                <a:latin typeface="+mn-ea"/>
                <a:ea typeface="+mn-ea"/>
              </a:rPr>
              <a:t>实验结果与理论值相符合。</a:t>
            </a:r>
          </a:p>
        </p:txBody>
      </p:sp>
      <p:sp>
        <p:nvSpPr>
          <p:cNvPr id="24" name="Text Box 26"/>
          <p:cNvSpPr txBox="1">
            <a:spLocks noChangeArrowheads="1"/>
          </p:cNvSpPr>
          <p:nvPr/>
        </p:nvSpPr>
        <p:spPr bwMode="auto">
          <a:xfrm>
            <a:off x="785813" y="1141413"/>
            <a:ext cx="8159750" cy="573087"/>
          </a:xfrm>
          <a:prstGeom prst="rect">
            <a:avLst/>
          </a:prstGeom>
          <a:noFill/>
          <a:ln w="9525">
            <a:noFill/>
            <a:miter lim="800000"/>
            <a:headEnd/>
            <a:tailEnd/>
          </a:ln>
        </p:spPr>
        <p:txBody>
          <a:bodyPr>
            <a:spAutoFit/>
          </a:bodyPr>
          <a:lstStyle/>
          <a:p>
            <a:pPr>
              <a:lnSpc>
                <a:spcPct val="130000"/>
              </a:lnSpc>
              <a:defRPr/>
            </a:pPr>
            <a:r>
              <a:rPr kumimoji="1" lang="zh-CN" altLang="en-US" sz="2400" b="1" dirty="0">
                <a:latin typeface="+mn-ea"/>
                <a:ea typeface="+mn-ea"/>
              </a:rPr>
              <a:t>以每个速率沉积厚度和总沉积厚度的比值作条形图。</a:t>
            </a:r>
          </a:p>
        </p:txBody>
      </p:sp>
      <p:sp>
        <p:nvSpPr>
          <p:cNvPr id="25" name="Freeform 27"/>
          <p:cNvSpPr>
            <a:spLocks/>
          </p:cNvSpPr>
          <p:nvPr/>
        </p:nvSpPr>
        <p:spPr bwMode="auto">
          <a:xfrm>
            <a:off x="2938463" y="3335338"/>
            <a:ext cx="3521075" cy="1863725"/>
          </a:xfrm>
          <a:custGeom>
            <a:avLst/>
            <a:gdLst>
              <a:gd name="T0" fmla="*/ 0 w 2218"/>
              <a:gd name="T1" fmla="*/ 2147483647 h 1174"/>
              <a:gd name="T2" fmla="*/ 2147483647 w 2218"/>
              <a:gd name="T3" fmla="*/ 2147483647 h 1174"/>
              <a:gd name="T4" fmla="*/ 2147483647 w 2218"/>
              <a:gd name="T5" fmla="*/ 2147483647 h 1174"/>
              <a:gd name="T6" fmla="*/ 2147483647 w 2218"/>
              <a:gd name="T7" fmla="*/ 2147483647 h 1174"/>
              <a:gd name="T8" fmla="*/ 2147483647 w 2218"/>
              <a:gd name="T9" fmla="*/ 2147483647 h 1174"/>
              <a:gd name="T10" fmla="*/ 2147483647 w 2218"/>
              <a:gd name="T11" fmla="*/ 2147483647 h 1174"/>
              <a:gd name="T12" fmla="*/ 2147483647 w 2218"/>
              <a:gd name="T13" fmla="*/ 2147483647 h 1174"/>
              <a:gd name="T14" fmla="*/ 2147483647 w 2218"/>
              <a:gd name="T15" fmla="*/ 2147483647 h 1174"/>
              <a:gd name="T16" fmla="*/ 2147483647 w 2218"/>
              <a:gd name="T17" fmla="*/ 2147483647 h 11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18"/>
              <a:gd name="T28" fmla="*/ 0 h 1174"/>
              <a:gd name="T29" fmla="*/ 2218 w 2218"/>
              <a:gd name="T30" fmla="*/ 1174 h 117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18" h="1174">
                <a:moveTo>
                  <a:pt x="0" y="1174"/>
                </a:moveTo>
                <a:cubicBezTo>
                  <a:pt x="42" y="1162"/>
                  <a:pt x="85" y="1150"/>
                  <a:pt x="142" y="1089"/>
                </a:cubicBezTo>
                <a:cubicBezTo>
                  <a:pt x="199" y="1028"/>
                  <a:pt x="264" y="950"/>
                  <a:pt x="340" y="805"/>
                </a:cubicBezTo>
                <a:cubicBezTo>
                  <a:pt x="416" y="660"/>
                  <a:pt x="523" y="352"/>
                  <a:pt x="598" y="218"/>
                </a:cubicBezTo>
                <a:cubicBezTo>
                  <a:pt x="673" y="84"/>
                  <a:pt x="720" y="0"/>
                  <a:pt x="790" y="2"/>
                </a:cubicBezTo>
                <a:cubicBezTo>
                  <a:pt x="860" y="4"/>
                  <a:pt x="912" y="94"/>
                  <a:pt x="1020" y="228"/>
                </a:cubicBezTo>
                <a:cubicBezTo>
                  <a:pt x="1128" y="362"/>
                  <a:pt x="1312" y="668"/>
                  <a:pt x="1438" y="804"/>
                </a:cubicBezTo>
                <a:cubicBezTo>
                  <a:pt x="1564" y="940"/>
                  <a:pt x="1647" y="987"/>
                  <a:pt x="1777" y="1041"/>
                </a:cubicBezTo>
                <a:cubicBezTo>
                  <a:pt x="1907" y="1095"/>
                  <a:pt x="2126" y="1112"/>
                  <a:pt x="2218" y="1130"/>
                </a:cubicBezTo>
              </a:path>
            </a:pathLst>
          </a:custGeom>
          <a:noFill/>
          <a:ln w="57150">
            <a:solidFill>
              <a:srgbClr val="FF0000"/>
            </a:solidFill>
            <a:round/>
            <a:headEnd/>
            <a:tailEnd/>
          </a:ln>
        </p:spPr>
        <p:txBody>
          <a:bodyPr/>
          <a:lstStyle/>
          <a:p>
            <a:pPr algn="ctr"/>
            <a:endParaRPr lang="zh-CN" altLang="en-US"/>
          </a:p>
        </p:txBody>
      </p:sp>
      <p:sp>
        <p:nvSpPr>
          <p:cNvPr id="26" name="Line 28"/>
          <p:cNvSpPr>
            <a:spLocks noChangeShapeType="1"/>
          </p:cNvSpPr>
          <p:nvPr/>
        </p:nvSpPr>
        <p:spPr bwMode="auto">
          <a:xfrm>
            <a:off x="2911475" y="5199063"/>
            <a:ext cx="3817938" cy="0"/>
          </a:xfrm>
          <a:prstGeom prst="line">
            <a:avLst/>
          </a:prstGeom>
          <a:noFill/>
          <a:ln w="38100">
            <a:solidFill>
              <a:srgbClr val="0000FF"/>
            </a:solidFill>
            <a:round/>
            <a:headEnd/>
            <a:tailEnd type="stealth" w="med" len="lg"/>
          </a:ln>
        </p:spPr>
        <p:txBody>
          <a:bodyPr/>
          <a:lstStyle/>
          <a:p>
            <a:endParaRPr lang="zh-CN" altLang="en-US"/>
          </a:p>
        </p:txBody>
      </p:sp>
      <p:sp>
        <p:nvSpPr>
          <p:cNvPr id="27" name="Text Box 31"/>
          <p:cNvSpPr txBox="1">
            <a:spLocks noChangeArrowheads="1"/>
          </p:cNvSpPr>
          <p:nvPr/>
        </p:nvSpPr>
        <p:spPr bwMode="auto">
          <a:xfrm>
            <a:off x="357188" y="571500"/>
            <a:ext cx="3554412" cy="457200"/>
          </a:xfrm>
          <a:prstGeom prst="rect">
            <a:avLst/>
          </a:prstGeom>
          <a:noFill/>
          <a:ln w="9525">
            <a:noFill/>
            <a:miter lim="800000"/>
            <a:headEnd/>
            <a:tailEnd/>
          </a:ln>
        </p:spPr>
        <p:txBody>
          <a:bodyPr>
            <a:spAutoFit/>
          </a:bodyPr>
          <a:lstStyle/>
          <a:p>
            <a:pPr>
              <a:buFont typeface="Wingdings" pitchFamily="2" charset="2"/>
              <a:buNone/>
            </a:pPr>
            <a:r>
              <a:rPr kumimoji="1" lang="zh-CN" altLang="en-US" sz="2400" b="1">
                <a:solidFill>
                  <a:srgbClr val="FF0000"/>
                </a:solidFill>
                <a:latin typeface="Times New Roman" pitchFamily="18" charset="0"/>
              </a:rPr>
              <a:t>葛正权实验测量结果：</a:t>
            </a:r>
            <a:endParaRPr kumimoji="1" lang="en-US" altLang="zh-CN" sz="2400" b="1">
              <a:solidFill>
                <a:srgbClr val="FF0000"/>
              </a:solidFill>
              <a:latin typeface="Times New Roman" pitchFamily="18" charset="0"/>
            </a:endParaRPr>
          </a:p>
        </p:txBody>
      </p:sp>
      <p:sp>
        <p:nvSpPr>
          <p:cNvPr id="28" name="AutoShape 71">
            <a:hlinkClick r:id="rId4" action="ppaction://hlinksldjump" highlightClick="1"/>
          </p:cNvPr>
          <p:cNvSpPr>
            <a:spLocks noChangeArrowheads="1"/>
          </p:cNvSpPr>
          <p:nvPr/>
        </p:nvSpPr>
        <p:spPr bwMode="auto">
          <a:xfrm>
            <a:off x="8143875" y="6072188"/>
            <a:ext cx="287338" cy="287337"/>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up)">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down)">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down)">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down)">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down)">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down)">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down)">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wipe(down)">
                                      <p:cBhvr>
                                        <p:cTn id="77" dur="500"/>
                                        <p:tgtEl>
                                          <p:spTgt spid="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wipe(down)">
                                      <p:cBhvr>
                                        <p:cTn id="87" dur="500"/>
                                        <p:tgtEl>
                                          <p:spTgt spid="1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wipe(down)">
                                      <p:cBhvr>
                                        <p:cTn id="92" dur="500"/>
                                        <p:tgtEl>
                                          <p:spTgt spid="1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wipe(down)">
                                      <p:cBhvr>
                                        <p:cTn id="97" dur="500"/>
                                        <p:tgtEl>
                                          <p:spTgt spid="1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wipe(down)">
                                      <p:cBhvr>
                                        <p:cTn id="102" dur="500"/>
                                        <p:tgtEl>
                                          <p:spTgt spid="1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17"/>
                                        </p:tgtEl>
                                        <p:attrNameLst>
                                          <p:attrName>style.visibility</p:attrName>
                                        </p:attrNameLst>
                                      </p:cBhvr>
                                      <p:to>
                                        <p:strVal val="visible"/>
                                      </p:to>
                                    </p:set>
                                    <p:animEffect transition="in" filter="wipe(down)">
                                      <p:cBhvr>
                                        <p:cTn id="107" dur="500"/>
                                        <p:tgtEl>
                                          <p:spTgt spid="1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wipe(down)">
                                      <p:cBhvr>
                                        <p:cTn id="112" dur="500"/>
                                        <p:tgtEl>
                                          <p:spTgt spid="1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6"/>
                                        </p:tgtEl>
                                        <p:attrNameLst>
                                          <p:attrName>style.visibility</p:attrName>
                                        </p:attrNameLst>
                                      </p:cBhvr>
                                      <p:to>
                                        <p:strVal val="visible"/>
                                      </p:to>
                                    </p:set>
                                    <p:animEffect transition="in" filter="wipe(left)">
                                      <p:cBhvr>
                                        <p:cTn id="117" dur="500"/>
                                        <p:tgtEl>
                                          <p:spTgt spid="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wipe(left)">
                                      <p:cBhvr>
                                        <p:cTn id="122" dur="200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3"/>
                                        </p:tgtEl>
                                        <p:attrNameLst>
                                          <p:attrName>style.visibility</p:attrName>
                                        </p:attrNameLst>
                                      </p:cBhvr>
                                      <p:to>
                                        <p:strVal val="visible"/>
                                      </p:to>
                                    </p:set>
                                    <p:animEffect transition="in" filter="wipe(left)">
                                      <p:cBhvr>
                                        <p:cTn id="127" dur="500"/>
                                        <p:tgtEl>
                                          <p:spTgt spid="23"/>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8"/>
                                        </p:tgtEl>
                                        <p:attrNameLst>
                                          <p:attrName>style.visibility</p:attrName>
                                        </p:attrNameLst>
                                      </p:cBhvr>
                                      <p:to>
                                        <p:strVal val="visible"/>
                                      </p:to>
                                    </p:set>
                                    <p:animEffect transition="in" filter="wipe(left)">
                                      <p:cBhvr>
                                        <p:cTn id="1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utoUpdateAnimBg="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utoUpdateAnimBg="0"/>
      <p:bldP spid="20" grpId="0" autoUpdateAnimBg="0"/>
      <p:bldP spid="22" grpId="0" autoUpdateAnimBg="0"/>
      <p:bldP spid="23" grpId="0" autoUpdateAnimBg="0"/>
      <p:bldP spid="24" grpId="0" autoUpdateAnimBg="0"/>
      <p:bldP spid="25" grpId="0" animBg="1"/>
      <p:bldP spid="26" grpId="0" animBg="1"/>
      <p:bldP spid="27" grpId="0" autoUpdateAnimBg="0"/>
      <p:bldP spid="2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4">
            <a:hlinkClick r:id="rId3" action="ppaction://hlinkpres?slideindex=1&amp;slidetitle="/>
          </p:cNvPr>
          <p:cNvSpPr txBox="1">
            <a:spLocks noChangeArrowheads="1"/>
          </p:cNvSpPr>
          <p:nvPr/>
        </p:nvSpPr>
        <p:spPr bwMode="auto">
          <a:xfrm>
            <a:off x="2268538" y="357188"/>
            <a:ext cx="4897437" cy="519112"/>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§8.6     </a:t>
            </a:r>
            <a:r>
              <a:rPr lang="zh-CN" altLang="en-US" sz="2800" b="1">
                <a:solidFill>
                  <a:srgbClr val="0000FF"/>
                </a:solidFill>
                <a:latin typeface="黑体" pitchFamily="2" charset="-122"/>
                <a:ea typeface="黑体" pitchFamily="2" charset="-122"/>
              </a:rPr>
              <a:t>玻尔兹曼分布</a:t>
            </a:r>
          </a:p>
        </p:txBody>
      </p:sp>
      <p:sp>
        <p:nvSpPr>
          <p:cNvPr id="11277" name="Rectangle 13"/>
          <p:cNvSpPr>
            <a:spLocks noChangeArrowheads="1"/>
          </p:cNvSpPr>
          <p:nvPr/>
        </p:nvSpPr>
        <p:spPr bwMode="auto">
          <a:xfrm>
            <a:off x="1247775" y="1052513"/>
            <a:ext cx="7645400" cy="1422400"/>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ea typeface="楷体_GB2312" pitchFamily="49" charset="-122"/>
              </a:rPr>
              <a:t>麦克斯韦速率分布律是关于</a:t>
            </a:r>
            <a:r>
              <a:rPr kumimoji="1" lang="zh-CN" altLang="en-US" sz="2400" b="1">
                <a:solidFill>
                  <a:srgbClr val="FF3300"/>
                </a:solidFill>
                <a:latin typeface="Times New Roman" pitchFamily="18" charset="0"/>
                <a:ea typeface="楷体_GB2312" pitchFamily="49" charset="-122"/>
              </a:rPr>
              <a:t>无外力场</a:t>
            </a:r>
            <a:r>
              <a:rPr kumimoji="1" lang="zh-CN" altLang="en-US" sz="2400" b="1">
                <a:latin typeface="Times New Roman" pitchFamily="18" charset="0"/>
                <a:ea typeface="楷体_GB2312" pitchFamily="49" charset="-122"/>
              </a:rPr>
              <a:t>时气体分子的速率分布。此时，</a:t>
            </a:r>
            <a:r>
              <a:rPr kumimoji="1" lang="zh-CN" altLang="en-US" sz="2400" b="1">
                <a:solidFill>
                  <a:srgbClr val="FF3300"/>
                </a:solidFill>
                <a:latin typeface="Times New Roman" pitchFamily="18" charset="0"/>
                <a:ea typeface="楷体_GB2312" pitchFamily="49" charset="-122"/>
              </a:rPr>
              <a:t>分子在空间的分布是均匀的</a:t>
            </a:r>
            <a:r>
              <a:rPr kumimoji="1" lang="zh-CN" altLang="en-US" sz="2400" b="1">
                <a:latin typeface="Times New Roman" pitchFamily="18" charset="0"/>
                <a:ea typeface="楷体_GB2312" pitchFamily="49" charset="-122"/>
              </a:rPr>
              <a:t>。若</a:t>
            </a:r>
            <a:r>
              <a:rPr kumimoji="1" lang="zh-CN" altLang="en-US" sz="2400" b="1">
                <a:solidFill>
                  <a:srgbClr val="FF3300"/>
                </a:solidFill>
                <a:latin typeface="Times New Roman" pitchFamily="18" charset="0"/>
                <a:ea typeface="楷体_GB2312" pitchFamily="49" charset="-122"/>
              </a:rPr>
              <a:t>有外力场</a:t>
            </a:r>
            <a:r>
              <a:rPr kumimoji="1" lang="zh-CN" altLang="en-US" sz="2400" b="1">
                <a:latin typeface="Times New Roman" pitchFamily="18" charset="0"/>
                <a:ea typeface="楷体_GB2312" pitchFamily="49" charset="-122"/>
              </a:rPr>
              <a:t>存在，气体分子的分布规律又将</a:t>
            </a:r>
            <a:r>
              <a:rPr kumimoji="1" lang="zh-CN" altLang="en-US" sz="2400" b="1">
                <a:solidFill>
                  <a:srgbClr val="FF3300"/>
                </a:solidFill>
                <a:latin typeface="Times New Roman" pitchFamily="18" charset="0"/>
                <a:ea typeface="楷体_GB2312" pitchFamily="49" charset="-122"/>
              </a:rPr>
              <a:t>如何？</a:t>
            </a:r>
          </a:p>
        </p:txBody>
      </p:sp>
      <p:sp>
        <p:nvSpPr>
          <p:cNvPr id="11278" name="Text Box 14"/>
          <p:cNvSpPr txBox="1">
            <a:spLocks noChangeArrowheads="1"/>
          </p:cNvSpPr>
          <p:nvPr/>
        </p:nvSpPr>
        <p:spPr bwMode="auto">
          <a:xfrm>
            <a:off x="179388" y="1076325"/>
            <a:ext cx="1368425" cy="457200"/>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问题：</a:t>
            </a:r>
          </a:p>
        </p:txBody>
      </p:sp>
      <p:sp>
        <p:nvSpPr>
          <p:cNvPr id="11281" name="Text Box 17"/>
          <p:cNvSpPr txBox="1">
            <a:spLocks noChangeArrowheads="1"/>
          </p:cNvSpPr>
          <p:nvPr/>
        </p:nvSpPr>
        <p:spPr bwMode="auto">
          <a:xfrm>
            <a:off x="107950" y="2500313"/>
            <a:ext cx="57880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8.6.1  </a:t>
            </a:r>
            <a:r>
              <a:rPr kumimoji="1" lang="zh-CN" altLang="en-US" sz="2400" b="1">
                <a:solidFill>
                  <a:srgbClr val="0000FF"/>
                </a:solidFill>
              </a:rPr>
              <a:t>玻尔兹曼分布律</a:t>
            </a:r>
            <a:r>
              <a:rPr kumimoji="1" lang="zh-CN" altLang="en-US" sz="2400"/>
              <a:t> </a:t>
            </a:r>
          </a:p>
        </p:txBody>
      </p:sp>
      <p:sp>
        <p:nvSpPr>
          <p:cNvPr id="11282" name="Text Box 18"/>
          <p:cNvSpPr txBox="1">
            <a:spLocks noChangeArrowheads="1"/>
          </p:cNvSpPr>
          <p:nvPr/>
        </p:nvSpPr>
        <p:spPr bwMode="auto">
          <a:xfrm>
            <a:off x="250825" y="3000375"/>
            <a:ext cx="8642350" cy="979488"/>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在保守力场的作用下</a:t>
            </a:r>
            <a:r>
              <a:rPr kumimoji="1" lang="en-US" altLang="zh-CN" sz="2400" b="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重力场</a:t>
            </a:r>
            <a:r>
              <a:rPr kumimoji="1" lang="en-US" altLang="zh-CN" sz="2400" b="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，处于平衡态时，分子在空间的分布</a:t>
            </a:r>
            <a:r>
              <a:rPr kumimoji="1" lang="zh-CN" altLang="en-US" sz="2400" b="1" dirty="0">
                <a:solidFill>
                  <a:srgbClr val="FF3300"/>
                </a:solidFill>
                <a:latin typeface="Times New Roman" pitchFamily="18" charset="0"/>
                <a:ea typeface="+mn-ea"/>
                <a:cs typeface="Times New Roman" pitchFamily="18" charset="0"/>
              </a:rPr>
              <a:t>只是稳恒的而不再是均匀的。</a:t>
            </a:r>
          </a:p>
        </p:txBody>
      </p:sp>
      <p:sp>
        <p:nvSpPr>
          <p:cNvPr id="11283" name="Text Box 19"/>
          <p:cNvSpPr txBox="1">
            <a:spLocks noChangeArrowheads="1"/>
          </p:cNvSpPr>
          <p:nvPr/>
        </p:nvSpPr>
        <p:spPr bwMode="auto">
          <a:xfrm>
            <a:off x="285750" y="3929063"/>
            <a:ext cx="8351838" cy="979487"/>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这时分子的分布除了考虑</a:t>
            </a:r>
            <a:r>
              <a:rPr kumimoji="1" lang="zh-CN" altLang="en-US" sz="2400" b="1" dirty="0">
                <a:solidFill>
                  <a:srgbClr val="0000FF"/>
                </a:solidFill>
                <a:latin typeface="Times New Roman" pitchFamily="18" charset="0"/>
                <a:ea typeface="+mn-ea"/>
                <a:cs typeface="Times New Roman" pitchFamily="18" charset="0"/>
              </a:rPr>
              <a:t>速度区间</a:t>
            </a:r>
            <a:r>
              <a:rPr kumimoji="1" lang="en-US" altLang="zh-CN" sz="2400" b="1" dirty="0">
                <a:solidFill>
                  <a:srgbClr val="0000FF"/>
                </a:solidFill>
                <a:latin typeface="Times New Roman" pitchFamily="18" charset="0"/>
                <a:ea typeface="+mn-ea"/>
                <a:cs typeface="Times New Roman" pitchFamily="18" charset="0"/>
              </a:rPr>
              <a:t>( d</a:t>
            </a:r>
            <a:r>
              <a:rPr kumimoji="1" lang="en-US" altLang="zh-CN" sz="2400" b="1" i="1" dirty="0">
                <a:solidFill>
                  <a:srgbClr val="0000FF"/>
                </a:solidFill>
                <a:latin typeface="Times New Roman" pitchFamily="18" charset="0"/>
                <a:ea typeface="+mn-ea"/>
                <a:cs typeface="Times New Roman" pitchFamily="18" charset="0"/>
              </a:rPr>
              <a:t>v</a:t>
            </a:r>
            <a:r>
              <a:rPr kumimoji="1" lang="en-US" altLang="zh-CN" sz="2400" b="1" i="1" baseline="-25000" dirty="0">
                <a:solidFill>
                  <a:srgbClr val="0000FF"/>
                </a:solidFill>
                <a:latin typeface="Times New Roman" pitchFamily="18" charset="0"/>
                <a:ea typeface="+mn-ea"/>
                <a:cs typeface="Times New Roman" pitchFamily="18" charset="0"/>
              </a:rPr>
              <a:t>x</a:t>
            </a:r>
            <a:r>
              <a:rPr kumimoji="1" lang="en-US" altLang="zh-CN" sz="2400" b="1" dirty="0">
                <a:solidFill>
                  <a:srgbClr val="0000FF"/>
                </a:solidFill>
                <a:latin typeface="Times New Roman" pitchFamily="18" charset="0"/>
                <a:ea typeface="+mn-ea"/>
                <a:cs typeface="Times New Roman" pitchFamily="18" charset="0"/>
              </a:rPr>
              <a:t>d</a:t>
            </a:r>
            <a:r>
              <a:rPr kumimoji="1" lang="en-US" altLang="zh-CN" sz="2400" b="1" i="1" dirty="0">
                <a:solidFill>
                  <a:srgbClr val="0000FF"/>
                </a:solidFill>
                <a:latin typeface="Times New Roman" pitchFamily="18" charset="0"/>
                <a:ea typeface="+mn-ea"/>
                <a:cs typeface="Times New Roman" pitchFamily="18" charset="0"/>
              </a:rPr>
              <a:t>v</a:t>
            </a:r>
            <a:r>
              <a:rPr kumimoji="1" lang="en-US" altLang="zh-CN" sz="2400" b="1" i="1" baseline="-25000" dirty="0">
                <a:solidFill>
                  <a:srgbClr val="0000FF"/>
                </a:solidFill>
                <a:latin typeface="Times New Roman" pitchFamily="18" charset="0"/>
                <a:ea typeface="+mn-ea"/>
                <a:cs typeface="Times New Roman" pitchFamily="18" charset="0"/>
              </a:rPr>
              <a:t>y</a:t>
            </a:r>
            <a:r>
              <a:rPr kumimoji="1" lang="en-US" altLang="zh-CN" sz="2400" b="1" dirty="0">
                <a:solidFill>
                  <a:srgbClr val="0000FF"/>
                </a:solidFill>
                <a:latin typeface="Times New Roman" pitchFamily="18" charset="0"/>
                <a:ea typeface="+mn-ea"/>
                <a:cs typeface="Times New Roman" pitchFamily="18" charset="0"/>
              </a:rPr>
              <a:t> d</a:t>
            </a:r>
            <a:r>
              <a:rPr kumimoji="1" lang="en-US" altLang="zh-CN" sz="2400" b="1" i="1" dirty="0">
                <a:solidFill>
                  <a:srgbClr val="0000FF"/>
                </a:solidFill>
                <a:latin typeface="Times New Roman" pitchFamily="18" charset="0"/>
                <a:ea typeface="+mn-ea"/>
                <a:cs typeface="Times New Roman" pitchFamily="18" charset="0"/>
              </a:rPr>
              <a:t>v</a:t>
            </a:r>
            <a:r>
              <a:rPr kumimoji="1" lang="en-US" altLang="zh-CN" sz="2400" b="1" i="1" baseline="-25000" dirty="0">
                <a:solidFill>
                  <a:srgbClr val="0000FF"/>
                </a:solidFill>
                <a:latin typeface="Times New Roman" pitchFamily="18" charset="0"/>
                <a:ea typeface="+mn-ea"/>
                <a:cs typeface="Times New Roman" pitchFamily="18" charset="0"/>
              </a:rPr>
              <a:t>z</a:t>
            </a:r>
            <a:r>
              <a:rPr kumimoji="1" lang="en-US" altLang="zh-CN" sz="2400" b="1" dirty="0">
                <a:solidFill>
                  <a:srgbClr val="0000FF"/>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外，还要考虑</a:t>
            </a:r>
            <a:r>
              <a:rPr kumimoji="1" lang="zh-CN" altLang="en-US" sz="2400" b="1" dirty="0">
                <a:solidFill>
                  <a:srgbClr val="0000FF"/>
                </a:solidFill>
                <a:latin typeface="Times New Roman" pitchFamily="18" charset="0"/>
                <a:ea typeface="+mn-ea"/>
                <a:cs typeface="Times New Roman" pitchFamily="18" charset="0"/>
              </a:rPr>
              <a:t>位置区间 </a:t>
            </a:r>
            <a:r>
              <a:rPr kumimoji="1" lang="en-US" altLang="zh-CN" sz="2400" b="1" dirty="0">
                <a:solidFill>
                  <a:srgbClr val="0000FF"/>
                </a:solidFill>
                <a:latin typeface="Times New Roman" pitchFamily="18" charset="0"/>
                <a:ea typeface="+mn-ea"/>
                <a:cs typeface="Times New Roman" pitchFamily="18" charset="0"/>
              </a:rPr>
              <a:t>(</a:t>
            </a:r>
            <a:r>
              <a:rPr kumimoji="1" lang="en-US" altLang="zh-CN" sz="2400" b="1" dirty="0" err="1">
                <a:solidFill>
                  <a:srgbClr val="0000FF"/>
                </a:solidFill>
                <a:latin typeface="Times New Roman" pitchFamily="18" charset="0"/>
                <a:ea typeface="+mn-ea"/>
                <a:cs typeface="Times New Roman" pitchFamily="18" charset="0"/>
              </a:rPr>
              <a:t>d</a:t>
            </a:r>
            <a:r>
              <a:rPr kumimoji="1" lang="en-US" altLang="zh-CN" sz="2400" b="1" i="1" dirty="0" err="1">
                <a:solidFill>
                  <a:srgbClr val="0000FF"/>
                </a:solidFill>
                <a:latin typeface="Times New Roman" pitchFamily="18" charset="0"/>
                <a:ea typeface="+mn-ea"/>
                <a:cs typeface="Times New Roman" pitchFamily="18" charset="0"/>
              </a:rPr>
              <a:t>x</a:t>
            </a:r>
            <a:r>
              <a:rPr kumimoji="1" lang="en-US" altLang="zh-CN" sz="2400" b="1" dirty="0" err="1">
                <a:solidFill>
                  <a:srgbClr val="0000FF"/>
                </a:solidFill>
                <a:latin typeface="Times New Roman" pitchFamily="18" charset="0"/>
                <a:ea typeface="+mn-ea"/>
                <a:cs typeface="Times New Roman" pitchFamily="18" charset="0"/>
              </a:rPr>
              <a:t>d</a:t>
            </a:r>
            <a:r>
              <a:rPr kumimoji="1" lang="en-US" altLang="zh-CN" sz="2400" b="1" i="1" dirty="0" err="1">
                <a:solidFill>
                  <a:srgbClr val="0000FF"/>
                </a:solidFill>
                <a:latin typeface="Times New Roman" pitchFamily="18" charset="0"/>
                <a:ea typeface="+mn-ea"/>
                <a:cs typeface="Times New Roman" pitchFamily="18" charset="0"/>
              </a:rPr>
              <a:t>y</a:t>
            </a:r>
            <a:r>
              <a:rPr kumimoji="1" lang="en-US" altLang="zh-CN" sz="2400" b="1" dirty="0" err="1">
                <a:solidFill>
                  <a:srgbClr val="0000FF"/>
                </a:solidFill>
                <a:latin typeface="Times New Roman" pitchFamily="18" charset="0"/>
                <a:ea typeface="+mn-ea"/>
                <a:cs typeface="Times New Roman" pitchFamily="18" charset="0"/>
              </a:rPr>
              <a:t>d</a:t>
            </a:r>
            <a:r>
              <a:rPr kumimoji="1" lang="en-US" altLang="zh-CN" sz="2400" b="1" i="1" dirty="0" err="1">
                <a:solidFill>
                  <a:srgbClr val="0000FF"/>
                </a:solidFill>
                <a:latin typeface="Times New Roman" pitchFamily="18" charset="0"/>
                <a:ea typeface="+mn-ea"/>
                <a:cs typeface="Times New Roman" pitchFamily="18" charset="0"/>
              </a:rPr>
              <a:t>z</a:t>
            </a:r>
            <a:r>
              <a:rPr kumimoji="1" lang="en-US" altLang="zh-CN" sz="2400" b="1" dirty="0">
                <a:solidFill>
                  <a:srgbClr val="0000FF"/>
                </a:solidFill>
                <a:latin typeface="Times New Roman" pitchFamily="18" charset="0"/>
                <a:ea typeface="+mn-ea"/>
                <a:cs typeface="Times New Roman" pitchFamily="18" charset="0"/>
              </a:rPr>
              <a:t>)</a:t>
            </a:r>
            <a:endParaRPr kumimoji="1" lang="zh-CN" altLang="en-US" sz="2400" b="1" dirty="0">
              <a:latin typeface="Times New Roman" pitchFamily="18" charset="0"/>
              <a:ea typeface="+mn-ea"/>
              <a:cs typeface="Times New Roman" pitchFamily="18" charset="0"/>
            </a:endParaRPr>
          </a:p>
        </p:txBody>
      </p:sp>
      <p:grpSp>
        <p:nvGrpSpPr>
          <p:cNvPr id="2" name="组合 8"/>
          <p:cNvGrpSpPr>
            <a:grpSpLocks/>
          </p:cNvGrpSpPr>
          <p:nvPr/>
        </p:nvGrpSpPr>
        <p:grpSpPr bwMode="auto">
          <a:xfrm>
            <a:off x="214313" y="5499100"/>
            <a:ext cx="8424862" cy="1001713"/>
            <a:chOff x="285720" y="928670"/>
            <a:chExt cx="8424862" cy="1000980"/>
          </a:xfrm>
        </p:grpSpPr>
        <p:sp>
          <p:nvSpPr>
            <p:cNvPr id="10" name="Text Box 4"/>
            <p:cNvSpPr txBox="1">
              <a:spLocks noChangeArrowheads="1"/>
            </p:cNvSpPr>
            <p:nvPr/>
          </p:nvSpPr>
          <p:spPr bwMode="auto">
            <a:xfrm>
              <a:off x="285720" y="928670"/>
              <a:ext cx="8424862" cy="1000980"/>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在温度为</a:t>
              </a:r>
              <a:r>
                <a:rPr kumimoji="1" lang="zh-CN" altLang="en-US" sz="2400" b="1" dirty="0">
                  <a:solidFill>
                    <a:srgbClr val="FF3300"/>
                  </a:solidFill>
                  <a:latin typeface="Times New Roman" pitchFamily="18" charset="0"/>
                  <a:ea typeface="+mn-ea"/>
                  <a:cs typeface="Times New Roman" pitchFamily="18" charset="0"/>
                </a:rPr>
                <a:t> </a:t>
              </a:r>
              <a:r>
                <a:rPr kumimoji="1" lang="en-US" altLang="zh-CN" sz="2400" b="1" i="1" dirty="0">
                  <a:solidFill>
                    <a:srgbClr val="FF3300"/>
                  </a:solidFill>
                  <a:latin typeface="Times New Roman" pitchFamily="18" charset="0"/>
                  <a:ea typeface="+mn-ea"/>
                  <a:cs typeface="Times New Roman" pitchFamily="18" charset="0"/>
                </a:rPr>
                <a:t>T</a:t>
              </a:r>
              <a:r>
                <a:rPr kumimoji="1" lang="en-US" altLang="zh-CN" sz="2400" b="1" i="1" dirty="0">
                  <a:solidFill>
                    <a:srgbClr val="FF6600"/>
                  </a:solidFill>
                  <a:latin typeface="Times New Roman" pitchFamily="18" charset="0"/>
                  <a:ea typeface="+mn-ea"/>
                  <a:cs typeface="Times New Roman" pitchFamily="18" charset="0"/>
                </a:rPr>
                <a:t> </a:t>
              </a:r>
              <a:r>
                <a:rPr kumimoji="1" lang="en-US" altLang="zh-CN" sz="2400" b="1" i="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的平衡态下任何系统的微观粒子（经典粒子）按能量分布都与           成正比。</a:t>
              </a:r>
            </a:p>
          </p:txBody>
        </p:sp>
        <p:graphicFrame>
          <p:nvGraphicFramePr>
            <p:cNvPr id="311307" name="Object 11"/>
            <p:cNvGraphicFramePr>
              <a:graphicFrameLocks/>
            </p:cNvGraphicFramePr>
            <p:nvPr/>
          </p:nvGraphicFramePr>
          <p:xfrm>
            <a:off x="2571736" y="1429584"/>
            <a:ext cx="781051" cy="476258"/>
          </p:xfrm>
          <a:graphic>
            <a:graphicData uri="http://schemas.openxmlformats.org/presentationml/2006/ole">
              <p:oleObj spid="_x0000_s58370" name="Equation" r:id="rId4" imgW="380880" imgH="203040" progId="">
                <p:embed/>
              </p:oleObj>
            </a:graphicData>
          </a:graphic>
        </p:graphicFrame>
      </p:grpSp>
      <p:grpSp>
        <p:nvGrpSpPr>
          <p:cNvPr id="3" name="组合 12"/>
          <p:cNvGrpSpPr>
            <a:grpSpLocks/>
          </p:cNvGrpSpPr>
          <p:nvPr/>
        </p:nvGrpSpPr>
        <p:grpSpPr bwMode="auto">
          <a:xfrm>
            <a:off x="214313" y="5000625"/>
            <a:ext cx="4262437" cy="576263"/>
            <a:chOff x="214282" y="5000636"/>
            <a:chExt cx="4262652" cy="576263"/>
          </a:xfrm>
        </p:grpSpPr>
        <p:sp>
          <p:nvSpPr>
            <p:cNvPr id="8" name="矩形 7"/>
            <p:cNvSpPr/>
            <p:nvPr/>
          </p:nvSpPr>
          <p:spPr>
            <a:xfrm>
              <a:off x="579425" y="5000636"/>
              <a:ext cx="3897509" cy="461963"/>
            </a:xfrm>
            <a:prstGeom prst="rect">
              <a:avLst/>
            </a:prstGeom>
          </p:spPr>
          <p:txBody>
            <a:bodyPr wrap="none">
              <a:spAutoFit/>
            </a:bodyPr>
            <a:lstStyle/>
            <a:p>
              <a:pPr>
                <a:defRPr/>
              </a:pPr>
              <a:r>
                <a:rPr lang="zh-CN" altLang="en-US" sz="2400" b="1" dirty="0">
                  <a:solidFill>
                    <a:srgbClr val="0000FF"/>
                  </a:solidFill>
                  <a:latin typeface="+mn-ea"/>
                  <a:ea typeface="+mn-ea"/>
                </a:rPr>
                <a:t>麦克斯韦</a:t>
              </a:r>
              <a:r>
                <a:rPr lang="en-US" altLang="zh-CN" sz="2400" b="1" dirty="0">
                  <a:solidFill>
                    <a:srgbClr val="0000FF"/>
                  </a:solidFill>
                  <a:latin typeface="+mn-ea"/>
                  <a:ea typeface="+mn-ea"/>
                  <a:sym typeface="Symbol" pitchFamily="18" charset="2"/>
                </a:rPr>
                <a:t>–</a:t>
              </a:r>
              <a:r>
                <a:rPr lang="zh-CN" altLang="en-US" sz="2400" b="1" dirty="0">
                  <a:solidFill>
                    <a:srgbClr val="0000FF"/>
                  </a:solidFill>
                  <a:latin typeface="+mn-ea"/>
                  <a:ea typeface="+mn-ea"/>
                </a:rPr>
                <a:t>玻耳兹曼分布律</a:t>
              </a:r>
              <a:endParaRPr lang="zh-CN" altLang="en-US" sz="2400" dirty="0">
                <a:solidFill>
                  <a:srgbClr val="0000FF"/>
                </a:solidFill>
                <a:latin typeface="+mn-ea"/>
                <a:ea typeface="+mn-ea"/>
              </a:endParaRPr>
            </a:p>
          </p:txBody>
        </p:sp>
        <p:sp>
          <p:nvSpPr>
            <p:cNvPr id="58380" name="AutoShape 12"/>
            <p:cNvSpPr>
              <a:spLocks noChangeArrowheads="1"/>
            </p:cNvSpPr>
            <p:nvPr/>
          </p:nvSpPr>
          <p:spPr bwMode="auto">
            <a:xfrm>
              <a:off x="214282" y="5000636"/>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78"/>
                                        </p:tgtEl>
                                        <p:attrNameLst>
                                          <p:attrName>style.visibility</p:attrName>
                                        </p:attrNameLst>
                                      </p:cBhvr>
                                      <p:to>
                                        <p:strVal val="visible"/>
                                      </p:to>
                                    </p:set>
                                    <p:animEffect transition="in" filter="wipe(left)">
                                      <p:cBhvr>
                                        <p:cTn id="7" dur="1000"/>
                                        <p:tgtEl>
                                          <p:spTgt spid="112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77"/>
                                        </p:tgtEl>
                                        <p:attrNameLst>
                                          <p:attrName>style.visibility</p:attrName>
                                        </p:attrNameLst>
                                      </p:cBhvr>
                                      <p:to>
                                        <p:strVal val="visible"/>
                                      </p:to>
                                    </p:set>
                                    <p:animEffect transition="in" filter="wipe(left)">
                                      <p:cBhvr>
                                        <p:cTn id="12" dur="1000"/>
                                        <p:tgtEl>
                                          <p:spTgt spid="112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81"/>
                                        </p:tgtEl>
                                        <p:attrNameLst>
                                          <p:attrName>style.visibility</p:attrName>
                                        </p:attrNameLst>
                                      </p:cBhvr>
                                      <p:to>
                                        <p:strVal val="visible"/>
                                      </p:to>
                                    </p:set>
                                    <p:animEffect transition="in" filter="wipe(left)">
                                      <p:cBhvr>
                                        <p:cTn id="17" dur="2000"/>
                                        <p:tgtEl>
                                          <p:spTgt spid="1128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282"/>
                                        </p:tgtEl>
                                        <p:attrNameLst>
                                          <p:attrName>style.visibility</p:attrName>
                                        </p:attrNameLst>
                                      </p:cBhvr>
                                      <p:to>
                                        <p:strVal val="visible"/>
                                      </p:to>
                                    </p:set>
                                    <p:animEffect transition="in" filter="dissolve">
                                      <p:cBhvr>
                                        <p:cTn id="22" dur="500"/>
                                        <p:tgtEl>
                                          <p:spTgt spid="1128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283"/>
                                        </p:tgtEl>
                                        <p:attrNameLst>
                                          <p:attrName>style.visibility</p:attrName>
                                        </p:attrNameLst>
                                      </p:cBhvr>
                                      <p:to>
                                        <p:strVal val="visible"/>
                                      </p:to>
                                    </p:set>
                                    <p:animEffect transition="in" filter="dissolve">
                                      <p:cBhvr>
                                        <p:cTn id="27" dur="500"/>
                                        <p:tgtEl>
                                          <p:spTgt spid="112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7" grpId="0" autoUpdateAnimBg="0"/>
      <p:bldP spid="11278" grpId="0" autoUpdateAnimBg="0"/>
      <p:bldP spid="11281" grpId="0" autoUpdateAnimBg="0"/>
      <p:bldP spid="11282" grpId="0" autoUpdateAnimBg="0"/>
      <p:bldP spid="1128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1307" name="Object 11"/>
          <p:cNvGraphicFramePr>
            <a:graphicFrameLocks/>
          </p:cNvGraphicFramePr>
          <p:nvPr/>
        </p:nvGraphicFramePr>
        <p:xfrm>
          <a:off x="1928813" y="1214438"/>
          <a:ext cx="4732337" cy="730250"/>
        </p:xfrm>
        <a:graphic>
          <a:graphicData uri="http://schemas.openxmlformats.org/presentationml/2006/ole">
            <p:oleObj spid="_x0000_s59394" name="公式" r:id="rId3" imgW="2628720" imgH="406080" progId="Equation.3">
              <p:embed/>
            </p:oleObj>
          </a:graphicData>
        </a:graphic>
      </p:graphicFrame>
      <p:graphicFrame>
        <p:nvGraphicFramePr>
          <p:cNvPr id="81925" name="Object 5"/>
          <p:cNvGraphicFramePr>
            <a:graphicFrameLocks noChangeAspect="1"/>
          </p:cNvGraphicFramePr>
          <p:nvPr/>
        </p:nvGraphicFramePr>
        <p:xfrm>
          <a:off x="2428875" y="3643313"/>
          <a:ext cx="3925888" cy="857250"/>
        </p:xfrm>
        <a:graphic>
          <a:graphicData uri="http://schemas.openxmlformats.org/presentationml/2006/ole">
            <p:oleObj spid="_x0000_s59395" name="Equation" r:id="rId4" imgW="1968480" imgH="431640" progId="">
              <p:embed/>
            </p:oleObj>
          </a:graphicData>
        </a:graphic>
      </p:graphicFrame>
      <p:grpSp>
        <p:nvGrpSpPr>
          <p:cNvPr id="3" name="组合 23"/>
          <p:cNvGrpSpPr>
            <a:grpSpLocks/>
          </p:cNvGrpSpPr>
          <p:nvPr/>
        </p:nvGrpSpPr>
        <p:grpSpPr bwMode="auto">
          <a:xfrm>
            <a:off x="285750" y="500063"/>
            <a:ext cx="8858250" cy="576262"/>
            <a:chOff x="285720" y="500042"/>
            <a:chExt cx="8858280" cy="576263"/>
          </a:xfrm>
        </p:grpSpPr>
        <p:sp>
          <p:nvSpPr>
            <p:cNvPr id="2" name="Text Box 12"/>
            <p:cNvSpPr txBox="1">
              <a:spLocks noChangeArrowheads="1"/>
            </p:cNvSpPr>
            <p:nvPr/>
          </p:nvSpPr>
          <p:spPr bwMode="auto">
            <a:xfrm>
              <a:off x="642909" y="500042"/>
              <a:ext cx="8501091" cy="476251"/>
            </a:xfrm>
            <a:prstGeom prst="rect">
              <a:avLst/>
            </a:prstGeom>
            <a:noFill/>
            <a:ln w="9525">
              <a:noFill/>
              <a:miter lim="800000"/>
              <a:headEnd/>
              <a:tailEnd/>
            </a:ln>
          </p:spPr>
          <p:txBody>
            <a:bodyPr>
              <a:spAutoFit/>
            </a:bodyPr>
            <a:lstStyle/>
            <a:p>
              <a:pPr>
                <a:lnSpc>
                  <a:spcPct val="120000"/>
                </a:lnSpc>
                <a:defRPr/>
              </a:pPr>
              <a:r>
                <a:rPr kumimoji="1" lang="zh-CN" altLang="en-US" sz="2400" b="1" dirty="0">
                  <a:solidFill>
                    <a:srgbClr val="FF0000"/>
                  </a:solidFill>
                  <a:latin typeface="+mn-ea"/>
                  <a:ea typeface="+mn-ea"/>
                </a:rPr>
                <a:t>无外力场时，分子数按能量的分布</a:t>
              </a:r>
              <a:endParaRPr lang="zh-CN" altLang="en-US" sz="2400" dirty="0">
                <a:solidFill>
                  <a:srgbClr val="FF0000"/>
                </a:solidFill>
                <a:latin typeface="+mn-ea"/>
                <a:ea typeface="+mn-ea"/>
              </a:endParaRPr>
            </a:p>
          </p:txBody>
        </p:sp>
        <p:sp>
          <p:nvSpPr>
            <p:cNvPr id="59410" name="AutoShape 12"/>
            <p:cNvSpPr>
              <a:spLocks noChangeArrowheads="1"/>
            </p:cNvSpPr>
            <p:nvPr/>
          </p:nvSpPr>
          <p:spPr bwMode="auto">
            <a:xfrm>
              <a:off x="285720" y="500042"/>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grpSp>
      <p:grpSp>
        <p:nvGrpSpPr>
          <p:cNvPr id="4" name="组合 24"/>
          <p:cNvGrpSpPr>
            <a:grpSpLocks/>
          </p:cNvGrpSpPr>
          <p:nvPr/>
        </p:nvGrpSpPr>
        <p:grpSpPr bwMode="auto">
          <a:xfrm>
            <a:off x="214313" y="3000375"/>
            <a:ext cx="8062912" cy="576263"/>
            <a:chOff x="214282" y="2714620"/>
            <a:chExt cx="8062916" cy="576263"/>
          </a:xfrm>
        </p:grpSpPr>
        <p:sp>
          <p:nvSpPr>
            <p:cNvPr id="8" name="Text Box 13"/>
            <p:cNvSpPr txBox="1">
              <a:spLocks noChangeArrowheads="1"/>
            </p:cNvSpPr>
            <p:nvPr/>
          </p:nvSpPr>
          <p:spPr bwMode="auto">
            <a:xfrm>
              <a:off x="642907" y="2751133"/>
              <a:ext cx="7634291" cy="476250"/>
            </a:xfrm>
            <a:prstGeom prst="rect">
              <a:avLst/>
            </a:prstGeom>
            <a:noFill/>
            <a:ln w="9525">
              <a:noFill/>
              <a:miter lim="800000"/>
              <a:headEnd/>
              <a:tailEnd/>
            </a:ln>
          </p:spPr>
          <p:txBody>
            <a:bodyPr>
              <a:spAutoFit/>
            </a:bodyPr>
            <a:lstStyle/>
            <a:p>
              <a:pPr>
                <a:lnSpc>
                  <a:spcPct val="120000"/>
                </a:lnSpc>
                <a:defRPr/>
              </a:pPr>
              <a:r>
                <a:rPr kumimoji="1" lang="zh-CN" altLang="en-US" sz="2400" b="1" dirty="0">
                  <a:solidFill>
                    <a:srgbClr val="FF0000"/>
                  </a:solidFill>
                  <a:latin typeface="+mn-ea"/>
                  <a:ea typeface="+mn-ea"/>
                </a:rPr>
                <a:t>在保守力场中，分子数按能量的分布</a:t>
              </a:r>
            </a:p>
          </p:txBody>
        </p:sp>
        <p:sp>
          <p:nvSpPr>
            <p:cNvPr id="59408" name="AutoShape 12"/>
            <p:cNvSpPr>
              <a:spLocks noChangeArrowheads="1"/>
            </p:cNvSpPr>
            <p:nvPr/>
          </p:nvSpPr>
          <p:spPr bwMode="auto">
            <a:xfrm>
              <a:off x="214282" y="271462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grpSp>
      <p:grpSp>
        <p:nvGrpSpPr>
          <p:cNvPr id="5" name="组合 16"/>
          <p:cNvGrpSpPr>
            <a:grpSpLocks/>
          </p:cNvGrpSpPr>
          <p:nvPr/>
        </p:nvGrpSpPr>
        <p:grpSpPr bwMode="auto">
          <a:xfrm>
            <a:off x="500063" y="2084388"/>
            <a:ext cx="8172450" cy="593725"/>
            <a:chOff x="857224" y="2083710"/>
            <a:chExt cx="8173202" cy="594937"/>
          </a:xfrm>
        </p:grpSpPr>
        <p:graphicFrame>
          <p:nvGraphicFramePr>
            <p:cNvPr id="59397" name="Object 9"/>
            <p:cNvGraphicFramePr>
              <a:graphicFrameLocks noChangeAspect="1"/>
            </p:cNvGraphicFramePr>
            <p:nvPr/>
          </p:nvGraphicFramePr>
          <p:xfrm>
            <a:off x="5096130" y="2083710"/>
            <a:ext cx="1063625" cy="587375"/>
          </p:xfrm>
          <a:graphic>
            <a:graphicData uri="http://schemas.openxmlformats.org/presentationml/2006/ole">
              <p:oleObj spid="_x0000_s59397" name="公式" r:id="rId5" imgW="736560" imgH="406080" progId="Equation.3">
                <p:embed/>
              </p:oleObj>
            </a:graphicData>
          </a:graphic>
        </p:graphicFrame>
        <p:sp>
          <p:nvSpPr>
            <p:cNvPr id="9" name="矩形 8"/>
            <p:cNvSpPr/>
            <p:nvPr/>
          </p:nvSpPr>
          <p:spPr>
            <a:xfrm>
              <a:off x="857224" y="2144158"/>
              <a:ext cx="4515265" cy="534489"/>
            </a:xfrm>
            <a:prstGeom prst="rect">
              <a:avLst/>
            </a:prstGeom>
          </p:spPr>
          <p:txBody>
            <a:bodyPr wrap="none">
              <a:spAutoFit/>
            </a:bodyPr>
            <a:lstStyle/>
            <a:p>
              <a:pPr>
                <a:lnSpc>
                  <a:spcPct val="120000"/>
                </a:lnSpc>
                <a:defRPr/>
              </a:pPr>
              <a:r>
                <a:rPr kumimoji="1" lang="zh-CN" altLang="en-US" sz="2400" b="1" dirty="0">
                  <a:latin typeface="+mn-ea"/>
                </a:rPr>
                <a:t>即：遵循</a:t>
              </a:r>
              <a:r>
                <a:rPr kumimoji="1" lang="zh-CN" altLang="en-US" sz="2400" b="1" dirty="0">
                  <a:solidFill>
                    <a:srgbClr val="0000FF"/>
                  </a:solidFill>
                  <a:latin typeface="+mn-ea"/>
                </a:rPr>
                <a:t>麦克斯韦速率分布律</a:t>
              </a:r>
              <a:r>
                <a:rPr kumimoji="1" lang="zh-CN" altLang="en-US" sz="2400" b="1" dirty="0">
                  <a:latin typeface="+mn-ea"/>
                </a:rPr>
                <a:t>，</a:t>
              </a:r>
              <a:endParaRPr lang="zh-CN" altLang="en-US" sz="2400" dirty="0">
                <a:latin typeface="+mn-ea"/>
              </a:endParaRPr>
            </a:p>
          </p:txBody>
        </p:sp>
        <p:sp>
          <p:nvSpPr>
            <p:cNvPr id="16" name="Text Box 10"/>
            <p:cNvSpPr txBox="1">
              <a:spLocks noChangeArrowheads="1"/>
            </p:cNvSpPr>
            <p:nvPr/>
          </p:nvSpPr>
          <p:spPr bwMode="auto">
            <a:xfrm>
              <a:off x="6131384" y="2096436"/>
              <a:ext cx="2899042" cy="475631"/>
            </a:xfrm>
            <a:prstGeom prst="rect">
              <a:avLst/>
            </a:prstGeom>
            <a:noFill/>
            <a:ln w="9525">
              <a:noFill/>
              <a:miter lim="800000"/>
              <a:headEnd/>
              <a:tailEnd/>
            </a:ln>
            <a:effectLst/>
          </p:spPr>
          <p:txBody>
            <a:bodyPr>
              <a:spAutoFit/>
            </a:bodyPr>
            <a:lstStyle/>
            <a:p>
              <a:pPr>
                <a:lnSpc>
                  <a:spcPct val="120000"/>
                </a:lnSpc>
                <a:defRPr/>
              </a:pPr>
              <a:r>
                <a:rPr kumimoji="1" lang="zh-CN" altLang="en-US" sz="2400" b="1" dirty="0">
                  <a:latin typeface="+mn-ea"/>
                  <a:ea typeface="+mn-ea"/>
                </a:rPr>
                <a:t>代表分子的动能。</a:t>
              </a:r>
            </a:p>
          </p:txBody>
        </p:sp>
      </p:grpSp>
      <p:grpSp>
        <p:nvGrpSpPr>
          <p:cNvPr id="6" name="组合 22"/>
          <p:cNvGrpSpPr>
            <a:grpSpLocks/>
          </p:cNvGrpSpPr>
          <p:nvPr/>
        </p:nvGrpSpPr>
        <p:grpSpPr bwMode="auto">
          <a:xfrm>
            <a:off x="571500" y="4749800"/>
            <a:ext cx="8399463" cy="536575"/>
            <a:chOff x="571472" y="4286256"/>
            <a:chExt cx="8399548" cy="536075"/>
          </a:xfrm>
        </p:grpSpPr>
        <p:graphicFrame>
          <p:nvGraphicFramePr>
            <p:cNvPr id="59396" name="Object 7"/>
            <p:cNvGraphicFramePr>
              <a:graphicFrameLocks noChangeAspect="1"/>
            </p:cNvGraphicFramePr>
            <p:nvPr/>
          </p:nvGraphicFramePr>
          <p:xfrm>
            <a:off x="5786446" y="4357694"/>
            <a:ext cx="380474" cy="452455"/>
          </p:xfrm>
          <a:graphic>
            <a:graphicData uri="http://schemas.openxmlformats.org/presentationml/2006/ole">
              <p:oleObj spid="_x0000_s59396" name="Equation" r:id="rId6" imgW="203040" imgH="241200" progId="">
                <p:embed/>
              </p:oleObj>
            </a:graphicData>
          </a:graphic>
        </p:graphicFrame>
        <p:sp>
          <p:nvSpPr>
            <p:cNvPr id="21" name="矩形 20"/>
            <p:cNvSpPr/>
            <p:nvPr/>
          </p:nvSpPr>
          <p:spPr>
            <a:xfrm>
              <a:off x="571472" y="4344939"/>
              <a:ext cx="5443593" cy="477392"/>
            </a:xfrm>
            <a:prstGeom prst="rect">
              <a:avLst/>
            </a:prstGeom>
          </p:spPr>
          <p:txBody>
            <a:bodyPr wrap="none">
              <a:spAutoFit/>
            </a:bodyPr>
            <a:lstStyle/>
            <a:p>
              <a:pPr>
                <a:lnSpc>
                  <a:spcPct val="120000"/>
                </a:lnSpc>
                <a:defRPr/>
              </a:pPr>
              <a:r>
                <a:rPr kumimoji="1" lang="zh-CN" altLang="en-US" sz="2400" b="1" dirty="0">
                  <a:latin typeface="+mn-ea"/>
                </a:rPr>
                <a:t>即：遵循</a:t>
              </a:r>
              <a:r>
                <a:rPr kumimoji="1" lang="zh-CN" altLang="en-US" sz="2400" b="1" dirty="0">
                  <a:solidFill>
                    <a:srgbClr val="0000FF"/>
                  </a:solidFill>
                  <a:latin typeface="+mn-ea"/>
                </a:rPr>
                <a:t>麦克斯韦</a:t>
              </a:r>
              <a:r>
                <a:rPr lang="en-US" altLang="zh-CN" sz="2400" b="1" dirty="0">
                  <a:solidFill>
                    <a:srgbClr val="0000FF"/>
                  </a:solidFill>
                  <a:latin typeface="+mn-ea"/>
                  <a:sym typeface="Symbol" pitchFamily="18" charset="2"/>
                </a:rPr>
                <a:t>–</a:t>
              </a:r>
              <a:r>
                <a:rPr lang="zh-CN" altLang="en-US" sz="2400" b="1" dirty="0">
                  <a:solidFill>
                    <a:srgbClr val="0000FF"/>
                  </a:solidFill>
                  <a:latin typeface="+mn-ea"/>
                </a:rPr>
                <a:t>玻耳兹曼分布律</a:t>
              </a:r>
              <a:r>
                <a:rPr kumimoji="1" lang="zh-CN" altLang="en-US" sz="2400" b="1" dirty="0">
                  <a:latin typeface="+mn-ea"/>
                </a:rPr>
                <a:t>，</a:t>
              </a:r>
              <a:endParaRPr lang="zh-CN" altLang="en-US" sz="2400" dirty="0">
                <a:latin typeface="+mn-ea"/>
              </a:endParaRPr>
            </a:p>
          </p:txBody>
        </p:sp>
        <p:sp>
          <p:nvSpPr>
            <p:cNvPr id="22" name="Text Box 10"/>
            <p:cNvSpPr txBox="1">
              <a:spLocks noChangeArrowheads="1"/>
            </p:cNvSpPr>
            <p:nvPr/>
          </p:nvSpPr>
          <p:spPr bwMode="auto">
            <a:xfrm>
              <a:off x="6072216" y="4286256"/>
              <a:ext cx="2898804" cy="536075"/>
            </a:xfrm>
            <a:prstGeom prst="rect">
              <a:avLst/>
            </a:prstGeom>
            <a:noFill/>
            <a:ln w="9525">
              <a:noFill/>
              <a:miter lim="800000"/>
              <a:headEnd/>
              <a:tailEnd/>
            </a:ln>
            <a:effectLst/>
          </p:spPr>
          <p:txBody>
            <a:bodyPr>
              <a:spAutoFit/>
            </a:bodyPr>
            <a:lstStyle/>
            <a:p>
              <a:pPr>
                <a:lnSpc>
                  <a:spcPct val="120000"/>
                </a:lnSpc>
                <a:defRPr/>
              </a:pPr>
              <a:r>
                <a:rPr kumimoji="1" lang="zh-CN" altLang="en-US" sz="2400" b="1" dirty="0">
                  <a:latin typeface="+mn-ea"/>
                  <a:ea typeface="+mn-ea"/>
                </a:rPr>
                <a:t>代表分子的势能。</a:t>
              </a:r>
            </a:p>
          </p:txBody>
        </p:sp>
      </p:grpSp>
      <p:sp>
        <p:nvSpPr>
          <p:cNvPr id="27" name="Text Box 8"/>
          <p:cNvSpPr txBox="1">
            <a:spLocks noChangeArrowheads="1"/>
          </p:cNvSpPr>
          <p:nvPr/>
        </p:nvSpPr>
        <p:spPr bwMode="auto">
          <a:xfrm>
            <a:off x="571500" y="5500688"/>
            <a:ext cx="8064500" cy="438150"/>
          </a:xfrm>
          <a:prstGeom prst="rect">
            <a:avLst/>
          </a:prstGeom>
          <a:noFill/>
          <a:ln w="9525">
            <a:noFill/>
            <a:miter lim="800000"/>
            <a:headEnd/>
            <a:tailEnd/>
          </a:ln>
        </p:spPr>
        <p:txBody>
          <a:bodyPr>
            <a:spAutoFit/>
          </a:bodyPr>
          <a:lstStyle/>
          <a:p>
            <a:pPr>
              <a:lnSpc>
                <a:spcPct val="125000"/>
              </a:lnSpc>
            </a:pPr>
            <a:r>
              <a:rPr lang="en-US" altLang="zh-CN" sz="2000" b="1" i="1">
                <a:solidFill>
                  <a:srgbClr val="FF3300"/>
                </a:solidFill>
                <a:latin typeface="Times New Roman" pitchFamily="18" charset="0"/>
                <a:ea typeface="楷体_GB2312" pitchFamily="49" charset="-122"/>
              </a:rPr>
              <a:t> </a:t>
            </a:r>
            <a:r>
              <a:rPr lang="en-US" altLang="zh-CN" sz="2000" b="1">
                <a:solidFill>
                  <a:srgbClr val="FF3300"/>
                </a:solidFill>
                <a:latin typeface="Times New Roman" pitchFamily="18" charset="0"/>
                <a:ea typeface="楷体_GB2312" pitchFamily="49" charset="-122"/>
              </a:rPr>
              <a:t>( </a:t>
            </a:r>
            <a:r>
              <a:rPr lang="en-US" altLang="zh-CN" sz="2000" b="1" i="1">
                <a:solidFill>
                  <a:srgbClr val="FF3300"/>
                </a:solidFill>
                <a:latin typeface="Times New Roman" pitchFamily="18" charset="0"/>
                <a:ea typeface="楷体_GB2312" pitchFamily="49" charset="-122"/>
              </a:rPr>
              <a:t>C </a:t>
            </a:r>
            <a:r>
              <a:rPr lang="zh-CN" altLang="en-US" sz="2000" b="1">
                <a:solidFill>
                  <a:srgbClr val="FF3300"/>
                </a:solidFill>
                <a:latin typeface="Times New Roman" pitchFamily="18" charset="0"/>
                <a:ea typeface="楷体_GB2312" pitchFamily="49" charset="-122"/>
              </a:rPr>
              <a:t>是与位置坐标和速度无关的比例因子，可依据归一化条件确定</a:t>
            </a:r>
            <a:r>
              <a:rPr lang="en-US" altLang="zh-CN" sz="2000" b="1">
                <a:solidFill>
                  <a:srgbClr val="FF3300"/>
                </a:solidFill>
                <a:latin typeface="Times New Roman" pitchFamily="18" charset="0"/>
                <a:ea typeface="楷体_GB2312" pitchFamily="49" charset="-122"/>
              </a:rPr>
              <a:t>)</a:t>
            </a:r>
            <a:r>
              <a:rPr lang="en-US" altLang="zh-CN" sz="2000">
                <a:solidFill>
                  <a:srgbClr val="FF3300"/>
                </a:solidFill>
                <a:latin typeface="Times New Roman" pitchFamily="18" charset="0"/>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1307"/>
                                        </p:tgtEl>
                                        <p:attrNameLst>
                                          <p:attrName>style.visibility</p:attrName>
                                        </p:attrNameLst>
                                      </p:cBhvr>
                                      <p:to>
                                        <p:strVal val="visible"/>
                                      </p:to>
                                    </p:set>
                                    <p:animEffect transition="in" filter="wipe(left)">
                                      <p:cBhvr>
                                        <p:cTn id="12" dur="500"/>
                                        <p:tgtEl>
                                          <p:spTgt spid="3113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1925"/>
                                        </p:tgtEl>
                                        <p:attrNameLst>
                                          <p:attrName>style.visibility</p:attrName>
                                        </p:attrNameLst>
                                      </p:cBhvr>
                                      <p:to>
                                        <p:strVal val="visible"/>
                                      </p:to>
                                    </p:set>
                                    <p:animEffect transition="in" filter="wipe(left)">
                                      <p:cBhvr>
                                        <p:cTn id="27" dur="500"/>
                                        <p:tgtEl>
                                          <p:spTgt spid="819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Text Box 4"/>
          <p:cNvSpPr txBox="1">
            <a:spLocks noChangeArrowheads="1"/>
          </p:cNvSpPr>
          <p:nvPr/>
        </p:nvSpPr>
        <p:spPr bwMode="auto">
          <a:xfrm>
            <a:off x="428625" y="428625"/>
            <a:ext cx="8424863" cy="1481138"/>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平衡态下温度为</a:t>
            </a:r>
            <a:r>
              <a:rPr kumimoji="1" lang="zh-CN" altLang="en-US" sz="2400" b="1" dirty="0">
                <a:solidFill>
                  <a:srgbClr val="FF3300"/>
                </a:solidFill>
                <a:latin typeface="Times New Roman" pitchFamily="18" charset="0"/>
                <a:ea typeface="+mn-ea"/>
                <a:cs typeface="Times New Roman" pitchFamily="18" charset="0"/>
              </a:rPr>
              <a:t> </a:t>
            </a:r>
            <a:r>
              <a:rPr kumimoji="1" lang="en-US" altLang="zh-CN" sz="2400" b="1" i="1" dirty="0">
                <a:solidFill>
                  <a:srgbClr val="FF3300"/>
                </a:solidFill>
                <a:latin typeface="Times New Roman" pitchFamily="18" charset="0"/>
                <a:ea typeface="+mn-ea"/>
                <a:cs typeface="Times New Roman" pitchFamily="18" charset="0"/>
              </a:rPr>
              <a:t>T</a:t>
            </a:r>
            <a:r>
              <a:rPr kumimoji="1" lang="en-US" altLang="zh-CN" sz="2400" b="1" i="1" dirty="0">
                <a:solidFill>
                  <a:srgbClr val="FF6600"/>
                </a:solidFill>
                <a:latin typeface="Times New Roman" pitchFamily="18" charset="0"/>
                <a:ea typeface="+mn-ea"/>
                <a:cs typeface="Times New Roman" pitchFamily="18" charset="0"/>
              </a:rPr>
              <a:t> </a:t>
            </a:r>
            <a:r>
              <a:rPr kumimoji="1" lang="en-US" altLang="zh-CN" sz="2400" b="1" i="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的气体中，位置在</a:t>
            </a:r>
            <a:r>
              <a:rPr kumimoji="1" lang="zh-CN" altLang="en-US" sz="2400" b="1" dirty="0">
                <a:solidFill>
                  <a:srgbClr val="FF3300"/>
                </a:solidFill>
                <a:latin typeface="Times New Roman" pitchFamily="18" charset="0"/>
                <a:ea typeface="+mn-ea"/>
                <a:cs typeface="Times New Roman" pitchFamily="18" charset="0"/>
              </a:rPr>
              <a:t> </a:t>
            </a:r>
            <a:r>
              <a:rPr kumimoji="1" lang="en-US" altLang="zh-CN" sz="2400" b="1" i="1" dirty="0" err="1">
                <a:solidFill>
                  <a:srgbClr val="FF3300"/>
                </a:solidFill>
                <a:latin typeface="Times New Roman" pitchFamily="18" charset="0"/>
                <a:ea typeface="+mn-ea"/>
                <a:cs typeface="Times New Roman" pitchFamily="18" charset="0"/>
              </a:rPr>
              <a:t>x</a:t>
            </a:r>
            <a:r>
              <a:rPr kumimoji="1" lang="en-US" altLang="zh-CN" sz="2400" b="1" dirty="0" err="1">
                <a:solidFill>
                  <a:srgbClr val="FF3300"/>
                </a:solidFill>
                <a:latin typeface="Times New Roman" pitchFamily="18" charset="0"/>
                <a:ea typeface="+mn-ea"/>
                <a:cs typeface="Times New Roman" pitchFamily="18" charset="0"/>
              </a:rPr>
              <a:t>~</a:t>
            </a:r>
            <a:r>
              <a:rPr kumimoji="1" lang="en-US" altLang="zh-CN" sz="2400" b="1" i="1" dirty="0" err="1">
                <a:solidFill>
                  <a:srgbClr val="FF3300"/>
                </a:solidFill>
                <a:latin typeface="Times New Roman" pitchFamily="18" charset="0"/>
                <a:ea typeface="+mn-ea"/>
                <a:cs typeface="Times New Roman" pitchFamily="18" charset="0"/>
              </a:rPr>
              <a:t>x</a:t>
            </a:r>
            <a:r>
              <a:rPr kumimoji="1" lang="en-US" altLang="zh-CN" sz="2400" b="1" dirty="0" err="1">
                <a:solidFill>
                  <a:srgbClr val="FF3300"/>
                </a:solidFill>
                <a:latin typeface="Times New Roman" pitchFamily="18" charset="0"/>
                <a:ea typeface="+mn-ea"/>
                <a:cs typeface="Times New Roman" pitchFamily="18" charset="0"/>
              </a:rPr>
              <a:t>+d</a:t>
            </a:r>
            <a:r>
              <a:rPr kumimoji="1" lang="en-US" altLang="zh-CN" sz="2400" b="1" i="1" dirty="0" err="1">
                <a:solidFill>
                  <a:srgbClr val="FF3300"/>
                </a:solidFill>
                <a:latin typeface="Times New Roman" pitchFamily="18" charset="0"/>
                <a:ea typeface="+mn-ea"/>
                <a:cs typeface="Times New Roman" pitchFamily="18" charset="0"/>
              </a:rPr>
              <a:t>x</a:t>
            </a:r>
            <a:r>
              <a:rPr kumimoji="1" lang="zh-CN" altLang="en-US" sz="2400" b="1" i="1" dirty="0">
                <a:latin typeface="Times New Roman" pitchFamily="18" charset="0"/>
                <a:ea typeface="+mn-ea"/>
                <a:cs typeface="Times New Roman" pitchFamily="18" charset="0"/>
              </a:rPr>
              <a:t>，</a:t>
            </a:r>
            <a:r>
              <a:rPr kumimoji="1" lang="zh-CN" altLang="en-US" sz="2400" b="1" dirty="0">
                <a:solidFill>
                  <a:srgbClr val="FF0000"/>
                </a:solidFill>
                <a:latin typeface="Times New Roman" pitchFamily="18" charset="0"/>
                <a:ea typeface="+mn-ea"/>
                <a:cs typeface="Times New Roman" pitchFamily="18" charset="0"/>
              </a:rPr>
              <a:t> </a:t>
            </a:r>
            <a:r>
              <a:rPr kumimoji="1" lang="en-US" altLang="zh-CN" sz="2400" b="1" i="1" dirty="0" err="1">
                <a:solidFill>
                  <a:srgbClr val="FF3300"/>
                </a:solidFill>
                <a:latin typeface="Times New Roman" pitchFamily="18" charset="0"/>
                <a:ea typeface="+mn-ea"/>
                <a:cs typeface="Times New Roman" pitchFamily="18" charset="0"/>
              </a:rPr>
              <a:t>y</a:t>
            </a:r>
            <a:r>
              <a:rPr kumimoji="1" lang="en-US" altLang="zh-CN" sz="2400" b="1" dirty="0" err="1">
                <a:solidFill>
                  <a:srgbClr val="FF3300"/>
                </a:solidFill>
                <a:latin typeface="Times New Roman" pitchFamily="18" charset="0"/>
                <a:ea typeface="+mn-ea"/>
                <a:cs typeface="Times New Roman" pitchFamily="18" charset="0"/>
              </a:rPr>
              <a:t>~</a:t>
            </a:r>
            <a:r>
              <a:rPr kumimoji="1" lang="en-US" altLang="zh-CN" sz="2400" b="1" i="1" dirty="0" err="1">
                <a:solidFill>
                  <a:srgbClr val="FF3300"/>
                </a:solidFill>
                <a:latin typeface="Times New Roman" pitchFamily="18" charset="0"/>
                <a:ea typeface="+mn-ea"/>
                <a:cs typeface="Times New Roman" pitchFamily="18" charset="0"/>
              </a:rPr>
              <a:t>y</a:t>
            </a:r>
            <a:r>
              <a:rPr kumimoji="1" lang="en-US" altLang="zh-CN" sz="2400" b="1" dirty="0" err="1">
                <a:solidFill>
                  <a:srgbClr val="FF3300"/>
                </a:solidFill>
                <a:latin typeface="Times New Roman" pitchFamily="18" charset="0"/>
                <a:ea typeface="+mn-ea"/>
                <a:cs typeface="Times New Roman" pitchFamily="18" charset="0"/>
              </a:rPr>
              <a:t>+d</a:t>
            </a:r>
            <a:r>
              <a:rPr kumimoji="1" lang="en-US" altLang="zh-CN" sz="2400" b="1" i="1" dirty="0" err="1">
                <a:solidFill>
                  <a:srgbClr val="FF3300"/>
                </a:solidFill>
                <a:latin typeface="Times New Roman" pitchFamily="18" charset="0"/>
                <a:ea typeface="+mn-ea"/>
                <a:cs typeface="Times New Roman" pitchFamily="18" charset="0"/>
              </a:rPr>
              <a:t>y</a:t>
            </a:r>
            <a:r>
              <a:rPr kumimoji="1" lang="zh-CN" altLang="en-US" sz="2400" b="1" i="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 </a:t>
            </a:r>
            <a:r>
              <a:rPr kumimoji="1" lang="en-US" altLang="zh-CN" sz="2400" b="1" i="1" dirty="0" err="1">
                <a:solidFill>
                  <a:srgbClr val="FF3300"/>
                </a:solidFill>
                <a:latin typeface="Times New Roman" pitchFamily="18" charset="0"/>
                <a:ea typeface="+mn-ea"/>
                <a:cs typeface="Times New Roman" pitchFamily="18" charset="0"/>
              </a:rPr>
              <a:t>z</a:t>
            </a:r>
            <a:r>
              <a:rPr kumimoji="1" lang="en-US" altLang="zh-CN" sz="2400" b="1" dirty="0" err="1">
                <a:solidFill>
                  <a:srgbClr val="FF3300"/>
                </a:solidFill>
                <a:latin typeface="Times New Roman" pitchFamily="18" charset="0"/>
                <a:ea typeface="+mn-ea"/>
                <a:cs typeface="Times New Roman" pitchFamily="18" charset="0"/>
              </a:rPr>
              <a:t>~</a:t>
            </a:r>
            <a:r>
              <a:rPr kumimoji="1" lang="en-US" altLang="zh-CN" sz="2400" b="1" i="1" dirty="0" err="1">
                <a:solidFill>
                  <a:srgbClr val="FF3300"/>
                </a:solidFill>
                <a:latin typeface="Times New Roman" pitchFamily="18" charset="0"/>
                <a:ea typeface="+mn-ea"/>
                <a:cs typeface="Times New Roman" pitchFamily="18" charset="0"/>
              </a:rPr>
              <a:t>z</a:t>
            </a:r>
            <a:r>
              <a:rPr kumimoji="1" lang="en-US" altLang="zh-CN" sz="2400" b="1" dirty="0" err="1">
                <a:solidFill>
                  <a:srgbClr val="FF3300"/>
                </a:solidFill>
                <a:latin typeface="Times New Roman" pitchFamily="18" charset="0"/>
                <a:ea typeface="+mn-ea"/>
                <a:cs typeface="Times New Roman" pitchFamily="18" charset="0"/>
              </a:rPr>
              <a:t>+d</a:t>
            </a:r>
            <a:r>
              <a:rPr kumimoji="1" lang="en-US" altLang="zh-CN" sz="2400" b="1" i="1" dirty="0" err="1">
                <a:solidFill>
                  <a:srgbClr val="FF3300"/>
                </a:solidFill>
                <a:latin typeface="Times New Roman" pitchFamily="18" charset="0"/>
                <a:ea typeface="+mn-ea"/>
                <a:cs typeface="Times New Roman" pitchFamily="18" charset="0"/>
              </a:rPr>
              <a:t>z</a:t>
            </a:r>
            <a:r>
              <a:rPr kumimoji="1" lang="en-US" altLang="zh-CN" sz="2400" b="1" dirty="0">
                <a:solidFill>
                  <a:srgbClr val="FF0000"/>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中</a:t>
            </a: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且速度在 </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x</a:t>
            </a:r>
            <a:r>
              <a:rPr kumimoji="1" lang="en-US" altLang="zh-CN" sz="2400" b="1" i="1" baseline="-25000" dirty="0">
                <a:solidFill>
                  <a:srgbClr val="FF3300"/>
                </a:solidFill>
                <a:latin typeface="Times New Roman" pitchFamily="18" charset="0"/>
                <a:ea typeface="+mn-ea"/>
                <a:cs typeface="Times New Roman" pitchFamily="18" charset="0"/>
              </a:rPr>
              <a:t> </a:t>
            </a:r>
            <a:r>
              <a:rPr kumimoji="1" lang="en-US" altLang="zh-CN" sz="2400" b="1" dirty="0">
                <a:solidFill>
                  <a:srgbClr val="FF3300"/>
                </a:solidFill>
                <a:latin typeface="Times New Roman" pitchFamily="18" charset="0"/>
                <a:ea typeface="+mn-ea"/>
                <a:cs typeface="Times New Roman" pitchFamily="18" charset="0"/>
              </a:rPr>
              <a:t>~ </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x</a:t>
            </a:r>
            <a:r>
              <a:rPr kumimoji="1" lang="en-US" altLang="zh-CN" sz="2400" b="1" i="1" dirty="0" err="1">
                <a:solidFill>
                  <a:srgbClr val="FF3300"/>
                </a:solidFill>
                <a:latin typeface="Times New Roman" pitchFamily="18" charset="0"/>
                <a:ea typeface="+mn-ea"/>
                <a:cs typeface="Times New Roman" pitchFamily="18" charset="0"/>
              </a:rPr>
              <a:t>+</a:t>
            </a:r>
            <a:r>
              <a:rPr kumimoji="1" lang="en-US" altLang="zh-CN" sz="2400" b="1" dirty="0" err="1">
                <a:solidFill>
                  <a:srgbClr val="FF3300"/>
                </a:solidFill>
                <a:latin typeface="Times New Roman" pitchFamily="18" charset="0"/>
                <a:ea typeface="+mn-ea"/>
                <a:cs typeface="Times New Roman" pitchFamily="18" charset="0"/>
              </a:rPr>
              <a:t>d</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x</a:t>
            </a:r>
            <a:r>
              <a:rPr kumimoji="1" lang="en-US" altLang="zh-CN" sz="2400" i="1" baseline="-25000" dirty="0">
                <a:latin typeface="Times New Roman" pitchFamily="18" charset="0"/>
                <a:ea typeface="+mn-ea"/>
                <a:cs typeface="Times New Roman" pitchFamily="18" charset="0"/>
              </a:rPr>
              <a:t> </a:t>
            </a:r>
            <a:r>
              <a:rPr kumimoji="1" lang="zh-CN" altLang="en-US" sz="2400" dirty="0">
                <a:latin typeface="Times New Roman" pitchFamily="18" charset="0"/>
                <a:ea typeface="+mn-ea"/>
                <a:cs typeface="Times New Roman" pitchFamily="18" charset="0"/>
              </a:rPr>
              <a:t>、 </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baseline="-25000" dirty="0" err="1">
                <a:solidFill>
                  <a:srgbClr val="FF0000"/>
                </a:solidFill>
                <a:latin typeface="Times New Roman" pitchFamily="18" charset="0"/>
                <a:ea typeface="+mn-ea"/>
                <a:cs typeface="Times New Roman" pitchFamily="18" charset="0"/>
              </a:rPr>
              <a:t>y</a:t>
            </a:r>
            <a:r>
              <a:rPr kumimoji="1" lang="en-US" altLang="zh-CN" sz="2400" b="1" i="1" baseline="-25000" dirty="0">
                <a:solidFill>
                  <a:srgbClr val="FF0000"/>
                </a:solidFill>
                <a:latin typeface="Times New Roman" pitchFamily="18" charset="0"/>
                <a:ea typeface="+mn-ea"/>
                <a:cs typeface="Times New Roman" pitchFamily="18" charset="0"/>
              </a:rPr>
              <a:t> </a:t>
            </a:r>
            <a:r>
              <a:rPr kumimoji="1" lang="en-US" altLang="zh-CN" sz="2400" b="1" dirty="0">
                <a:solidFill>
                  <a:srgbClr val="FF0000"/>
                </a:solidFill>
                <a:latin typeface="Times New Roman" pitchFamily="18" charset="0"/>
                <a:ea typeface="+mn-ea"/>
                <a:cs typeface="Times New Roman" pitchFamily="18" charset="0"/>
              </a:rPr>
              <a:t>~ </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baseline="-25000" dirty="0" err="1">
                <a:solidFill>
                  <a:srgbClr val="FF0000"/>
                </a:solidFill>
                <a:latin typeface="Times New Roman" pitchFamily="18" charset="0"/>
                <a:ea typeface="+mn-ea"/>
                <a:cs typeface="Times New Roman" pitchFamily="18" charset="0"/>
              </a:rPr>
              <a:t>y</a:t>
            </a:r>
            <a:r>
              <a:rPr kumimoji="1" lang="en-US" altLang="zh-CN" sz="2400" b="1" i="1" dirty="0" err="1">
                <a:solidFill>
                  <a:srgbClr val="FF0000"/>
                </a:solidFill>
                <a:latin typeface="Times New Roman" pitchFamily="18" charset="0"/>
                <a:ea typeface="+mn-ea"/>
                <a:cs typeface="Times New Roman" pitchFamily="18" charset="0"/>
              </a:rPr>
              <a:t>+</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v</a:t>
            </a:r>
            <a:r>
              <a:rPr kumimoji="1" lang="en-US" altLang="zh-CN" sz="2400" b="1" i="1" baseline="-25000" dirty="0" err="1">
                <a:solidFill>
                  <a:srgbClr val="FF0000"/>
                </a:solidFill>
                <a:latin typeface="Times New Roman" pitchFamily="18" charset="0"/>
                <a:ea typeface="+mn-ea"/>
                <a:cs typeface="Times New Roman" pitchFamily="18" charset="0"/>
              </a:rPr>
              <a:t>y</a:t>
            </a:r>
            <a:r>
              <a:rPr kumimoji="1" lang="zh-CN" altLang="en-US" sz="2400" i="1" baseline="-25000" dirty="0">
                <a:latin typeface="Times New Roman" pitchFamily="18" charset="0"/>
                <a:ea typeface="+mn-ea"/>
                <a:cs typeface="Times New Roman" pitchFamily="18" charset="0"/>
              </a:rPr>
              <a:t>、</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z</a:t>
            </a:r>
            <a:r>
              <a:rPr kumimoji="1" lang="en-US" altLang="zh-CN" sz="2400" b="1" i="1" baseline="-25000" dirty="0">
                <a:solidFill>
                  <a:srgbClr val="FF3300"/>
                </a:solidFill>
                <a:latin typeface="Times New Roman" pitchFamily="18" charset="0"/>
                <a:ea typeface="+mn-ea"/>
                <a:cs typeface="Times New Roman" pitchFamily="18" charset="0"/>
              </a:rPr>
              <a:t> </a:t>
            </a:r>
            <a:r>
              <a:rPr kumimoji="1" lang="en-US" altLang="zh-CN" sz="2400" b="1" dirty="0">
                <a:solidFill>
                  <a:srgbClr val="FF3300"/>
                </a:solidFill>
                <a:latin typeface="Times New Roman" pitchFamily="18" charset="0"/>
                <a:ea typeface="+mn-ea"/>
                <a:cs typeface="Times New Roman" pitchFamily="18" charset="0"/>
              </a:rPr>
              <a:t>~ </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z</a:t>
            </a:r>
            <a:r>
              <a:rPr kumimoji="1" lang="en-US" altLang="zh-CN" sz="2400" b="1" i="1" dirty="0" err="1">
                <a:solidFill>
                  <a:srgbClr val="FF3300"/>
                </a:solidFill>
                <a:latin typeface="Times New Roman" pitchFamily="18" charset="0"/>
                <a:ea typeface="+mn-ea"/>
                <a:cs typeface="Times New Roman" pitchFamily="18" charset="0"/>
              </a:rPr>
              <a:t>+</a:t>
            </a:r>
            <a:r>
              <a:rPr kumimoji="1" lang="en-US" altLang="zh-CN" sz="2400" b="1" dirty="0" err="1">
                <a:solidFill>
                  <a:srgbClr val="FF3300"/>
                </a:solidFill>
                <a:latin typeface="Times New Roman" pitchFamily="18" charset="0"/>
                <a:ea typeface="+mn-ea"/>
                <a:cs typeface="Times New Roman" pitchFamily="18" charset="0"/>
              </a:rPr>
              <a:t>d</a:t>
            </a:r>
            <a:r>
              <a:rPr kumimoji="1" lang="en-US" altLang="zh-CN" sz="2400" b="1" i="1" dirty="0" err="1">
                <a:solidFill>
                  <a:srgbClr val="FF3300"/>
                </a:solidFill>
                <a:latin typeface="Times New Roman" pitchFamily="18" charset="0"/>
                <a:ea typeface="+mn-ea"/>
                <a:cs typeface="Times New Roman" pitchFamily="18" charset="0"/>
              </a:rPr>
              <a:t>v</a:t>
            </a:r>
            <a:r>
              <a:rPr kumimoji="1" lang="en-US" altLang="zh-CN" sz="2400" b="1" i="1" baseline="-25000" dirty="0" err="1">
                <a:solidFill>
                  <a:srgbClr val="FF3300"/>
                </a:solidFill>
                <a:latin typeface="Times New Roman" pitchFamily="18" charset="0"/>
                <a:ea typeface="+mn-ea"/>
                <a:cs typeface="Times New Roman" pitchFamily="18" charset="0"/>
              </a:rPr>
              <a:t>z</a:t>
            </a:r>
            <a:r>
              <a:rPr kumimoji="1" lang="en-US" altLang="zh-CN" sz="2400" i="1" baseline="-25000"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区间的分子数为：</a:t>
            </a:r>
          </a:p>
        </p:txBody>
      </p:sp>
      <p:graphicFrame>
        <p:nvGraphicFramePr>
          <p:cNvPr id="81925" name="Object 5"/>
          <p:cNvGraphicFramePr>
            <a:graphicFrameLocks noChangeAspect="1"/>
          </p:cNvGraphicFramePr>
          <p:nvPr/>
        </p:nvGraphicFramePr>
        <p:xfrm>
          <a:off x="2589213" y="1714500"/>
          <a:ext cx="4843462" cy="857250"/>
        </p:xfrm>
        <a:graphic>
          <a:graphicData uri="http://schemas.openxmlformats.org/presentationml/2006/ole">
            <p:oleObj spid="_x0000_s60418" name="Equation" r:id="rId3" imgW="2070000" imgH="368280" progId="">
              <p:embed/>
            </p:oleObj>
          </a:graphicData>
        </a:graphic>
      </p:graphicFrame>
      <p:graphicFrame>
        <p:nvGraphicFramePr>
          <p:cNvPr id="81926" name="Object 6"/>
          <p:cNvGraphicFramePr>
            <a:graphicFrameLocks noChangeAspect="1"/>
          </p:cNvGraphicFramePr>
          <p:nvPr/>
        </p:nvGraphicFramePr>
        <p:xfrm>
          <a:off x="2571750" y="2841625"/>
          <a:ext cx="1903413" cy="658813"/>
        </p:xfrm>
        <a:graphic>
          <a:graphicData uri="http://schemas.openxmlformats.org/presentationml/2006/ole">
            <p:oleObj spid="_x0000_s60419" name="公式" r:id="rId4" imgW="952200" imgH="330120" progId="Equation.3">
              <p:embed/>
            </p:oleObj>
          </a:graphicData>
        </a:graphic>
      </p:graphicFrame>
      <p:sp>
        <p:nvSpPr>
          <p:cNvPr id="81927" name="Text Box 7"/>
          <p:cNvSpPr txBox="1">
            <a:spLocks noChangeArrowheads="1"/>
          </p:cNvSpPr>
          <p:nvPr/>
        </p:nvSpPr>
        <p:spPr bwMode="auto">
          <a:xfrm>
            <a:off x="4714875" y="2984500"/>
            <a:ext cx="2592388" cy="506413"/>
          </a:xfrm>
          <a:prstGeom prst="rect">
            <a:avLst/>
          </a:prstGeom>
          <a:noFill/>
          <a:ln w="9525">
            <a:noFill/>
            <a:miter lim="800000"/>
            <a:headEnd/>
            <a:tailEnd/>
          </a:ln>
        </p:spPr>
        <p:txBody>
          <a:bodyPr>
            <a:spAutoFit/>
          </a:bodyPr>
          <a:lstStyle/>
          <a:p>
            <a:pPr>
              <a:lnSpc>
                <a:spcPct val="125000"/>
              </a:lnSpc>
              <a:defRPr/>
            </a:pPr>
            <a:r>
              <a:rPr kumimoji="1" lang="zh-CN" altLang="en-US" sz="2400" b="1" dirty="0">
                <a:solidFill>
                  <a:srgbClr val="FF3300"/>
                </a:solidFill>
                <a:latin typeface="Times New Roman" pitchFamily="18" charset="0"/>
                <a:ea typeface="+mn-ea"/>
                <a:cs typeface="Times New Roman" pitchFamily="18" charset="0"/>
              </a:rPr>
              <a:t>玻尔兹曼因子</a:t>
            </a:r>
            <a:endParaRPr kumimoji="1" lang="zh-CN" altLang="en-US" sz="2400" dirty="0">
              <a:solidFill>
                <a:srgbClr val="FF3300"/>
              </a:solidFill>
              <a:latin typeface="Times New Roman" pitchFamily="18" charset="0"/>
              <a:ea typeface="+mn-ea"/>
              <a:cs typeface="Times New Roman" pitchFamily="18" charset="0"/>
            </a:endParaRPr>
          </a:p>
        </p:txBody>
      </p:sp>
      <p:grpSp>
        <p:nvGrpSpPr>
          <p:cNvPr id="2" name="组合 9"/>
          <p:cNvGrpSpPr>
            <a:grpSpLocks/>
          </p:cNvGrpSpPr>
          <p:nvPr/>
        </p:nvGrpSpPr>
        <p:grpSpPr bwMode="auto">
          <a:xfrm>
            <a:off x="214313" y="4214813"/>
            <a:ext cx="8710612" cy="1127125"/>
            <a:chOff x="214282" y="4214818"/>
            <a:chExt cx="8710615" cy="1126462"/>
          </a:xfrm>
        </p:grpSpPr>
        <p:sp>
          <p:nvSpPr>
            <p:cNvPr id="81930" name="Text Box 10"/>
            <p:cNvSpPr txBox="1">
              <a:spLocks noChangeArrowheads="1"/>
            </p:cNvSpPr>
            <p:nvPr/>
          </p:nvSpPr>
          <p:spPr bwMode="auto">
            <a:xfrm>
              <a:off x="571469" y="4214818"/>
              <a:ext cx="8353428" cy="1126462"/>
            </a:xfrm>
            <a:prstGeom prst="rect">
              <a:avLst/>
            </a:prstGeom>
            <a:noFill/>
            <a:ln w="9525">
              <a:noFill/>
              <a:miter lim="800000"/>
              <a:headEnd/>
              <a:tailEnd/>
            </a:ln>
          </p:spPr>
          <p:txBody>
            <a:bodyPr>
              <a:spAutoFit/>
            </a:bodyPr>
            <a:lstStyle/>
            <a:p>
              <a:pPr>
                <a:lnSpc>
                  <a:spcPct val="140000"/>
                </a:lnSpc>
                <a:defRPr/>
              </a:pPr>
              <a:r>
                <a:rPr kumimoji="1" lang="zh-CN" altLang="en-US" sz="2400" b="1" dirty="0">
                  <a:solidFill>
                    <a:srgbClr val="0000FF"/>
                  </a:solidFill>
                  <a:latin typeface="+mn-ea"/>
                </a:rPr>
                <a:t>麦克斯韦</a:t>
              </a:r>
              <a:r>
                <a:rPr lang="en-US" altLang="zh-CN" sz="2400" b="1" dirty="0">
                  <a:solidFill>
                    <a:srgbClr val="0000FF"/>
                  </a:solidFill>
                  <a:latin typeface="Times New Roman" pitchFamily="18" charset="0"/>
                  <a:cs typeface="Times New Roman" pitchFamily="18" charset="0"/>
                  <a:sym typeface="Symbol" pitchFamily="18" charset="2"/>
                </a:rPr>
                <a:t>–</a:t>
              </a:r>
              <a:r>
                <a:rPr lang="zh-CN" altLang="en-US" sz="2400" b="1" dirty="0">
                  <a:solidFill>
                    <a:srgbClr val="0000FF"/>
                  </a:solidFill>
                  <a:latin typeface="+mn-ea"/>
                </a:rPr>
                <a:t>玻耳兹曼分布律</a:t>
              </a:r>
              <a:r>
                <a:rPr kumimoji="1" lang="zh-CN" altLang="en-US" sz="2400" b="1" dirty="0">
                  <a:solidFill>
                    <a:srgbClr val="0000FF"/>
                  </a:solidFill>
                  <a:latin typeface="Times New Roman" pitchFamily="18" charset="0"/>
                  <a:ea typeface="+mn-ea"/>
                  <a:cs typeface="Times New Roman" pitchFamily="18" charset="0"/>
                </a:rPr>
                <a:t>表明，能量越低的分子出现的概率越大；随着能量的升高，分子出现的概率按指数规律减小。</a:t>
              </a:r>
              <a:r>
                <a:rPr kumimoji="1" lang="zh-CN" altLang="en-US" sz="2400" dirty="0">
                  <a:solidFill>
                    <a:srgbClr val="0000FF"/>
                  </a:solidFill>
                  <a:latin typeface="Times New Roman" pitchFamily="18" charset="0"/>
                  <a:ea typeface="+mn-ea"/>
                  <a:cs typeface="Times New Roman" pitchFamily="18" charset="0"/>
                </a:rPr>
                <a:t> </a:t>
              </a:r>
            </a:p>
          </p:txBody>
        </p:sp>
        <p:sp>
          <p:nvSpPr>
            <p:cNvPr id="60424" name="AutoShape 12"/>
            <p:cNvSpPr>
              <a:spLocks noChangeArrowheads="1"/>
            </p:cNvSpPr>
            <p:nvPr/>
          </p:nvSpPr>
          <p:spPr bwMode="auto">
            <a:xfrm>
              <a:off x="214282" y="4225969"/>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4"/>
                                        </p:tgtEl>
                                        <p:attrNameLst>
                                          <p:attrName>style.visibility</p:attrName>
                                        </p:attrNameLst>
                                      </p:cBhvr>
                                      <p:to>
                                        <p:strVal val="visible"/>
                                      </p:to>
                                    </p:set>
                                    <p:animEffect transition="in" filter="wipe(left)">
                                      <p:cBhvr>
                                        <p:cTn id="7" dur="500"/>
                                        <p:tgtEl>
                                          <p:spTgt spid="8192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81925"/>
                                        </p:tgtEl>
                                        <p:attrNameLst>
                                          <p:attrName>style.visibility</p:attrName>
                                        </p:attrNameLst>
                                      </p:cBhvr>
                                      <p:to>
                                        <p:strVal val="visible"/>
                                      </p:to>
                                    </p:set>
                                    <p:anim calcmode="lin" valueType="num">
                                      <p:cBhvr>
                                        <p:cTn id="12" dur="500" fill="hold"/>
                                        <p:tgtEl>
                                          <p:spTgt spid="81925"/>
                                        </p:tgtEl>
                                        <p:attrNameLst>
                                          <p:attrName>ppt_w</p:attrName>
                                        </p:attrNameLst>
                                      </p:cBhvr>
                                      <p:tavLst>
                                        <p:tav tm="0">
                                          <p:val>
                                            <p:fltVal val="0"/>
                                          </p:val>
                                        </p:tav>
                                        <p:tav tm="100000">
                                          <p:val>
                                            <p:strVal val="#ppt_w"/>
                                          </p:val>
                                        </p:tav>
                                      </p:tavLst>
                                    </p:anim>
                                    <p:anim calcmode="lin" valueType="num">
                                      <p:cBhvr>
                                        <p:cTn id="13" dur="500" fill="hold"/>
                                        <p:tgtEl>
                                          <p:spTgt spid="8192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1926"/>
                                        </p:tgtEl>
                                        <p:attrNameLst>
                                          <p:attrName>style.visibility</p:attrName>
                                        </p:attrNameLst>
                                      </p:cBhvr>
                                      <p:to>
                                        <p:strVal val="visible"/>
                                      </p:to>
                                    </p:set>
                                    <p:animEffect transition="in" filter="wipe(left)">
                                      <p:cBhvr>
                                        <p:cTn id="18" dur="500"/>
                                        <p:tgtEl>
                                          <p:spTgt spid="819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1927"/>
                                        </p:tgtEl>
                                        <p:attrNameLst>
                                          <p:attrName>style.visibility</p:attrName>
                                        </p:attrNameLst>
                                      </p:cBhvr>
                                      <p:to>
                                        <p:strVal val="visible"/>
                                      </p:to>
                                    </p:set>
                                    <p:animEffect transition="in" filter="wipe(left)">
                                      <p:cBhvr>
                                        <p:cTn id="23" dur="500"/>
                                        <p:tgtEl>
                                          <p:spTgt spid="819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p:bldP spid="8192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Text Box 4"/>
          <p:cNvSpPr txBox="1">
            <a:spLocks noChangeArrowheads="1"/>
          </p:cNvSpPr>
          <p:nvPr/>
        </p:nvSpPr>
        <p:spPr bwMode="auto">
          <a:xfrm>
            <a:off x="179388" y="476250"/>
            <a:ext cx="8208962"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8.6.2   </a:t>
            </a:r>
            <a:r>
              <a:rPr kumimoji="1" lang="zh-CN" altLang="en-US" sz="2400" b="1">
                <a:solidFill>
                  <a:srgbClr val="0000FF"/>
                </a:solidFill>
                <a:latin typeface="Times New Roman" pitchFamily="18" charset="0"/>
              </a:rPr>
              <a:t>重力场中大气密度和压强随高度的变化规律  </a:t>
            </a:r>
          </a:p>
        </p:txBody>
      </p:sp>
      <p:sp>
        <p:nvSpPr>
          <p:cNvPr id="82949" name="Text Box 5"/>
          <p:cNvSpPr txBox="1">
            <a:spLocks noChangeArrowheads="1"/>
          </p:cNvSpPr>
          <p:nvPr/>
        </p:nvSpPr>
        <p:spPr bwMode="auto">
          <a:xfrm>
            <a:off x="468313" y="1085850"/>
            <a:ext cx="8388350" cy="1406525"/>
          </a:xfrm>
          <a:prstGeom prst="rect">
            <a:avLst/>
          </a:prstGeom>
          <a:noFill/>
          <a:ln w="9525">
            <a:noFill/>
            <a:miter lim="800000"/>
            <a:headEnd/>
            <a:tailEnd/>
          </a:ln>
        </p:spPr>
        <p:txBody>
          <a:bodyPr>
            <a:spAutoFit/>
          </a:bodyPr>
          <a:lstStyle/>
          <a:p>
            <a:pPr>
              <a:lnSpc>
                <a:spcPct val="120000"/>
              </a:lnSpc>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重力场中，大气密度、压强和</a:t>
            </a:r>
            <a:r>
              <a:rPr kumimoji="1" lang="zh-CN" altLang="en-US" sz="2400" b="1">
                <a:solidFill>
                  <a:srgbClr val="FF0000"/>
                </a:solidFill>
                <a:latin typeface="楷体_GB2312" pitchFamily="49" charset="-122"/>
                <a:ea typeface="楷体_GB2312" pitchFamily="49" charset="-122"/>
              </a:rPr>
              <a:t>温度</a:t>
            </a:r>
            <a:r>
              <a:rPr kumimoji="1" lang="zh-CN" altLang="en-US" sz="2400" b="1">
                <a:latin typeface="楷体_GB2312" pitchFamily="49" charset="-122"/>
                <a:ea typeface="楷体_GB2312" pitchFamily="49" charset="-122"/>
              </a:rPr>
              <a:t>都与</a:t>
            </a:r>
            <a:r>
              <a:rPr kumimoji="1" lang="zh-CN" altLang="en-US" sz="2400" b="1">
                <a:solidFill>
                  <a:srgbClr val="FF0000"/>
                </a:solidFill>
                <a:latin typeface="楷体_GB2312" pitchFamily="49" charset="-122"/>
                <a:ea typeface="楷体_GB2312" pitchFamily="49" charset="-122"/>
              </a:rPr>
              <a:t>高度</a:t>
            </a:r>
            <a:r>
              <a:rPr kumimoji="1" lang="zh-CN" altLang="en-US" sz="2400" b="1">
                <a:latin typeface="楷体_GB2312" pitchFamily="49" charset="-122"/>
                <a:ea typeface="楷体_GB2312" pitchFamily="49" charset="-122"/>
              </a:rPr>
              <a:t>有关。但在地面附近不太高的空间内，大气温度的变化不大，可看作是处处相同的的</a:t>
            </a:r>
            <a:r>
              <a:rPr kumimoji="1" lang="zh-CN" altLang="en-US" sz="2400" b="1">
                <a:solidFill>
                  <a:srgbClr val="FF0000"/>
                </a:solidFill>
                <a:latin typeface="楷体_GB2312" pitchFamily="49" charset="-122"/>
                <a:ea typeface="楷体_GB2312" pitchFamily="49" charset="-122"/>
              </a:rPr>
              <a:t>等温</a:t>
            </a:r>
            <a:r>
              <a:rPr kumimoji="1" lang="zh-CN" altLang="en-US" sz="2400" b="1">
                <a:latin typeface="楷体_GB2312" pitchFamily="49" charset="-122"/>
                <a:ea typeface="楷体_GB2312" pitchFamily="49" charset="-122"/>
              </a:rPr>
              <a:t>且处于平衡态的理想气体系统。 </a:t>
            </a:r>
          </a:p>
        </p:txBody>
      </p:sp>
      <p:grpSp>
        <p:nvGrpSpPr>
          <p:cNvPr id="2" name="Group 9"/>
          <p:cNvGrpSpPr>
            <a:grpSpLocks/>
          </p:cNvGrpSpPr>
          <p:nvPr/>
        </p:nvGrpSpPr>
        <p:grpSpPr bwMode="auto">
          <a:xfrm>
            <a:off x="468313" y="2565400"/>
            <a:ext cx="8388350" cy="577850"/>
            <a:chOff x="204" y="1706"/>
            <a:chExt cx="5284" cy="364"/>
          </a:xfrm>
        </p:grpSpPr>
        <p:sp>
          <p:nvSpPr>
            <p:cNvPr id="65547" name="Text Box 6"/>
            <p:cNvSpPr txBox="1">
              <a:spLocks noChangeArrowheads="1"/>
            </p:cNvSpPr>
            <p:nvPr/>
          </p:nvSpPr>
          <p:spPr bwMode="auto">
            <a:xfrm>
              <a:off x="204" y="1706"/>
              <a:ext cx="5284" cy="349"/>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分布在状态                                 区间的气体分子数为</a:t>
              </a:r>
              <a:r>
                <a:rPr kumimoji="1" lang="zh-CN" altLang="en-US" sz="2400" dirty="0">
                  <a:latin typeface="Times New Roman" pitchFamily="18" charset="0"/>
                  <a:ea typeface="+mn-ea"/>
                  <a:cs typeface="Times New Roman" pitchFamily="18" charset="0"/>
                </a:rPr>
                <a:t> </a:t>
              </a:r>
            </a:p>
          </p:txBody>
        </p:sp>
        <p:graphicFrame>
          <p:nvGraphicFramePr>
            <p:cNvPr id="61445" name="Object 7"/>
            <p:cNvGraphicFramePr>
              <a:graphicFrameLocks noChangeAspect="1"/>
            </p:cNvGraphicFramePr>
            <p:nvPr/>
          </p:nvGraphicFramePr>
          <p:xfrm>
            <a:off x="1315" y="1744"/>
            <a:ext cx="1474" cy="326"/>
          </p:xfrm>
          <a:graphic>
            <a:graphicData uri="http://schemas.openxmlformats.org/presentationml/2006/ole">
              <p:oleObj spid="_x0000_s61445" r:id="rId3" imgW="1079032" imgH="241195" progId="">
                <p:embed/>
              </p:oleObj>
            </a:graphicData>
          </a:graphic>
        </p:graphicFrame>
      </p:grpSp>
      <p:graphicFrame>
        <p:nvGraphicFramePr>
          <p:cNvPr id="82954" name="Object 10"/>
          <p:cNvGraphicFramePr>
            <a:graphicFrameLocks noChangeAspect="1"/>
          </p:cNvGraphicFramePr>
          <p:nvPr/>
        </p:nvGraphicFramePr>
        <p:xfrm>
          <a:off x="1258888" y="3284538"/>
          <a:ext cx="5732462" cy="684212"/>
        </p:xfrm>
        <a:graphic>
          <a:graphicData uri="http://schemas.openxmlformats.org/presentationml/2006/ole">
            <p:oleObj spid="_x0000_s61442" r:id="rId4" imgW="3187700" imgH="381000" progId="">
              <p:embed/>
            </p:oleObj>
          </a:graphicData>
        </a:graphic>
      </p:graphicFrame>
      <p:sp>
        <p:nvSpPr>
          <p:cNvPr id="82957" name="Text Box 13"/>
          <p:cNvSpPr txBox="1">
            <a:spLocks noChangeArrowheads="1"/>
          </p:cNvSpPr>
          <p:nvPr/>
        </p:nvSpPr>
        <p:spPr bwMode="auto">
          <a:xfrm>
            <a:off x="473075" y="4149725"/>
            <a:ext cx="5184775" cy="506413"/>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分布在区间 </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x</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y</a:t>
            </a:r>
            <a:r>
              <a:rPr kumimoji="1" lang="en-US" altLang="zh-CN" sz="2400" b="1" dirty="0" err="1">
                <a:solidFill>
                  <a:srgbClr val="FF0000"/>
                </a:solidFill>
                <a:latin typeface="Times New Roman" pitchFamily="18" charset="0"/>
                <a:ea typeface="+mn-ea"/>
                <a:cs typeface="Times New Roman" pitchFamily="18" charset="0"/>
              </a:rPr>
              <a:t>d</a:t>
            </a:r>
            <a:r>
              <a:rPr kumimoji="1" lang="en-US" altLang="zh-CN" sz="2400" b="1" i="1" dirty="0" err="1">
                <a:solidFill>
                  <a:srgbClr val="FF0000"/>
                </a:solidFill>
                <a:latin typeface="Times New Roman" pitchFamily="18" charset="0"/>
                <a:ea typeface="+mn-ea"/>
                <a:cs typeface="Times New Roman" pitchFamily="18" charset="0"/>
              </a:rPr>
              <a:t>z</a:t>
            </a:r>
            <a:r>
              <a:rPr kumimoji="1" lang="en-US" altLang="zh-CN" sz="2400" b="1" i="1" dirty="0">
                <a:solidFill>
                  <a:srgbClr val="FF0000"/>
                </a:solidFill>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的气体分子数为</a:t>
            </a:r>
            <a:r>
              <a:rPr kumimoji="1" lang="zh-CN" altLang="en-US" sz="2400" dirty="0">
                <a:latin typeface="Times New Roman" pitchFamily="18" charset="0"/>
                <a:ea typeface="+mn-ea"/>
                <a:cs typeface="Times New Roman" pitchFamily="18" charset="0"/>
              </a:rPr>
              <a:t> </a:t>
            </a:r>
          </a:p>
        </p:txBody>
      </p:sp>
      <p:graphicFrame>
        <p:nvGraphicFramePr>
          <p:cNvPr id="82959" name="Object 15"/>
          <p:cNvGraphicFramePr>
            <a:graphicFrameLocks noChangeAspect="1"/>
          </p:cNvGraphicFramePr>
          <p:nvPr/>
        </p:nvGraphicFramePr>
        <p:xfrm>
          <a:off x="1200150" y="4894263"/>
          <a:ext cx="6467475" cy="550862"/>
        </p:xfrm>
        <a:graphic>
          <a:graphicData uri="http://schemas.openxmlformats.org/presentationml/2006/ole">
            <p:oleObj spid="_x0000_s61443" r:id="rId5" imgW="3581400" imgH="304800" progId="">
              <p:embed/>
            </p:oleObj>
          </a:graphicData>
        </a:graphic>
      </p:graphicFrame>
      <p:graphicFrame>
        <p:nvGraphicFramePr>
          <p:cNvPr id="82961" name="Object 17"/>
          <p:cNvGraphicFramePr>
            <a:graphicFrameLocks noChangeAspect="1"/>
          </p:cNvGraphicFramePr>
          <p:nvPr/>
        </p:nvGraphicFramePr>
        <p:xfrm>
          <a:off x="468313" y="5734050"/>
          <a:ext cx="2951162" cy="533400"/>
        </p:xfrm>
        <a:graphic>
          <a:graphicData uri="http://schemas.openxmlformats.org/presentationml/2006/ole">
            <p:oleObj spid="_x0000_s61444" r:id="rId6" imgW="1688367" imgH="304668" progId="">
              <p:embed/>
            </p:oleObj>
          </a:graphicData>
        </a:graphic>
      </p:graphicFrame>
      <p:sp>
        <p:nvSpPr>
          <p:cNvPr id="82963" name="Text Box 19"/>
          <p:cNvSpPr txBox="1">
            <a:spLocks noChangeArrowheads="1"/>
          </p:cNvSpPr>
          <p:nvPr/>
        </p:nvSpPr>
        <p:spPr bwMode="auto">
          <a:xfrm>
            <a:off x="3419475" y="5734050"/>
            <a:ext cx="5545138" cy="506413"/>
          </a:xfrm>
          <a:prstGeom prst="rect">
            <a:avLst/>
          </a:prstGeom>
          <a:noFill/>
          <a:ln w="9525">
            <a:noFill/>
            <a:miter lim="800000"/>
            <a:headEnd/>
            <a:tailEnd/>
          </a:ln>
        </p:spPr>
        <p:txBody>
          <a:bodyPr>
            <a:spAutoFit/>
          </a:bodyPr>
          <a:lstStyle/>
          <a:p>
            <a:pPr>
              <a:lnSpc>
                <a:spcPct val="125000"/>
              </a:lnSpc>
              <a:defRPr/>
            </a:pPr>
            <a:r>
              <a:rPr kumimoji="1" lang="zh-CN" altLang="fr-FR" sz="2400" b="1">
                <a:latin typeface="Times New Roman" pitchFamily="18" charset="0"/>
                <a:ea typeface="+mn-ea"/>
                <a:cs typeface="Times New Roman" pitchFamily="18" charset="0"/>
              </a:rPr>
              <a:t>是一定积分，它与 </a:t>
            </a:r>
            <a:r>
              <a:rPr kumimoji="1" lang="fr-FR" altLang="zh-CN" sz="2400" b="1" i="1">
                <a:solidFill>
                  <a:srgbClr val="FF0000"/>
                </a:solidFill>
                <a:latin typeface="Times New Roman" pitchFamily="18" charset="0"/>
                <a:ea typeface="+mn-ea"/>
                <a:cs typeface="Times New Roman" pitchFamily="18" charset="0"/>
              </a:rPr>
              <a:t>NC </a:t>
            </a:r>
            <a:r>
              <a:rPr kumimoji="1" lang="zh-CN" altLang="fr-FR" sz="2400" b="1">
                <a:latin typeface="Times New Roman" pitchFamily="18" charset="0"/>
                <a:ea typeface="+mn-ea"/>
                <a:cs typeface="Times New Roman" pitchFamily="18" charset="0"/>
              </a:rPr>
              <a:t>的积用</a:t>
            </a:r>
            <a:r>
              <a:rPr kumimoji="1" lang="fr-FR" altLang="zh-CN" sz="2400" b="1" i="1">
                <a:solidFill>
                  <a:srgbClr val="FF0000"/>
                </a:solidFill>
                <a:latin typeface="Times New Roman" pitchFamily="18" charset="0"/>
                <a:ea typeface="+mn-ea"/>
                <a:cs typeface="Times New Roman" pitchFamily="18" charset="0"/>
              </a:rPr>
              <a:t>B </a:t>
            </a:r>
            <a:r>
              <a:rPr kumimoji="1" lang="zh-CN" altLang="fr-FR" sz="2400" b="1">
                <a:latin typeface="Times New Roman" pitchFamily="18" charset="0"/>
                <a:ea typeface="+mn-ea"/>
                <a:cs typeface="Times New Roman" pitchFamily="18" charset="0"/>
              </a:rPr>
              <a:t>表示</a:t>
            </a:r>
            <a:r>
              <a:rPr kumimoji="1" lang="zh-CN" altLang="fr-FR" sz="2400">
                <a:latin typeface="Times New Roman" pitchFamily="18" charset="0"/>
                <a:ea typeface="+mn-ea"/>
                <a:cs typeface="Times New Roman" pitchFamily="18" charset="0"/>
              </a:rPr>
              <a:t>  </a:t>
            </a:r>
            <a:endParaRPr kumimoji="1" lang="zh-CN" altLang="en-US" sz="2400">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wipe(left)">
                                      <p:cBhvr>
                                        <p:cTn id="7" dur="2000"/>
                                        <p:tgtEl>
                                          <p:spTgt spid="829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dissolve">
                                      <p:cBhvr>
                                        <p:cTn id="12" dur="500"/>
                                        <p:tgtEl>
                                          <p:spTgt spid="829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2954"/>
                                        </p:tgtEl>
                                        <p:attrNameLst>
                                          <p:attrName>style.visibility</p:attrName>
                                        </p:attrNameLst>
                                      </p:cBhvr>
                                      <p:to>
                                        <p:strVal val="visible"/>
                                      </p:to>
                                    </p:set>
                                    <p:animEffect transition="in" filter="dissolve">
                                      <p:cBhvr>
                                        <p:cTn id="22" dur="500"/>
                                        <p:tgtEl>
                                          <p:spTgt spid="829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957"/>
                                        </p:tgtEl>
                                        <p:attrNameLst>
                                          <p:attrName>style.visibility</p:attrName>
                                        </p:attrNameLst>
                                      </p:cBhvr>
                                      <p:to>
                                        <p:strVal val="visible"/>
                                      </p:to>
                                    </p:set>
                                    <p:animEffect transition="in" filter="wipe(left)">
                                      <p:cBhvr>
                                        <p:cTn id="27" dur="500"/>
                                        <p:tgtEl>
                                          <p:spTgt spid="829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2959"/>
                                        </p:tgtEl>
                                        <p:attrNameLst>
                                          <p:attrName>style.visibility</p:attrName>
                                        </p:attrNameLst>
                                      </p:cBhvr>
                                      <p:to>
                                        <p:strVal val="visible"/>
                                      </p:to>
                                    </p:set>
                                    <p:animEffect transition="in" filter="dissolve">
                                      <p:cBhvr>
                                        <p:cTn id="32" dur="500"/>
                                        <p:tgtEl>
                                          <p:spTgt spid="829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2961"/>
                                        </p:tgtEl>
                                        <p:attrNameLst>
                                          <p:attrName>style.visibility</p:attrName>
                                        </p:attrNameLst>
                                      </p:cBhvr>
                                      <p:to>
                                        <p:strVal val="visible"/>
                                      </p:to>
                                    </p:set>
                                    <p:animEffect transition="in" filter="wipe(left)">
                                      <p:cBhvr>
                                        <p:cTn id="37" dur="500"/>
                                        <p:tgtEl>
                                          <p:spTgt spid="82961"/>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82963"/>
                                        </p:tgtEl>
                                        <p:attrNameLst>
                                          <p:attrName>style.visibility</p:attrName>
                                        </p:attrNameLst>
                                      </p:cBhvr>
                                      <p:to>
                                        <p:strVal val="visible"/>
                                      </p:to>
                                    </p:set>
                                    <p:animEffect transition="in" filter="wipe(left)">
                                      <p:cBhvr>
                                        <p:cTn id="41" dur="500"/>
                                        <p:tgtEl>
                                          <p:spTgt spid="82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utoUpdateAnimBg="0"/>
      <p:bldP spid="82949" grpId="0"/>
      <p:bldP spid="82957" grpId="0"/>
      <p:bldP spid="8296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5"/>
          <p:cNvSpPr>
            <a:spLocks noChangeArrowheads="1"/>
          </p:cNvSpPr>
          <p:nvPr/>
        </p:nvSpPr>
        <p:spPr bwMode="auto">
          <a:xfrm>
            <a:off x="0" y="3295650"/>
            <a:ext cx="9144000" cy="0"/>
          </a:xfrm>
          <a:prstGeom prst="rect">
            <a:avLst/>
          </a:prstGeom>
          <a:noFill/>
          <a:ln w="9525" algn="ctr">
            <a:noFill/>
            <a:miter lim="800000"/>
            <a:headEnd/>
            <a:tailEnd/>
          </a:ln>
        </p:spPr>
        <p:txBody>
          <a:bodyPr wrap="none" anchor="ctr">
            <a:spAutoFit/>
          </a:bodyPr>
          <a:lstStyle/>
          <a:p>
            <a:pPr algn="ctr"/>
            <a:endParaRPr lang="zh-CN" altLang="en-US"/>
          </a:p>
        </p:txBody>
      </p:sp>
      <p:graphicFrame>
        <p:nvGraphicFramePr>
          <p:cNvPr id="62466" name="Object 4"/>
          <p:cNvGraphicFramePr>
            <a:graphicFrameLocks noChangeAspect="1"/>
          </p:cNvGraphicFramePr>
          <p:nvPr/>
        </p:nvGraphicFramePr>
        <p:xfrm>
          <a:off x="2195513" y="642938"/>
          <a:ext cx="3224212" cy="482600"/>
        </p:xfrm>
        <a:graphic>
          <a:graphicData uri="http://schemas.openxmlformats.org/presentationml/2006/ole">
            <p:oleObj spid="_x0000_s62466" r:id="rId3" imgW="1777229" imgH="266584" progId="">
              <p:embed/>
            </p:oleObj>
          </a:graphicData>
        </a:graphic>
      </p:graphicFrame>
      <p:sp>
        <p:nvSpPr>
          <p:cNvPr id="83974" name="Text Box 6"/>
          <p:cNvSpPr txBox="1">
            <a:spLocks noChangeArrowheads="1"/>
          </p:cNvSpPr>
          <p:nvPr/>
        </p:nvSpPr>
        <p:spPr bwMode="auto">
          <a:xfrm>
            <a:off x="755650" y="1268413"/>
            <a:ext cx="3887788" cy="506412"/>
          </a:xfrm>
          <a:prstGeom prst="rect">
            <a:avLst/>
          </a:prstGeom>
          <a:noFill/>
          <a:ln w="9525">
            <a:noFill/>
            <a:miter lim="800000"/>
            <a:headEnd/>
            <a:tailEnd/>
          </a:ln>
        </p:spPr>
        <p:txBody>
          <a:bodyPr>
            <a:spAutoFit/>
          </a:bodyPr>
          <a:lstStyle/>
          <a:p>
            <a:pPr>
              <a:lnSpc>
                <a:spcPct val="125000"/>
              </a:lnSpc>
              <a:defRPr/>
            </a:pPr>
            <a:r>
              <a:rPr kumimoji="1" lang="zh-CN" altLang="fr-FR" sz="2400" b="1" dirty="0">
                <a:latin typeface="Times New Roman" pitchFamily="18" charset="0"/>
                <a:ea typeface="+mn-ea"/>
                <a:cs typeface="Times New Roman" pitchFamily="18" charset="0"/>
              </a:rPr>
              <a:t>故大气</a:t>
            </a:r>
            <a:r>
              <a:rPr kumimoji="1" lang="zh-CN" altLang="en-US" sz="2400" b="1" dirty="0">
                <a:latin typeface="Times New Roman" pitchFamily="18" charset="0"/>
                <a:ea typeface="+mn-ea"/>
                <a:cs typeface="Times New Roman" pitchFamily="18" charset="0"/>
              </a:rPr>
              <a:t>的</a:t>
            </a:r>
            <a:r>
              <a:rPr kumimoji="1" lang="zh-CN" altLang="fr-FR" sz="2400" b="1" dirty="0">
                <a:latin typeface="Times New Roman" pitchFamily="18" charset="0"/>
                <a:ea typeface="+mn-ea"/>
                <a:cs typeface="Times New Roman" pitchFamily="18" charset="0"/>
              </a:rPr>
              <a:t>分子数密度为</a:t>
            </a:r>
            <a:endParaRPr kumimoji="1" lang="zh-CN" altLang="en-US" sz="2400" b="1" dirty="0">
              <a:latin typeface="Times New Roman" pitchFamily="18" charset="0"/>
              <a:ea typeface="+mn-ea"/>
              <a:cs typeface="Times New Roman" pitchFamily="18" charset="0"/>
            </a:endParaRPr>
          </a:p>
        </p:txBody>
      </p:sp>
      <p:graphicFrame>
        <p:nvGraphicFramePr>
          <p:cNvPr id="83975" name="Object 7"/>
          <p:cNvGraphicFramePr>
            <a:graphicFrameLocks noChangeAspect="1"/>
          </p:cNvGraphicFramePr>
          <p:nvPr/>
        </p:nvGraphicFramePr>
        <p:xfrm>
          <a:off x="1919288" y="2060575"/>
          <a:ext cx="4092575" cy="800100"/>
        </p:xfrm>
        <a:graphic>
          <a:graphicData uri="http://schemas.openxmlformats.org/presentationml/2006/ole">
            <p:oleObj spid="_x0000_s62467" r:id="rId4" imgW="2298700" imgH="444500" progId="">
              <p:embed/>
            </p:oleObj>
          </a:graphicData>
        </a:graphic>
      </p:graphicFrame>
      <p:sp>
        <p:nvSpPr>
          <p:cNvPr id="83977" name="Text Box 9"/>
          <p:cNvSpPr txBox="1">
            <a:spLocks noChangeArrowheads="1"/>
          </p:cNvSpPr>
          <p:nvPr/>
        </p:nvSpPr>
        <p:spPr bwMode="auto">
          <a:xfrm>
            <a:off x="357188" y="3000375"/>
            <a:ext cx="7821612" cy="1016000"/>
          </a:xfrm>
          <a:prstGeom prst="rect">
            <a:avLst/>
          </a:prstGeom>
          <a:noFill/>
          <a:ln w="9525">
            <a:noFill/>
            <a:miter lim="800000"/>
            <a:headEnd/>
            <a:tailEnd/>
          </a:ln>
        </p:spPr>
        <p:txBody>
          <a:bodyPr>
            <a:spAutoFit/>
          </a:bodyPr>
          <a:lstStyle/>
          <a:p>
            <a:pPr>
              <a:lnSpc>
                <a:spcPct val="125000"/>
              </a:lnSpc>
              <a:defRPr/>
            </a:pPr>
            <a:r>
              <a:rPr kumimoji="1" lang="zh-CN" altLang="fr-FR" sz="2400" b="1" dirty="0">
                <a:latin typeface="Times New Roman" pitchFamily="18" charset="0"/>
                <a:ea typeface="+mn-ea"/>
                <a:cs typeface="Times New Roman" pitchFamily="18" charset="0"/>
              </a:rPr>
              <a:t>        在地平面处</a:t>
            </a:r>
            <a:r>
              <a:rPr kumimoji="1" lang="fr-FR" altLang="zh-CN" sz="2400" b="1" dirty="0">
                <a:latin typeface="Times New Roman" pitchFamily="18" charset="0"/>
                <a:ea typeface="+mn-ea"/>
                <a:cs typeface="Times New Roman" pitchFamily="18" charset="0"/>
              </a:rPr>
              <a:t>(</a:t>
            </a:r>
            <a:r>
              <a:rPr kumimoji="1" lang="fr-FR" altLang="zh-CN" sz="2400" b="1" dirty="0">
                <a:solidFill>
                  <a:srgbClr val="FF6600"/>
                </a:solidFill>
                <a:latin typeface="Times New Roman" pitchFamily="18" charset="0"/>
                <a:ea typeface="+mn-ea"/>
                <a:cs typeface="Times New Roman" pitchFamily="18" charset="0"/>
              </a:rPr>
              <a:t> </a:t>
            </a:r>
            <a:r>
              <a:rPr kumimoji="1" lang="fr-FR" altLang="zh-CN" sz="2400" b="1" i="1" dirty="0">
                <a:solidFill>
                  <a:srgbClr val="FF0000"/>
                </a:solidFill>
                <a:latin typeface="Times New Roman" pitchFamily="18" charset="0"/>
                <a:ea typeface="+mn-ea"/>
                <a:cs typeface="Times New Roman" pitchFamily="18" charset="0"/>
              </a:rPr>
              <a:t>h</a:t>
            </a:r>
            <a:r>
              <a:rPr kumimoji="1" lang="zh-CN" altLang="fr-FR" sz="2400" b="1" dirty="0">
                <a:solidFill>
                  <a:srgbClr val="FF0000"/>
                </a:solidFill>
                <a:latin typeface="Times New Roman" pitchFamily="18" charset="0"/>
                <a:ea typeface="+mn-ea"/>
                <a:cs typeface="Times New Roman" pitchFamily="18" charset="0"/>
              </a:rPr>
              <a:t>＝</a:t>
            </a:r>
            <a:r>
              <a:rPr kumimoji="1" lang="fr-FR" altLang="zh-CN" sz="2400" b="1" dirty="0">
                <a:solidFill>
                  <a:srgbClr val="FF0000"/>
                </a:solidFill>
                <a:latin typeface="Times New Roman" pitchFamily="18" charset="0"/>
                <a:ea typeface="+mn-ea"/>
                <a:cs typeface="Times New Roman" pitchFamily="18" charset="0"/>
              </a:rPr>
              <a:t>0</a:t>
            </a:r>
            <a:r>
              <a:rPr kumimoji="1" lang="fr-FR" altLang="zh-CN" sz="2400" b="1" dirty="0">
                <a:latin typeface="Times New Roman" pitchFamily="18" charset="0"/>
                <a:ea typeface="+mn-ea"/>
                <a:cs typeface="Times New Roman" pitchFamily="18" charset="0"/>
              </a:rPr>
              <a:t> )</a:t>
            </a:r>
            <a:r>
              <a:rPr kumimoji="1" lang="zh-CN" altLang="fr-FR" sz="2400" b="1" dirty="0">
                <a:latin typeface="Times New Roman" pitchFamily="18" charset="0"/>
                <a:ea typeface="+mn-ea"/>
                <a:cs typeface="Times New Roman" pitchFamily="18" charset="0"/>
              </a:rPr>
              <a:t>，设大气分子的数密度为 </a:t>
            </a:r>
            <a:r>
              <a:rPr kumimoji="1" lang="fr-FR" altLang="zh-CN" sz="2400" b="1" i="1" dirty="0">
                <a:solidFill>
                  <a:srgbClr val="FF0000"/>
                </a:solidFill>
                <a:latin typeface="Times New Roman" pitchFamily="18" charset="0"/>
                <a:ea typeface="+mn-ea"/>
                <a:cs typeface="Times New Roman" pitchFamily="18" charset="0"/>
              </a:rPr>
              <a:t>n</a:t>
            </a:r>
            <a:r>
              <a:rPr kumimoji="1" lang="fr-FR" altLang="zh-CN" sz="2400" b="1" baseline="-25000" dirty="0">
                <a:solidFill>
                  <a:srgbClr val="FF0000"/>
                </a:solidFill>
                <a:latin typeface="Times New Roman" pitchFamily="18" charset="0"/>
                <a:ea typeface="+mn-ea"/>
                <a:cs typeface="Times New Roman" pitchFamily="18" charset="0"/>
              </a:rPr>
              <a:t>0 </a:t>
            </a:r>
            <a:r>
              <a:rPr kumimoji="1" lang="zh-CN" altLang="fr-FR" sz="2400" b="1" dirty="0">
                <a:latin typeface="Times New Roman" pitchFamily="18" charset="0"/>
                <a:ea typeface="+mn-ea"/>
                <a:cs typeface="Times New Roman" pitchFamily="18" charset="0"/>
              </a:rPr>
              <a:t>，可得 </a:t>
            </a:r>
            <a:r>
              <a:rPr kumimoji="1" lang="fr-FR" altLang="zh-CN" sz="2400" b="1" i="1" dirty="0">
                <a:solidFill>
                  <a:srgbClr val="FF0000"/>
                </a:solidFill>
                <a:latin typeface="Times New Roman" pitchFamily="18" charset="0"/>
                <a:ea typeface="+mn-ea"/>
                <a:cs typeface="Times New Roman" pitchFamily="18" charset="0"/>
              </a:rPr>
              <a:t>B </a:t>
            </a:r>
            <a:r>
              <a:rPr kumimoji="1" lang="fr-FR" altLang="zh-CN" sz="2400" b="1" dirty="0">
                <a:solidFill>
                  <a:srgbClr val="FF0000"/>
                </a:solidFill>
                <a:latin typeface="Times New Roman" pitchFamily="18" charset="0"/>
                <a:ea typeface="+mn-ea"/>
                <a:cs typeface="Times New Roman" pitchFamily="18" charset="0"/>
              </a:rPr>
              <a:t>=</a:t>
            </a:r>
            <a:r>
              <a:rPr kumimoji="1" lang="fr-FR" altLang="zh-CN" sz="2400" b="1" i="1" dirty="0">
                <a:solidFill>
                  <a:srgbClr val="FF0000"/>
                </a:solidFill>
                <a:latin typeface="Times New Roman" pitchFamily="18" charset="0"/>
                <a:ea typeface="+mn-ea"/>
                <a:cs typeface="Times New Roman" pitchFamily="18" charset="0"/>
              </a:rPr>
              <a:t> n</a:t>
            </a:r>
            <a:r>
              <a:rPr kumimoji="1" lang="fr-FR" altLang="zh-CN" sz="2400" b="1" baseline="-25000" dirty="0">
                <a:solidFill>
                  <a:srgbClr val="FF0000"/>
                </a:solidFill>
                <a:latin typeface="Times New Roman" pitchFamily="18" charset="0"/>
                <a:ea typeface="+mn-ea"/>
                <a:cs typeface="Times New Roman" pitchFamily="18" charset="0"/>
              </a:rPr>
              <a:t>0 </a:t>
            </a:r>
            <a:r>
              <a:rPr kumimoji="1" lang="zh-CN" altLang="fr-FR" sz="2400" b="1" baseline="-25000" dirty="0">
                <a:latin typeface="Times New Roman" pitchFamily="18" charset="0"/>
                <a:ea typeface="+mn-ea"/>
                <a:cs typeface="Times New Roman" pitchFamily="18" charset="0"/>
              </a:rPr>
              <a:t>，</a:t>
            </a:r>
            <a:r>
              <a:rPr kumimoji="1" lang="zh-CN" altLang="fr-FR" sz="2400" b="1" dirty="0">
                <a:latin typeface="Times New Roman" pitchFamily="18" charset="0"/>
                <a:ea typeface="+mn-ea"/>
                <a:cs typeface="Times New Roman" pitchFamily="18" charset="0"/>
              </a:rPr>
              <a:t>带入上式</a:t>
            </a:r>
            <a:endParaRPr kumimoji="1" lang="zh-CN" altLang="en-US" sz="2400" dirty="0">
              <a:latin typeface="Times New Roman" pitchFamily="18" charset="0"/>
              <a:ea typeface="+mn-ea"/>
              <a:cs typeface="Times New Roman" pitchFamily="18" charset="0"/>
            </a:endParaRPr>
          </a:p>
        </p:txBody>
      </p:sp>
      <p:graphicFrame>
        <p:nvGraphicFramePr>
          <p:cNvPr id="83978" name="Object 10"/>
          <p:cNvGraphicFramePr>
            <a:graphicFrameLocks noChangeAspect="1"/>
          </p:cNvGraphicFramePr>
          <p:nvPr/>
        </p:nvGraphicFramePr>
        <p:xfrm>
          <a:off x="1914525" y="4297363"/>
          <a:ext cx="2070100" cy="511175"/>
        </p:xfrm>
        <a:graphic>
          <a:graphicData uri="http://schemas.openxmlformats.org/presentationml/2006/ole">
            <p:oleObj spid="_x0000_s62468" r:id="rId5" imgW="990170" imgH="241195" progId="">
              <p:embed/>
            </p:oleObj>
          </a:graphicData>
        </a:graphic>
      </p:graphicFrame>
      <p:sp>
        <p:nvSpPr>
          <p:cNvPr id="83980" name="Text Box 12"/>
          <p:cNvSpPr txBox="1">
            <a:spLocks noChangeArrowheads="1"/>
          </p:cNvSpPr>
          <p:nvPr/>
        </p:nvSpPr>
        <p:spPr bwMode="auto">
          <a:xfrm>
            <a:off x="3995738" y="4295775"/>
            <a:ext cx="4752975" cy="506413"/>
          </a:xfrm>
          <a:prstGeom prst="rect">
            <a:avLst/>
          </a:prstGeom>
          <a:noFill/>
          <a:ln w="9525">
            <a:noFill/>
            <a:miter lim="800000"/>
            <a:headEnd/>
            <a:tailEnd/>
          </a:ln>
        </p:spPr>
        <p:txBody>
          <a:bodyPr>
            <a:spAutoFit/>
          </a:bodyPr>
          <a:lstStyle/>
          <a:p>
            <a:pPr>
              <a:lnSpc>
                <a:spcPct val="125000"/>
              </a:lnSpc>
            </a:pPr>
            <a:r>
              <a:rPr kumimoji="1" lang="en-US" altLang="zh-CN" sz="2400" b="1">
                <a:solidFill>
                  <a:srgbClr val="FF0000"/>
                </a:solidFill>
                <a:latin typeface="Times New Roman" pitchFamily="18" charset="0"/>
                <a:ea typeface="楷体_GB2312" pitchFamily="49" charset="-122"/>
              </a:rPr>
              <a:t>(</a:t>
            </a:r>
            <a:r>
              <a:rPr kumimoji="1" lang="zh-CN" altLang="en-US" sz="2400" b="1">
                <a:solidFill>
                  <a:srgbClr val="FF0000"/>
                </a:solidFill>
                <a:latin typeface="Times New Roman" pitchFamily="18" charset="0"/>
                <a:ea typeface="楷体_GB2312" pitchFamily="49" charset="-122"/>
              </a:rPr>
              <a:t>重力场中气体分子数密度公式</a:t>
            </a:r>
            <a:r>
              <a:rPr kumimoji="1" lang="en-US" altLang="zh-CN" sz="2400" b="1">
                <a:solidFill>
                  <a:srgbClr val="FF0000"/>
                </a:solidFill>
                <a:latin typeface="Times New Roman" pitchFamily="18" charset="0"/>
                <a:ea typeface="楷体_GB2312" pitchFamily="49" charset="-122"/>
              </a:rPr>
              <a:t>)</a:t>
            </a:r>
          </a:p>
        </p:txBody>
      </p:sp>
      <p:sp>
        <p:nvSpPr>
          <p:cNvPr id="83981" name="Text Box 13"/>
          <p:cNvSpPr txBox="1">
            <a:spLocks noChangeArrowheads="1"/>
          </p:cNvSpPr>
          <p:nvPr/>
        </p:nvSpPr>
        <p:spPr bwMode="auto">
          <a:xfrm>
            <a:off x="323850" y="5159375"/>
            <a:ext cx="8640763" cy="1016000"/>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         该式表明：</a:t>
            </a:r>
            <a:r>
              <a:rPr kumimoji="1" lang="zh-CN" altLang="fr-FR" sz="2400" b="1" dirty="0">
                <a:solidFill>
                  <a:srgbClr val="0000FF"/>
                </a:solidFill>
                <a:latin typeface="Times New Roman" pitchFamily="18" charset="0"/>
                <a:ea typeface="+mn-ea"/>
                <a:cs typeface="Times New Roman" pitchFamily="18" charset="0"/>
              </a:rPr>
              <a:t>大气分子数密度随着高度增加按指数规律衰减，并且分子质量越大，温度越低，衰减得越快。 </a:t>
            </a:r>
            <a:endParaRPr kumimoji="1" lang="zh-CN" altLang="en-US" sz="2400" b="1" dirty="0">
              <a:solidFill>
                <a:srgbClr val="0000FF"/>
              </a:solidFill>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down)">
                                      <p:cBhvr>
                                        <p:cTn id="7" dur="5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4"/>
                                        </p:tgtEl>
                                        <p:attrNameLst>
                                          <p:attrName>style.visibility</p:attrName>
                                        </p:attrNameLst>
                                      </p:cBhvr>
                                      <p:to>
                                        <p:strVal val="visible"/>
                                      </p:to>
                                    </p:set>
                                    <p:animEffect transition="in" filter="wipe(left)">
                                      <p:cBhvr>
                                        <p:cTn id="12" dur="500"/>
                                        <p:tgtEl>
                                          <p:spTgt spid="8397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3975"/>
                                        </p:tgtEl>
                                        <p:attrNameLst>
                                          <p:attrName>style.visibility</p:attrName>
                                        </p:attrNameLst>
                                      </p:cBhvr>
                                      <p:to>
                                        <p:strVal val="visible"/>
                                      </p:to>
                                    </p:set>
                                    <p:animEffect transition="in" filter="dissolve">
                                      <p:cBhvr>
                                        <p:cTn id="17" dur="500"/>
                                        <p:tgtEl>
                                          <p:spTgt spid="839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3977"/>
                                        </p:tgtEl>
                                        <p:attrNameLst>
                                          <p:attrName>style.visibility</p:attrName>
                                        </p:attrNameLst>
                                      </p:cBhvr>
                                      <p:to>
                                        <p:strVal val="visible"/>
                                      </p:to>
                                    </p:set>
                                    <p:animEffect transition="in" filter="wipe(left)">
                                      <p:cBhvr>
                                        <p:cTn id="22" dur="500"/>
                                        <p:tgtEl>
                                          <p:spTgt spid="839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3978"/>
                                        </p:tgtEl>
                                        <p:attrNameLst>
                                          <p:attrName>style.visibility</p:attrName>
                                        </p:attrNameLst>
                                      </p:cBhvr>
                                      <p:to>
                                        <p:strVal val="visible"/>
                                      </p:to>
                                    </p:set>
                                    <p:animEffect transition="in" filter="wipe(left)">
                                      <p:cBhvr>
                                        <p:cTn id="27" dur="500"/>
                                        <p:tgtEl>
                                          <p:spTgt spid="83978"/>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83980"/>
                                        </p:tgtEl>
                                        <p:attrNameLst>
                                          <p:attrName>style.visibility</p:attrName>
                                        </p:attrNameLst>
                                      </p:cBhvr>
                                      <p:to>
                                        <p:strVal val="visible"/>
                                      </p:to>
                                    </p:set>
                                    <p:animEffect transition="in" filter="dissolve">
                                      <p:cBhvr>
                                        <p:cTn id="31" dur="500"/>
                                        <p:tgtEl>
                                          <p:spTgt spid="83980"/>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3981"/>
                                        </p:tgtEl>
                                        <p:attrNameLst>
                                          <p:attrName>style.visibility</p:attrName>
                                        </p:attrNameLst>
                                      </p:cBhvr>
                                      <p:to>
                                        <p:strVal val="visible"/>
                                      </p:to>
                                    </p:set>
                                    <p:animEffect transition="in" filter="dissolve">
                                      <p:cBhvr>
                                        <p:cTn id="36" dur="500"/>
                                        <p:tgtEl>
                                          <p:spTgt spid="83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p:bldP spid="83977" grpId="0"/>
      <p:bldP spid="83980" grpId="0"/>
      <p:bldP spid="8398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6" name="Text Box 8"/>
          <p:cNvSpPr txBox="1">
            <a:spLocks noChangeArrowheads="1"/>
          </p:cNvSpPr>
          <p:nvPr/>
        </p:nvSpPr>
        <p:spPr bwMode="auto">
          <a:xfrm>
            <a:off x="5148263" y="3311525"/>
            <a:ext cx="2663825" cy="490538"/>
          </a:xfrm>
          <a:prstGeom prst="rect">
            <a:avLst/>
          </a:prstGeom>
          <a:noFill/>
          <a:ln w="9525">
            <a:noFill/>
            <a:miter lim="800000"/>
            <a:headEnd/>
            <a:tailEnd/>
          </a:ln>
        </p:spPr>
        <p:txBody>
          <a:bodyPr>
            <a:spAutoFit/>
          </a:bodyPr>
          <a:lstStyle/>
          <a:p>
            <a:pPr>
              <a:lnSpc>
                <a:spcPct val="125000"/>
              </a:lnSpc>
            </a:pPr>
            <a:r>
              <a:rPr kumimoji="1" lang="en-US" altLang="zh-CN" sz="2400" b="1">
                <a:solidFill>
                  <a:srgbClr val="FF0000"/>
                </a:solidFill>
                <a:latin typeface="楷体_GB2312" pitchFamily="49" charset="-122"/>
                <a:ea typeface="楷体_GB2312" pitchFamily="49" charset="-122"/>
              </a:rPr>
              <a:t>(</a:t>
            </a:r>
            <a:r>
              <a:rPr kumimoji="1" lang="zh-CN" altLang="en-US" sz="2400" b="1">
                <a:solidFill>
                  <a:srgbClr val="FF0000"/>
                </a:solidFill>
                <a:latin typeface="楷体_GB2312" pitchFamily="49" charset="-122"/>
                <a:ea typeface="楷体_GB2312" pitchFamily="49" charset="-122"/>
              </a:rPr>
              <a:t>等温气压公式</a:t>
            </a:r>
            <a:r>
              <a:rPr kumimoji="1" lang="en-US" altLang="zh-CN" sz="2400" b="1">
                <a:solidFill>
                  <a:srgbClr val="FF0000"/>
                </a:solidFill>
                <a:latin typeface="楷体_GB2312" pitchFamily="49" charset="-122"/>
                <a:ea typeface="楷体_GB2312" pitchFamily="49" charset="-122"/>
              </a:rPr>
              <a:t>)</a:t>
            </a:r>
            <a:endParaRPr kumimoji="1" lang="en-US" altLang="zh-CN" sz="2400">
              <a:solidFill>
                <a:srgbClr val="FF0000"/>
              </a:solidFill>
              <a:latin typeface="楷体_GB2312" pitchFamily="49" charset="-122"/>
              <a:ea typeface="楷体_GB2312" pitchFamily="49" charset="-122"/>
            </a:endParaRPr>
          </a:p>
        </p:txBody>
      </p:sp>
      <p:grpSp>
        <p:nvGrpSpPr>
          <p:cNvPr id="2" name="Group 14"/>
          <p:cNvGrpSpPr>
            <a:grpSpLocks/>
          </p:cNvGrpSpPr>
          <p:nvPr/>
        </p:nvGrpSpPr>
        <p:grpSpPr bwMode="auto">
          <a:xfrm>
            <a:off x="323850" y="549275"/>
            <a:ext cx="8351838" cy="1016000"/>
            <a:chOff x="204" y="346"/>
            <a:chExt cx="5261" cy="640"/>
          </a:xfrm>
        </p:grpSpPr>
        <p:sp>
          <p:nvSpPr>
            <p:cNvPr id="67594" name="Text Box 4"/>
            <p:cNvSpPr txBox="1">
              <a:spLocks noChangeArrowheads="1"/>
            </p:cNvSpPr>
            <p:nvPr/>
          </p:nvSpPr>
          <p:spPr bwMode="auto">
            <a:xfrm>
              <a:off x="204" y="346"/>
              <a:ext cx="5261" cy="640"/>
            </a:xfrm>
            <a:prstGeom prst="rect">
              <a:avLst/>
            </a:prstGeom>
            <a:noFill/>
            <a:ln w="9525">
              <a:noFill/>
              <a:miter lim="800000"/>
              <a:headEnd/>
              <a:tailEnd/>
            </a:ln>
          </p:spPr>
          <p:txBody>
            <a:bodyPr>
              <a:spAutoFit/>
            </a:bodyPr>
            <a:lstStyle/>
            <a:p>
              <a:pPr>
                <a:lnSpc>
                  <a:spcPct val="125000"/>
                </a:lnSpc>
                <a:defRPr/>
              </a:pPr>
              <a:r>
                <a:rPr kumimoji="1" lang="zh-CN" altLang="fr-FR" sz="2400" b="1" dirty="0">
                  <a:latin typeface="Times New Roman" pitchFamily="18" charset="0"/>
                  <a:ea typeface="+mn-ea"/>
                  <a:cs typeface="Times New Roman" pitchFamily="18" charset="0"/>
                </a:rPr>
                <a:t>         理想气体的压强公式</a:t>
              </a:r>
              <a:r>
                <a:rPr kumimoji="1" lang="zh-CN" altLang="en-US" sz="2400" b="1" dirty="0">
                  <a:latin typeface="Times New Roman" pitchFamily="18" charset="0"/>
                  <a:ea typeface="+mn-ea"/>
                  <a:cs typeface="Times New Roman" pitchFamily="18" charset="0"/>
                </a:rPr>
                <a:t>为</a:t>
              </a:r>
              <a:r>
                <a:rPr kumimoji="1" lang="zh-CN" altLang="fr-FR"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。设在</a:t>
              </a:r>
              <a:r>
                <a:rPr kumimoji="1" lang="zh-CN" altLang="fr-FR" sz="2400" b="1" dirty="0">
                  <a:latin typeface="Times New Roman" pitchFamily="18" charset="0"/>
                  <a:ea typeface="+mn-ea"/>
                  <a:cs typeface="Times New Roman" pitchFamily="18" charset="0"/>
                </a:rPr>
                <a:t>地平面处</a:t>
              </a:r>
              <a:r>
                <a:rPr kumimoji="1" lang="fr-FR" altLang="zh-CN" sz="2400" b="1" dirty="0">
                  <a:latin typeface="Times New Roman" pitchFamily="18" charset="0"/>
                  <a:ea typeface="+mn-ea"/>
                  <a:cs typeface="Times New Roman" pitchFamily="18" charset="0"/>
                </a:rPr>
                <a:t>( </a:t>
              </a:r>
              <a:r>
                <a:rPr kumimoji="1" lang="fr-FR" altLang="zh-CN" sz="2400" b="1" i="1" dirty="0">
                  <a:solidFill>
                    <a:srgbClr val="FF0000"/>
                  </a:solidFill>
                  <a:latin typeface="Times New Roman" pitchFamily="18" charset="0"/>
                  <a:ea typeface="+mn-ea"/>
                  <a:cs typeface="Times New Roman" pitchFamily="18" charset="0"/>
                </a:rPr>
                <a:t>h</a:t>
              </a:r>
              <a:r>
                <a:rPr kumimoji="1" lang="zh-CN" altLang="fr-FR" sz="2400" b="1" dirty="0">
                  <a:solidFill>
                    <a:srgbClr val="FF0000"/>
                  </a:solidFill>
                  <a:latin typeface="Times New Roman" pitchFamily="18" charset="0"/>
                  <a:ea typeface="+mn-ea"/>
                  <a:cs typeface="Times New Roman" pitchFamily="18" charset="0"/>
                </a:rPr>
                <a:t>＝</a:t>
              </a:r>
              <a:r>
                <a:rPr kumimoji="1" lang="fr-FR" altLang="zh-CN" sz="2400" b="1" dirty="0">
                  <a:solidFill>
                    <a:srgbClr val="FF0000"/>
                  </a:solidFill>
                  <a:latin typeface="Times New Roman" pitchFamily="18" charset="0"/>
                  <a:ea typeface="+mn-ea"/>
                  <a:cs typeface="Times New Roman" pitchFamily="18" charset="0"/>
                </a:rPr>
                <a:t>0</a:t>
              </a:r>
              <a:r>
                <a:rPr kumimoji="1" lang="fr-FR"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的压强为                ，则在高</a:t>
              </a:r>
              <a:r>
                <a:rPr kumimoji="1" lang="zh-CN" altLang="fr-FR" sz="2400" b="1" dirty="0">
                  <a:latin typeface="Times New Roman" pitchFamily="18" charset="0"/>
                  <a:ea typeface="+mn-ea"/>
                  <a:cs typeface="Times New Roman" pitchFamily="18" charset="0"/>
                </a:rPr>
                <a:t>为 </a:t>
              </a:r>
              <a:r>
                <a:rPr kumimoji="1" lang="fr-FR" altLang="zh-CN" sz="2400" b="1" i="1" dirty="0">
                  <a:solidFill>
                    <a:srgbClr val="FF0000"/>
                  </a:solidFill>
                  <a:latin typeface="Times New Roman" pitchFamily="18" charset="0"/>
                  <a:ea typeface="+mn-ea"/>
                  <a:cs typeface="Times New Roman" pitchFamily="18" charset="0"/>
                </a:rPr>
                <a:t>h </a:t>
              </a:r>
              <a:r>
                <a:rPr kumimoji="1" lang="zh-CN" altLang="fr-FR" sz="2400" b="1" dirty="0">
                  <a:latin typeface="Times New Roman" pitchFamily="18" charset="0"/>
                  <a:ea typeface="+mn-ea"/>
                  <a:cs typeface="Times New Roman" pitchFamily="18" charset="0"/>
                </a:rPr>
                <a:t>处的压强</a:t>
              </a:r>
              <a:r>
                <a:rPr kumimoji="1" lang="zh-CN" altLang="fr-FR" sz="2400" dirty="0">
                  <a:latin typeface="Times New Roman" pitchFamily="18" charset="0"/>
                  <a:ea typeface="+mn-ea"/>
                  <a:cs typeface="Times New Roman" pitchFamily="18" charset="0"/>
                </a:rPr>
                <a:t> </a:t>
              </a:r>
              <a:endParaRPr kumimoji="1" lang="zh-CN" altLang="en-US" sz="2400" dirty="0">
                <a:latin typeface="Times New Roman" pitchFamily="18" charset="0"/>
                <a:ea typeface="+mn-ea"/>
                <a:cs typeface="Times New Roman" pitchFamily="18" charset="0"/>
              </a:endParaRPr>
            </a:p>
          </p:txBody>
        </p:sp>
        <p:graphicFrame>
          <p:nvGraphicFramePr>
            <p:cNvPr id="63493" name="Object 5"/>
            <p:cNvGraphicFramePr>
              <a:graphicFrameLocks noChangeAspect="1"/>
            </p:cNvGraphicFramePr>
            <p:nvPr/>
          </p:nvGraphicFramePr>
          <p:xfrm>
            <a:off x="2699" y="436"/>
            <a:ext cx="666" cy="231"/>
          </p:xfrm>
          <a:graphic>
            <a:graphicData uri="http://schemas.openxmlformats.org/presentationml/2006/ole">
              <p:oleObj spid="_x0000_s63493" name="公式" r:id="rId3" imgW="583920" imgH="203040" progId="Equation.3">
                <p:embed/>
              </p:oleObj>
            </a:graphicData>
          </a:graphic>
        </p:graphicFrame>
        <p:graphicFrame>
          <p:nvGraphicFramePr>
            <p:cNvPr id="63494" name="Object 9"/>
            <p:cNvGraphicFramePr>
              <a:graphicFrameLocks noChangeAspect="1"/>
            </p:cNvGraphicFramePr>
            <p:nvPr/>
          </p:nvGraphicFramePr>
          <p:xfrm>
            <a:off x="1031" y="721"/>
            <a:ext cx="738" cy="260"/>
          </p:xfrm>
          <a:graphic>
            <a:graphicData uri="http://schemas.openxmlformats.org/presentationml/2006/ole">
              <p:oleObj spid="_x0000_s63494" name="Equation" r:id="rId4" imgW="647640" imgH="228600" progId="">
                <p:embed/>
              </p:oleObj>
            </a:graphicData>
          </a:graphic>
        </p:graphicFrame>
      </p:grpSp>
      <p:graphicFrame>
        <p:nvGraphicFramePr>
          <p:cNvPr id="314379" name="Object 11"/>
          <p:cNvGraphicFramePr>
            <a:graphicFrameLocks noChangeAspect="1"/>
          </p:cNvGraphicFramePr>
          <p:nvPr/>
        </p:nvGraphicFramePr>
        <p:xfrm>
          <a:off x="2584450" y="1916113"/>
          <a:ext cx="1936750" cy="406400"/>
        </p:xfrm>
        <a:graphic>
          <a:graphicData uri="http://schemas.openxmlformats.org/presentationml/2006/ole">
            <p:oleObj spid="_x0000_s63490" name="公式" r:id="rId5" imgW="965160" imgH="203040" progId="Equation.3">
              <p:embed/>
            </p:oleObj>
          </a:graphicData>
        </a:graphic>
      </p:graphicFrame>
      <p:graphicFrame>
        <p:nvGraphicFramePr>
          <p:cNvPr id="314380" name="Object 12"/>
          <p:cNvGraphicFramePr>
            <a:graphicFrameLocks noChangeAspect="1"/>
          </p:cNvGraphicFramePr>
          <p:nvPr/>
        </p:nvGraphicFramePr>
        <p:xfrm>
          <a:off x="3240088" y="2586038"/>
          <a:ext cx="1908175" cy="482600"/>
        </p:xfrm>
        <a:graphic>
          <a:graphicData uri="http://schemas.openxmlformats.org/presentationml/2006/ole">
            <p:oleObj spid="_x0000_s63491" name="公式" r:id="rId6" imgW="952200" imgH="241200" progId="Equation.3">
              <p:embed/>
            </p:oleObj>
          </a:graphicData>
        </a:graphic>
      </p:graphicFrame>
      <p:graphicFrame>
        <p:nvGraphicFramePr>
          <p:cNvPr id="314381" name="Object 13"/>
          <p:cNvGraphicFramePr>
            <a:graphicFrameLocks noChangeAspect="1"/>
          </p:cNvGraphicFramePr>
          <p:nvPr/>
        </p:nvGraphicFramePr>
        <p:xfrm>
          <a:off x="3248025" y="3378200"/>
          <a:ext cx="1525588" cy="482600"/>
        </p:xfrm>
        <a:graphic>
          <a:graphicData uri="http://schemas.openxmlformats.org/presentationml/2006/ole">
            <p:oleObj spid="_x0000_s63492" name="公式" r:id="rId7" imgW="761760" imgH="241200" progId="Equation.3">
              <p:embed/>
            </p:oleObj>
          </a:graphicData>
        </a:graphic>
      </p:graphicFrame>
      <p:sp>
        <p:nvSpPr>
          <p:cNvPr id="314383" name="Text Box 15"/>
          <p:cNvSpPr txBox="1">
            <a:spLocks noChangeArrowheads="1"/>
          </p:cNvSpPr>
          <p:nvPr/>
        </p:nvSpPr>
        <p:spPr bwMode="auto">
          <a:xfrm>
            <a:off x="395288" y="4076700"/>
            <a:ext cx="8424862" cy="1463675"/>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        该式表示</a:t>
            </a:r>
            <a:r>
              <a:rPr kumimoji="1" lang="zh-CN" altLang="en-US" sz="2400" b="1" dirty="0">
                <a:solidFill>
                  <a:srgbClr val="FF0000"/>
                </a:solidFill>
                <a:latin typeface="Times New Roman" pitchFamily="18" charset="0"/>
                <a:ea typeface="+mn-ea"/>
                <a:cs typeface="Times New Roman" pitchFamily="18" charset="0"/>
              </a:rPr>
              <a:t>大气压强随高度也按指数规律减小</a:t>
            </a:r>
            <a:r>
              <a:rPr kumimoji="1" lang="zh-CN" altLang="en-US" sz="2400" b="1" dirty="0">
                <a:solidFill>
                  <a:srgbClr val="008000"/>
                </a:solidFill>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在实际中可用于地面上高空某处大气压强的近似估算，也可根据测得的大气压强来估算测量点的高度。</a:t>
            </a:r>
            <a:r>
              <a:rPr kumimoji="1" lang="zh-CN" altLang="en-US" sz="2400" dirty="0">
                <a:latin typeface="Times New Roman" pitchFamily="18" charset="0"/>
                <a:ea typeface="+mn-ea"/>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4379"/>
                                        </p:tgtEl>
                                        <p:attrNameLst>
                                          <p:attrName>style.visibility</p:attrName>
                                        </p:attrNameLst>
                                      </p:cBhvr>
                                      <p:to>
                                        <p:strVal val="visible"/>
                                      </p:to>
                                    </p:set>
                                    <p:animEffect transition="in" filter="wipe(left)">
                                      <p:cBhvr>
                                        <p:cTn id="12" dur="500"/>
                                        <p:tgtEl>
                                          <p:spTgt spid="3143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4380"/>
                                        </p:tgtEl>
                                        <p:attrNameLst>
                                          <p:attrName>style.visibility</p:attrName>
                                        </p:attrNameLst>
                                      </p:cBhvr>
                                      <p:to>
                                        <p:strVal val="visible"/>
                                      </p:to>
                                    </p:set>
                                    <p:animEffect transition="in" filter="wipe(left)">
                                      <p:cBhvr>
                                        <p:cTn id="17" dur="500"/>
                                        <p:tgtEl>
                                          <p:spTgt spid="3143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4381"/>
                                        </p:tgtEl>
                                        <p:attrNameLst>
                                          <p:attrName>style.visibility</p:attrName>
                                        </p:attrNameLst>
                                      </p:cBhvr>
                                      <p:to>
                                        <p:strVal val="visible"/>
                                      </p:to>
                                    </p:set>
                                    <p:animEffect transition="in" filter="wipe(left)">
                                      <p:cBhvr>
                                        <p:cTn id="22" dur="500"/>
                                        <p:tgtEl>
                                          <p:spTgt spid="314381"/>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314376"/>
                                        </p:tgtEl>
                                        <p:attrNameLst>
                                          <p:attrName>style.visibility</p:attrName>
                                        </p:attrNameLst>
                                      </p:cBhvr>
                                      <p:to>
                                        <p:strVal val="visible"/>
                                      </p:to>
                                    </p:set>
                                    <p:animEffect transition="in" filter="dissolve">
                                      <p:cBhvr>
                                        <p:cTn id="26" dur="500"/>
                                        <p:tgtEl>
                                          <p:spTgt spid="31437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14383"/>
                                        </p:tgtEl>
                                        <p:attrNameLst>
                                          <p:attrName>style.visibility</p:attrName>
                                        </p:attrNameLst>
                                      </p:cBhvr>
                                      <p:to>
                                        <p:strVal val="visible"/>
                                      </p:to>
                                    </p:set>
                                    <p:animEffect transition="in" filter="dissolve">
                                      <p:cBhvr>
                                        <p:cTn id="31" dur="500"/>
                                        <p:tgtEl>
                                          <p:spTgt spid="3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6" grpId="0"/>
      <p:bldP spid="31438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ChangeArrowheads="1"/>
          </p:cNvSpPr>
          <p:nvPr/>
        </p:nvSpPr>
        <p:spPr bwMode="auto">
          <a:xfrm>
            <a:off x="750888" y="452438"/>
            <a:ext cx="8069262" cy="1406525"/>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rPr>
              <a:t>实验测得常温下距海平面不太高处，每升高 </a:t>
            </a:r>
            <a:r>
              <a:rPr kumimoji="1" lang="en-US" altLang="zh-CN" sz="2400" b="1">
                <a:solidFill>
                  <a:srgbClr val="FF6600"/>
                </a:solidFill>
                <a:latin typeface="Times New Roman" pitchFamily="18" charset="0"/>
              </a:rPr>
              <a:t>10 m</a:t>
            </a:r>
            <a:r>
              <a:rPr kumimoji="1" lang="zh-CN" altLang="en-US" sz="2400" b="1">
                <a:latin typeface="Times New Roman" pitchFamily="18" charset="0"/>
              </a:rPr>
              <a:t>，大气压</a:t>
            </a:r>
          </a:p>
          <a:p>
            <a:pPr>
              <a:lnSpc>
                <a:spcPct val="120000"/>
              </a:lnSpc>
            </a:pPr>
            <a:r>
              <a:rPr kumimoji="1" lang="zh-CN" altLang="en-US" sz="2400" b="1">
                <a:latin typeface="Times New Roman" pitchFamily="18" charset="0"/>
              </a:rPr>
              <a:t>约降低 </a:t>
            </a:r>
            <a:r>
              <a:rPr kumimoji="1" lang="en-US" altLang="zh-CN" sz="2400" b="1">
                <a:solidFill>
                  <a:srgbClr val="FF6600"/>
                </a:solidFill>
                <a:latin typeface="Times New Roman" pitchFamily="18" charset="0"/>
              </a:rPr>
              <a:t>133.3 Pa </a:t>
            </a:r>
            <a:r>
              <a:rPr kumimoji="1" lang="zh-CN" altLang="en-US" sz="2400" b="1">
                <a:latin typeface="Times New Roman" pitchFamily="18" charset="0"/>
              </a:rPr>
              <a:t>。试用</a:t>
            </a:r>
            <a:r>
              <a:rPr kumimoji="1" lang="zh-CN" altLang="en-US" sz="2400" b="1">
                <a:solidFill>
                  <a:srgbClr val="FF0000"/>
                </a:solidFill>
                <a:latin typeface="Times New Roman" pitchFamily="18" charset="0"/>
              </a:rPr>
              <a:t>等温气压公式</a:t>
            </a:r>
            <a:r>
              <a:rPr kumimoji="1" lang="zh-CN" altLang="en-US" sz="2400" b="1">
                <a:latin typeface="Times New Roman" pitchFamily="18" charset="0"/>
              </a:rPr>
              <a:t>验证此结果</a:t>
            </a:r>
            <a:r>
              <a:rPr kumimoji="1" lang="en-US" altLang="zh-CN" sz="2400" b="1">
                <a:latin typeface="Times New Roman" pitchFamily="18" charset="0"/>
              </a:rPr>
              <a:t>(</a:t>
            </a:r>
            <a:r>
              <a:rPr kumimoji="1" lang="zh-CN" altLang="en-US" sz="2400" b="1">
                <a:latin typeface="Times New Roman" pitchFamily="18" charset="0"/>
              </a:rPr>
              <a:t>海平面</a:t>
            </a:r>
          </a:p>
          <a:p>
            <a:pPr>
              <a:lnSpc>
                <a:spcPct val="120000"/>
              </a:lnSpc>
            </a:pPr>
            <a:r>
              <a:rPr kumimoji="1" lang="zh-CN" altLang="en-US" sz="2400" b="1">
                <a:latin typeface="Times New Roman" pitchFamily="18" charset="0"/>
              </a:rPr>
              <a:t>上大气压按 </a:t>
            </a:r>
            <a:r>
              <a:rPr kumimoji="1" lang="en-US" altLang="zh-CN" sz="2400" b="1">
                <a:solidFill>
                  <a:srgbClr val="FF6600"/>
                </a:solidFill>
                <a:latin typeface="Times New Roman" pitchFamily="18" charset="0"/>
              </a:rPr>
              <a:t>1.013×10</a:t>
            </a:r>
            <a:r>
              <a:rPr kumimoji="1" lang="en-US" altLang="zh-CN" sz="2400" b="1" baseline="40000">
                <a:solidFill>
                  <a:srgbClr val="FF6600"/>
                </a:solidFill>
                <a:latin typeface="Times New Roman" pitchFamily="18" charset="0"/>
              </a:rPr>
              <a:t>5</a:t>
            </a:r>
            <a:r>
              <a:rPr kumimoji="1" lang="en-US" altLang="zh-CN" sz="2400" b="1">
                <a:solidFill>
                  <a:srgbClr val="FF6600"/>
                </a:solidFill>
                <a:latin typeface="Times New Roman" pitchFamily="18" charset="0"/>
              </a:rPr>
              <a:t> Pa</a:t>
            </a:r>
            <a:r>
              <a:rPr kumimoji="1" lang="en-US" altLang="zh-CN" sz="2400" b="1">
                <a:latin typeface="Times New Roman" pitchFamily="18" charset="0"/>
              </a:rPr>
              <a:t> </a:t>
            </a:r>
            <a:r>
              <a:rPr kumimoji="1" lang="zh-CN" altLang="en-US" sz="2400" b="1">
                <a:latin typeface="Times New Roman" pitchFamily="18" charset="0"/>
              </a:rPr>
              <a:t>计，温度取 </a:t>
            </a:r>
            <a:r>
              <a:rPr kumimoji="1" lang="en-US" altLang="zh-CN" sz="2400" b="1">
                <a:solidFill>
                  <a:srgbClr val="FF6600"/>
                </a:solidFill>
                <a:latin typeface="Times New Roman" pitchFamily="18" charset="0"/>
              </a:rPr>
              <a:t>273K </a:t>
            </a:r>
            <a:r>
              <a:rPr kumimoji="1" lang="en-US" altLang="zh-CN" sz="2400" b="1">
                <a:latin typeface="Times New Roman" pitchFamily="18" charset="0"/>
              </a:rPr>
              <a:t>)</a:t>
            </a:r>
            <a:r>
              <a:rPr kumimoji="1" lang="zh-CN" altLang="en-US" sz="2400" b="1">
                <a:latin typeface="Times New Roman" pitchFamily="18" charset="0"/>
              </a:rPr>
              <a:t>。 </a:t>
            </a:r>
          </a:p>
        </p:txBody>
      </p:sp>
      <p:graphicFrame>
        <p:nvGraphicFramePr>
          <p:cNvPr id="315395" name="Object 3"/>
          <p:cNvGraphicFramePr>
            <a:graphicFrameLocks noChangeAspect="1"/>
          </p:cNvGraphicFramePr>
          <p:nvPr/>
        </p:nvGraphicFramePr>
        <p:xfrm>
          <a:off x="900113" y="5300663"/>
          <a:ext cx="1735137" cy="777875"/>
        </p:xfrm>
        <a:graphic>
          <a:graphicData uri="http://schemas.openxmlformats.org/presentationml/2006/ole">
            <p:oleObj spid="_x0000_s64514" name="公式" r:id="rId3" imgW="965160" imgH="431640" progId="Equation.3">
              <p:embed/>
            </p:oleObj>
          </a:graphicData>
        </a:graphic>
      </p:graphicFrame>
      <p:graphicFrame>
        <p:nvGraphicFramePr>
          <p:cNvPr id="315396" name="Object 4"/>
          <p:cNvGraphicFramePr>
            <a:graphicFrameLocks noChangeAspect="1"/>
          </p:cNvGraphicFramePr>
          <p:nvPr/>
        </p:nvGraphicFramePr>
        <p:xfrm>
          <a:off x="2700338" y="5300663"/>
          <a:ext cx="3817937" cy="730250"/>
        </p:xfrm>
        <a:graphic>
          <a:graphicData uri="http://schemas.openxmlformats.org/presentationml/2006/ole">
            <p:oleObj spid="_x0000_s64515" name="公式" r:id="rId4" imgW="2120760" imgH="406080" progId="Equation.3">
              <p:embed/>
            </p:oleObj>
          </a:graphicData>
        </a:graphic>
      </p:graphicFrame>
      <p:graphicFrame>
        <p:nvGraphicFramePr>
          <p:cNvPr id="315397" name="Object 5"/>
          <p:cNvGraphicFramePr>
            <a:graphicFrameLocks noChangeAspect="1"/>
          </p:cNvGraphicFramePr>
          <p:nvPr/>
        </p:nvGraphicFramePr>
        <p:xfrm>
          <a:off x="6624638" y="5516563"/>
          <a:ext cx="1116012" cy="320675"/>
        </p:xfrm>
        <a:graphic>
          <a:graphicData uri="http://schemas.openxmlformats.org/presentationml/2006/ole">
            <p:oleObj spid="_x0000_s64516" name="公式" r:id="rId5" imgW="622080" imgH="177480" progId="Equation.3">
              <p:embed/>
            </p:oleObj>
          </a:graphicData>
        </a:graphic>
      </p:graphicFrame>
      <p:sp>
        <p:nvSpPr>
          <p:cNvPr id="315398" name="Text Box 6"/>
          <p:cNvSpPr txBox="1">
            <a:spLocks noChangeArrowheads="1"/>
          </p:cNvSpPr>
          <p:nvPr/>
        </p:nvSpPr>
        <p:spPr bwMode="auto">
          <a:xfrm>
            <a:off x="179388" y="2087563"/>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解</a:t>
            </a:r>
          </a:p>
        </p:txBody>
      </p:sp>
      <p:sp>
        <p:nvSpPr>
          <p:cNvPr id="315399" name="Text Box 7"/>
          <p:cNvSpPr txBox="1">
            <a:spLocks noChangeArrowheads="1"/>
          </p:cNvSpPr>
          <p:nvPr/>
        </p:nvSpPr>
        <p:spPr bwMode="auto">
          <a:xfrm>
            <a:off x="119063" y="476250"/>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例</a:t>
            </a:r>
          </a:p>
        </p:txBody>
      </p:sp>
      <p:graphicFrame>
        <p:nvGraphicFramePr>
          <p:cNvPr id="315400" name="Object 8"/>
          <p:cNvGraphicFramePr>
            <a:graphicFrameLocks noChangeAspect="1"/>
          </p:cNvGraphicFramePr>
          <p:nvPr/>
        </p:nvGraphicFramePr>
        <p:xfrm>
          <a:off x="2339975" y="2665413"/>
          <a:ext cx="3946525" cy="547687"/>
        </p:xfrm>
        <a:graphic>
          <a:graphicData uri="http://schemas.openxmlformats.org/presentationml/2006/ole">
            <p:oleObj spid="_x0000_s64517" name="公式" r:id="rId6" imgW="1726920" imgH="241200" progId="Equation.3">
              <p:embed/>
            </p:oleObj>
          </a:graphicData>
        </a:graphic>
      </p:graphicFrame>
      <p:graphicFrame>
        <p:nvGraphicFramePr>
          <p:cNvPr id="315401" name="Object 9"/>
          <p:cNvGraphicFramePr>
            <a:graphicFrameLocks noChangeAspect="1"/>
          </p:cNvGraphicFramePr>
          <p:nvPr/>
        </p:nvGraphicFramePr>
        <p:xfrm>
          <a:off x="1916113" y="4076700"/>
          <a:ext cx="3087687" cy="730250"/>
        </p:xfrm>
        <a:graphic>
          <a:graphicData uri="http://schemas.openxmlformats.org/presentationml/2006/ole">
            <p:oleObj spid="_x0000_s64518" name="公式" r:id="rId7" imgW="1714320" imgH="406080" progId="Equation.3">
              <p:embed/>
            </p:oleObj>
          </a:graphicData>
        </a:graphic>
      </p:graphicFrame>
      <p:graphicFrame>
        <p:nvGraphicFramePr>
          <p:cNvPr id="315402" name="Object 10"/>
          <p:cNvGraphicFramePr>
            <a:graphicFrameLocks noChangeAspect="1"/>
          </p:cNvGraphicFramePr>
          <p:nvPr/>
        </p:nvGraphicFramePr>
        <p:xfrm>
          <a:off x="6156325" y="4005263"/>
          <a:ext cx="1690688" cy="773112"/>
        </p:xfrm>
        <a:graphic>
          <a:graphicData uri="http://schemas.openxmlformats.org/presentationml/2006/ole">
            <p:oleObj spid="_x0000_s64519" name="公式" r:id="rId8" imgW="939600" imgH="431640" progId="Equation.3">
              <p:embed/>
            </p:oleObj>
          </a:graphicData>
        </a:graphic>
      </p:graphicFrame>
      <p:sp>
        <p:nvSpPr>
          <p:cNvPr id="315403" name="AutoShape 11"/>
          <p:cNvSpPr>
            <a:spLocks noChangeArrowheads="1"/>
          </p:cNvSpPr>
          <p:nvPr/>
        </p:nvSpPr>
        <p:spPr bwMode="auto">
          <a:xfrm>
            <a:off x="5364163" y="4319588"/>
            <a:ext cx="503237" cy="109537"/>
          </a:xfrm>
          <a:prstGeom prst="rightArrow">
            <a:avLst>
              <a:gd name="adj1" fmla="val 50000"/>
              <a:gd name="adj2" fmla="val 139039"/>
            </a:avLst>
          </a:prstGeom>
          <a:solidFill>
            <a:srgbClr val="3366FF"/>
          </a:solidFill>
          <a:ln w="9525">
            <a:solidFill>
              <a:schemeClr val="tx1"/>
            </a:solidFill>
            <a:miter lim="800000"/>
            <a:headEnd/>
            <a:tailEnd/>
          </a:ln>
        </p:spPr>
        <p:txBody>
          <a:bodyPr wrap="none" anchor="ctr"/>
          <a:lstStyle/>
          <a:p>
            <a:pPr algn="ctr"/>
            <a:endParaRPr lang="zh-CN" altLang="en-US"/>
          </a:p>
        </p:txBody>
      </p:sp>
      <p:sp>
        <p:nvSpPr>
          <p:cNvPr id="315404" name="Text Box 12"/>
          <p:cNvSpPr txBox="1">
            <a:spLocks noChangeArrowheads="1"/>
          </p:cNvSpPr>
          <p:nvPr/>
        </p:nvSpPr>
        <p:spPr bwMode="auto">
          <a:xfrm>
            <a:off x="873125" y="2111375"/>
            <a:ext cx="2690813" cy="457200"/>
          </a:xfrm>
          <a:prstGeom prst="rect">
            <a:avLst/>
          </a:prstGeom>
          <a:noFill/>
          <a:ln w="9525">
            <a:noFill/>
            <a:miter lim="800000"/>
            <a:headEnd/>
            <a:tailEnd/>
          </a:ln>
        </p:spPr>
        <p:txBody>
          <a:bodyPr>
            <a:spAutoFit/>
          </a:bodyPr>
          <a:lstStyle/>
          <a:p>
            <a:pPr>
              <a:defRPr/>
            </a:pPr>
            <a:r>
              <a:rPr kumimoji="1" lang="zh-CN" altLang="en-US" sz="2400" b="1" dirty="0">
                <a:solidFill>
                  <a:srgbClr val="FF3300"/>
                </a:solidFill>
                <a:latin typeface="+mn-ea"/>
                <a:ea typeface="+mn-ea"/>
              </a:rPr>
              <a:t>等温气压公式</a:t>
            </a:r>
          </a:p>
        </p:txBody>
      </p:sp>
      <p:sp>
        <p:nvSpPr>
          <p:cNvPr id="315405" name="Text Box 13"/>
          <p:cNvSpPr txBox="1">
            <a:spLocks noChangeArrowheads="1"/>
          </p:cNvSpPr>
          <p:nvPr/>
        </p:nvSpPr>
        <p:spPr bwMode="auto">
          <a:xfrm>
            <a:off x="755650" y="3403600"/>
            <a:ext cx="3411538" cy="457200"/>
          </a:xfrm>
          <a:prstGeom prst="rect">
            <a:avLst/>
          </a:prstGeom>
          <a:noFill/>
          <a:ln w="9525">
            <a:noFill/>
            <a:miter lim="800000"/>
            <a:headEnd/>
            <a:tailEnd/>
          </a:ln>
        </p:spPr>
        <p:txBody>
          <a:bodyPr>
            <a:spAutoFit/>
          </a:bodyPr>
          <a:lstStyle/>
          <a:p>
            <a:pPr>
              <a:defRPr/>
            </a:pPr>
            <a:r>
              <a:rPr kumimoji="1" lang="zh-CN" altLang="en-US" sz="2400" b="1">
                <a:latin typeface="+mn-ea"/>
                <a:ea typeface="+mn-ea"/>
              </a:rPr>
              <a:t>将上式两边微分，有</a:t>
            </a:r>
          </a:p>
        </p:txBody>
      </p:sp>
      <p:sp>
        <p:nvSpPr>
          <p:cNvPr id="315406" name="AutoShape 14">
            <a:hlinkClick r:id="rId9" action="ppaction://hlinksldjump" highlightClick="1"/>
          </p:cNvPr>
          <p:cNvSpPr>
            <a:spLocks noChangeArrowheads="1"/>
          </p:cNvSpPr>
          <p:nvPr/>
        </p:nvSpPr>
        <p:spPr bwMode="auto">
          <a:xfrm>
            <a:off x="8650288" y="6202363"/>
            <a:ext cx="287337" cy="287337"/>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399"/>
                                        </p:tgtEl>
                                        <p:attrNameLst>
                                          <p:attrName>style.visibility</p:attrName>
                                        </p:attrNameLst>
                                      </p:cBhvr>
                                      <p:to>
                                        <p:strVal val="visible"/>
                                      </p:to>
                                    </p:set>
                                    <p:animEffect transition="in" filter="wipe(left)">
                                      <p:cBhvr>
                                        <p:cTn id="7" dur="500"/>
                                        <p:tgtEl>
                                          <p:spTgt spid="31539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394"/>
                                        </p:tgtEl>
                                        <p:attrNameLst>
                                          <p:attrName>style.visibility</p:attrName>
                                        </p:attrNameLst>
                                      </p:cBhvr>
                                      <p:to>
                                        <p:strVal val="visible"/>
                                      </p:to>
                                    </p:set>
                                    <p:animEffect transition="in" filter="wipe(left)">
                                      <p:cBhvr>
                                        <p:cTn id="11" dur="500"/>
                                        <p:tgtEl>
                                          <p:spTgt spid="31539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398"/>
                                        </p:tgtEl>
                                        <p:attrNameLst>
                                          <p:attrName>style.visibility</p:attrName>
                                        </p:attrNameLst>
                                      </p:cBhvr>
                                      <p:to>
                                        <p:strVal val="visible"/>
                                      </p:to>
                                    </p:set>
                                    <p:animEffect transition="in" filter="wipe(left)">
                                      <p:cBhvr>
                                        <p:cTn id="16" dur="500"/>
                                        <p:tgtEl>
                                          <p:spTgt spid="3153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5404"/>
                                        </p:tgtEl>
                                        <p:attrNameLst>
                                          <p:attrName>style.visibility</p:attrName>
                                        </p:attrNameLst>
                                      </p:cBhvr>
                                      <p:to>
                                        <p:strVal val="visible"/>
                                      </p:to>
                                    </p:set>
                                    <p:animEffect transition="in" filter="wipe(left)">
                                      <p:cBhvr>
                                        <p:cTn id="21" dur="500"/>
                                        <p:tgtEl>
                                          <p:spTgt spid="31540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15400"/>
                                        </p:tgtEl>
                                        <p:attrNameLst>
                                          <p:attrName>style.visibility</p:attrName>
                                        </p:attrNameLst>
                                      </p:cBhvr>
                                      <p:to>
                                        <p:strVal val="visible"/>
                                      </p:to>
                                    </p:set>
                                    <p:animEffect transition="in" filter="wipe(left)">
                                      <p:cBhvr>
                                        <p:cTn id="26" dur="500"/>
                                        <p:tgtEl>
                                          <p:spTgt spid="3154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5405"/>
                                        </p:tgtEl>
                                        <p:attrNameLst>
                                          <p:attrName>style.visibility</p:attrName>
                                        </p:attrNameLst>
                                      </p:cBhvr>
                                      <p:to>
                                        <p:strVal val="visible"/>
                                      </p:to>
                                    </p:set>
                                    <p:animEffect transition="in" filter="wipe(left)">
                                      <p:cBhvr>
                                        <p:cTn id="31" dur="500"/>
                                        <p:tgtEl>
                                          <p:spTgt spid="31540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15401"/>
                                        </p:tgtEl>
                                        <p:attrNameLst>
                                          <p:attrName>style.visibility</p:attrName>
                                        </p:attrNameLst>
                                      </p:cBhvr>
                                      <p:to>
                                        <p:strVal val="visible"/>
                                      </p:to>
                                    </p:set>
                                    <p:animEffect transition="in" filter="wipe(left)">
                                      <p:cBhvr>
                                        <p:cTn id="36" dur="500"/>
                                        <p:tgtEl>
                                          <p:spTgt spid="31540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15403"/>
                                        </p:tgtEl>
                                        <p:attrNameLst>
                                          <p:attrName>style.visibility</p:attrName>
                                        </p:attrNameLst>
                                      </p:cBhvr>
                                      <p:to>
                                        <p:strVal val="visible"/>
                                      </p:to>
                                    </p:set>
                                    <p:animEffect transition="in" filter="wipe(left)">
                                      <p:cBhvr>
                                        <p:cTn id="41" dur="500"/>
                                        <p:tgtEl>
                                          <p:spTgt spid="315403"/>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315402"/>
                                        </p:tgtEl>
                                        <p:attrNameLst>
                                          <p:attrName>style.visibility</p:attrName>
                                        </p:attrNameLst>
                                      </p:cBhvr>
                                      <p:to>
                                        <p:strVal val="visible"/>
                                      </p:to>
                                    </p:set>
                                    <p:animEffect transition="in" filter="wipe(left)">
                                      <p:cBhvr>
                                        <p:cTn id="45" dur="500"/>
                                        <p:tgtEl>
                                          <p:spTgt spid="31540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15395"/>
                                        </p:tgtEl>
                                        <p:attrNameLst>
                                          <p:attrName>style.visibility</p:attrName>
                                        </p:attrNameLst>
                                      </p:cBhvr>
                                      <p:to>
                                        <p:strVal val="visible"/>
                                      </p:to>
                                    </p:set>
                                    <p:animEffect transition="in" filter="wipe(left)">
                                      <p:cBhvr>
                                        <p:cTn id="50" dur="500"/>
                                        <p:tgtEl>
                                          <p:spTgt spid="31539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15396"/>
                                        </p:tgtEl>
                                        <p:attrNameLst>
                                          <p:attrName>style.visibility</p:attrName>
                                        </p:attrNameLst>
                                      </p:cBhvr>
                                      <p:to>
                                        <p:strVal val="visible"/>
                                      </p:to>
                                    </p:set>
                                    <p:animEffect transition="in" filter="wipe(left)">
                                      <p:cBhvr>
                                        <p:cTn id="55" dur="500"/>
                                        <p:tgtEl>
                                          <p:spTgt spid="31539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15397"/>
                                        </p:tgtEl>
                                        <p:attrNameLst>
                                          <p:attrName>style.visibility</p:attrName>
                                        </p:attrNameLst>
                                      </p:cBhvr>
                                      <p:to>
                                        <p:strVal val="visible"/>
                                      </p:to>
                                    </p:set>
                                    <p:animEffect transition="in" filter="wipe(left)">
                                      <p:cBhvr>
                                        <p:cTn id="60" dur="500"/>
                                        <p:tgtEl>
                                          <p:spTgt spid="31539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15406"/>
                                        </p:tgtEl>
                                        <p:attrNameLst>
                                          <p:attrName>style.visibility</p:attrName>
                                        </p:attrNameLst>
                                      </p:cBhvr>
                                      <p:to>
                                        <p:strVal val="visible"/>
                                      </p:to>
                                    </p:set>
                                    <p:animEffect transition="in" filter="wipe(left)">
                                      <p:cBhvr>
                                        <p:cTn id="65" dur="500"/>
                                        <p:tgtEl>
                                          <p:spTgt spid="315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4" grpId="0"/>
      <p:bldP spid="315398" grpId="0"/>
      <p:bldP spid="315399" grpId="0"/>
      <p:bldP spid="315403" grpId="0" animBg="1"/>
      <p:bldP spid="315404" grpId="0"/>
      <p:bldP spid="315405" grpId="0"/>
      <p:bldP spid="31540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4">
            <a:hlinkClick r:id="rId3" action="ppaction://hlinkpres?slideindex=1&amp;slidetitle="/>
          </p:cNvPr>
          <p:cNvSpPr txBox="1">
            <a:spLocks noChangeArrowheads="1"/>
          </p:cNvSpPr>
          <p:nvPr/>
        </p:nvSpPr>
        <p:spPr bwMode="auto">
          <a:xfrm>
            <a:off x="611188" y="476250"/>
            <a:ext cx="7848600" cy="519113"/>
          </a:xfrm>
          <a:prstGeom prst="rect">
            <a:avLst/>
          </a:prstGeom>
          <a:noFill/>
          <a:ln w="9525">
            <a:noFill/>
            <a:miter lim="800000"/>
            <a:headEnd/>
            <a:tailEnd/>
          </a:ln>
        </p:spPr>
        <p:txBody>
          <a:bodyPr>
            <a:spAutoFit/>
          </a:bodyPr>
          <a:lstStyle/>
          <a:p>
            <a:r>
              <a:rPr lang="en-US" altLang="zh-CN" sz="2800" b="1" dirty="0">
                <a:solidFill>
                  <a:srgbClr val="0000FF"/>
                </a:solidFill>
                <a:latin typeface="Times New Roman" pitchFamily="18" charset="0"/>
              </a:rPr>
              <a:t>§8.7    </a:t>
            </a:r>
            <a:r>
              <a:rPr lang="zh-CN" altLang="en-US" sz="2800" b="1" dirty="0">
                <a:solidFill>
                  <a:srgbClr val="0000FF"/>
                </a:solidFill>
                <a:latin typeface="黑体" pitchFamily="2" charset="-122"/>
                <a:ea typeface="黑体" pitchFamily="2" charset="-122"/>
              </a:rPr>
              <a:t>气体分子的平均碰撞频率和平均自由程 </a:t>
            </a:r>
          </a:p>
        </p:txBody>
      </p:sp>
      <p:sp>
        <p:nvSpPr>
          <p:cNvPr id="12293" name="Text Box 5"/>
          <p:cNvSpPr txBox="1">
            <a:spLocks noChangeArrowheads="1"/>
          </p:cNvSpPr>
          <p:nvPr/>
        </p:nvSpPr>
        <p:spPr bwMode="auto">
          <a:xfrm>
            <a:off x="500063" y="1000125"/>
            <a:ext cx="8172450" cy="968375"/>
          </a:xfrm>
          <a:prstGeom prst="rect">
            <a:avLst/>
          </a:prstGeom>
          <a:noFill/>
          <a:ln w="9525">
            <a:noFill/>
            <a:miter lim="800000"/>
            <a:headEnd/>
            <a:tailEnd/>
          </a:ln>
        </p:spPr>
        <p:txBody>
          <a:bodyPr>
            <a:spAutoFit/>
          </a:bodyPr>
          <a:lstStyle/>
          <a:p>
            <a:pPr>
              <a:lnSpc>
                <a:spcPct val="125000"/>
              </a:lnSpc>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个别分子的碰撞性质是不可预测的，对于大量分子构成的整体来说，分子间的碰撞却遵从着确定的统计规律。</a:t>
            </a:r>
            <a:endParaRPr kumimoji="1" lang="en-US" altLang="zh-CN" sz="2400" b="1">
              <a:latin typeface="Times New Roman" pitchFamily="18" charset="0"/>
              <a:ea typeface="楷体_GB2312" pitchFamily="49" charset="-122"/>
            </a:endParaRPr>
          </a:p>
        </p:txBody>
      </p:sp>
      <p:sp>
        <p:nvSpPr>
          <p:cNvPr id="12295" name="Text Box 7"/>
          <p:cNvSpPr txBox="1">
            <a:spLocks noChangeArrowheads="1"/>
          </p:cNvSpPr>
          <p:nvPr/>
        </p:nvSpPr>
        <p:spPr bwMode="auto">
          <a:xfrm>
            <a:off x="107950" y="2035175"/>
            <a:ext cx="4319588"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8.7.1  </a:t>
            </a:r>
            <a:r>
              <a:rPr kumimoji="1" lang="zh-CN" altLang="en-US" sz="2400" b="1">
                <a:solidFill>
                  <a:srgbClr val="0000FF"/>
                </a:solidFill>
                <a:latin typeface="Times New Roman" pitchFamily="18" charset="0"/>
              </a:rPr>
              <a:t>气体分子的平均碰撞频率</a:t>
            </a:r>
          </a:p>
        </p:txBody>
      </p:sp>
      <p:pic>
        <p:nvPicPr>
          <p:cNvPr id="12312" name="Picture 24" descr="frequen1"/>
          <p:cNvPicPr>
            <a:picLocks noChangeAspect="1" noChangeArrowheads="1" noCrop="1"/>
          </p:cNvPicPr>
          <p:nvPr/>
        </p:nvPicPr>
        <p:blipFill>
          <a:blip r:embed="rId4">
            <a:lum bright="38000" contrast="14000"/>
          </a:blip>
          <a:srcRect/>
          <a:stretch>
            <a:fillRect/>
          </a:stretch>
        </p:blipFill>
        <p:spPr bwMode="auto">
          <a:xfrm>
            <a:off x="5472113" y="2489200"/>
            <a:ext cx="3235325" cy="2200275"/>
          </a:xfrm>
          <a:prstGeom prst="rect">
            <a:avLst/>
          </a:prstGeom>
          <a:noFill/>
          <a:ln w="9525">
            <a:noFill/>
            <a:miter lim="800000"/>
            <a:headEnd/>
            <a:tailEnd/>
          </a:ln>
        </p:spPr>
      </p:pic>
      <p:sp>
        <p:nvSpPr>
          <p:cNvPr id="14" name="Text Box 6"/>
          <p:cNvSpPr txBox="1">
            <a:spLocks noChangeArrowheads="1"/>
          </p:cNvSpPr>
          <p:nvPr/>
        </p:nvSpPr>
        <p:spPr bwMode="auto">
          <a:xfrm>
            <a:off x="323850" y="2492375"/>
            <a:ext cx="2592388" cy="457200"/>
          </a:xfrm>
          <a:prstGeom prst="rect">
            <a:avLst/>
          </a:prstGeom>
          <a:noFill/>
          <a:ln w="9525">
            <a:noFill/>
            <a:miter lim="800000"/>
            <a:headEnd/>
            <a:tailEnd/>
          </a:ln>
        </p:spPr>
        <p:txBody>
          <a:bodyPr>
            <a:spAutoFit/>
          </a:bodyPr>
          <a:lstStyle/>
          <a:p>
            <a:pPr>
              <a:buClr>
                <a:srgbClr val="FF0000"/>
              </a:buClr>
              <a:buFont typeface="Wingdings" pitchFamily="2" charset="2"/>
              <a:buChar char="u"/>
              <a:defRPr/>
            </a:pPr>
            <a:r>
              <a:rPr kumimoji="1" lang="en-US" altLang="zh-CN" sz="2400" b="1" dirty="0">
                <a:solidFill>
                  <a:srgbClr val="FF0000"/>
                </a:solidFill>
                <a:latin typeface="Times New Roman" pitchFamily="18" charset="0"/>
                <a:ea typeface="+mn-ea"/>
                <a:cs typeface="Times New Roman" pitchFamily="18" charset="0"/>
              </a:rPr>
              <a:t> </a:t>
            </a:r>
            <a:r>
              <a:rPr kumimoji="1" lang="zh-CN" altLang="en-US" sz="2400" b="1" dirty="0">
                <a:solidFill>
                  <a:srgbClr val="FF0000"/>
                </a:solidFill>
                <a:latin typeface="Times New Roman" pitchFamily="18" charset="0"/>
                <a:ea typeface="+mn-ea"/>
                <a:cs typeface="Times New Roman" pitchFamily="18" charset="0"/>
              </a:rPr>
              <a:t>定义</a:t>
            </a:r>
            <a:endParaRPr lang="en-US" altLang="zh-CN" sz="2400" b="1" dirty="0">
              <a:solidFill>
                <a:srgbClr val="FF0000"/>
              </a:solidFill>
              <a:latin typeface="Times New Roman" pitchFamily="18" charset="0"/>
              <a:ea typeface="+mn-ea"/>
              <a:cs typeface="Times New Roman" pitchFamily="18" charset="0"/>
            </a:endParaRPr>
          </a:p>
        </p:txBody>
      </p:sp>
      <p:sp>
        <p:nvSpPr>
          <p:cNvPr id="15" name="Text Box 9"/>
          <p:cNvSpPr txBox="1">
            <a:spLocks noChangeArrowheads="1"/>
          </p:cNvSpPr>
          <p:nvPr/>
        </p:nvSpPr>
        <p:spPr bwMode="auto">
          <a:xfrm>
            <a:off x="827088" y="2924175"/>
            <a:ext cx="4535487" cy="1463675"/>
          </a:xfrm>
          <a:prstGeom prst="rect">
            <a:avLst/>
          </a:prstGeom>
          <a:noFill/>
          <a:ln w="9525">
            <a:noFill/>
            <a:miter lim="800000"/>
            <a:headEnd/>
            <a:tailEnd/>
          </a:ln>
        </p:spPr>
        <p:txBody>
          <a:bodyPr>
            <a:spAutoFit/>
          </a:bodyPr>
          <a:lstStyle/>
          <a:p>
            <a:pPr>
              <a:lnSpc>
                <a:spcPct val="125000"/>
              </a:lnSpc>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一个分子</a:t>
            </a:r>
            <a:r>
              <a:rPr kumimoji="1" lang="zh-CN" altLang="en-US" sz="2400" b="1" dirty="0">
                <a:solidFill>
                  <a:srgbClr val="FF0000"/>
                </a:solidFill>
                <a:latin typeface="Times New Roman" pitchFamily="18" charset="0"/>
                <a:ea typeface="+mn-ea"/>
                <a:cs typeface="Times New Roman" pitchFamily="18" charset="0"/>
              </a:rPr>
              <a:t>单位时间</a:t>
            </a:r>
            <a:r>
              <a:rPr kumimoji="1" lang="zh-CN" altLang="en-US" sz="2400" b="1" dirty="0">
                <a:latin typeface="Times New Roman" pitchFamily="18" charset="0"/>
                <a:ea typeface="+mn-ea"/>
                <a:cs typeface="Times New Roman" pitchFamily="18" charset="0"/>
              </a:rPr>
              <a:t>内和其它分子碰撞的</a:t>
            </a:r>
            <a:r>
              <a:rPr kumimoji="1" lang="zh-CN" altLang="en-US" sz="2400" b="1" dirty="0">
                <a:solidFill>
                  <a:srgbClr val="FF0000"/>
                </a:solidFill>
                <a:latin typeface="Times New Roman" pitchFamily="18" charset="0"/>
                <a:ea typeface="+mn-ea"/>
                <a:cs typeface="Times New Roman" pitchFamily="18" charset="0"/>
              </a:rPr>
              <a:t>平均次数</a:t>
            </a:r>
            <a:r>
              <a:rPr kumimoji="1" lang="zh-CN" altLang="en-US" sz="2400" b="1" dirty="0">
                <a:latin typeface="Times New Roman" pitchFamily="18" charset="0"/>
                <a:ea typeface="+mn-ea"/>
                <a:cs typeface="Times New Roman" pitchFamily="18" charset="0"/>
              </a:rPr>
              <a:t>，称为分子的平均碰撞频率</a:t>
            </a:r>
            <a:r>
              <a:rPr lang="zh-CN" altLang="en-US" sz="2400" b="1" dirty="0">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 </a:t>
            </a:r>
          </a:p>
        </p:txBody>
      </p:sp>
      <p:sp>
        <p:nvSpPr>
          <p:cNvPr id="16" name="Text Box 10"/>
          <p:cNvSpPr txBox="1">
            <a:spLocks noChangeArrowheads="1"/>
          </p:cNvSpPr>
          <p:nvPr/>
        </p:nvSpPr>
        <p:spPr bwMode="auto">
          <a:xfrm>
            <a:off x="395288" y="4508500"/>
            <a:ext cx="2601912" cy="457200"/>
          </a:xfrm>
          <a:prstGeom prst="rect">
            <a:avLst/>
          </a:prstGeom>
          <a:noFill/>
          <a:ln w="9525" algn="ctr">
            <a:noFill/>
            <a:miter lim="800000"/>
            <a:headEnd/>
            <a:tailEnd/>
          </a:ln>
        </p:spPr>
        <p:txBody>
          <a:bodyPr>
            <a:spAutoFit/>
          </a:bodyPr>
          <a:lstStyle/>
          <a:p>
            <a:pPr>
              <a:buClr>
                <a:srgbClr val="FF0000"/>
              </a:buClr>
              <a:buFont typeface="Wingdings" pitchFamily="2" charset="2"/>
              <a:buChar char="u"/>
              <a:defRPr/>
            </a:pPr>
            <a:r>
              <a:rPr lang="en-US" altLang="zh-CN" sz="2400" b="1" dirty="0">
                <a:solidFill>
                  <a:srgbClr val="FF0000"/>
                </a:solidFill>
                <a:latin typeface="Times New Roman" pitchFamily="18" charset="0"/>
                <a:ea typeface="+mn-ea"/>
                <a:cs typeface="Times New Roman" pitchFamily="18" charset="0"/>
              </a:rPr>
              <a:t> </a:t>
            </a:r>
            <a:r>
              <a:rPr lang="zh-CN" altLang="en-US" sz="2400" b="1" dirty="0">
                <a:solidFill>
                  <a:srgbClr val="FF0000"/>
                </a:solidFill>
                <a:latin typeface="Times New Roman" pitchFamily="18" charset="0"/>
                <a:ea typeface="+mn-ea"/>
                <a:cs typeface="Times New Roman" pitchFamily="18" charset="0"/>
              </a:rPr>
              <a:t>模型</a:t>
            </a:r>
          </a:p>
        </p:txBody>
      </p:sp>
      <p:sp>
        <p:nvSpPr>
          <p:cNvPr id="17" name="Text Box 11"/>
          <p:cNvSpPr txBox="1">
            <a:spLocks noChangeArrowheads="1"/>
          </p:cNvSpPr>
          <p:nvPr/>
        </p:nvSpPr>
        <p:spPr bwMode="auto">
          <a:xfrm>
            <a:off x="927100" y="5000625"/>
            <a:ext cx="2997200" cy="461963"/>
          </a:xfrm>
          <a:prstGeom prst="rect">
            <a:avLst/>
          </a:prstGeom>
          <a:noFill/>
          <a:ln w="9525">
            <a:noFill/>
            <a:miter lim="800000"/>
            <a:headEnd/>
            <a:tailEnd/>
          </a:ln>
        </p:spPr>
        <p:txBody>
          <a:bodyPr>
            <a:spAutoFit/>
          </a:bodyPr>
          <a:lstStyle/>
          <a:p>
            <a:pPr>
              <a:defRPr/>
            </a:pPr>
            <a:r>
              <a:rPr kumimoji="1" lang="en-US" altLang="zh-CN" sz="2400" b="1" dirty="0">
                <a:latin typeface="Times New Roman" pitchFamily="18" charset="0"/>
                <a:ea typeface="+mn-ea"/>
                <a:cs typeface="Times New Roman" pitchFamily="18" charset="0"/>
              </a:rPr>
              <a:t>①</a:t>
            </a:r>
            <a:r>
              <a:rPr kumimoji="1" lang="zh-CN" altLang="en-US" sz="2400" b="1" dirty="0">
                <a:latin typeface="Times New Roman" pitchFamily="18" charset="0"/>
                <a:ea typeface="+mn-ea"/>
                <a:cs typeface="Times New Roman" pitchFamily="18" charset="0"/>
              </a:rPr>
              <a:t>弹性小球</a:t>
            </a:r>
            <a:r>
              <a:rPr kumimoji="1" lang="en-US" altLang="zh-CN" sz="2400" b="1" dirty="0">
                <a:latin typeface="Times New Roman" pitchFamily="18" charset="0"/>
                <a:ea typeface="+mn-ea"/>
                <a:cs typeface="Times New Roman" pitchFamily="18" charset="0"/>
              </a:rPr>
              <a:t>(</a:t>
            </a:r>
            <a:r>
              <a:rPr lang="zh-CN" altLang="en-US" sz="2400" b="1" dirty="0">
                <a:latin typeface="Times New Roman" pitchFamily="18" charset="0"/>
                <a:ea typeface="+mn-ea"/>
                <a:cs typeface="Times New Roman" pitchFamily="18" charset="0"/>
              </a:rPr>
              <a:t>直径为</a:t>
            </a:r>
            <a:r>
              <a:rPr lang="en-US" altLang="zh-CN" sz="2400" b="1" i="1" dirty="0">
                <a:solidFill>
                  <a:srgbClr val="FF0000"/>
                </a:solidFill>
                <a:latin typeface="Times New Roman" pitchFamily="18" charset="0"/>
                <a:ea typeface="+mn-ea"/>
                <a:cs typeface="Times New Roman" pitchFamily="18" charset="0"/>
              </a:rPr>
              <a:t>d</a:t>
            </a:r>
            <a:r>
              <a:rPr lang="en-US" altLang="zh-CN" sz="2400" b="1" i="1" dirty="0">
                <a:solidFill>
                  <a:srgbClr val="FF6600"/>
                </a:solidFill>
                <a:latin typeface="Times New Roman" pitchFamily="18" charset="0"/>
                <a:ea typeface="+mn-ea"/>
                <a:cs typeface="Times New Roman" pitchFamily="18" charset="0"/>
              </a:rPr>
              <a:t> </a:t>
            </a:r>
            <a:r>
              <a:rPr lang="en-US" altLang="zh-CN" sz="2400" b="1" dirty="0">
                <a:latin typeface="Times New Roman" pitchFamily="18" charset="0"/>
                <a:ea typeface="+mn-ea"/>
                <a:cs typeface="Times New Roman" pitchFamily="18" charset="0"/>
              </a:rPr>
              <a:t>) </a:t>
            </a:r>
          </a:p>
        </p:txBody>
      </p:sp>
      <p:sp>
        <p:nvSpPr>
          <p:cNvPr id="18" name="Text Box 12"/>
          <p:cNvSpPr txBox="1">
            <a:spLocks noChangeArrowheads="1"/>
          </p:cNvSpPr>
          <p:nvPr/>
        </p:nvSpPr>
        <p:spPr bwMode="auto">
          <a:xfrm>
            <a:off x="4211638" y="5000625"/>
            <a:ext cx="2328862" cy="457200"/>
          </a:xfrm>
          <a:prstGeom prst="rect">
            <a:avLst/>
          </a:prstGeom>
          <a:noFill/>
          <a:ln w="9525">
            <a:noFill/>
            <a:miter lim="800000"/>
            <a:headEnd/>
            <a:tailEnd/>
          </a:ln>
        </p:spPr>
        <p:txBody>
          <a:bodyPr wrap="none">
            <a:spAutoFit/>
          </a:bodyPr>
          <a:lstStyle/>
          <a:p>
            <a:pPr>
              <a:defRPr/>
            </a:pPr>
            <a:r>
              <a:rPr kumimoji="1" lang="en-US" altLang="zh-CN" sz="2400" b="1" dirty="0">
                <a:latin typeface="Times New Roman" pitchFamily="18" charset="0"/>
                <a:ea typeface="+mn-ea"/>
                <a:cs typeface="Times New Roman" pitchFamily="18" charset="0"/>
              </a:rPr>
              <a:t>②</a:t>
            </a:r>
            <a:r>
              <a:rPr kumimoji="1" lang="zh-CN" altLang="en-US" sz="2400" b="1" dirty="0">
                <a:latin typeface="Times New Roman" pitchFamily="18" charset="0"/>
                <a:ea typeface="+mn-ea"/>
                <a:cs typeface="Times New Roman" pitchFamily="18" charset="0"/>
              </a:rPr>
              <a:t>完全弹性碰撞</a:t>
            </a:r>
          </a:p>
        </p:txBody>
      </p:sp>
      <p:grpSp>
        <p:nvGrpSpPr>
          <p:cNvPr id="2" name="Group 16"/>
          <p:cNvGrpSpPr>
            <a:grpSpLocks/>
          </p:cNvGrpSpPr>
          <p:nvPr/>
        </p:nvGrpSpPr>
        <p:grpSpPr bwMode="auto">
          <a:xfrm>
            <a:off x="928688" y="5500688"/>
            <a:ext cx="7273925" cy="1052512"/>
            <a:chOff x="595" y="3547"/>
            <a:chExt cx="4582" cy="663"/>
          </a:xfrm>
        </p:grpSpPr>
        <p:sp>
          <p:nvSpPr>
            <p:cNvPr id="20" name="Text Box 8"/>
            <p:cNvSpPr txBox="1">
              <a:spLocks noChangeArrowheads="1"/>
            </p:cNvSpPr>
            <p:nvPr/>
          </p:nvSpPr>
          <p:spPr bwMode="auto">
            <a:xfrm>
              <a:off x="595" y="3547"/>
              <a:ext cx="4582" cy="663"/>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③</a:t>
              </a:r>
              <a:r>
                <a:rPr kumimoji="1" lang="zh-CN" altLang="en-US" sz="2400" b="1" dirty="0">
                  <a:latin typeface="Times New Roman" pitchFamily="18" charset="0"/>
                  <a:ea typeface="+mn-ea"/>
                  <a:cs typeface="Times New Roman" pitchFamily="18" charset="0"/>
                </a:rPr>
                <a:t>被考察的分子</a:t>
              </a:r>
              <a:r>
                <a:rPr lang="en-US" altLang="zh-CN" sz="2400" b="1" i="1" dirty="0">
                  <a:solidFill>
                    <a:srgbClr val="FF0000"/>
                  </a:solidFill>
                  <a:latin typeface="Times New Roman" pitchFamily="18" charset="0"/>
                  <a:ea typeface="+mn-ea"/>
                  <a:cs typeface="Times New Roman" pitchFamily="18" charset="0"/>
                </a:rPr>
                <a:t>A</a:t>
              </a:r>
              <a:r>
                <a:rPr kumimoji="1" lang="zh-CN" altLang="en-US" sz="2400" b="1" dirty="0">
                  <a:latin typeface="Times New Roman" pitchFamily="18" charset="0"/>
                  <a:ea typeface="+mn-ea"/>
                  <a:cs typeface="Times New Roman" pitchFamily="18" charset="0"/>
                </a:rPr>
                <a:t>以平均速率   运动，其它分子都看 作静止不动 。</a:t>
              </a:r>
            </a:p>
          </p:txBody>
        </p:sp>
        <p:graphicFrame>
          <p:nvGraphicFramePr>
            <p:cNvPr id="65538" name="Object 14"/>
            <p:cNvGraphicFramePr>
              <a:graphicFrameLocks/>
            </p:cNvGraphicFramePr>
            <p:nvPr/>
          </p:nvGraphicFramePr>
          <p:xfrm>
            <a:off x="3061" y="3594"/>
            <a:ext cx="242" cy="259"/>
          </p:xfrm>
          <a:graphic>
            <a:graphicData uri="http://schemas.openxmlformats.org/presentationml/2006/ole">
              <p:oleObj spid="_x0000_s65538" name="Equation" r:id="rId5" imgW="139680" imgH="16488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wipe(left)">
                                      <p:cBhvr>
                                        <p:cTn id="7" dur="500"/>
                                        <p:tgtEl>
                                          <p:spTgt spid="122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5"/>
                                        </p:tgtEl>
                                        <p:attrNameLst>
                                          <p:attrName>style.visibility</p:attrName>
                                        </p:attrNameLst>
                                      </p:cBhvr>
                                      <p:to>
                                        <p:strVal val="visible"/>
                                      </p:to>
                                    </p:set>
                                    <p:animEffect transition="in" filter="wipe(left)">
                                      <p:cBhvr>
                                        <p:cTn id="12" dur="500"/>
                                        <p:tgtEl>
                                          <p:spTgt spid="1229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312"/>
                                        </p:tgtEl>
                                        <p:attrNameLst>
                                          <p:attrName>style.visibility</p:attrName>
                                        </p:attrNameLst>
                                      </p:cBhvr>
                                      <p:to>
                                        <p:strVal val="visible"/>
                                      </p:to>
                                    </p:set>
                                    <p:animEffect transition="in" filter="box(out)">
                                      <p:cBhvr>
                                        <p:cTn id="17" dur="500"/>
                                        <p:tgtEl>
                                          <p:spTgt spid="123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utoUpdateAnimBg="0"/>
      <p:bldP spid="12295" grpId="0"/>
      <p:bldP spid="14" grpId="0" autoUpdateAnimBg="0"/>
      <p:bldP spid="15" grpId="0" autoUpdateAnimBg="0"/>
      <p:bldP spid="16" grpId="0" autoUpdateAnimBg="0"/>
      <p:bldP spid="17" grpId="0" autoUpdateAnimBg="0"/>
      <p:bldP spid="18"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4"/>
          <p:cNvSpPr txBox="1">
            <a:spLocks noChangeArrowheads="1"/>
          </p:cNvSpPr>
          <p:nvPr/>
        </p:nvSpPr>
        <p:spPr bwMode="auto">
          <a:xfrm>
            <a:off x="3957638" y="2928938"/>
            <a:ext cx="1125537" cy="457200"/>
          </a:xfrm>
          <a:prstGeom prst="rect">
            <a:avLst/>
          </a:prstGeom>
          <a:noFill/>
          <a:ln w="9525">
            <a:noFill/>
            <a:miter lim="800000"/>
            <a:headEnd/>
            <a:tailEnd/>
          </a:ln>
        </p:spPr>
        <p:txBody>
          <a:bodyPr>
            <a:spAutoFit/>
          </a:bodyPr>
          <a:lstStyle/>
          <a:p>
            <a:pPr>
              <a:defRPr/>
            </a:pPr>
            <a:r>
              <a:rPr lang="en-US" altLang="zh-CN" sz="2400" b="1" i="1" dirty="0">
                <a:solidFill>
                  <a:srgbClr val="FF0000"/>
                </a:solidFill>
                <a:latin typeface="Times New Roman" pitchFamily="18" charset="0"/>
                <a:ea typeface="+mn-ea"/>
                <a:cs typeface="Times New Roman" pitchFamily="18" charset="0"/>
              </a:rPr>
              <a:t>d</a:t>
            </a:r>
            <a:r>
              <a:rPr lang="en-US" altLang="zh-CN" sz="2400" b="1" baseline="-25000" dirty="0">
                <a:solidFill>
                  <a:srgbClr val="FF0000"/>
                </a:solidFill>
                <a:latin typeface="Times New Roman" pitchFamily="18" charset="0"/>
                <a:ea typeface="+mn-ea"/>
                <a:cs typeface="Times New Roman" pitchFamily="18" charset="0"/>
              </a:rPr>
              <a:t>1</a:t>
            </a:r>
            <a:r>
              <a:rPr lang="en-US" altLang="zh-CN" sz="2400" b="1" dirty="0">
                <a:solidFill>
                  <a:srgbClr val="FF0000"/>
                </a:solidFill>
                <a:latin typeface="Times New Roman" pitchFamily="18" charset="0"/>
                <a:ea typeface="+mn-ea"/>
                <a:cs typeface="Times New Roman" pitchFamily="18" charset="0"/>
              </a:rPr>
              <a:t> &gt;</a:t>
            </a:r>
            <a:r>
              <a:rPr lang="en-US" altLang="zh-CN" sz="2400" b="1" dirty="0">
                <a:solidFill>
                  <a:srgbClr val="FF6600"/>
                </a:solidFill>
                <a:latin typeface="Times New Roman" pitchFamily="18" charset="0"/>
                <a:ea typeface="+mn-ea"/>
                <a:cs typeface="Times New Roman" pitchFamily="18" charset="0"/>
              </a:rPr>
              <a:t> </a:t>
            </a:r>
            <a:r>
              <a:rPr lang="en-US" altLang="zh-CN" sz="2400" b="1" i="1" dirty="0">
                <a:solidFill>
                  <a:srgbClr val="FF0000"/>
                </a:solidFill>
                <a:latin typeface="Times New Roman" pitchFamily="18" charset="0"/>
                <a:ea typeface="+mn-ea"/>
                <a:cs typeface="Times New Roman" pitchFamily="18" charset="0"/>
              </a:rPr>
              <a:t>d</a:t>
            </a:r>
          </a:p>
        </p:txBody>
      </p:sp>
      <p:sp>
        <p:nvSpPr>
          <p:cNvPr id="23" name="AutoShape 5"/>
          <p:cNvSpPr>
            <a:spLocks noChangeArrowheads="1"/>
          </p:cNvSpPr>
          <p:nvPr/>
        </p:nvSpPr>
        <p:spPr bwMode="auto">
          <a:xfrm>
            <a:off x="3582988" y="3073400"/>
            <a:ext cx="360362" cy="179388"/>
          </a:xfrm>
          <a:prstGeom prst="rightArrow">
            <a:avLst>
              <a:gd name="adj1" fmla="val 50000"/>
              <a:gd name="adj2" fmla="val 50221"/>
            </a:avLst>
          </a:prstGeom>
          <a:solidFill>
            <a:srgbClr val="FF0000"/>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24" name="Text Box 6"/>
          <p:cNvSpPr txBox="1">
            <a:spLocks noChangeArrowheads="1"/>
          </p:cNvSpPr>
          <p:nvPr/>
        </p:nvSpPr>
        <p:spPr bwMode="auto">
          <a:xfrm>
            <a:off x="5181600" y="3000375"/>
            <a:ext cx="1533525" cy="457200"/>
          </a:xfrm>
          <a:prstGeom prst="rect">
            <a:avLst/>
          </a:prstGeom>
          <a:noFill/>
          <a:ln w="9525">
            <a:noFill/>
            <a:miter lim="800000"/>
            <a:headEnd/>
            <a:tailEnd/>
          </a:ln>
        </p:spPr>
        <p:txBody>
          <a:bodyPr>
            <a:spAutoFit/>
          </a:bodyPr>
          <a:lstStyle/>
          <a:p>
            <a:pPr>
              <a:defRPr/>
            </a:pPr>
            <a:r>
              <a:rPr lang="zh-CN" altLang="en-US" sz="2400" b="1">
                <a:latin typeface="Times New Roman" pitchFamily="18" charset="0"/>
                <a:ea typeface="+mn-ea"/>
                <a:cs typeface="Times New Roman" pitchFamily="18" charset="0"/>
              </a:rPr>
              <a:t>不碰撞</a:t>
            </a:r>
          </a:p>
        </p:txBody>
      </p:sp>
      <p:sp>
        <p:nvSpPr>
          <p:cNvPr id="25" name="AutoShape 7"/>
          <p:cNvSpPr>
            <a:spLocks noChangeArrowheads="1"/>
          </p:cNvSpPr>
          <p:nvPr/>
        </p:nvSpPr>
        <p:spPr bwMode="auto">
          <a:xfrm>
            <a:off x="4946650" y="3522663"/>
            <a:ext cx="315913" cy="173037"/>
          </a:xfrm>
          <a:prstGeom prst="rightArrow">
            <a:avLst>
              <a:gd name="adj1" fmla="val 50000"/>
              <a:gd name="adj2" fmla="val 45642"/>
            </a:avLst>
          </a:prstGeom>
          <a:solidFill>
            <a:srgbClr val="FF0000"/>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26" name="AutoShape 9"/>
          <p:cNvSpPr>
            <a:spLocks noChangeArrowheads="1"/>
          </p:cNvSpPr>
          <p:nvPr/>
        </p:nvSpPr>
        <p:spPr bwMode="auto">
          <a:xfrm>
            <a:off x="4948238" y="3119438"/>
            <a:ext cx="314325" cy="188912"/>
          </a:xfrm>
          <a:prstGeom prst="rightArrow">
            <a:avLst>
              <a:gd name="adj1" fmla="val 50000"/>
              <a:gd name="adj2" fmla="val 41597"/>
            </a:avLst>
          </a:prstGeom>
          <a:solidFill>
            <a:srgbClr val="FF0000"/>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27" name="AutoShape 10"/>
          <p:cNvSpPr>
            <a:spLocks noChangeArrowheads="1"/>
          </p:cNvSpPr>
          <p:nvPr/>
        </p:nvSpPr>
        <p:spPr bwMode="auto">
          <a:xfrm>
            <a:off x="3538538" y="3551238"/>
            <a:ext cx="314325" cy="180975"/>
          </a:xfrm>
          <a:prstGeom prst="rightArrow">
            <a:avLst>
              <a:gd name="adj1" fmla="val 50000"/>
              <a:gd name="adj2" fmla="val 43421"/>
            </a:avLst>
          </a:prstGeom>
          <a:solidFill>
            <a:srgbClr val="FF0000"/>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pic>
        <p:nvPicPr>
          <p:cNvPr id="28" name="Picture 11" descr="balltub1"/>
          <p:cNvPicPr>
            <a:picLocks noChangeArrowheads="1" noCrop="1"/>
          </p:cNvPicPr>
          <p:nvPr/>
        </p:nvPicPr>
        <p:blipFill>
          <a:blip r:embed="rId3"/>
          <a:srcRect/>
          <a:stretch>
            <a:fillRect/>
          </a:stretch>
        </p:blipFill>
        <p:spPr bwMode="auto">
          <a:xfrm>
            <a:off x="571500" y="428625"/>
            <a:ext cx="2714625" cy="2000250"/>
          </a:xfrm>
          <a:prstGeom prst="rect">
            <a:avLst/>
          </a:prstGeom>
          <a:noFill/>
          <a:ln w="9525">
            <a:noFill/>
            <a:miter lim="800000"/>
            <a:headEnd/>
            <a:tailEnd/>
          </a:ln>
        </p:spPr>
      </p:pic>
      <p:sp>
        <p:nvSpPr>
          <p:cNvPr id="29" name="Rectangle 12"/>
          <p:cNvSpPr>
            <a:spLocks noChangeArrowheads="1"/>
          </p:cNvSpPr>
          <p:nvPr/>
        </p:nvSpPr>
        <p:spPr bwMode="auto">
          <a:xfrm rot="-3789197">
            <a:off x="2272507" y="1354931"/>
            <a:ext cx="360362" cy="98425"/>
          </a:xfrm>
          <a:prstGeom prst="rect">
            <a:avLst/>
          </a:prstGeom>
          <a:solidFill>
            <a:srgbClr val="FFCC99">
              <a:alpha val="59999"/>
            </a:srgbClr>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30" name="AutoShape 16"/>
          <p:cNvSpPr>
            <a:spLocks noChangeArrowheads="1"/>
          </p:cNvSpPr>
          <p:nvPr/>
        </p:nvSpPr>
        <p:spPr bwMode="auto">
          <a:xfrm rot="-5400000">
            <a:off x="3752056" y="534194"/>
            <a:ext cx="225425" cy="585788"/>
          </a:xfrm>
          <a:prstGeom prst="downArrow">
            <a:avLst>
              <a:gd name="adj1" fmla="val 50000"/>
              <a:gd name="adj2" fmla="val 64965"/>
            </a:avLst>
          </a:prstGeom>
          <a:solidFill>
            <a:srgbClr val="FF0000"/>
          </a:solidFill>
          <a:ln w="9525">
            <a:solidFill>
              <a:schemeClr val="tx1"/>
            </a:solidFill>
            <a:miter lim="800000"/>
            <a:headEnd/>
            <a:tailEnd/>
          </a:ln>
        </p:spPr>
        <p:txBody>
          <a:bodyPr vert="eaVert" wrap="none" anchor="ctr"/>
          <a:lstStyle/>
          <a:p>
            <a:pPr>
              <a:defRPr/>
            </a:pPr>
            <a:endParaRPr lang="zh-CN" altLang="en-US">
              <a:latin typeface="Times New Roman" pitchFamily="18" charset="0"/>
              <a:ea typeface="+mn-ea"/>
              <a:cs typeface="Times New Roman" pitchFamily="18" charset="0"/>
            </a:endParaRPr>
          </a:p>
        </p:txBody>
      </p:sp>
      <p:sp>
        <p:nvSpPr>
          <p:cNvPr id="31" name="Text Box 21"/>
          <p:cNvSpPr txBox="1">
            <a:spLocks noChangeArrowheads="1"/>
          </p:cNvSpPr>
          <p:nvPr/>
        </p:nvSpPr>
        <p:spPr bwMode="auto">
          <a:xfrm>
            <a:off x="180975" y="2857500"/>
            <a:ext cx="3457575" cy="549275"/>
          </a:xfrm>
          <a:prstGeom prst="rect">
            <a:avLst/>
          </a:prstGeom>
          <a:noFill/>
          <a:ln w="9525">
            <a:noFill/>
            <a:miter lim="800000"/>
            <a:headEnd/>
            <a:tailEnd/>
          </a:ln>
        </p:spPr>
        <p:txBody>
          <a:bodyPr>
            <a:spAutoFit/>
          </a:bodyPr>
          <a:lstStyle/>
          <a:p>
            <a:pPr>
              <a:lnSpc>
                <a:spcPct val="125000"/>
              </a:lnSpc>
              <a:defRPr/>
            </a:pPr>
            <a:r>
              <a:rPr lang="zh-CN" altLang="en-US" sz="2400" b="1" dirty="0">
                <a:latin typeface="Times New Roman" pitchFamily="18" charset="0"/>
                <a:ea typeface="+mn-ea"/>
                <a:cs typeface="Times New Roman" pitchFamily="18" charset="0"/>
              </a:rPr>
              <a:t>分子中心在 “管道”外</a:t>
            </a:r>
          </a:p>
        </p:txBody>
      </p:sp>
      <p:sp>
        <p:nvSpPr>
          <p:cNvPr id="32" name="Text Box 22"/>
          <p:cNvSpPr txBox="1">
            <a:spLocks noChangeArrowheads="1"/>
          </p:cNvSpPr>
          <p:nvPr/>
        </p:nvSpPr>
        <p:spPr bwMode="auto">
          <a:xfrm>
            <a:off x="180975" y="3351213"/>
            <a:ext cx="3457575" cy="549275"/>
          </a:xfrm>
          <a:prstGeom prst="rect">
            <a:avLst/>
          </a:prstGeom>
          <a:noFill/>
          <a:ln w="9525">
            <a:noFill/>
            <a:miter lim="800000"/>
            <a:headEnd/>
            <a:tailEnd/>
          </a:ln>
        </p:spPr>
        <p:txBody>
          <a:bodyPr>
            <a:spAutoFit/>
          </a:bodyPr>
          <a:lstStyle/>
          <a:p>
            <a:pPr>
              <a:lnSpc>
                <a:spcPct val="125000"/>
              </a:lnSpc>
              <a:defRPr/>
            </a:pPr>
            <a:r>
              <a:rPr lang="zh-CN" altLang="en-US" sz="2400" b="1">
                <a:latin typeface="Times New Roman" pitchFamily="18" charset="0"/>
                <a:ea typeface="+mn-ea"/>
                <a:cs typeface="Times New Roman" pitchFamily="18" charset="0"/>
              </a:rPr>
              <a:t>分子中心在 “管道”内</a:t>
            </a:r>
          </a:p>
        </p:txBody>
      </p:sp>
      <p:sp>
        <p:nvSpPr>
          <p:cNvPr id="33" name="Text Box 23"/>
          <p:cNvSpPr txBox="1">
            <a:spLocks noChangeArrowheads="1"/>
          </p:cNvSpPr>
          <p:nvPr/>
        </p:nvSpPr>
        <p:spPr bwMode="auto">
          <a:xfrm>
            <a:off x="3884613" y="3360738"/>
            <a:ext cx="1093787" cy="461962"/>
          </a:xfrm>
          <a:prstGeom prst="rect">
            <a:avLst/>
          </a:prstGeom>
          <a:noFill/>
          <a:ln w="9525">
            <a:noFill/>
            <a:miter lim="800000"/>
            <a:headEnd/>
            <a:tailEnd/>
          </a:ln>
        </p:spPr>
        <p:txBody>
          <a:bodyPr>
            <a:spAutoFit/>
          </a:bodyPr>
          <a:lstStyle/>
          <a:p>
            <a:pPr>
              <a:defRPr/>
            </a:pPr>
            <a:r>
              <a:rPr lang="en-US" altLang="zh-CN" sz="2400" b="1" i="1" dirty="0">
                <a:solidFill>
                  <a:srgbClr val="FF0000"/>
                </a:solidFill>
                <a:latin typeface="Times New Roman" pitchFamily="18" charset="0"/>
                <a:ea typeface="+mn-ea"/>
                <a:cs typeface="Times New Roman" pitchFamily="18" charset="0"/>
              </a:rPr>
              <a:t>d</a:t>
            </a:r>
            <a:r>
              <a:rPr lang="zh-CN" altLang="en-US" sz="2400" b="1" baseline="-25000" dirty="0">
                <a:solidFill>
                  <a:srgbClr val="FF0000"/>
                </a:solidFill>
                <a:latin typeface="Times New Roman" pitchFamily="18" charset="0"/>
                <a:ea typeface="+mn-ea"/>
                <a:cs typeface="Times New Roman" pitchFamily="18" charset="0"/>
              </a:rPr>
              <a:t>２</a:t>
            </a:r>
            <a:r>
              <a:rPr lang="zh-CN" altLang="en-US" sz="2400" b="1" dirty="0">
                <a:solidFill>
                  <a:srgbClr val="FF0000"/>
                </a:solidFill>
                <a:latin typeface="Times New Roman" pitchFamily="18" charset="0"/>
                <a:ea typeface="+mn-ea"/>
                <a:cs typeface="Times New Roman" pitchFamily="18" charset="0"/>
              </a:rPr>
              <a:t> </a:t>
            </a:r>
            <a:r>
              <a:rPr lang="en-US" altLang="zh-CN" sz="2400" b="1" dirty="0">
                <a:solidFill>
                  <a:srgbClr val="FF0000"/>
                </a:solidFill>
                <a:latin typeface="Times New Roman" pitchFamily="18" charset="0"/>
                <a:ea typeface="+mn-ea"/>
                <a:cs typeface="Times New Roman" pitchFamily="18" charset="0"/>
              </a:rPr>
              <a:t>&lt; </a:t>
            </a:r>
            <a:r>
              <a:rPr lang="en-US" altLang="zh-CN" sz="2400" b="1" i="1" dirty="0">
                <a:solidFill>
                  <a:srgbClr val="FF0000"/>
                </a:solidFill>
                <a:latin typeface="Times New Roman" pitchFamily="18" charset="0"/>
                <a:ea typeface="+mn-ea"/>
                <a:cs typeface="Times New Roman" pitchFamily="18" charset="0"/>
              </a:rPr>
              <a:t>d</a:t>
            </a:r>
          </a:p>
        </p:txBody>
      </p:sp>
      <p:sp>
        <p:nvSpPr>
          <p:cNvPr id="34" name="Text Box 24"/>
          <p:cNvSpPr txBox="1">
            <a:spLocks noChangeArrowheads="1"/>
          </p:cNvSpPr>
          <p:nvPr/>
        </p:nvSpPr>
        <p:spPr bwMode="auto">
          <a:xfrm>
            <a:off x="5253038" y="3360738"/>
            <a:ext cx="1533525" cy="457200"/>
          </a:xfrm>
          <a:prstGeom prst="rect">
            <a:avLst/>
          </a:prstGeom>
          <a:noFill/>
          <a:ln w="9525">
            <a:noFill/>
            <a:miter lim="800000"/>
            <a:headEnd/>
            <a:tailEnd/>
          </a:ln>
        </p:spPr>
        <p:txBody>
          <a:bodyPr>
            <a:spAutoFit/>
          </a:bodyPr>
          <a:lstStyle/>
          <a:p>
            <a:pPr>
              <a:defRPr/>
            </a:pPr>
            <a:r>
              <a:rPr lang="zh-CN" altLang="en-US" sz="2400" b="1">
                <a:latin typeface="Times New Roman" pitchFamily="18" charset="0"/>
                <a:ea typeface="+mn-ea"/>
                <a:cs typeface="Times New Roman" pitchFamily="18" charset="0"/>
              </a:rPr>
              <a:t>碰撞</a:t>
            </a:r>
          </a:p>
        </p:txBody>
      </p:sp>
      <p:graphicFrame>
        <p:nvGraphicFramePr>
          <p:cNvPr id="35" name="Object 25"/>
          <p:cNvGraphicFramePr>
            <a:graphicFrameLocks noChangeAspect="1"/>
          </p:cNvGraphicFramePr>
          <p:nvPr/>
        </p:nvGraphicFramePr>
        <p:xfrm>
          <a:off x="6156325" y="1268413"/>
          <a:ext cx="2627313" cy="2043112"/>
        </p:xfrm>
        <a:graphic>
          <a:graphicData uri="http://schemas.openxmlformats.org/presentationml/2006/ole">
            <p:oleObj spid="_x0000_s66562" name="位图图像" r:id="rId4" imgW="2971429" imgH="2066667" progId="PBrush">
              <p:embed/>
            </p:oleObj>
          </a:graphicData>
        </a:graphic>
      </p:graphicFrame>
      <p:sp>
        <p:nvSpPr>
          <p:cNvPr id="36" name="Rectangle 26"/>
          <p:cNvSpPr>
            <a:spLocks noChangeAspect="1" noChangeArrowheads="1"/>
          </p:cNvSpPr>
          <p:nvPr/>
        </p:nvSpPr>
        <p:spPr bwMode="auto">
          <a:xfrm>
            <a:off x="4805363" y="647700"/>
            <a:ext cx="2595562" cy="431800"/>
          </a:xfrm>
          <a:prstGeom prst="rect">
            <a:avLst/>
          </a:prstGeom>
          <a:gradFill rotWithShape="1">
            <a:gsLst>
              <a:gs pos="0">
                <a:schemeClr val="bg2">
                  <a:gamma/>
                  <a:shade val="46275"/>
                  <a:invGamma/>
                </a:schemeClr>
              </a:gs>
              <a:gs pos="50000">
                <a:schemeClr val="bg2">
                  <a:alpha val="60001"/>
                </a:schemeClr>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zh-CN" altLang="en-US">
              <a:latin typeface="Times New Roman" pitchFamily="18" charset="0"/>
              <a:ea typeface="+mn-ea"/>
              <a:cs typeface="Times New Roman" pitchFamily="18" charset="0"/>
            </a:endParaRPr>
          </a:p>
        </p:txBody>
      </p:sp>
      <p:sp>
        <p:nvSpPr>
          <p:cNvPr id="37" name="Oval 27"/>
          <p:cNvSpPr>
            <a:spLocks noChangeArrowheads="1"/>
          </p:cNvSpPr>
          <p:nvPr/>
        </p:nvSpPr>
        <p:spPr bwMode="auto">
          <a:xfrm>
            <a:off x="5308600" y="503238"/>
            <a:ext cx="215900" cy="215900"/>
          </a:xfrm>
          <a:prstGeom prst="ellipse">
            <a:avLst/>
          </a:prstGeom>
          <a:gradFill rotWithShape="1">
            <a:gsLst>
              <a:gs pos="0">
                <a:srgbClr val="0000FF"/>
              </a:gs>
              <a:gs pos="100000">
                <a:srgbClr val="000076"/>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38" name="Oval 28"/>
          <p:cNvSpPr>
            <a:spLocks noChangeArrowheads="1"/>
          </p:cNvSpPr>
          <p:nvPr/>
        </p:nvSpPr>
        <p:spPr bwMode="auto">
          <a:xfrm>
            <a:off x="5741988" y="915988"/>
            <a:ext cx="215900" cy="215900"/>
          </a:xfrm>
          <a:prstGeom prst="ellipse">
            <a:avLst/>
          </a:prstGeom>
          <a:gradFill rotWithShape="1">
            <a:gsLst>
              <a:gs pos="0">
                <a:srgbClr val="0000FF"/>
              </a:gs>
              <a:gs pos="100000">
                <a:srgbClr val="000076"/>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39" name="Oval 29"/>
          <p:cNvSpPr>
            <a:spLocks noChangeArrowheads="1"/>
          </p:cNvSpPr>
          <p:nvPr/>
        </p:nvSpPr>
        <p:spPr bwMode="auto">
          <a:xfrm>
            <a:off x="6316663" y="574675"/>
            <a:ext cx="215900" cy="215900"/>
          </a:xfrm>
          <a:prstGeom prst="ellipse">
            <a:avLst/>
          </a:prstGeom>
          <a:gradFill rotWithShape="1">
            <a:gsLst>
              <a:gs pos="0">
                <a:srgbClr val="0000FF"/>
              </a:gs>
              <a:gs pos="100000">
                <a:srgbClr val="000076"/>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40" name="Oval 30"/>
          <p:cNvSpPr>
            <a:spLocks noChangeArrowheads="1"/>
          </p:cNvSpPr>
          <p:nvPr/>
        </p:nvSpPr>
        <p:spPr bwMode="auto">
          <a:xfrm>
            <a:off x="6748463" y="719138"/>
            <a:ext cx="215900" cy="215900"/>
          </a:xfrm>
          <a:prstGeom prst="ellipse">
            <a:avLst/>
          </a:prstGeom>
          <a:gradFill rotWithShape="1">
            <a:gsLst>
              <a:gs pos="0">
                <a:srgbClr val="0000FF"/>
              </a:gs>
              <a:gs pos="100000">
                <a:srgbClr val="000076"/>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41" name="Oval 31"/>
          <p:cNvSpPr>
            <a:spLocks noChangeArrowheads="1"/>
          </p:cNvSpPr>
          <p:nvPr/>
        </p:nvSpPr>
        <p:spPr bwMode="auto">
          <a:xfrm>
            <a:off x="6100763" y="1008063"/>
            <a:ext cx="215900" cy="215900"/>
          </a:xfrm>
          <a:prstGeom prst="ellipse">
            <a:avLst/>
          </a:prstGeom>
          <a:gradFill rotWithShape="1">
            <a:gsLst>
              <a:gs pos="0">
                <a:srgbClr val="0000FF"/>
              </a:gs>
              <a:gs pos="100000">
                <a:srgbClr val="000076"/>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42" name="Oval 32"/>
          <p:cNvSpPr>
            <a:spLocks noChangeArrowheads="1"/>
          </p:cNvSpPr>
          <p:nvPr/>
        </p:nvSpPr>
        <p:spPr bwMode="auto">
          <a:xfrm>
            <a:off x="4516438" y="757238"/>
            <a:ext cx="215900" cy="2159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
        <p:nvSpPr>
          <p:cNvPr id="43" name="Line 33"/>
          <p:cNvSpPr>
            <a:spLocks noChangeShapeType="1"/>
          </p:cNvSpPr>
          <p:nvPr/>
        </p:nvSpPr>
        <p:spPr bwMode="auto">
          <a:xfrm flipV="1">
            <a:off x="5851525" y="863600"/>
            <a:ext cx="1588" cy="161925"/>
          </a:xfrm>
          <a:prstGeom prst="line">
            <a:avLst/>
          </a:prstGeom>
          <a:noFill/>
          <a:ln w="9525">
            <a:solidFill>
              <a:schemeClr val="bg1"/>
            </a:solidFill>
            <a:round/>
            <a:headEnd type="stealth" w="med" len="med"/>
            <a:tailEnd type="stealth" w="med" len="med"/>
          </a:ln>
        </p:spPr>
        <p:txBody>
          <a:bodyPr/>
          <a:lstStyle/>
          <a:p>
            <a:pPr>
              <a:defRPr/>
            </a:pPr>
            <a:endParaRPr lang="zh-CN" altLang="en-US">
              <a:latin typeface="Times New Roman" pitchFamily="18" charset="0"/>
              <a:ea typeface="+mn-ea"/>
              <a:cs typeface="Times New Roman" pitchFamily="18" charset="0"/>
            </a:endParaRPr>
          </a:p>
        </p:txBody>
      </p:sp>
      <p:sp>
        <p:nvSpPr>
          <p:cNvPr id="44" name="Line 34"/>
          <p:cNvSpPr>
            <a:spLocks noChangeShapeType="1"/>
          </p:cNvSpPr>
          <p:nvPr/>
        </p:nvSpPr>
        <p:spPr bwMode="auto">
          <a:xfrm>
            <a:off x="5418138" y="612775"/>
            <a:ext cx="1587" cy="252413"/>
          </a:xfrm>
          <a:prstGeom prst="line">
            <a:avLst/>
          </a:prstGeom>
          <a:noFill/>
          <a:ln w="9525">
            <a:solidFill>
              <a:srgbClr val="FF0000"/>
            </a:solidFill>
            <a:round/>
            <a:headEnd type="stealth" w="med" len="med"/>
            <a:tailEnd type="stealth" w="med" len="med"/>
          </a:ln>
        </p:spPr>
        <p:txBody>
          <a:bodyPr/>
          <a:lstStyle/>
          <a:p>
            <a:pPr>
              <a:defRPr/>
            </a:pPr>
            <a:endParaRPr lang="zh-CN" altLang="en-US">
              <a:latin typeface="Times New Roman" pitchFamily="18" charset="0"/>
              <a:ea typeface="+mn-ea"/>
              <a:cs typeface="Times New Roman" pitchFamily="18" charset="0"/>
            </a:endParaRPr>
          </a:p>
        </p:txBody>
      </p:sp>
      <p:sp>
        <p:nvSpPr>
          <p:cNvPr id="45" name="Text Box 35"/>
          <p:cNvSpPr txBox="1">
            <a:spLocks noChangeArrowheads="1"/>
          </p:cNvSpPr>
          <p:nvPr/>
        </p:nvSpPr>
        <p:spPr bwMode="auto">
          <a:xfrm>
            <a:off x="5002213" y="574675"/>
            <a:ext cx="668337" cy="336550"/>
          </a:xfrm>
          <a:prstGeom prst="rect">
            <a:avLst/>
          </a:prstGeom>
          <a:noFill/>
          <a:ln w="9525">
            <a:noFill/>
            <a:miter lim="800000"/>
            <a:headEnd/>
            <a:tailEnd/>
          </a:ln>
        </p:spPr>
        <p:txBody>
          <a:bodyPr>
            <a:spAutoFit/>
          </a:bodyPr>
          <a:lstStyle/>
          <a:p>
            <a:pPr>
              <a:defRPr/>
            </a:pPr>
            <a:r>
              <a:rPr lang="en-US" altLang="zh-CN" sz="1600" b="1" i="1">
                <a:solidFill>
                  <a:srgbClr val="FFFF00"/>
                </a:solidFill>
                <a:latin typeface="Times New Roman" pitchFamily="18" charset="0"/>
                <a:ea typeface="+mn-ea"/>
                <a:cs typeface="Times New Roman" pitchFamily="18" charset="0"/>
              </a:rPr>
              <a:t>d</a:t>
            </a:r>
            <a:r>
              <a:rPr lang="en-US" altLang="zh-CN" sz="1600" b="1" baseline="-25000">
                <a:solidFill>
                  <a:srgbClr val="FFFF00"/>
                </a:solidFill>
                <a:latin typeface="Times New Roman" pitchFamily="18" charset="0"/>
                <a:ea typeface="+mn-ea"/>
                <a:cs typeface="Times New Roman" pitchFamily="18" charset="0"/>
              </a:rPr>
              <a:t>1</a:t>
            </a:r>
            <a:endParaRPr lang="en-US" altLang="zh-CN" sz="1600" b="1">
              <a:solidFill>
                <a:srgbClr val="FFFF00"/>
              </a:solidFill>
              <a:latin typeface="Times New Roman" pitchFamily="18" charset="0"/>
              <a:ea typeface="+mn-ea"/>
              <a:cs typeface="Times New Roman" pitchFamily="18" charset="0"/>
            </a:endParaRPr>
          </a:p>
        </p:txBody>
      </p:sp>
      <p:sp>
        <p:nvSpPr>
          <p:cNvPr id="46" name="Line 36"/>
          <p:cNvSpPr>
            <a:spLocks noChangeShapeType="1"/>
          </p:cNvSpPr>
          <p:nvPr/>
        </p:nvSpPr>
        <p:spPr bwMode="auto">
          <a:xfrm>
            <a:off x="5341938" y="603250"/>
            <a:ext cx="144462" cy="1588"/>
          </a:xfrm>
          <a:prstGeom prst="line">
            <a:avLst/>
          </a:prstGeom>
          <a:noFill/>
          <a:ln w="9525">
            <a:solidFill>
              <a:srgbClr val="FF0000"/>
            </a:solidFill>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47" name="Line 37"/>
          <p:cNvSpPr>
            <a:spLocks noChangeShapeType="1"/>
          </p:cNvSpPr>
          <p:nvPr/>
        </p:nvSpPr>
        <p:spPr bwMode="auto">
          <a:xfrm>
            <a:off x="5759450" y="1025525"/>
            <a:ext cx="144463" cy="1588"/>
          </a:xfrm>
          <a:prstGeom prst="line">
            <a:avLst/>
          </a:prstGeom>
          <a:noFill/>
          <a:ln w="9525">
            <a:solidFill>
              <a:schemeClr val="bg1"/>
            </a:solidFill>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48" name="Text Box 38"/>
          <p:cNvSpPr txBox="1">
            <a:spLocks noChangeArrowheads="1"/>
          </p:cNvSpPr>
          <p:nvPr/>
        </p:nvSpPr>
        <p:spPr bwMode="auto">
          <a:xfrm>
            <a:off x="5453063" y="719138"/>
            <a:ext cx="668337" cy="336550"/>
          </a:xfrm>
          <a:prstGeom prst="rect">
            <a:avLst/>
          </a:prstGeom>
          <a:noFill/>
          <a:ln w="9525">
            <a:noFill/>
            <a:miter lim="800000"/>
            <a:headEnd/>
            <a:tailEnd/>
          </a:ln>
        </p:spPr>
        <p:txBody>
          <a:bodyPr>
            <a:spAutoFit/>
          </a:bodyPr>
          <a:lstStyle/>
          <a:p>
            <a:pPr>
              <a:defRPr/>
            </a:pPr>
            <a:r>
              <a:rPr lang="en-US" altLang="zh-CN" sz="1600" b="1" i="1">
                <a:solidFill>
                  <a:srgbClr val="FFFF00"/>
                </a:solidFill>
                <a:latin typeface="Times New Roman" pitchFamily="18" charset="0"/>
                <a:ea typeface="+mn-ea"/>
                <a:cs typeface="Times New Roman" pitchFamily="18" charset="0"/>
              </a:rPr>
              <a:t>d</a:t>
            </a:r>
            <a:r>
              <a:rPr lang="en-US" altLang="zh-CN" sz="1600" b="1" baseline="-25000">
                <a:solidFill>
                  <a:srgbClr val="FFFF00"/>
                </a:solidFill>
                <a:latin typeface="Times New Roman" pitchFamily="18" charset="0"/>
                <a:ea typeface="+mn-ea"/>
                <a:cs typeface="Times New Roman" pitchFamily="18" charset="0"/>
              </a:rPr>
              <a:t>2</a:t>
            </a:r>
            <a:endParaRPr lang="en-US" altLang="zh-CN" sz="1600" b="1">
              <a:solidFill>
                <a:srgbClr val="FFFF00"/>
              </a:solidFill>
              <a:latin typeface="Times New Roman" pitchFamily="18" charset="0"/>
              <a:ea typeface="+mn-ea"/>
              <a:cs typeface="Times New Roman" pitchFamily="18" charset="0"/>
            </a:endParaRPr>
          </a:p>
        </p:txBody>
      </p:sp>
      <p:sp>
        <p:nvSpPr>
          <p:cNvPr id="49" name="Line 39"/>
          <p:cNvSpPr>
            <a:spLocks noChangeShapeType="1"/>
          </p:cNvSpPr>
          <p:nvPr/>
        </p:nvSpPr>
        <p:spPr bwMode="auto">
          <a:xfrm>
            <a:off x="7612063" y="647700"/>
            <a:ext cx="288925" cy="1588"/>
          </a:xfrm>
          <a:prstGeom prst="line">
            <a:avLst/>
          </a:prstGeom>
          <a:noFill/>
          <a:ln w="9525">
            <a:solidFill>
              <a:srgbClr val="FF0000"/>
            </a:solidFill>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50" name="Line 40"/>
          <p:cNvSpPr>
            <a:spLocks noChangeShapeType="1"/>
          </p:cNvSpPr>
          <p:nvPr/>
        </p:nvSpPr>
        <p:spPr bwMode="auto">
          <a:xfrm>
            <a:off x="7756525" y="647700"/>
            <a:ext cx="1588" cy="431800"/>
          </a:xfrm>
          <a:prstGeom prst="line">
            <a:avLst/>
          </a:prstGeom>
          <a:noFill/>
          <a:ln w="9525">
            <a:solidFill>
              <a:srgbClr val="FF0000"/>
            </a:solidFill>
            <a:round/>
            <a:headEnd type="stealth" w="med" len="med"/>
            <a:tailEnd type="stealth" w="med" len="med"/>
          </a:ln>
        </p:spPr>
        <p:txBody>
          <a:bodyPr/>
          <a:lstStyle/>
          <a:p>
            <a:pPr>
              <a:defRPr/>
            </a:pPr>
            <a:endParaRPr lang="zh-CN" altLang="en-US">
              <a:latin typeface="Times New Roman" pitchFamily="18" charset="0"/>
              <a:ea typeface="+mn-ea"/>
              <a:cs typeface="Times New Roman" pitchFamily="18" charset="0"/>
            </a:endParaRPr>
          </a:p>
        </p:txBody>
      </p:sp>
      <p:sp>
        <p:nvSpPr>
          <p:cNvPr id="51" name="Text Box 41"/>
          <p:cNvSpPr txBox="1">
            <a:spLocks noChangeArrowheads="1"/>
          </p:cNvSpPr>
          <p:nvPr/>
        </p:nvSpPr>
        <p:spPr bwMode="auto">
          <a:xfrm>
            <a:off x="7880350" y="596900"/>
            <a:ext cx="739775" cy="457200"/>
          </a:xfrm>
          <a:prstGeom prst="rect">
            <a:avLst/>
          </a:prstGeom>
          <a:noFill/>
          <a:ln w="9525">
            <a:noFill/>
            <a:miter lim="800000"/>
            <a:headEnd/>
            <a:tailEnd/>
          </a:ln>
        </p:spPr>
        <p:txBody>
          <a:bodyPr>
            <a:spAutoFit/>
          </a:bodyPr>
          <a:lstStyle/>
          <a:p>
            <a:pPr>
              <a:defRPr/>
            </a:pPr>
            <a:r>
              <a:rPr lang="en-US" altLang="zh-CN" sz="2400" b="1">
                <a:solidFill>
                  <a:srgbClr val="FF0000"/>
                </a:solidFill>
                <a:latin typeface="Times New Roman" pitchFamily="18" charset="0"/>
                <a:ea typeface="+mn-ea"/>
                <a:cs typeface="Times New Roman" pitchFamily="18" charset="0"/>
              </a:rPr>
              <a:t>2</a:t>
            </a:r>
            <a:r>
              <a:rPr lang="en-US" altLang="zh-CN" sz="2400" b="1" i="1">
                <a:solidFill>
                  <a:srgbClr val="FF0000"/>
                </a:solidFill>
                <a:latin typeface="Times New Roman" pitchFamily="18" charset="0"/>
                <a:ea typeface="+mn-ea"/>
                <a:cs typeface="Times New Roman" pitchFamily="18" charset="0"/>
              </a:rPr>
              <a:t>d</a:t>
            </a:r>
          </a:p>
        </p:txBody>
      </p:sp>
      <p:sp>
        <p:nvSpPr>
          <p:cNvPr id="52" name="Line 42"/>
          <p:cNvSpPr>
            <a:spLocks noChangeShapeType="1"/>
          </p:cNvSpPr>
          <p:nvPr/>
        </p:nvSpPr>
        <p:spPr bwMode="auto">
          <a:xfrm>
            <a:off x="4589463" y="885825"/>
            <a:ext cx="3025775" cy="1588"/>
          </a:xfrm>
          <a:prstGeom prst="line">
            <a:avLst/>
          </a:prstGeom>
          <a:noFill/>
          <a:ln w="9525">
            <a:solidFill>
              <a:srgbClr val="FF0000"/>
            </a:solidFill>
            <a:prstDash val="dash"/>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53" name="Line 43"/>
          <p:cNvSpPr>
            <a:spLocks noChangeShapeType="1"/>
          </p:cNvSpPr>
          <p:nvPr/>
        </p:nvSpPr>
        <p:spPr bwMode="auto">
          <a:xfrm flipV="1">
            <a:off x="5853113" y="885825"/>
            <a:ext cx="1587" cy="161925"/>
          </a:xfrm>
          <a:prstGeom prst="line">
            <a:avLst/>
          </a:prstGeom>
          <a:noFill/>
          <a:ln w="9525">
            <a:solidFill>
              <a:srgbClr val="FF0000"/>
            </a:solidFill>
            <a:round/>
            <a:headEnd type="stealth" w="med" len="med"/>
            <a:tailEnd type="stealth" w="med" len="med"/>
          </a:ln>
        </p:spPr>
        <p:txBody>
          <a:bodyPr/>
          <a:lstStyle/>
          <a:p>
            <a:pPr>
              <a:defRPr/>
            </a:pPr>
            <a:endParaRPr lang="zh-CN" altLang="en-US">
              <a:latin typeface="Times New Roman" pitchFamily="18" charset="0"/>
              <a:ea typeface="+mn-ea"/>
              <a:cs typeface="Times New Roman" pitchFamily="18" charset="0"/>
            </a:endParaRPr>
          </a:p>
        </p:txBody>
      </p:sp>
      <p:sp>
        <p:nvSpPr>
          <p:cNvPr id="54" name="Line 44"/>
          <p:cNvSpPr>
            <a:spLocks noChangeShapeType="1"/>
          </p:cNvSpPr>
          <p:nvPr/>
        </p:nvSpPr>
        <p:spPr bwMode="auto">
          <a:xfrm>
            <a:off x="5761038" y="1047750"/>
            <a:ext cx="144462" cy="1588"/>
          </a:xfrm>
          <a:prstGeom prst="line">
            <a:avLst/>
          </a:prstGeom>
          <a:noFill/>
          <a:ln w="9525">
            <a:solidFill>
              <a:srgbClr val="FF0000"/>
            </a:solidFill>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55" name="Line 45"/>
          <p:cNvSpPr>
            <a:spLocks noChangeShapeType="1"/>
          </p:cNvSpPr>
          <p:nvPr/>
        </p:nvSpPr>
        <p:spPr bwMode="auto">
          <a:xfrm>
            <a:off x="7613650" y="1101725"/>
            <a:ext cx="288925" cy="1588"/>
          </a:xfrm>
          <a:prstGeom prst="line">
            <a:avLst/>
          </a:prstGeom>
          <a:noFill/>
          <a:ln w="9525">
            <a:solidFill>
              <a:srgbClr val="FF0000"/>
            </a:solidFill>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56" name="AutoShape 46"/>
          <p:cNvSpPr>
            <a:spLocks/>
          </p:cNvSpPr>
          <p:nvPr/>
        </p:nvSpPr>
        <p:spPr bwMode="auto">
          <a:xfrm>
            <a:off x="6192838" y="3063875"/>
            <a:ext cx="134937" cy="568325"/>
          </a:xfrm>
          <a:prstGeom prst="rightBrace">
            <a:avLst>
              <a:gd name="adj1" fmla="val 35098"/>
              <a:gd name="adj2" fmla="val 50000"/>
            </a:avLst>
          </a:prstGeom>
          <a:noFill/>
          <a:ln w="31750">
            <a:solidFill>
              <a:srgbClr val="FF0000"/>
            </a:solidFill>
            <a:round/>
            <a:headEnd/>
            <a:tailEnd/>
          </a:ln>
        </p:spPr>
        <p:txBody>
          <a:bodyPr wrap="none" anchor="ctr"/>
          <a:lstStyle/>
          <a:p>
            <a:pPr>
              <a:defRPr/>
            </a:pPr>
            <a:endParaRPr lang="zh-CN" altLang="en-US">
              <a:latin typeface="Times New Roman" pitchFamily="18" charset="0"/>
              <a:ea typeface="+mn-ea"/>
              <a:cs typeface="Times New Roman" pitchFamily="18" charset="0"/>
            </a:endParaRPr>
          </a:p>
        </p:txBody>
      </p:sp>
      <p:graphicFrame>
        <p:nvGraphicFramePr>
          <p:cNvPr id="57" name="Object 47"/>
          <p:cNvGraphicFramePr>
            <a:graphicFrameLocks noChangeAspect="1"/>
          </p:cNvGraphicFramePr>
          <p:nvPr/>
        </p:nvGraphicFramePr>
        <p:xfrm>
          <a:off x="2735263" y="4597400"/>
          <a:ext cx="1309687" cy="454025"/>
        </p:xfrm>
        <a:graphic>
          <a:graphicData uri="http://schemas.openxmlformats.org/presentationml/2006/ole">
            <p:oleObj spid="_x0000_s66563" name="公式" r:id="rId5" imgW="698400" imgH="241200" progId="Equation.3">
              <p:embed/>
            </p:oleObj>
          </a:graphicData>
        </a:graphic>
      </p:graphicFrame>
      <p:sp>
        <p:nvSpPr>
          <p:cNvPr id="58" name="Text Box 48"/>
          <p:cNvSpPr txBox="1">
            <a:spLocks noChangeArrowheads="1"/>
          </p:cNvSpPr>
          <p:nvPr/>
        </p:nvSpPr>
        <p:spPr bwMode="auto">
          <a:xfrm>
            <a:off x="285750" y="4071938"/>
            <a:ext cx="6256338" cy="457200"/>
          </a:xfrm>
          <a:prstGeom prst="rect">
            <a:avLst/>
          </a:prstGeom>
          <a:noFill/>
          <a:ln w="9525" algn="ctr">
            <a:noFill/>
            <a:miter lim="800000"/>
            <a:headEnd/>
            <a:tailEnd/>
          </a:ln>
        </p:spPr>
        <p:txBody>
          <a:bodyPr>
            <a:spAutoFit/>
          </a:bodyPr>
          <a:lstStyle/>
          <a:p>
            <a:pPr>
              <a:buClr>
                <a:srgbClr val="CC0000"/>
              </a:buClr>
              <a:buFont typeface="Wingdings" pitchFamily="2" charset="2"/>
              <a:buNone/>
              <a:defRPr/>
            </a:pPr>
            <a:r>
              <a:rPr lang="zh-CN" altLang="en-US" sz="2400" b="1" dirty="0">
                <a:latin typeface="Times New Roman" pitchFamily="18" charset="0"/>
                <a:ea typeface="+mn-ea"/>
                <a:cs typeface="Times New Roman" pitchFamily="18" charset="0"/>
              </a:rPr>
              <a:t>单位时间内与</a:t>
            </a:r>
            <a:r>
              <a:rPr lang="zh-CN" altLang="en-US" sz="2400" b="1" dirty="0">
                <a:solidFill>
                  <a:srgbClr val="FF0000"/>
                </a:solidFill>
                <a:latin typeface="Times New Roman" pitchFamily="18" charset="0"/>
                <a:ea typeface="+mn-ea"/>
                <a:cs typeface="Times New Roman" pitchFamily="18" charset="0"/>
              </a:rPr>
              <a:t>分子</a:t>
            </a:r>
            <a:r>
              <a:rPr lang="zh-CN" altLang="en-US" sz="2400" b="1" dirty="0">
                <a:latin typeface="Times New Roman" pitchFamily="18" charset="0"/>
                <a:ea typeface="+mn-ea"/>
                <a:cs typeface="Times New Roman" pitchFamily="18" charset="0"/>
              </a:rPr>
              <a:t> </a:t>
            </a:r>
            <a:r>
              <a:rPr lang="en-US" altLang="zh-CN" sz="2400" b="1" i="1" dirty="0">
                <a:solidFill>
                  <a:srgbClr val="FF0000"/>
                </a:solidFill>
                <a:latin typeface="Times New Roman" pitchFamily="18" charset="0"/>
                <a:ea typeface="+mn-ea"/>
                <a:cs typeface="Times New Roman" pitchFamily="18" charset="0"/>
              </a:rPr>
              <a:t>A </a:t>
            </a:r>
            <a:r>
              <a:rPr lang="zh-CN" altLang="en-US" sz="2400" b="1" dirty="0">
                <a:latin typeface="Times New Roman" pitchFamily="18" charset="0"/>
                <a:ea typeface="+mn-ea"/>
                <a:cs typeface="Times New Roman" pitchFamily="18" charset="0"/>
              </a:rPr>
              <a:t>发生碰撞的</a:t>
            </a:r>
            <a:r>
              <a:rPr lang="zh-CN" altLang="en-US" sz="2400" b="1" dirty="0">
                <a:solidFill>
                  <a:srgbClr val="FF0000"/>
                </a:solidFill>
                <a:latin typeface="Times New Roman" pitchFamily="18" charset="0"/>
                <a:ea typeface="+mn-ea"/>
                <a:cs typeface="Times New Roman" pitchFamily="18" charset="0"/>
              </a:rPr>
              <a:t>分子数为 </a:t>
            </a:r>
          </a:p>
        </p:txBody>
      </p:sp>
      <p:graphicFrame>
        <p:nvGraphicFramePr>
          <p:cNvPr id="59" name="Object 49"/>
          <p:cNvGraphicFramePr>
            <a:graphicFrameLocks noChangeAspect="1"/>
          </p:cNvGraphicFramePr>
          <p:nvPr/>
        </p:nvGraphicFramePr>
        <p:xfrm>
          <a:off x="6000750" y="4071938"/>
          <a:ext cx="936625" cy="484187"/>
        </p:xfrm>
        <a:graphic>
          <a:graphicData uri="http://schemas.openxmlformats.org/presentationml/2006/ole">
            <p:oleObj spid="_x0000_s66564" name="Equation" r:id="rId6" imgW="444240" imgH="228600" progId="">
              <p:embed/>
            </p:oleObj>
          </a:graphicData>
        </a:graphic>
      </p:graphicFrame>
      <p:sp>
        <p:nvSpPr>
          <p:cNvPr id="60" name="Text Box 50"/>
          <p:cNvSpPr txBox="1">
            <a:spLocks noChangeArrowheads="1"/>
          </p:cNvSpPr>
          <p:nvPr/>
        </p:nvSpPr>
        <p:spPr bwMode="auto">
          <a:xfrm>
            <a:off x="249238" y="5186363"/>
            <a:ext cx="5692775" cy="457200"/>
          </a:xfrm>
          <a:prstGeom prst="rect">
            <a:avLst/>
          </a:prstGeom>
          <a:noFill/>
          <a:ln w="9525" algn="ctr">
            <a:noFill/>
            <a:miter lim="800000"/>
            <a:headEnd/>
            <a:tailEnd/>
          </a:ln>
        </p:spPr>
        <p:txBody>
          <a:bodyPr>
            <a:spAutoFit/>
          </a:bodyPr>
          <a:lstStyle/>
          <a:p>
            <a:pPr>
              <a:buClr>
                <a:srgbClr val="CC0000"/>
              </a:buClr>
              <a:buFont typeface="Wingdings" pitchFamily="2" charset="2"/>
              <a:buNone/>
              <a:defRPr/>
            </a:pPr>
            <a:r>
              <a:rPr lang="zh-CN" altLang="en-US" sz="2400" b="1" dirty="0">
                <a:latin typeface="Times New Roman" pitchFamily="18" charset="0"/>
                <a:ea typeface="+mn-ea"/>
                <a:cs typeface="Times New Roman" pitchFamily="18" charset="0"/>
              </a:rPr>
              <a:t>考虑到所有分子实际上都在运动，则有</a:t>
            </a:r>
          </a:p>
        </p:txBody>
      </p:sp>
      <p:sp>
        <p:nvSpPr>
          <p:cNvPr id="61" name="Text Box 51"/>
          <p:cNvSpPr txBox="1">
            <a:spLocks noChangeArrowheads="1"/>
          </p:cNvSpPr>
          <p:nvPr/>
        </p:nvSpPr>
        <p:spPr bwMode="auto">
          <a:xfrm>
            <a:off x="285750" y="4614863"/>
            <a:ext cx="3260725" cy="457200"/>
          </a:xfrm>
          <a:prstGeom prst="rect">
            <a:avLst/>
          </a:prstGeom>
          <a:noFill/>
          <a:ln w="9525" algn="ctr">
            <a:noFill/>
            <a:miter lim="800000"/>
            <a:headEnd/>
            <a:tailEnd/>
          </a:ln>
        </p:spPr>
        <p:txBody>
          <a:bodyPr>
            <a:spAutoFit/>
          </a:bodyPr>
          <a:lstStyle/>
          <a:p>
            <a:pPr>
              <a:buClr>
                <a:srgbClr val="CC0000"/>
              </a:buClr>
              <a:buFont typeface="Wingdings" pitchFamily="2" charset="2"/>
              <a:buNone/>
              <a:defRPr/>
            </a:pPr>
            <a:r>
              <a:rPr lang="zh-CN" altLang="en-US" sz="2400" b="1" dirty="0">
                <a:latin typeface="Times New Roman" pitchFamily="18" charset="0"/>
                <a:ea typeface="+mn-ea"/>
                <a:cs typeface="Times New Roman" pitchFamily="18" charset="0"/>
              </a:rPr>
              <a:t>平均碰撞频率为</a:t>
            </a:r>
          </a:p>
        </p:txBody>
      </p:sp>
      <p:graphicFrame>
        <p:nvGraphicFramePr>
          <p:cNvPr id="62" name="Object 52"/>
          <p:cNvGraphicFramePr>
            <a:graphicFrameLocks noChangeAspect="1"/>
          </p:cNvGraphicFramePr>
          <p:nvPr/>
        </p:nvGraphicFramePr>
        <p:xfrm>
          <a:off x="5607050" y="5186363"/>
          <a:ext cx="1079500" cy="446087"/>
        </p:xfrm>
        <a:graphic>
          <a:graphicData uri="http://schemas.openxmlformats.org/presentationml/2006/ole">
            <p:oleObj spid="_x0000_s66565" name="公式" r:id="rId7" imgW="1257120" imgH="444240" progId="Equation.3">
              <p:embed/>
            </p:oleObj>
          </a:graphicData>
        </a:graphic>
      </p:graphicFrame>
      <p:graphicFrame>
        <p:nvGraphicFramePr>
          <p:cNvPr id="63" name="Object 53"/>
          <p:cNvGraphicFramePr>
            <a:graphicFrameLocks noChangeAspect="1"/>
          </p:cNvGraphicFramePr>
          <p:nvPr/>
        </p:nvGraphicFramePr>
        <p:xfrm>
          <a:off x="3035300" y="5829300"/>
          <a:ext cx="1895475" cy="528638"/>
        </p:xfrm>
        <a:graphic>
          <a:graphicData uri="http://schemas.openxmlformats.org/presentationml/2006/ole">
            <p:oleObj spid="_x0000_s66566" name="Equation" r:id="rId8" imgW="914400" imgH="241200" progId="">
              <p:embed/>
            </p:oleObj>
          </a:graphicData>
        </a:graphic>
      </p:graphicFrame>
      <p:sp>
        <p:nvSpPr>
          <p:cNvPr id="64" name="Text Box 63"/>
          <p:cNvSpPr txBox="1">
            <a:spLocks noChangeArrowheads="1"/>
          </p:cNvSpPr>
          <p:nvPr/>
        </p:nvSpPr>
        <p:spPr bwMode="auto">
          <a:xfrm>
            <a:off x="428625" y="5715000"/>
            <a:ext cx="2601913" cy="457200"/>
          </a:xfrm>
          <a:prstGeom prst="rect">
            <a:avLst/>
          </a:prstGeom>
          <a:noFill/>
          <a:ln w="9525" algn="ctr">
            <a:noFill/>
            <a:miter lim="800000"/>
            <a:headEnd/>
            <a:tailEnd/>
          </a:ln>
        </p:spPr>
        <p:txBody>
          <a:bodyPr>
            <a:spAutoFit/>
          </a:bodyPr>
          <a:lstStyle/>
          <a:p>
            <a:pPr>
              <a:buClr>
                <a:srgbClr val="FF0000"/>
              </a:buClr>
              <a:buFont typeface="Wingdings" pitchFamily="2" charset="2"/>
              <a:buChar char="u"/>
              <a:defRPr/>
            </a:pPr>
            <a:r>
              <a:rPr lang="en-US" altLang="zh-CN" sz="2400" b="1">
                <a:solidFill>
                  <a:srgbClr val="FF0000"/>
                </a:solidFill>
                <a:latin typeface="Times New Roman" pitchFamily="18" charset="0"/>
                <a:ea typeface="+mn-ea"/>
                <a:cs typeface="Times New Roman" pitchFamily="18" charset="0"/>
              </a:rPr>
              <a:t> </a:t>
            </a:r>
            <a:r>
              <a:rPr lang="zh-CN" altLang="en-US" sz="2400" b="1">
                <a:solidFill>
                  <a:srgbClr val="FF0000"/>
                </a:solidFill>
                <a:latin typeface="Times New Roman" pitchFamily="18" charset="0"/>
                <a:ea typeface="+mn-ea"/>
                <a:cs typeface="Times New Roman" pitchFamily="18" charset="0"/>
              </a:rPr>
              <a:t>结论：</a:t>
            </a:r>
          </a:p>
        </p:txBody>
      </p:sp>
      <p:sp>
        <p:nvSpPr>
          <p:cNvPr id="70" name="AutoShape 10"/>
          <p:cNvSpPr>
            <a:spLocks noChangeArrowheads="1"/>
          </p:cNvSpPr>
          <p:nvPr/>
        </p:nvSpPr>
        <p:spPr bwMode="auto">
          <a:xfrm rot="809993" flipV="1">
            <a:off x="3533775" y="2009775"/>
            <a:ext cx="2006600" cy="169863"/>
          </a:xfrm>
          <a:prstGeom prst="rightArrow">
            <a:avLst>
              <a:gd name="adj1" fmla="val 50000"/>
              <a:gd name="adj2" fmla="val 43421"/>
            </a:avLst>
          </a:prstGeom>
          <a:solidFill>
            <a:srgbClr val="FF0000"/>
          </a:solidFill>
          <a:ln w="9525">
            <a:solidFill>
              <a:schemeClr val="tx1"/>
            </a:solidFill>
            <a:miter lim="800000"/>
            <a:headEnd/>
            <a:tailEnd/>
          </a:ln>
        </p:spPr>
        <p:txBody>
          <a:bodyPr wrap="none" anchor="ctr"/>
          <a:lstStyle/>
          <a:p>
            <a:pPr>
              <a:defRPr/>
            </a:pPr>
            <a:endParaRPr lang="zh-CN" altLang="en-US">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ox(ou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wipe(left)">
                                      <p:cBhvr>
                                        <p:cTn id="12" dur="5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500" fill="hold"/>
                                        <p:tgtEl>
                                          <p:spTgt spid="35"/>
                                        </p:tgtEl>
                                        <p:attrNameLst>
                                          <p:attrName>ppt_w</p:attrName>
                                        </p:attrNameLst>
                                      </p:cBhvr>
                                      <p:tavLst>
                                        <p:tav tm="0">
                                          <p:val>
                                            <p:fltVal val="0"/>
                                          </p:val>
                                        </p:tav>
                                        <p:tav tm="100000">
                                          <p:val>
                                            <p:strVal val="#ppt_w"/>
                                          </p:val>
                                        </p:tav>
                                      </p:tavLst>
                                    </p:anim>
                                    <p:anim calcmode="lin" valueType="num">
                                      <p:cBhvr>
                                        <p:cTn id="18"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down)">
                                      <p:cBhvr>
                                        <p:cTn id="23" dur="500"/>
                                        <p:tgtEl>
                                          <p:spTgt spid="29"/>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wipe(left)">
                                      <p:cBhvr>
                                        <p:cTn id="31" dur="500"/>
                                        <p:tgtEl>
                                          <p:spTgt spid="42"/>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left)">
                                      <p:cBhvr>
                                        <p:cTn id="35" dur="500"/>
                                        <p:tgtEl>
                                          <p:spTgt spid="36"/>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wipe(left)">
                                      <p:cBhvr>
                                        <p:cTn id="39" dur="500"/>
                                        <p:tgtEl>
                                          <p:spTgt spid="52"/>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left)">
                                      <p:cBhvr>
                                        <p:cTn id="43" dur="500"/>
                                        <p:tgtEl>
                                          <p:spTgt spid="37"/>
                                        </p:tgtEl>
                                      </p:cBhvr>
                                    </p:animEffect>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childTnLst>
                          </p:cTn>
                        </p:par>
                        <p:par>
                          <p:cTn id="48" fill="hold">
                            <p:stCondLst>
                              <p:cond delay="3500"/>
                            </p:stCondLst>
                            <p:childTnLst>
                              <p:par>
                                <p:cTn id="49" presetID="22" presetClass="entr" presetSubtype="8" fill="hold" grpId="0" nodeType="after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left)">
                                      <p:cBhvr>
                                        <p:cTn id="51" dur="500"/>
                                        <p:tgtEl>
                                          <p:spTgt spid="41"/>
                                        </p:tgtEl>
                                      </p:cBhvr>
                                    </p:animEffect>
                                  </p:childTnLst>
                                </p:cTn>
                              </p:par>
                            </p:childTnLst>
                          </p:cTn>
                        </p:par>
                        <p:par>
                          <p:cTn id="52" fill="hold">
                            <p:stCondLst>
                              <p:cond delay="4000"/>
                            </p:stCondLst>
                            <p:childTnLst>
                              <p:par>
                                <p:cTn id="53" presetID="22" presetClass="entr" presetSubtype="8"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left)">
                                      <p:cBhvr>
                                        <p:cTn id="55" dur="500"/>
                                        <p:tgtEl>
                                          <p:spTgt spid="39"/>
                                        </p:tgtEl>
                                      </p:cBhvr>
                                    </p:animEffect>
                                  </p:childTnLst>
                                </p:cTn>
                              </p:par>
                            </p:childTnLst>
                          </p:cTn>
                        </p:par>
                        <p:par>
                          <p:cTn id="56" fill="hold">
                            <p:stCondLst>
                              <p:cond delay="4500"/>
                            </p:stCondLst>
                            <p:childTnLst>
                              <p:par>
                                <p:cTn id="57" presetID="22" presetClass="entr" presetSubtype="8" fill="hold" grpId="0" nodeType="after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wipe(left)">
                                      <p:cBhvr>
                                        <p:cTn id="59" dur="500"/>
                                        <p:tgtEl>
                                          <p:spTgt spid="40"/>
                                        </p:tgtEl>
                                      </p:cBhvr>
                                    </p:animEffect>
                                  </p:childTnLst>
                                </p:cTn>
                              </p:par>
                            </p:childTnLst>
                          </p:cTn>
                        </p:par>
                        <p:par>
                          <p:cTn id="60" fill="hold">
                            <p:stCondLst>
                              <p:cond delay="5000"/>
                            </p:stCondLst>
                            <p:childTnLst>
                              <p:par>
                                <p:cTn id="61" presetID="22" presetClass="entr" presetSubtype="8" fill="hold" nodeType="after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wipe(left)">
                                      <p:cBhvr>
                                        <p:cTn id="63" dur="500"/>
                                        <p:tgtEl>
                                          <p:spTgt spid="49"/>
                                        </p:tgtEl>
                                      </p:cBhvr>
                                    </p:animEffect>
                                  </p:childTnLst>
                                </p:cTn>
                              </p:par>
                            </p:childTnLst>
                          </p:cTn>
                        </p:par>
                        <p:par>
                          <p:cTn id="64" fill="hold">
                            <p:stCondLst>
                              <p:cond delay="5500"/>
                            </p:stCondLst>
                            <p:childTnLst>
                              <p:par>
                                <p:cTn id="65" presetID="22" presetClass="entr" presetSubtype="8" fill="hold" nodeType="after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wipe(left)">
                                      <p:cBhvr>
                                        <p:cTn id="67" dur="500"/>
                                        <p:tgtEl>
                                          <p:spTgt spid="50"/>
                                        </p:tgtEl>
                                      </p:cBhvr>
                                    </p:animEffect>
                                  </p:childTnLst>
                                </p:cTn>
                              </p:par>
                            </p:childTnLst>
                          </p:cTn>
                        </p:par>
                        <p:par>
                          <p:cTn id="68" fill="hold">
                            <p:stCondLst>
                              <p:cond delay="6000"/>
                            </p:stCondLst>
                            <p:childTnLst>
                              <p:par>
                                <p:cTn id="69" presetID="22" presetClass="entr" presetSubtype="8" fill="hold" grpId="0" nodeType="after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left)">
                                      <p:cBhvr>
                                        <p:cTn id="71" dur="500"/>
                                        <p:tgtEl>
                                          <p:spTgt spid="51"/>
                                        </p:tgtEl>
                                      </p:cBhvr>
                                    </p:animEffect>
                                  </p:childTnLst>
                                </p:cTn>
                              </p:par>
                            </p:childTnLst>
                          </p:cTn>
                        </p:par>
                        <p:par>
                          <p:cTn id="72" fill="hold">
                            <p:stCondLst>
                              <p:cond delay="6500"/>
                            </p:stCondLst>
                            <p:childTnLst>
                              <p:par>
                                <p:cTn id="73" presetID="22" presetClass="entr" presetSubtype="8" fill="hold" nodeType="after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wipe(left)">
                                      <p:cBhvr>
                                        <p:cTn id="75" dur="500"/>
                                        <p:tgtEl>
                                          <p:spTgt spid="55"/>
                                        </p:tgtEl>
                                      </p:cBhvr>
                                    </p:animEffect>
                                  </p:childTnLst>
                                </p:cTn>
                              </p:par>
                            </p:childTnLst>
                          </p:cTn>
                        </p:par>
                      </p:childTnLst>
                    </p:cTn>
                  </p:par>
                  <p:par>
                    <p:cTn id="76" fill="hold">
                      <p:stCondLst>
                        <p:cond delay="indefinite"/>
                      </p:stCondLst>
                      <p:childTnLst>
                        <p:par>
                          <p:cTn id="77" fill="hold">
                            <p:stCondLst>
                              <p:cond delay="0"/>
                            </p:stCondLst>
                            <p:childTnLst>
                              <p:par>
                                <p:cTn id="78" presetID="27" presetClass="emph" presetSubtype="0" fill="hold" grpId="1" nodeType="clickEffect">
                                  <p:stCondLst>
                                    <p:cond delay="0"/>
                                  </p:stCondLst>
                                  <p:childTnLst>
                                    <p:animClr clrSpc="rgb" dir="cw">
                                      <p:cBhvr override="childStyle">
                                        <p:cTn id="79" dur="250" autoRev="1" fill="hold"/>
                                        <p:tgtEl>
                                          <p:spTgt spid="37"/>
                                        </p:tgtEl>
                                        <p:attrNameLst>
                                          <p:attrName>style.color</p:attrName>
                                        </p:attrNameLst>
                                      </p:cBhvr>
                                      <p:to>
                                        <a:schemeClr val="bg1"/>
                                      </p:to>
                                    </p:animClr>
                                    <p:animClr clrSpc="rgb" dir="cw">
                                      <p:cBhvr>
                                        <p:cTn id="80" dur="250" autoRev="1" fill="hold"/>
                                        <p:tgtEl>
                                          <p:spTgt spid="37"/>
                                        </p:tgtEl>
                                        <p:attrNameLst>
                                          <p:attrName>fillcolor</p:attrName>
                                        </p:attrNameLst>
                                      </p:cBhvr>
                                      <p:to>
                                        <a:schemeClr val="bg1"/>
                                      </p:to>
                                    </p:animClr>
                                    <p:set>
                                      <p:cBhvr>
                                        <p:cTn id="81" dur="250" autoRev="1" fill="hold"/>
                                        <p:tgtEl>
                                          <p:spTgt spid="37"/>
                                        </p:tgtEl>
                                        <p:attrNameLst>
                                          <p:attrName>fill.type</p:attrName>
                                        </p:attrNameLst>
                                      </p:cBhvr>
                                      <p:to>
                                        <p:strVal val="solid"/>
                                      </p:to>
                                    </p:set>
                                    <p:set>
                                      <p:cBhvr>
                                        <p:cTn id="82" dur="250" autoRev="1" fill="hold"/>
                                        <p:tgtEl>
                                          <p:spTgt spid="37"/>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wipe(up)">
                                      <p:cBhvr>
                                        <p:cTn id="87" dur="500"/>
                                        <p:tgtEl>
                                          <p:spTgt spid="44"/>
                                        </p:tgtEl>
                                      </p:cBhvr>
                                    </p:animEffect>
                                  </p:childTnLst>
                                </p:cTn>
                              </p:par>
                              <p:par>
                                <p:cTn id="88" presetID="22" presetClass="entr" presetSubtype="1" fill="hold"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wipe(up)">
                                      <p:cBhvr>
                                        <p:cTn id="90" dur="500"/>
                                        <p:tgtEl>
                                          <p:spTgt spid="46"/>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wipe(up)">
                                      <p:cBhvr>
                                        <p:cTn id="93" dur="500"/>
                                        <p:tgtEl>
                                          <p:spTgt spid="4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wipe(left)">
                                      <p:cBhvr>
                                        <p:cTn id="103" dur="500"/>
                                        <p:tgtEl>
                                          <p:spTgt spid="23"/>
                                        </p:tgtEl>
                                      </p:cBhvr>
                                    </p:animEffect>
                                  </p:childTnLst>
                                </p:cTn>
                              </p:par>
                            </p:childTnLst>
                          </p:cTn>
                        </p:par>
                        <p:par>
                          <p:cTn id="104" fill="hold">
                            <p:stCondLst>
                              <p:cond delay="500"/>
                            </p:stCondLst>
                            <p:childTnLst>
                              <p:par>
                                <p:cTn id="105" presetID="22" presetClass="entr" presetSubtype="8" fill="hold" grpId="0" nodeType="after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wipe(left)">
                                      <p:cBhvr>
                                        <p:cTn id="107" dur="5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wipe(left)">
                                      <p:cBhvr>
                                        <p:cTn id="112" dur="500"/>
                                        <p:tgtEl>
                                          <p:spTgt spid="26"/>
                                        </p:tgtEl>
                                      </p:cBhvr>
                                    </p:animEffect>
                                  </p:childTnLst>
                                </p:cTn>
                              </p:par>
                            </p:childTnLst>
                          </p:cTn>
                        </p:par>
                        <p:par>
                          <p:cTn id="113" fill="hold">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wipe(left)">
                                      <p:cBhvr>
                                        <p:cTn id="116" dur="500"/>
                                        <p:tgtEl>
                                          <p:spTgt spid="24"/>
                                        </p:tgtEl>
                                      </p:cBhvr>
                                    </p:animEffect>
                                  </p:childTnLst>
                                </p:cTn>
                              </p:par>
                            </p:childTnLst>
                          </p:cTn>
                        </p:par>
                      </p:childTnLst>
                    </p:cTn>
                  </p:par>
                  <p:par>
                    <p:cTn id="117" fill="hold">
                      <p:stCondLst>
                        <p:cond delay="indefinite"/>
                      </p:stCondLst>
                      <p:childTnLst>
                        <p:par>
                          <p:cTn id="118" fill="hold">
                            <p:stCondLst>
                              <p:cond delay="0"/>
                            </p:stCondLst>
                            <p:childTnLst>
                              <p:par>
                                <p:cTn id="119" presetID="27" presetClass="emph" presetSubtype="0" fill="hold" grpId="1" nodeType="clickEffect">
                                  <p:stCondLst>
                                    <p:cond delay="0"/>
                                  </p:stCondLst>
                                  <p:childTnLst>
                                    <p:animClr clrSpc="rgb" dir="cw">
                                      <p:cBhvr override="childStyle">
                                        <p:cTn id="120" dur="250" autoRev="1" fill="hold"/>
                                        <p:tgtEl>
                                          <p:spTgt spid="38"/>
                                        </p:tgtEl>
                                        <p:attrNameLst>
                                          <p:attrName>style.color</p:attrName>
                                        </p:attrNameLst>
                                      </p:cBhvr>
                                      <p:to>
                                        <a:schemeClr val="bg1"/>
                                      </p:to>
                                    </p:animClr>
                                    <p:animClr clrSpc="rgb" dir="cw">
                                      <p:cBhvr>
                                        <p:cTn id="121" dur="250" autoRev="1" fill="hold"/>
                                        <p:tgtEl>
                                          <p:spTgt spid="38"/>
                                        </p:tgtEl>
                                        <p:attrNameLst>
                                          <p:attrName>fillcolor</p:attrName>
                                        </p:attrNameLst>
                                      </p:cBhvr>
                                      <p:to>
                                        <a:schemeClr val="bg1"/>
                                      </p:to>
                                    </p:animClr>
                                    <p:set>
                                      <p:cBhvr>
                                        <p:cTn id="122" dur="250" autoRev="1" fill="hold"/>
                                        <p:tgtEl>
                                          <p:spTgt spid="38"/>
                                        </p:tgtEl>
                                        <p:attrNameLst>
                                          <p:attrName>fill.type</p:attrName>
                                        </p:attrNameLst>
                                      </p:cBhvr>
                                      <p:to>
                                        <p:strVal val="solid"/>
                                      </p:to>
                                    </p:set>
                                    <p:set>
                                      <p:cBhvr>
                                        <p:cTn id="123" dur="250" autoRev="1" fill="hold"/>
                                        <p:tgtEl>
                                          <p:spTgt spid="38"/>
                                        </p:tgtEl>
                                        <p:attrNameLst>
                                          <p:attrName>fill.on</p:attrName>
                                        </p:attrNameLst>
                                      </p:cBhvr>
                                      <p:to>
                                        <p:strVal val="tru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wipe(down)">
                                      <p:cBhvr>
                                        <p:cTn id="128" dur="500"/>
                                        <p:tgtEl>
                                          <p:spTgt spid="43"/>
                                        </p:tgtEl>
                                      </p:cBhvr>
                                    </p:animEffect>
                                  </p:childTnLst>
                                </p:cTn>
                              </p:par>
                              <p:par>
                                <p:cTn id="129" presetID="22" presetClass="entr" presetSubtype="4" fill="hold"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down)">
                                      <p:cBhvr>
                                        <p:cTn id="131" dur="500"/>
                                        <p:tgtEl>
                                          <p:spTgt spid="47"/>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wipe(down)">
                                      <p:cBhvr>
                                        <p:cTn id="134" dur="500"/>
                                        <p:tgtEl>
                                          <p:spTgt spid="48"/>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4" fill="hold" nodeType="click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wipe(down)">
                                      <p:cBhvr>
                                        <p:cTn id="139" dur="500"/>
                                        <p:tgtEl>
                                          <p:spTgt spid="53"/>
                                        </p:tgtEl>
                                      </p:cBhvr>
                                    </p:animEffect>
                                  </p:childTnLst>
                                </p:cTn>
                              </p:par>
                              <p:par>
                                <p:cTn id="140" presetID="22" presetClass="entr" presetSubtype="4" fill="hold" nodeType="withEffect">
                                  <p:stCondLst>
                                    <p:cond delay="0"/>
                                  </p:stCondLst>
                                  <p:childTnLst>
                                    <p:set>
                                      <p:cBhvr>
                                        <p:cTn id="141" dur="1" fill="hold">
                                          <p:stCondLst>
                                            <p:cond delay="0"/>
                                          </p:stCondLst>
                                        </p:cTn>
                                        <p:tgtEl>
                                          <p:spTgt spid="54"/>
                                        </p:tgtEl>
                                        <p:attrNameLst>
                                          <p:attrName>style.visibility</p:attrName>
                                        </p:attrNameLst>
                                      </p:cBhvr>
                                      <p:to>
                                        <p:strVal val="visible"/>
                                      </p:to>
                                    </p:set>
                                    <p:animEffect transition="in" filter="wipe(down)">
                                      <p:cBhvr>
                                        <p:cTn id="142" dur="500"/>
                                        <p:tgtEl>
                                          <p:spTgt spid="5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wipe(left)">
                                      <p:cBhvr>
                                        <p:cTn id="147" dur="500"/>
                                        <p:tgtEl>
                                          <p:spTgt spid="32"/>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wipe(left)">
                                      <p:cBhvr>
                                        <p:cTn id="152" dur="500"/>
                                        <p:tgtEl>
                                          <p:spTgt spid="27"/>
                                        </p:tgtEl>
                                      </p:cBhvr>
                                    </p:animEffect>
                                  </p:childTnLst>
                                </p:cTn>
                              </p:par>
                            </p:childTnLst>
                          </p:cTn>
                        </p:par>
                        <p:par>
                          <p:cTn id="153" fill="hold">
                            <p:stCondLst>
                              <p:cond delay="500"/>
                            </p:stCondLst>
                            <p:childTnLst>
                              <p:par>
                                <p:cTn id="154" presetID="22" presetClass="entr" presetSubtype="8" fill="hold" grpId="0" nodeType="afterEffect">
                                  <p:stCondLst>
                                    <p:cond delay="0"/>
                                  </p:stCondLst>
                                  <p:childTnLst>
                                    <p:set>
                                      <p:cBhvr>
                                        <p:cTn id="155" dur="1" fill="hold">
                                          <p:stCondLst>
                                            <p:cond delay="0"/>
                                          </p:stCondLst>
                                        </p:cTn>
                                        <p:tgtEl>
                                          <p:spTgt spid="33"/>
                                        </p:tgtEl>
                                        <p:attrNameLst>
                                          <p:attrName>style.visibility</p:attrName>
                                        </p:attrNameLst>
                                      </p:cBhvr>
                                      <p:to>
                                        <p:strVal val="visible"/>
                                      </p:to>
                                    </p:set>
                                    <p:animEffect transition="in" filter="wipe(left)">
                                      <p:cBhvr>
                                        <p:cTn id="156" dur="500"/>
                                        <p:tgtEl>
                                          <p:spTgt spid="33"/>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25"/>
                                        </p:tgtEl>
                                        <p:attrNameLst>
                                          <p:attrName>style.visibility</p:attrName>
                                        </p:attrNameLst>
                                      </p:cBhvr>
                                      <p:to>
                                        <p:strVal val="visible"/>
                                      </p:to>
                                    </p:set>
                                    <p:animEffect transition="in" filter="wipe(left)">
                                      <p:cBhvr>
                                        <p:cTn id="161" dur="500"/>
                                        <p:tgtEl>
                                          <p:spTgt spid="25"/>
                                        </p:tgtEl>
                                      </p:cBhvr>
                                    </p:animEffect>
                                  </p:childTnLst>
                                </p:cTn>
                              </p:par>
                            </p:childTnLst>
                          </p:cTn>
                        </p:par>
                        <p:par>
                          <p:cTn id="162" fill="hold">
                            <p:stCondLst>
                              <p:cond delay="500"/>
                            </p:stCondLst>
                            <p:childTnLst>
                              <p:par>
                                <p:cTn id="163" presetID="22" presetClass="entr" presetSubtype="8" fill="hold" grpId="0" nodeType="afterEffect">
                                  <p:stCondLst>
                                    <p:cond delay="0"/>
                                  </p:stCondLst>
                                  <p:childTnLst>
                                    <p:set>
                                      <p:cBhvr>
                                        <p:cTn id="164" dur="1" fill="hold">
                                          <p:stCondLst>
                                            <p:cond delay="0"/>
                                          </p:stCondLst>
                                        </p:cTn>
                                        <p:tgtEl>
                                          <p:spTgt spid="34"/>
                                        </p:tgtEl>
                                        <p:attrNameLst>
                                          <p:attrName>style.visibility</p:attrName>
                                        </p:attrNameLst>
                                      </p:cBhvr>
                                      <p:to>
                                        <p:strVal val="visible"/>
                                      </p:to>
                                    </p:set>
                                    <p:animEffect transition="in" filter="wipe(left)">
                                      <p:cBhvr>
                                        <p:cTn id="165" dur="500"/>
                                        <p:tgtEl>
                                          <p:spTgt spid="34"/>
                                        </p:tgtEl>
                                      </p:cBhvr>
                                    </p:animEffect>
                                  </p:childTnLst>
                                </p:cTn>
                              </p:par>
                            </p:childTnLst>
                          </p:cTn>
                        </p:par>
                      </p:childTnLst>
                    </p:cTn>
                  </p:par>
                  <p:par>
                    <p:cTn id="166" fill="hold">
                      <p:stCondLst>
                        <p:cond delay="indefinite"/>
                      </p:stCondLst>
                      <p:childTnLst>
                        <p:par>
                          <p:cTn id="167" fill="hold">
                            <p:stCondLst>
                              <p:cond delay="0"/>
                            </p:stCondLst>
                            <p:childTnLst>
                              <p:par>
                                <p:cTn id="168" presetID="3" presetClass="entr" presetSubtype="10" fill="hold" grpId="0" nodeType="clickEffect">
                                  <p:stCondLst>
                                    <p:cond delay="0"/>
                                  </p:stCondLst>
                                  <p:childTnLst>
                                    <p:set>
                                      <p:cBhvr>
                                        <p:cTn id="169" dur="1" fill="hold">
                                          <p:stCondLst>
                                            <p:cond delay="0"/>
                                          </p:stCondLst>
                                        </p:cTn>
                                        <p:tgtEl>
                                          <p:spTgt spid="56"/>
                                        </p:tgtEl>
                                        <p:attrNameLst>
                                          <p:attrName>style.visibility</p:attrName>
                                        </p:attrNameLst>
                                      </p:cBhvr>
                                      <p:to>
                                        <p:strVal val="visible"/>
                                      </p:to>
                                    </p:set>
                                    <p:animEffect transition="in" filter="blinds(horizontal)">
                                      <p:cBhvr>
                                        <p:cTn id="170" dur="500"/>
                                        <p:tgtEl>
                                          <p:spTgt spid="56"/>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wipe(left)">
                                      <p:cBhvr>
                                        <p:cTn id="175" dur="500"/>
                                        <p:tgtEl>
                                          <p:spTgt spid="58"/>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nodeType="click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left)">
                                      <p:cBhvr>
                                        <p:cTn id="180" dur="500"/>
                                        <p:tgtEl>
                                          <p:spTgt spid="59"/>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grpId="0" nodeType="clickEffect">
                                  <p:stCondLst>
                                    <p:cond delay="0"/>
                                  </p:stCondLst>
                                  <p:childTnLst>
                                    <p:set>
                                      <p:cBhvr>
                                        <p:cTn id="184" dur="1" fill="hold">
                                          <p:stCondLst>
                                            <p:cond delay="0"/>
                                          </p:stCondLst>
                                        </p:cTn>
                                        <p:tgtEl>
                                          <p:spTgt spid="61"/>
                                        </p:tgtEl>
                                        <p:attrNameLst>
                                          <p:attrName>style.visibility</p:attrName>
                                        </p:attrNameLst>
                                      </p:cBhvr>
                                      <p:to>
                                        <p:strVal val="visible"/>
                                      </p:to>
                                    </p:set>
                                    <p:animEffect transition="in" filter="wipe(left)">
                                      <p:cBhvr>
                                        <p:cTn id="185" dur="500"/>
                                        <p:tgtEl>
                                          <p:spTgt spid="61"/>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nodeType="clickEffect">
                                  <p:stCondLst>
                                    <p:cond delay="0"/>
                                  </p:stCondLst>
                                  <p:childTnLst>
                                    <p:set>
                                      <p:cBhvr>
                                        <p:cTn id="189" dur="1" fill="hold">
                                          <p:stCondLst>
                                            <p:cond delay="0"/>
                                          </p:stCondLst>
                                        </p:cTn>
                                        <p:tgtEl>
                                          <p:spTgt spid="57"/>
                                        </p:tgtEl>
                                        <p:attrNameLst>
                                          <p:attrName>style.visibility</p:attrName>
                                        </p:attrNameLst>
                                      </p:cBhvr>
                                      <p:to>
                                        <p:strVal val="visible"/>
                                      </p:to>
                                    </p:set>
                                    <p:animEffect transition="in" filter="wipe(left)">
                                      <p:cBhvr>
                                        <p:cTn id="190" dur="500"/>
                                        <p:tgtEl>
                                          <p:spTgt spid="57"/>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60"/>
                                        </p:tgtEl>
                                        <p:attrNameLst>
                                          <p:attrName>style.visibility</p:attrName>
                                        </p:attrNameLst>
                                      </p:cBhvr>
                                      <p:to>
                                        <p:strVal val="visible"/>
                                      </p:to>
                                    </p:set>
                                    <p:animEffect transition="in" filter="wipe(left)">
                                      <p:cBhvr>
                                        <p:cTn id="195" dur="500"/>
                                        <p:tgtEl>
                                          <p:spTgt spid="60"/>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nodeType="clickEffect">
                                  <p:stCondLst>
                                    <p:cond delay="0"/>
                                  </p:stCondLst>
                                  <p:childTnLst>
                                    <p:set>
                                      <p:cBhvr>
                                        <p:cTn id="199" dur="1" fill="hold">
                                          <p:stCondLst>
                                            <p:cond delay="0"/>
                                          </p:stCondLst>
                                        </p:cTn>
                                        <p:tgtEl>
                                          <p:spTgt spid="62"/>
                                        </p:tgtEl>
                                        <p:attrNameLst>
                                          <p:attrName>style.visibility</p:attrName>
                                        </p:attrNameLst>
                                      </p:cBhvr>
                                      <p:to>
                                        <p:strVal val="visible"/>
                                      </p:to>
                                    </p:set>
                                    <p:animEffect transition="in" filter="wipe(left)">
                                      <p:cBhvr>
                                        <p:cTn id="200" dur="500"/>
                                        <p:tgtEl>
                                          <p:spTgt spid="62"/>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64"/>
                                        </p:tgtEl>
                                        <p:attrNameLst>
                                          <p:attrName>style.visibility</p:attrName>
                                        </p:attrNameLst>
                                      </p:cBhvr>
                                      <p:to>
                                        <p:strVal val="visible"/>
                                      </p:to>
                                    </p:set>
                                    <p:animEffect transition="in" filter="wipe(left)">
                                      <p:cBhvr>
                                        <p:cTn id="205" dur="500"/>
                                        <p:tgtEl>
                                          <p:spTgt spid="64"/>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8" fill="hold" nodeType="clickEffect">
                                  <p:stCondLst>
                                    <p:cond delay="0"/>
                                  </p:stCondLst>
                                  <p:childTnLst>
                                    <p:set>
                                      <p:cBhvr>
                                        <p:cTn id="209" dur="1" fill="hold">
                                          <p:stCondLst>
                                            <p:cond delay="0"/>
                                          </p:stCondLst>
                                        </p:cTn>
                                        <p:tgtEl>
                                          <p:spTgt spid="63"/>
                                        </p:tgtEl>
                                        <p:attrNameLst>
                                          <p:attrName>style.visibility</p:attrName>
                                        </p:attrNameLst>
                                      </p:cBhvr>
                                      <p:to>
                                        <p:strVal val="visible"/>
                                      </p:to>
                                    </p:set>
                                    <p:animEffect transition="in" filter="wipe(left)">
                                      <p:cBhvr>
                                        <p:cTn id="2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p:bldP spid="25" grpId="0" animBg="1"/>
      <p:bldP spid="26" grpId="0" animBg="1"/>
      <p:bldP spid="27" grpId="0" animBg="1"/>
      <p:bldP spid="29" grpId="0" animBg="1"/>
      <p:bldP spid="30" grpId="0" animBg="1"/>
      <p:bldP spid="31" grpId="0"/>
      <p:bldP spid="32" grpId="0"/>
      <p:bldP spid="33" grpId="0"/>
      <p:bldP spid="34" grpId="0"/>
      <p:bldP spid="36" grpId="0" animBg="1"/>
      <p:bldP spid="37" grpId="0" animBg="1"/>
      <p:bldP spid="37" grpId="1" animBg="1"/>
      <p:bldP spid="38" grpId="0" animBg="1"/>
      <p:bldP spid="38" grpId="1" animBg="1"/>
      <p:bldP spid="39" grpId="0" animBg="1"/>
      <p:bldP spid="40" grpId="0" animBg="1"/>
      <p:bldP spid="41" grpId="0" animBg="1"/>
      <p:bldP spid="42" grpId="0" animBg="1"/>
      <p:bldP spid="45" grpId="0"/>
      <p:bldP spid="48" grpId="0"/>
      <p:bldP spid="51" grpId="0"/>
      <p:bldP spid="56" grpId="0" animBg="1"/>
      <p:bldP spid="58" grpId="0"/>
      <p:bldP spid="60" grpId="0"/>
      <p:bldP spid="61" grpId="0"/>
      <p:bldP spid="64" grpId="0" autoUpdateAnimBg="0"/>
      <p:bldP spid="7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53"/>
          <p:cNvGraphicFramePr>
            <a:graphicFrameLocks noChangeAspect="1"/>
          </p:cNvGraphicFramePr>
          <p:nvPr/>
        </p:nvGraphicFramePr>
        <p:xfrm>
          <a:off x="4637088" y="744538"/>
          <a:ext cx="1935162" cy="469900"/>
        </p:xfrm>
        <a:graphic>
          <a:graphicData uri="http://schemas.openxmlformats.org/presentationml/2006/ole">
            <p:oleObj spid="_x0000_s67586" name="公式" r:id="rId3" imgW="2044440" imgH="469800" progId="Equation.3">
              <p:embed/>
            </p:oleObj>
          </a:graphicData>
        </a:graphic>
      </p:graphicFrame>
      <p:sp>
        <p:nvSpPr>
          <p:cNvPr id="3" name="Text Box 56"/>
          <p:cNvSpPr txBox="1">
            <a:spLocks noChangeArrowheads="1"/>
          </p:cNvSpPr>
          <p:nvPr/>
        </p:nvSpPr>
        <p:spPr bwMode="auto">
          <a:xfrm>
            <a:off x="357188" y="2500313"/>
            <a:ext cx="8275637" cy="461962"/>
          </a:xfrm>
          <a:prstGeom prst="rect">
            <a:avLst/>
          </a:prstGeom>
          <a:noFill/>
          <a:ln w="9525" algn="ctr">
            <a:noFill/>
            <a:miter lim="800000"/>
            <a:headEnd/>
            <a:tailEnd/>
          </a:ln>
        </p:spPr>
        <p:txBody>
          <a:bodyPr>
            <a:spAutoFit/>
          </a:bodyPr>
          <a:lstStyle/>
          <a:p>
            <a:pPr>
              <a:buClr>
                <a:srgbClr val="CC0000"/>
              </a:buClr>
              <a:buFont typeface="Wingdings" pitchFamily="2" charset="2"/>
              <a:buChar char="Ø"/>
              <a:defRPr/>
            </a:pPr>
            <a:r>
              <a:rPr lang="en-US" altLang="zh-CN" sz="2400" b="1" dirty="0">
                <a:solidFill>
                  <a:srgbClr val="0000FF"/>
                </a:solidFill>
                <a:latin typeface="+mn-ea"/>
                <a:ea typeface="+mn-ea"/>
              </a:rPr>
              <a:t> </a:t>
            </a:r>
            <a:r>
              <a:rPr lang="zh-CN" altLang="en-US" sz="2400" b="1" dirty="0">
                <a:solidFill>
                  <a:srgbClr val="0000FF"/>
                </a:solidFill>
                <a:latin typeface="+mn-ea"/>
                <a:ea typeface="+mn-ea"/>
              </a:rPr>
              <a:t>估算氢气分子在标准状态下的平均碰撞频率 </a:t>
            </a:r>
          </a:p>
        </p:txBody>
      </p:sp>
      <p:graphicFrame>
        <p:nvGraphicFramePr>
          <p:cNvPr id="4" name="Object 57"/>
          <p:cNvGraphicFramePr>
            <a:graphicFrameLocks/>
          </p:cNvGraphicFramePr>
          <p:nvPr/>
        </p:nvGraphicFramePr>
        <p:xfrm>
          <a:off x="574675" y="3341688"/>
          <a:ext cx="2070100" cy="404812"/>
        </p:xfrm>
        <a:graphic>
          <a:graphicData uri="http://schemas.openxmlformats.org/presentationml/2006/ole">
            <p:oleObj spid="_x0000_s67587" name="公式" r:id="rId4" imgW="1079280" imgH="203040" progId="Equation.3">
              <p:embed/>
            </p:oleObj>
          </a:graphicData>
        </a:graphic>
      </p:graphicFrame>
      <p:graphicFrame>
        <p:nvGraphicFramePr>
          <p:cNvPr id="5" name="Object 58"/>
          <p:cNvGraphicFramePr>
            <a:graphicFrameLocks/>
          </p:cNvGraphicFramePr>
          <p:nvPr/>
        </p:nvGraphicFramePr>
        <p:xfrm>
          <a:off x="3365500" y="3341688"/>
          <a:ext cx="1814513" cy="406400"/>
        </p:xfrm>
        <a:graphic>
          <a:graphicData uri="http://schemas.openxmlformats.org/presentationml/2006/ole">
            <p:oleObj spid="_x0000_s67588" name="公式" r:id="rId5" imgW="901440" imgH="203040" progId="Equation.3">
              <p:embed/>
            </p:oleObj>
          </a:graphicData>
        </a:graphic>
      </p:graphicFrame>
      <p:graphicFrame>
        <p:nvGraphicFramePr>
          <p:cNvPr id="6" name="Object 59"/>
          <p:cNvGraphicFramePr>
            <a:graphicFrameLocks/>
          </p:cNvGraphicFramePr>
          <p:nvPr/>
        </p:nvGraphicFramePr>
        <p:xfrm>
          <a:off x="6154738" y="3341688"/>
          <a:ext cx="2430462" cy="406400"/>
        </p:xfrm>
        <a:graphic>
          <a:graphicData uri="http://schemas.openxmlformats.org/presentationml/2006/ole">
            <p:oleObj spid="_x0000_s67589" name="公式" r:id="rId6" imgW="1091880" imgH="203040" progId="Equation.3">
              <p:embed/>
            </p:oleObj>
          </a:graphicData>
        </a:graphic>
      </p:graphicFrame>
      <p:graphicFrame>
        <p:nvGraphicFramePr>
          <p:cNvPr id="7" name="Object 60"/>
          <p:cNvGraphicFramePr>
            <a:graphicFrameLocks/>
          </p:cNvGraphicFramePr>
          <p:nvPr/>
        </p:nvGraphicFramePr>
        <p:xfrm>
          <a:off x="484188" y="4084638"/>
          <a:ext cx="2295525" cy="449262"/>
        </p:xfrm>
        <a:graphic>
          <a:graphicData uri="http://schemas.openxmlformats.org/presentationml/2006/ole">
            <p:oleObj spid="_x0000_s67590" name="公式" r:id="rId7" imgW="1091880" imgH="228600" progId="Equation.3">
              <p:embed/>
            </p:oleObj>
          </a:graphicData>
        </a:graphic>
      </p:graphicFrame>
      <p:sp>
        <p:nvSpPr>
          <p:cNvPr id="8" name="Text Box 61"/>
          <p:cNvSpPr txBox="1">
            <a:spLocks noChangeArrowheads="1"/>
          </p:cNvSpPr>
          <p:nvPr/>
        </p:nvSpPr>
        <p:spPr bwMode="auto">
          <a:xfrm>
            <a:off x="4703763" y="4033838"/>
            <a:ext cx="3611562" cy="461962"/>
          </a:xfrm>
          <a:prstGeom prst="rect">
            <a:avLst/>
          </a:prstGeom>
          <a:noFill/>
          <a:ln w="9525">
            <a:noFill/>
            <a:miter lim="800000"/>
            <a:headEnd/>
            <a:tailEnd/>
          </a:ln>
        </p:spPr>
        <p:txBody>
          <a:bodyPr>
            <a:spAutoFit/>
          </a:bodyPr>
          <a:lstStyle/>
          <a:p>
            <a:pPr>
              <a:defRPr/>
            </a:pPr>
            <a:r>
              <a:rPr kumimoji="1" lang="zh-CN" altLang="en-US" sz="2400" b="1" dirty="0">
                <a:solidFill>
                  <a:srgbClr val="FF0000"/>
                </a:solidFill>
                <a:latin typeface="+mn-ea"/>
                <a:ea typeface="+mn-ea"/>
              </a:rPr>
              <a:t>分子之间的碰撞如此频繁！</a:t>
            </a:r>
          </a:p>
        </p:txBody>
      </p:sp>
      <p:sp>
        <p:nvSpPr>
          <p:cNvPr id="9" name="Text Box 62"/>
          <p:cNvSpPr txBox="1">
            <a:spLocks noChangeArrowheads="1"/>
          </p:cNvSpPr>
          <p:nvPr/>
        </p:nvSpPr>
        <p:spPr bwMode="auto">
          <a:xfrm>
            <a:off x="2644775" y="4129088"/>
            <a:ext cx="1665288" cy="396875"/>
          </a:xfrm>
          <a:prstGeom prst="rect">
            <a:avLst/>
          </a:prstGeom>
          <a:noFill/>
          <a:ln w="9525" algn="ctr">
            <a:noFill/>
            <a:miter lim="800000"/>
            <a:headEnd/>
            <a:tailEnd/>
          </a:ln>
        </p:spPr>
        <p:txBody>
          <a:bodyPr>
            <a:spAutoFit/>
          </a:bodyPr>
          <a:lstStyle/>
          <a:p>
            <a:r>
              <a:rPr kumimoji="1" lang="en-US" altLang="zh-CN" sz="2000" b="1">
                <a:latin typeface="Times New Roman" pitchFamily="18" charset="0"/>
              </a:rPr>
              <a:t>(80</a:t>
            </a:r>
            <a:r>
              <a:rPr kumimoji="1" lang="zh-CN" altLang="en-US" sz="2000" b="1">
                <a:latin typeface="Times New Roman" pitchFamily="18" charset="0"/>
              </a:rPr>
              <a:t>亿次</a:t>
            </a:r>
            <a:r>
              <a:rPr kumimoji="1" lang="en-US" altLang="zh-CN" sz="2000" b="1">
                <a:latin typeface="Times New Roman" pitchFamily="18" charset="0"/>
              </a:rPr>
              <a:t>/</a:t>
            </a:r>
            <a:r>
              <a:rPr kumimoji="1" lang="zh-CN" altLang="en-US" sz="2000" b="1">
                <a:latin typeface="Times New Roman" pitchFamily="18" charset="0"/>
              </a:rPr>
              <a:t>秒）</a:t>
            </a:r>
          </a:p>
        </p:txBody>
      </p:sp>
      <p:sp>
        <p:nvSpPr>
          <p:cNvPr id="11" name="Text Box 7"/>
          <p:cNvSpPr txBox="1">
            <a:spLocks noChangeArrowheads="1"/>
          </p:cNvSpPr>
          <p:nvPr/>
        </p:nvSpPr>
        <p:spPr bwMode="auto">
          <a:xfrm>
            <a:off x="1130300" y="757238"/>
            <a:ext cx="3429000" cy="457200"/>
          </a:xfrm>
          <a:prstGeom prst="rect">
            <a:avLst/>
          </a:prstGeom>
          <a:noFill/>
          <a:ln w="9525">
            <a:noFill/>
            <a:miter lim="800000"/>
            <a:headEnd/>
            <a:tailEnd/>
          </a:ln>
        </p:spPr>
        <p:txBody>
          <a:bodyPr>
            <a:spAutoFit/>
          </a:bodyPr>
          <a:lstStyle/>
          <a:p>
            <a:r>
              <a:rPr kumimoji="1" lang="zh-CN" altLang="en-US" sz="2400" b="1">
                <a:solidFill>
                  <a:srgbClr val="0000FF"/>
                </a:solidFill>
                <a:latin typeface="Times New Roman" pitchFamily="18" charset="0"/>
              </a:rPr>
              <a:t>分子的平均碰撞频率</a:t>
            </a:r>
            <a:r>
              <a:rPr kumimoji="1" lang="en-US" altLang="zh-CN" sz="2400" b="1">
                <a:solidFill>
                  <a:srgbClr val="0000FF"/>
                </a:solidFill>
                <a:latin typeface="Times New Roman" pitchFamily="18" charset="0"/>
              </a:rPr>
              <a:t>:</a:t>
            </a:r>
            <a:endParaRPr kumimoji="1" lang="zh-CN" altLang="en-US" sz="2400" b="1">
              <a:solidFill>
                <a:srgbClr val="0000FF"/>
              </a:solidFill>
              <a:latin typeface="Times New Roman" pitchFamily="18" charset="0"/>
            </a:endParaRPr>
          </a:p>
        </p:txBody>
      </p:sp>
      <p:grpSp>
        <p:nvGrpSpPr>
          <p:cNvPr id="10" name="组合 12"/>
          <p:cNvGrpSpPr>
            <a:grpSpLocks/>
          </p:cNvGrpSpPr>
          <p:nvPr/>
        </p:nvGrpSpPr>
        <p:grpSpPr bwMode="auto">
          <a:xfrm>
            <a:off x="642938" y="1346200"/>
            <a:ext cx="7623175" cy="868363"/>
            <a:chOff x="642910" y="1214438"/>
            <a:chExt cx="7623203" cy="868362"/>
          </a:xfrm>
        </p:grpSpPr>
        <p:sp>
          <p:nvSpPr>
            <p:cNvPr id="12" name="Text Box 56"/>
            <p:cNvSpPr txBox="1">
              <a:spLocks noChangeArrowheads="1"/>
            </p:cNvSpPr>
            <p:nvPr/>
          </p:nvSpPr>
          <p:spPr bwMode="auto">
            <a:xfrm>
              <a:off x="642910" y="1500188"/>
              <a:ext cx="6858025" cy="400050"/>
            </a:xfrm>
            <a:prstGeom prst="rect">
              <a:avLst/>
            </a:prstGeom>
            <a:noFill/>
            <a:ln w="9525" algn="ctr">
              <a:noFill/>
              <a:miter lim="800000"/>
              <a:headEnd/>
              <a:tailEnd/>
            </a:ln>
          </p:spPr>
          <p:txBody>
            <a:bodyPr>
              <a:spAutoFit/>
            </a:bodyPr>
            <a:lstStyle/>
            <a:p>
              <a:pPr>
                <a:buClr>
                  <a:srgbClr val="CC0000"/>
                </a:buClr>
                <a:defRPr/>
              </a:pPr>
              <a:r>
                <a:rPr lang="en-US" altLang="zh-CN" sz="2000" b="1" dirty="0">
                  <a:solidFill>
                    <a:srgbClr val="FF0000"/>
                  </a:solidFill>
                  <a:latin typeface="Times New Roman" pitchFamily="18" charset="0"/>
                  <a:ea typeface="+mn-ea"/>
                  <a:cs typeface="Times New Roman" pitchFamily="18" charset="0"/>
                </a:rPr>
                <a:t>(</a:t>
              </a:r>
              <a:r>
                <a:rPr lang="zh-CN" altLang="en-US" sz="2000" b="1" dirty="0">
                  <a:solidFill>
                    <a:srgbClr val="FF0000"/>
                  </a:solidFill>
                  <a:latin typeface="Times New Roman" pitchFamily="18" charset="0"/>
                  <a:ea typeface="+mn-ea"/>
                  <a:cs typeface="Times New Roman" pitchFamily="18" charset="0"/>
                </a:rPr>
                <a:t>式中：</a:t>
              </a:r>
              <a:r>
                <a:rPr lang="en-US" altLang="zh-CN" sz="2000" b="1" i="1" dirty="0">
                  <a:solidFill>
                    <a:srgbClr val="FF0000"/>
                  </a:solidFill>
                  <a:latin typeface="Times New Roman" pitchFamily="18" charset="0"/>
                  <a:ea typeface="+mn-ea"/>
                  <a:cs typeface="Times New Roman" pitchFamily="18" charset="0"/>
                </a:rPr>
                <a:t>n</a:t>
              </a:r>
              <a:r>
                <a:rPr lang="zh-CN" altLang="en-US" sz="2000" b="1" dirty="0">
                  <a:solidFill>
                    <a:srgbClr val="FF0000"/>
                  </a:solidFill>
                  <a:latin typeface="Times New Roman" pitchFamily="18" charset="0"/>
                  <a:ea typeface="+mn-ea"/>
                  <a:cs typeface="Times New Roman" pitchFamily="18" charset="0"/>
                </a:rPr>
                <a:t>分子数密度，</a:t>
              </a:r>
              <a:r>
                <a:rPr lang="en-US" altLang="zh-CN" sz="2000" b="1" i="1" dirty="0">
                  <a:solidFill>
                    <a:srgbClr val="FF0000"/>
                  </a:solidFill>
                  <a:latin typeface="Times New Roman" pitchFamily="18" charset="0"/>
                  <a:ea typeface="+mn-ea"/>
                  <a:cs typeface="Times New Roman" pitchFamily="18" charset="0"/>
                </a:rPr>
                <a:t>d</a:t>
              </a:r>
              <a:r>
                <a:rPr lang="zh-CN" altLang="en-US" sz="2000" b="1" dirty="0">
                  <a:solidFill>
                    <a:srgbClr val="FF0000"/>
                  </a:solidFill>
                  <a:latin typeface="Times New Roman" pitchFamily="18" charset="0"/>
                  <a:ea typeface="+mn-ea"/>
                  <a:cs typeface="Times New Roman" pitchFamily="18" charset="0"/>
                </a:rPr>
                <a:t>分子的有效直径，平均速率</a:t>
              </a:r>
            </a:p>
          </p:txBody>
        </p:sp>
        <p:graphicFrame>
          <p:nvGraphicFramePr>
            <p:cNvPr id="156680" name="Object 8"/>
            <p:cNvGraphicFramePr>
              <a:graphicFrameLocks noChangeAspect="1"/>
            </p:cNvGraphicFramePr>
            <p:nvPr/>
          </p:nvGraphicFramePr>
          <p:xfrm>
            <a:off x="6451600" y="1214438"/>
            <a:ext cx="1814513" cy="868362"/>
          </p:xfrm>
          <a:graphic>
            <a:graphicData uri="http://schemas.openxmlformats.org/presentationml/2006/ole">
              <p:oleObj spid="_x0000_s67591" name="Equation" r:id="rId8" imgW="927000" imgH="44424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8" grpId="0"/>
      <p:bldP spid="9" grpId="0"/>
      <p:bldP spid="1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179388" y="476250"/>
            <a:ext cx="4176712" cy="457200"/>
          </a:xfrm>
          <a:prstGeom prst="rect">
            <a:avLst/>
          </a:prstGeom>
          <a:noFill/>
          <a:ln w="9525">
            <a:noFill/>
            <a:miter lim="800000"/>
            <a:headEnd/>
            <a:tailEnd/>
          </a:ln>
        </p:spPr>
        <p:txBody>
          <a:bodyPr>
            <a:spAutoFit/>
          </a:bodyPr>
          <a:lstStyle/>
          <a:p>
            <a:pPr>
              <a:defRPr/>
            </a:pPr>
            <a:r>
              <a:rPr kumimoji="1" lang="en-US" altLang="zh-CN" sz="2400" b="1">
                <a:solidFill>
                  <a:srgbClr val="0000FF"/>
                </a:solidFill>
                <a:latin typeface="Times New Roman" pitchFamily="18" charset="0"/>
                <a:ea typeface="+mn-ea"/>
                <a:cs typeface="Times New Roman" pitchFamily="18" charset="0"/>
              </a:rPr>
              <a:t>8.7.2   </a:t>
            </a:r>
            <a:r>
              <a:rPr kumimoji="1" lang="zh-CN" altLang="en-US" sz="2400" b="1">
                <a:solidFill>
                  <a:srgbClr val="0000FF"/>
                </a:solidFill>
                <a:latin typeface="Times New Roman" pitchFamily="18" charset="0"/>
                <a:ea typeface="+mn-ea"/>
                <a:cs typeface="Times New Roman" pitchFamily="18" charset="0"/>
              </a:rPr>
              <a:t>分子的平均自由程</a:t>
            </a:r>
          </a:p>
        </p:txBody>
      </p:sp>
      <p:sp>
        <p:nvSpPr>
          <p:cNvPr id="91141" name="Text Box 5"/>
          <p:cNvSpPr txBox="1">
            <a:spLocks noChangeArrowheads="1"/>
          </p:cNvSpPr>
          <p:nvPr/>
        </p:nvSpPr>
        <p:spPr bwMode="auto">
          <a:xfrm>
            <a:off x="323850" y="1052513"/>
            <a:ext cx="1511300" cy="457200"/>
          </a:xfrm>
          <a:prstGeom prst="rect">
            <a:avLst/>
          </a:prstGeom>
          <a:noFill/>
          <a:ln w="9525">
            <a:noFill/>
            <a:miter lim="800000"/>
            <a:headEnd/>
            <a:tailEnd/>
          </a:ln>
        </p:spPr>
        <p:txBody>
          <a:bodyPr>
            <a:spAutoFit/>
          </a:bodyPr>
          <a:lstStyle/>
          <a:p>
            <a:pPr>
              <a:buClr>
                <a:srgbClr val="FF0000"/>
              </a:buClr>
              <a:buFont typeface="Wingdings" pitchFamily="2" charset="2"/>
              <a:buNone/>
              <a:defRPr/>
            </a:pPr>
            <a:r>
              <a:rPr kumimoji="1" lang="zh-CN" altLang="en-US" sz="2400" b="1">
                <a:solidFill>
                  <a:srgbClr val="FF0000"/>
                </a:solidFill>
                <a:latin typeface="Times New Roman" pitchFamily="18" charset="0"/>
                <a:ea typeface="+mn-ea"/>
                <a:cs typeface="Times New Roman" pitchFamily="18" charset="0"/>
              </a:rPr>
              <a:t>定义</a:t>
            </a:r>
            <a:r>
              <a:rPr lang="en-US" altLang="zh-CN" sz="2400" b="1">
                <a:solidFill>
                  <a:srgbClr val="FF0000"/>
                </a:solidFill>
                <a:latin typeface="Times New Roman" pitchFamily="18" charset="0"/>
                <a:ea typeface="+mn-ea"/>
                <a:cs typeface="Times New Roman" pitchFamily="18" charset="0"/>
              </a:rPr>
              <a:t>:</a:t>
            </a:r>
          </a:p>
        </p:txBody>
      </p:sp>
      <p:sp>
        <p:nvSpPr>
          <p:cNvPr id="91142" name="Text Box 6"/>
          <p:cNvSpPr txBox="1">
            <a:spLocks noChangeArrowheads="1"/>
          </p:cNvSpPr>
          <p:nvPr/>
        </p:nvSpPr>
        <p:spPr bwMode="auto">
          <a:xfrm>
            <a:off x="1303338" y="1047750"/>
            <a:ext cx="6696075" cy="1016000"/>
          </a:xfrm>
          <a:prstGeom prst="rect">
            <a:avLst/>
          </a:prstGeom>
          <a:noFill/>
          <a:ln w="9525">
            <a:noFill/>
            <a:miter lim="800000"/>
            <a:headEnd/>
            <a:tailEnd/>
          </a:ln>
        </p:spPr>
        <p:txBody>
          <a:bodyPr>
            <a:spAutoFit/>
          </a:bodyPr>
          <a:lstStyle/>
          <a:p>
            <a:pPr>
              <a:lnSpc>
                <a:spcPct val="125000"/>
              </a:lnSpc>
              <a:defRPr/>
            </a:pPr>
            <a:r>
              <a:rPr kumimoji="1" lang="zh-CN" altLang="en-US" sz="2400" b="1" dirty="0">
                <a:latin typeface="Times New Roman" pitchFamily="18" charset="0"/>
                <a:ea typeface="+mn-ea"/>
                <a:cs typeface="Times New Roman" pitchFamily="18" charset="0"/>
              </a:rPr>
              <a:t>分子在连续两次碰撞之间自由运动的平均路程，称为分子的</a:t>
            </a:r>
            <a:r>
              <a:rPr kumimoji="1" lang="zh-CN" altLang="en-US" sz="2400" b="1" dirty="0">
                <a:solidFill>
                  <a:srgbClr val="FF6600"/>
                </a:solidFill>
                <a:latin typeface="Times New Roman" pitchFamily="18" charset="0"/>
                <a:ea typeface="+mn-ea"/>
                <a:cs typeface="Times New Roman" pitchFamily="18" charset="0"/>
              </a:rPr>
              <a:t>平均自由程</a:t>
            </a:r>
            <a:r>
              <a:rPr kumimoji="1" lang="zh-CN" altLang="en-US" sz="2400" b="1" dirty="0">
                <a:latin typeface="Times New Roman" pitchFamily="18" charset="0"/>
                <a:ea typeface="+mn-ea"/>
                <a:cs typeface="Times New Roman" pitchFamily="18" charset="0"/>
              </a:rPr>
              <a:t>。</a:t>
            </a:r>
          </a:p>
        </p:txBody>
      </p:sp>
      <p:pic>
        <p:nvPicPr>
          <p:cNvPr id="91156" name="Picture 20" descr="cbde01"/>
          <p:cNvPicPr>
            <a:picLocks noChangeAspect="1" noChangeArrowheads="1" noCrop="1"/>
          </p:cNvPicPr>
          <p:nvPr/>
        </p:nvPicPr>
        <p:blipFill>
          <a:blip r:embed="rId3"/>
          <a:srcRect/>
          <a:stretch>
            <a:fillRect/>
          </a:stretch>
        </p:blipFill>
        <p:spPr bwMode="auto">
          <a:xfrm>
            <a:off x="5572125" y="1643063"/>
            <a:ext cx="3025775" cy="3025775"/>
          </a:xfrm>
          <a:prstGeom prst="rect">
            <a:avLst/>
          </a:prstGeom>
          <a:noFill/>
          <a:ln w="9525">
            <a:noFill/>
            <a:miter lim="800000"/>
            <a:headEnd/>
            <a:tailEnd/>
          </a:ln>
        </p:spPr>
      </p:pic>
      <p:graphicFrame>
        <p:nvGraphicFramePr>
          <p:cNvPr id="91157" name="Object 21"/>
          <p:cNvGraphicFramePr>
            <a:graphicFrameLocks noChangeAspect="1"/>
          </p:cNvGraphicFramePr>
          <p:nvPr/>
        </p:nvGraphicFramePr>
        <p:xfrm>
          <a:off x="1643063" y="2286000"/>
          <a:ext cx="2303462" cy="882650"/>
        </p:xfrm>
        <a:graphic>
          <a:graphicData uri="http://schemas.openxmlformats.org/presentationml/2006/ole">
            <p:oleObj spid="_x0000_s68610" name="公式" r:id="rId4" imgW="1117440" imgH="431640" progId="Equation.3">
              <p:embed/>
            </p:oleObj>
          </a:graphicData>
        </a:graphic>
      </p:graphicFrame>
      <p:sp>
        <p:nvSpPr>
          <p:cNvPr id="91158" name="Text Box 22"/>
          <p:cNvSpPr txBox="1">
            <a:spLocks noChangeArrowheads="1"/>
          </p:cNvSpPr>
          <p:nvPr/>
        </p:nvSpPr>
        <p:spPr bwMode="auto">
          <a:xfrm>
            <a:off x="214313" y="3429000"/>
            <a:ext cx="5976937" cy="457200"/>
          </a:xfrm>
          <a:prstGeom prst="rect">
            <a:avLst/>
          </a:prstGeom>
          <a:noFill/>
          <a:ln w="9525">
            <a:noFill/>
            <a:miter lim="800000"/>
            <a:headEnd/>
            <a:tailEnd/>
          </a:ln>
        </p:spPr>
        <p:txBody>
          <a:bodyPr>
            <a:spAutoFit/>
          </a:bodyPr>
          <a:lstStyle/>
          <a:p>
            <a:pPr>
              <a:defRPr/>
            </a:pPr>
            <a:r>
              <a:rPr lang="zh-CN" altLang="en-US" sz="2400" b="1" dirty="0">
                <a:latin typeface="Times New Roman" pitchFamily="18" charset="0"/>
                <a:ea typeface="+mn-ea"/>
                <a:cs typeface="Times New Roman" pitchFamily="18" charset="0"/>
              </a:rPr>
              <a:t>用宏观量</a:t>
            </a:r>
            <a:r>
              <a:rPr lang="zh-CN" altLang="en-US" sz="2400" b="1" dirty="0">
                <a:solidFill>
                  <a:srgbClr val="FF6600"/>
                </a:solidFill>
                <a:latin typeface="Times New Roman" pitchFamily="18" charset="0"/>
                <a:ea typeface="+mn-ea"/>
                <a:cs typeface="Times New Roman" pitchFamily="18" charset="0"/>
              </a:rPr>
              <a:t> </a:t>
            </a:r>
            <a:r>
              <a:rPr lang="en-US" altLang="zh-CN" sz="2400" b="1" i="1" dirty="0">
                <a:solidFill>
                  <a:srgbClr val="FF6600"/>
                </a:solidFill>
                <a:latin typeface="Times New Roman" pitchFamily="18" charset="0"/>
                <a:ea typeface="+mn-ea"/>
                <a:cs typeface="Times New Roman" pitchFamily="18" charset="0"/>
              </a:rPr>
              <a:t>p</a:t>
            </a:r>
            <a:r>
              <a:rPr lang="en-US" altLang="zh-CN" sz="2400" b="1" i="1" dirty="0">
                <a:latin typeface="Times New Roman" pitchFamily="18" charset="0"/>
                <a:ea typeface="+mn-ea"/>
                <a:cs typeface="Times New Roman" pitchFamily="18" charset="0"/>
              </a:rPr>
              <a:t>  </a:t>
            </a:r>
            <a:r>
              <a:rPr lang="zh-CN" altLang="en-US" sz="2400" b="1" i="1" dirty="0">
                <a:latin typeface="Times New Roman" pitchFamily="18" charset="0"/>
                <a:ea typeface="+mn-ea"/>
                <a:cs typeface="Times New Roman" pitchFamily="18" charset="0"/>
              </a:rPr>
              <a:t>、</a:t>
            </a:r>
            <a:r>
              <a:rPr lang="en-US" altLang="zh-CN" sz="2400" b="1" i="1" dirty="0">
                <a:solidFill>
                  <a:srgbClr val="FF6600"/>
                </a:solidFill>
                <a:latin typeface="Times New Roman" pitchFamily="18" charset="0"/>
                <a:ea typeface="+mn-ea"/>
                <a:cs typeface="Times New Roman" pitchFamily="18" charset="0"/>
              </a:rPr>
              <a:t>T </a:t>
            </a:r>
            <a:r>
              <a:rPr lang="en-US" altLang="zh-CN" sz="2400" b="1" i="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表示的</a:t>
            </a:r>
            <a:r>
              <a:rPr kumimoji="1" lang="zh-CN" altLang="en-US" sz="2400" b="1" dirty="0">
                <a:latin typeface="Times New Roman" pitchFamily="18" charset="0"/>
                <a:ea typeface="+mn-ea"/>
                <a:cs typeface="Times New Roman" pitchFamily="18" charset="0"/>
              </a:rPr>
              <a:t>平均自由程为</a:t>
            </a:r>
            <a:endParaRPr lang="zh-CN" altLang="en-US" sz="2400" b="1" dirty="0">
              <a:latin typeface="Times New Roman" pitchFamily="18" charset="0"/>
              <a:ea typeface="+mn-ea"/>
              <a:cs typeface="Times New Roman" pitchFamily="18" charset="0"/>
            </a:endParaRPr>
          </a:p>
        </p:txBody>
      </p:sp>
      <p:graphicFrame>
        <p:nvGraphicFramePr>
          <p:cNvPr id="91159" name="Object 23"/>
          <p:cNvGraphicFramePr>
            <a:graphicFrameLocks noChangeAspect="1"/>
          </p:cNvGraphicFramePr>
          <p:nvPr/>
        </p:nvGraphicFramePr>
        <p:xfrm>
          <a:off x="2000250" y="4143375"/>
          <a:ext cx="1528763" cy="801688"/>
        </p:xfrm>
        <a:graphic>
          <a:graphicData uri="http://schemas.openxmlformats.org/presentationml/2006/ole">
            <p:oleObj spid="_x0000_s68611" name="公式" r:id="rId5" imgW="850680" imgH="444240" progId="Equation.3">
              <p:embed/>
            </p:oleObj>
          </a:graphicData>
        </a:graphic>
      </p:graphicFrame>
      <p:graphicFrame>
        <p:nvGraphicFramePr>
          <p:cNvPr id="91161" name="Object 25"/>
          <p:cNvGraphicFramePr>
            <a:graphicFrameLocks noChangeAspect="1"/>
          </p:cNvGraphicFramePr>
          <p:nvPr/>
        </p:nvGraphicFramePr>
        <p:xfrm>
          <a:off x="5000625" y="5072063"/>
          <a:ext cx="2065338" cy="366712"/>
        </p:xfrm>
        <a:graphic>
          <a:graphicData uri="http://schemas.openxmlformats.org/presentationml/2006/ole">
            <p:oleObj spid="_x0000_s68612" name="公式" r:id="rId6" imgW="1130040" imgH="203040" progId="Equation.3">
              <p:embed/>
            </p:oleObj>
          </a:graphicData>
        </a:graphic>
      </p:graphicFrame>
      <p:sp>
        <p:nvSpPr>
          <p:cNvPr id="91164" name="Text Box 28"/>
          <p:cNvSpPr txBox="1">
            <a:spLocks noChangeArrowheads="1"/>
          </p:cNvSpPr>
          <p:nvPr/>
        </p:nvSpPr>
        <p:spPr bwMode="auto">
          <a:xfrm>
            <a:off x="250825" y="5013325"/>
            <a:ext cx="6459538" cy="461963"/>
          </a:xfrm>
          <a:prstGeom prst="rect">
            <a:avLst/>
          </a:prstGeom>
          <a:noFill/>
          <a:ln w="9525" algn="ctr">
            <a:noFill/>
            <a:miter lim="800000"/>
            <a:headEnd/>
            <a:tailEnd/>
          </a:ln>
        </p:spPr>
        <p:txBody>
          <a:bodyPr>
            <a:spAutoFit/>
          </a:bodyPr>
          <a:lstStyle/>
          <a:p>
            <a:pPr>
              <a:buClr>
                <a:srgbClr val="CC0000"/>
              </a:buClr>
              <a:buFont typeface="Wingdings" pitchFamily="2" charset="2"/>
              <a:buChar char="Ø"/>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在</a:t>
            </a:r>
            <a:r>
              <a:rPr lang="zh-CN" altLang="en-US" sz="2400" b="1" dirty="0">
                <a:solidFill>
                  <a:srgbClr val="0000FF"/>
                </a:solidFill>
                <a:latin typeface="Times New Roman" pitchFamily="18" charset="0"/>
                <a:ea typeface="+mn-ea"/>
                <a:cs typeface="Times New Roman" pitchFamily="18" charset="0"/>
              </a:rPr>
              <a:t>标准状态下</a:t>
            </a:r>
            <a:r>
              <a:rPr lang="zh-CN" altLang="en-US" sz="2400" b="1" dirty="0">
                <a:latin typeface="Times New Roman" pitchFamily="18" charset="0"/>
                <a:ea typeface="+mn-ea"/>
                <a:cs typeface="Times New Roman" pitchFamily="18" charset="0"/>
              </a:rPr>
              <a:t>的平均自由程为 </a:t>
            </a:r>
          </a:p>
        </p:txBody>
      </p:sp>
      <p:sp>
        <p:nvSpPr>
          <p:cNvPr id="11" name="Text Box 28"/>
          <p:cNvSpPr txBox="1">
            <a:spLocks noChangeArrowheads="1"/>
          </p:cNvSpPr>
          <p:nvPr/>
        </p:nvSpPr>
        <p:spPr bwMode="auto">
          <a:xfrm>
            <a:off x="1285875" y="5643563"/>
            <a:ext cx="1571625" cy="400050"/>
          </a:xfrm>
          <a:prstGeom prst="rect">
            <a:avLst/>
          </a:prstGeom>
          <a:noFill/>
          <a:ln w="9525" algn="ctr">
            <a:noFill/>
            <a:miter lim="800000"/>
            <a:headEnd/>
            <a:tailEnd/>
          </a:ln>
        </p:spPr>
        <p:txBody>
          <a:bodyPr>
            <a:spAutoFit/>
          </a:bodyPr>
          <a:lstStyle/>
          <a:p>
            <a:pPr>
              <a:buClr>
                <a:srgbClr val="CC0000"/>
              </a:buClr>
              <a:defRPr/>
            </a:pPr>
            <a:r>
              <a:rPr lang="zh-CN" altLang="en-US" sz="2000" b="1" dirty="0">
                <a:solidFill>
                  <a:srgbClr val="FF3300"/>
                </a:solidFill>
                <a:latin typeface="Times New Roman" pitchFamily="18" charset="0"/>
                <a:ea typeface="+mn-ea"/>
                <a:cs typeface="Times New Roman" pitchFamily="18" charset="0"/>
              </a:rPr>
              <a:t>标准状态</a:t>
            </a:r>
            <a:r>
              <a:rPr lang="en-US" altLang="zh-CN" sz="2000" b="1" dirty="0">
                <a:solidFill>
                  <a:srgbClr val="FF3300"/>
                </a:solidFill>
                <a:latin typeface="Times New Roman" pitchFamily="18" charset="0"/>
                <a:ea typeface="+mn-ea"/>
                <a:cs typeface="Times New Roman" pitchFamily="18" charset="0"/>
              </a:rPr>
              <a:t>:</a:t>
            </a:r>
            <a:endParaRPr lang="zh-CN" altLang="en-US" sz="2000" b="1" dirty="0">
              <a:solidFill>
                <a:srgbClr val="FF3300"/>
              </a:solidFill>
              <a:latin typeface="Times New Roman" pitchFamily="18" charset="0"/>
              <a:ea typeface="+mn-ea"/>
              <a:cs typeface="Times New Roman" pitchFamily="18" charset="0"/>
            </a:endParaRPr>
          </a:p>
        </p:txBody>
      </p:sp>
      <p:graphicFrame>
        <p:nvGraphicFramePr>
          <p:cNvPr id="2" name="Object 11"/>
          <p:cNvGraphicFramePr>
            <a:graphicFrameLocks noChangeAspect="1"/>
          </p:cNvGraphicFramePr>
          <p:nvPr/>
        </p:nvGraphicFramePr>
        <p:xfrm>
          <a:off x="2797175" y="5605463"/>
          <a:ext cx="3459163" cy="428625"/>
        </p:xfrm>
        <a:graphic>
          <a:graphicData uri="http://schemas.openxmlformats.org/presentationml/2006/ole">
            <p:oleObj spid="_x0000_s68613" name="Equation" r:id="rId7" imgW="1854000" imgH="2286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40"/>
                                        </p:tgtEl>
                                        <p:attrNameLst>
                                          <p:attrName>style.visibility</p:attrName>
                                        </p:attrNameLst>
                                      </p:cBhvr>
                                      <p:to>
                                        <p:strVal val="visible"/>
                                      </p:to>
                                    </p:set>
                                    <p:animEffect transition="in" filter="wipe(left)">
                                      <p:cBhvr>
                                        <p:cTn id="7" dur="500"/>
                                        <p:tgtEl>
                                          <p:spTgt spid="911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1"/>
                                        </p:tgtEl>
                                        <p:attrNameLst>
                                          <p:attrName>style.visibility</p:attrName>
                                        </p:attrNameLst>
                                      </p:cBhvr>
                                      <p:to>
                                        <p:strVal val="visible"/>
                                      </p:to>
                                    </p:set>
                                    <p:animEffect transition="in" filter="wipe(left)">
                                      <p:cBhvr>
                                        <p:cTn id="12" dur="500"/>
                                        <p:tgtEl>
                                          <p:spTgt spid="911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42"/>
                                        </p:tgtEl>
                                        <p:attrNameLst>
                                          <p:attrName>style.visibility</p:attrName>
                                        </p:attrNameLst>
                                      </p:cBhvr>
                                      <p:to>
                                        <p:strVal val="visible"/>
                                      </p:to>
                                    </p:set>
                                    <p:animEffect transition="in" filter="wipe(left)">
                                      <p:cBhvr>
                                        <p:cTn id="17" dur="500"/>
                                        <p:tgtEl>
                                          <p:spTgt spid="9114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1156"/>
                                        </p:tgtEl>
                                        <p:attrNameLst>
                                          <p:attrName>style.visibility</p:attrName>
                                        </p:attrNameLst>
                                      </p:cBhvr>
                                      <p:to>
                                        <p:strVal val="visible"/>
                                      </p:to>
                                    </p:set>
                                    <p:animEffect transition="in" filter="blinds(horizontal)">
                                      <p:cBhvr>
                                        <p:cTn id="22" dur="500"/>
                                        <p:tgtEl>
                                          <p:spTgt spid="911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1157"/>
                                        </p:tgtEl>
                                        <p:attrNameLst>
                                          <p:attrName>style.visibility</p:attrName>
                                        </p:attrNameLst>
                                      </p:cBhvr>
                                      <p:to>
                                        <p:strVal val="visible"/>
                                      </p:to>
                                    </p:set>
                                    <p:animEffect transition="in" filter="wipe(left)">
                                      <p:cBhvr>
                                        <p:cTn id="27" dur="500"/>
                                        <p:tgtEl>
                                          <p:spTgt spid="911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1158"/>
                                        </p:tgtEl>
                                        <p:attrNameLst>
                                          <p:attrName>style.visibility</p:attrName>
                                        </p:attrNameLst>
                                      </p:cBhvr>
                                      <p:to>
                                        <p:strVal val="visible"/>
                                      </p:to>
                                    </p:set>
                                    <p:animEffect transition="in" filter="wipe(left)">
                                      <p:cBhvr>
                                        <p:cTn id="32" dur="500"/>
                                        <p:tgtEl>
                                          <p:spTgt spid="911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1159"/>
                                        </p:tgtEl>
                                        <p:attrNameLst>
                                          <p:attrName>style.visibility</p:attrName>
                                        </p:attrNameLst>
                                      </p:cBhvr>
                                      <p:to>
                                        <p:strVal val="visible"/>
                                      </p:to>
                                    </p:set>
                                    <p:animEffect transition="in" filter="wipe(left)">
                                      <p:cBhvr>
                                        <p:cTn id="37" dur="1000"/>
                                        <p:tgtEl>
                                          <p:spTgt spid="911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1164"/>
                                        </p:tgtEl>
                                        <p:attrNameLst>
                                          <p:attrName>style.visibility</p:attrName>
                                        </p:attrNameLst>
                                      </p:cBhvr>
                                      <p:to>
                                        <p:strVal val="visible"/>
                                      </p:to>
                                    </p:set>
                                    <p:animEffect transition="in" filter="wipe(left)">
                                      <p:cBhvr>
                                        <p:cTn id="42" dur="500"/>
                                        <p:tgtEl>
                                          <p:spTgt spid="9116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1161"/>
                                        </p:tgtEl>
                                        <p:attrNameLst>
                                          <p:attrName>style.visibility</p:attrName>
                                        </p:attrNameLst>
                                      </p:cBhvr>
                                      <p:to>
                                        <p:strVal val="visible"/>
                                      </p:to>
                                    </p:set>
                                    <p:animEffect transition="in" filter="wipe(left)">
                                      <p:cBhvr>
                                        <p:cTn id="47" dur="500"/>
                                        <p:tgtEl>
                                          <p:spTgt spid="9116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1" grpId="0" autoUpdateAnimBg="0"/>
      <p:bldP spid="91142" grpId="0" autoUpdateAnimBg="0"/>
      <p:bldP spid="91158" grpId="0"/>
      <p:bldP spid="91164" grpId="0" autoUpdateAnimBg="0"/>
      <p:bldP spid="11"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4"/>
          <p:cNvGrpSpPr>
            <a:grpSpLocks/>
          </p:cNvGrpSpPr>
          <p:nvPr/>
        </p:nvGrpSpPr>
        <p:grpSpPr bwMode="auto">
          <a:xfrm>
            <a:off x="366713" y="1196975"/>
            <a:ext cx="7991475" cy="936625"/>
            <a:chOff x="295" y="2373"/>
            <a:chExt cx="5034" cy="590"/>
          </a:xfrm>
        </p:grpSpPr>
        <p:sp>
          <p:nvSpPr>
            <p:cNvPr id="71692" name="Text Box 16"/>
            <p:cNvSpPr txBox="1">
              <a:spLocks noChangeArrowheads="1"/>
            </p:cNvSpPr>
            <p:nvPr/>
          </p:nvSpPr>
          <p:spPr bwMode="auto">
            <a:xfrm>
              <a:off x="295" y="2373"/>
              <a:ext cx="5034" cy="590"/>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分子的平均自由程      在气体体积不变的情况下，随温   </a:t>
              </a:r>
            </a:p>
            <a:p>
              <a:pPr>
                <a:lnSpc>
                  <a:spcPct val="120000"/>
                </a:lnSpc>
                <a:defRPr/>
              </a:pPr>
              <a:r>
                <a:rPr kumimoji="1" lang="zh-CN" altLang="en-US" sz="2400" b="1" dirty="0">
                  <a:latin typeface="Times New Roman" pitchFamily="18" charset="0"/>
                  <a:ea typeface="+mn-ea"/>
                  <a:cs typeface="Times New Roman" pitchFamily="18" charset="0"/>
                </a:rPr>
                <a:t>      度怎样变化？</a:t>
              </a:r>
            </a:p>
          </p:txBody>
        </p:sp>
        <p:graphicFrame>
          <p:nvGraphicFramePr>
            <p:cNvPr id="69638" name="Object 17"/>
            <p:cNvGraphicFramePr>
              <a:graphicFrameLocks noChangeAspect="1"/>
            </p:cNvGraphicFramePr>
            <p:nvPr/>
          </p:nvGraphicFramePr>
          <p:xfrm>
            <a:off x="2295" y="2411"/>
            <a:ext cx="177" cy="257"/>
          </p:xfrm>
          <a:graphic>
            <a:graphicData uri="http://schemas.openxmlformats.org/presentationml/2006/ole">
              <p:oleObj spid="_x0000_s69638" name="公式" r:id="rId3" imgW="139680" imgH="203040" progId="Equation.3">
                <p:embed/>
              </p:oleObj>
            </a:graphicData>
          </a:graphic>
        </p:graphicFrame>
      </p:grpSp>
      <p:sp>
        <p:nvSpPr>
          <p:cNvPr id="320531" name="Text Box 19"/>
          <p:cNvSpPr txBox="1">
            <a:spLocks noChangeArrowheads="1"/>
          </p:cNvSpPr>
          <p:nvPr/>
        </p:nvSpPr>
        <p:spPr bwMode="auto">
          <a:xfrm>
            <a:off x="611188" y="549275"/>
            <a:ext cx="2016125" cy="479425"/>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defRPr/>
            </a:pPr>
            <a:r>
              <a:rPr kumimoji="1" lang="zh-CN" altLang="en-US" sz="2400" b="1">
                <a:solidFill>
                  <a:srgbClr val="FF0000"/>
                </a:solidFill>
                <a:latin typeface="Times New Roman" pitchFamily="18" charset="0"/>
                <a:ea typeface="+mn-ea"/>
                <a:cs typeface="Times New Roman" pitchFamily="18" charset="0"/>
              </a:rPr>
              <a:t>讨论</a:t>
            </a:r>
          </a:p>
        </p:txBody>
      </p:sp>
      <p:sp>
        <p:nvSpPr>
          <p:cNvPr id="320532" name="AutoShape 20"/>
          <p:cNvSpPr>
            <a:spLocks noChangeArrowheads="1"/>
          </p:cNvSpPr>
          <p:nvPr/>
        </p:nvSpPr>
        <p:spPr bwMode="auto">
          <a:xfrm>
            <a:off x="206375" y="53181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sz="2400">
              <a:latin typeface="Times New Roman" pitchFamily="18" charset="0"/>
              <a:ea typeface="+mn-ea"/>
              <a:cs typeface="Times New Roman" pitchFamily="18" charset="0"/>
            </a:endParaRPr>
          </a:p>
        </p:txBody>
      </p:sp>
      <p:graphicFrame>
        <p:nvGraphicFramePr>
          <p:cNvPr id="320534" name="Object 22"/>
          <p:cNvGraphicFramePr>
            <a:graphicFrameLocks noChangeAspect="1"/>
          </p:cNvGraphicFramePr>
          <p:nvPr/>
        </p:nvGraphicFramePr>
        <p:xfrm>
          <a:off x="2571750" y="2000250"/>
          <a:ext cx="1573213" cy="800100"/>
        </p:xfrm>
        <a:graphic>
          <a:graphicData uri="http://schemas.openxmlformats.org/presentationml/2006/ole">
            <p:oleObj spid="_x0000_s69634" name="公式" r:id="rId4" imgW="863280" imgH="444240" progId="Equation.3">
              <p:embed/>
            </p:oleObj>
          </a:graphicData>
        </a:graphic>
      </p:graphicFrame>
      <p:graphicFrame>
        <p:nvGraphicFramePr>
          <p:cNvPr id="320535" name="Object 23"/>
          <p:cNvGraphicFramePr>
            <a:graphicFrameLocks noChangeAspect="1"/>
          </p:cNvGraphicFramePr>
          <p:nvPr/>
        </p:nvGraphicFramePr>
        <p:xfrm>
          <a:off x="4143375" y="1962150"/>
          <a:ext cx="1274763" cy="777875"/>
        </p:xfrm>
        <a:graphic>
          <a:graphicData uri="http://schemas.openxmlformats.org/presentationml/2006/ole">
            <p:oleObj spid="_x0000_s69635" name="公式" r:id="rId5" imgW="698400" imgH="431640" progId="Equation.3">
              <p:embed/>
            </p:oleObj>
          </a:graphicData>
        </a:graphic>
      </p:graphicFrame>
      <p:sp>
        <p:nvSpPr>
          <p:cNvPr id="320537" name="Rectangle 25"/>
          <p:cNvSpPr>
            <a:spLocks noChangeArrowheads="1"/>
          </p:cNvSpPr>
          <p:nvPr/>
        </p:nvSpPr>
        <p:spPr bwMode="auto">
          <a:xfrm>
            <a:off x="323850" y="3201988"/>
            <a:ext cx="8208963" cy="1481137"/>
          </a:xfrm>
          <a:prstGeom prst="rect">
            <a:avLst/>
          </a:prstGeom>
          <a:noFill/>
          <a:ln w="9525">
            <a:noFill/>
            <a:miter lim="800000"/>
            <a:headEnd/>
            <a:tailEnd/>
          </a:ln>
        </p:spPr>
        <p:txBody>
          <a:bodyPr anchor="ctr">
            <a:spAutoFit/>
          </a:bodyPr>
          <a:lstStyle/>
          <a:p>
            <a:pPr marL="342900" indent="-342900">
              <a:lnSpc>
                <a:spcPct val="130000"/>
              </a:lnSpc>
              <a:buFontTx/>
              <a:buAutoNum type="arabicParenBoth" startAt="2"/>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与    都是描述单个分子运动特征的，是微观量；但它 </a:t>
            </a:r>
          </a:p>
          <a:p>
            <a:pPr marL="342900" indent="-342900">
              <a:lnSpc>
                <a:spcPct val="130000"/>
              </a:lnSpc>
              <a:defRPr/>
            </a:pPr>
            <a:r>
              <a:rPr lang="zh-CN" altLang="en-US" sz="2400" b="1" dirty="0">
                <a:latin typeface="Times New Roman" pitchFamily="18" charset="0"/>
                <a:ea typeface="+mn-ea"/>
                <a:cs typeface="Times New Roman" pitchFamily="18" charset="0"/>
              </a:rPr>
              <a:t>       们是对大量分子运动特征统计的结果。所以，在某一瞬   </a:t>
            </a:r>
          </a:p>
          <a:p>
            <a:pPr marL="342900" indent="-342900">
              <a:lnSpc>
                <a:spcPct val="130000"/>
              </a:lnSpc>
              <a:defRPr/>
            </a:pPr>
            <a:r>
              <a:rPr lang="zh-CN" altLang="en-US" sz="2400" b="1" dirty="0">
                <a:latin typeface="Times New Roman" pitchFamily="18" charset="0"/>
                <a:ea typeface="+mn-ea"/>
                <a:cs typeface="Times New Roman" pitchFamily="18" charset="0"/>
              </a:rPr>
              <a:t>       间可能没有一个分子满足这一关系。</a:t>
            </a:r>
          </a:p>
        </p:txBody>
      </p:sp>
      <p:graphicFrame>
        <p:nvGraphicFramePr>
          <p:cNvPr id="320538" name="Object 26"/>
          <p:cNvGraphicFramePr>
            <a:graphicFrameLocks noChangeAspect="1"/>
          </p:cNvGraphicFramePr>
          <p:nvPr/>
        </p:nvGraphicFramePr>
        <p:xfrm>
          <a:off x="950913" y="3292475"/>
          <a:ext cx="236537" cy="388938"/>
        </p:xfrm>
        <a:graphic>
          <a:graphicData uri="http://schemas.openxmlformats.org/presentationml/2006/ole">
            <p:oleObj spid="_x0000_s69636" name="公式" r:id="rId6" imgW="139680" imgH="215640" progId="Equation.3">
              <p:embed/>
            </p:oleObj>
          </a:graphicData>
        </a:graphic>
      </p:graphicFrame>
      <p:graphicFrame>
        <p:nvGraphicFramePr>
          <p:cNvPr id="320539" name="Object 27"/>
          <p:cNvGraphicFramePr>
            <a:graphicFrameLocks/>
          </p:cNvGraphicFramePr>
          <p:nvPr/>
        </p:nvGraphicFramePr>
        <p:xfrm>
          <a:off x="1530350" y="3287713"/>
          <a:ext cx="255588" cy="365125"/>
        </p:xfrm>
        <a:graphic>
          <a:graphicData uri="http://schemas.openxmlformats.org/presentationml/2006/ole">
            <p:oleObj spid="_x0000_s69637" name="Equation" r:id="rId7" imgW="152280" imgH="203040" progId="">
              <p:embed/>
            </p:oleObj>
          </a:graphicData>
        </a:graphic>
      </p:graphicFrame>
      <p:sp>
        <p:nvSpPr>
          <p:cNvPr id="320540" name="Text Box 28"/>
          <p:cNvSpPr txBox="1">
            <a:spLocks noChangeArrowheads="1"/>
          </p:cNvSpPr>
          <p:nvPr/>
        </p:nvSpPr>
        <p:spPr bwMode="auto">
          <a:xfrm>
            <a:off x="357188" y="4941888"/>
            <a:ext cx="8382000" cy="479425"/>
          </a:xfrm>
          <a:prstGeom prst="rect">
            <a:avLst/>
          </a:prstGeom>
          <a:noFill/>
          <a:ln w="9525">
            <a:noFill/>
            <a:miter lim="800000"/>
            <a:headEnd/>
            <a:tailEnd/>
          </a:ln>
        </p:spPr>
        <p:txBody>
          <a:bodyPr>
            <a:spAutoFit/>
          </a:bodyPr>
          <a:lstStyle/>
          <a:p>
            <a:pPr>
              <a:lnSpc>
                <a:spcPct val="115000"/>
              </a:lnSpc>
              <a:defRPr/>
            </a:pPr>
            <a:r>
              <a:rPr lang="en-US" altLang="zh-CN" sz="2400" b="1" dirty="0">
                <a:latin typeface="Times New Roman" pitchFamily="18" charset="0"/>
                <a:ea typeface="+mn-ea"/>
                <a:cs typeface="Times New Roman" pitchFamily="18" charset="0"/>
              </a:rPr>
              <a:t>(3)</a:t>
            </a:r>
            <a:r>
              <a:rPr lang="en-US" altLang="zh-CN" sz="2400" b="1" i="1" dirty="0">
                <a:solidFill>
                  <a:srgbClr val="FF0000"/>
                </a:solidFill>
                <a:latin typeface="Times New Roman" pitchFamily="18" charset="0"/>
                <a:ea typeface="+mn-ea"/>
                <a:cs typeface="Times New Roman" pitchFamily="18" charset="0"/>
              </a:rPr>
              <a:t>   d</a:t>
            </a: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是分子的直径，严格来讲应为分子的有效直径。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320532"/>
                                        </p:tgtEl>
                                        <p:attrNameLst>
                                          <p:attrName>style.visibility</p:attrName>
                                        </p:attrNameLst>
                                      </p:cBhvr>
                                      <p:to>
                                        <p:strVal val="visible"/>
                                      </p:to>
                                    </p:set>
                                    <p:anim calcmode="lin" valueType="num">
                                      <p:cBhvr>
                                        <p:cTn id="7" dur="1000" fill="hold"/>
                                        <p:tgtEl>
                                          <p:spTgt spid="320532"/>
                                        </p:tgtEl>
                                        <p:attrNameLst>
                                          <p:attrName>ppt_w</p:attrName>
                                        </p:attrNameLst>
                                      </p:cBhvr>
                                      <p:tavLst>
                                        <p:tav tm="0">
                                          <p:val>
                                            <p:strVal val="#ppt_w+.3"/>
                                          </p:val>
                                        </p:tav>
                                        <p:tav tm="100000">
                                          <p:val>
                                            <p:strVal val="#ppt_w"/>
                                          </p:val>
                                        </p:tav>
                                      </p:tavLst>
                                    </p:anim>
                                    <p:anim calcmode="lin" valueType="num">
                                      <p:cBhvr>
                                        <p:cTn id="8" dur="1000" fill="hold"/>
                                        <p:tgtEl>
                                          <p:spTgt spid="320532"/>
                                        </p:tgtEl>
                                        <p:attrNameLst>
                                          <p:attrName>ppt_h</p:attrName>
                                        </p:attrNameLst>
                                      </p:cBhvr>
                                      <p:tavLst>
                                        <p:tav tm="0">
                                          <p:val>
                                            <p:strVal val="#ppt_h"/>
                                          </p:val>
                                        </p:tav>
                                        <p:tav tm="100000">
                                          <p:val>
                                            <p:strVal val="#ppt_h"/>
                                          </p:val>
                                        </p:tav>
                                      </p:tavLst>
                                    </p:anim>
                                    <p:animEffect transition="in" filter="fade">
                                      <p:cBhvr>
                                        <p:cTn id="9" dur="1000"/>
                                        <p:tgtEl>
                                          <p:spTgt spid="320532"/>
                                        </p:tgtEl>
                                      </p:cBhvr>
                                    </p:animEffect>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320531"/>
                                        </p:tgtEl>
                                        <p:attrNameLst>
                                          <p:attrName>style.visibility</p:attrName>
                                        </p:attrNameLst>
                                      </p:cBhvr>
                                      <p:to>
                                        <p:strVal val="visible"/>
                                      </p:to>
                                    </p:set>
                                    <p:animEffect transition="in" filter="wipe(left)">
                                      <p:cBhvr>
                                        <p:cTn id="13" dur="500"/>
                                        <p:tgtEl>
                                          <p:spTgt spid="32053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20534"/>
                                        </p:tgtEl>
                                        <p:attrNameLst>
                                          <p:attrName>style.visibility</p:attrName>
                                        </p:attrNameLst>
                                      </p:cBhvr>
                                      <p:to>
                                        <p:strVal val="visible"/>
                                      </p:to>
                                    </p:set>
                                    <p:animEffect transition="in" filter="wipe(left)">
                                      <p:cBhvr>
                                        <p:cTn id="23" dur="500"/>
                                        <p:tgtEl>
                                          <p:spTgt spid="32053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20535"/>
                                        </p:tgtEl>
                                        <p:attrNameLst>
                                          <p:attrName>style.visibility</p:attrName>
                                        </p:attrNameLst>
                                      </p:cBhvr>
                                      <p:to>
                                        <p:strVal val="visible"/>
                                      </p:to>
                                    </p:set>
                                    <p:animEffect transition="in" filter="wipe(left)">
                                      <p:cBhvr>
                                        <p:cTn id="28" dur="500"/>
                                        <p:tgtEl>
                                          <p:spTgt spid="3205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0537"/>
                                        </p:tgtEl>
                                        <p:attrNameLst>
                                          <p:attrName>style.visibility</p:attrName>
                                        </p:attrNameLst>
                                      </p:cBhvr>
                                      <p:to>
                                        <p:strVal val="visible"/>
                                      </p:to>
                                    </p:set>
                                    <p:animEffect transition="in" filter="wipe(left)">
                                      <p:cBhvr>
                                        <p:cTn id="33" dur="500"/>
                                        <p:tgtEl>
                                          <p:spTgt spid="320537"/>
                                        </p:tgtEl>
                                      </p:cBhvr>
                                    </p:animEffect>
                                  </p:childTnLst>
                                </p:cTn>
                              </p:par>
                              <p:par>
                                <p:cTn id="34" presetID="22" presetClass="entr" presetSubtype="8" fill="hold" nodeType="withEffect">
                                  <p:stCondLst>
                                    <p:cond delay="0"/>
                                  </p:stCondLst>
                                  <p:childTnLst>
                                    <p:set>
                                      <p:cBhvr>
                                        <p:cTn id="35" dur="1" fill="hold">
                                          <p:stCondLst>
                                            <p:cond delay="0"/>
                                          </p:stCondLst>
                                        </p:cTn>
                                        <p:tgtEl>
                                          <p:spTgt spid="320538"/>
                                        </p:tgtEl>
                                        <p:attrNameLst>
                                          <p:attrName>style.visibility</p:attrName>
                                        </p:attrNameLst>
                                      </p:cBhvr>
                                      <p:to>
                                        <p:strVal val="visible"/>
                                      </p:to>
                                    </p:set>
                                    <p:animEffect transition="in" filter="wipe(left)">
                                      <p:cBhvr>
                                        <p:cTn id="36" dur="500"/>
                                        <p:tgtEl>
                                          <p:spTgt spid="320538"/>
                                        </p:tgtEl>
                                      </p:cBhvr>
                                    </p:animEffect>
                                  </p:childTnLst>
                                </p:cTn>
                              </p:par>
                              <p:par>
                                <p:cTn id="37" presetID="22" presetClass="entr" presetSubtype="8" fill="hold" nodeType="withEffect">
                                  <p:stCondLst>
                                    <p:cond delay="0"/>
                                  </p:stCondLst>
                                  <p:childTnLst>
                                    <p:set>
                                      <p:cBhvr>
                                        <p:cTn id="38" dur="1" fill="hold">
                                          <p:stCondLst>
                                            <p:cond delay="0"/>
                                          </p:stCondLst>
                                        </p:cTn>
                                        <p:tgtEl>
                                          <p:spTgt spid="320539"/>
                                        </p:tgtEl>
                                        <p:attrNameLst>
                                          <p:attrName>style.visibility</p:attrName>
                                        </p:attrNameLst>
                                      </p:cBhvr>
                                      <p:to>
                                        <p:strVal val="visible"/>
                                      </p:to>
                                    </p:set>
                                    <p:animEffect transition="in" filter="wipe(left)">
                                      <p:cBhvr>
                                        <p:cTn id="39" dur="500"/>
                                        <p:tgtEl>
                                          <p:spTgt spid="32053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20540"/>
                                        </p:tgtEl>
                                        <p:attrNameLst>
                                          <p:attrName>style.visibility</p:attrName>
                                        </p:attrNameLst>
                                      </p:cBhvr>
                                      <p:to>
                                        <p:strVal val="visible"/>
                                      </p:to>
                                    </p:set>
                                    <p:animEffect transition="in" filter="wipe(left)">
                                      <p:cBhvr>
                                        <p:cTn id="44" dur="500"/>
                                        <p:tgtEl>
                                          <p:spTgt spid="320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31" grpId="0"/>
      <p:bldP spid="320532" grpId="0" animBg="1"/>
      <p:bldP spid="320537" grpId="0"/>
      <p:bldP spid="320540"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1538" name="Object 2"/>
          <p:cNvGraphicFramePr>
            <a:graphicFrameLocks noChangeAspect="1"/>
          </p:cNvGraphicFramePr>
          <p:nvPr/>
        </p:nvGraphicFramePr>
        <p:xfrm>
          <a:off x="2843213" y="3997325"/>
          <a:ext cx="3476625" cy="800100"/>
        </p:xfrm>
        <a:graphic>
          <a:graphicData uri="http://schemas.openxmlformats.org/presentationml/2006/ole">
            <p:oleObj spid="_x0000_s70658" name="公式" r:id="rId3" imgW="1904760" imgH="444240" progId="Equation.3">
              <p:embed/>
            </p:oleObj>
          </a:graphicData>
        </a:graphic>
      </p:graphicFrame>
      <p:graphicFrame>
        <p:nvGraphicFramePr>
          <p:cNvPr id="321539" name="Object 3"/>
          <p:cNvGraphicFramePr>
            <a:graphicFrameLocks noChangeAspect="1"/>
          </p:cNvGraphicFramePr>
          <p:nvPr/>
        </p:nvGraphicFramePr>
        <p:xfrm>
          <a:off x="1403350" y="2989263"/>
          <a:ext cx="5059363" cy="755650"/>
        </p:xfrm>
        <a:graphic>
          <a:graphicData uri="http://schemas.openxmlformats.org/presentationml/2006/ole">
            <p:oleObj spid="_x0000_s70659" name="公式" r:id="rId4" imgW="2768400" imgH="419040" progId="Equation.3">
              <p:embed/>
            </p:oleObj>
          </a:graphicData>
        </a:graphic>
      </p:graphicFrame>
      <p:sp>
        <p:nvSpPr>
          <p:cNvPr id="321540" name="Text Box 4"/>
          <p:cNvSpPr txBox="1">
            <a:spLocks noChangeArrowheads="1"/>
          </p:cNvSpPr>
          <p:nvPr/>
        </p:nvSpPr>
        <p:spPr bwMode="auto">
          <a:xfrm>
            <a:off x="758825" y="444500"/>
            <a:ext cx="7989888" cy="968375"/>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rPr>
              <a:t>真空管的线度为 </a:t>
            </a:r>
            <a:r>
              <a:rPr kumimoji="1" lang="en-US" altLang="zh-CN" sz="2400" b="1">
                <a:solidFill>
                  <a:srgbClr val="FF6600"/>
                </a:solidFill>
                <a:latin typeface="Times New Roman" pitchFamily="18" charset="0"/>
              </a:rPr>
              <a:t>10</a:t>
            </a:r>
            <a:r>
              <a:rPr kumimoji="1" lang="en-US" altLang="zh-CN" sz="2400" b="1" baseline="44000">
                <a:solidFill>
                  <a:srgbClr val="FF6600"/>
                </a:solidFill>
                <a:latin typeface="楷体_GB2312" pitchFamily="49" charset="-122"/>
                <a:ea typeface="楷体_GB2312" pitchFamily="49" charset="-122"/>
              </a:rPr>
              <a:t>-</a:t>
            </a:r>
            <a:r>
              <a:rPr kumimoji="1" lang="en-US" altLang="zh-CN" sz="2400" b="1" baseline="44000">
                <a:solidFill>
                  <a:srgbClr val="FF6600"/>
                </a:solidFill>
                <a:latin typeface="Times New Roman" pitchFamily="18" charset="0"/>
              </a:rPr>
              <a:t>2 </a:t>
            </a:r>
            <a:r>
              <a:rPr kumimoji="1" lang="en-US" altLang="zh-CN" sz="2400" b="1">
                <a:solidFill>
                  <a:srgbClr val="FF6600"/>
                </a:solidFill>
                <a:latin typeface="Times New Roman" pitchFamily="18" charset="0"/>
              </a:rPr>
              <a:t>m</a:t>
            </a:r>
            <a:r>
              <a:rPr kumimoji="1" lang="en-US" altLang="zh-CN" sz="2400" b="1">
                <a:latin typeface="Times New Roman" pitchFamily="18" charset="0"/>
              </a:rPr>
              <a:t> </a:t>
            </a:r>
            <a:r>
              <a:rPr kumimoji="1" lang="zh-CN" altLang="en-US" sz="2400" b="1">
                <a:latin typeface="Times New Roman" pitchFamily="18" charset="0"/>
              </a:rPr>
              <a:t>，其中真空度为 </a:t>
            </a:r>
            <a:r>
              <a:rPr kumimoji="1" lang="en-US" altLang="zh-CN" sz="2400" b="1">
                <a:solidFill>
                  <a:srgbClr val="FF6600"/>
                </a:solidFill>
                <a:latin typeface="Times New Roman" pitchFamily="18" charset="0"/>
              </a:rPr>
              <a:t>1.33× 10</a:t>
            </a:r>
            <a:r>
              <a:rPr kumimoji="1" lang="en-US" altLang="zh-CN" sz="2400" b="1" baseline="44000">
                <a:solidFill>
                  <a:srgbClr val="FF6600"/>
                </a:solidFill>
                <a:latin typeface="Times New Roman" pitchFamily="18" charset="0"/>
                <a:ea typeface="楷体_GB2312" pitchFamily="49" charset="-122"/>
              </a:rPr>
              <a:t>-3</a:t>
            </a:r>
            <a:r>
              <a:rPr kumimoji="1" lang="en-US" altLang="zh-CN" sz="2400" b="1" baseline="44000">
                <a:solidFill>
                  <a:srgbClr val="FF6600"/>
                </a:solidFill>
                <a:latin typeface="Times New Roman" pitchFamily="18" charset="0"/>
              </a:rPr>
              <a:t> </a:t>
            </a:r>
            <a:r>
              <a:rPr kumimoji="1" lang="en-US" altLang="zh-CN" sz="2400" b="1">
                <a:solidFill>
                  <a:srgbClr val="FF6600"/>
                </a:solidFill>
                <a:latin typeface="Times New Roman" pitchFamily="18" charset="0"/>
              </a:rPr>
              <a:t>Pa</a:t>
            </a:r>
            <a:r>
              <a:rPr kumimoji="1" lang="en-US" altLang="zh-CN" sz="2400" b="1">
                <a:latin typeface="Times New Roman" pitchFamily="18" charset="0"/>
              </a:rPr>
              <a:t> </a:t>
            </a:r>
            <a:r>
              <a:rPr kumimoji="1" lang="zh-CN" altLang="en-US" sz="2400" b="1">
                <a:latin typeface="Times New Roman" pitchFamily="18" charset="0"/>
              </a:rPr>
              <a:t>。</a:t>
            </a:r>
          </a:p>
          <a:p>
            <a:pPr>
              <a:lnSpc>
                <a:spcPct val="120000"/>
              </a:lnSpc>
            </a:pPr>
            <a:r>
              <a:rPr kumimoji="1" lang="zh-CN" altLang="en-US" sz="2400" b="1">
                <a:latin typeface="Times New Roman" pitchFamily="18" charset="0"/>
              </a:rPr>
              <a:t>设空气分子的有效直径为 </a:t>
            </a:r>
            <a:r>
              <a:rPr kumimoji="1" lang="en-US" altLang="zh-CN" sz="2400" b="1">
                <a:solidFill>
                  <a:srgbClr val="FF6600"/>
                </a:solidFill>
                <a:latin typeface="Times New Roman" pitchFamily="18" charset="0"/>
              </a:rPr>
              <a:t>3×10</a:t>
            </a:r>
            <a:r>
              <a:rPr kumimoji="1" lang="en-US" altLang="zh-CN" sz="2400" b="1" baseline="44000">
                <a:solidFill>
                  <a:srgbClr val="FF6600"/>
                </a:solidFill>
                <a:latin typeface="楷体_GB2312" pitchFamily="49" charset="-122"/>
                <a:ea typeface="楷体_GB2312" pitchFamily="49" charset="-122"/>
              </a:rPr>
              <a:t>-</a:t>
            </a:r>
            <a:r>
              <a:rPr kumimoji="1" lang="en-US" altLang="zh-CN" sz="2400" b="1" baseline="44000">
                <a:solidFill>
                  <a:srgbClr val="FF6600"/>
                </a:solidFill>
                <a:latin typeface="Times New Roman" pitchFamily="18" charset="0"/>
              </a:rPr>
              <a:t>10 </a:t>
            </a:r>
            <a:r>
              <a:rPr kumimoji="1" lang="en-US" altLang="zh-CN" sz="2400" b="1">
                <a:solidFill>
                  <a:srgbClr val="FF6600"/>
                </a:solidFill>
                <a:latin typeface="Times New Roman" pitchFamily="18" charset="0"/>
              </a:rPr>
              <a:t>m</a:t>
            </a:r>
            <a:r>
              <a:rPr kumimoji="1" lang="en-US" altLang="zh-CN" sz="2400" b="1">
                <a:latin typeface="Times New Roman" pitchFamily="18" charset="0"/>
              </a:rPr>
              <a:t>  </a:t>
            </a:r>
            <a:r>
              <a:rPr kumimoji="1" lang="zh-CN" altLang="en-US" sz="2400" b="1">
                <a:latin typeface="Times New Roman" pitchFamily="18" charset="0"/>
              </a:rPr>
              <a:t>。</a:t>
            </a:r>
          </a:p>
        </p:txBody>
      </p:sp>
      <p:sp>
        <p:nvSpPr>
          <p:cNvPr id="321541" name="Rectangle 5"/>
          <p:cNvSpPr>
            <a:spLocks noChangeArrowheads="1"/>
          </p:cNvSpPr>
          <p:nvPr/>
        </p:nvSpPr>
        <p:spPr bwMode="auto">
          <a:xfrm>
            <a:off x="755650" y="1381125"/>
            <a:ext cx="7920038" cy="968375"/>
          </a:xfrm>
          <a:prstGeom prst="rect">
            <a:avLst/>
          </a:prstGeom>
          <a:noFill/>
          <a:ln w="9525">
            <a:noFill/>
            <a:miter lim="800000"/>
            <a:headEnd/>
            <a:tailEnd/>
          </a:ln>
        </p:spPr>
        <p:txBody>
          <a:bodyPr>
            <a:spAutoFit/>
          </a:bodyPr>
          <a:lstStyle/>
          <a:p>
            <a:pPr>
              <a:lnSpc>
                <a:spcPct val="120000"/>
              </a:lnSpc>
            </a:pPr>
            <a:r>
              <a:rPr kumimoji="1" lang="en-US" altLang="zh-CN" sz="2400" b="1">
                <a:solidFill>
                  <a:srgbClr val="FF6600"/>
                </a:solidFill>
                <a:latin typeface="Times New Roman" pitchFamily="18" charset="0"/>
              </a:rPr>
              <a:t>27℃</a:t>
            </a:r>
            <a:r>
              <a:rPr kumimoji="1" lang="en-US" altLang="zh-CN" sz="2400" b="1">
                <a:latin typeface="Times New Roman" pitchFamily="18" charset="0"/>
              </a:rPr>
              <a:t> </a:t>
            </a:r>
            <a:r>
              <a:rPr kumimoji="1" lang="zh-CN" altLang="en-US" sz="2400" b="1">
                <a:latin typeface="Times New Roman" pitchFamily="18" charset="0"/>
              </a:rPr>
              <a:t>时单位体积内的空气分子数、平均自由程、平均碰撞</a:t>
            </a:r>
          </a:p>
          <a:p>
            <a:pPr>
              <a:lnSpc>
                <a:spcPct val="120000"/>
              </a:lnSpc>
            </a:pPr>
            <a:r>
              <a:rPr kumimoji="1" lang="zh-CN" altLang="en-US" sz="2400" b="1">
                <a:latin typeface="Times New Roman" pitchFamily="18" charset="0"/>
              </a:rPr>
              <a:t>次数 。</a:t>
            </a:r>
          </a:p>
        </p:txBody>
      </p:sp>
      <p:sp>
        <p:nvSpPr>
          <p:cNvPr id="321542" name="Text Box 6"/>
          <p:cNvSpPr txBox="1">
            <a:spLocks noChangeArrowheads="1"/>
          </p:cNvSpPr>
          <p:nvPr/>
        </p:nvSpPr>
        <p:spPr bwMode="auto">
          <a:xfrm>
            <a:off x="179388" y="2413000"/>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解</a:t>
            </a:r>
          </a:p>
        </p:txBody>
      </p:sp>
      <p:sp>
        <p:nvSpPr>
          <p:cNvPr id="321543" name="Text Box 7"/>
          <p:cNvSpPr txBox="1">
            <a:spLocks noChangeArrowheads="1"/>
          </p:cNvSpPr>
          <p:nvPr/>
        </p:nvSpPr>
        <p:spPr bwMode="auto">
          <a:xfrm>
            <a:off x="179388" y="477838"/>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例</a:t>
            </a:r>
          </a:p>
        </p:txBody>
      </p:sp>
      <p:sp>
        <p:nvSpPr>
          <p:cNvPr id="321544" name="Text Box 8"/>
          <p:cNvSpPr txBox="1">
            <a:spLocks noChangeArrowheads="1"/>
          </p:cNvSpPr>
          <p:nvPr/>
        </p:nvSpPr>
        <p:spPr bwMode="auto">
          <a:xfrm>
            <a:off x="179388" y="1414463"/>
            <a:ext cx="492125"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求</a:t>
            </a:r>
          </a:p>
        </p:txBody>
      </p:sp>
      <p:graphicFrame>
        <p:nvGraphicFramePr>
          <p:cNvPr id="321545" name="Object 9"/>
          <p:cNvGraphicFramePr>
            <a:graphicFrameLocks noChangeAspect="1"/>
          </p:cNvGraphicFramePr>
          <p:nvPr/>
        </p:nvGraphicFramePr>
        <p:xfrm>
          <a:off x="1187450" y="3997325"/>
          <a:ext cx="1528763" cy="798513"/>
        </p:xfrm>
        <a:graphic>
          <a:graphicData uri="http://schemas.openxmlformats.org/presentationml/2006/ole">
            <p:oleObj spid="_x0000_s70660" name="公式" r:id="rId5" imgW="838080" imgH="444240" progId="Equation.3">
              <p:embed/>
            </p:oleObj>
          </a:graphicData>
        </a:graphic>
      </p:graphicFrame>
      <p:sp>
        <p:nvSpPr>
          <p:cNvPr id="321546" name="Text Box 10"/>
          <p:cNvSpPr txBox="1">
            <a:spLocks noChangeArrowheads="1"/>
          </p:cNvSpPr>
          <p:nvPr/>
        </p:nvSpPr>
        <p:spPr bwMode="auto">
          <a:xfrm>
            <a:off x="881063" y="2413000"/>
            <a:ext cx="3403600" cy="457200"/>
          </a:xfrm>
          <a:prstGeom prst="rect">
            <a:avLst/>
          </a:prstGeom>
          <a:noFill/>
          <a:ln w="9525">
            <a:noFill/>
            <a:miter lim="800000"/>
            <a:headEnd/>
            <a:tailEnd/>
          </a:ln>
        </p:spPr>
        <p:txBody>
          <a:bodyPr wrap="none">
            <a:spAutoFit/>
          </a:bodyPr>
          <a:lstStyle/>
          <a:p>
            <a:pPr>
              <a:defRPr/>
            </a:pPr>
            <a:r>
              <a:rPr lang="zh-CN" altLang="en-US" sz="2400" b="1" dirty="0">
                <a:latin typeface="+mn-ea"/>
                <a:ea typeface="+mn-ea"/>
              </a:rPr>
              <a:t>由气体的状态方程</a:t>
            </a:r>
            <a:r>
              <a:rPr lang="en-US" altLang="zh-CN" sz="2400" b="1" dirty="0">
                <a:latin typeface="+mn-ea"/>
                <a:ea typeface="+mn-ea"/>
              </a:rPr>
              <a:t>,  </a:t>
            </a:r>
            <a:r>
              <a:rPr lang="zh-CN" altLang="en-US" sz="2400" b="1" dirty="0">
                <a:latin typeface="+mn-ea"/>
                <a:ea typeface="+mn-ea"/>
              </a:rPr>
              <a:t>有</a:t>
            </a:r>
          </a:p>
        </p:txBody>
      </p:sp>
      <p:graphicFrame>
        <p:nvGraphicFramePr>
          <p:cNvPr id="321547" name="Object 11"/>
          <p:cNvGraphicFramePr>
            <a:graphicFrameLocks noChangeAspect="1"/>
          </p:cNvGraphicFramePr>
          <p:nvPr/>
        </p:nvGraphicFramePr>
        <p:xfrm>
          <a:off x="6372225" y="4181475"/>
          <a:ext cx="1136650" cy="319088"/>
        </p:xfrm>
        <a:graphic>
          <a:graphicData uri="http://schemas.openxmlformats.org/presentationml/2006/ole">
            <p:oleObj spid="_x0000_s70661" name="公式" r:id="rId6" imgW="622080" imgH="177480" progId="Equation.3">
              <p:embed/>
            </p:oleObj>
          </a:graphicData>
        </a:graphic>
      </p:graphicFrame>
      <p:sp>
        <p:nvSpPr>
          <p:cNvPr id="321548" name="Text Box 12"/>
          <p:cNvSpPr txBox="1">
            <a:spLocks noChangeArrowheads="1"/>
          </p:cNvSpPr>
          <p:nvPr/>
        </p:nvSpPr>
        <p:spPr bwMode="auto">
          <a:xfrm>
            <a:off x="250825" y="4868863"/>
            <a:ext cx="8604250" cy="1406525"/>
          </a:xfrm>
          <a:prstGeom prst="rect">
            <a:avLst/>
          </a:prstGeom>
          <a:noFill/>
          <a:ln w="9525">
            <a:noFill/>
            <a:miter lim="800000"/>
            <a:headEnd/>
            <a:tailEnd/>
          </a:ln>
        </p:spPr>
        <p:txBody>
          <a:bodyPr>
            <a:spAutoFit/>
          </a:bodyPr>
          <a:lstStyle/>
          <a:p>
            <a:pPr>
              <a:lnSpc>
                <a:spcPct val="120000"/>
              </a:lnSpc>
              <a:defRPr/>
            </a:pPr>
            <a:r>
              <a:rPr kumimoji="1" lang="en-US" altLang="zh-CN" sz="2400" b="1">
                <a:latin typeface="+mn-ea"/>
                <a:ea typeface="+mn-ea"/>
              </a:rPr>
              <a:t>    </a:t>
            </a:r>
            <a:r>
              <a:rPr kumimoji="1" lang="zh-CN" altLang="en-US" sz="2400" b="1">
                <a:latin typeface="+mn-ea"/>
                <a:ea typeface="+mn-ea"/>
              </a:rPr>
              <a:t>在这种情况下，气体分子相互之间很少发生碰撞，只是不断地来回碰撞真空管的壁，因此</a:t>
            </a:r>
            <a:r>
              <a:rPr kumimoji="1" lang="zh-CN" altLang="en-US" sz="2400" b="1">
                <a:solidFill>
                  <a:srgbClr val="FF6600"/>
                </a:solidFill>
                <a:latin typeface="+mn-ea"/>
                <a:ea typeface="+mn-ea"/>
              </a:rPr>
              <a:t>气体分子的平均自由程就应该是容器的线度</a:t>
            </a:r>
            <a:r>
              <a:rPr kumimoji="1" lang="zh-CN" altLang="en-US" sz="2400" b="1">
                <a:latin typeface="+mn-ea"/>
                <a:ea typeface="+mn-ea"/>
              </a:rPr>
              <a:t>。即：</a:t>
            </a:r>
          </a:p>
        </p:txBody>
      </p:sp>
      <p:graphicFrame>
        <p:nvGraphicFramePr>
          <p:cNvPr id="321549" name="Object 13"/>
          <p:cNvGraphicFramePr>
            <a:graphicFrameLocks noChangeAspect="1"/>
          </p:cNvGraphicFramePr>
          <p:nvPr/>
        </p:nvGraphicFramePr>
        <p:xfrm>
          <a:off x="3571875" y="5857875"/>
          <a:ext cx="1428750" cy="442913"/>
        </p:xfrm>
        <a:graphic>
          <a:graphicData uri="http://schemas.openxmlformats.org/presentationml/2006/ole">
            <p:oleObj spid="_x0000_s70662" name="公式" r:id="rId7" imgW="685800" imgH="215640" progId="Equation.3">
              <p:embed/>
            </p:oleObj>
          </a:graphicData>
        </a:graphic>
      </p:graphicFrame>
      <p:graphicFrame>
        <p:nvGraphicFramePr>
          <p:cNvPr id="321550" name="Object 14"/>
          <p:cNvGraphicFramePr>
            <a:graphicFrameLocks noChangeAspect="1"/>
          </p:cNvGraphicFramePr>
          <p:nvPr/>
        </p:nvGraphicFramePr>
        <p:xfrm>
          <a:off x="7578725" y="4133850"/>
          <a:ext cx="1219200" cy="363538"/>
        </p:xfrm>
        <a:graphic>
          <a:graphicData uri="http://schemas.openxmlformats.org/presentationml/2006/ole">
            <p:oleObj spid="_x0000_s70663" name="Equation" r:id="rId8" imgW="698400" imgH="20304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1543"/>
                                        </p:tgtEl>
                                        <p:attrNameLst>
                                          <p:attrName>style.visibility</p:attrName>
                                        </p:attrNameLst>
                                      </p:cBhvr>
                                      <p:to>
                                        <p:strVal val="visible"/>
                                      </p:to>
                                    </p:set>
                                    <p:animEffect transition="in" filter="wipe(left)">
                                      <p:cBhvr>
                                        <p:cTn id="7" dur="500"/>
                                        <p:tgtEl>
                                          <p:spTgt spid="32154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1540"/>
                                        </p:tgtEl>
                                        <p:attrNameLst>
                                          <p:attrName>style.visibility</p:attrName>
                                        </p:attrNameLst>
                                      </p:cBhvr>
                                      <p:to>
                                        <p:strVal val="visible"/>
                                      </p:to>
                                    </p:set>
                                    <p:animEffect transition="in" filter="wipe(left)">
                                      <p:cBhvr>
                                        <p:cTn id="11" dur="500"/>
                                        <p:tgtEl>
                                          <p:spTgt spid="3215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21544"/>
                                        </p:tgtEl>
                                        <p:attrNameLst>
                                          <p:attrName>style.visibility</p:attrName>
                                        </p:attrNameLst>
                                      </p:cBhvr>
                                      <p:to>
                                        <p:strVal val="visible"/>
                                      </p:to>
                                    </p:set>
                                    <p:animEffect transition="in" filter="wipe(left)">
                                      <p:cBhvr>
                                        <p:cTn id="16" dur="500"/>
                                        <p:tgtEl>
                                          <p:spTgt spid="32154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21541"/>
                                        </p:tgtEl>
                                        <p:attrNameLst>
                                          <p:attrName>style.visibility</p:attrName>
                                        </p:attrNameLst>
                                      </p:cBhvr>
                                      <p:to>
                                        <p:strVal val="visible"/>
                                      </p:to>
                                    </p:set>
                                    <p:animEffect transition="in" filter="wipe(left)">
                                      <p:cBhvr>
                                        <p:cTn id="20" dur="500"/>
                                        <p:tgtEl>
                                          <p:spTgt spid="32154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21542"/>
                                        </p:tgtEl>
                                        <p:attrNameLst>
                                          <p:attrName>style.visibility</p:attrName>
                                        </p:attrNameLst>
                                      </p:cBhvr>
                                      <p:to>
                                        <p:strVal val="visible"/>
                                      </p:to>
                                    </p:set>
                                    <p:animEffect transition="in" filter="wipe(left)">
                                      <p:cBhvr>
                                        <p:cTn id="25" dur="500"/>
                                        <p:tgtEl>
                                          <p:spTgt spid="32154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21546"/>
                                        </p:tgtEl>
                                        <p:attrNameLst>
                                          <p:attrName>style.visibility</p:attrName>
                                        </p:attrNameLst>
                                      </p:cBhvr>
                                      <p:to>
                                        <p:strVal val="visible"/>
                                      </p:to>
                                    </p:set>
                                    <p:animEffect transition="in" filter="wipe(left)">
                                      <p:cBhvr>
                                        <p:cTn id="29" dur="500"/>
                                        <p:tgtEl>
                                          <p:spTgt spid="32154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21539"/>
                                        </p:tgtEl>
                                        <p:attrNameLst>
                                          <p:attrName>style.visibility</p:attrName>
                                        </p:attrNameLst>
                                      </p:cBhvr>
                                      <p:to>
                                        <p:strVal val="visible"/>
                                      </p:to>
                                    </p:set>
                                    <p:animEffect transition="in" filter="wipe(left)">
                                      <p:cBhvr>
                                        <p:cTn id="34" dur="500"/>
                                        <p:tgtEl>
                                          <p:spTgt spid="32153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21545"/>
                                        </p:tgtEl>
                                        <p:attrNameLst>
                                          <p:attrName>style.visibility</p:attrName>
                                        </p:attrNameLst>
                                      </p:cBhvr>
                                      <p:to>
                                        <p:strVal val="visible"/>
                                      </p:to>
                                    </p:set>
                                    <p:animEffect transition="in" filter="wipe(left)">
                                      <p:cBhvr>
                                        <p:cTn id="39" dur="500"/>
                                        <p:tgtEl>
                                          <p:spTgt spid="3215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21538"/>
                                        </p:tgtEl>
                                        <p:attrNameLst>
                                          <p:attrName>style.visibility</p:attrName>
                                        </p:attrNameLst>
                                      </p:cBhvr>
                                      <p:to>
                                        <p:strVal val="visible"/>
                                      </p:to>
                                    </p:set>
                                    <p:animEffect transition="in" filter="wipe(left)">
                                      <p:cBhvr>
                                        <p:cTn id="44" dur="500"/>
                                        <p:tgtEl>
                                          <p:spTgt spid="32153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21547"/>
                                        </p:tgtEl>
                                        <p:attrNameLst>
                                          <p:attrName>style.visibility</p:attrName>
                                        </p:attrNameLst>
                                      </p:cBhvr>
                                      <p:to>
                                        <p:strVal val="visible"/>
                                      </p:to>
                                    </p:set>
                                    <p:animEffect transition="in" filter="wipe(left)">
                                      <p:cBhvr>
                                        <p:cTn id="49" dur="500"/>
                                        <p:tgtEl>
                                          <p:spTgt spid="32154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21550"/>
                                        </p:tgtEl>
                                        <p:attrNameLst>
                                          <p:attrName>style.visibility</p:attrName>
                                        </p:attrNameLst>
                                      </p:cBhvr>
                                      <p:to>
                                        <p:strVal val="visible"/>
                                      </p:to>
                                    </p:set>
                                    <p:animEffect transition="in" filter="wipe(left)">
                                      <p:cBhvr>
                                        <p:cTn id="54" dur="500"/>
                                        <p:tgtEl>
                                          <p:spTgt spid="32155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21548"/>
                                        </p:tgtEl>
                                        <p:attrNameLst>
                                          <p:attrName>style.visibility</p:attrName>
                                        </p:attrNameLst>
                                      </p:cBhvr>
                                      <p:to>
                                        <p:strVal val="visible"/>
                                      </p:to>
                                    </p:set>
                                    <p:animEffect transition="in" filter="wipe(left)">
                                      <p:cBhvr>
                                        <p:cTn id="59" dur="500"/>
                                        <p:tgtEl>
                                          <p:spTgt spid="32154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21549"/>
                                        </p:tgtEl>
                                        <p:attrNameLst>
                                          <p:attrName>style.visibility</p:attrName>
                                        </p:attrNameLst>
                                      </p:cBhvr>
                                      <p:to>
                                        <p:strVal val="visible"/>
                                      </p:to>
                                    </p:set>
                                    <p:animEffect transition="in" filter="wipe(left)">
                                      <p:cBhvr>
                                        <p:cTn id="64" dur="500"/>
                                        <p:tgtEl>
                                          <p:spTgt spid="321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0" grpId="0"/>
      <p:bldP spid="321541" grpId="0"/>
      <p:bldP spid="321542" grpId="0"/>
      <p:bldP spid="321543" grpId="0"/>
      <p:bldP spid="321544" grpId="0"/>
      <p:bldP spid="32154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2562" name="Object 2"/>
          <p:cNvGraphicFramePr>
            <a:graphicFrameLocks noChangeAspect="1"/>
          </p:cNvGraphicFramePr>
          <p:nvPr/>
        </p:nvGraphicFramePr>
        <p:xfrm>
          <a:off x="2627313" y="3432175"/>
          <a:ext cx="2536825" cy="727075"/>
        </p:xfrm>
        <a:graphic>
          <a:graphicData uri="http://schemas.openxmlformats.org/presentationml/2006/ole">
            <p:oleObj spid="_x0000_s71682" name="公式" r:id="rId3" imgW="1409400" imgH="406080" progId="Equation.3">
              <p:embed/>
            </p:oleObj>
          </a:graphicData>
        </a:graphic>
      </p:graphicFrame>
      <p:graphicFrame>
        <p:nvGraphicFramePr>
          <p:cNvPr id="322563" name="Object 3"/>
          <p:cNvGraphicFramePr>
            <a:graphicFrameLocks noChangeAspect="1"/>
          </p:cNvGraphicFramePr>
          <p:nvPr/>
        </p:nvGraphicFramePr>
        <p:xfrm>
          <a:off x="2555875" y="1581150"/>
          <a:ext cx="2659063" cy="849313"/>
        </p:xfrm>
        <a:graphic>
          <a:graphicData uri="http://schemas.openxmlformats.org/presentationml/2006/ole">
            <p:oleObj spid="_x0000_s71683" name="公式" r:id="rId4" imgW="1460160" imgH="469800" progId="Equation.3">
              <p:embed/>
            </p:oleObj>
          </a:graphicData>
        </a:graphic>
      </p:graphicFrame>
      <p:sp>
        <p:nvSpPr>
          <p:cNvPr id="322564" name="Text Box 4"/>
          <p:cNvSpPr txBox="1">
            <a:spLocks noChangeArrowheads="1"/>
          </p:cNvSpPr>
          <p:nvPr/>
        </p:nvSpPr>
        <p:spPr bwMode="auto">
          <a:xfrm>
            <a:off x="611188" y="846138"/>
            <a:ext cx="3554412" cy="457200"/>
          </a:xfrm>
          <a:prstGeom prst="rect">
            <a:avLst/>
          </a:prstGeom>
          <a:noFill/>
          <a:ln w="9525">
            <a:noFill/>
            <a:miter lim="800000"/>
            <a:headEnd/>
            <a:tailEnd/>
          </a:ln>
        </p:spPr>
        <p:txBody>
          <a:bodyPr wrap="none">
            <a:spAutoFit/>
          </a:bodyPr>
          <a:lstStyle/>
          <a:p>
            <a:pPr>
              <a:defRPr/>
            </a:pPr>
            <a:r>
              <a:rPr lang="zh-CN" altLang="en-US" sz="2400" b="1">
                <a:latin typeface="+mn-ea"/>
                <a:ea typeface="+mn-ea"/>
              </a:rPr>
              <a:t>而气体分子的平均速率为</a:t>
            </a:r>
          </a:p>
        </p:txBody>
      </p:sp>
      <p:sp>
        <p:nvSpPr>
          <p:cNvPr id="322565" name="Text Box 5"/>
          <p:cNvSpPr txBox="1">
            <a:spLocks noChangeArrowheads="1"/>
          </p:cNvSpPr>
          <p:nvPr/>
        </p:nvSpPr>
        <p:spPr bwMode="auto">
          <a:xfrm>
            <a:off x="611188" y="2646363"/>
            <a:ext cx="4779962" cy="457200"/>
          </a:xfrm>
          <a:prstGeom prst="rect">
            <a:avLst/>
          </a:prstGeom>
          <a:noFill/>
          <a:ln w="9525">
            <a:noFill/>
            <a:miter lim="800000"/>
            <a:headEnd/>
            <a:tailEnd/>
          </a:ln>
        </p:spPr>
        <p:txBody>
          <a:bodyPr wrap="none">
            <a:spAutoFit/>
          </a:bodyPr>
          <a:lstStyle/>
          <a:p>
            <a:pPr>
              <a:defRPr/>
            </a:pPr>
            <a:r>
              <a:rPr lang="zh-CN" altLang="en-US" sz="2400" b="1" dirty="0">
                <a:latin typeface="+mn-ea"/>
                <a:ea typeface="+mn-ea"/>
              </a:rPr>
              <a:t>所以，气体分子的平均碰撞频率为</a:t>
            </a:r>
          </a:p>
        </p:txBody>
      </p:sp>
      <p:sp>
        <p:nvSpPr>
          <p:cNvPr id="322567" name="AutoShape 7">
            <a:hlinkClick r:id="rId5" action="ppaction://hlinksldjump" highlightClick="1"/>
          </p:cNvPr>
          <p:cNvSpPr>
            <a:spLocks noChangeArrowheads="1"/>
          </p:cNvSpPr>
          <p:nvPr/>
        </p:nvSpPr>
        <p:spPr bwMode="auto">
          <a:xfrm>
            <a:off x="8429625" y="6072188"/>
            <a:ext cx="287338" cy="287337"/>
          </a:xfrm>
          <a:prstGeom prst="actionButtonBeginning">
            <a:avLst/>
          </a:prstGeom>
          <a:solidFill>
            <a:srgbClr val="99CCFF"/>
          </a:solidFill>
          <a:ln w="9525">
            <a:noFill/>
            <a:miter lim="800000"/>
            <a:headEnd/>
            <a:tailEnd/>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2564"/>
                                        </p:tgtEl>
                                        <p:attrNameLst>
                                          <p:attrName>style.visibility</p:attrName>
                                        </p:attrNameLst>
                                      </p:cBhvr>
                                      <p:to>
                                        <p:strVal val="visible"/>
                                      </p:to>
                                    </p:set>
                                    <p:animEffect transition="in" filter="wipe(left)">
                                      <p:cBhvr>
                                        <p:cTn id="7" dur="500"/>
                                        <p:tgtEl>
                                          <p:spTgt spid="3225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2563"/>
                                        </p:tgtEl>
                                        <p:attrNameLst>
                                          <p:attrName>style.visibility</p:attrName>
                                        </p:attrNameLst>
                                      </p:cBhvr>
                                      <p:to>
                                        <p:strVal val="visible"/>
                                      </p:to>
                                    </p:set>
                                    <p:animEffect transition="in" filter="wipe(left)">
                                      <p:cBhvr>
                                        <p:cTn id="12" dur="500"/>
                                        <p:tgtEl>
                                          <p:spTgt spid="3225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2565"/>
                                        </p:tgtEl>
                                        <p:attrNameLst>
                                          <p:attrName>style.visibility</p:attrName>
                                        </p:attrNameLst>
                                      </p:cBhvr>
                                      <p:to>
                                        <p:strVal val="visible"/>
                                      </p:to>
                                    </p:set>
                                    <p:animEffect transition="in" filter="wipe(left)">
                                      <p:cBhvr>
                                        <p:cTn id="17" dur="500"/>
                                        <p:tgtEl>
                                          <p:spTgt spid="3225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2562"/>
                                        </p:tgtEl>
                                        <p:attrNameLst>
                                          <p:attrName>style.visibility</p:attrName>
                                        </p:attrNameLst>
                                      </p:cBhvr>
                                      <p:to>
                                        <p:strVal val="visible"/>
                                      </p:to>
                                    </p:set>
                                    <p:animEffect transition="in" filter="wipe(left)">
                                      <p:cBhvr>
                                        <p:cTn id="22" dur="500"/>
                                        <p:tgtEl>
                                          <p:spTgt spid="3225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2567"/>
                                        </p:tgtEl>
                                        <p:attrNameLst>
                                          <p:attrName>style.visibility</p:attrName>
                                        </p:attrNameLst>
                                      </p:cBhvr>
                                      <p:to>
                                        <p:strVal val="visible"/>
                                      </p:to>
                                    </p:set>
                                    <p:animEffect transition="in" filter="wipe(left)">
                                      <p:cBhvr>
                                        <p:cTn id="27" dur="500"/>
                                        <p:tgtEl>
                                          <p:spTgt spid="3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4" grpId="0"/>
      <p:bldP spid="322565" grpId="0"/>
      <p:bldP spid="32256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4">
            <a:hlinkClick r:id="rId2" action="ppaction://hlinkpres?slideindex=1&amp;slidetitle="/>
          </p:cNvPr>
          <p:cNvSpPr txBox="1">
            <a:spLocks noChangeArrowheads="1"/>
          </p:cNvSpPr>
          <p:nvPr/>
        </p:nvSpPr>
        <p:spPr bwMode="auto">
          <a:xfrm>
            <a:off x="1143000" y="428625"/>
            <a:ext cx="7058025" cy="519113"/>
          </a:xfrm>
          <a:prstGeom prst="rect">
            <a:avLst/>
          </a:prstGeom>
          <a:noFill/>
          <a:ln w="9525">
            <a:noFill/>
            <a:miter lim="800000"/>
            <a:headEnd/>
            <a:tailEnd/>
          </a:ln>
        </p:spPr>
        <p:txBody>
          <a:bodyPr>
            <a:spAutoFit/>
          </a:bodyPr>
          <a:lstStyle/>
          <a:p>
            <a:r>
              <a:rPr lang="en-US" altLang="zh-CN" sz="2800" b="1">
                <a:solidFill>
                  <a:srgbClr val="0000FF"/>
                </a:solidFill>
                <a:latin typeface="Times New Roman" pitchFamily="18" charset="0"/>
              </a:rPr>
              <a:t>§8.8     </a:t>
            </a:r>
            <a:r>
              <a:rPr lang="zh-CN" altLang="en-US" sz="2800" b="1">
                <a:solidFill>
                  <a:srgbClr val="0000FF"/>
                </a:solidFill>
                <a:latin typeface="黑体" pitchFamily="2" charset="-122"/>
                <a:ea typeface="黑体" pitchFamily="2" charset="-122"/>
              </a:rPr>
              <a:t>热力学第二定律的统计意义  熵 </a:t>
            </a:r>
          </a:p>
        </p:txBody>
      </p:sp>
      <p:sp>
        <p:nvSpPr>
          <p:cNvPr id="3" name="Text Box 74"/>
          <p:cNvSpPr txBox="1">
            <a:spLocks noChangeArrowheads="1"/>
          </p:cNvSpPr>
          <p:nvPr/>
        </p:nvSpPr>
        <p:spPr bwMode="auto">
          <a:xfrm>
            <a:off x="1643063" y="1000125"/>
            <a:ext cx="5835650" cy="479425"/>
          </a:xfrm>
          <a:prstGeom prst="rect">
            <a:avLst/>
          </a:prstGeom>
          <a:noFill/>
          <a:ln w="9525">
            <a:noFill/>
            <a:miter lim="800000"/>
            <a:headEnd/>
            <a:tailEnd/>
          </a:ln>
        </p:spPr>
        <p:txBody>
          <a:bodyPr>
            <a:spAutoFit/>
          </a:bodyPr>
          <a:lstStyle/>
          <a:p>
            <a:pPr algn="ctr">
              <a:lnSpc>
                <a:spcPct val="115000"/>
              </a:lnSpc>
            </a:pPr>
            <a:r>
              <a:rPr kumimoji="1" lang="en-US" altLang="zh-CN" sz="2400" b="1">
                <a:solidFill>
                  <a:srgbClr val="FF3300"/>
                </a:solidFill>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不可逆过程的微观本质是什么？</a:t>
            </a:r>
            <a:r>
              <a:rPr kumimoji="1" lang="en-US" altLang="zh-CN" sz="2400" b="1">
                <a:solidFill>
                  <a:srgbClr val="FF3300"/>
                </a:solidFill>
                <a:latin typeface="Times New Roman" pitchFamily="18" charset="0"/>
                <a:ea typeface="楷体_GB2312" pitchFamily="49" charset="-122"/>
              </a:rPr>
              <a:t>) </a:t>
            </a:r>
          </a:p>
        </p:txBody>
      </p:sp>
      <p:sp>
        <p:nvSpPr>
          <p:cNvPr id="4" name="Text Box 75"/>
          <p:cNvSpPr txBox="1">
            <a:spLocks noChangeArrowheads="1"/>
          </p:cNvSpPr>
          <p:nvPr/>
        </p:nvSpPr>
        <p:spPr bwMode="auto">
          <a:xfrm>
            <a:off x="214313" y="1714500"/>
            <a:ext cx="5481637"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8.8.1   </a:t>
            </a:r>
            <a:r>
              <a:rPr kumimoji="1" lang="zh-CN" altLang="en-US" sz="2400" b="1">
                <a:solidFill>
                  <a:srgbClr val="0000FF"/>
                </a:solidFill>
                <a:latin typeface="Times New Roman" pitchFamily="18" charset="0"/>
              </a:rPr>
              <a:t>热力学第二定律的统计意义</a:t>
            </a:r>
          </a:p>
        </p:txBody>
      </p:sp>
      <p:sp>
        <p:nvSpPr>
          <p:cNvPr id="34" name="Rectangle 2"/>
          <p:cNvSpPr>
            <a:spLocks noChangeArrowheads="1"/>
          </p:cNvSpPr>
          <p:nvPr/>
        </p:nvSpPr>
        <p:spPr bwMode="auto">
          <a:xfrm>
            <a:off x="2857500" y="4929188"/>
            <a:ext cx="3589338" cy="461962"/>
          </a:xfrm>
          <a:prstGeom prst="rect">
            <a:avLst/>
          </a:prstGeom>
          <a:noFill/>
          <a:ln w="9525">
            <a:noFill/>
            <a:miter lim="800000"/>
            <a:headEnd/>
            <a:tailEnd/>
          </a:ln>
        </p:spPr>
        <p:txBody>
          <a:bodyPr wrap="none">
            <a:spAutoFit/>
          </a:bodyPr>
          <a:lstStyle/>
          <a:p>
            <a:pPr>
              <a:buClr>
                <a:srgbClr val="800000"/>
              </a:buClr>
            </a:pPr>
            <a:r>
              <a:rPr kumimoji="1" lang="zh-CN" altLang="en-US" sz="2400" b="1">
                <a:solidFill>
                  <a:srgbClr val="0000FF"/>
                </a:solidFill>
                <a:latin typeface="楷体_GB2312" pitchFamily="49" charset="-122"/>
              </a:rPr>
              <a:t>气体的自由膨胀不可逆  </a:t>
            </a:r>
          </a:p>
        </p:txBody>
      </p:sp>
      <p:sp>
        <p:nvSpPr>
          <p:cNvPr id="35" name="Rectangle 3"/>
          <p:cNvSpPr>
            <a:spLocks noChangeArrowheads="1"/>
          </p:cNvSpPr>
          <p:nvPr/>
        </p:nvSpPr>
        <p:spPr bwMode="auto">
          <a:xfrm>
            <a:off x="1571625" y="2643188"/>
            <a:ext cx="2601913" cy="771525"/>
          </a:xfrm>
          <a:prstGeom prst="rect">
            <a:avLst/>
          </a:prstGeom>
          <a:solidFill>
            <a:srgbClr val="FFFFFF"/>
          </a:solidFill>
          <a:ln w="76200" cap="sq">
            <a:solidFill>
              <a:srgbClr val="B2B2B2"/>
            </a:solidFill>
            <a:miter lim="800000"/>
            <a:headEnd/>
            <a:tailEnd/>
          </a:ln>
        </p:spPr>
        <p:txBody>
          <a:bodyPr wrap="none" anchor="ctr"/>
          <a:lstStyle/>
          <a:p>
            <a:pPr algn="ctr"/>
            <a:endParaRPr lang="zh-CN" altLang="en-US" b="1"/>
          </a:p>
        </p:txBody>
      </p:sp>
      <p:sp>
        <p:nvSpPr>
          <p:cNvPr id="36" name="Rectangle 4" descr="5%"/>
          <p:cNvSpPr>
            <a:spLocks noChangeArrowheads="1"/>
          </p:cNvSpPr>
          <p:nvPr/>
        </p:nvSpPr>
        <p:spPr bwMode="auto">
          <a:xfrm>
            <a:off x="1600200" y="2662238"/>
            <a:ext cx="1190625" cy="722312"/>
          </a:xfrm>
          <a:prstGeom prst="rect">
            <a:avLst/>
          </a:prstGeom>
          <a:pattFill prst="pct5">
            <a:fgClr>
              <a:srgbClr val="000000"/>
            </a:fgClr>
            <a:bgClr>
              <a:srgbClr val="DDDDDD"/>
            </a:bgClr>
          </a:pattFill>
          <a:ln w="12700" cap="sq">
            <a:solidFill>
              <a:schemeClr val="bg2"/>
            </a:solidFill>
            <a:miter lim="800000"/>
            <a:headEnd type="none" w="sm" len="sm"/>
            <a:tailEnd type="none" w="sm" len="sm"/>
          </a:ln>
        </p:spPr>
        <p:txBody>
          <a:bodyPr wrap="none" anchor="ctr"/>
          <a:lstStyle/>
          <a:p>
            <a:pPr algn="ctr"/>
            <a:endParaRPr lang="zh-CN" altLang="en-US" b="1"/>
          </a:p>
        </p:txBody>
      </p:sp>
      <p:sp>
        <p:nvSpPr>
          <p:cNvPr id="37" name="Rectangle 5"/>
          <p:cNvSpPr>
            <a:spLocks noChangeArrowheads="1"/>
          </p:cNvSpPr>
          <p:nvPr/>
        </p:nvSpPr>
        <p:spPr bwMode="auto">
          <a:xfrm>
            <a:off x="2790825" y="2681288"/>
            <a:ext cx="122238" cy="685800"/>
          </a:xfrm>
          <a:prstGeom prst="rect">
            <a:avLst/>
          </a:prstGeom>
          <a:solidFill>
            <a:schemeClr val="bg2"/>
          </a:solidFill>
          <a:ln w="12700" cap="sq">
            <a:solidFill>
              <a:schemeClr val="tx2"/>
            </a:solidFill>
            <a:miter lim="800000"/>
            <a:headEnd type="none" w="sm" len="sm"/>
            <a:tailEnd type="none" w="sm" len="sm"/>
          </a:ln>
        </p:spPr>
        <p:txBody>
          <a:bodyPr wrap="none" anchor="ctr"/>
          <a:lstStyle/>
          <a:p>
            <a:pPr algn="ctr"/>
            <a:endParaRPr lang="zh-CN" altLang="en-US" b="1"/>
          </a:p>
        </p:txBody>
      </p:sp>
      <p:sp>
        <p:nvSpPr>
          <p:cNvPr id="38" name="Rectangle 6" descr="5%"/>
          <p:cNvSpPr>
            <a:spLocks noChangeArrowheads="1"/>
          </p:cNvSpPr>
          <p:nvPr/>
        </p:nvSpPr>
        <p:spPr bwMode="auto">
          <a:xfrm>
            <a:off x="5068888" y="2643188"/>
            <a:ext cx="2601912" cy="771525"/>
          </a:xfrm>
          <a:prstGeom prst="rect">
            <a:avLst/>
          </a:prstGeom>
          <a:pattFill prst="pct5">
            <a:fgClr>
              <a:schemeClr val="tx1"/>
            </a:fgClr>
            <a:bgClr>
              <a:srgbClr val="FFFFFF"/>
            </a:bgClr>
          </a:pattFill>
          <a:ln w="76200" cap="sq">
            <a:solidFill>
              <a:srgbClr val="B2B2B2"/>
            </a:solidFill>
            <a:miter lim="800000"/>
            <a:headEnd/>
            <a:tailEnd/>
          </a:ln>
        </p:spPr>
        <p:txBody>
          <a:bodyPr wrap="none" anchor="ctr"/>
          <a:lstStyle/>
          <a:p>
            <a:pPr algn="ctr"/>
            <a:endParaRPr lang="zh-CN" altLang="en-US" b="1"/>
          </a:p>
        </p:txBody>
      </p:sp>
      <p:sp>
        <p:nvSpPr>
          <p:cNvPr id="39" name="Line 7"/>
          <p:cNvSpPr>
            <a:spLocks noChangeShapeType="1"/>
          </p:cNvSpPr>
          <p:nvPr/>
        </p:nvSpPr>
        <p:spPr bwMode="auto">
          <a:xfrm>
            <a:off x="4276725" y="3024188"/>
            <a:ext cx="762000" cy="0"/>
          </a:xfrm>
          <a:prstGeom prst="line">
            <a:avLst/>
          </a:prstGeom>
          <a:noFill/>
          <a:ln w="76200">
            <a:solidFill>
              <a:srgbClr val="FF0000"/>
            </a:solidFill>
            <a:round/>
            <a:headEnd/>
            <a:tailEnd type="triangle" w="med" len="med"/>
          </a:ln>
        </p:spPr>
        <p:txBody>
          <a:bodyPr/>
          <a:lstStyle/>
          <a:p>
            <a:endParaRPr lang="zh-CN" altLang="en-US"/>
          </a:p>
        </p:txBody>
      </p:sp>
      <p:sp>
        <p:nvSpPr>
          <p:cNvPr id="42" name="Rectangle 8" descr="5%"/>
          <p:cNvSpPr>
            <a:spLocks noChangeArrowheads="1"/>
          </p:cNvSpPr>
          <p:nvPr/>
        </p:nvSpPr>
        <p:spPr bwMode="auto">
          <a:xfrm>
            <a:off x="1571625" y="3857625"/>
            <a:ext cx="2601913" cy="771525"/>
          </a:xfrm>
          <a:prstGeom prst="rect">
            <a:avLst/>
          </a:prstGeom>
          <a:pattFill prst="pct5">
            <a:fgClr>
              <a:schemeClr val="tx1"/>
            </a:fgClr>
            <a:bgClr>
              <a:srgbClr val="FFFFFF"/>
            </a:bgClr>
          </a:pattFill>
          <a:ln w="76200" cap="sq">
            <a:solidFill>
              <a:srgbClr val="B2B2B2"/>
            </a:solidFill>
            <a:miter lim="800000"/>
            <a:headEnd/>
            <a:tailEnd/>
          </a:ln>
        </p:spPr>
        <p:txBody>
          <a:bodyPr wrap="none" anchor="ctr"/>
          <a:lstStyle/>
          <a:p>
            <a:pPr algn="ctr"/>
            <a:endParaRPr lang="zh-CN" altLang="en-US"/>
          </a:p>
        </p:txBody>
      </p:sp>
      <p:sp>
        <p:nvSpPr>
          <p:cNvPr id="43" name="Rectangle 9" descr="30%"/>
          <p:cNvSpPr>
            <a:spLocks noChangeArrowheads="1"/>
          </p:cNvSpPr>
          <p:nvPr/>
        </p:nvSpPr>
        <p:spPr bwMode="auto">
          <a:xfrm>
            <a:off x="1600200" y="3876675"/>
            <a:ext cx="1190625" cy="722313"/>
          </a:xfrm>
          <a:prstGeom prst="rect">
            <a:avLst/>
          </a:prstGeom>
          <a:pattFill prst="pct30">
            <a:fgClr>
              <a:srgbClr val="000000"/>
            </a:fgClr>
            <a:bgClr>
              <a:srgbClr val="DDDDDD"/>
            </a:bgClr>
          </a:pattFill>
          <a:ln w="12700" cap="sq">
            <a:solidFill>
              <a:schemeClr val="bg2"/>
            </a:solidFill>
            <a:miter lim="800000"/>
            <a:headEnd type="none" w="sm" len="sm"/>
            <a:tailEnd type="none" w="sm" len="sm"/>
          </a:ln>
        </p:spPr>
        <p:txBody>
          <a:bodyPr wrap="none" anchor="ctr"/>
          <a:lstStyle/>
          <a:p>
            <a:pPr algn="ctr"/>
            <a:endParaRPr lang="zh-CN" altLang="en-US"/>
          </a:p>
        </p:txBody>
      </p:sp>
      <p:sp>
        <p:nvSpPr>
          <p:cNvPr id="44" name="Rectangle 10"/>
          <p:cNvSpPr>
            <a:spLocks noChangeArrowheads="1"/>
          </p:cNvSpPr>
          <p:nvPr/>
        </p:nvSpPr>
        <p:spPr bwMode="auto">
          <a:xfrm>
            <a:off x="2790825" y="3895725"/>
            <a:ext cx="122238" cy="685800"/>
          </a:xfrm>
          <a:prstGeom prst="rect">
            <a:avLst/>
          </a:prstGeom>
          <a:solidFill>
            <a:schemeClr val="bg2"/>
          </a:solidFill>
          <a:ln w="12700" cap="sq">
            <a:solidFill>
              <a:schemeClr val="tx2"/>
            </a:solidFill>
            <a:miter lim="800000"/>
            <a:headEnd type="none" w="sm" len="sm"/>
            <a:tailEnd type="none" w="sm" len="sm"/>
          </a:ln>
        </p:spPr>
        <p:txBody>
          <a:bodyPr wrap="none" anchor="ctr"/>
          <a:lstStyle/>
          <a:p>
            <a:pPr algn="ctr"/>
            <a:endParaRPr lang="zh-CN" altLang="en-US"/>
          </a:p>
        </p:txBody>
      </p:sp>
      <p:sp>
        <p:nvSpPr>
          <p:cNvPr id="45" name="Rectangle 11" descr="10%"/>
          <p:cNvSpPr>
            <a:spLocks noChangeArrowheads="1"/>
          </p:cNvSpPr>
          <p:nvPr/>
        </p:nvSpPr>
        <p:spPr bwMode="auto">
          <a:xfrm>
            <a:off x="5068888" y="3857625"/>
            <a:ext cx="2601912" cy="771525"/>
          </a:xfrm>
          <a:prstGeom prst="rect">
            <a:avLst/>
          </a:prstGeom>
          <a:pattFill prst="pct10">
            <a:fgClr>
              <a:schemeClr val="tx1"/>
            </a:fgClr>
            <a:bgClr>
              <a:srgbClr val="FFFFFF"/>
            </a:bgClr>
          </a:pattFill>
          <a:ln w="76200" cap="sq">
            <a:solidFill>
              <a:srgbClr val="B2B2B2"/>
            </a:solidFill>
            <a:miter lim="800000"/>
            <a:headEnd/>
            <a:tailEnd/>
          </a:ln>
        </p:spPr>
        <p:txBody>
          <a:bodyPr wrap="none" anchor="ctr"/>
          <a:lstStyle/>
          <a:p>
            <a:pPr algn="ctr"/>
            <a:endParaRPr lang="zh-CN" altLang="en-US"/>
          </a:p>
        </p:txBody>
      </p:sp>
      <p:sp>
        <p:nvSpPr>
          <p:cNvPr id="46" name="Line 12"/>
          <p:cNvSpPr>
            <a:spLocks noChangeShapeType="1"/>
          </p:cNvSpPr>
          <p:nvPr/>
        </p:nvSpPr>
        <p:spPr bwMode="auto">
          <a:xfrm>
            <a:off x="4276725" y="4248150"/>
            <a:ext cx="762000" cy="0"/>
          </a:xfrm>
          <a:prstGeom prst="line">
            <a:avLst/>
          </a:prstGeom>
          <a:noFill/>
          <a:ln w="76200">
            <a:solidFill>
              <a:srgbClr val="FF0000"/>
            </a:solidFill>
            <a:round/>
            <a:headEn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up)">
                                      <p:cBhvr>
                                        <p:cTn id="22" dur="500"/>
                                        <p:tgtEl>
                                          <p:spTgt spid="35"/>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up)">
                                      <p:cBhvr>
                                        <p:cTn id="26" dur="500"/>
                                        <p:tgtEl>
                                          <p:spTgt spid="37"/>
                                        </p:tgtEl>
                                      </p:cBhvr>
                                    </p:animEffect>
                                  </p:childTnLst>
                                </p:cTn>
                              </p:par>
                            </p:childTnLst>
                          </p:cTn>
                        </p:par>
                        <p:par>
                          <p:cTn id="27" fill="hold">
                            <p:stCondLst>
                              <p:cond delay="1000"/>
                            </p:stCondLst>
                            <p:childTnLst>
                              <p:par>
                                <p:cTn id="28" presetID="22" presetClass="entr" presetSubtype="1" fill="hold" grpId="0"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up)">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up)">
                                      <p:cBhvr>
                                        <p:cTn id="40" dur="500"/>
                                        <p:tgtEl>
                                          <p:spTgt spid="3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ipe(up)">
                                      <p:cBhvr>
                                        <p:cTn id="45" dur="500"/>
                                        <p:tgtEl>
                                          <p:spTgt spid="4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up)">
                                      <p:cBhvr>
                                        <p:cTn id="50" dur="500"/>
                                        <p:tgtEl>
                                          <p:spTgt spid="44"/>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wipe(up)">
                                      <p:cBhvr>
                                        <p:cTn id="54" dur="500"/>
                                        <p:tgtEl>
                                          <p:spTgt spid="4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wipe(up)">
                                      <p:cBhvr>
                                        <p:cTn id="59" dur="500"/>
                                        <p:tgtEl>
                                          <p:spTgt spid="4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up)">
                                      <p:cBhvr>
                                        <p:cTn id="6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p:bldP spid="34" grpId="0" autoUpdateAnimBg="0"/>
      <p:bldP spid="35" grpId="0" animBg="1"/>
      <p:bldP spid="36" grpId="0" animBg="1"/>
      <p:bldP spid="37" grpId="0" animBg="1"/>
      <p:bldP spid="38" grpId="0" animBg="1"/>
      <p:bldP spid="39" grpId="0" animBg="1"/>
      <p:bldP spid="42" grpId="0" animBg="1"/>
      <p:bldP spid="43" grpId="0" animBg="1"/>
      <p:bldP spid="44" grpId="0" animBg="1"/>
      <p:bldP spid="45" grpId="0" animBg="1"/>
      <p:bldP spid="4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338388" y="4714875"/>
            <a:ext cx="4608512" cy="457200"/>
          </a:xfrm>
          <a:prstGeom prst="rect">
            <a:avLst/>
          </a:prstGeom>
          <a:noFill/>
          <a:ln w="9525">
            <a:noFill/>
            <a:miter lim="800000"/>
            <a:headEnd/>
            <a:tailEnd/>
          </a:ln>
        </p:spPr>
        <p:txBody>
          <a:bodyPr>
            <a:spAutoFit/>
          </a:bodyPr>
          <a:lstStyle/>
          <a:p>
            <a:pPr>
              <a:defRPr/>
            </a:pPr>
            <a:r>
              <a:rPr lang="en-US" altLang="zh-CN" sz="2400" b="1">
                <a:latin typeface="Times New Roman" pitchFamily="18" charset="0"/>
                <a:ea typeface="+mn-ea"/>
                <a:cs typeface="Times New Roman" pitchFamily="18" charset="0"/>
              </a:rPr>
              <a:t>(</a:t>
            </a:r>
            <a:r>
              <a:rPr kumimoji="1" lang="zh-CN" altLang="en-US" sz="2400" b="1">
                <a:solidFill>
                  <a:srgbClr val="FF0000"/>
                </a:solidFill>
                <a:latin typeface="Times New Roman" pitchFamily="18" charset="0"/>
                <a:ea typeface="+mn-ea"/>
                <a:cs typeface="Times New Roman" pitchFamily="18" charset="0"/>
              </a:rPr>
              <a:t>微观态数 </a:t>
            </a:r>
            <a:r>
              <a:rPr kumimoji="1" lang="en-US" altLang="zh-CN" sz="2400" b="1">
                <a:latin typeface="Times New Roman" pitchFamily="18" charset="0"/>
                <a:ea typeface="+mn-ea"/>
                <a:cs typeface="Times New Roman" pitchFamily="18" charset="0"/>
              </a:rPr>
              <a:t>2</a:t>
            </a:r>
            <a:r>
              <a:rPr kumimoji="1" lang="en-US" altLang="zh-CN" sz="2400" b="1" baseline="30000">
                <a:latin typeface="Times New Roman" pitchFamily="18" charset="0"/>
                <a:ea typeface="+mn-ea"/>
                <a:cs typeface="Times New Roman" pitchFamily="18" charset="0"/>
              </a:rPr>
              <a:t>3 </a:t>
            </a:r>
            <a:r>
              <a:rPr kumimoji="1" lang="en-US" altLang="zh-CN" sz="2400" b="1">
                <a:latin typeface="Times New Roman" pitchFamily="18" charset="0"/>
                <a:ea typeface="+mn-ea"/>
                <a:cs typeface="Times New Roman" pitchFamily="18" charset="0"/>
              </a:rPr>
              <a:t>)</a:t>
            </a:r>
            <a:endParaRPr lang="en-US" altLang="zh-CN" sz="2400" b="1">
              <a:latin typeface="Times New Roman" pitchFamily="18" charset="0"/>
              <a:ea typeface="+mn-ea"/>
              <a:cs typeface="Times New Roman" pitchFamily="18" charset="0"/>
            </a:endParaRPr>
          </a:p>
        </p:txBody>
      </p:sp>
      <p:sp>
        <p:nvSpPr>
          <p:cNvPr id="3" name="Text Box 3"/>
          <p:cNvSpPr txBox="1">
            <a:spLocks noChangeArrowheads="1"/>
          </p:cNvSpPr>
          <p:nvPr/>
        </p:nvSpPr>
        <p:spPr bwMode="auto">
          <a:xfrm>
            <a:off x="769938" y="3633788"/>
            <a:ext cx="7273925" cy="457200"/>
          </a:xfrm>
          <a:prstGeom prst="rect">
            <a:avLst/>
          </a:prstGeom>
          <a:noFill/>
          <a:ln w="9525">
            <a:noFill/>
            <a:miter lim="800000"/>
            <a:headEnd/>
            <a:tailEnd/>
          </a:ln>
        </p:spPr>
        <p:txBody>
          <a:bodyPr>
            <a:spAutoFit/>
          </a:bodyPr>
          <a:lstStyle/>
          <a:p>
            <a:pPr>
              <a:defRPr/>
            </a:pPr>
            <a:r>
              <a:rPr kumimoji="1" lang="zh-CN" altLang="en-US" sz="2400" b="1">
                <a:solidFill>
                  <a:srgbClr val="FF0000"/>
                </a:solidFill>
                <a:latin typeface="Times New Roman" pitchFamily="18" charset="0"/>
                <a:ea typeface="+mn-ea"/>
                <a:cs typeface="Times New Roman" pitchFamily="18" charset="0"/>
              </a:rPr>
              <a:t>微观态</a:t>
            </a:r>
            <a:r>
              <a:rPr kumimoji="1" lang="en-US" altLang="zh-CN" sz="2400" b="1">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在微观上能够加以区别的每一种分配方式   </a:t>
            </a:r>
          </a:p>
        </p:txBody>
      </p:sp>
      <p:sp>
        <p:nvSpPr>
          <p:cNvPr id="4" name="Text Box 4"/>
          <p:cNvSpPr txBox="1">
            <a:spLocks noChangeArrowheads="1"/>
          </p:cNvSpPr>
          <p:nvPr/>
        </p:nvSpPr>
        <p:spPr bwMode="auto">
          <a:xfrm>
            <a:off x="806450" y="4210050"/>
            <a:ext cx="7416800" cy="457200"/>
          </a:xfrm>
          <a:prstGeom prst="rect">
            <a:avLst/>
          </a:prstGeom>
          <a:noFill/>
          <a:ln w="9525">
            <a:noFill/>
            <a:miter lim="800000"/>
            <a:headEnd/>
            <a:tailEnd/>
          </a:ln>
        </p:spPr>
        <p:txBody>
          <a:bodyPr>
            <a:spAutoFit/>
          </a:bodyPr>
          <a:lstStyle/>
          <a:p>
            <a:pPr>
              <a:defRPr/>
            </a:pPr>
            <a:r>
              <a:rPr kumimoji="1" lang="zh-CN" altLang="en-US" sz="2400" b="1">
                <a:solidFill>
                  <a:srgbClr val="FF0000"/>
                </a:solidFill>
                <a:latin typeface="Times New Roman" pitchFamily="18" charset="0"/>
                <a:ea typeface="+mn-ea"/>
                <a:cs typeface="Times New Roman" pitchFamily="18" charset="0"/>
              </a:rPr>
              <a:t>宏观态</a:t>
            </a:r>
            <a:r>
              <a:rPr kumimoji="1" lang="en-US" altLang="zh-CN" sz="2400" b="1">
                <a:latin typeface="Times New Roman" pitchFamily="18" charset="0"/>
                <a:ea typeface="+mn-ea"/>
                <a:cs typeface="Times New Roman" pitchFamily="18" charset="0"/>
              </a:rPr>
              <a:t>:  </a:t>
            </a:r>
            <a:r>
              <a:rPr kumimoji="1" lang="zh-CN" altLang="en-US" sz="2400" b="1">
                <a:latin typeface="Times New Roman" pitchFamily="18" charset="0"/>
                <a:ea typeface="+mn-ea"/>
                <a:cs typeface="Times New Roman" pitchFamily="18" charset="0"/>
              </a:rPr>
              <a:t>宏观上能够加以区分的每一种分布方式</a:t>
            </a:r>
          </a:p>
        </p:txBody>
      </p:sp>
      <p:sp>
        <p:nvSpPr>
          <p:cNvPr id="5" name="Text Box 5"/>
          <p:cNvSpPr txBox="1">
            <a:spLocks noChangeArrowheads="1"/>
          </p:cNvSpPr>
          <p:nvPr/>
        </p:nvSpPr>
        <p:spPr bwMode="auto">
          <a:xfrm>
            <a:off x="5649913" y="4714875"/>
            <a:ext cx="2501900" cy="461963"/>
          </a:xfrm>
          <a:prstGeom prst="rect">
            <a:avLst/>
          </a:prstGeom>
          <a:noFill/>
          <a:ln w="9525">
            <a:noFill/>
            <a:miter lim="800000"/>
            <a:headEnd/>
            <a:tailEnd/>
          </a:ln>
        </p:spPr>
        <p:txBody>
          <a:bodyPr wrap="none">
            <a:spAutoFit/>
          </a:bodyPr>
          <a:lstStyle/>
          <a:p>
            <a:pPr>
              <a:defRPr/>
            </a:pPr>
            <a:r>
              <a:rPr kumimoji="1" lang="zh-CN" altLang="en-US" sz="2400" b="1">
                <a:latin typeface="Times New Roman" pitchFamily="18" charset="0"/>
                <a:ea typeface="+mn-ea"/>
                <a:cs typeface="Times New Roman" pitchFamily="18" charset="0"/>
              </a:rPr>
              <a:t>（</a:t>
            </a:r>
            <a:r>
              <a:rPr kumimoji="1" lang="zh-CN" altLang="en-US" sz="2400" b="1">
                <a:solidFill>
                  <a:srgbClr val="FF0000"/>
                </a:solidFill>
                <a:latin typeface="Times New Roman" pitchFamily="18" charset="0"/>
                <a:ea typeface="+mn-ea"/>
                <a:cs typeface="Times New Roman" pitchFamily="18" charset="0"/>
              </a:rPr>
              <a:t>宏观态数 </a:t>
            </a:r>
            <a:r>
              <a:rPr kumimoji="1" lang="en-US" altLang="zh-CN" sz="2400" b="1">
                <a:latin typeface="Times New Roman" pitchFamily="18" charset="0"/>
                <a:ea typeface="+mn-ea"/>
                <a:cs typeface="Times New Roman" pitchFamily="18" charset="0"/>
              </a:rPr>
              <a:t>4 </a:t>
            </a:r>
            <a:r>
              <a:rPr kumimoji="1" lang="zh-CN" altLang="en-US" sz="2400" b="1">
                <a:latin typeface="Times New Roman" pitchFamily="18" charset="0"/>
                <a:ea typeface="+mn-ea"/>
                <a:cs typeface="Times New Roman" pitchFamily="18" charset="0"/>
              </a:rPr>
              <a:t>）</a:t>
            </a:r>
            <a:r>
              <a:rPr lang="zh-CN" altLang="en-US" sz="2400" b="1">
                <a:latin typeface="Times New Roman" pitchFamily="18" charset="0"/>
                <a:ea typeface="+mn-ea"/>
                <a:cs typeface="Times New Roman" pitchFamily="18" charset="0"/>
              </a:rPr>
              <a:t>  </a:t>
            </a:r>
          </a:p>
        </p:txBody>
      </p:sp>
      <p:sp>
        <p:nvSpPr>
          <p:cNvPr id="6" name="AutoShape 6"/>
          <p:cNvSpPr>
            <a:spLocks noChangeArrowheads="1"/>
          </p:cNvSpPr>
          <p:nvPr/>
        </p:nvSpPr>
        <p:spPr bwMode="auto">
          <a:xfrm>
            <a:off x="2122488" y="5434013"/>
            <a:ext cx="1079500" cy="144462"/>
          </a:xfrm>
          <a:prstGeom prst="rightArrow">
            <a:avLst>
              <a:gd name="adj1" fmla="val 50000"/>
              <a:gd name="adj2" fmla="val 186813"/>
            </a:avLst>
          </a:prstGeom>
          <a:solidFill>
            <a:schemeClr val="accent1"/>
          </a:solidFill>
          <a:ln w="9525">
            <a:solidFill>
              <a:schemeClr val="tx1"/>
            </a:solidFill>
            <a:miter lim="800000"/>
            <a:headEnd/>
            <a:tailEnd/>
          </a:ln>
        </p:spPr>
        <p:txBody>
          <a:bodyPr wrap="none" anchor="ctr"/>
          <a:lstStyle/>
          <a:p>
            <a:pPr algn="ctr">
              <a:defRPr/>
            </a:pPr>
            <a:endParaRPr lang="zh-CN" altLang="en-US" b="1">
              <a:latin typeface="Times New Roman" pitchFamily="18" charset="0"/>
              <a:ea typeface="+mn-ea"/>
              <a:cs typeface="Times New Roman" pitchFamily="18" charset="0"/>
            </a:endParaRPr>
          </a:p>
        </p:txBody>
      </p:sp>
      <p:sp>
        <p:nvSpPr>
          <p:cNvPr id="7" name="Text Box 7"/>
          <p:cNvSpPr txBox="1">
            <a:spLocks noChangeArrowheads="1"/>
          </p:cNvSpPr>
          <p:nvPr/>
        </p:nvSpPr>
        <p:spPr bwMode="auto">
          <a:xfrm>
            <a:off x="3706813" y="5291138"/>
            <a:ext cx="4052887" cy="457200"/>
          </a:xfrm>
          <a:prstGeom prst="rect">
            <a:avLst/>
          </a:prstGeom>
          <a:noFill/>
          <a:ln w="9525">
            <a:noFill/>
            <a:miter lim="800000"/>
            <a:headEnd/>
            <a:tailEnd/>
          </a:ln>
        </p:spPr>
        <p:txBody>
          <a:bodyPr>
            <a:spAutoFit/>
          </a:bodyPr>
          <a:lstStyle/>
          <a:p>
            <a:pPr>
              <a:defRPr/>
            </a:pPr>
            <a:r>
              <a:rPr lang="zh-CN" altLang="en-US" sz="2400" b="1">
                <a:latin typeface="Times New Roman" pitchFamily="18" charset="0"/>
                <a:ea typeface="+mn-ea"/>
                <a:cs typeface="Times New Roman" pitchFamily="18" charset="0"/>
              </a:rPr>
              <a:t>每一种</a:t>
            </a:r>
            <a:r>
              <a:rPr kumimoji="1" lang="zh-CN" altLang="en-US" sz="2400" b="1">
                <a:latin typeface="Times New Roman" pitchFamily="18" charset="0"/>
                <a:ea typeface="+mn-ea"/>
                <a:cs typeface="Times New Roman" pitchFamily="18" charset="0"/>
              </a:rPr>
              <a:t>微观态</a:t>
            </a:r>
            <a:r>
              <a:rPr lang="zh-CN" altLang="en-US" sz="2400" b="1">
                <a:latin typeface="Times New Roman" pitchFamily="18" charset="0"/>
                <a:ea typeface="+mn-ea"/>
                <a:cs typeface="Times New Roman" pitchFamily="18" charset="0"/>
              </a:rPr>
              <a:t>概率</a:t>
            </a:r>
            <a:r>
              <a:rPr lang="en-US" altLang="zh-CN" sz="2400" b="1">
                <a:latin typeface="Times New Roman" pitchFamily="18" charset="0"/>
                <a:ea typeface="+mn-ea"/>
                <a:cs typeface="Times New Roman" pitchFamily="18" charset="0"/>
              </a:rPr>
              <a:t>( </a:t>
            </a:r>
            <a:r>
              <a:rPr kumimoji="1" lang="en-US" altLang="zh-CN" sz="2400" b="1">
                <a:latin typeface="Times New Roman" pitchFamily="18" charset="0"/>
                <a:ea typeface="+mn-ea"/>
                <a:cs typeface="Times New Roman" pitchFamily="18" charset="0"/>
              </a:rPr>
              <a:t>1/2</a:t>
            </a:r>
            <a:r>
              <a:rPr kumimoji="1" lang="en-US" altLang="zh-CN" sz="2400" b="1" baseline="30000">
                <a:latin typeface="Times New Roman" pitchFamily="18" charset="0"/>
                <a:ea typeface="+mn-ea"/>
                <a:cs typeface="Times New Roman" pitchFamily="18" charset="0"/>
              </a:rPr>
              <a:t>3 </a:t>
            </a:r>
            <a:r>
              <a:rPr kumimoji="1" lang="en-US" altLang="zh-CN" sz="2400" b="1">
                <a:latin typeface="Times New Roman" pitchFamily="18" charset="0"/>
                <a:ea typeface="+mn-ea"/>
                <a:cs typeface="Times New Roman" pitchFamily="18" charset="0"/>
              </a:rPr>
              <a:t>)</a:t>
            </a:r>
          </a:p>
        </p:txBody>
      </p:sp>
      <p:sp>
        <p:nvSpPr>
          <p:cNvPr id="8" name="Rectangle 21"/>
          <p:cNvSpPr>
            <a:spLocks noChangeArrowheads="1"/>
          </p:cNvSpPr>
          <p:nvPr/>
        </p:nvSpPr>
        <p:spPr bwMode="auto">
          <a:xfrm>
            <a:off x="666750" y="2071688"/>
            <a:ext cx="1066800" cy="685800"/>
          </a:xfrm>
          <a:prstGeom prst="rect">
            <a:avLst/>
          </a:prstGeom>
          <a:noFill/>
          <a:ln w="9525">
            <a:solidFill>
              <a:schemeClr val="bg1"/>
            </a:solidFill>
            <a:miter lim="800000"/>
            <a:headEnd/>
            <a:tailEnd/>
          </a:ln>
        </p:spPr>
        <p:txBody>
          <a:bodyPr wrap="none" anchor="ctr"/>
          <a:lstStyle/>
          <a:p>
            <a:pPr algn="ctr">
              <a:defRPr/>
            </a:pPr>
            <a:r>
              <a:rPr kumimoji="1" lang="zh-CN" altLang="en-US" sz="2000" b="1" dirty="0">
                <a:solidFill>
                  <a:srgbClr val="0000FF"/>
                </a:solidFill>
                <a:latin typeface="Times New Roman" pitchFamily="18" charset="0"/>
                <a:ea typeface="+mn-ea"/>
                <a:cs typeface="Times New Roman" pitchFamily="18" charset="0"/>
              </a:rPr>
              <a:t>左半边</a:t>
            </a:r>
            <a:endParaRPr kumimoji="1" lang="zh-CN" altLang="en-US" sz="2000" b="1" i="1" dirty="0">
              <a:solidFill>
                <a:srgbClr val="0000FF"/>
              </a:solidFill>
              <a:latin typeface="Times New Roman" pitchFamily="18" charset="0"/>
              <a:ea typeface="+mn-ea"/>
              <a:cs typeface="Times New Roman" pitchFamily="18" charset="0"/>
            </a:endParaRPr>
          </a:p>
        </p:txBody>
      </p:sp>
      <p:sp>
        <p:nvSpPr>
          <p:cNvPr id="9" name="Rectangle 22"/>
          <p:cNvSpPr>
            <a:spLocks noChangeArrowheads="1"/>
          </p:cNvSpPr>
          <p:nvPr/>
        </p:nvSpPr>
        <p:spPr bwMode="auto">
          <a:xfrm>
            <a:off x="666750" y="2757488"/>
            <a:ext cx="1066800" cy="685800"/>
          </a:xfrm>
          <a:prstGeom prst="rect">
            <a:avLst/>
          </a:prstGeom>
          <a:noFill/>
          <a:ln w="9525">
            <a:solidFill>
              <a:schemeClr val="bg1"/>
            </a:solidFill>
            <a:miter lim="800000"/>
            <a:headEnd/>
            <a:tailEnd/>
          </a:ln>
        </p:spPr>
        <p:txBody>
          <a:bodyPr wrap="none" anchor="ctr"/>
          <a:lstStyle/>
          <a:p>
            <a:pPr algn="ctr">
              <a:defRPr/>
            </a:pPr>
            <a:r>
              <a:rPr kumimoji="1" lang="zh-CN" altLang="en-US" sz="2000" b="1">
                <a:solidFill>
                  <a:srgbClr val="0000FF"/>
                </a:solidFill>
                <a:latin typeface="Times New Roman" pitchFamily="18" charset="0"/>
                <a:ea typeface="+mn-ea"/>
                <a:cs typeface="Times New Roman" pitchFamily="18" charset="0"/>
              </a:rPr>
              <a:t>右半边</a:t>
            </a:r>
            <a:endParaRPr kumimoji="1" lang="zh-CN" altLang="en-US" sz="2000" b="1" i="1">
              <a:solidFill>
                <a:srgbClr val="0000FF"/>
              </a:solidFill>
              <a:latin typeface="Times New Roman" pitchFamily="18" charset="0"/>
              <a:ea typeface="+mn-ea"/>
              <a:cs typeface="Times New Roman" pitchFamily="18" charset="0"/>
            </a:endParaRPr>
          </a:p>
        </p:txBody>
      </p:sp>
      <p:sp>
        <p:nvSpPr>
          <p:cNvPr id="10" name="Rectangle 23"/>
          <p:cNvSpPr>
            <a:spLocks noChangeArrowheads="1"/>
          </p:cNvSpPr>
          <p:nvPr/>
        </p:nvSpPr>
        <p:spPr bwMode="auto">
          <a:xfrm>
            <a:off x="1733550" y="2071688"/>
            <a:ext cx="838200" cy="685800"/>
          </a:xfrm>
          <a:prstGeom prst="rect">
            <a:avLst/>
          </a:prstGeom>
          <a:solidFill>
            <a:srgbClr val="66CCFF">
              <a:alpha val="76862"/>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abc</a:t>
            </a:r>
          </a:p>
        </p:txBody>
      </p:sp>
      <p:sp>
        <p:nvSpPr>
          <p:cNvPr id="11" name="Rectangle 24"/>
          <p:cNvSpPr>
            <a:spLocks noChangeArrowheads="1"/>
          </p:cNvSpPr>
          <p:nvPr/>
        </p:nvSpPr>
        <p:spPr bwMode="auto">
          <a:xfrm>
            <a:off x="1733550" y="2757488"/>
            <a:ext cx="838200" cy="685800"/>
          </a:xfrm>
          <a:prstGeom prst="rect">
            <a:avLst/>
          </a:prstGeom>
          <a:solidFill>
            <a:srgbClr val="66CCFF">
              <a:alpha val="76862"/>
            </a:srgbClr>
          </a:solidFill>
          <a:ln w="9525">
            <a:solidFill>
              <a:schemeClr val="bg1"/>
            </a:solidFill>
            <a:miter lim="800000"/>
            <a:headEnd/>
            <a:tailEnd/>
          </a:ln>
        </p:spPr>
        <p:txBody>
          <a:bodyPr wrap="none" anchor="ctr"/>
          <a:lstStyle/>
          <a:p>
            <a:pPr algn="ctr">
              <a:defRPr/>
            </a:pPr>
            <a:r>
              <a:rPr kumimoji="1" lang="en-US" altLang="zh-CN" sz="2800" b="1">
                <a:latin typeface="Times New Roman" pitchFamily="18" charset="0"/>
                <a:ea typeface="+mn-ea"/>
                <a:cs typeface="Times New Roman" pitchFamily="18" charset="0"/>
              </a:rPr>
              <a:t>0</a:t>
            </a:r>
          </a:p>
        </p:txBody>
      </p:sp>
      <p:grpSp>
        <p:nvGrpSpPr>
          <p:cNvPr id="12" name="Group 25"/>
          <p:cNvGrpSpPr>
            <a:grpSpLocks/>
          </p:cNvGrpSpPr>
          <p:nvPr/>
        </p:nvGrpSpPr>
        <p:grpSpPr bwMode="auto">
          <a:xfrm>
            <a:off x="2571750" y="2071688"/>
            <a:ext cx="2514600" cy="685800"/>
            <a:chOff x="1584" y="2928"/>
            <a:chExt cx="1584" cy="432"/>
          </a:xfrm>
        </p:grpSpPr>
        <p:sp>
          <p:nvSpPr>
            <p:cNvPr id="13" name="Rectangle 26"/>
            <p:cNvSpPr>
              <a:spLocks noChangeArrowheads="1"/>
            </p:cNvSpPr>
            <p:nvPr/>
          </p:nvSpPr>
          <p:spPr bwMode="auto">
            <a:xfrm>
              <a:off x="1584" y="2928"/>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ab</a:t>
              </a:r>
            </a:p>
          </p:txBody>
        </p:sp>
        <p:sp>
          <p:nvSpPr>
            <p:cNvPr id="14" name="Rectangle 27"/>
            <p:cNvSpPr>
              <a:spLocks noChangeArrowheads="1"/>
            </p:cNvSpPr>
            <p:nvPr/>
          </p:nvSpPr>
          <p:spPr bwMode="auto">
            <a:xfrm>
              <a:off x="2112" y="2928"/>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bc</a:t>
              </a:r>
            </a:p>
          </p:txBody>
        </p:sp>
        <p:sp>
          <p:nvSpPr>
            <p:cNvPr id="15" name="Rectangle 28"/>
            <p:cNvSpPr>
              <a:spLocks noChangeArrowheads="1"/>
            </p:cNvSpPr>
            <p:nvPr/>
          </p:nvSpPr>
          <p:spPr bwMode="auto">
            <a:xfrm>
              <a:off x="2640" y="2928"/>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ac</a:t>
              </a:r>
            </a:p>
          </p:txBody>
        </p:sp>
      </p:grpSp>
      <p:grpSp>
        <p:nvGrpSpPr>
          <p:cNvPr id="16" name="Group 29"/>
          <p:cNvGrpSpPr>
            <a:grpSpLocks/>
          </p:cNvGrpSpPr>
          <p:nvPr/>
        </p:nvGrpSpPr>
        <p:grpSpPr bwMode="auto">
          <a:xfrm>
            <a:off x="2571750" y="2757488"/>
            <a:ext cx="2514600" cy="685800"/>
            <a:chOff x="1584" y="3360"/>
            <a:chExt cx="1584" cy="432"/>
          </a:xfrm>
        </p:grpSpPr>
        <p:sp>
          <p:nvSpPr>
            <p:cNvPr id="17" name="Rectangle 30"/>
            <p:cNvSpPr>
              <a:spLocks noChangeArrowheads="1"/>
            </p:cNvSpPr>
            <p:nvPr/>
          </p:nvSpPr>
          <p:spPr bwMode="auto">
            <a:xfrm>
              <a:off x="1584" y="3360"/>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c</a:t>
              </a:r>
            </a:p>
          </p:txBody>
        </p:sp>
        <p:sp>
          <p:nvSpPr>
            <p:cNvPr id="18" name="Rectangle 31"/>
            <p:cNvSpPr>
              <a:spLocks noChangeArrowheads="1"/>
            </p:cNvSpPr>
            <p:nvPr/>
          </p:nvSpPr>
          <p:spPr bwMode="auto">
            <a:xfrm>
              <a:off x="2112" y="3360"/>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a:t>
              </a:r>
            </a:p>
          </p:txBody>
        </p:sp>
        <p:sp>
          <p:nvSpPr>
            <p:cNvPr id="19" name="Rectangle 32"/>
            <p:cNvSpPr>
              <a:spLocks noChangeArrowheads="1"/>
            </p:cNvSpPr>
            <p:nvPr/>
          </p:nvSpPr>
          <p:spPr bwMode="auto">
            <a:xfrm>
              <a:off x="2640" y="3360"/>
              <a:ext cx="528" cy="432"/>
            </a:xfrm>
            <a:prstGeom prst="rect">
              <a:avLst/>
            </a:prstGeom>
            <a:solidFill>
              <a:srgbClr val="CC99FF">
                <a:alpha val="3294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b</a:t>
              </a:r>
            </a:p>
          </p:txBody>
        </p:sp>
      </p:grpSp>
      <p:grpSp>
        <p:nvGrpSpPr>
          <p:cNvPr id="20" name="Group 33"/>
          <p:cNvGrpSpPr>
            <a:grpSpLocks/>
          </p:cNvGrpSpPr>
          <p:nvPr/>
        </p:nvGrpSpPr>
        <p:grpSpPr bwMode="auto">
          <a:xfrm>
            <a:off x="5086350" y="2071688"/>
            <a:ext cx="2514600" cy="685800"/>
            <a:chOff x="3168" y="2928"/>
            <a:chExt cx="1584" cy="432"/>
          </a:xfrm>
        </p:grpSpPr>
        <p:sp>
          <p:nvSpPr>
            <p:cNvPr id="21" name="Rectangle 34"/>
            <p:cNvSpPr>
              <a:spLocks noChangeArrowheads="1"/>
            </p:cNvSpPr>
            <p:nvPr/>
          </p:nvSpPr>
          <p:spPr bwMode="auto">
            <a:xfrm>
              <a:off x="3168" y="2928"/>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a:t>
              </a:r>
            </a:p>
          </p:txBody>
        </p:sp>
        <p:sp>
          <p:nvSpPr>
            <p:cNvPr id="22" name="Rectangle 35"/>
            <p:cNvSpPr>
              <a:spLocks noChangeArrowheads="1"/>
            </p:cNvSpPr>
            <p:nvPr/>
          </p:nvSpPr>
          <p:spPr bwMode="auto">
            <a:xfrm>
              <a:off x="3696" y="2928"/>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b</a:t>
              </a:r>
            </a:p>
          </p:txBody>
        </p:sp>
        <p:sp>
          <p:nvSpPr>
            <p:cNvPr id="23" name="Rectangle 36"/>
            <p:cNvSpPr>
              <a:spLocks noChangeArrowheads="1"/>
            </p:cNvSpPr>
            <p:nvPr/>
          </p:nvSpPr>
          <p:spPr bwMode="auto">
            <a:xfrm>
              <a:off x="4224" y="2928"/>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c</a:t>
              </a:r>
            </a:p>
          </p:txBody>
        </p:sp>
      </p:grpSp>
      <p:grpSp>
        <p:nvGrpSpPr>
          <p:cNvPr id="24" name="Group 37"/>
          <p:cNvGrpSpPr>
            <a:grpSpLocks/>
          </p:cNvGrpSpPr>
          <p:nvPr/>
        </p:nvGrpSpPr>
        <p:grpSpPr bwMode="auto">
          <a:xfrm>
            <a:off x="5086350" y="2757488"/>
            <a:ext cx="2514600" cy="685800"/>
            <a:chOff x="3168" y="3360"/>
            <a:chExt cx="1584" cy="432"/>
          </a:xfrm>
        </p:grpSpPr>
        <p:sp>
          <p:nvSpPr>
            <p:cNvPr id="25" name="Rectangle 38"/>
            <p:cNvSpPr>
              <a:spLocks noChangeArrowheads="1"/>
            </p:cNvSpPr>
            <p:nvPr/>
          </p:nvSpPr>
          <p:spPr bwMode="auto">
            <a:xfrm>
              <a:off x="3168" y="3360"/>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bc</a:t>
              </a:r>
            </a:p>
          </p:txBody>
        </p:sp>
        <p:sp>
          <p:nvSpPr>
            <p:cNvPr id="26" name="Rectangle 39"/>
            <p:cNvSpPr>
              <a:spLocks noChangeArrowheads="1"/>
            </p:cNvSpPr>
            <p:nvPr/>
          </p:nvSpPr>
          <p:spPr bwMode="auto">
            <a:xfrm>
              <a:off x="3696" y="3360"/>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ac</a:t>
              </a:r>
            </a:p>
          </p:txBody>
        </p:sp>
        <p:sp>
          <p:nvSpPr>
            <p:cNvPr id="27" name="Rectangle 40"/>
            <p:cNvSpPr>
              <a:spLocks noChangeArrowheads="1"/>
            </p:cNvSpPr>
            <p:nvPr/>
          </p:nvSpPr>
          <p:spPr bwMode="auto">
            <a:xfrm>
              <a:off x="4224" y="3360"/>
              <a:ext cx="528" cy="432"/>
            </a:xfrm>
            <a:prstGeom prst="rect">
              <a:avLst/>
            </a:prstGeom>
            <a:solidFill>
              <a:srgbClr val="00CC99">
                <a:alpha val="43921"/>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ab</a:t>
              </a:r>
            </a:p>
          </p:txBody>
        </p:sp>
      </p:grpSp>
      <p:sp>
        <p:nvSpPr>
          <p:cNvPr id="28" name="Rectangle 41"/>
          <p:cNvSpPr>
            <a:spLocks noChangeArrowheads="1"/>
          </p:cNvSpPr>
          <p:nvPr/>
        </p:nvSpPr>
        <p:spPr bwMode="auto">
          <a:xfrm>
            <a:off x="7600950" y="2071688"/>
            <a:ext cx="838200" cy="685800"/>
          </a:xfrm>
          <a:prstGeom prst="rect">
            <a:avLst/>
          </a:prstGeom>
          <a:solidFill>
            <a:srgbClr val="FFCCFF">
              <a:alpha val="70195"/>
            </a:srgbClr>
          </a:solidFill>
          <a:ln w="9525">
            <a:solidFill>
              <a:schemeClr val="bg1"/>
            </a:solidFill>
            <a:miter lim="800000"/>
            <a:headEnd/>
            <a:tailEnd/>
          </a:ln>
        </p:spPr>
        <p:txBody>
          <a:bodyPr wrap="none" anchor="ctr"/>
          <a:lstStyle/>
          <a:p>
            <a:pPr algn="ctr">
              <a:defRPr/>
            </a:pPr>
            <a:r>
              <a:rPr kumimoji="1" lang="en-US" altLang="zh-CN" sz="2800" b="1">
                <a:latin typeface="Times New Roman" pitchFamily="18" charset="0"/>
                <a:ea typeface="+mn-ea"/>
                <a:cs typeface="Times New Roman" pitchFamily="18" charset="0"/>
              </a:rPr>
              <a:t>0</a:t>
            </a:r>
          </a:p>
        </p:txBody>
      </p:sp>
      <p:sp>
        <p:nvSpPr>
          <p:cNvPr id="29" name="Rectangle 42"/>
          <p:cNvSpPr>
            <a:spLocks noChangeArrowheads="1"/>
          </p:cNvSpPr>
          <p:nvPr/>
        </p:nvSpPr>
        <p:spPr bwMode="auto">
          <a:xfrm>
            <a:off x="7600950" y="2757488"/>
            <a:ext cx="838200" cy="685800"/>
          </a:xfrm>
          <a:prstGeom prst="rect">
            <a:avLst/>
          </a:prstGeom>
          <a:solidFill>
            <a:srgbClr val="FFCCFF">
              <a:alpha val="70195"/>
            </a:srgbClr>
          </a:solidFill>
          <a:ln w="9525">
            <a:solidFill>
              <a:schemeClr val="bg1"/>
            </a:solidFill>
            <a:miter lim="800000"/>
            <a:headEnd/>
            <a:tailEnd/>
          </a:ln>
        </p:spPr>
        <p:txBody>
          <a:bodyPr wrap="none" anchor="ctr"/>
          <a:lstStyle/>
          <a:p>
            <a:pPr algn="ctr">
              <a:defRPr/>
            </a:pPr>
            <a:r>
              <a:rPr kumimoji="1" lang="en-US" altLang="zh-CN" sz="2800" b="1" i="1">
                <a:latin typeface="Times New Roman" pitchFamily="18" charset="0"/>
                <a:ea typeface="+mn-ea"/>
                <a:cs typeface="Times New Roman" pitchFamily="18" charset="0"/>
              </a:rPr>
              <a:t>abc</a:t>
            </a:r>
          </a:p>
        </p:txBody>
      </p:sp>
      <p:sp>
        <p:nvSpPr>
          <p:cNvPr id="30" name="Text Box 82"/>
          <p:cNvSpPr txBox="1">
            <a:spLocks noChangeArrowheads="1"/>
          </p:cNvSpPr>
          <p:nvPr/>
        </p:nvSpPr>
        <p:spPr bwMode="auto">
          <a:xfrm>
            <a:off x="571500" y="571500"/>
            <a:ext cx="3311525"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mn-ea"/>
                <a:ea typeface="+mn-ea"/>
              </a:rPr>
              <a:t>3</a:t>
            </a:r>
            <a:r>
              <a:rPr kumimoji="1" lang="zh-CN" altLang="en-US" sz="2400" b="1" dirty="0">
                <a:solidFill>
                  <a:srgbClr val="0000FF"/>
                </a:solidFill>
                <a:latin typeface="+mn-ea"/>
                <a:ea typeface="+mn-ea"/>
              </a:rPr>
              <a:t>个分子的分配方式</a:t>
            </a:r>
          </a:p>
        </p:txBody>
      </p:sp>
      <p:sp>
        <p:nvSpPr>
          <p:cNvPr id="31" name="Rectangle 8"/>
          <p:cNvSpPr>
            <a:spLocks noChangeArrowheads="1"/>
          </p:cNvSpPr>
          <p:nvPr/>
        </p:nvSpPr>
        <p:spPr bwMode="auto">
          <a:xfrm>
            <a:off x="4044950" y="609600"/>
            <a:ext cx="3048000" cy="1219200"/>
          </a:xfrm>
          <a:prstGeom prst="rect">
            <a:avLst/>
          </a:prstGeom>
          <a:gradFill rotWithShape="1">
            <a:gsLst>
              <a:gs pos="0">
                <a:srgbClr val="762525"/>
              </a:gs>
              <a:gs pos="50000">
                <a:srgbClr val="FF5050"/>
              </a:gs>
              <a:gs pos="100000">
                <a:srgbClr val="762525"/>
              </a:gs>
            </a:gsLst>
            <a:lin ang="5400000" scaled="1"/>
          </a:gradFill>
          <a:ln w="9525">
            <a:solidFill>
              <a:schemeClr val="tx1"/>
            </a:solidFill>
            <a:miter lim="800000"/>
            <a:headEnd/>
            <a:tailEnd/>
          </a:ln>
        </p:spPr>
        <p:txBody>
          <a:bodyPr wrap="none" anchor="ctr"/>
          <a:lstStyle/>
          <a:p>
            <a:pPr algn="ctr"/>
            <a:endParaRPr lang="zh-CN" altLang="en-US" i="1">
              <a:latin typeface="Times New Roman" pitchFamily="18" charset="0"/>
              <a:cs typeface="Times New Roman" pitchFamily="18" charset="0"/>
            </a:endParaRPr>
          </a:p>
        </p:txBody>
      </p:sp>
      <p:sp>
        <p:nvSpPr>
          <p:cNvPr id="32" name="Rectangle 9"/>
          <p:cNvSpPr>
            <a:spLocks noChangeArrowheads="1"/>
          </p:cNvSpPr>
          <p:nvPr/>
        </p:nvSpPr>
        <p:spPr bwMode="auto">
          <a:xfrm>
            <a:off x="4143375" y="714375"/>
            <a:ext cx="2879725" cy="1009650"/>
          </a:xfrm>
          <a:prstGeom prst="rect">
            <a:avLst/>
          </a:prstGeom>
          <a:solidFill>
            <a:schemeClr val="bg1"/>
          </a:solidFill>
          <a:ln w="9525">
            <a:noFill/>
            <a:miter lim="800000"/>
            <a:headEnd/>
            <a:tailEnd/>
          </a:ln>
        </p:spPr>
        <p:txBody>
          <a:bodyPr wrap="none" anchor="ctr"/>
          <a:lstStyle/>
          <a:p>
            <a:pPr algn="ctr"/>
            <a:endParaRPr lang="zh-CN" altLang="en-US" i="1">
              <a:latin typeface="Times New Roman" pitchFamily="18" charset="0"/>
              <a:cs typeface="Times New Roman" pitchFamily="18" charset="0"/>
            </a:endParaRPr>
          </a:p>
        </p:txBody>
      </p:sp>
      <p:sp>
        <p:nvSpPr>
          <p:cNvPr id="33" name="Rectangle 11"/>
          <p:cNvSpPr>
            <a:spLocks noChangeArrowheads="1"/>
          </p:cNvSpPr>
          <p:nvPr/>
        </p:nvSpPr>
        <p:spPr bwMode="auto">
          <a:xfrm>
            <a:off x="5546725" y="606425"/>
            <a:ext cx="77788" cy="1147763"/>
          </a:xfrm>
          <a:prstGeom prst="rect">
            <a:avLst/>
          </a:prstGeom>
          <a:noFill/>
          <a:ln w="9525">
            <a:solidFill>
              <a:schemeClr val="tx1"/>
            </a:solidFill>
            <a:prstDash val="dash"/>
            <a:miter lim="800000"/>
            <a:headEnd/>
            <a:tailEnd/>
          </a:ln>
        </p:spPr>
        <p:txBody>
          <a:bodyPr wrap="none" anchor="ctr"/>
          <a:lstStyle/>
          <a:p>
            <a:pPr algn="ctr"/>
            <a:endParaRPr lang="zh-CN" altLang="en-US" i="1">
              <a:latin typeface="Times New Roman" pitchFamily="18" charset="0"/>
              <a:cs typeface="Times New Roman" pitchFamily="18" charset="0"/>
            </a:endParaRPr>
          </a:p>
        </p:txBody>
      </p:sp>
      <p:grpSp>
        <p:nvGrpSpPr>
          <p:cNvPr id="34" name="Group 12"/>
          <p:cNvGrpSpPr>
            <a:grpSpLocks/>
          </p:cNvGrpSpPr>
          <p:nvPr/>
        </p:nvGrpSpPr>
        <p:grpSpPr bwMode="auto">
          <a:xfrm>
            <a:off x="4321175" y="895350"/>
            <a:ext cx="490538" cy="461963"/>
            <a:chOff x="3744" y="2064"/>
            <a:chExt cx="309" cy="291"/>
          </a:xfrm>
        </p:grpSpPr>
        <p:graphicFrame>
          <p:nvGraphicFramePr>
            <p:cNvPr id="72708" name="Object 13"/>
            <p:cNvGraphicFramePr>
              <a:graphicFrameLocks noChangeAspect="1"/>
            </p:cNvGraphicFramePr>
            <p:nvPr/>
          </p:nvGraphicFramePr>
          <p:xfrm>
            <a:off x="3744" y="2160"/>
            <a:ext cx="144" cy="144"/>
          </p:xfrm>
          <a:graphic>
            <a:graphicData uri="http://schemas.openxmlformats.org/presentationml/2006/ole">
              <p:oleObj spid="_x0000_s72708" name="Equation" r:id="rId3" imgW="114120" imgH="114120" progId="Equation.3">
                <p:embed/>
              </p:oleObj>
            </a:graphicData>
          </a:graphic>
        </p:graphicFrame>
        <p:sp>
          <p:nvSpPr>
            <p:cNvPr id="72735" name="Text Box 14"/>
            <p:cNvSpPr txBox="1">
              <a:spLocks noChangeArrowheads="1"/>
            </p:cNvSpPr>
            <p:nvPr/>
          </p:nvSpPr>
          <p:spPr bwMode="auto">
            <a:xfrm>
              <a:off x="3840" y="2064"/>
              <a:ext cx="213" cy="291"/>
            </a:xfrm>
            <a:prstGeom prst="rect">
              <a:avLst/>
            </a:prstGeom>
            <a:noFill/>
            <a:ln w="9525">
              <a:noFill/>
              <a:miter lim="800000"/>
              <a:headEnd/>
              <a:tailEnd/>
            </a:ln>
          </p:spPr>
          <p:txBody>
            <a:bodyPr wrap="none">
              <a:spAutoFit/>
            </a:bodyPr>
            <a:lstStyle/>
            <a:p>
              <a:r>
                <a:rPr kumimoji="1" lang="en-US" altLang="zh-CN" sz="2400" i="1">
                  <a:latin typeface="Times New Roman" pitchFamily="18" charset="0"/>
                  <a:cs typeface="Times New Roman" pitchFamily="18" charset="0"/>
                </a:rPr>
                <a:t>a</a:t>
              </a:r>
            </a:p>
          </p:txBody>
        </p:sp>
      </p:grpSp>
      <p:grpSp>
        <p:nvGrpSpPr>
          <p:cNvPr id="35" name="Group 15"/>
          <p:cNvGrpSpPr>
            <a:grpSpLocks/>
          </p:cNvGrpSpPr>
          <p:nvPr/>
        </p:nvGrpSpPr>
        <p:grpSpPr bwMode="auto">
          <a:xfrm>
            <a:off x="4930775" y="839788"/>
            <a:ext cx="490538" cy="461962"/>
            <a:chOff x="4128" y="2064"/>
            <a:chExt cx="309" cy="291"/>
          </a:xfrm>
        </p:grpSpPr>
        <p:graphicFrame>
          <p:nvGraphicFramePr>
            <p:cNvPr id="72707" name="Object 16"/>
            <p:cNvGraphicFramePr>
              <a:graphicFrameLocks noChangeAspect="1"/>
            </p:cNvGraphicFramePr>
            <p:nvPr/>
          </p:nvGraphicFramePr>
          <p:xfrm>
            <a:off x="4128" y="2160"/>
            <a:ext cx="144" cy="144"/>
          </p:xfrm>
          <a:graphic>
            <a:graphicData uri="http://schemas.openxmlformats.org/presentationml/2006/ole">
              <p:oleObj spid="_x0000_s72707" name="Equation" r:id="rId4" imgW="114120" imgH="114120" progId="Equation.3">
                <p:embed/>
              </p:oleObj>
            </a:graphicData>
          </a:graphic>
        </p:graphicFrame>
        <p:sp>
          <p:nvSpPr>
            <p:cNvPr id="72734" name="Text Box 17"/>
            <p:cNvSpPr txBox="1">
              <a:spLocks noChangeArrowheads="1"/>
            </p:cNvSpPr>
            <p:nvPr/>
          </p:nvSpPr>
          <p:spPr bwMode="auto">
            <a:xfrm>
              <a:off x="4224" y="2064"/>
              <a:ext cx="213" cy="291"/>
            </a:xfrm>
            <a:prstGeom prst="rect">
              <a:avLst/>
            </a:prstGeom>
            <a:noFill/>
            <a:ln w="9525">
              <a:noFill/>
              <a:miter lim="800000"/>
              <a:headEnd/>
              <a:tailEnd/>
            </a:ln>
          </p:spPr>
          <p:txBody>
            <a:bodyPr wrap="none">
              <a:spAutoFit/>
            </a:bodyPr>
            <a:lstStyle/>
            <a:p>
              <a:r>
                <a:rPr kumimoji="1" lang="en-US" altLang="zh-CN" sz="2400" i="1">
                  <a:latin typeface="Times New Roman" pitchFamily="18" charset="0"/>
                  <a:cs typeface="Times New Roman" pitchFamily="18" charset="0"/>
                </a:rPr>
                <a:t>b</a:t>
              </a:r>
            </a:p>
          </p:txBody>
        </p:sp>
      </p:grpSp>
      <p:grpSp>
        <p:nvGrpSpPr>
          <p:cNvPr id="36" name="Group 18"/>
          <p:cNvGrpSpPr>
            <a:grpSpLocks/>
          </p:cNvGrpSpPr>
          <p:nvPr/>
        </p:nvGrpSpPr>
        <p:grpSpPr bwMode="auto">
          <a:xfrm>
            <a:off x="4625975" y="1200150"/>
            <a:ext cx="471488" cy="457200"/>
            <a:chOff x="3936" y="2256"/>
            <a:chExt cx="297" cy="288"/>
          </a:xfrm>
        </p:grpSpPr>
        <p:graphicFrame>
          <p:nvGraphicFramePr>
            <p:cNvPr id="72706" name="Object 19"/>
            <p:cNvGraphicFramePr>
              <a:graphicFrameLocks noChangeAspect="1"/>
            </p:cNvGraphicFramePr>
            <p:nvPr/>
          </p:nvGraphicFramePr>
          <p:xfrm>
            <a:off x="3936" y="2352"/>
            <a:ext cx="144" cy="144"/>
          </p:xfrm>
          <a:graphic>
            <a:graphicData uri="http://schemas.openxmlformats.org/presentationml/2006/ole">
              <p:oleObj spid="_x0000_s72706" name="Equation" r:id="rId5" imgW="114120" imgH="114120" progId="Equation.3">
                <p:embed/>
              </p:oleObj>
            </a:graphicData>
          </a:graphic>
        </p:graphicFrame>
        <p:sp>
          <p:nvSpPr>
            <p:cNvPr id="72733" name="Text Box 20"/>
            <p:cNvSpPr txBox="1">
              <a:spLocks noChangeArrowheads="1"/>
            </p:cNvSpPr>
            <p:nvPr/>
          </p:nvSpPr>
          <p:spPr bwMode="auto">
            <a:xfrm>
              <a:off x="4032" y="2256"/>
              <a:ext cx="201" cy="288"/>
            </a:xfrm>
            <a:prstGeom prst="rect">
              <a:avLst/>
            </a:prstGeom>
            <a:noFill/>
            <a:ln w="9525">
              <a:noFill/>
              <a:miter lim="800000"/>
              <a:headEnd/>
              <a:tailEnd/>
            </a:ln>
          </p:spPr>
          <p:txBody>
            <a:bodyPr wrap="none">
              <a:spAutoFit/>
            </a:bodyPr>
            <a:lstStyle/>
            <a:p>
              <a:r>
                <a:rPr kumimoji="1" lang="en-US" altLang="zh-CN" sz="2400" i="1">
                  <a:latin typeface="Times New Roman" pitchFamily="18" charset="0"/>
                  <a:cs typeface="Times New Roman" pitchFamily="18" charset="0"/>
                </a:rPr>
                <a:t>c</a:t>
              </a:r>
            </a:p>
          </p:txBody>
        </p:sp>
      </p:grpSp>
      <p:sp>
        <p:nvSpPr>
          <p:cNvPr id="43" name="AutoShape 20"/>
          <p:cNvSpPr>
            <a:spLocks noChangeArrowheads="1"/>
          </p:cNvSpPr>
          <p:nvPr/>
        </p:nvSpPr>
        <p:spPr bwMode="auto">
          <a:xfrm>
            <a:off x="206375" y="53181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sz="2400">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strVal val="#ppt_w+.3"/>
                                          </p:val>
                                        </p:tav>
                                        <p:tav tm="100000">
                                          <p:val>
                                            <p:strVal val="#ppt_w"/>
                                          </p:val>
                                        </p:tav>
                                      </p:tavLst>
                                    </p:anim>
                                    <p:anim calcmode="lin" valueType="num">
                                      <p:cBhvr>
                                        <p:cTn id="8" dur="1000" fill="hold"/>
                                        <p:tgtEl>
                                          <p:spTgt spid="43"/>
                                        </p:tgtEl>
                                        <p:attrNameLst>
                                          <p:attrName>ppt_h</p:attrName>
                                        </p:attrNameLst>
                                      </p:cBhvr>
                                      <p:tavLst>
                                        <p:tav tm="0">
                                          <p:val>
                                            <p:strVal val="#ppt_h"/>
                                          </p:val>
                                        </p:tav>
                                        <p:tav tm="100000">
                                          <p:val>
                                            <p:strVal val="#ppt_h"/>
                                          </p:val>
                                        </p:tav>
                                      </p:tavLst>
                                    </p:anim>
                                    <p:animEffect transition="in" filter="fade">
                                      <p:cBhvr>
                                        <p:cTn id="9" dur="1000"/>
                                        <p:tgtEl>
                                          <p:spTgt spid="43"/>
                                        </p:tgtEl>
                                      </p:cBhvr>
                                    </p:animEffect>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left)">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down)">
                                      <p:cBhvr>
                                        <p:cTn id="18" dur="500"/>
                                        <p:tgtEl>
                                          <p:spTgt spid="31"/>
                                        </p:tgtEl>
                                      </p:cBhvr>
                                    </p:animEffect>
                                  </p:childTnLst>
                                </p:cTn>
                              </p:par>
                            </p:childTnLst>
                          </p:cTn>
                        </p:par>
                        <p:par>
                          <p:cTn id="19" fill="hold">
                            <p:stCondLst>
                              <p:cond delay="500"/>
                            </p:stCondLst>
                            <p:childTnLst>
                              <p:par>
                                <p:cTn id="20" presetID="22" presetClass="entr" presetSubtype="4"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down)">
                                      <p:cBhvr>
                                        <p:cTn id="22" dur="500"/>
                                        <p:tgtEl>
                                          <p:spTgt spid="32"/>
                                        </p:tgtEl>
                                      </p:cBhvr>
                                    </p:animEffect>
                                  </p:childTnLst>
                                </p:cTn>
                              </p:par>
                            </p:childTnLst>
                          </p:cTn>
                        </p:par>
                        <p:par>
                          <p:cTn id="23" fill="hold">
                            <p:stCondLst>
                              <p:cond delay="1000"/>
                            </p:stCondLst>
                            <p:childTnLst>
                              <p:par>
                                <p:cTn id="24" presetID="22" presetClass="entr" presetSubtype="4"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down)">
                                      <p:cBhvr>
                                        <p:cTn id="26" dur="500"/>
                                        <p:tgtEl>
                                          <p:spTgt spid="33"/>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down)">
                                      <p:cBhvr>
                                        <p:cTn id="30" dur="500"/>
                                        <p:tgtEl>
                                          <p:spTgt spid="34"/>
                                        </p:tgtEl>
                                      </p:cBhvr>
                                    </p:animEffect>
                                  </p:childTnLst>
                                </p:cTn>
                              </p:par>
                            </p:childTnLst>
                          </p:cTn>
                        </p:par>
                        <p:par>
                          <p:cTn id="31" fill="hold">
                            <p:stCondLst>
                              <p:cond delay="2000"/>
                            </p:stCondLst>
                            <p:childTnLst>
                              <p:par>
                                <p:cTn id="32" presetID="22" presetClass="entr" presetSubtype="4" fill="hold"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down)">
                                      <p:cBhvr>
                                        <p:cTn id="34" dur="500"/>
                                        <p:tgtEl>
                                          <p:spTgt spid="35"/>
                                        </p:tgtEl>
                                      </p:cBhvr>
                                    </p:animEffect>
                                  </p:childTnLst>
                                </p:cTn>
                              </p:par>
                            </p:childTnLst>
                          </p:cTn>
                        </p:par>
                        <p:par>
                          <p:cTn id="35" fill="hold">
                            <p:stCondLst>
                              <p:cond delay="2500"/>
                            </p:stCondLst>
                            <p:childTnLst>
                              <p:par>
                                <p:cTn id="36" presetID="22" presetClass="entr" presetSubtype="4" fill="hold" nodeType="after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wipe(down)">
                                      <p:cBhvr>
                                        <p:cTn id="38" dur="500"/>
                                        <p:tgtEl>
                                          <p:spTgt spid="3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par>
                                <p:cTn id="53" presetID="3" presetClass="entr" presetSubtype="10"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linds(horizontal)">
                                      <p:cBhvr>
                                        <p:cTn id="55" dur="500"/>
                                        <p:tgtEl>
                                          <p:spTgt spid="12"/>
                                        </p:tgtEl>
                                      </p:cBhvr>
                                    </p:animEffect>
                                  </p:childTnLst>
                                </p:cTn>
                              </p:par>
                              <p:par>
                                <p:cTn id="56" presetID="3" presetClass="entr" presetSubtype="10"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linds(horizontal)">
                                      <p:cBhvr>
                                        <p:cTn id="58" dur="500"/>
                                        <p:tgtEl>
                                          <p:spTgt spid="16"/>
                                        </p:tgtEl>
                                      </p:cBhvr>
                                    </p:animEffect>
                                  </p:childTnLst>
                                </p:cTn>
                              </p:par>
                              <p:par>
                                <p:cTn id="59" presetID="3" presetClass="entr" presetSubtype="1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blinds(horizontal)">
                                      <p:cBhvr>
                                        <p:cTn id="61" dur="500"/>
                                        <p:tgtEl>
                                          <p:spTgt spid="20"/>
                                        </p:tgtEl>
                                      </p:cBhvr>
                                    </p:animEffect>
                                  </p:childTnLst>
                                </p:cTn>
                              </p:par>
                              <p:par>
                                <p:cTn id="62" presetID="3" presetClass="entr" presetSubtype="1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blinds(horizontal)">
                                      <p:cBhvr>
                                        <p:cTn id="64" dur="500"/>
                                        <p:tgtEl>
                                          <p:spTgt spid="24"/>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blinds(horizontal)">
                                      <p:cBhvr>
                                        <p:cTn id="67" dur="500"/>
                                        <p:tgtEl>
                                          <p:spTgt spid="28"/>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blinds(horizontal)">
                                      <p:cBhvr>
                                        <p:cTn id="70" dur="500"/>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wipe(left)">
                                      <p:cBhvr>
                                        <p:cTn id="75" dur="500"/>
                                        <p:tgtEl>
                                          <p:spTgt spid="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left)">
                                      <p:cBhvr>
                                        <p:cTn id="80" dur="500"/>
                                        <p:tgtEl>
                                          <p:spTgt spid="4"/>
                                        </p:tgtEl>
                                      </p:cBhvr>
                                    </p:animEffect>
                                  </p:childTnLst>
                                </p:cTn>
                              </p:par>
                            </p:childTnLst>
                          </p:cTn>
                        </p:par>
                      </p:childTnLst>
                    </p:cTn>
                  </p:par>
                  <p:par>
                    <p:cTn id="81" fill="hold">
                      <p:stCondLst>
                        <p:cond delay="indefinite"/>
                      </p:stCondLst>
                      <p:childTnLst>
                        <p:par>
                          <p:cTn id="82" fill="hold">
                            <p:stCondLst>
                              <p:cond delay="0"/>
                            </p:stCondLst>
                            <p:childTnLst>
                              <p:par>
                                <p:cTn id="83" presetID="23" presetClass="entr" presetSubtype="16" fill="hold" grpId="1" nodeType="clickEffect">
                                  <p:stCondLst>
                                    <p:cond delay="0"/>
                                  </p:stCondLst>
                                  <p:iterate type="lt">
                                    <p:tmPct val="0"/>
                                  </p:iterate>
                                  <p:childTnLst>
                                    <p:set>
                                      <p:cBhvr>
                                        <p:cTn id="84" dur="1" fill="hold">
                                          <p:stCondLst>
                                            <p:cond delay="0"/>
                                          </p:stCondLst>
                                        </p:cTn>
                                        <p:tgtEl>
                                          <p:spTgt spid="2"/>
                                        </p:tgtEl>
                                        <p:attrNameLst>
                                          <p:attrName>style.visibility</p:attrName>
                                        </p:attrNameLst>
                                      </p:cBhvr>
                                      <p:to>
                                        <p:strVal val="visible"/>
                                      </p:to>
                                    </p:set>
                                    <p:anim calcmode="lin" valueType="num">
                                      <p:cBhvr>
                                        <p:cTn id="85" dur="500" fill="hold"/>
                                        <p:tgtEl>
                                          <p:spTgt spid="2"/>
                                        </p:tgtEl>
                                        <p:attrNameLst>
                                          <p:attrName>ppt_w</p:attrName>
                                        </p:attrNameLst>
                                      </p:cBhvr>
                                      <p:tavLst>
                                        <p:tav tm="0">
                                          <p:val>
                                            <p:fltVal val="0"/>
                                          </p:val>
                                        </p:tav>
                                        <p:tav tm="100000">
                                          <p:val>
                                            <p:strVal val="#ppt_w"/>
                                          </p:val>
                                        </p:tav>
                                      </p:tavLst>
                                    </p:anim>
                                    <p:anim calcmode="lin" valueType="num">
                                      <p:cBhvr>
                                        <p:cTn id="86"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20" presetClass="emph" presetSubtype="0" repeatCount="indefinite" grpId="0" nodeType="clickEffect">
                                  <p:stCondLst>
                                    <p:cond delay="0"/>
                                  </p:stCondLst>
                                  <p:endCondLst>
                                    <p:cond evt="onNext" delay="0">
                                      <p:tgtEl>
                                        <p:sldTgt/>
                                      </p:tgtEl>
                                    </p:cond>
                                  </p:endCondLst>
                                  <p:iterate type="lt">
                                    <p:tmPct val="10000"/>
                                  </p:iterate>
                                  <p:childTnLst>
                                    <p:set>
                                      <p:cBhvr override="childStyle">
                                        <p:cTn id="90" dur="250" autoRev="1" fill="hold"/>
                                        <p:tgtEl>
                                          <p:spTgt spid="2"/>
                                        </p:tgtEl>
                                        <p:attrNameLst>
                                          <p:attrName>style.color</p:attrName>
                                        </p:attrNameLst>
                                      </p:cBhvr>
                                      <p:to>
                                        <p:clrVal>
                                          <a:srgbClr val="FF9966"/>
                                        </p:clrVal>
                                      </p:to>
                                    </p:set>
                                    <p:set>
                                      <p:cBhvr>
                                        <p:cTn id="91" dur="250" autoRev="1" fill="hold"/>
                                        <p:tgtEl>
                                          <p:spTgt spid="2"/>
                                        </p:tgtEl>
                                        <p:attrNameLst>
                                          <p:attrName>fillcolor</p:attrName>
                                        </p:attrNameLst>
                                      </p:cBhvr>
                                      <p:to>
                                        <p:clrVal>
                                          <a:srgbClr val="FF9966"/>
                                        </p:clrVal>
                                      </p:to>
                                    </p:set>
                                    <p:set>
                                      <p:cBhvr>
                                        <p:cTn id="92" dur="250" autoRev="1" fill="hold"/>
                                        <p:tgtEl>
                                          <p:spTgt spid="2"/>
                                        </p:tgtEl>
                                        <p:attrNameLst>
                                          <p:attrName>fill.type</p:attrName>
                                        </p:attrNameLst>
                                      </p:cBhvr>
                                      <p:to>
                                        <p:strVal val="solid"/>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wipe(left)">
                                      <p:cBhvr>
                                        <p:cTn id="97" dur="500"/>
                                        <p:tgtEl>
                                          <p:spTgt spid="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wipe(left)">
                                      <p:cBhvr>
                                        <p:cTn id="102" dur="500"/>
                                        <p:tgtEl>
                                          <p:spTgt spid="6"/>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wipe(left)">
                                      <p:cBhvr>
                                        <p:cTn id="10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utoUpdateAnimBg="0"/>
      <p:bldP spid="4" grpId="0"/>
      <p:bldP spid="5" grpId="0"/>
      <p:bldP spid="6" grpId="0" animBg="1"/>
      <p:bldP spid="7" grpId="0"/>
      <p:bldP spid="8" grpId="0" animBg="1"/>
      <p:bldP spid="9" grpId="0" animBg="1"/>
      <p:bldP spid="10" grpId="0" animBg="1"/>
      <p:bldP spid="11" grpId="0" animBg="1"/>
      <p:bldP spid="28" grpId="0" animBg="1"/>
      <p:bldP spid="29" grpId="0" animBg="1"/>
      <p:bldP spid="30" grpId="0"/>
      <p:bldP spid="31" grpId="0" animBg="1"/>
      <p:bldP spid="32" grpId="0" animBg="1"/>
      <p:bldP spid="33" grpId="0" animBg="1"/>
      <p:bldP spid="4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928688" y="495300"/>
            <a:ext cx="3240087"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mn-ea"/>
                <a:ea typeface="+mn-ea"/>
              </a:rPr>
              <a:t>4</a:t>
            </a:r>
            <a:r>
              <a:rPr kumimoji="1" lang="zh-CN" altLang="en-US" sz="2400" b="1" dirty="0">
                <a:solidFill>
                  <a:srgbClr val="0000FF"/>
                </a:solidFill>
                <a:latin typeface="+mn-ea"/>
                <a:ea typeface="+mn-ea"/>
              </a:rPr>
              <a:t>个分子的分配方式</a:t>
            </a:r>
          </a:p>
        </p:txBody>
      </p:sp>
      <p:grpSp>
        <p:nvGrpSpPr>
          <p:cNvPr id="2" name="Group 3"/>
          <p:cNvGrpSpPr>
            <a:grpSpLocks/>
          </p:cNvGrpSpPr>
          <p:nvPr/>
        </p:nvGrpSpPr>
        <p:grpSpPr bwMode="auto">
          <a:xfrm>
            <a:off x="611188" y="1098550"/>
            <a:ext cx="1066800" cy="1371600"/>
            <a:chOff x="240" y="2208"/>
            <a:chExt cx="672" cy="864"/>
          </a:xfrm>
        </p:grpSpPr>
        <p:sp>
          <p:nvSpPr>
            <p:cNvPr id="114739" name="Rectangle 4"/>
            <p:cNvSpPr>
              <a:spLocks noChangeArrowheads="1"/>
            </p:cNvSpPr>
            <p:nvPr/>
          </p:nvSpPr>
          <p:spPr bwMode="auto">
            <a:xfrm>
              <a:off x="240" y="2208"/>
              <a:ext cx="672" cy="432"/>
            </a:xfrm>
            <a:prstGeom prst="rect">
              <a:avLst/>
            </a:prstGeom>
            <a:noFill/>
            <a:ln w="9525">
              <a:solidFill>
                <a:schemeClr val="bg1"/>
              </a:solidFill>
              <a:miter lim="800000"/>
              <a:headEnd/>
              <a:tailEnd/>
            </a:ln>
          </p:spPr>
          <p:txBody>
            <a:bodyPr wrap="none" anchor="ctr"/>
            <a:lstStyle/>
            <a:p>
              <a:pPr algn="ctr"/>
              <a:r>
                <a:rPr kumimoji="1" lang="zh-CN" altLang="en-US" sz="2000" b="1">
                  <a:solidFill>
                    <a:srgbClr val="0000FF"/>
                  </a:solidFill>
                  <a:latin typeface="Times New Roman" pitchFamily="18" charset="0"/>
                </a:rPr>
                <a:t>左半边</a:t>
              </a:r>
              <a:endParaRPr kumimoji="1" lang="zh-CN" altLang="en-US" sz="2000" b="1" i="1">
                <a:solidFill>
                  <a:srgbClr val="0000FF"/>
                </a:solidFill>
                <a:latin typeface="Times New Roman" pitchFamily="18" charset="0"/>
              </a:endParaRPr>
            </a:p>
          </p:txBody>
        </p:sp>
        <p:sp>
          <p:nvSpPr>
            <p:cNvPr id="114740" name="Rectangle 5"/>
            <p:cNvSpPr>
              <a:spLocks noChangeArrowheads="1"/>
            </p:cNvSpPr>
            <p:nvPr/>
          </p:nvSpPr>
          <p:spPr bwMode="auto">
            <a:xfrm>
              <a:off x="240" y="2640"/>
              <a:ext cx="672" cy="432"/>
            </a:xfrm>
            <a:prstGeom prst="rect">
              <a:avLst/>
            </a:prstGeom>
            <a:noFill/>
            <a:ln w="9525">
              <a:solidFill>
                <a:schemeClr val="bg1"/>
              </a:solidFill>
              <a:miter lim="800000"/>
              <a:headEnd/>
              <a:tailEnd/>
            </a:ln>
          </p:spPr>
          <p:txBody>
            <a:bodyPr wrap="none" anchor="ctr"/>
            <a:lstStyle/>
            <a:p>
              <a:pPr algn="ctr"/>
              <a:r>
                <a:rPr kumimoji="1" lang="zh-CN" altLang="en-US" sz="2000" b="1">
                  <a:solidFill>
                    <a:srgbClr val="0000FF"/>
                  </a:solidFill>
                  <a:latin typeface="Times New Roman" pitchFamily="18" charset="0"/>
                </a:rPr>
                <a:t>右半边</a:t>
              </a:r>
              <a:endParaRPr kumimoji="1" lang="zh-CN" altLang="en-US" sz="2000" b="1" i="1">
                <a:solidFill>
                  <a:srgbClr val="0000FF"/>
                </a:solidFill>
                <a:latin typeface="Times New Roman" pitchFamily="18" charset="0"/>
              </a:endParaRPr>
            </a:p>
          </p:txBody>
        </p:sp>
      </p:grpSp>
      <p:sp>
        <p:nvSpPr>
          <p:cNvPr id="325638" name="Rectangle 6"/>
          <p:cNvSpPr>
            <a:spLocks noChangeArrowheads="1"/>
          </p:cNvSpPr>
          <p:nvPr/>
        </p:nvSpPr>
        <p:spPr bwMode="auto">
          <a:xfrm>
            <a:off x="1677988" y="1098550"/>
            <a:ext cx="838200" cy="685800"/>
          </a:xfrm>
          <a:prstGeom prst="rect">
            <a:avLst/>
          </a:prstGeom>
          <a:solidFill>
            <a:srgbClr val="FF99CC"/>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abcd</a:t>
            </a:r>
          </a:p>
        </p:txBody>
      </p:sp>
      <p:sp>
        <p:nvSpPr>
          <p:cNvPr id="325639" name="Rectangle 7"/>
          <p:cNvSpPr>
            <a:spLocks noChangeArrowheads="1"/>
          </p:cNvSpPr>
          <p:nvPr/>
        </p:nvSpPr>
        <p:spPr bwMode="auto">
          <a:xfrm>
            <a:off x="1677988" y="1784350"/>
            <a:ext cx="838200" cy="685800"/>
          </a:xfrm>
          <a:prstGeom prst="rect">
            <a:avLst/>
          </a:prstGeom>
          <a:solidFill>
            <a:srgbClr val="FF99CC"/>
          </a:solidFill>
          <a:ln w="9525">
            <a:solidFill>
              <a:schemeClr val="bg1"/>
            </a:solidFill>
            <a:miter lim="800000"/>
            <a:headEnd/>
            <a:tailEnd/>
          </a:ln>
        </p:spPr>
        <p:txBody>
          <a:bodyPr wrap="none" anchor="ctr"/>
          <a:lstStyle/>
          <a:p>
            <a:pPr algn="ctr"/>
            <a:r>
              <a:rPr kumimoji="1" lang="en-US" altLang="zh-CN" sz="2800" b="1">
                <a:latin typeface="Times New Roman" pitchFamily="18" charset="0"/>
              </a:rPr>
              <a:t>0</a:t>
            </a:r>
          </a:p>
        </p:txBody>
      </p:sp>
      <p:grpSp>
        <p:nvGrpSpPr>
          <p:cNvPr id="3" name="Group 8"/>
          <p:cNvGrpSpPr>
            <a:grpSpLocks/>
          </p:cNvGrpSpPr>
          <p:nvPr/>
        </p:nvGrpSpPr>
        <p:grpSpPr bwMode="auto">
          <a:xfrm>
            <a:off x="2516188" y="1098550"/>
            <a:ext cx="3352800" cy="685800"/>
            <a:chOff x="1440" y="2208"/>
            <a:chExt cx="2112" cy="432"/>
          </a:xfrm>
        </p:grpSpPr>
        <p:sp>
          <p:nvSpPr>
            <p:cNvPr id="114735" name="Rectangle 9"/>
            <p:cNvSpPr>
              <a:spLocks noChangeArrowheads="1"/>
            </p:cNvSpPr>
            <p:nvPr/>
          </p:nvSpPr>
          <p:spPr bwMode="auto">
            <a:xfrm>
              <a:off x="1440" y="2208"/>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abc</a:t>
              </a:r>
            </a:p>
          </p:txBody>
        </p:sp>
        <p:sp>
          <p:nvSpPr>
            <p:cNvPr id="114736" name="Rectangle 10"/>
            <p:cNvSpPr>
              <a:spLocks noChangeArrowheads="1"/>
            </p:cNvSpPr>
            <p:nvPr/>
          </p:nvSpPr>
          <p:spPr bwMode="auto">
            <a:xfrm>
              <a:off x="1968" y="2208"/>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bcd</a:t>
              </a:r>
            </a:p>
          </p:txBody>
        </p:sp>
        <p:sp>
          <p:nvSpPr>
            <p:cNvPr id="114737" name="Rectangle 11"/>
            <p:cNvSpPr>
              <a:spLocks noChangeArrowheads="1"/>
            </p:cNvSpPr>
            <p:nvPr/>
          </p:nvSpPr>
          <p:spPr bwMode="auto">
            <a:xfrm>
              <a:off x="2496" y="2208"/>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cda</a:t>
              </a:r>
            </a:p>
          </p:txBody>
        </p:sp>
        <p:sp>
          <p:nvSpPr>
            <p:cNvPr id="114738" name="Rectangle 12"/>
            <p:cNvSpPr>
              <a:spLocks noChangeArrowheads="1"/>
            </p:cNvSpPr>
            <p:nvPr/>
          </p:nvSpPr>
          <p:spPr bwMode="auto">
            <a:xfrm>
              <a:off x="3024" y="2208"/>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dab</a:t>
              </a:r>
            </a:p>
          </p:txBody>
        </p:sp>
      </p:grpSp>
      <p:grpSp>
        <p:nvGrpSpPr>
          <p:cNvPr id="4" name="Group 13"/>
          <p:cNvGrpSpPr>
            <a:grpSpLocks/>
          </p:cNvGrpSpPr>
          <p:nvPr/>
        </p:nvGrpSpPr>
        <p:grpSpPr bwMode="auto">
          <a:xfrm>
            <a:off x="2516188" y="1784350"/>
            <a:ext cx="3352800" cy="685800"/>
            <a:chOff x="1440" y="2640"/>
            <a:chExt cx="2112" cy="432"/>
          </a:xfrm>
        </p:grpSpPr>
        <p:sp>
          <p:nvSpPr>
            <p:cNvPr id="114731" name="Rectangle 14"/>
            <p:cNvSpPr>
              <a:spLocks noChangeArrowheads="1"/>
            </p:cNvSpPr>
            <p:nvPr/>
          </p:nvSpPr>
          <p:spPr bwMode="auto">
            <a:xfrm>
              <a:off x="1440" y="2640"/>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a:t>
              </a:r>
            </a:p>
          </p:txBody>
        </p:sp>
        <p:sp>
          <p:nvSpPr>
            <p:cNvPr id="114732" name="Rectangle 15"/>
            <p:cNvSpPr>
              <a:spLocks noChangeArrowheads="1"/>
            </p:cNvSpPr>
            <p:nvPr/>
          </p:nvSpPr>
          <p:spPr bwMode="auto">
            <a:xfrm>
              <a:off x="1968" y="2640"/>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a:t>
              </a:r>
            </a:p>
          </p:txBody>
        </p:sp>
        <p:sp>
          <p:nvSpPr>
            <p:cNvPr id="114733" name="Rectangle 16"/>
            <p:cNvSpPr>
              <a:spLocks noChangeArrowheads="1"/>
            </p:cNvSpPr>
            <p:nvPr/>
          </p:nvSpPr>
          <p:spPr bwMode="auto">
            <a:xfrm>
              <a:off x="2496" y="2640"/>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a:t>
              </a:r>
            </a:p>
          </p:txBody>
        </p:sp>
        <p:sp>
          <p:nvSpPr>
            <p:cNvPr id="114734" name="Rectangle 17"/>
            <p:cNvSpPr>
              <a:spLocks noChangeArrowheads="1"/>
            </p:cNvSpPr>
            <p:nvPr/>
          </p:nvSpPr>
          <p:spPr bwMode="auto">
            <a:xfrm>
              <a:off x="3024" y="2640"/>
              <a:ext cx="528" cy="432"/>
            </a:xfrm>
            <a:prstGeom prst="rect">
              <a:avLst/>
            </a:prstGeom>
            <a:solidFill>
              <a:srgbClr val="0099CC">
                <a:alpha val="49019"/>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a:t>
              </a:r>
            </a:p>
          </p:txBody>
        </p:sp>
      </p:grpSp>
      <p:sp>
        <p:nvSpPr>
          <p:cNvPr id="325650" name="Rectangle 18"/>
          <p:cNvSpPr>
            <a:spLocks noChangeArrowheads="1"/>
          </p:cNvSpPr>
          <p:nvPr/>
        </p:nvSpPr>
        <p:spPr bwMode="auto">
          <a:xfrm>
            <a:off x="7539038" y="2465388"/>
            <a:ext cx="838200" cy="685800"/>
          </a:xfrm>
          <a:prstGeom prst="rect">
            <a:avLst/>
          </a:prstGeom>
          <a:solidFill>
            <a:srgbClr val="FFFF66"/>
          </a:solidFill>
          <a:ln w="9525">
            <a:solidFill>
              <a:schemeClr val="bg1"/>
            </a:solidFill>
            <a:miter lim="800000"/>
            <a:headEnd/>
            <a:tailEnd/>
          </a:ln>
        </p:spPr>
        <p:txBody>
          <a:bodyPr wrap="none" anchor="ctr"/>
          <a:lstStyle/>
          <a:p>
            <a:pPr algn="ctr"/>
            <a:r>
              <a:rPr kumimoji="1" lang="en-US" altLang="zh-CN" sz="2800" b="1">
                <a:latin typeface="Times New Roman" pitchFamily="18" charset="0"/>
              </a:rPr>
              <a:t>0</a:t>
            </a:r>
          </a:p>
        </p:txBody>
      </p:sp>
      <p:sp>
        <p:nvSpPr>
          <p:cNvPr id="325651" name="Rectangle 19"/>
          <p:cNvSpPr>
            <a:spLocks noChangeArrowheads="1"/>
          </p:cNvSpPr>
          <p:nvPr/>
        </p:nvSpPr>
        <p:spPr bwMode="auto">
          <a:xfrm>
            <a:off x="7542213" y="3155950"/>
            <a:ext cx="838200" cy="685800"/>
          </a:xfrm>
          <a:prstGeom prst="rect">
            <a:avLst/>
          </a:prstGeom>
          <a:solidFill>
            <a:srgbClr val="FFFF66"/>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abcd</a:t>
            </a:r>
          </a:p>
        </p:txBody>
      </p:sp>
      <p:grpSp>
        <p:nvGrpSpPr>
          <p:cNvPr id="5" name="Group 20"/>
          <p:cNvGrpSpPr>
            <a:grpSpLocks/>
          </p:cNvGrpSpPr>
          <p:nvPr/>
        </p:nvGrpSpPr>
        <p:grpSpPr bwMode="auto">
          <a:xfrm>
            <a:off x="4197350" y="3155950"/>
            <a:ext cx="3352800" cy="690563"/>
            <a:chOff x="2780" y="1506"/>
            <a:chExt cx="2112" cy="435"/>
          </a:xfrm>
        </p:grpSpPr>
        <p:sp>
          <p:nvSpPr>
            <p:cNvPr id="114727" name="Rectangle 21"/>
            <p:cNvSpPr>
              <a:spLocks noChangeArrowheads="1"/>
            </p:cNvSpPr>
            <p:nvPr/>
          </p:nvSpPr>
          <p:spPr bwMode="auto">
            <a:xfrm>
              <a:off x="4364" y="1509"/>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abc</a:t>
              </a:r>
            </a:p>
          </p:txBody>
        </p:sp>
        <p:sp>
          <p:nvSpPr>
            <p:cNvPr id="114728" name="Rectangle 22"/>
            <p:cNvSpPr>
              <a:spLocks noChangeArrowheads="1"/>
            </p:cNvSpPr>
            <p:nvPr/>
          </p:nvSpPr>
          <p:spPr bwMode="auto">
            <a:xfrm>
              <a:off x="2780" y="1506"/>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bcd</a:t>
              </a:r>
            </a:p>
          </p:txBody>
        </p:sp>
        <p:sp>
          <p:nvSpPr>
            <p:cNvPr id="114729" name="Rectangle 23"/>
            <p:cNvSpPr>
              <a:spLocks noChangeArrowheads="1"/>
            </p:cNvSpPr>
            <p:nvPr/>
          </p:nvSpPr>
          <p:spPr bwMode="auto">
            <a:xfrm>
              <a:off x="3308" y="1506"/>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cda</a:t>
              </a:r>
            </a:p>
          </p:txBody>
        </p:sp>
        <p:sp>
          <p:nvSpPr>
            <p:cNvPr id="114730" name="Rectangle 24"/>
            <p:cNvSpPr>
              <a:spLocks noChangeArrowheads="1"/>
            </p:cNvSpPr>
            <p:nvPr/>
          </p:nvSpPr>
          <p:spPr bwMode="auto">
            <a:xfrm>
              <a:off x="3836" y="1506"/>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dab</a:t>
              </a:r>
            </a:p>
          </p:txBody>
        </p:sp>
      </p:grpSp>
      <p:grpSp>
        <p:nvGrpSpPr>
          <p:cNvPr id="6" name="Group 25"/>
          <p:cNvGrpSpPr>
            <a:grpSpLocks/>
          </p:cNvGrpSpPr>
          <p:nvPr/>
        </p:nvGrpSpPr>
        <p:grpSpPr bwMode="auto">
          <a:xfrm>
            <a:off x="4197350" y="2462213"/>
            <a:ext cx="3352800" cy="685800"/>
            <a:chOff x="1968" y="3067"/>
            <a:chExt cx="2112" cy="432"/>
          </a:xfrm>
        </p:grpSpPr>
        <p:sp>
          <p:nvSpPr>
            <p:cNvPr id="114723" name="Rectangle 26"/>
            <p:cNvSpPr>
              <a:spLocks noChangeArrowheads="1"/>
            </p:cNvSpPr>
            <p:nvPr/>
          </p:nvSpPr>
          <p:spPr bwMode="auto">
            <a:xfrm>
              <a:off x="3552" y="3067"/>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a:t>
              </a:r>
            </a:p>
          </p:txBody>
        </p:sp>
        <p:sp>
          <p:nvSpPr>
            <p:cNvPr id="114724" name="Rectangle 27"/>
            <p:cNvSpPr>
              <a:spLocks noChangeArrowheads="1"/>
            </p:cNvSpPr>
            <p:nvPr/>
          </p:nvSpPr>
          <p:spPr bwMode="auto">
            <a:xfrm>
              <a:off x="1968" y="3067"/>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a:t>
              </a:r>
            </a:p>
          </p:txBody>
        </p:sp>
        <p:sp>
          <p:nvSpPr>
            <p:cNvPr id="114725" name="Rectangle 28"/>
            <p:cNvSpPr>
              <a:spLocks noChangeArrowheads="1"/>
            </p:cNvSpPr>
            <p:nvPr/>
          </p:nvSpPr>
          <p:spPr bwMode="auto">
            <a:xfrm>
              <a:off x="2496" y="3067"/>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a:t>
              </a:r>
            </a:p>
          </p:txBody>
        </p:sp>
        <p:sp>
          <p:nvSpPr>
            <p:cNvPr id="114726" name="Rectangle 29"/>
            <p:cNvSpPr>
              <a:spLocks noChangeArrowheads="1"/>
            </p:cNvSpPr>
            <p:nvPr/>
          </p:nvSpPr>
          <p:spPr bwMode="auto">
            <a:xfrm>
              <a:off x="3024" y="3067"/>
              <a:ext cx="528" cy="432"/>
            </a:xfrm>
            <a:prstGeom prst="rect">
              <a:avLst/>
            </a:prstGeom>
            <a:solidFill>
              <a:srgbClr val="339966">
                <a:alpha val="65881"/>
              </a:srgbClr>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a:t>
              </a:r>
            </a:p>
          </p:txBody>
        </p:sp>
      </p:grpSp>
      <p:grpSp>
        <p:nvGrpSpPr>
          <p:cNvPr id="7" name="Group 30"/>
          <p:cNvGrpSpPr>
            <a:grpSpLocks/>
          </p:cNvGrpSpPr>
          <p:nvPr/>
        </p:nvGrpSpPr>
        <p:grpSpPr bwMode="auto">
          <a:xfrm>
            <a:off x="1682750" y="1785938"/>
            <a:ext cx="6692900" cy="2057400"/>
            <a:chOff x="1196" y="643"/>
            <a:chExt cx="4216" cy="1296"/>
          </a:xfrm>
        </p:grpSpPr>
        <p:grpSp>
          <p:nvGrpSpPr>
            <p:cNvPr id="114715" name="Group 31"/>
            <p:cNvGrpSpPr>
              <a:grpSpLocks/>
            </p:cNvGrpSpPr>
            <p:nvPr/>
          </p:nvGrpSpPr>
          <p:grpSpPr bwMode="auto">
            <a:xfrm>
              <a:off x="3828" y="643"/>
              <a:ext cx="1584" cy="432"/>
              <a:chOff x="3552" y="3087"/>
              <a:chExt cx="1584" cy="432"/>
            </a:xfrm>
          </p:grpSpPr>
          <p:sp>
            <p:nvSpPr>
              <p:cNvPr id="114720" name="Rectangle 32"/>
              <p:cNvSpPr>
                <a:spLocks noChangeArrowheads="1"/>
              </p:cNvSpPr>
              <p:nvPr/>
            </p:nvSpPr>
            <p:spPr bwMode="auto">
              <a:xfrm>
                <a:off x="3552" y="308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cd</a:t>
                </a:r>
              </a:p>
            </p:txBody>
          </p:sp>
          <p:sp>
            <p:nvSpPr>
              <p:cNvPr id="114721" name="Rectangle 33"/>
              <p:cNvSpPr>
                <a:spLocks noChangeArrowheads="1"/>
              </p:cNvSpPr>
              <p:nvPr/>
            </p:nvSpPr>
            <p:spPr bwMode="auto">
              <a:xfrm>
                <a:off x="4080" y="308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ad</a:t>
                </a:r>
              </a:p>
            </p:txBody>
          </p:sp>
          <p:sp>
            <p:nvSpPr>
              <p:cNvPr id="114722" name="Rectangle 34"/>
              <p:cNvSpPr>
                <a:spLocks noChangeArrowheads="1"/>
              </p:cNvSpPr>
              <p:nvPr/>
            </p:nvSpPr>
            <p:spPr bwMode="auto">
              <a:xfrm>
                <a:off x="4608" y="308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a:t>
                </a:r>
              </a:p>
            </p:txBody>
          </p:sp>
        </p:grpSp>
        <p:grpSp>
          <p:nvGrpSpPr>
            <p:cNvPr id="114716" name="Group 35"/>
            <p:cNvGrpSpPr>
              <a:grpSpLocks/>
            </p:cNvGrpSpPr>
            <p:nvPr/>
          </p:nvGrpSpPr>
          <p:grpSpPr bwMode="auto">
            <a:xfrm>
              <a:off x="1196" y="1507"/>
              <a:ext cx="1587" cy="432"/>
              <a:chOff x="1202" y="1507"/>
              <a:chExt cx="1587" cy="432"/>
            </a:xfrm>
          </p:grpSpPr>
          <p:sp>
            <p:nvSpPr>
              <p:cNvPr id="114717" name="Rectangle 36"/>
              <p:cNvSpPr>
                <a:spLocks noChangeArrowheads="1"/>
              </p:cNvSpPr>
              <p:nvPr/>
            </p:nvSpPr>
            <p:spPr bwMode="auto">
              <a:xfrm>
                <a:off x="1202" y="150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bc</a:t>
                </a:r>
              </a:p>
            </p:txBody>
          </p:sp>
          <p:sp>
            <p:nvSpPr>
              <p:cNvPr id="114718" name="Rectangle 37"/>
              <p:cNvSpPr>
                <a:spLocks noChangeArrowheads="1"/>
              </p:cNvSpPr>
              <p:nvPr/>
            </p:nvSpPr>
            <p:spPr bwMode="auto">
              <a:xfrm>
                <a:off x="2261" y="150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ac</a:t>
                </a:r>
              </a:p>
            </p:txBody>
          </p:sp>
          <p:sp>
            <p:nvSpPr>
              <p:cNvPr id="114719" name="Rectangle 38"/>
              <p:cNvSpPr>
                <a:spLocks noChangeArrowheads="1"/>
              </p:cNvSpPr>
              <p:nvPr/>
            </p:nvSpPr>
            <p:spPr bwMode="auto">
              <a:xfrm>
                <a:off x="1733" y="1507"/>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db</a:t>
                </a:r>
              </a:p>
            </p:txBody>
          </p:sp>
        </p:grpSp>
      </p:grpSp>
      <p:grpSp>
        <p:nvGrpSpPr>
          <p:cNvPr id="10" name="Group 39"/>
          <p:cNvGrpSpPr>
            <a:grpSpLocks/>
          </p:cNvGrpSpPr>
          <p:nvPr/>
        </p:nvGrpSpPr>
        <p:grpSpPr bwMode="auto">
          <a:xfrm>
            <a:off x="1687513" y="1098550"/>
            <a:ext cx="6696075" cy="2051050"/>
            <a:chOff x="1199" y="210"/>
            <a:chExt cx="4218" cy="1292"/>
          </a:xfrm>
        </p:grpSpPr>
        <p:grpSp>
          <p:nvGrpSpPr>
            <p:cNvPr id="114707" name="Group 40"/>
            <p:cNvGrpSpPr>
              <a:grpSpLocks/>
            </p:cNvGrpSpPr>
            <p:nvPr/>
          </p:nvGrpSpPr>
          <p:grpSpPr bwMode="auto">
            <a:xfrm>
              <a:off x="3833" y="210"/>
              <a:ext cx="1584" cy="432"/>
              <a:chOff x="3561" y="2588"/>
              <a:chExt cx="1584" cy="432"/>
            </a:xfrm>
          </p:grpSpPr>
          <p:sp>
            <p:nvSpPr>
              <p:cNvPr id="114712" name="Rectangle 41"/>
              <p:cNvSpPr>
                <a:spLocks noChangeArrowheads="1"/>
              </p:cNvSpPr>
              <p:nvPr/>
            </p:nvSpPr>
            <p:spPr bwMode="auto">
              <a:xfrm>
                <a:off x="3561" y="2588"/>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ab</a:t>
                </a:r>
              </a:p>
            </p:txBody>
          </p:sp>
          <p:sp>
            <p:nvSpPr>
              <p:cNvPr id="114713" name="Rectangle 42"/>
              <p:cNvSpPr>
                <a:spLocks noChangeArrowheads="1"/>
              </p:cNvSpPr>
              <p:nvPr/>
            </p:nvSpPr>
            <p:spPr bwMode="auto">
              <a:xfrm>
                <a:off x="4089" y="2588"/>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bc</a:t>
                </a:r>
              </a:p>
            </p:txBody>
          </p:sp>
          <p:sp>
            <p:nvSpPr>
              <p:cNvPr id="114714" name="Rectangle 43"/>
              <p:cNvSpPr>
                <a:spLocks noChangeArrowheads="1"/>
              </p:cNvSpPr>
              <p:nvPr/>
            </p:nvSpPr>
            <p:spPr bwMode="auto">
              <a:xfrm>
                <a:off x="4617" y="2588"/>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cd</a:t>
                </a:r>
              </a:p>
            </p:txBody>
          </p:sp>
        </p:grpSp>
        <p:grpSp>
          <p:nvGrpSpPr>
            <p:cNvPr id="114708" name="Group 44"/>
            <p:cNvGrpSpPr>
              <a:grpSpLocks/>
            </p:cNvGrpSpPr>
            <p:nvPr/>
          </p:nvGrpSpPr>
          <p:grpSpPr bwMode="auto">
            <a:xfrm>
              <a:off x="1199" y="1070"/>
              <a:ext cx="1575" cy="432"/>
              <a:chOff x="1199" y="1070"/>
              <a:chExt cx="1575" cy="432"/>
            </a:xfrm>
          </p:grpSpPr>
          <p:sp>
            <p:nvSpPr>
              <p:cNvPr id="114709" name="Rectangle 45"/>
              <p:cNvSpPr>
                <a:spLocks noChangeArrowheads="1"/>
              </p:cNvSpPr>
              <p:nvPr/>
            </p:nvSpPr>
            <p:spPr bwMode="auto">
              <a:xfrm>
                <a:off x="1199" y="1070"/>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da</a:t>
                </a:r>
              </a:p>
            </p:txBody>
          </p:sp>
          <p:sp>
            <p:nvSpPr>
              <p:cNvPr id="114710" name="Rectangle 46"/>
              <p:cNvSpPr>
                <a:spLocks noChangeArrowheads="1"/>
              </p:cNvSpPr>
              <p:nvPr/>
            </p:nvSpPr>
            <p:spPr bwMode="auto">
              <a:xfrm>
                <a:off x="2246" y="1070"/>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bd</a:t>
                </a:r>
              </a:p>
            </p:txBody>
          </p:sp>
          <p:sp>
            <p:nvSpPr>
              <p:cNvPr id="114711" name="Rectangle 47"/>
              <p:cNvSpPr>
                <a:spLocks noChangeArrowheads="1"/>
              </p:cNvSpPr>
              <p:nvPr/>
            </p:nvSpPr>
            <p:spPr bwMode="auto">
              <a:xfrm>
                <a:off x="1718" y="1070"/>
                <a:ext cx="528" cy="432"/>
              </a:xfrm>
              <a:prstGeom prst="rect">
                <a:avLst/>
              </a:prstGeom>
              <a:solidFill>
                <a:srgbClr val="FFCCFF"/>
              </a:solidFill>
              <a:ln w="9525">
                <a:solidFill>
                  <a:schemeClr val="bg1"/>
                </a:solidFill>
                <a:miter lim="800000"/>
                <a:headEnd/>
                <a:tailEnd/>
              </a:ln>
            </p:spPr>
            <p:txBody>
              <a:bodyPr wrap="none" anchor="ctr"/>
              <a:lstStyle/>
              <a:p>
                <a:pPr algn="ctr"/>
                <a:r>
                  <a:rPr kumimoji="1" lang="en-US" altLang="zh-CN" sz="2800" b="1" i="1">
                    <a:latin typeface="Times New Roman" pitchFamily="18" charset="0"/>
                  </a:rPr>
                  <a:t>ac</a:t>
                </a:r>
              </a:p>
            </p:txBody>
          </p:sp>
        </p:grpSp>
      </p:grpSp>
      <p:sp>
        <p:nvSpPr>
          <p:cNvPr id="325680" name="Rectangle 48"/>
          <p:cNvSpPr>
            <a:spLocks noChangeArrowheads="1"/>
          </p:cNvSpPr>
          <p:nvPr/>
        </p:nvSpPr>
        <p:spPr bwMode="auto">
          <a:xfrm>
            <a:off x="1116013" y="4054475"/>
            <a:ext cx="7231062" cy="457200"/>
          </a:xfrm>
          <a:prstGeom prst="rect">
            <a:avLst/>
          </a:prstGeom>
          <a:noFill/>
          <a:ln w="9525">
            <a:noFill/>
            <a:miter lim="800000"/>
            <a:headEnd/>
            <a:tailEnd/>
          </a:ln>
        </p:spPr>
        <p:txBody>
          <a:bodyPr wrap="none">
            <a:spAutoFit/>
          </a:bodyPr>
          <a:lstStyle/>
          <a:p>
            <a:r>
              <a:rPr lang="en-US" altLang="zh-CN" sz="2400" b="1">
                <a:latin typeface="Times New Roman" pitchFamily="18" charset="0"/>
              </a:rPr>
              <a:t>(</a:t>
            </a:r>
            <a:r>
              <a:rPr kumimoji="1" lang="zh-CN" altLang="en-US" sz="2400" b="1">
                <a:latin typeface="Times New Roman" pitchFamily="18" charset="0"/>
                <a:ea typeface="楷体_GB2312" pitchFamily="49" charset="-122"/>
              </a:rPr>
              <a:t>微观态数</a:t>
            </a:r>
            <a:r>
              <a:rPr kumimoji="1" lang="en-US" altLang="zh-CN" sz="2400" b="1">
                <a:solidFill>
                  <a:srgbClr val="FF6600"/>
                </a:solidFill>
                <a:latin typeface="Times New Roman" pitchFamily="18" charset="0"/>
              </a:rPr>
              <a:t>2</a:t>
            </a:r>
            <a:r>
              <a:rPr kumimoji="1" lang="en-US" altLang="zh-CN" sz="2400" b="1" baseline="30000">
                <a:solidFill>
                  <a:srgbClr val="FF6600"/>
                </a:solidFill>
                <a:latin typeface="Times New Roman" pitchFamily="18" charset="0"/>
              </a:rPr>
              <a:t>4</a:t>
            </a:r>
            <a:r>
              <a:rPr kumimoji="1" lang="zh-CN" altLang="en-US" sz="2400" b="1">
                <a:latin typeface="Times New Roman" pitchFamily="18" charset="0"/>
              </a:rPr>
              <a:t>，</a:t>
            </a:r>
            <a:r>
              <a:rPr kumimoji="1" lang="zh-CN" altLang="en-US" sz="2400" b="1">
                <a:latin typeface="Times New Roman" pitchFamily="18" charset="0"/>
                <a:ea typeface="楷体_GB2312" pitchFamily="49" charset="-122"/>
              </a:rPr>
              <a:t>宏观态数</a:t>
            </a:r>
            <a:r>
              <a:rPr kumimoji="1" lang="en-US" altLang="zh-CN" sz="2400" b="1">
                <a:solidFill>
                  <a:srgbClr val="FF6600"/>
                </a:solidFill>
                <a:latin typeface="Times New Roman" pitchFamily="18" charset="0"/>
              </a:rPr>
              <a:t>5</a:t>
            </a:r>
            <a:r>
              <a:rPr kumimoji="1" lang="zh-CN" altLang="en-US" sz="2400" b="1">
                <a:latin typeface="Times New Roman" pitchFamily="18" charset="0"/>
              </a:rPr>
              <a:t>，</a:t>
            </a:r>
            <a:r>
              <a:rPr lang="zh-CN" altLang="en-US" sz="2400" b="1">
                <a:latin typeface="Times New Roman" pitchFamily="18" charset="0"/>
                <a:ea typeface="楷体_GB2312" pitchFamily="49" charset="-122"/>
              </a:rPr>
              <a:t>每一种</a:t>
            </a:r>
            <a:r>
              <a:rPr kumimoji="1" lang="zh-CN" altLang="en-US" sz="2400" b="1">
                <a:latin typeface="Times New Roman" pitchFamily="18" charset="0"/>
                <a:ea typeface="楷体_GB2312" pitchFamily="49" charset="-122"/>
              </a:rPr>
              <a:t>微观态</a:t>
            </a:r>
            <a:r>
              <a:rPr lang="zh-CN" altLang="en-US" sz="2400" b="1">
                <a:latin typeface="Times New Roman" pitchFamily="18" charset="0"/>
                <a:ea typeface="楷体_GB2312" pitchFamily="49" charset="-122"/>
              </a:rPr>
              <a:t>概率</a:t>
            </a:r>
            <a:r>
              <a:rPr lang="en-US" altLang="zh-CN" sz="2400" b="1">
                <a:latin typeface="Times New Roman" pitchFamily="18" charset="0"/>
              </a:rPr>
              <a:t>(</a:t>
            </a:r>
            <a:r>
              <a:rPr kumimoji="1" lang="en-US" altLang="zh-CN" sz="2400" b="1">
                <a:solidFill>
                  <a:srgbClr val="FF6600"/>
                </a:solidFill>
                <a:latin typeface="Times New Roman" pitchFamily="18" charset="0"/>
              </a:rPr>
              <a:t>1 / 2</a:t>
            </a:r>
            <a:r>
              <a:rPr kumimoji="1" lang="en-US" altLang="zh-CN" sz="2400" b="1" baseline="30000">
                <a:solidFill>
                  <a:srgbClr val="FF6600"/>
                </a:solidFill>
                <a:latin typeface="Times New Roman" pitchFamily="18" charset="0"/>
              </a:rPr>
              <a:t>4</a:t>
            </a:r>
            <a:r>
              <a:rPr kumimoji="1" lang="en-US" altLang="zh-CN" sz="2400" b="1">
                <a:latin typeface="Times New Roman" pitchFamily="18" charset="0"/>
              </a:rPr>
              <a:t>) </a:t>
            </a:r>
            <a:r>
              <a:rPr lang="en-US" altLang="zh-CN" sz="2400" b="1">
                <a:latin typeface="Times New Roman" pitchFamily="18" charset="0"/>
              </a:rPr>
              <a:t>)</a:t>
            </a:r>
          </a:p>
        </p:txBody>
      </p:sp>
      <p:sp>
        <p:nvSpPr>
          <p:cNvPr id="325681" name="Text Box 49"/>
          <p:cNvSpPr txBox="1">
            <a:spLocks noChangeArrowheads="1"/>
          </p:cNvSpPr>
          <p:nvPr/>
        </p:nvSpPr>
        <p:spPr bwMode="auto">
          <a:xfrm>
            <a:off x="539750" y="4643438"/>
            <a:ext cx="7848600" cy="1082675"/>
          </a:xfrm>
          <a:prstGeom prst="rect">
            <a:avLst/>
          </a:prstGeom>
          <a:noFill/>
          <a:ln w="9525" algn="ctr">
            <a:noFill/>
            <a:miter lim="800000"/>
            <a:headEnd/>
            <a:tailEnd/>
          </a:ln>
        </p:spPr>
        <p:txBody>
          <a:bodyPr>
            <a:spAutoFit/>
          </a:bodyPr>
          <a:lstStyle/>
          <a:p>
            <a:pPr>
              <a:lnSpc>
                <a:spcPct val="125000"/>
              </a:lnSpc>
            </a:pPr>
            <a:r>
              <a:rPr kumimoji="1" lang="zh-CN" altLang="en-US" sz="2400" b="1">
                <a:latin typeface="Times New Roman" pitchFamily="18" charset="0"/>
              </a:rPr>
              <a:t>可以推知有</a:t>
            </a:r>
            <a:r>
              <a:rPr kumimoji="1" lang="zh-CN" altLang="en-US" sz="2400" b="1">
                <a:solidFill>
                  <a:srgbClr val="FF6600"/>
                </a:solidFill>
                <a:latin typeface="Times New Roman" pitchFamily="18" charset="0"/>
              </a:rPr>
              <a:t> </a:t>
            </a:r>
            <a:r>
              <a:rPr kumimoji="1" lang="en-US" altLang="zh-CN" sz="2400" b="1" i="1">
                <a:solidFill>
                  <a:srgbClr val="FF6600"/>
                </a:solidFill>
                <a:latin typeface="Times New Roman" pitchFamily="18" charset="0"/>
              </a:rPr>
              <a:t>N </a:t>
            </a:r>
            <a:r>
              <a:rPr kumimoji="1" lang="zh-CN" altLang="en-US" sz="2400" b="1">
                <a:latin typeface="Times New Roman" pitchFamily="18" charset="0"/>
              </a:rPr>
              <a:t>个分子时</a:t>
            </a:r>
            <a:r>
              <a:rPr lang="zh-CN" altLang="en-US" sz="2400" b="1">
                <a:latin typeface="Times New Roman" pitchFamily="18" charset="0"/>
              </a:rPr>
              <a:t>，分子的总</a:t>
            </a:r>
            <a:r>
              <a:rPr kumimoji="1" lang="zh-CN" altLang="en-US" sz="2400" b="1">
                <a:latin typeface="Times New Roman" pitchFamily="18" charset="0"/>
              </a:rPr>
              <a:t>微观态数</a:t>
            </a:r>
            <a:r>
              <a:rPr kumimoji="1" lang="en-US" altLang="zh-CN" sz="2800" b="1">
                <a:solidFill>
                  <a:srgbClr val="FF6600"/>
                </a:solidFill>
                <a:latin typeface="Times New Roman" pitchFamily="18" charset="0"/>
              </a:rPr>
              <a:t>2</a:t>
            </a:r>
            <a:r>
              <a:rPr kumimoji="1" lang="en-US" altLang="zh-CN" sz="2800" b="1" i="1" baseline="30000">
                <a:solidFill>
                  <a:srgbClr val="FF6600"/>
                </a:solidFill>
                <a:latin typeface="Times New Roman" pitchFamily="18" charset="0"/>
              </a:rPr>
              <a:t>N</a:t>
            </a:r>
            <a:r>
              <a:rPr kumimoji="1" lang="en-US" altLang="zh-CN" sz="2800" b="1" baseline="30000">
                <a:solidFill>
                  <a:srgbClr val="FF6600"/>
                </a:solidFill>
                <a:latin typeface="Times New Roman" pitchFamily="18" charset="0"/>
              </a:rPr>
              <a:t> </a:t>
            </a:r>
            <a:r>
              <a:rPr lang="zh-CN" altLang="en-US" sz="2400" b="1">
                <a:latin typeface="Times New Roman" pitchFamily="18" charset="0"/>
              </a:rPr>
              <a:t>，</a:t>
            </a:r>
            <a:r>
              <a:rPr kumimoji="1" lang="zh-CN" altLang="en-US" sz="2400" b="1">
                <a:latin typeface="Times New Roman" pitchFamily="18" charset="0"/>
              </a:rPr>
              <a:t>总宏观态数</a:t>
            </a:r>
            <a:r>
              <a:rPr kumimoji="1" lang="en-US" altLang="zh-CN" sz="2400" b="1">
                <a:latin typeface="Times New Roman" pitchFamily="18" charset="0"/>
              </a:rPr>
              <a:t>( </a:t>
            </a:r>
            <a:r>
              <a:rPr kumimoji="1" lang="en-US" altLang="zh-CN" sz="2400" b="1" i="1">
                <a:solidFill>
                  <a:srgbClr val="FF6600"/>
                </a:solidFill>
                <a:latin typeface="Times New Roman" pitchFamily="18" charset="0"/>
              </a:rPr>
              <a:t>N </a:t>
            </a:r>
            <a:r>
              <a:rPr kumimoji="1" lang="en-US" altLang="zh-CN" sz="2400" b="1">
                <a:solidFill>
                  <a:srgbClr val="FF6600"/>
                </a:solidFill>
                <a:latin typeface="Times New Roman" pitchFamily="18" charset="0"/>
              </a:rPr>
              <a:t>+1</a:t>
            </a:r>
            <a:r>
              <a:rPr kumimoji="1" lang="en-US" altLang="zh-CN" sz="2400" b="1" i="1">
                <a:latin typeface="Times New Roman" pitchFamily="18" charset="0"/>
              </a:rPr>
              <a:t> </a:t>
            </a:r>
            <a:r>
              <a:rPr kumimoji="1" lang="en-US" altLang="zh-CN" sz="2400" b="1">
                <a:latin typeface="Times New Roman" pitchFamily="18" charset="0"/>
              </a:rPr>
              <a:t>) </a:t>
            </a:r>
            <a:r>
              <a:rPr lang="zh-CN" altLang="en-US" sz="2400" b="1">
                <a:latin typeface="Times New Roman" pitchFamily="18" charset="0"/>
              </a:rPr>
              <a:t>，每一种</a:t>
            </a:r>
            <a:r>
              <a:rPr kumimoji="1" lang="zh-CN" altLang="en-US" sz="2400" b="1">
                <a:latin typeface="Times New Roman" pitchFamily="18" charset="0"/>
              </a:rPr>
              <a:t>微观态</a:t>
            </a:r>
            <a:r>
              <a:rPr lang="zh-CN" altLang="en-US" sz="2400" b="1">
                <a:latin typeface="Times New Roman" pitchFamily="18" charset="0"/>
              </a:rPr>
              <a:t>概率 </a:t>
            </a:r>
            <a:r>
              <a:rPr lang="en-US" altLang="zh-CN" sz="2400" b="1">
                <a:latin typeface="Times New Roman" pitchFamily="18" charset="0"/>
              </a:rPr>
              <a:t>(</a:t>
            </a:r>
            <a:r>
              <a:rPr kumimoji="1" lang="en-US" altLang="zh-CN" sz="2400" b="1">
                <a:solidFill>
                  <a:srgbClr val="FF6600"/>
                </a:solidFill>
                <a:latin typeface="Times New Roman" pitchFamily="18" charset="0"/>
              </a:rPr>
              <a:t>1 / 2</a:t>
            </a:r>
            <a:r>
              <a:rPr kumimoji="1" lang="en-US" altLang="zh-CN" sz="2400" b="1" i="1" baseline="30000">
                <a:solidFill>
                  <a:srgbClr val="FF6600"/>
                </a:solidFill>
                <a:latin typeface="Times New Roman" pitchFamily="18" charset="0"/>
              </a:rPr>
              <a:t>N</a:t>
            </a:r>
            <a:r>
              <a:rPr kumimoji="1" lang="en-US" altLang="zh-CN" sz="2400" b="1">
                <a:latin typeface="Times New Roman" pitchFamily="18" charset="0"/>
              </a:rPr>
              <a:t>)</a:t>
            </a:r>
            <a:r>
              <a:rPr kumimoji="1" lang="en-US" altLang="zh-CN" sz="2000" b="1">
                <a:latin typeface="Times New Roman" pitchFamily="18" charset="0"/>
              </a:rPr>
              <a:t> </a:t>
            </a:r>
          </a:p>
        </p:txBody>
      </p:sp>
      <p:sp>
        <p:nvSpPr>
          <p:cNvPr id="50" name="AutoShape 20"/>
          <p:cNvSpPr>
            <a:spLocks noChangeArrowheads="1"/>
          </p:cNvSpPr>
          <p:nvPr/>
        </p:nvSpPr>
        <p:spPr bwMode="auto">
          <a:xfrm>
            <a:off x="428625" y="42386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sz="2400">
              <a:latin typeface="Times New Roman" pitchFamily="18" charset="0"/>
              <a:ea typeface="+mn-ea"/>
              <a:cs typeface="Times New Roman" pitchFamily="18" charset="0"/>
            </a:endParaRPr>
          </a:p>
        </p:txBody>
      </p:sp>
      <p:sp>
        <p:nvSpPr>
          <p:cNvPr id="51" name="Text Box 120"/>
          <p:cNvSpPr txBox="1">
            <a:spLocks noChangeArrowheads="1"/>
          </p:cNvSpPr>
          <p:nvPr/>
        </p:nvSpPr>
        <p:spPr bwMode="auto">
          <a:xfrm>
            <a:off x="2143125" y="5900738"/>
            <a:ext cx="6618288" cy="457200"/>
          </a:xfrm>
          <a:prstGeom prst="rect">
            <a:avLst/>
          </a:prstGeom>
          <a:gradFill rotWithShape="1">
            <a:gsLst>
              <a:gs pos="0">
                <a:srgbClr val="FFFF00">
                  <a:alpha val="20000"/>
                </a:srgbClr>
              </a:gs>
              <a:gs pos="100000">
                <a:srgbClr val="66FF66"/>
              </a:gs>
            </a:gsLst>
            <a:lin ang="0" scaled="1"/>
          </a:gradFill>
          <a:ln w="9525">
            <a:noFill/>
            <a:miter lim="800000"/>
            <a:headEnd/>
            <a:tailEnd/>
          </a:ln>
        </p:spPr>
        <p:txBody>
          <a:bodyPr wrap="none">
            <a:spAutoFit/>
          </a:bodyPr>
          <a:lstStyle/>
          <a:p>
            <a:r>
              <a:rPr lang="zh-CN" altLang="en-US" sz="2400" b="1">
                <a:latin typeface="Times New Roman" pitchFamily="18" charset="0"/>
                <a:ea typeface="楷体_GB2312" pitchFamily="49" charset="-122"/>
              </a:rPr>
              <a:t>对于孤立系统，各个微观态出现的概率是相同的</a:t>
            </a:r>
          </a:p>
        </p:txBody>
      </p:sp>
      <p:sp>
        <p:nvSpPr>
          <p:cNvPr id="52" name="Text Box 121"/>
          <p:cNvSpPr txBox="1">
            <a:spLocks noChangeArrowheads="1"/>
          </p:cNvSpPr>
          <p:nvPr/>
        </p:nvSpPr>
        <p:spPr bwMode="auto">
          <a:xfrm>
            <a:off x="631825" y="5900738"/>
            <a:ext cx="2016125" cy="457200"/>
          </a:xfrm>
          <a:prstGeom prst="rect">
            <a:avLst/>
          </a:prstGeom>
          <a:noFill/>
          <a:ln w="9525">
            <a:noFill/>
            <a:miter lim="800000"/>
            <a:headEnd/>
            <a:tailEnd/>
          </a:ln>
        </p:spPr>
        <p:txBody>
          <a:bodyPr>
            <a:spAutoFit/>
          </a:bodyPr>
          <a:lstStyle/>
          <a:p>
            <a:r>
              <a:rPr kumimoji="1" lang="zh-CN" altLang="en-US" sz="2400" b="1">
                <a:solidFill>
                  <a:srgbClr val="0000FF"/>
                </a:solidFill>
                <a:latin typeface="楷体_GB2312" pitchFamily="49" charset="-122"/>
                <a:ea typeface="楷体_GB2312" pitchFamily="49" charset="-122"/>
              </a:rPr>
              <a:t>基本假设</a:t>
            </a:r>
            <a:r>
              <a:rPr kumimoji="1" lang="en-US" altLang="zh-CN" sz="2400" b="1">
                <a:solidFill>
                  <a:srgbClr val="0000FF"/>
                </a:solidFill>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1000" fill="hold"/>
                                        <p:tgtEl>
                                          <p:spTgt spid="50"/>
                                        </p:tgtEl>
                                        <p:attrNameLst>
                                          <p:attrName>ppt_w</p:attrName>
                                        </p:attrNameLst>
                                      </p:cBhvr>
                                      <p:tavLst>
                                        <p:tav tm="0">
                                          <p:val>
                                            <p:strVal val="#ppt_w+.3"/>
                                          </p:val>
                                        </p:tav>
                                        <p:tav tm="100000">
                                          <p:val>
                                            <p:strVal val="#ppt_w"/>
                                          </p:val>
                                        </p:tav>
                                      </p:tavLst>
                                    </p:anim>
                                    <p:anim calcmode="lin" valueType="num">
                                      <p:cBhvr>
                                        <p:cTn id="8" dur="1000" fill="hold"/>
                                        <p:tgtEl>
                                          <p:spTgt spid="50"/>
                                        </p:tgtEl>
                                        <p:attrNameLst>
                                          <p:attrName>ppt_h</p:attrName>
                                        </p:attrNameLst>
                                      </p:cBhvr>
                                      <p:tavLst>
                                        <p:tav tm="0">
                                          <p:val>
                                            <p:strVal val="#ppt_h"/>
                                          </p:val>
                                        </p:tav>
                                        <p:tav tm="100000">
                                          <p:val>
                                            <p:strVal val="#ppt_h"/>
                                          </p:val>
                                        </p:tav>
                                      </p:tavLst>
                                    </p:anim>
                                    <p:animEffect transition="in" filter="fade">
                                      <p:cBhvr>
                                        <p:cTn id="9" dur="1000"/>
                                        <p:tgtEl>
                                          <p:spTgt spid="50"/>
                                        </p:tgtEl>
                                      </p:cBhvr>
                                    </p:animEffect>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325634"/>
                                        </p:tgtEl>
                                        <p:attrNameLst>
                                          <p:attrName>style.visibility</p:attrName>
                                        </p:attrNameLst>
                                      </p:cBhvr>
                                      <p:to>
                                        <p:strVal val="visible"/>
                                      </p:to>
                                    </p:set>
                                    <p:animEffect transition="in" filter="wipe(left)">
                                      <p:cBhvr>
                                        <p:cTn id="13" dur="1000"/>
                                        <p:tgtEl>
                                          <p:spTgt spid="32563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25638"/>
                                        </p:tgtEl>
                                        <p:attrNameLst>
                                          <p:attrName>style.visibility</p:attrName>
                                        </p:attrNameLst>
                                      </p:cBhvr>
                                      <p:to>
                                        <p:strVal val="visible"/>
                                      </p:to>
                                    </p:set>
                                    <p:animEffect transition="in" filter="wipe(left)">
                                      <p:cBhvr>
                                        <p:cTn id="23" dur="1000"/>
                                        <p:tgtEl>
                                          <p:spTgt spid="32563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25639"/>
                                        </p:tgtEl>
                                        <p:attrNameLst>
                                          <p:attrName>style.visibility</p:attrName>
                                        </p:attrNameLst>
                                      </p:cBhvr>
                                      <p:to>
                                        <p:strVal val="visible"/>
                                      </p:to>
                                    </p:set>
                                    <p:animEffect transition="in" filter="wipe(left)">
                                      <p:cBhvr>
                                        <p:cTn id="26" dur="1000"/>
                                        <p:tgtEl>
                                          <p:spTgt spid="32563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1000"/>
                                        <p:tgtEl>
                                          <p:spTgt spid="3"/>
                                        </p:tgtEl>
                                      </p:cBhvr>
                                    </p:animEffect>
                                  </p:childTnLst>
                                </p:cTn>
                              </p:par>
                              <p:par>
                                <p:cTn id="32" presetID="22" presetClass="entr" presetSubtype="8"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1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1000"/>
                                        <p:tgtEl>
                                          <p:spTgt spid="10"/>
                                        </p:tgtEl>
                                      </p:cBhvr>
                                    </p:animEffect>
                                  </p:childTnLst>
                                </p:cTn>
                              </p:par>
                              <p:par>
                                <p:cTn id="40" presetID="22" presetClass="entr" presetSubtype="8"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10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1000"/>
                                        <p:tgtEl>
                                          <p:spTgt spid="6"/>
                                        </p:tgtEl>
                                      </p:cBhvr>
                                    </p:animEffect>
                                  </p:childTnLst>
                                </p:cTn>
                              </p:par>
                              <p:par>
                                <p:cTn id="48" presetID="22" presetClass="entr" presetSubtype="8" fill="hold"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left)">
                                      <p:cBhvr>
                                        <p:cTn id="50" dur="10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25650"/>
                                        </p:tgtEl>
                                        <p:attrNameLst>
                                          <p:attrName>style.visibility</p:attrName>
                                        </p:attrNameLst>
                                      </p:cBhvr>
                                      <p:to>
                                        <p:strVal val="visible"/>
                                      </p:to>
                                    </p:set>
                                    <p:animEffect transition="in" filter="wipe(left)">
                                      <p:cBhvr>
                                        <p:cTn id="55" dur="1000"/>
                                        <p:tgtEl>
                                          <p:spTgt spid="32565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325651"/>
                                        </p:tgtEl>
                                        <p:attrNameLst>
                                          <p:attrName>style.visibility</p:attrName>
                                        </p:attrNameLst>
                                      </p:cBhvr>
                                      <p:to>
                                        <p:strVal val="visible"/>
                                      </p:to>
                                    </p:set>
                                    <p:animEffect transition="in" filter="wipe(left)">
                                      <p:cBhvr>
                                        <p:cTn id="58" dur="1000"/>
                                        <p:tgtEl>
                                          <p:spTgt spid="32565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iterate type="lt">
                                    <p:tmPct val="0"/>
                                  </p:iterate>
                                  <p:childTnLst>
                                    <p:set>
                                      <p:cBhvr>
                                        <p:cTn id="62" dur="1" fill="hold">
                                          <p:stCondLst>
                                            <p:cond delay="0"/>
                                          </p:stCondLst>
                                        </p:cTn>
                                        <p:tgtEl>
                                          <p:spTgt spid="325680"/>
                                        </p:tgtEl>
                                        <p:attrNameLst>
                                          <p:attrName>style.visibility</p:attrName>
                                        </p:attrNameLst>
                                      </p:cBhvr>
                                      <p:to>
                                        <p:strVal val="visible"/>
                                      </p:to>
                                    </p:set>
                                    <p:anim calcmode="lin" valueType="num">
                                      <p:cBhvr>
                                        <p:cTn id="63" dur="1000" fill="hold"/>
                                        <p:tgtEl>
                                          <p:spTgt spid="325680"/>
                                        </p:tgtEl>
                                        <p:attrNameLst>
                                          <p:attrName>ppt_w</p:attrName>
                                        </p:attrNameLst>
                                      </p:cBhvr>
                                      <p:tavLst>
                                        <p:tav tm="0">
                                          <p:val>
                                            <p:fltVal val="0"/>
                                          </p:val>
                                        </p:tav>
                                        <p:tav tm="100000">
                                          <p:val>
                                            <p:strVal val="#ppt_w"/>
                                          </p:val>
                                        </p:tav>
                                      </p:tavLst>
                                    </p:anim>
                                    <p:anim calcmode="lin" valueType="num">
                                      <p:cBhvr>
                                        <p:cTn id="64" dur="1000" fill="hold"/>
                                        <p:tgtEl>
                                          <p:spTgt spid="325680"/>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0" presetClass="emph" presetSubtype="0" repeatCount="indefinite" fill="hold" grpId="1" nodeType="clickEffect">
                                  <p:stCondLst>
                                    <p:cond delay="0"/>
                                  </p:stCondLst>
                                  <p:iterate type="lt">
                                    <p:tmPct val="10000"/>
                                  </p:iterate>
                                  <p:childTnLst>
                                    <p:set>
                                      <p:cBhvr override="childStyle">
                                        <p:cTn id="68" dur="500" autoRev="1" fill="hold"/>
                                        <p:tgtEl>
                                          <p:spTgt spid="325680"/>
                                        </p:tgtEl>
                                        <p:attrNameLst>
                                          <p:attrName>style.color</p:attrName>
                                        </p:attrNameLst>
                                      </p:cBhvr>
                                      <p:to>
                                        <p:clrVal>
                                          <a:srgbClr val="6600CC"/>
                                        </p:clrVal>
                                      </p:to>
                                    </p:set>
                                    <p:set>
                                      <p:cBhvr>
                                        <p:cTn id="69" dur="500" autoRev="1" fill="hold"/>
                                        <p:tgtEl>
                                          <p:spTgt spid="325680"/>
                                        </p:tgtEl>
                                        <p:attrNameLst>
                                          <p:attrName>fillcolor</p:attrName>
                                        </p:attrNameLst>
                                      </p:cBhvr>
                                      <p:to>
                                        <p:clrVal>
                                          <a:srgbClr val="6600CC"/>
                                        </p:clrVal>
                                      </p:to>
                                    </p:set>
                                    <p:set>
                                      <p:cBhvr>
                                        <p:cTn id="70" dur="500" autoRev="1" fill="hold"/>
                                        <p:tgtEl>
                                          <p:spTgt spid="325680"/>
                                        </p:tgtEl>
                                        <p:attrNameLst>
                                          <p:attrName>fill.type</p:attrName>
                                        </p:attrNameLst>
                                      </p:cBhvr>
                                      <p:to>
                                        <p:strVal val="solid"/>
                                      </p:to>
                                    </p:set>
                                  </p:childTnLst>
                                </p:cTn>
                              </p:par>
                            </p:childTnLst>
                          </p:cTn>
                        </p:par>
                        <p:par>
                          <p:cTn id="71" fill="hold">
                            <p:stCondLst>
                              <p:cond delay="3800"/>
                            </p:stCondLst>
                            <p:childTnLst>
                              <p:par>
                                <p:cTn id="72" presetID="22" presetClass="entr" presetSubtype="8" fill="hold" grpId="0" nodeType="afterEffect">
                                  <p:stCondLst>
                                    <p:cond delay="0"/>
                                  </p:stCondLst>
                                  <p:childTnLst>
                                    <p:set>
                                      <p:cBhvr>
                                        <p:cTn id="73" dur="1" fill="hold">
                                          <p:stCondLst>
                                            <p:cond delay="0"/>
                                          </p:stCondLst>
                                        </p:cTn>
                                        <p:tgtEl>
                                          <p:spTgt spid="325681"/>
                                        </p:tgtEl>
                                        <p:attrNameLst>
                                          <p:attrName>style.visibility</p:attrName>
                                        </p:attrNameLst>
                                      </p:cBhvr>
                                      <p:to>
                                        <p:strVal val="visible"/>
                                      </p:to>
                                    </p:set>
                                    <p:animEffect transition="in" filter="wipe(left)">
                                      <p:cBhvr>
                                        <p:cTn id="74" dur="1000"/>
                                        <p:tgtEl>
                                          <p:spTgt spid="32568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4" grpId="0"/>
      <p:bldP spid="325638" grpId="0" animBg="1" autoUpdateAnimBg="0"/>
      <p:bldP spid="325639" grpId="0" animBg="1" autoUpdateAnimBg="0"/>
      <p:bldP spid="325650" grpId="0" animBg="1" autoUpdateAnimBg="0"/>
      <p:bldP spid="325651" grpId="0" animBg="1" autoUpdateAnimBg="0"/>
      <p:bldP spid="325680" grpId="0"/>
      <p:bldP spid="325680" grpId="1"/>
      <p:bldP spid="325681" grpId="0"/>
      <p:bldP spid="50" grpId="0" animBg="1"/>
      <p:bldP spid="51" grpId="0" animBg="1"/>
      <p:bldP spid="5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2844800" y="379413"/>
            <a:ext cx="33115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ea typeface="楷体_GB2312" pitchFamily="49" charset="-122"/>
              </a:rPr>
              <a:t>20</a:t>
            </a:r>
            <a:r>
              <a:rPr kumimoji="1" lang="zh-CN" altLang="en-US" sz="2400" b="1">
                <a:solidFill>
                  <a:srgbClr val="0000FF"/>
                </a:solidFill>
                <a:latin typeface="楷体_GB2312" pitchFamily="49" charset="-122"/>
                <a:ea typeface="楷体_GB2312" pitchFamily="49" charset="-122"/>
              </a:rPr>
              <a:t>个分子的位置分布</a:t>
            </a:r>
          </a:p>
        </p:txBody>
      </p:sp>
      <p:graphicFrame>
        <p:nvGraphicFramePr>
          <p:cNvPr id="326659" name="Group 3"/>
          <p:cNvGraphicFramePr>
            <a:graphicFrameLocks noGrp="1"/>
          </p:cNvGraphicFramePr>
          <p:nvPr/>
        </p:nvGraphicFramePr>
        <p:xfrm>
          <a:off x="539750" y="882650"/>
          <a:ext cx="8066088" cy="4886327"/>
        </p:xfrm>
        <a:graphic>
          <a:graphicData uri="http://schemas.openxmlformats.org/drawingml/2006/table">
            <a:tbl>
              <a:tblPr/>
              <a:tblGrid>
                <a:gridCol w="3024188"/>
                <a:gridCol w="5041900"/>
              </a:tblGrid>
              <a:tr h="550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楷体_GB2312" pitchFamily="49" charset="-122"/>
                        </a:rPr>
                        <a:t>宏观状态</a:t>
                      </a: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Arial" charset="0"/>
                          <a:ea typeface="楷体_GB2312" pitchFamily="49" charset="-122"/>
                        </a:rPr>
                        <a:t>一种宏观状态对应的</a:t>
                      </a:r>
                      <a:r>
                        <a:rPr kumimoji="1" lang="zh-CN" altLang="en-US" sz="2400" b="1" i="0" u="none" strike="noStrike" cap="none" normalizeH="0" baseline="0" smtClean="0">
                          <a:ln>
                            <a:noFill/>
                          </a:ln>
                          <a:solidFill>
                            <a:srgbClr val="FF0000"/>
                          </a:solidFill>
                          <a:effectLst/>
                          <a:latin typeface="Arial" charset="0"/>
                          <a:ea typeface="楷体_GB2312" pitchFamily="49" charset="-122"/>
                        </a:rPr>
                        <a:t>微观状态数</a:t>
                      </a:r>
                      <a:r>
                        <a:rPr kumimoji="1" lang="zh-CN" altLang="en-US" sz="2400" b="1" i="0" u="none" strike="noStrike" cap="none" normalizeH="0" baseline="0" smtClean="0">
                          <a:ln>
                            <a:noFill/>
                          </a:ln>
                          <a:solidFill>
                            <a:srgbClr val="FF0000"/>
                          </a:solidFill>
                          <a:effectLst/>
                          <a:latin typeface="Arial" charset="0"/>
                          <a:ea typeface="宋体" pitchFamily="2" charset="-122"/>
                          <a:sym typeface="Symbol" pitchFamily="18" charset="2"/>
                        </a:rPr>
                        <a:t></a:t>
                      </a:r>
                      <a:endParaRPr kumimoji="0" lang="zh-CN" altLang="en-US" sz="2400" b="1" i="0" u="none" strike="noStrike" cap="none" normalizeH="0" baseline="0" smtClean="0">
                        <a:ln>
                          <a:noFill/>
                        </a:ln>
                        <a:solidFill>
                          <a:srgbClr val="FF0000"/>
                        </a:solidFill>
                        <a:effectLst/>
                        <a:latin typeface="Arial" charset="0"/>
                        <a:ea typeface="宋体" pitchFamily="2" charset="-122"/>
                        <a:sym typeface="Symbol" pitchFamily="18" charset="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20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0</a:t>
                      </a: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smtClean="0">
                          <a:ln>
                            <a:noFill/>
                          </a:ln>
                          <a:solidFill>
                            <a:schemeClr val="tx1"/>
                          </a:solidFill>
                          <a:effectLst/>
                          <a:latin typeface="Arial" charset="0"/>
                          <a:ea typeface="宋体" pitchFamily="2" charset="-122"/>
                        </a:rPr>
                        <a:t>     </a:t>
                      </a:r>
                      <a:r>
                        <a:rPr kumimoji="0" lang="zh-CN" altLang="en-US" sz="2400" b="1" i="0" u="none" strike="noStrike" cap="none" normalizeH="0" baseline="0" dirty="0" smtClean="0">
                          <a:ln>
                            <a:noFill/>
                          </a:ln>
                          <a:solidFill>
                            <a:schemeClr val="tx1"/>
                          </a:solidFill>
                          <a:effectLst/>
                          <a:latin typeface="Arial" charset="0"/>
                          <a:ea typeface="宋体" pitchFamily="2" charset="-122"/>
                        </a:rPr>
                        <a:t>左</a:t>
                      </a:r>
                      <a:r>
                        <a:rPr kumimoji="0" lang="en-US" altLang="zh-CN" sz="2400" b="1" i="0" u="none" strike="noStrike" cap="none" normalizeH="0" baseline="0" dirty="0" smtClean="0">
                          <a:ln>
                            <a:noFill/>
                          </a:ln>
                          <a:solidFill>
                            <a:schemeClr val="tx1"/>
                          </a:solidFill>
                          <a:effectLst/>
                          <a:latin typeface="Arial" charset="0"/>
                          <a:ea typeface="宋体" pitchFamily="2" charset="-122"/>
                        </a:rPr>
                        <a:t>18              </a:t>
                      </a:r>
                      <a:r>
                        <a:rPr kumimoji="0" lang="zh-CN" altLang="en-US" sz="2400" b="1" i="0" u="none" strike="noStrike" cap="none" normalizeH="0" baseline="0" dirty="0" smtClean="0">
                          <a:ln>
                            <a:noFill/>
                          </a:ln>
                          <a:solidFill>
                            <a:schemeClr val="tx1"/>
                          </a:solidFill>
                          <a:effectLst/>
                          <a:latin typeface="Arial" charset="0"/>
                          <a:ea typeface="宋体" pitchFamily="2" charset="-122"/>
                        </a:rPr>
                        <a:t>右</a:t>
                      </a:r>
                      <a:r>
                        <a:rPr kumimoji="0" lang="en-US" altLang="zh-CN" sz="2400" b="1" i="0" u="none" strike="noStrike" cap="none" normalizeH="0" baseline="0" dirty="0" smtClean="0">
                          <a:ln>
                            <a:noFill/>
                          </a:ln>
                          <a:solidFill>
                            <a:schemeClr val="tx1"/>
                          </a:solidFill>
                          <a:effectLst/>
                          <a:latin typeface="Arial" charset="0"/>
                          <a:ea typeface="宋体" pitchFamily="2" charset="-122"/>
                        </a:rPr>
                        <a:t>2</a:t>
                      </a:r>
                      <a:endParaRPr kumimoji="0" lang="en-US" altLang="zh-CN" sz="2800" b="0"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190</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5540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15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5</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15504</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11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9</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167960</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10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10</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66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184756</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67999"/>
                      </a:srgbClr>
                    </a:solidFill>
                  </a:tcPr>
                </a:tc>
              </a:tr>
              <a:tr h="5349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9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11</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167960</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5032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5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15</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15504</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2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18</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190</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r h="406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a:t>
                      </a:r>
                      <a:r>
                        <a:rPr kumimoji="0" lang="zh-CN" altLang="en-US" sz="2400" b="1" i="0" u="none" strike="noStrike" cap="none" normalizeH="0" baseline="0" smtClean="0">
                          <a:ln>
                            <a:noFill/>
                          </a:ln>
                          <a:solidFill>
                            <a:schemeClr val="tx1"/>
                          </a:solidFill>
                          <a:effectLst/>
                          <a:latin typeface="Arial" charset="0"/>
                          <a:ea typeface="宋体" pitchFamily="2" charset="-122"/>
                        </a:rPr>
                        <a:t>左</a:t>
                      </a:r>
                      <a:r>
                        <a:rPr kumimoji="0" lang="en-US" altLang="zh-CN" sz="2400" b="1" i="0" u="none" strike="noStrike" cap="none" normalizeH="0" baseline="0" smtClean="0">
                          <a:ln>
                            <a:noFill/>
                          </a:ln>
                          <a:solidFill>
                            <a:schemeClr val="tx1"/>
                          </a:solidFill>
                          <a:effectLst/>
                          <a:latin typeface="Arial" charset="0"/>
                          <a:ea typeface="宋体" pitchFamily="2" charset="-122"/>
                        </a:rPr>
                        <a:t>0               </a:t>
                      </a:r>
                      <a:r>
                        <a:rPr kumimoji="0" lang="zh-CN" altLang="en-US" sz="2400" b="1" i="0" u="none" strike="noStrike" cap="none" normalizeH="0" baseline="0" smtClean="0">
                          <a:ln>
                            <a:noFill/>
                          </a:ln>
                          <a:solidFill>
                            <a:schemeClr val="tx1"/>
                          </a:solidFill>
                          <a:effectLst/>
                          <a:latin typeface="Arial" charset="0"/>
                          <a:ea typeface="宋体" pitchFamily="2" charset="-122"/>
                        </a:rPr>
                        <a:t>右</a:t>
                      </a:r>
                      <a:r>
                        <a:rPr kumimoji="0" lang="en-US" altLang="zh-CN" sz="2400" b="1" i="0" u="none" strike="noStrike" cap="none" normalizeH="0" baseline="0" smtClean="0">
                          <a:ln>
                            <a:noFill/>
                          </a:ln>
                          <a:solidFill>
                            <a:schemeClr val="tx1"/>
                          </a:solidFill>
                          <a:effectLst/>
                          <a:latin typeface="Arial" charset="0"/>
                          <a:ea typeface="宋体" pitchFamily="2" charset="-122"/>
                        </a:rPr>
                        <a:t>20</a:t>
                      </a:r>
                      <a:endParaRPr kumimoji="0" lang="en-US" altLang="zh-CN" sz="2800" b="0"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Arial" charset="0"/>
                          <a:ea typeface="宋体" pitchFamily="2" charset="-122"/>
                        </a:rPr>
                        <a:t>                               1</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rgbClr val="00CC99">
                        <a:alpha val="21001"/>
                      </a:srgbClr>
                    </a:solidFill>
                  </a:tcPr>
                </a:tc>
              </a:tr>
            </a:tbl>
          </a:graphicData>
        </a:graphic>
      </p:graphicFrame>
      <p:sp>
        <p:nvSpPr>
          <p:cNvPr id="326694" name="Text Box 38"/>
          <p:cNvSpPr txBox="1">
            <a:spLocks noChangeArrowheads="1"/>
          </p:cNvSpPr>
          <p:nvPr/>
        </p:nvSpPr>
        <p:spPr bwMode="auto">
          <a:xfrm>
            <a:off x="612775" y="5924550"/>
            <a:ext cx="8135938" cy="457200"/>
          </a:xfrm>
          <a:prstGeom prst="rect">
            <a:avLst/>
          </a:prstGeom>
          <a:gradFill rotWithShape="1">
            <a:gsLst>
              <a:gs pos="0">
                <a:srgbClr val="00FF00"/>
              </a:gs>
              <a:gs pos="100000">
                <a:srgbClr val="FFFF00"/>
              </a:gs>
            </a:gsLst>
            <a:lin ang="0" scaled="1"/>
          </a:gradFill>
          <a:ln w="9525">
            <a:noFill/>
            <a:miter lim="800000"/>
            <a:headEnd/>
            <a:tailEnd/>
          </a:ln>
        </p:spPr>
        <p:txBody>
          <a:bodyPr>
            <a:spAutoFit/>
          </a:bodyPr>
          <a:lstStyle/>
          <a:p>
            <a:pPr algn="ctr"/>
            <a:r>
              <a:rPr lang="zh-CN" altLang="en-US" sz="2400" b="1">
                <a:latin typeface="Times New Roman" pitchFamily="18" charset="0"/>
                <a:ea typeface="楷体_GB2312" pitchFamily="49" charset="-122"/>
              </a:rPr>
              <a:t>包含</a:t>
            </a:r>
            <a:r>
              <a:rPr kumimoji="1" lang="zh-CN" altLang="en-US" sz="2400" b="1">
                <a:latin typeface="Times New Roman" pitchFamily="18" charset="0"/>
                <a:ea typeface="楷体_GB2312" pitchFamily="49" charset="-122"/>
              </a:rPr>
              <a:t>微观状态数最多的</a:t>
            </a:r>
            <a:r>
              <a:rPr lang="zh-CN" altLang="en-US" sz="2400" b="1">
                <a:latin typeface="Times New Roman" pitchFamily="18" charset="0"/>
                <a:ea typeface="楷体_GB2312" pitchFamily="49" charset="-122"/>
              </a:rPr>
              <a:t>宏观状态是出现的概率最大的状态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6694"/>
                                        </p:tgtEl>
                                        <p:attrNameLst>
                                          <p:attrName>style.visibility</p:attrName>
                                        </p:attrNameLst>
                                      </p:cBhvr>
                                      <p:to>
                                        <p:strVal val="visible"/>
                                      </p:to>
                                    </p:set>
                                    <p:animEffect transition="in" filter="wipe(left)">
                                      <p:cBhvr>
                                        <p:cTn id="7" dur="1000"/>
                                        <p:tgtEl>
                                          <p:spTgt spid="326694"/>
                                        </p:tgtEl>
                                      </p:cBhvr>
                                    </p:animEffect>
                                  </p:childTnLst>
                                </p:cTn>
                              </p:par>
                            </p:childTnLst>
                          </p:cTn>
                        </p:par>
                        <p:par>
                          <p:cTn id="8" fill="hold">
                            <p:stCondLst>
                              <p:cond delay="1000"/>
                            </p:stCondLst>
                            <p:childTnLst>
                              <p:par>
                                <p:cTn id="9" presetID="17" presetClass="entr" presetSubtype="10" fill="hold" grpId="1" nodeType="afterEffect">
                                  <p:stCondLst>
                                    <p:cond delay="0"/>
                                  </p:stCondLst>
                                  <p:childTnLst>
                                    <p:set>
                                      <p:cBhvr>
                                        <p:cTn id="10" dur="1" fill="hold">
                                          <p:stCondLst>
                                            <p:cond delay="0"/>
                                          </p:stCondLst>
                                        </p:cTn>
                                        <p:tgtEl>
                                          <p:spTgt spid="326694"/>
                                        </p:tgtEl>
                                        <p:attrNameLst>
                                          <p:attrName>style.visibility</p:attrName>
                                        </p:attrNameLst>
                                      </p:cBhvr>
                                      <p:to>
                                        <p:strVal val="visible"/>
                                      </p:to>
                                    </p:set>
                                    <p:anim calcmode="lin" valueType="num">
                                      <p:cBhvr>
                                        <p:cTn id="11" dur="1000" fill="hold"/>
                                        <p:tgtEl>
                                          <p:spTgt spid="326694"/>
                                        </p:tgtEl>
                                        <p:attrNameLst>
                                          <p:attrName>ppt_w</p:attrName>
                                        </p:attrNameLst>
                                      </p:cBhvr>
                                      <p:tavLst>
                                        <p:tav tm="0">
                                          <p:val>
                                            <p:fltVal val="0"/>
                                          </p:val>
                                        </p:tav>
                                        <p:tav tm="100000">
                                          <p:val>
                                            <p:strVal val="#ppt_w"/>
                                          </p:val>
                                        </p:tav>
                                      </p:tavLst>
                                    </p:anim>
                                    <p:anim calcmode="lin" valueType="num">
                                      <p:cBhvr>
                                        <p:cTn id="12" dur="1000" fill="hold"/>
                                        <p:tgtEl>
                                          <p:spTgt spid="3266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94" grpId="0" animBg="1"/>
      <p:bldP spid="326694" grpId="1"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Line 2"/>
          <p:cNvSpPr>
            <a:spLocks noChangeShapeType="1"/>
          </p:cNvSpPr>
          <p:nvPr/>
        </p:nvSpPr>
        <p:spPr bwMode="auto">
          <a:xfrm flipV="1">
            <a:off x="3500438" y="3500438"/>
            <a:ext cx="3300412" cy="0"/>
          </a:xfrm>
          <a:prstGeom prst="line">
            <a:avLst/>
          </a:prstGeom>
          <a:noFill/>
          <a:ln w="28575">
            <a:solidFill>
              <a:schemeClr val="tx1"/>
            </a:solidFill>
            <a:round/>
            <a:headEnd/>
            <a:tailEnd type="triangle" w="med" len="med"/>
          </a:ln>
        </p:spPr>
        <p:txBody>
          <a:bodyPr/>
          <a:lstStyle/>
          <a:p>
            <a:endParaRPr lang="zh-CN" altLang="en-US"/>
          </a:p>
        </p:txBody>
      </p:sp>
      <p:sp>
        <p:nvSpPr>
          <p:cNvPr id="327683" name="Line 3"/>
          <p:cNvSpPr>
            <a:spLocks noChangeShapeType="1"/>
          </p:cNvSpPr>
          <p:nvPr/>
        </p:nvSpPr>
        <p:spPr bwMode="auto">
          <a:xfrm flipH="1" flipV="1">
            <a:off x="3478213" y="573088"/>
            <a:ext cx="60325" cy="2927350"/>
          </a:xfrm>
          <a:prstGeom prst="line">
            <a:avLst/>
          </a:prstGeom>
          <a:noFill/>
          <a:ln w="28575">
            <a:solidFill>
              <a:schemeClr val="tx1"/>
            </a:solidFill>
            <a:round/>
            <a:headEnd/>
            <a:tailEnd type="triangle" w="med" len="med"/>
          </a:ln>
        </p:spPr>
        <p:txBody>
          <a:bodyPr/>
          <a:lstStyle/>
          <a:p>
            <a:endParaRPr lang="zh-CN" altLang="en-US"/>
          </a:p>
        </p:txBody>
      </p:sp>
      <p:sp>
        <p:nvSpPr>
          <p:cNvPr id="327684" name="Line 4"/>
          <p:cNvSpPr>
            <a:spLocks noChangeShapeType="1"/>
          </p:cNvSpPr>
          <p:nvPr/>
        </p:nvSpPr>
        <p:spPr bwMode="auto">
          <a:xfrm>
            <a:off x="4668838" y="1133475"/>
            <a:ext cx="46037" cy="2366963"/>
          </a:xfrm>
          <a:prstGeom prst="line">
            <a:avLst/>
          </a:prstGeom>
          <a:noFill/>
          <a:ln w="28575" cap="rnd">
            <a:solidFill>
              <a:srgbClr val="FF6600"/>
            </a:solidFill>
            <a:prstDash val="sysDot"/>
            <a:round/>
            <a:headEnd/>
            <a:tailEnd/>
          </a:ln>
        </p:spPr>
        <p:txBody>
          <a:bodyPr/>
          <a:lstStyle/>
          <a:p>
            <a:endParaRPr lang="zh-CN" altLang="en-US"/>
          </a:p>
        </p:txBody>
      </p:sp>
      <p:sp>
        <p:nvSpPr>
          <p:cNvPr id="327685" name="Rectangle 5"/>
          <p:cNvSpPr>
            <a:spLocks noChangeArrowheads="1"/>
          </p:cNvSpPr>
          <p:nvPr/>
        </p:nvSpPr>
        <p:spPr bwMode="auto">
          <a:xfrm>
            <a:off x="4422775" y="3571875"/>
            <a:ext cx="565150" cy="396875"/>
          </a:xfrm>
          <a:prstGeom prst="rect">
            <a:avLst/>
          </a:prstGeom>
          <a:noFill/>
          <a:ln w="9525">
            <a:noFill/>
            <a:miter lim="800000"/>
            <a:headEnd/>
            <a:tailEnd/>
          </a:ln>
        </p:spPr>
        <p:txBody>
          <a:bodyPr wrap="none">
            <a:spAutoFit/>
          </a:bodyPr>
          <a:lstStyle/>
          <a:p>
            <a:r>
              <a:rPr kumimoji="1" lang="en-US" altLang="zh-CN" sz="2000" b="1">
                <a:solidFill>
                  <a:srgbClr val="FF0000"/>
                </a:solidFill>
                <a:latin typeface="Times New Roman" pitchFamily="18" charset="0"/>
              </a:rPr>
              <a:t>N/2</a:t>
            </a:r>
          </a:p>
        </p:txBody>
      </p:sp>
      <p:sp>
        <p:nvSpPr>
          <p:cNvPr id="327686" name="Oval 6"/>
          <p:cNvSpPr>
            <a:spLocks noChangeAspect="1" noChangeArrowheads="1"/>
          </p:cNvSpPr>
          <p:nvPr/>
        </p:nvSpPr>
        <p:spPr bwMode="auto">
          <a:xfrm>
            <a:off x="4656138" y="3462338"/>
            <a:ext cx="107950" cy="107950"/>
          </a:xfrm>
          <a:prstGeom prst="ellipse">
            <a:avLst/>
          </a:prstGeom>
          <a:solidFill>
            <a:srgbClr val="FF0000"/>
          </a:solidFill>
          <a:ln w="9525">
            <a:solidFill>
              <a:srgbClr val="66FFFF"/>
            </a:solidFill>
            <a:round/>
            <a:headEnd/>
            <a:tailEnd/>
          </a:ln>
        </p:spPr>
        <p:txBody>
          <a:bodyPr wrap="none" anchor="ctr"/>
          <a:lstStyle/>
          <a:p>
            <a:pPr algn="ctr"/>
            <a:endParaRPr lang="zh-CN" altLang="en-US"/>
          </a:p>
        </p:txBody>
      </p:sp>
      <p:sp>
        <p:nvSpPr>
          <p:cNvPr id="327687" name="Rectangle 7"/>
          <p:cNvSpPr>
            <a:spLocks noChangeArrowheads="1"/>
          </p:cNvSpPr>
          <p:nvPr/>
        </p:nvSpPr>
        <p:spPr bwMode="auto">
          <a:xfrm>
            <a:off x="714375" y="714375"/>
            <a:ext cx="1150938" cy="457200"/>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结论</a:t>
            </a:r>
          </a:p>
        </p:txBody>
      </p:sp>
      <p:sp>
        <p:nvSpPr>
          <p:cNvPr id="327688" name="Text Box 8"/>
          <p:cNvSpPr txBox="1">
            <a:spLocks noChangeArrowheads="1"/>
          </p:cNvSpPr>
          <p:nvPr/>
        </p:nvSpPr>
        <p:spPr bwMode="auto">
          <a:xfrm>
            <a:off x="5335588" y="3571875"/>
            <a:ext cx="1908175" cy="396875"/>
          </a:xfrm>
          <a:prstGeom prst="rect">
            <a:avLst/>
          </a:prstGeom>
          <a:noFill/>
          <a:ln w="9525">
            <a:noFill/>
            <a:miter lim="800000"/>
            <a:headEnd/>
            <a:tailEnd/>
          </a:ln>
        </p:spPr>
        <p:txBody>
          <a:bodyPr>
            <a:spAutoFit/>
          </a:bodyPr>
          <a:lstStyle/>
          <a:p>
            <a:r>
              <a:rPr lang="zh-CN" altLang="en-US" sz="2000" b="1">
                <a:latin typeface="Times New Roman" pitchFamily="18" charset="0"/>
              </a:rPr>
              <a:t>左侧分子数 </a:t>
            </a:r>
            <a:r>
              <a:rPr lang="en-US" altLang="zh-CN" sz="2000" b="1" i="1">
                <a:latin typeface="Times New Roman" pitchFamily="18" charset="0"/>
              </a:rPr>
              <a:t>n</a:t>
            </a:r>
          </a:p>
        </p:txBody>
      </p:sp>
      <p:sp>
        <p:nvSpPr>
          <p:cNvPr id="327689" name="Text Box 9"/>
          <p:cNvSpPr txBox="1">
            <a:spLocks noChangeArrowheads="1"/>
          </p:cNvSpPr>
          <p:nvPr/>
        </p:nvSpPr>
        <p:spPr bwMode="auto">
          <a:xfrm>
            <a:off x="3571875" y="357188"/>
            <a:ext cx="792163" cy="457200"/>
          </a:xfrm>
          <a:prstGeom prst="rect">
            <a:avLst/>
          </a:prstGeom>
          <a:noFill/>
          <a:ln w="9525">
            <a:noFill/>
            <a:miter lim="800000"/>
            <a:headEnd/>
            <a:tailEnd/>
          </a:ln>
        </p:spPr>
        <p:txBody>
          <a:bodyPr wrap="none">
            <a:spAutoFit/>
          </a:bodyPr>
          <a:lstStyle/>
          <a:p>
            <a:r>
              <a:rPr lang="en-US" altLang="zh-CN" sz="2400" b="1">
                <a:latin typeface="Times New Roman" pitchFamily="18" charset="0"/>
                <a:sym typeface="Symbol" pitchFamily="18" charset="2"/>
              </a:rPr>
              <a:t>(</a:t>
            </a:r>
            <a:r>
              <a:rPr lang="en-US" altLang="zh-CN" sz="2400" b="1" i="1">
                <a:latin typeface="Times New Roman" pitchFamily="18" charset="0"/>
                <a:sym typeface="Symbol" pitchFamily="18" charset="2"/>
              </a:rPr>
              <a:t>n</a:t>
            </a:r>
            <a:r>
              <a:rPr lang="en-US" altLang="zh-CN" sz="2400" b="1">
                <a:latin typeface="Times New Roman" pitchFamily="18" charset="0"/>
                <a:sym typeface="Symbol" pitchFamily="18" charset="2"/>
              </a:rPr>
              <a:t>)</a:t>
            </a:r>
          </a:p>
        </p:txBody>
      </p:sp>
      <p:grpSp>
        <p:nvGrpSpPr>
          <p:cNvPr id="2" name="Group 10"/>
          <p:cNvGrpSpPr>
            <a:grpSpLocks/>
          </p:cNvGrpSpPr>
          <p:nvPr/>
        </p:nvGrpSpPr>
        <p:grpSpPr bwMode="auto">
          <a:xfrm>
            <a:off x="3648075" y="931863"/>
            <a:ext cx="2051050" cy="2425700"/>
            <a:chOff x="3372" y="1147"/>
            <a:chExt cx="1292" cy="1656"/>
          </a:xfrm>
        </p:grpSpPr>
        <p:sp>
          <p:nvSpPr>
            <p:cNvPr id="116751" name="Freeform 11"/>
            <p:cNvSpPr>
              <a:spLocks/>
            </p:cNvSpPr>
            <p:nvPr/>
          </p:nvSpPr>
          <p:spPr bwMode="auto">
            <a:xfrm>
              <a:off x="3960" y="1147"/>
              <a:ext cx="144" cy="1572"/>
            </a:xfrm>
            <a:custGeom>
              <a:avLst/>
              <a:gdLst>
                <a:gd name="T0" fmla="*/ 0 w 144"/>
                <a:gd name="T1" fmla="*/ 1572 h 1572"/>
                <a:gd name="T2" fmla="*/ 24 w 144"/>
                <a:gd name="T3" fmla="*/ 317 h 1572"/>
                <a:gd name="T4" fmla="*/ 78 w 144"/>
                <a:gd name="T5" fmla="*/ 209 h 1572"/>
                <a:gd name="T6" fmla="*/ 144 w 144"/>
                <a:gd name="T7" fmla="*/ 1571 h 1572"/>
                <a:gd name="T8" fmla="*/ 0 60000 65536"/>
                <a:gd name="T9" fmla="*/ 0 60000 65536"/>
                <a:gd name="T10" fmla="*/ 0 60000 65536"/>
                <a:gd name="T11" fmla="*/ 0 60000 65536"/>
                <a:gd name="T12" fmla="*/ 0 w 144"/>
                <a:gd name="T13" fmla="*/ 0 h 1572"/>
                <a:gd name="T14" fmla="*/ 144 w 144"/>
                <a:gd name="T15" fmla="*/ 1572 h 1572"/>
              </a:gdLst>
              <a:ahLst/>
              <a:cxnLst>
                <a:cxn ang="T8">
                  <a:pos x="T0" y="T1"/>
                </a:cxn>
                <a:cxn ang="T9">
                  <a:pos x="T2" y="T3"/>
                </a:cxn>
                <a:cxn ang="T10">
                  <a:pos x="T4" y="T5"/>
                </a:cxn>
                <a:cxn ang="T11">
                  <a:pos x="T6" y="T7"/>
                </a:cxn>
              </a:cxnLst>
              <a:rect l="T12" t="T13" r="T14" b="T15"/>
              <a:pathLst>
                <a:path w="144" h="1572">
                  <a:moveTo>
                    <a:pt x="0" y="1572"/>
                  </a:moveTo>
                  <a:cubicBezTo>
                    <a:pt x="4" y="1363"/>
                    <a:pt x="11" y="544"/>
                    <a:pt x="24" y="317"/>
                  </a:cubicBezTo>
                  <a:cubicBezTo>
                    <a:pt x="37" y="90"/>
                    <a:pt x="58" y="0"/>
                    <a:pt x="78" y="209"/>
                  </a:cubicBezTo>
                  <a:cubicBezTo>
                    <a:pt x="98" y="418"/>
                    <a:pt x="130" y="1287"/>
                    <a:pt x="144" y="1571"/>
                  </a:cubicBezTo>
                </a:path>
              </a:pathLst>
            </a:custGeom>
            <a:noFill/>
            <a:ln w="38100">
              <a:solidFill>
                <a:srgbClr val="3333CC"/>
              </a:solidFill>
              <a:round/>
              <a:headEnd/>
              <a:tailEnd/>
            </a:ln>
          </p:spPr>
          <p:txBody>
            <a:bodyPr/>
            <a:lstStyle/>
            <a:p>
              <a:pPr algn="ctr"/>
              <a:endParaRPr lang="zh-CN" altLang="en-US"/>
            </a:p>
          </p:txBody>
        </p:sp>
        <p:sp>
          <p:nvSpPr>
            <p:cNvPr id="116752" name="Arc 12"/>
            <p:cNvSpPr>
              <a:spLocks/>
            </p:cNvSpPr>
            <p:nvPr/>
          </p:nvSpPr>
          <p:spPr bwMode="auto">
            <a:xfrm rot="6330617">
              <a:off x="3577" y="2432"/>
              <a:ext cx="166" cy="576"/>
            </a:xfrm>
            <a:custGeom>
              <a:avLst/>
              <a:gdLst>
                <a:gd name="T0" fmla="*/ 0 w 6207"/>
                <a:gd name="T1" fmla="*/ 0 h 21600"/>
                <a:gd name="T2" fmla="*/ 0 w 6207"/>
                <a:gd name="T3" fmla="*/ 0 h 21600"/>
                <a:gd name="T4" fmla="*/ 0 w 6207"/>
                <a:gd name="T5" fmla="*/ 0 h 21600"/>
                <a:gd name="T6" fmla="*/ 0 60000 65536"/>
                <a:gd name="T7" fmla="*/ 0 60000 65536"/>
                <a:gd name="T8" fmla="*/ 0 60000 65536"/>
                <a:gd name="T9" fmla="*/ 0 w 6207"/>
                <a:gd name="T10" fmla="*/ 0 h 21600"/>
                <a:gd name="T11" fmla="*/ 6207 w 6207"/>
                <a:gd name="T12" fmla="*/ 21600 h 21600"/>
              </a:gdLst>
              <a:ahLst/>
              <a:cxnLst>
                <a:cxn ang="T6">
                  <a:pos x="T0" y="T1"/>
                </a:cxn>
                <a:cxn ang="T7">
                  <a:pos x="T2" y="T3"/>
                </a:cxn>
                <a:cxn ang="T8">
                  <a:pos x="T4" y="T5"/>
                </a:cxn>
              </a:cxnLst>
              <a:rect l="T9" t="T10" r="T11" b="T12"/>
              <a:pathLst>
                <a:path w="6207" h="21600" fill="none" extrusionOk="0">
                  <a:moveTo>
                    <a:pt x="-1" y="0"/>
                  </a:moveTo>
                  <a:cubicBezTo>
                    <a:pt x="2102" y="0"/>
                    <a:pt x="4193" y="306"/>
                    <a:pt x="6206" y="911"/>
                  </a:cubicBezTo>
                </a:path>
                <a:path w="6207" h="21600" stroke="0" extrusionOk="0">
                  <a:moveTo>
                    <a:pt x="-1" y="0"/>
                  </a:moveTo>
                  <a:cubicBezTo>
                    <a:pt x="2102" y="0"/>
                    <a:pt x="4193" y="306"/>
                    <a:pt x="6206" y="911"/>
                  </a:cubicBezTo>
                  <a:lnTo>
                    <a:pt x="0" y="21600"/>
                  </a:lnTo>
                  <a:close/>
                </a:path>
              </a:pathLst>
            </a:custGeom>
            <a:noFill/>
            <a:ln w="38100">
              <a:solidFill>
                <a:srgbClr val="3333CC"/>
              </a:solidFill>
              <a:round/>
              <a:headEnd/>
              <a:tailEnd/>
            </a:ln>
          </p:spPr>
          <p:txBody>
            <a:bodyPr wrap="none" anchor="ctr"/>
            <a:lstStyle/>
            <a:p>
              <a:pPr algn="ctr"/>
              <a:endParaRPr lang="zh-CN" altLang="en-US"/>
            </a:p>
          </p:txBody>
        </p:sp>
        <p:sp>
          <p:nvSpPr>
            <p:cNvPr id="116753" name="Arc 13"/>
            <p:cNvSpPr>
              <a:spLocks/>
            </p:cNvSpPr>
            <p:nvPr/>
          </p:nvSpPr>
          <p:spPr bwMode="auto">
            <a:xfrm rot="-6849858">
              <a:off x="4293" y="2396"/>
              <a:ext cx="166" cy="576"/>
            </a:xfrm>
            <a:custGeom>
              <a:avLst/>
              <a:gdLst>
                <a:gd name="T0" fmla="*/ 0 w 6207"/>
                <a:gd name="T1" fmla="*/ 0 h 21600"/>
                <a:gd name="T2" fmla="*/ 0 w 6207"/>
                <a:gd name="T3" fmla="*/ 0 h 21600"/>
                <a:gd name="T4" fmla="*/ 0 w 6207"/>
                <a:gd name="T5" fmla="*/ 0 h 21600"/>
                <a:gd name="T6" fmla="*/ 0 60000 65536"/>
                <a:gd name="T7" fmla="*/ 0 60000 65536"/>
                <a:gd name="T8" fmla="*/ 0 60000 65536"/>
                <a:gd name="T9" fmla="*/ 0 w 6207"/>
                <a:gd name="T10" fmla="*/ 0 h 21600"/>
                <a:gd name="T11" fmla="*/ 6207 w 6207"/>
                <a:gd name="T12" fmla="*/ 21600 h 21600"/>
              </a:gdLst>
              <a:ahLst/>
              <a:cxnLst>
                <a:cxn ang="T6">
                  <a:pos x="T0" y="T1"/>
                </a:cxn>
                <a:cxn ang="T7">
                  <a:pos x="T2" y="T3"/>
                </a:cxn>
                <a:cxn ang="T8">
                  <a:pos x="T4" y="T5"/>
                </a:cxn>
              </a:cxnLst>
              <a:rect l="T9" t="T10" r="T11" b="T12"/>
              <a:pathLst>
                <a:path w="6207" h="21600" fill="none" extrusionOk="0">
                  <a:moveTo>
                    <a:pt x="-1" y="0"/>
                  </a:moveTo>
                  <a:cubicBezTo>
                    <a:pt x="2102" y="0"/>
                    <a:pt x="4193" y="306"/>
                    <a:pt x="6206" y="911"/>
                  </a:cubicBezTo>
                </a:path>
                <a:path w="6207" h="21600" stroke="0" extrusionOk="0">
                  <a:moveTo>
                    <a:pt x="-1" y="0"/>
                  </a:moveTo>
                  <a:cubicBezTo>
                    <a:pt x="2102" y="0"/>
                    <a:pt x="4193" y="306"/>
                    <a:pt x="6206" y="911"/>
                  </a:cubicBezTo>
                  <a:lnTo>
                    <a:pt x="0" y="21600"/>
                  </a:lnTo>
                  <a:close/>
                </a:path>
              </a:pathLst>
            </a:custGeom>
            <a:noFill/>
            <a:ln w="38100">
              <a:solidFill>
                <a:srgbClr val="3333CC"/>
              </a:solidFill>
              <a:round/>
              <a:headEnd/>
              <a:tailEnd/>
            </a:ln>
          </p:spPr>
          <p:txBody>
            <a:bodyPr wrap="none" anchor="ctr"/>
            <a:lstStyle/>
            <a:p>
              <a:pPr algn="ctr"/>
              <a:endParaRPr lang="zh-CN" altLang="en-US"/>
            </a:p>
          </p:txBody>
        </p:sp>
      </p:grpSp>
      <p:sp>
        <p:nvSpPr>
          <p:cNvPr id="327694" name="AutoShape 14"/>
          <p:cNvSpPr>
            <a:spLocks noChangeArrowheads="1"/>
          </p:cNvSpPr>
          <p:nvPr/>
        </p:nvSpPr>
        <p:spPr bwMode="auto">
          <a:xfrm>
            <a:off x="323850" y="6381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endParaRPr lang="zh-CN" altLang="en-US"/>
          </a:p>
        </p:txBody>
      </p:sp>
      <p:sp>
        <p:nvSpPr>
          <p:cNvPr id="327695" name="Text Box 15"/>
          <p:cNvSpPr txBox="1">
            <a:spLocks noChangeArrowheads="1"/>
          </p:cNvSpPr>
          <p:nvPr/>
        </p:nvSpPr>
        <p:spPr bwMode="auto">
          <a:xfrm>
            <a:off x="357188" y="4214813"/>
            <a:ext cx="8358187" cy="534987"/>
          </a:xfrm>
          <a:prstGeom prst="rect">
            <a:avLst/>
          </a:prstGeom>
          <a:noFill/>
          <a:ln w="9525">
            <a:noFill/>
            <a:miter lim="800000"/>
            <a:headEnd/>
            <a:tailEnd/>
          </a:ln>
        </p:spPr>
        <p:txBody>
          <a:bodyPr>
            <a:spAutoFit/>
          </a:bodyPr>
          <a:lstStyle/>
          <a:p>
            <a:pPr marL="457200" indent="-457200">
              <a:lnSpc>
                <a:spcPct val="120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某宏观态出现的概率与该宏观态对应的微观态数成正比。</a:t>
            </a:r>
          </a:p>
        </p:txBody>
      </p:sp>
      <p:sp>
        <p:nvSpPr>
          <p:cNvPr id="327696" name="Text Box 16"/>
          <p:cNvSpPr txBox="1">
            <a:spLocks noChangeArrowheads="1"/>
          </p:cNvSpPr>
          <p:nvPr/>
        </p:nvSpPr>
        <p:spPr bwMode="auto">
          <a:xfrm>
            <a:off x="357188" y="4824413"/>
            <a:ext cx="8001000" cy="461962"/>
          </a:xfrm>
          <a:prstGeom prst="rect">
            <a:avLst/>
          </a:prstGeom>
          <a:noFill/>
          <a:ln w="9525">
            <a:noFill/>
            <a:miter lim="800000"/>
            <a:headEnd/>
            <a:tailEnd/>
          </a:ln>
        </p:spPr>
        <p:txBody>
          <a:bodyPr>
            <a:spAutoFit/>
          </a:bodyPr>
          <a:lstStyle/>
          <a:p>
            <a:pPr marL="457200" indent="-457200">
              <a:defRPr/>
            </a:pPr>
            <a:r>
              <a:rPr kumimoji="1" lang="en-US" altLang="zh-CN" sz="2400" b="1" dirty="0">
                <a:latin typeface="Times New Roman" pitchFamily="18" charset="0"/>
                <a:ea typeface="+mn-ea"/>
                <a:cs typeface="Times New Roman" pitchFamily="18" charset="0"/>
              </a:rPr>
              <a:t>(2)  </a:t>
            </a:r>
            <a:r>
              <a:rPr kumimoji="1" lang="en-US" altLang="zh-CN" sz="2400" b="1" i="1" dirty="0">
                <a:solidFill>
                  <a:srgbClr val="FF6600"/>
                </a:solidFill>
                <a:latin typeface="Times New Roman" pitchFamily="18" charset="0"/>
                <a:ea typeface="+mn-ea"/>
                <a:cs typeface="Times New Roman" pitchFamily="18" charset="0"/>
              </a:rPr>
              <a:t>N </a:t>
            </a:r>
            <a:r>
              <a:rPr kumimoji="1" lang="zh-CN" altLang="en-US" sz="2400" b="1" dirty="0">
                <a:latin typeface="Times New Roman" pitchFamily="18" charset="0"/>
                <a:ea typeface="+mn-ea"/>
                <a:cs typeface="Times New Roman" pitchFamily="18" charset="0"/>
              </a:rPr>
              <a:t>个分子全部聚于一侧的概率为</a:t>
            </a:r>
            <a:r>
              <a:rPr lang="en-US" altLang="zh-CN" sz="2400" b="1" dirty="0">
                <a:solidFill>
                  <a:srgbClr val="FF6600"/>
                </a:solidFill>
                <a:latin typeface="Times New Roman" pitchFamily="18" charset="0"/>
                <a:ea typeface="+mn-ea"/>
                <a:cs typeface="Times New Roman" pitchFamily="18" charset="0"/>
              </a:rPr>
              <a:t>1/(2</a:t>
            </a:r>
            <a:r>
              <a:rPr lang="en-US" altLang="zh-CN" sz="2400" b="1" i="1" baseline="30000" dirty="0">
                <a:solidFill>
                  <a:srgbClr val="FF6600"/>
                </a:solidFill>
                <a:latin typeface="Times New Roman" pitchFamily="18" charset="0"/>
                <a:ea typeface="+mn-ea"/>
                <a:cs typeface="Times New Roman" pitchFamily="18" charset="0"/>
              </a:rPr>
              <a:t>N</a:t>
            </a:r>
            <a:r>
              <a:rPr lang="en-US" altLang="zh-CN" sz="2400" b="1" dirty="0">
                <a:solidFill>
                  <a:srgbClr val="FF6600"/>
                </a:solidFill>
                <a:latin typeface="Times New Roman" pitchFamily="18" charset="0"/>
                <a:ea typeface="+mn-ea"/>
                <a:cs typeface="Times New Roman" pitchFamily="18" charset="0"/>
              </a:rPr>
              <a:t>)</a:t>
            </a:r>
            <a:r>
              <a:rPr lang="zh-CN" altLang="en-US" sz="2400" b="1" dirty="0">
                <a:solidFill>
                  <a:srgbClr val="FF6600"/>
                </a:solidFill>
                <a:latin typeface="Times New Roman" pitchFamily="18" charset="0"/>
                <a:ea typeface="+mn-ea"/>
                <a:cs typeface="Times New Roman" pitchFamily="18" charset="0"/>
              </a:rPr>
              <a:t>。</a:t>
            </a:r>
            <a:endParaRPr kumimoji="1" lang="en-US" altLang="zh-CN" sz="2400" b="1" dirty="0">
              <a:solidFill>
                <a:srgbClr val="FF6600"/>
              </a:solidFill>
              <a:latin typeface="Times New Roman" pitchFamily="18" charset="0"/>
              <a:ea typeface="+mn-ea"/>
              <a:cs typeface="Times New Roman" pitchFamily="18" charset="0"/>
            </a:endParaRPr>
          </a:p>
        </p:txBody>
      </p:sp>
      <p:sp>
        <p:nvSpPr>
          <p:cNvPr id="327697" name="Text Box 17"/>
          <p:cNvSpPr txBox="1">
            <a:spLocks noChangeArrowheads="1"/>
          </p:cNvSpPr>
          <p:nvPr/>
        </p:nvSpPr>
        <p:spPr bwMode="auto">
          <a:xfrm>
            <a:off x="357188" y="5375275"/>
            <a:ext cx="8001000" cy="554038"/>
          </a:xfrm>
          <a:prstGeom prst="rect">
            <a:avLst/>
          </a:prstGeom>
          <a:noFill/>
          <a:ln w="9525">
            <a:noFill/>
            <a:miter lim="800000"/>
            <a:headEnd/>
            <a:tailEnd/>
          </a:ln>
        </p:spPr>
        <p:txBody>
          <a:bodyPr>
            <a:spAutoFit/>
          </a:bodyPr>
          <a:lstStyle/>
          <a:p>
            <a:pPr marL="457200" indent="-457200">
              <a:lnSpc>
                <a:spcPct val="125000"/>
              </a:lnSpc>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平衡态是概率最大的宏观态，其对应的微观态数目最大。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327694"/>
                                        </p:tgtEl>
                                        <p:attrNameLst>
                                          <p:attrName>style.visibility</p:attrName>
                                        </p:attrNameLst>
                                      </p:cBhvr>
                                      <p:to>
                                        <p:strVal val="visible"/>
                                      </p:to>
                                    </p:set>
                                    <p:anim calcmode="lin" valueType="num">
                                      <p:cBhvr>
                                        <p:cTn id="7" dur="1000" fill="hold"/>
                                        <p:tgtEl>
                                          <p:spTgt spid="327694"/>
                                        </p:tgtEl>
                                        <p:attrNameLst>
                                          <p:attrName>ppt_w</p:attrName>
                                        </p:attrNameLst>
                                      </p:cBhvr>
                                      <p:tavLst>
                                        <p:tav tm="0">
                                          <p:val>
                                            <p:strVal val="4*#ppt_w"/>
                                          </p:val>
                                        </p:tav>
                                        <p:tav tm="100000">
                                          <p:val>
                                            <p:strVal val="#ppt_w"/>
                                          </p:val>
                                        </p:tav>
                                      </p:tavLst>
                                    </p:anim>
                                    <p:anim calcmode="lin" valueType="num">
                                      <p:cBhvr>
                                        <p:cTn id="8" dur="1000" fill="hold"/>
                                        <p:tgtEl>
                                          <p:spTgt spid="327694"/>
                                        </p:tgtEl>
                                        <p:attrNameLst>
                                          <p:attrName>ppt_h</p:attrName>
                                        </p:attrNameLst>
                                      </p:cBhvr>
                                      <p:tavLst>
                                        <p:tav tm="0">
                                          <p:val>
                                            <p:strVal val="4*#ppt_h"/>
                                          </p:val>
                                        </p:tav>
                                        <p:tav tm="100000">
                                          <p:val>
                                            <p:strVal val="#ppt_h"/>
                                          </p:val>
                                        </p:tav>
                                      </p:tavLst>
                                    </p:anim>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327687"/>
                                        </p:tgtEl>
                                        <p:attrNameLst>
                                          <p:attrName>style.visibility</p:attrName>
                                        </p:attrNameLst>
                                      </p:cBhvr>
                                      <p:to>
                                        <p:strVal val="visible"/>
                                      </p:to>
                                    </p:set>
                                    <p:animEffect transition="in" filter="wipe(left)">
                                      <p:cBhvr>
                                        <p:cTn id="12" dur="1000"/>
                                        <p:tgtEl>
                                          <p:spTgt spid="3276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682"/>
                                        </p:tgtEl>
                                        <p:attrNameLst>
                                          <p:attrName>style.visibility</p:attrName>
                                        </p:attrNameLst>
                                      </p:cBhvr>
                                      <p:to>
                                        <p:strVal val="visible"/>
                                      </p:to>
                                    </p:set>
                                    <p:animEffect transition="in" filter="wipe(left)">
                                      <p:cBhvr>
                                        <p:cTn id="17" dur="1000"/>
                                        <p:tgtEl>
                                          <p:spTgt spid="32768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27688"/>
                                        </p:tgtEl>
                                        <p:attrNameLst>
                                          <p:attrName>style.visibility</p:attrName>
                                        </p:attrNameLst>
                                      </p:cBhvr>
                                      <p:to>
                                        <p:strVal val="visible"/>
                                      </p:to>
                                    </p:set>
                                    <p:animEffect transition="in" filter="wipe(left)">
                                      <p:cBhvr>
                                        <p:cTn id="20" dur="1000"/>
                                        <p:tgtEl>
                                          <p:spTgt spid="32768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27683"/>
                                        </p:tgtEl>
                                        <p:attrNameLst>
                                          <p:attrName>style.visibility</p:attrName>
                                        </p:attrNameLst>
                                      </p:cBhvr>
                                      <p:to>
                                        <p:strVal val="visible"/>
                                      </p:to>
                                    </p:set>
                                    <p:animEffect transition="in" filter="wipe(left)">
                                      <p:cBhvr>
                                        <p:cTn id="23" dur="1000"/>
                                        <p:tgtEl>
                                          <p:spTgt spid="32768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27689"/>
                                        </p:tgtEl>
                                        <p:attrNameLst>
                                          <p:attrName>style.visibility</p:attrName>
                                        </p:attrNameLst>
                                      </p:cBhvr>
                                      <p:to>
                                        <p:strVal val="visible"/>
                                      </p:to>
                                    </p:set>
                                    <p:animEffect transition="in" filter="wipe(left)">
                                      <p:cBhvr>
                                        <p:cTn id="26" dur="1000"/>
                                        <p:tgtEl>
                                          <p:spTgt spid="32768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27684"/>
                                        </p:tgtEl>
                                        <p:attrNameLst>
                                          <p:attrName>style.visibility</p:attrName>
                                        </p:attrNameLst>
                                      </p:cBhvr>
                                      <p:to>
                                        <p:strVal val="visible"/>
                                      </p:to>
                                    </p:set>
                                    <p:animEffect transition="in" filter="wipe(left)">
                                      <p:cBhvr>
                                        <p:cTn id="31" dur="1000"/>
                                        <p:tgtEl>
                                          <p:spTgt spid="327684"/>
                                        </p:tgtEl>
                                      </p:cBhvr>
                                    </p:animEffect>
                                  </p:childTnLst>
                                </p:cTn>
                              </p:par>
                              <p:par>
                                <p:cTn id="32" presetID="22" presetClass="entr" presetSubtype="8"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1000"/>
                                        <p:tgtEl>
                                          <p:spTgt spid="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27685"/>
                                        </p:tgtEl>
                                        <p:attrNameLst>
                                          <p:attrName>style.visibility</p:attrName>
                                        </p:attrNameLst>
                                      </p:cBhvr>
                                      <p:to>
                                        <p:strVal val="visible"/>
                                      </p:to>
                                    </p:set>
                                    <p:animEffect transition="in" filter="wipe(left)">
                                      <p:cBhvr>
                                        <p:cTn id="37" dur="1000"/>
                                        <p:tgtEl>
                                          <p:spTgt spid="32768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27686"/>
                                        </p:tgtEl>
                                        <p:attrNameLst>
                                          <p:attrName>style.visibility</p:attrName>
                                        </p:attrNameLst>
                                      </p:cBhvr>
                                      <p:to>
                                        <p:strVal val="visible"/>
                                      </p:to>
                                    </p:set>
                                    <p:animEffect transition="in" filter="wipe(left)">
                                      <p:cBhvr>
                                        <p:cTn id="40" dur="1000"/>
                                        <p:tgtEl>
                                          <p:spTgt spid="32768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27695"/>
                                        </p:tgtEl>
                                        <p:attrNameLst>
                                          <p:attrName>style.visibility</p:attrName>
                                        </p:attrNameLst>
                                      </p:cBhvr>
                                      <p:to>
                                        <p:strVal val="visible"/>
                                      </p:to>
                                    </p:set>
                                    <p:animEffect transition="in" filter="wipe(left)">
                                      <p:cBhvr>
                                        <p:cTn id="45" dur="500"/>
                                        <p:tgtEl>
                                          <p:spTgt spid="32769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27696"/>
                                        </p:tgtEl>
                                        <p:attrNameLst>
                                          <p:attrName>style.visibility</p:attrName>
                                        </p:attrNameLst>
                                      </p:cBhvr>
                                      <p:to>
                                        <p:strVal val="visible"/>
                                      </p:to>
                                    </p:set>
                                    <p:animEffect transition="in" filter="wipe(left)">
                                      <p:cBhvr>
                                        <p:cTn id="50" dur="500"/>
                                        <p:tgtEl>
                                          <p:spTgt spid="32769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27697"/>
                                        </p:tgtEl>
                                        <p:attrNameLst>
                                          <p:attrName>style.visibility</p:attrName>
                                        </p:attrNameLst>
                                      </p:cBhvr>
                                      <p:to>
                                        <p:strVal val="visible"/>
                                      </p:to>
                                    </p:set>
                                    <p:animEffect transition="in" filter="wipe(left)">
                                      <p:cBhvr>
                                        <p:cTn id="55" dur="500"/>
                                        <p:tgtEl>
                                          <p:spTgt spid="327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2" grpId="0" animBg="1"/>
      <p:bldP spid="327683" grpId="0" animBg="1"/>
      <p:bldP spid="327684" grpId="0" animBg="1"/>
      <p:bldP spid="327685" grpId="0" autoUpdateAnimBg="0"/>
      <p:bldP spid="327686" grpId="0" animBg="1"/>
      <p:bldP spid="327687" grpId="0"/>
      <p:bldP spid="327688" grpId="0"/>
      <p:bldP spid="327689" grpId="0"/>
      <p:bldP spid="327694" grpId="0" animBg="1"/>
      <p:bldP spid="327695" grpId="0"/>
      <p:bldP spid="327696" grpId="0" autoUpdateAnimBg="0"/>
      <p:bldP spid="32769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431800" y="476250"/>
            <a:ext cx="4211638" cy="457200"/>
          </a:xfrm>
          <a:prstGeom prst="rect">
            <a:avLst/>
          </a:prstGeom>
          <a:noFill/>
          <a:ln w="9525">
            <a:noFill/>
            <a:miter lim="800000"/>
            <a:headEnd/>
            <a:tailEnd/>
          </a:ln>
        </p:spPr>
        <p:txBody>
          <a:bodyPr>
            <a:spAutoFit/>
          </a:bodyPr>
          <a:lstStyle/>
          <a:p>
            <a:r>
              <a:rPr kumimoji="1" lang="zh-CN" altLang="en-US" sz="2400" b="1">
                <a:solidFill>
                  <a:srgbClr val="FF0000"/>
                </a:solidFill>
              </a:rPr>
              <a:t>分析几个不可逆过程</a:t>
            </a:r>
          </a:p>
        </p:txBody>
      </p:sp>
      <p:sp>
        <p:nvSpPr>
          <p:cNvPr id="129027" name="Text Box 3"/>
          <p:cNvSpPr txBox="1">
            <a:spLocks noChangeArrowheads="1"/>
          </p:cNvSpPr>
          <p:nvPr/>
        </p:nvSpPr>
        <p:spPr bwMode="auto">
          <a:xfrm>
            <a:off x="765175" y="1147763"/>
            <a:ext cx="402272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cs typeface="Times New Roman" pitchFamily="18" charset="0"/>
              </a:rPr>
              <a:t>(1) </a:t>
            </a:r>
            <a:r>
              <a:rPr kumimoji="1" lang="zh-CN" altLang="en-US" sz="2400" b="1">
                <a:solidFill>
                  <a:srgbClr val="0000FF"/>
                </a:solidFill>
                <a:latin typeface="Times New Roman" pitchFamily="18" charset="0"/>
                <a:cs typeface="Times New Roman" pitchFamily="18" charset="0"/>
              </a:rPr>
              <a:t>气体的自由膨胀</a:t>
            </a:r>
          </a:p>
        </p:txBody>
      </p:sp>
      <p:sp>
        <p:nvSpPr>
          <p:cNvPr id="129028" name="Text Box 4"/>
          <p:cNvSpPr txBox="1">
            <a:spLocks noChangeArrowheads="1"/>
          </p:cNvSpPr>
          <p:nvPr/>
        </p:nvSpPr>
        <p:spPr bwMode="auto">
          <a:xfrm>
            <a:off x="1173163" y="1531938"/>
            <a:ext cx="7537450" cy="1920875"/>
          </a:xfrm>
          <a:prstGeom prst="rect">
            <a:avLst/>
          </a:prstGeom>
          <a:noFill/>
          <a:ln w="9525">
            <a:noFill/>
            <a:miter lim="800000"/>
            <a:headEnd/>
            <a:tailEnd/>
          </a:ln>
        </p:spPr>
        <p:txBody>
          <a:bodyPr wrap="none">
            <a:spAutoFit/>
          </a:bodyPr>
          <a:lstStyle/>
          <a:p>
            <a:pPr>
              <a:lnSpc>
                <a:spcPct val="125000"/>
              </a:lnSpc>
            </a:pPr>
            <a:r>
              <a:rPr lang="zh-CN" altLang="en-US" sz="2400" b="1"/>
              <a:t>气体可以向真空自由膨胀但却不能自动收缩。因为气体</a:t>
            </a:r>
          </a:p>
          <a:p>
            <a:pPr>
              <a:lnSpc>
                <a:spcPct val="125000"/>
              </a:lnSpc>
            </a:pPr>
            <a:r>
              <a:rPr lang="zh-CN" altLang="en-US" sz="2400" b="1"/>
              <a:t>自由膨胀的初始状态所对应的微观态数最少，最后的均</a:t>
            </a:r>
          </a:p>
          <a:p>
            <a:pPr>
              <a:lnSpc>
                <a:spcPct val="125000"/>
              </a:lnSpc>
            </a:pPr>
            <a:r>
              <a:rPr lang="zh-CN" altLang="en-US" sz="2400" b="1"/>
              <a:t>匀分布状态对应的微观态数最多。如果没有外界影响，</a:t>
            </a:r>
          </a:p>
          <a:p>
            <a:pPr>
              <a:lnSpc>
                <a:spcPct val="125000"/>
              </a:lnSpc>
            </a:pPr>
            <a:r>
              <a:rPr lang="zh-CN" altLang="en-US" sz="2400" b="1"/>
              <a:t>相反的过程，实际上是不可能发生的。  </a:t>
            </a:r>
          </a:p>
        </p:txBody>
      </p:sp>
      <p:sp>
        <p:nvSpPr>
          <p:cNvPr id="129029" name="Text Box 5"/>
          <p:cNvSpPr txBox="1">
            <a:spLocks noChangeArrowheads="1"/>
          </p:cNvSpPr>
          <p:nvPr/>
        </p:nvSpPr>
        <p:spPr bwMode="auto">
          <a:xfrm>
            <a:off x="755650" y="3811588"/>
            <a:ext cx="2952750"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cs typeface="Times New Roman" pitchFamily="18" charset="0"/>
              </a:rPr>
              <a:t>(2) </a:t>
            </a:r>
            <a:r>
              <a:rPr kumimoji="1" lang="zh-CN" altLang="en-US" sz="2400" b="1">
                <a:solidFill>
                  <a:srgbClr val="0000FF"/>
                </a:solidFill>
                <a:latin typeface="Times New Roman" pitchFamily="18" charset="0"/>
                <a:cs typeface="Times New Roman" pitchFamily="18" charset="0"/>
              </a:rPr>
              <a:t>热传导</a:t>
            </a:r>
          </a:p>
        </p:txBody>
      </p:sp>
      <p:sp>
        <p:nvSpPr>
          <p:cNvPr id="129030" name="Text Box 6"/>
          <p:cNvSpPr txBox="1">
            <a:spLocks noChangeArrowheads="1"/>
          </p:cNvSpPr>
          <p:nvPr/>
        </p:nvSpPr>
        <p:spPr bwMode="auto">
          <a:xfrm>
            <a:off x="1173163" y="4268788"/>
            <a:ext cx="7537450" cy="1920875"/>
          </a:xfrm>
          <a:prstGeom prst="rect">
            <a:avLst/>
          </a:prstGeom>
          <a:noFill/>
          <a:ln w="9525">
            <a:noFill/>
            <a:miter lim="800000"/>
            <a:headEnd/>
            <a:tailEnd/>
          </a:ln>
        </p:spPr>
        <p:txBody>
          <a:bodyPr wrap="none">
            <a:spAutoFit/>
          </a:bodyPr>
          <a:lstStyle/>
          <a:p>
            <a:pPr>
              <a:lnSpc>
                <a:spcPct val="125000"/>
              </a:lnSpc>
            </a:pPr>
            <a:r>
              <a:rPr lang="zh-CN" altLang="en-US" sz="2400" b="1"/>
              <a:t>两物体接触时，能量从高温物体传向低温物体的概率，</a:t>
            </a:r>
          </a:p>
          <a:p>
            <a:pPr>
              <a:lnSpc>
                <a:spcPct val="125000"/>
              </a:lnSpc>
            </a:pPr>
            <a:r>
              <a:rPr lang="zh-CN" altLang="en-US" sz="2400" b="1"/>
              <a:t>要比反向传递的概率大得多。因此，热量会自动地从</a:t>
            </a:r>
          </a:p>
          <a:p>
            <a:pPr>
              <a:lnSpc>
                <a:spcPct val="125000"/>
              </a:lnSpc>
            </a:pPr>
            <a:r>
              <a:rPr lang="zh-CN" altLang="en-US" sz="2400" b="1"/>
              <a:t>高温物体传向低温物体，相反的过程实际上不可能自</a:t>
            </a:r>
          </a:p>
          <a:p>
            <a:pPr>
              <a:lnSpc>
                <a:spcPct val="125000"/>
              </a:lnSpc>
            </a:pPr>
            <a:r>
              <a:rPr lang="zh-CN" altLang="en-US" sz="2400" b="1"/>
              <a:t>动发生。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wipe(left)">
                                      <p:cBhvr>
                                        <p:cTn id="7" dur="5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7"/>
                                        </p:tgtEl>
                                        <p:attrNameLst>
                                          <p:attrName>style.visibility</p:attrName>
                                        </p:attrNameLst>
                                      </p:cBhvr>
                                      <p:to>
                                        <p:strVal val="visible"/>
                                      </p:to>
                                    </p:set>
                                    <p:animEffect transition="in" filter="wipe(left)">
                                      <p:cBhvr>
                                        <p:cTn id="12" dur="500"/>
                                        <p:tgtEl>
                                          <p:spTgt spid="1290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9028"/>
                                        </p:tgtEl>
                                        <p:attrNameLst>
                                          <p:attrName>style.visibility</p:attrName>
                                        </p:attrNameLst>
                                      </p:cBhvr>
                                      <p:to>
                                        <p:strVal val="visible"/>
                                      </p:to>
                                    </p:set>
                                    <p:animEffect transition="in" filter="wipe(left)">
                                      <p:cBhvr>
                                        <p:cTn id="17" dur="500"/>
                                        <p:tgtEl>
                                          <p:spTgt spid="1290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9029"/>
                                        </p:tgtEl>
                                        <p:attrNameLst>
                                          <p:attrName>style.visibility</p:attrName>
                                        </p:attrNameLst>
                                      </p:cBhvr>
                                      <p:to>
                                        <p:strVal val="visible"/>
                                      </p:to>
                                    </p:set>
                                    <p:animEffect transition="in" filter="wipe(left)">
                                      <p:cBhvr>
                                        <p:cTn id="22" dur="500"/>
                                        <p:tgtEl>
                                          <p:spTgt spid="1290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9030"/>
                                        </p:tgtEl>
                                        <p:attrNameLst>
                                          <p:attrName>style.visibility</p:attrName>
                                        </p:attrNameLst>
                                      </p:cBhvr>
                                      <p:to>
                                        <p:strVal val="visible"/>
                                      </p:to>
                                    </p:set>
                                    <p:animEffect transition="in" filter="wipe(left)">
                                      <p:cBhvr>
                                        <p:cTn id="27" dur="500"/>
                                        <p:tgtEl>
                                          <p:spTgt spid="129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autoUpdateAnimBg="0"/>
      <p:bldP spid="129027" grpId="0" autoUpdateAnimBg="0"/>
      <p:bldP spid="129028" grpId="0"/>
      <p:bldP spid="129029" grpId="0" autoUpdateAnimBg="0"/>
      <p:bldP spid="12903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138238" y="1036638"/>
            <a:ext cx="7537450" cy="1463675"/>
          </a:xfrm>
          <a:prstGeom prst="rect">
            <a:avLst/>
          </a:prstGeom>
          <a:noFill/>
          <a:ln w="9525">
            <a:noFill/>
            <a:miter lim="800000"/>
            <a:headEnd/>
            <a:tailEnd/>
          </a:ln>
        </p:spPr>
        <p:txBody>
          <a:bodyPr wrap="none">
            <a:spAutoFit/>
          </a:bodyPr>
          <a:lstStyle/>
          <a:p>
            <a:pPr>
              <a:lnSpc>
                <a:spcPct val="125000"/>
              </a:lnSpc>
            </a:pPr>
            <a:r>
              <a:rPr lang="zh-CN" altLang="en-US" sz="2400" b="1">
                <a:latin typeface="Times New Roman" pitchFamily="18" charset="0"/>
                <a:cs typeface="Times New Roman" pitchFamily="18" charset="0"/>
              </a:rPr>
              <a:t>功转化为热就是有规律的宏观运动转变为分子的无序热</a:t>
            </a:r>
          </a:p>
          <a:p>
            <a:pPr>
              <a:lnSpc>
                <a:spcPct val="125000"/>
              </a:lnSpc>
            </a:pPr>
            <a:r>
              <a:rPr lang="zh-CN" altLang="en-US" sz="2400" b="1">
                <a:latin typeface="Times New Roman" pitchFamily="18" charset="0"/>
                <a:cs typeface="Times New Roman" pitchFamily="18" charset="0"/>
              </a:rPr>
              <a:t>运动，这种转变的概率极大，可以自动发生。相反，</a:t>
            </a:r>
          </a:p>
          <a:p>
            <a:pPr>
              <a:lnSpc>
                <a:spcPct val="125000"/>
              </a:lnSpc>
            </a:pPr>
            <a:r>
              <a:rPr lang="zh-CN" altLang="en-US" sz="2400" b="1">
                <a:latin typeface="Times New Roman" pitchFamily="18" charset="0"/>
                <a:cs typeface="Times New Roman" pitchFamily="18" charset="0"/>
              </a:rPr>
              <a:t>热转化为功的概率极小，因而实际上不可能自动发生。</a:t>
            </a:r>
          </a:p>
        </p:txBody>
      </p:sp>
      <p:sp>
        <p:nvSpPr>
          <p:cNvPr id="3" name="Text Box 3"/>
          <p:cNvSpPr txBox="1">
            <a:spLocks noChangeArrowheads="1"/>
          </p:cNvSpPr>
          <p:nvPr/>
        </p:nvSpPr>
        <p:spPr bwMode="auto">
          <a:xfrm>
            <a:off x="730250" y="604838"/>
            <a:ext cx="3359150"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cs typeface="Times New Roman" pitchFamily="18" charset="0"/>
              </a:rPr>
              <a:t>(3) </a:t>
            </a:r>
            <a:r>
              <a:rPr kumimoji="1" lang="zh-CN" altLang="en-US" sz="2400" b="1">
                <a:solidFill>
                  <a:srgbClr val="0000FF"/>
                </a:solidFill>
                <a:latin typeface="Times New Roman" pitchFamily="18" charset="0"/>
                <a:cs typeface="Times New Roman" pitchFamily="18" charset="0"/>
              </a:rPr>
              <a:t>功热转换</a:t>
            </a:r>
          </a:p>
        </p:txBody>
      </p:sp>
      <p:sp>
        <p:nvSpPr>
          <p:cNvPr id="4" name="Text Box 6"/>
          <p:cNvSpPr txBox="1">
            <a:spLocks noChangeArrowheads="1"/>
          </p:cNvSpPr>
          <p:nvPr/>
        </p:nvSpPr>
        <p:spPr bwMode="auto">
          <a:xfrm>
            <a:off x="498475" y="2714625"/>
            <a:ext cx="4787900" cy="457200"/>
          </a:xfrm>
          <a:prstGeom prst="rect">
            <a:avLst/>
          </a:prstGeom>
          <a:noFill/>
          <a:ln w="9525">
            <a:noFill/>
            <a:miter lim="800000"/>
            <a:headEnd/>
            <a:tailEnd/>
          </a:ln>
        </p:spPr>
        <p:txBody>
          <a:bodyPr>
            <a:spAutoFit/>
          </a:bodyPr>
          <a:lstStyle/>
          <a:p>
            <a:r>
              <a:rPr kumimoji="1" lang="zh-CN" altLang="en-US" sz="2400" b="1">
                <a:solidFill>
                  <a:srgbClr val="FF0000"/>
                </a:solidFill>
                <a:latin typeface="Times New Roman" pitchFamily="18" charset="0"/>
              </a:rPr>
              <a:t>热力学第二定律的统计意义</a:t>
            </a:r>
          </a:p>
        </p:txBody>
      </p:sp>
      <p:sp>
        <p:nvSpPr>
          <p:cNvPr id="5" name="Text Box 7"/>
          <p:cNvSpPr txBox="1">
            <a:spLocks noChangeArrowheads="1"/>
          </p:cNvSpPr>
          <p:nvPr/>
        </p:nvSpPr>
        <p:spPr bwMode="auto">
          <a:xfrm>
            <a:off x="509588" y="3459163"/>
            <a:ext cx="3259137" cy="466725"/>
          </a:xfrm>
          <a:prstGeom prst="rect">
            <a:avLst/>
          </a:prstGeom>
          <a:solidFill>
            <a:srgbClr val="FFCC99">
              <a:alpha val="59999"/>
            </a:srgbClr>
          </a:solidFill>
          <a:ln w="9525">
            <a:solidFill>
              <a:srgbClr val="3333CC"/>
            </a:solidFill>
            <a:miter lim="800000"/>
            <a:headEnd/>
            <a:tailEnd/>
          </a:ln>
        </p:spPr>
        <p:txBody>
          <a:bodyPr>
            <a:spAutoFit/>
          </a:bodyPr>
          <a:lstStyle/>
          <a:p>
            <a:pPr algn="ctr"/>
            <a:r>
              <a:rPr kumimoji="1" lang="zh-CN" altLang="en-US" sz="2400" b="1">
                <a:latin typeface="Times New Roman" pitchFamily="18" charset="0"/>
              </a:rPr>
              <a:t>微观态数少的宏观态</a:t>
            </a:r>
          </a:p>
        </p:txBody>
      </p:sp>
      <p:sp>
        <p:nvSpPr>
          <p:cNvPr id="6" name="Text Box 8"/>
          <p:cNvSpPr txBox="1">
            <a:spLocks noChangeArrowheads="1"/>
          </p:cNvSpPr>
          <p:nvPr/>
        </p:nvSpPr>
        <p:spPr bwMode="auto">
          <a:xfrm>
            <a:off x="5027613" y="3459163"/>
            <a:ext cx="3259137" cy="466725"/>
          </a:xfrm>
          <a:prstGeom prst="rect">
            <a:avLst/>
          </a:prstGeom>
          <a:solidFill>
            <a:srgbClr val="FFCC99">
              <a:alpha val="59999"/>
            </a:srgbClr>
          </a:solidFill>
          <a:ln w="9525">
            <a:solidFill>
              <a:srgbClr val="3333CC"/>
            </a:solidFill>
            <a:miter lim="800000"/>
            <a:headEnd/>
            <a:tailEnd/>
          </a:ln>
        </p:spPr>
        <p:txBody>
          <a:bodyPr>
            <a:spAutoFit/>
          </a:bodyPr>
          <a:lstStyle/>
          <a:p>
            <a:pPr algn="ctr"/>
            <a:r>
              <a:rPr kumimoji="1" lang="zh-CN" altLang="en-US" sz="2400" b="1">
                <a:latin typeface="Times New Roman" pitchFamily="18" charset="0"/>
              </a:rPr>
              <a:t>微观态数多的宏观态</a:t>
            </a:r>
          </a:p>
        </p:txBody>
      </p:sp>
      <p:sp>
        <p:nvSpPr>
          <p:cNvPr id="7" name="AutoShape 9"/>
          <p:cNvSpPr>
            <a:spLocks noChangeArrowheads="1"/>
          </p:cNvSpPr>
          <p:nvPr/>
        </p:nvSpPr>
        <p:spPr bwMode="auto">
          <a:xfrm>
            <a:off x="3965575" y="3603625"/>
            <a:ext cx="936625"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pPr algn="ctr"/>
            <a:endParaRPr lang="zh-CN" altLang="en-US"/>
          </a:p>
        </p:txBody>
      </p:sp>
      <p:sp>
        <p:nvSpPr>
          <p:cNvPr id="8" name="Text Box 12"/>
          <p:cNvSpPr txBox="1">
            <a:spLocks noChangeArrowheads="1"/>
          </p:cNvSpPr>
          <p:nvPr/>
        </p:nvSpPr>
        <p:spPr bwMode="auto">
          <a:xfrm>
            <a:off x="2382838" y="4179888"/>
            <a:ext cx="1385887" cy="466725"/>
          </a:xfrm>
          <a:prstGeom prst="rect">
            <a:avLst/>
          </a:prstGeom>
          <a:solidFill>
            <a:srgbClr val="FFCC99">
              <a:alpha val="59999"/>
            </a:srgbClr>
          </a:solidFill>
          <a:ln w="9525">
            <a:solidFill>
              <a:srgbClr val="3333CC"/>
            </a:solidFill>
            <a:miter lim="800000"/>
            <a:headEnd/>
            <a:tailEnd/>
          </a:ln>
        </p:spPr>
        <p:txBody>
          <a:bodyPr>
            <a:spAutoFit/>
          </a:bodyPr>
          <a:lstStyle/>
          <a:p>
            <a:pPr algn="ctr"/>
            <a:r>
              <a:rPr kumimoji="1" lang="zh-CN" altLang="en-US" sz="2400" b="1">
                <a:latin typeface="Times New Roman" pitchFamily="18" charset="0"/>
              </a:rPr>
              <a:t>有序</a:t>
            </a:r>
          </a:p>
        </p:txBody>
      </p:sp>
      <p:sp>
        <p:nvSpPr>
          <p:cNvPr id="9" name="Text Box 13"/>
          <p:cNvSpPr txBox="1">
            <a:spLocks noChangeArrowheads="1"/>
          </p:cNvSpPr>
          <p:nvPr/>
        </p:nvSpPr>
        <p:spPr bwMode="auto">
          <a:xfrm>
            <a:off x="5027613" y="4179888"/>
            <a:ext cx="1387475" cy="466725"/>
          </a:xfrm>
          <a:prstGeom prst="rect">
            <a:avLst/>
          </a:prstGeom>
          <a:solidFill>
            <a:srgbClr val="FFCC99">
              <a:alpha val="59999"/>
            </a:srgbClr>
          </a:solidFill>
          <a:ln w="9525">
            <a:solidFill>
              <a:srgbClr val="3333CC"/>
            </a:solidFill>
            <a:miter lim="800000"/>
            <a:headEnd/>
            <a:tailEnd/>
          </a:ln>
        </p:spPr>
        <p:txBody>
          <a:bodyPr>
            <a:spAutoFit/>
          </a:bodyPr>
          <a:lstStyle/>
          <a:p>
            <a:pPr algn="ctr"/>
            <a:r>
              <a:rPr kumimoji="1" lang="zh-CN" altLang="en-US" sz="2400" b="1">
                <a:latin typeface="Times New Roman" pitchFamily="18" charset="0"/>
              </a:rPr>
              <a:t>无序</a:t>
            </a:r>
          </a:p>
        </p:txBody>
      </p:sp>
      <p:sp>
        <p:nvSpPr>
          <p:cNvPr id="10" name="AutoShape 14"/>
          <p:cNvSpPr>
            <a:spLocks noChangeArrowheads="1"/>
          </p:cNvSpPr>
          <p:nvPr/>
        </p:nvSpPr>
        <p:spPr bwMode="auto">
          <a:xfrm>
            <a:off x="3965575" y="4324350"/>
            <a:ext cx="936625"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pPr algn="ctr"/>
            <a:endParaRPr lang="zh-CN" altLang="en-US"/>
          </a:p>
        </p:txBody>
      </p:sp>
      <p:sp>
        <p:nvSpPr>
          <p:cNvPr id="11" name="AutoShape 14"/>
          <p:cNvSpPr>
            <a:spLocks noChangeArrowheads="1"/>
          </p:cNvSpPr>
          <p:nvPr/>
        </p:nvSpPr>
        <p:spPr bwMode="auto">
          <a:xfrm>
            <a:off x="142875" y="271462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pPr algn="ctr"/>
            <a:endParaRPr lang="zh-CN" altLang="en-US"/>
          </a:p>
        </p:txBody>
      </p:sp>
      <p:sp>
        <p:nvSpPr>
          <p:cNvPr id="12" name="TextBox 11"/>
          <p:cNvSpPr txBox="1"/>
          <p:nvPr/>
        </p:nvSpPr>
        <p:spPr>
          <a:xfrm>
            <a:off x="571500" y="4929188"/>
            <a:ext cx="8072438" cy="1533525"/>
          </a:xfrm>
          <a:prstGeom prst="rect">
            <a:avLst/>
          </a:prstGeom>
          <a:noFill/>
        </p:spPr>
        <p:txBody>
          <a:bodyPr>
            <a:spAutoFit/>
          </a:bodyPr>
          <a:lstStyle/>
          <a:p>
            <a:pPr>
              <a:lnSpc>
                <a:spcPct val="130000"/>
              </a:lnSpc>
              <a:defRPr/>
            </a:pPr>
            <a:r>
              <a:rPr kumimoji="1" lang="zh-CN" altLang="en-US" sz="2400" b="1" dirty="0">
                <a:solidFill>
                  <a:srgbClr val="0000FF"/>
                </a:solidFill>
                <a:latin typeface="+mn-ea"/>
                <a:ea typeface="+mn-ea"/>
              </a:rPr>
              <a:t>     孤立系统中发生的一切实际过程，总是从微观态数少的宏观态向微观态数多的宏观态进行，或者说总是从有序向无序进行的。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1000" fill="hold"/>
                                        <p:tgtEl>
                                          <p:spTgt spid="11"/>
                                        </p:tgtEl>
                                        <p:attrNameLst>
                                          <p:attrName>ppt_w</p:attrName>
                                        </p:attrNameLst>
                                      </p:cBhvr>
                                      <p:tavLst>
                                        <p:tav tm="0">
                                          <p:val>
                                            <p:strVal val="4*#ppt_w"/>
                                          </p:val>
                                        </p:tav>
                                        <p:tav tm="100000">
                                          <p:val>
                                            <p:strVal val="#ppt_w"/>
                                          </p:val>
                                        </p:tav>
                                      </p:tavLst>
                                    </p:anim>
                                    <p:anim calcmode="lin" valueType="num">
                                      <p:cBhvr>
                                        <p:cTn id="18" dur="1000" fill="hold"/>
                                        <p:tgtEl>
                                          <p:spTgt spid="11"/>
                                        </p:tgtEl>
                                        <p:attrNameLst>
                                          <p:attrName>ppt_h</p:attrName>
                                        </p:attrNameLst>
                                      </p:cBhvr>
                                      <p:tavLst>
                                        <p:tav tm="0">
                                          <p:val>
                                            <p:strVal val="4*#ppt_h"/>
                                          </p:val>
                                        </p:tav>
                                        <p:tav tm="100000">
                                          <p:val>
                                            <p:strVal val="#ppt_h"/>
                                          </p:val>
                                        </p:tav>
                                      </p:tavLst>
                                    </p:anim>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000"/>
                                        <p:tgtEl>
                                          <p:spTgt spid="7"/>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10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1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1000"/>
                                        <p:tgtEl>
                                          <p:spTgt spid="10"/>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10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utoUpdateAnimBg="0"/>
      <p:bldP spid="4" grpId="0"/>
      <p:bldP spid="5" grpId="0" animBg="1"/>
      <p:bldP spid="6" grpId="0" animBg="1"/>
      <p:bldP spid="7" grpId="0" animBg="1"/>
      <p:bldP spid="8" grpId="0" animBg="1"/>
      <p:bldP spid="9" grpId="0" animBg="1"/>
      <p:bldP spid="10" grpId="0" animBg="1"/>
      <p:bldP spid="11" grpId="0" animBg="1"/>
      <p:bldP spid="1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Text Box 4"/>
          <p:cNvSpPr txBox="1">
            <a:spLocks noChangeArrowheads="1"/>
          </p:cNvSpPr>
          <p:nvPr/>
        </p:nvSpPr>
        <p:spPr bwMode="auto">
          <a:xfrm>
            <a:off x="179388" y="523875"/>
            <a:ext cx="4679950"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8.8.2   </a:t>
            </a:r>
            <a:r>
              <a:rPr kumimoji="1" lang="zh-CN" altLang="en-US" sz="2400" b="1">
                <a:solidFill>
                  <a:srgbClr val="0000FF"/>
                </a:solidFill>
                <a:latin typeface="Times New Roman" pitchFamily="18" charset="0"/>
              </a:rPr>
              <a:t>玻尔兹曼熵  熵增原理</a:t>
            </a:r>
          </a:p>
        </p:txBody>
      </p:sp>
      <p:pic>
        <p:nvPicPr>
          <p:cNvPr id="105491" name="Picture 19" descr="boltzman-hrob"/>
          <p:cNvPicPr>
            <a:picLocks noChangeAspect="1" noChangeArrowheads="1"/>
          </p:cNvPicPr>
          <p:nvPr/>
        </p:nvPicPr>
        <p:blipFill>
          <a:blip r:embed="rId2"/>
          <a:srcRect/>
          <a:stretch>
            <a:fillRect/>
          </a:stretch>
        </p:blipFill>
        <p:spPr bwMode="auto">
          <a:xfrm>
            <a:off x="468313" y="1412875"/>
            <a:ext cx="2857500" cy="3810000"/>
          </a:xfrm>
          <a:prstGeom prst="rect">
            <a:avLst/>
          </a:prstGeom>
          <a:noFill/>
          <a:ln w="9525">
            <a:noFill/>
            <a:miter lim="800000"/>
            <a:headEnd/>
            <a:tailEnd/>
          </a:ln>
        </p:spPr>
      </p:pic>
      <p:sp>
        <p:nvSpPr>
          <p:cNvPr id="105492" name="Text Box 20"/>
          <p:cNvSpPr txBox="1">
            <a:spLocks noChangeArrowheads="1"/>
          </p:cNvSpPr>
          <p:nvPr/>
        </p:nvSpPr>
        <p:spPr bwMode="auto">
          <a:xfrm>
            <a:off x="319088" y="5372100"/>
            <a:ext cx="3173412" cy="366713"/>
          </a:xfrm>
          <a:prstGeom prst="rect">
            <a:avLst/>
          </a:prstGeom>
          <a:noFill/>
          <a:ln w="9525">
            <a:noFill/>
            <a:miter lim="800000"/>
            <a:headEnd/>
            <a:tailEnd/>
          </a:ln>
        </p:spPr>
        <p:txBody>
          <a:bodyPr wrap="none">
            <a:spAutoFit/>
          </a:bodyPr>
          <a:lstStyle/>
          <a:p>
            <a:r>
              <a:rPr lang="en-US" altLang="zh-CN" b="1">
                <a:latin typeface="Times New Roman" pitchFamily="18" charset="0"/>
              </a:rPr>
              <a:t>Ludwig Boltzman (1844~1906)</a:t>
            </a:r>
          </a:p>
        </p:txBody>
      </p:sp>
      <p:sp>
        <p:nvSpPr>
          <p:cNvPr id="105493" name="Text Box 21"/>
          <p:cNvSpPr txBox="1">
            <a:spLocks noChangeArrowheads="1"/>
          </p:cNvSpPr>
          <p:nvPr/>
        </p:nvSpPr>
        <p:spPr bwMode="auto">
          <a:xfrm>
            <a:off x="3635375" y="3346450"/>
            <a:ext cx="5257800" cy="1235075"/>
          </a:xfrm>
          <a:prstGeom prst="rect">
            <a:avLst/>
          </a:prstGeom>
          <a:noFill/>
          <a:ln w="9525">
            <a:noFill/>
            <a:miter lim="800000"/>
            <a:headEnd/>
            <a:tailEnd/>
          </a:ln>
        </p:spPr>
        <p:txBody>
          <a:bodyPr>
            <a:spAutoFit/>
          </a:bodyPr>
          <a:lstStyle/>
          <a:p>
            <a:pPr>
              <a:lnSpc>
                <a:spcPct val="125000"/>
              </a:lnSpc>
            </a:pPr>
            <a:r>
              <a:rPr lang="en-US" altLang="zh-CN" sz="2000" b="1">
                <a:latin typeface="Times New Roman" pitchFamily="18" charset="0"/>
              </a:rPr>
              <a:t>1877</a:t>
            </a:r>
            <a:r>
              <a:rPr lang="zh-CN" altLang="en-US" sz="2000" b="1">
                <a:latin typeface="Times New Roman" pitchFamily="18" charset="0"/>
              </a:rPr>
              <a:t>年提出热力学第二定律与微观几率态数 </a:t>
            </a:r>
            <a:r>
              <a:rPr lang="en-US" altLang="zh-CN" sz="2000" b="1" i="1">
                <a:solidFill>
                  <a:srgbClr val="FF3300"/>
                </a:solidFill>
                <a:latin typeface="Symbol" pitchFamily="18" charset="2"/>
              </a:rPr>
              <a:t>W</a:t>
            </a:r>
            <a:r>
              <a:rPr lang="en-US" altLang="zh-CN" sz="2000" b="1">
                <a:latin typeface="Times New Roman" pitchFamily="18" charset="0"/>
              </a:rPr>
              <a:t> </a:t>
            </a:r>
            <a:r>
              <a:rPr lang="zh-CN" altLang="en-US" sz="2000" b="1">
                <a:latin typeface="Times New Roman" pitchFamily="18" charset="0"/>
              </a:rPr>
              <a:t>的关系以及熵的统计解释。 </a:t>
            </a:r>
            <a:r>
              <a:rPr lang="en-US" altLang="zh-CN" sz="2000" b="1">
                <a:latin typeface="Times New Roman" pitchFamily="18" charset="0"/>
              </a:rPr>
              <a:t>1900</a:t>
            </a:r>
            <a:r>
              <a:rPr lang="zh-CN" altLang="en-US" sz="2000" b="1">
                <a:latin typeface="Times New Roman" pitchFamily="18" charset="0"/>
              </a:rPr>
              <a:t>年</a:t>
            </a:r>
            <a:r>
              <a:rPr lang="zh-CN" altLang="en-US" sz="2000" b="1">
                <a:solidFill>
                  <a:srgbClr val="FF0000"/>
                </a:solidFill>
                <a:latin typeface="Times New Roman" pitchFamily="18" charset="0"/>
              </a:rPr>
              <a:t>普朗克</a:t>
            </a:r>
            <a:r>
              <a:rPr lang="zh-CN" altLang="en-US" sz="2000" b="1">
                <a:latin typeface="Times New Roman" pitchFamily="18" charset="0"/>
              </a:rPr>
              <a:t>运用玻耳兹曼的理论得出 </a:t>
            </a:r>
            <a:r>
              <a:rPr lang="en-US" altLang="zh-CN" sz="2000" b="1" i="1">
                <a:solidFill>
                  <a:srgbClr val="FF3300"/>
                </a:solidFill>
                <a:latin typeface="Times New Roman" pitchFamily="18" charset="0"/>
              </a:rPr>
              <a:t>S</a:t>
            </a:r>
            <a:r>
              <a:rPr lang="zh-CN" altLang="en-US" sz="2000" b="1">
                <a:solidFill>
                  <a:srgbClr val="FF3300"/>
                </a:solidFill>
                <a:latin typeface="Times New Roman" pitchFamily="18" charset="0"/>
              </a:rPr>
              <a:t>＝</a:t>
            </a:r>
            <a:r>
              <a:rPr lang="en-US" altLang="zh-CN" sz="2000" b="1" i="1">
                <a:solidFill>
                  <a:srgbClr val="FF3300"/>
                </a:solidFill>
                <a:latin typeface="Times New Roman" pitchFamily="18" charset="0"/>
              </a:rPr>
              <a:t>k </a:t>
            </a:r>
            <a:r>
              <a:rPr lang="en-US" altLang="zh-CN" sz="2000" b="1">
                <a:solidFill>
                  <a:srgbClr val="FF3300"/>
                </a:solidFill>
                <a:latin typeface="Times New Roman" pitchFamily="18" charset="0"/>
              </a:rPr>
              <a:t>ln</a:t>
            </a:r>
            <a:r>
              <a:rPr lang="en-US" altLang="zh-CN" sz="2000" b="1" i="1">
                <a:solidFill>
                  <a:srgbClr val="FF3300"/>
                </a:solidFill>
                <a:latin typeface="Symbol" pitchFamily="18" charset="2"/>
              </a:rPr>
              <a:t>W</a:t>
            </a:r>
            <a:r>
              <a:rPr lang="en-US" altLang="zh-CN" sz="2000" i="1">
                <a:solidFill>
                  <a:srgbClr val="FF6600"/>
                </a:solidFill>
                <a:latin typeface="Times New Roman" pitchFamily="18" charset="0"/>
              </a:rPr>
              <a:t> </a:t>
            </a:r>
            <a:r>
              <a:rPr lang="zh-CN" altLang="en-US" sz="2000" b="1">
                <a:latin typeface="Times New Roman" pitchFamily="18" charset="0"/>
              </a:rPr>
              <a:t>。</a:t>
            </a:r>
          </a:p>
        </p:txBody>
      </p:sp>
      <p:pic>
        <p:nvPicPr>
          <p:cNvPr id="105494" name="Picture 22" descr="boltzmann"/>
          <p:cNvPicPr>
            <a:picLocks noChangeArrowheads="1"/>
          </p:cNvPicPr>
          <p:nvPr/>
        </p:nvPicPr>
        <p:blipFill>
          <a:blip r:embed="rId3"/>
          <a:srcRect/>
          <a:stretch>
            <a:fillRect/>
          </a:stretch>
        </p:blipFill>
        <p:spPr bwMode="auto">
          <a:xfrm>
            <a:off x="468313" y="1412875"/>
            <a:ext cx="2857500" cy="3811588"/>
          </a:xfrm>
          <a:prstGeom prst="rect">
            <a:avLst/>
          </a:prstGeom>
          <a:noFill/>
          <a:ln w="9525">
            <a:noFill/>
            <a:miter lim="800000"/>
            <a:headEnd/>
            <a:tailEnd/>
          </a:ln>
        </p:spPr>
      </p:pic>
      <p:sp>
        <p:nvSpPr>
          <p:cNvPr id="105495" name="Text Box 23"/>
          <p:cNvSpPr txBox="1">
            <a:spLocks noChangeArrowheads="1"/>
          </p:cNvSpPr>
          <p:nvPr/>
        </p:nvSpPr>
        <p:spPr bwMode="auto">
          <a:xfrm>
            <a:off x="3635375" y="1196975"/>
            <a:ext cx="5257800" cy="854075"/>
          </a:xfrm>
          <a:prstGeom prst="rect">
            <a:avLst/>
          </a:prstGeom>
          <a:noFill/>
          <a:ln w="9525">
            <a:noFill/>
            <a:miter lim="800000"/>
            <a:headEnd/>
            <a:tailEnd/>
          </a:ln>
        </p:spPr>
        <p:txBody>
          <a:bodyPr>
            <a:spAutoFit/>
          </a:bodyPr>
          <a:lstStyle/>
          <a:p>
            <a:pPr>
              <a:lnSpc>
                <a:spcPct val="125000"/>
              </a:lnSpc>
            </a:pPr>
            <a:r>
              <a:rPr lang="zh-CN" altLang="en-US" sz="2000" b="1">
                <a:solidFill>
                  <a:srgbClr val="FF0000"/>
                </a:solidFill>
                <a:latin typeface="Times New Roman" pitchFamily="18" charset="0"/>
              </a:rPr>
              <a:t>玻耳兹曼</a:t>
            </a:r>
            <a:r>
              <a:rPr lang="zh-CN" altLang="en-US" sz="2000" b="1">
                <a:latin typeface="Times New Roman" pitchFamily="18" charset="0"/>
              </a:rPr>
              <a:t>：奥地利物理学家，统计物理学的奠基人之一。</a:t>
            </a:r>
          </a:p>
        </p:txBody>
      </p:sp>
      <p:sp>
        <p:nvSpPr>
          <p:cNvPr id="105496" name="Text Box 24"/>
          <p:cNvSpPr txBox="1">
            <a:spLocks noChangeArrowheads="1"/>
          </p:cNvSpPr>
          <p:nvPr/>
        </p:nvSpPr>
        <p:spPr bwMode="auto">
          <a:xfrm>
            <a:off x="3635375" y="2133600"/>
            <a:ext cx="5184775" cy="854075"/>
          </a:xfrm>
          <a:prstGeom prst="rect">
            <a:avLst/>
          </a:prstGeom>
          <a:noFill/>
          <a:ln w="9525">
            <a:noFill/>
            <a:miter lim="800000"/>
            <a:headEnd/>
            <a:tailEnd/>
          </a:ln>
        </p:spPr>
        <p:txBody>
          <a:bodyPr>
            <a:spAutoFit/>
          </a:bodyPr>
          <a:lstStyle/>
          <a:p>
            <a:pPr>
              <a:lnSpc>
                <a:spcPct val="125000"/>
              </a:lnSpc>
            </a:pPr>
            <a:r>
              <a:rPr lang="en-US" altLang="zh-CN" sz="2000" b="1">
                <a:latin typeface="Times New Roman" pitchFamily="18" charset="0"/>
              </a:rPr>
              <a:t>1869</a:t>
            </a:r>
            <a:r>
              <a:rPr lang="zh-CN" altLang="en-US" sz="2000" b="1">
                <a:latin typeface="Times New Roman" pitchFamily="18" charset="0"/>
              </a:rPr>
              <a:t>年得到有分子势能的</a:t>
            </a:r>
            <a:r>
              <a:rPr lang="zh-CN" altLang="en-US" sz="2000" b="1">
                <a:solidFill>
                  <a:srgbClr val="FF3300"/>
                </a:solidFill>
                <a:latin typeface="Times New Roman" pitchFamily="18" charset="0"/>
              </a:rPr>
              <a:t>麦克斯韦</a:t>
            </a:r>
            <a:r>
              <a:rPr lang="en-US" altLang="zh-CN" sz="2000" b="1">
                <a:solidFill>
                  <a:srgbClr val="FF3300"/>
                </a:solidFill>
                <a:latin typeface="Times New Roman" pitchFamily="18" charset="0"/>
              </a:rPr>
              <a:t>-</a:t>
            </a:r>
            <a:r>
              <a:rPr lang="zh-CN" altLang="en-US" sz="2000" b="1">
                <a:solidFill>
                  <a:srgbClr val="FF3300"/>
                </a:solidFill>
                <a:latin typeface="Times New Roman" pitchFamily="18" charset="0"/>
              </a:rPr>
              <a:t>玻耳兹曼分布律 </a:t>
            </a:r>
            <a:r>
              <a:rPr lang="zh-CN" altLang="en-US" sz="2000" b="1">
                <a:latin typeface="Times New Roman" pitchFamily="18" charset="0"/>
              </a:rPr>
              <a:t>。</a:t>
            </a:r>
          </a:p>
        </p:txBody>
      </p:sp>
      <p:sp>
        <p:nvSpPr>
          <p:cNvPr id="105497" name="Text Box 25"/>
          <p:cNvSpPr txBox="1">
            <a:spLocks noChangeArrowheads="1"/>
          </p:cNvSpPr>
          <p:nvPr/>
        </p:nvSpPr>
        <p:spPr bwMode="auto">
          <a:xfrm>
            <a:off x="3635375" y="5022850"/>
            <a:ext cx="5257800" cy="854075"/>
          </a:xfrm>
          <a:prstGeom prst="rect">
            <a:avLst/>
          </a:prstGeom>
          <a:noFill/>
          <a:ln w="9525">
            <a:noFill/>
            <a:miter lim="800000"/>
            <a:headEnd/>
            <a:tailEnd/>
          </a:ln>
        </p:spPr>
        <p:txBody>
          <a:bodyPr>
            <a:spAutoFit/>
          </a:bodyPr>
          <a:lstStyle/>
          <a:p>
            <a:pPr>
              <a:lnSpc>
                <a:spcPct val="125000"/>
              </a:lnSpc>
            </a:pPr>
            <a:r>
              <a:rPr lang="en-US" altLang="zh-CN" sz="2000" b="1">
                <a:latin typeface="Times New Roman" pitchFamily="18" charset="0"/>
              </a:rPr>
              <a:t>19</a:t>
            </a:r>
            <a:r>
              <a:rPr lang="zh-CN" altLang="en-US" sz="2000" b="1">
                <a:latin typeface="Times New Roman" pitchFamily="18" charset="0"/>
              </a:rPr>
              <a:t>世纪末期与斯忒藩一起建立了</a:t>
            </a:r>
            <a:r>
              <a:rPr lang="zh-CN" altLang="en-US" sz="2000" b="1">
                <a:solidFill>
                  <a:srgbClr val="FF0000"/>
                </a:solidFill>
                <a:latin typeface="Times New Roman" pitchFamily="18" charset="0"/>
              </a:rPr>
              <a:t>斯忒藩 </a:t>
            </a:r>
            <a:r>
              <a:rPr lang="en-US" altLang="zh-CN" sz="2000" b="1">
                <a:solidFill>
                  <a:srgbClr val="FF0000"/>
                </a:solidFill>
                <a:latin typeface="Times New Roman" pitchFamily="18" charset="0"/>
              </a:rPr>
              <a:t>- </a:t>
            </a:r>
            <a:r>
              <a:rPr lang="zh-CN" altLang="en-US" sz="2000" b="1">
                <a:solidFill>
                  <a:srgbClr val="FF0000"/>
                </a:solidFill>
                <a:latin typeface="Times New Roman" pitchFamily="18" charset="0"/>
              </a:rPr>
              <a:t>玻耳兹曼定律</a:t>
            </a:r>
            <a:r>
              <a:rPr lang="zh-CN" altLang="en-US" sz="2000" b="1">
                <a:latin typeface="Times New Roman" pitchFamily="18" charset="0"/>
              </a:rPr>
              <a:t>，掀开了量子时代的帷幕。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6"/>
                                        </p:tgtEl>
                                        <p:attrNameLst>
                                          <p:attrName>style.visibility</p:attrName>
                                        </p:attrNameLst>
                                      </p:cBhvr>
                                      <p:to>
                                        <p:strVal val="visible"/>
                                      </p:to>
                                    </p:set>
                                    <p:animEffect transition="in" filter="wipe(left)">
                                      <p:cBhvr>
                                        <p:cTn id="7" dur="500"/>
                                        <p:tgtEl>
                                          <p:spTgt spid="10547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5494"/>
                                        </p:tgtEl>
                                        <p:attrNameLst>
                                          <p:attrName>style.visibility</p:attrName>
                                        </p:attrNameLst>
                                      </p:cBhvr>
                                      <p:to>
                                        <p:strVal val="visible"/>
                                      </p:to>
                                    </p:set>
                                    <p:animEffect transition="in" filter="box(out)">
                                      <p:cBhvr>
                                        <p:cTn id="12" dur="1000"/>
                                        <p:tgtEl>
                                          <p:spTgt spid="1054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92"/>
                                        </p:tgtEl>
                                        <p:attrNameLst>
                                          <p:attrName>style.visibility</p:attrName>
                                        </p:attrNameLst>
                                      </p:cBhvr>
                                      <p:to>
                                        <p:strVal val="visible"/>
                                      </p:to>
                                    </p:set>
                                    <p:animEffect transition="in" filter="wipe(left)">
                                      <p:cBhvr>
                                        <p:cTn id="17" dur="1000"/>
                                        <p:tgtEl>
                                          <p:spTgt spid="1054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95"/>
                                        </p:tgtEl>
                                        <p:attrNameLst>
                                          <p:attrName>style.visibility</p:attrName>
                                        </p:attrNameLst>
                                      </p:cBhvr>
                                      <p:to>
                                        <p:strVal val="visible"/>
                                      </p:to>
                                    </p:set>
                                    <p:animEffect transition="in" filter="wipe(left)">
                                      <p:cBhvr>
                                        <p:cTn id="22" dur="1000"/>
                                        <p:tgtEl>
                                          <p:spTgt spid="10549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549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05491"/>
                                        </p:tgtEl>
                                        <p:attrNameLst>
                                          <p:attrName>style.visibility</p:attrName>
                                        </p:attrNameLst>
                                      </p:cBhvr>
                                      <p:to>
                                        <p:strVal val="visible"/>
                                      </p:to>
                                    </p:set>
                                    <p:animEffect transition="in" filter="box(out)">
                                      <p:cBhvr>
                                        <p:cTn id="31" dur="1000"/>
                                        <p:tgtEl>
                                          <p:spTgt spid="10549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5496"/>
                                        </p:tgtEl>
                                        <p:attrNameLst>
                                          <p:attrName>style.visibility</p:attrName>
                                        </p:attrNameLst>
                                      </p:cBhvr>
                                      <p:to>
                                        <p:strVal val="visible"/>
                                      </p:to>
                                    </p:set>
                                    <p:animEffect transition="in" filter="wipe(left)">
                                      <p:cBhvr>
                                        <p:cTn id="36" dur="1000"/>
                                        <p:tgtEl>
                                          <p:spTgt spid="105496"/>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05493"/>
                                        </p:tgtEl>
                                        <p:attrNameLst>
                                          <p:attrName>style.visibility</p:attrName>
                                        </p:attrNameLst>
                                      </p:cBhvr>
                                      <p:to>
                                        <p:strVal val="visible"/>
                                      </p:to>
                                    </p:set>
                                    <p:animEffect transition="in" filter="wipe(left)">
                                      <p:cBhvr>
                                        <p:cTn id="40" dur="1000"/>
                                        <p:tgtEl>
                                          <p:spTgt spid="105493"/>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05497"/>
                                        </p:tgtEl>
                                        <p:attrNameLst>
                                          <p:attrName>style.visibility</p:attrName>
                                        </p:attrNameLst>
                                      </p:cBhvr>
                                      <p:to>
                                        <p:strVal val="visible"/>
                                      </p:to>
                                    </p:set>
                                    <p:animEffect transition="in" filter="wipe(left)">
                                      <p:cBhvr>
                                        <p:cTn id="44" dur="1000"/>
                                        <p:tgtEl>
                                          <p:spTgt spid="105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P spid="105492" grpId="0"/>
      <p:bldP spid="105493" grpId="0"/>
      <p:bldP spid="105495" grpId="0"/>
      <p:bldP spid="105496" grpId="0"/>
      <p:bldP spid="10549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1" name="Text Box 3"/>
          <p:cNvSpPr txBox="1">
            <a:spLocks noChangeArrowheads="1"/>
          </p:cNvSpPr>
          <p:nvPr/>
        </p:nvSpPr>
        <p:spPr bwMode="auto">
          <a:xfrm>
            <a:off x="214313" y="476250"/>
            <a:ext cx="4211637" cy="457200"/>
          </a:xfrm>
          <a:prstGeom prst="rect">
            <a:avLst/>
          </a:prstGeom>
          <a:noFill/>
          <a:ln w="9525">
            <a:noFill/>
            <a:miter lim="800000"/>
            <a:headEnd/>
            <a:tailEnd/>
          </a:ln>
        </p:spPr>
        <p:txBody>
          <a:bodyPr>
            <a:spAutoFit/>
          </a:bodyPr>
          <a:lstStyle/>
          <a:p>
            <a:pPr>
              <a:buFont typeface="Wingdings" pitchFamily="2" charset="2"/>
              <a:buNone/>
              <a:defRPr/>
            </a:pPr>
            <a:r>
              <a:rPr kumimoji="1" lang="en-US" altLang="zh-CN" sz="2400" b="1" dirty="0">
                <a:solidFill>
                  <a:srgbClr val="FF0000"/>
                </a:solidFill>
                <a:latin typeface="Times New Roman" pitchFamily="18" charset="0"/>
                <a:ea typeface="+mn-ea"/>
                <a:cs typeface="Times New Roman" pitchFamily="18" charset="0"/>
              </a:rPr>
              <a:t>1</a:t>
            </a:r>
            <a:r>
              <a:rPr kumimoji="1" lang="zh-CN" altLang="en-US" sz="2400" b="1" dirty="0">
                <a:solidFill>
                  <a:srgbClr val="FF0000"/>
                </a:solidFill>
                <a:latin typeface="Times New Roman" pitchFamily="18" charset="0"/>
                <a:ea typeface="+mn-ea"/>
                <a:cs typeface="Times New Roman" pitchFamily="18" charset="0"/>
              </a:rPr>
              <a:t>、玻尔兹曼熵</a:t>
            </a:r>
          </a:p>
        </p:txBody>
      </p:sp>
      <p:sp>
        <p:nvSpPr>
          <p:cNvPr id="334861" name="Oval 13"/>
          <p:cNvSpPr>
            <a:spLocks noChangeArrowheads="1"/>
          </p:cNvSpPr>
          <p:nvPr/>
        </p:nvSpPr>
        <p:spPr bwMode="auto">
          <a:xfrm>
            <a:off x="2144713" y="2136775"/>
            <a:ext cx="914400" cy="838200"/>
          </a:xfrm>
          <a:prstGeom prst="ellipse">
            <a:avLst/>
          </a:prstGeom>
          <a:gradFill rotWithShape="1">
            <a:gsLst>
              <a:gs pos="0">
                <a:srgbClr val="66FF66">
                  <a:alpha val="62000"/>
                </a:srgbClr>
              </a:gs>
              <a:gs pos="100000">
                <a:srgbClr val="2A692A">
                  <a:alpha val="62999"/>
                </a:srgbClr>
              </a:gs>
            </a:gsLst>
            <a:path path="shape">
              <a:fillToRect l="50000" t="50000" r="50000" b="50000"/>
            </a:path>
          </a:gradFill>
          <a:ln w="9525">
            <a:solidFill>
              <a:schemeClr val="folHlink"/>
            </a:solidFill>
            <a:round/>
            <a:headEnd/>
            <a:tailEnd/>
          </a:ln>
        </p:spPr>
        <p:txBody>
          <a:bodyPr wrap="none" anchor="ctr"/>
          <a:lstStyle/>
          <a:p>
            <a:pPr algn="ctr">
              <a:lnSpc>
                <a:spcPct val="115000"/>
              </a:lnSpc>
              <a:defRPr/>
            </a:pPr>
            <a:r>
              <a:rPr kumimoji="1" lang="zh-CN" altLang="en-US" sz="2000" b="1">
                <a:latin typeface="Times New Roman" pitchFamily="18" charset="0"/>
                <a:ea typeface="+mn-ea"/>
                <a:cs typeface="Times New Roman" pitchFamily="18" charset="0"/>
              </a:rPr>
              <a:t>状态</a:t>
            </a:r>
            <a:r>
              <a:rPr kumimoji="1" lang="en-US" altLang="zh-CN" sz="2000" b="1">
                <a:latin typeface="Times New Roman" pitchFamily="18" charset="0"/>
                <a:ea typeface="+mn-ea"/>
                <a:cs typeface="Times New Roman" pitchFamily="18" charset="0"/>
              </a:rPr>
              <a:t>(1)</a:t>
            </a:r>
            <a:endParaRPr kumimoji="1" lang="en-US" altLang="zh-CN" sz="2400" b="1">
              <a:latin typeface="Times New Roman" pitchFamily="18" charset="0"/>
              <a:ea typeface="+mn-ea"/>
              <a:cs typeface="Times New Roman" pitchFamily="18" charset="0"/>
            </a:endParaRPr>
          </a:p>
        </p:txBody>
      </p:sp>
      <p:sp>
        <p:nvSpPr>
          <p:cNvPr id="334862" name="Line 14"/>
          <p:cNvSpPr>
            <a:spLocks noChangeShapeType="1"/>
          </p:cNvSpPr>
          <p:nvPr/>
        </p:nvSpPr>
        <p:spPr bwMode="auto">
          <a:xfrm>
            <a:off x="3211513" y="2593975"/>
            <a:ext cx="2411412" cy="3175"/>
          </a:xfrm>
          <a:prstGeom prst="line">
            <a:avLst/>
          </a:prstGeom>
          <a:noFill/>
          <a:ln w="57150">
            <a:solidFill>
              <a:srgbClr val="0000FF"/>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334863" name="Oval 15"/>
          <p:cNvSpPr>
            <a:spLocks noChangeArrowheads="1"/>
          </p:cNvSpPr>
          <p:nvPr/>
        </p:nvSpPr>
        <p:spPr bwMode="auto">
          <a:xfrm>
            <a:off x="5665788" y="2174875"/>
            <a:ext cx="914400" cy="838200"/>
          </a:xfrm>
          <a:prstGeom prst="ellipse">
            <a:avLst/>
          </a:prstGeom>
          <a:gradFill rotWithShape="1">
            <a:gsLst>
              <a:gs pos="0">
                <a:srgbClr val="FF99FF">
                  <a:alpha val="57999"/>
                </a:srgbClr>
              </a:gs>
              <a:gs pos="100000">
                <a:srgbClr val="080508">
                  <a:alpha val="48000"/>
                </a:srgbClr>
              </a:gs>
            </a:gsLst>
            <a:path path="shape">
              <a:fillToRect l="50000" t="50000" r="50000" b="50000"/>
            </a:path>
          </a:gradFill>
          <a:ln w="9525">
            <a:solidFill>
              <a:schemeClr val="folHlink"/>
            </a:solidFill>
            <a:round/>
            <a:headEnd/>
            <a:tailEnd/>
          </a:ln>
        </p:spPr>
        <p:txBody>
          <a:bodyPr wrap="none" anchor="ctr"/>
          <a:lstStyle/>
          <a:p>
            <a:pPr algn="ctr">
              <a:lnSpc>
                <a:spcPct val="115000"/>
              </a:lnSpc>
              <a:defRPr/>
            </a:pPr>
            <a:r>
              <a:rPr kumimoji="1" lang="zh-CN" altLang="en-US" sz="2000" b="1">
                <a:latin typeface="Times New Roman" pitchFamily="18" charset="0"/>
                <a:ea typeface="+mn-ea"/>
                <a:cs typeface="Times New Roman" pitchFamily="18" charset="0"/>
              </a:rPr>
              <a:t>状态</a:t>
            </a:r>
            <a:r>
              <a:rPr kumimoji="1" lang="en-US" altLang="zh-CN" sz="2000" b="1">
                <a:latin typeface="Times New Roman" pitchFamily="18" charset="0"/>
                <a:ea typeface="+mn-ea"/>
                <a:cs typeface="Times New Roman" pitchFamily="18" charset="0"/>
              </a:rPr>
              <a:t>(2)</a:t>
            </a:r>
          </a:p>
        </p:txBody>
      </p:sp>
      <p:sp>
        <p:nvSpPr>
          <p:cNvPr id="334864" name="Rectangle 16"/>
          <p:cNvSpPr>
            <a:spLocks noChangeArrowheads="1"/>
          </p:cNvSpPr>
          <p:nvPr/>
        </p:nvSpPr>
        <p:spPr bwMode="auto">
          <a:xfrm>
            <a:off x="714375" y="2357438"/>
            <a:ext cx="1217613" cy="446087"/>
          </a:xfrm>
          <a:prstGeom prst="rect">
            <a:avLst/>
          </a:prstGeom>
          <a:noFill/>
          <a:ln w="9525">
            <a:noFill/>
            <a:miter lim="800000"/>
            <a:headEnd/>
            <a:tailEnd/>
          </a:ln>
        </p:spPr>
        <p:txBody>
          <a:bodyPr wrap="none">
            <a:spAutoFit/>
          </a:bodyPr>
          <a:lstStyle/>
          <a:p>
            <a:pPr>
              <a:lnSpc>
                <a:spcPct val="115000"/>
              </a:lnSpc>
              <a:defRPr/>
            </a:pPr>
            <a:r>
              <a:rPr kumimoji="1" lang="zh-CN" altLang="en-US" sz="2000" b="1" dirty="0">
                <a:solidFill>
                  <a:srgbClr val="0000FF"/>
                </a:solidFill>
                <a:latin typeface="Times New Roman" pitchFamily="18" charset="0"/>
                <a:ea typeface="+mn-ea"/>
                <a:cs typeface="Times New Roman" pitchFamily="18" charset="0"/>
              </a:rPr>
              <a:t>孤立系统</a:t>
            </a:r>
          </a:p>
        </p:txBody>
      </p:sp>
      <p:sp>
        <p:nvSpPr>
          <p:cNvPr id="334865" name="Rectangle 17"/>
          <p:cNvSpPr>
            <a:spLocks noChangeArrowheads="1"/>
          </p:cNvSpPr>
          <p:nvPr/>
        </p:nvSpPr>
        <p:spPr bwMode="auto">
          <a:xfrm>
            <a:off x="3535363" y="2082800"/>
            <a:ext cx="2024062" cy="512763"/>
          </a:xfrm>
          <a:prstGeom prst="rect">
            <a:avLst/>
          </a:prstGeom>
          <a:noFill/>
          <a:ln w="9525">
            <a:noFill/>
            <a:miter lim="800000"/>
            <a:headEnd/>
            <a:tailEnd/>
          </a:ln>
        </p:spPr>
        <p:txBody>
          <a:bodyPr wrap="none">
            <a:spAutoFit/>
          </a:bodyPr>
          <a:lstStyle/>
          <a:p>
            <a:pPr>
              <a:lnSpc>
                <a:spcPct val="115000"/>
              </a:lnSpc>
              <a:defRPr/>
            </a:pPr>
            <a:r>
              <a:rPr kumimoji="1" lang="zh-CN" altLang="en-US" sz="2000" b="1">
                <a:solidFill>
                  <a:srgbClr val="CC0000"/>
                </a:solidFill>
                <a:latin typeface="Times New Roman" pitchFamily="18" charset="0"/>
                <a:ea typeface="+mn-ea"/>
                <a:cs typeface="Times New Roman" pitchFamily="18" charset="0"/>
              </a:rPr>
              <a:t>能否自动进行</a:t>
            </a:r>
            <a:r>
              <a:rPr kumimoji="1" lang="zh-CN" altLang="en-US" sz="2400" b="1">
                <a:solidFill>
                  <a:srgbClr val="CC0000"/>
                </a:solidFill>
                <a:latin typeface="Times New Roman" pitchFamily="18" charset="0"/>
                <a:ea typeface="+mn-ea"/>
                <a:cs typeface="Times New Roman" pitchFamily="18" charset="0"/>
              </a:rPr>
              <a:t>？</a:t>
            </a:r>
          </a:p>
        </p:txBody>
      </p:sp>
      <p:sp>
        <p:nvSpPr>
          <p:cNvPr id="334866" name="Rectangle 18"/>
          <p:cNvSpPr>
            <a:spLocks noChangeArrowheads="1"/>
          </p:cNvSpPr>
          <p:nvPr/>
        </p:nvSpPr>
        <p:spPr bwMode="auto">
          <a:xfrm>
            <a:off x="3608388" y="2597150"/>
            <a:ext cx="2032000" cy="512763"/>
          </a:xfrm>
          <a:prstGeom prst="rect">
            <a:avLst/>
          </a:prstGeom>
          <a:noFill/>
          <a:ln w="9525">
            <a:noFill/>
            <a:miter lim="800000"/>
            <a:headEnd/>
            <a:tailEnd/>
          </a:ln>
        </p:spPr>
        <p:txBody>
          <a:bodyPr>
            <a:spAutoFit/>
          </a:bodyPr>
          <a:lstStyle/>
          <a:p>
            <a:pPr>
              <a:lnSpc>
                <a:spcPct val="115000"/>
              </a:lnSpc>
              <a:defRPr/>
            </a:pPr>
            <a:r>
              <a:rPr kumimoji="1" lang="zh-CN" altLang="en-US" sz="2000" b="1">
                <a:solidFill>
                  <a:srgbClr val="CC0000"/>
                </a:solidFill>
                <a:latin typeface="Times New Roman" pitchFamily="18" charset="0"/>
                <a:ea typeface="+mn-ea"/>
                <a:cs typeface="Times New Roman" pitchFamily="18" charset="0"/>
              </a:rPr>
              <a:t>判据是什么</a:t>
            </a:r>
            <a:r>
              <a:rPr kumimoji="1" lang="zh-CN" altLang="en-US" sz="2400" b="1">
                <a:solidFill>
                  <a:srgbClr val="CC0000"/>
                </a:solidFill>
                <a:latin typeface="Times New Roman" pitchFamily="18" charset="0"/>
                <a:ea typeface="+mn-ea"/>
                <a:cs typeface="Times New Roman" pitchFamily="18" charset="0"/>
              </a:rPr>
              <a:t>？</a:t>
            </a:r>
          </a:p>
        </p:txBody>
      </p:sp>
      <p:sp>
        <p:nvSpPr>
          <p:cNvPr id="334867" name="Rectangle 19"/>
          <p:cNvSpPr>
            <a:spLocks noChangeArrowheads="1"/>
          </p:cNvSpPr>
          <p:nvPr/>
        </p:nvSpPr>
        <p:spPr bwMode="auto">
          <a:xfrm>
            <a:off x="458788" y="3362325"/>
            <a:ext cx="3543300" cy="512763"/>
          </a:xfrm>
          <a:prstGeom prst="rect">
            <a:avLst/>
          </a:prstGeom>
          <a:noFill/>
          <a:ln w="9525">
            <a:noFill/>
            <a:miter lim="800000"/>
            <a:headEnd/>
            <a:tailEnd/>
          </a:ln>
        </p:spPr>
        <p:txBody>
          <a:bodyPr>
            <a:spAutoFit/>
          </a:bodyPr>
          <a:lstStyle/>
          <a:p>
            <a:pPr>
              <a:lnSpc>
                <a:spcPct val="115000"/>
              </a:lnSpc>
              <a:defRPr/>
            </a:pPr>
            <a:r>
              <a:rPr kumimoji="1" lang="zh-CN" altLang="en-US" sz="2400" b="1">
                <a:latin typeface="Times New Roman" pitchFamily="18" charset="0"/>
                <a:ea typeface="+mn-ea"/>
                <a:cs typeface="Times New Roman" pitchFamily="18" charset="0"/>
              </a:rPr>
              <a:t>微观态数少的宏观态</a:t>
            </a:r>
            <a:endParaRPr kumimoji="1" lang="zh-CN" altLang="en-US" sz="3200" b="1">
              <a:latin typeface="Times New Roman" pitchFamily="18" charset="0"/>
              <a:ea typeface="+mn-ea"/>
              <a:cs typeface="Times New Roman" pitchFamily="18" charset="0"/>
            </a:endParaRPr>
          </a:p>
        </p:txBody>
      </p:sp>
      <p:sp>
        <p:nvSpPr>
          <p:cNvPr id="334868" name="Rectangle 20"/>
          <p:cNvSpPr>
            <a:spLocks noChangeArrowheads="1"/>
          </p:cNvSpPr>
          <p:nvPr/>
        </p:nvSpPr>
        <p:spPr bwMode="auto">
          <a:xfrm>
            <a:off x="4630738" y="3343275"/>
            <a:ext cx="2987675" cy="512763"/>
          </a:xfrm>
          <a:prstGeom prst="rect">
            <a:avLst/>
          </a:prstGeom>
          <a:noFill/>
          <a:ln w="9525">
            <a:noFill/>
            <a:miter lim="800000"/>
            <a:headEnd/>
            <a:tailEnd/>
          </a:ln>
        </p:spPr>
        <p:txBody>
          <a:bodyPr>
            <a:spAutoFit/>
          </a:bodyPr>
          <a:lstStyle/>
          <a:p>
            <a:pPr>
              <a:lnSpc>
                <a:spcPct val="115000"/>
              </a:lnSpc>
              <a:defRPr/>
            </a:pPr>
            <a:r>
              <a:rPr kumimoji="1" lang="zh-CN" altLang="en-US" sz="2400" b="1">
                <a:latin typeface="Times New Roman" pitchFamily="18" charset="0"/>
                <a:ea typeface="+mn-ea"/>
                <a:cs typeface="Times New Roman" pitchFamily="18" charset="0"/>
              </a:rPr>
              <a:t>微观态数多的宏观态</a:t>
            </a:r>
          </a:p>
        </p:txBody>
      </p:sp>
      <p:sp>
        <p:nvSpPr>
          <p:cNvPr id="334869" name="AutoShape 21"/>
          <p:cNvSpPr>
            <a:spLocks noChangeArrowheads="1"/>
          </p:cNvSpPr>
          <p:nvPr/>
        </p:nvSpPr>
        <p:spPr bwMode="auto">
          <a:xfrm>
            <a:off x="3551238" y="3568700"/>
            <a:ext cx="1008062" cy="198438"/>
          </a:xfrm>
          <a:prstGeom prst="rightArrow">
            <a:avLst>
              <a:gd name="adj1" fmla="val 50000"/>
              <a:gd name="adj2" fmla="val 127000"/>
            </a:avLst>
          </a:prstGeom>
          <a:solidFill>
            <a:srgbClr val="0000FF"/>
          </a:solidFill>
          <a:ln w="9525">
            <a:solidFill>
              <a:schemeClr val="tx1"/>
            </a:solid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334870" name="Text Box 22"/>
          <p:cNvSpPr txBox="1">
            <a:spLocks noChangeArrowheads="1"/>
          </p:cNvSpPr>
          <p:nvPr/>
        </p:nvSpPr>
        <p:spPr bwMode="auto">
          <a:xfrm>
            <a:off x="179388" y="1052513"/>
            <a:ext cx="8010525" cy="933450"/>
          </a:xfrm>
          <a:prstGeom prst="rect">
            <a:avLst/>
          </a:prstGeom>
          <a:noFill/>
          <a:ln w="9525">
            <a:noFill/>
            <a:miter lim="800000"/>
            <a:headEnd/>
            <a:tailEnd/>
          </a:ln>
        </p:spPr>
        <p:txBody>
          <a:bodyPr>
            <a:spAutoFit/>
          </a:bodyPr>
          <a:lstStyle/>
          <a:p>
            <a:pPr>
              <a:lnSpc>
                <a:spcPct val="115000"/>
              </a:lnSpc>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为了</a:t>
            </a:r>
            <a:r>
              <a:rPr lang="zh-CN" altLang="en-US" sz="2400" b="1" dirty="0">
                <a:solidFill>
                  <a:srgbClr val="FF3300"/>
                </a:solidFill>
                <a:latin typeface="Times New Roman" pitchFamily="18" charset="0"/>
                <a:ea typeface="+mn-ea"/>
                <a:cs typeface="Times New Roman" pitchFamily="18" charset="0"/>
              </a:rPr>
              <a:t>定量地</a:t>
            </a:r>
            <a:r>
              <a:rPr lang="zh-CN" altLang="en-US" sz="2400" b="1" dirty="0">
                <a:latin typeface="Times New Roman" pitchFamily="18" charset="0"/>
                <a:ea typeface="+mn-ea"/>
                <a:cs typeface="Times New Roman" pitchFamily="18" charset="0"/>
              </a:rPr>
              <a:t>表示系统状态的有序程度，从而定量说明自发过程进行的方向问题，从而引入熵的概念。</a:t>
            </a:r>
            <a:endParaRPr lang="zh-CN" altLang="zh-CN" sz="2400" b="1" dirty="0">
              <a:latin typeface="Times New Roman" pitchFamily="18" charset="0"/>
              <a:ea typeface="+mn-ea"/>
              <a:cs typeface="Times New Roman" pitchFamily="18" charset="0"/>
            </a:endParaRPr>
          </a:p>
        </p:txBody>
      </p:sp>
      <p:grpSp>
        <p:nvGrpSpPr>
          <p:cNvPr id="2" name="Group 23"/>
          <p:cNvGrpSpPr>
            <a:grpSpLocks/>
          </p:cNvGrpSpPr>
          <p:nvPr/>
        </p:nvGrpSpPr>
        <p:grpSpPr bwMode="auto">
          <a:xfrm>
            <a:off x="179388" y="4044950"/>
            <a:ext cx="8353425" cy="979488"/>
            <a:chOff x="249" y="482"/>
            <a:chExt cx="5262" cy="617"/>
          </a:xfrm>
        </p:grpSpPr>
        <p:sp>
          <p:nvSpPr>
            <p:cNvPr id="79891" name="Text Box 24"/>
            <p:cNvSpPr txBox="1">
              <a:spLocks noChangeArrowheads="1"/>
            </p:cNvSpPr>
            <p:nvPr/>
          </p:nvSpPr>
          <p:spPr bwMode="auto">
            <a:xfrm>
              <a:off x="249" y="482"/>
              <a:ext cx="5262" cy="617"/>
            </a:xfrm>
            <a:prstGeom prst="rect">
              <a:avLst/>
            </a:prstGeom>
            <a:noFill/>
            <a:ln w="9525">
              <a:noFill/>
              <a:miter lim="800000"/>
              <a:headEnd/>
              <a:tailEnd/>
            </a:ln>
          </p:spPr>
          <p:txBody>
            <a:bodyPr>
              <a:spAutoFit/>
            </a:bodyPr>
            <a:lstStyle/>
            <a:p>
              <a:pPr>
                <a:lnSpc>
                  <a:spcPct val="120000"/>
                </a:lnSpc>
                <a:buFont typeface="Wingdings" pitchFamily="2" charset="2"/>
                <a:buNone/>
                <a:defRPr/>
              </a:pPr>
              <a:r>
                <a:rPr kumimoji="1" lang="en-US" altLang="zh-CN" sz="2400" b="1">
                  <a:solidFill>
                    <a:srgbClr val="FF0000"/>
                  </a:solidFill>
                  <a:latin typeface="Times New Roman" pitchFamily="18" charset="0"/>
                  <a:ea typeface="+mn-ea"/>
                  <a:cs typeface="Times New Roman" pitchFamily="18" charset="0"/>
                </a:rPr>
                <a:t>        </a:t>
              </a:r>
              <a:r>
                <a:rPr kumimoji="1" lang="en-US" altLang="zh-CN" sz="2400" b="1">
                  <a:solidFill>
                    <a:srgbClr val="FF3300"/>
                  </a:solidFill>
                  <a:latin typeface="Times New Roman" pitchFamily="18" charset="0"/>
                  <a:ea typeface="+mn-ea"/>
                  <a:cs typeface="Times New Roman" pitchFamily="18" charset="0"/>
                </a:rPr>
                <a:t>1877</a:t>
              </a:r>
              <a:r>
                <a:rPr kumimoji="1" lang="zh-CN" altLang="en-US" sz="2400" b="1">
                  <a:solidFill>
                    <a:srgbClr val="FF3300"/>
                  </a:solidFill>
                  <a:latin typeface="Times New Roman" pitchFamily="18" charset="0"/>
                  <a:ea typeface="+mn-ea"/>
                  <a:cs typeface="Times New Roman" pitchFamily="18" charset="0"/>
                </a:rPr>
                <a:t>年</a:t>
              </a:r>
              <a:r>
                <a:rPr kumimoji="1" lang="zh-CN" altLang="en-US" sz="2400" b="1">
                  <a:latin typeface="Times New Roman" pitchFamily="18" charset="0"/>
                  <a:ea typeface="+mn-ea"/>
                  <a:cs typeface="Times New Roman" pitchFamily="18" charset="0"/>
                </a:rPr>
                <a:t>玻耳兹曼提出，系统宏观状态的熵与该宏观状态的热力学概率的对数成正比，即               。</a:t>
              </a:r>
            </a:p>
          </p:txBody>
        </p:sp>
        <p:graphicFrame>
          <p:nvGraphicFramePr>
            <p:cNvPr id="73731" name="Object 25"/>
            <p:cNvGraphicFramePr>
              <a:graphicFrameLocks/>
            </p:cNvGraphicFramePr>
            <p:nvPr/>
          </p:nvGraphicFramePr>
          <p:xfrm>
            <a:off x="3061" y="845"/>
            <a:ext cx="637" cy="190"/>
          </p:xfrm>
          <a:graphic>
            <a:graphicData uri="http://schemas.openxmlformats.org/presentationml/2006/ole">
              <p:oleObj spid="_x0000_s73731" name="公式" r:id="rId4" imgW="596880" imgH="177480" progId="Equation.3">
                <p:embed/>
              </p:oleObj>
            </a:graphicData>
          </a:graphic>
        </p:graphicFrame>
      </p:grpSp>
      <p:sp>
        <p:nvSpPr>
          <p:cNvPr id="334874" name="Text Box 26"/>
          <p:cNvSpPr txBox="1">
            <a:spLocks noChangeArrowheads="1"/>
          </p:cNvSpPr>
          <p:nvPr/>
        </p:nvSpPr>
        <p:spPr bwMode="auto">
          <a:xfrm>
            <a:off x="755650" y="5157788"/>
            <a:ext cx="3959225" cy="534987"/>
          </a:xfrm>
          <a:prstGeom prst="rect">
            <a:avLst/>
          </a:prstGeom>
          <a:noFill/>
          <a:ln w="9525">
            <a:noFill/>
            <a:miter lim="800000"/>
            <a:headEnd/>
            <a:tailEnd/>
          </a:ln>
        </p:spPr>
        <p:txBody>
          <a:bodyPr>
            <a:spAutoFit/>
          </a:bodyPr>
          <a:lstStyle/>
          <a:p>
            <a:pPr>
              <a:lnSpc>
                <a:spcPct val="120000"/>
              </a:lnSpc>
              <a:buFont typeface="Wingdings" pitchFamily="2" charset="2"/>
              <a:buNone/>
              <a:defRPr/>
            </a:pPr>
            <a:r>
              <a:rPr kumimoji="1" lang="en-US" altLang="zh-CN" sz="2400" b="1">
                <a:solidFill>
                  <a:srgbClr val="FF3300"/>
                </a:solidFill>
                <a:latin typeface="Times New Roman" pitchFamily="18" charset="0"/>
                <a:ea typeface="+mn-ea"/>
                <a:cs typeface="Times New Roman" pitchFamily="18" charset="0"/>
              </a:rPr>
              <a:t>1900</a:t>
            </a:r>
            <a:r>
              <a:rPr kumimoji="1" lang="zh-CN" altLang="en-US" sz="2400" b="1">
                <a:solidFill>
                  <a:srgbClr val="FF3300"/>
                </a:solidFill>
                <a:latin typeface="Times New Roman" pitchFamily="18" charset="0"/>
                <a:ea typeface="+mn-ea"/>
                <a:cs typeface="Times New Roman" pitchFamily="18" charset="0"/>
              </a:rPr>
              <a:t>年</a:t>
            </a:r>
            <a:r>
              <a:rPr kumimoji="1" lang="zh-CN" altLang="en-US" sz="2400" b="1">
                <a:latin typeface="Times New Roman" pitchFamily="18" charset="0"/>
                <a:ea typeface="+mn-ea"/>
                <a:cs typeface="Times New Roman" pitchFamily="18" charset="0"/>
              </a:rPr>
              <a:t>普朗克证明</a:t>
            </a:r>
            <a:r>
              <a:rPr kumimoji="1" lang="en-US" altLang="zh-CN" sz="2400" b="1">
                <a:latin typeface="Times New Roman" pitchFamily="18" charset="0"/>
                <a:ea typeface="+mn-ea"/>
                <a:cs typeface="Times New Roman" pitchFamily="18" charset="0"/>
              </a:rPr>
              <a:t>:</a:t>
            </a:r>
          </a:p>
        </p:txBody>
      </p:sp>
      <p:graphicFrame>
        <p:nvGraphicFramePr>
          <p:cNvPr id="334875" name="Object 27"/>
          <p:cNvGraphicFramePr>
            <a:graphicFrameLocks noChangeAspect="1"/>
          </p:cNvGraphicFramePr>
          <p:nvPr/>
        </p:nvGraphicFramePr>
        <p:xfrm>
          <a:off x="3654425" y="5300663"/>
          <a:ext cx="1204913" cy="319087"/>
        </p:xfrm>
        <a:graphic>
          <a:graphicData uri="http://schemas.openxmlformats.org/presentationml/2006/ole">
            <p:oleObj spid="_x0000_s73730" name="公式" r:id="rId5" imgW="685800" imgH="177480" progId="Equation.3">
              <p:embed/>
            </p:oleObj>
          </a:graphicData>
        </a:graphic>
      </p:graphicFrame>
      <p:sp>
        <p:nvSpPr>
          <p:cNvPr id="334877" name="AutoShape 29"/>
          <p:cNvSpPr>
            <a:spLocks noChangeArrowheads="1"/>
          </p:cNvSpPr>
          <p:nvPr/>
        </p:nvSpPr>
        <p:spPr bwMode="auto">
          <a:xfrm>
            <a:off x="6389688" y="4797425"/>
            <a:ext cx="1711325" cy="855663"/>
          </a:xfrm>
          <a:prstGeom prst="wedgeRoundRectCallout">
            <a:avLst>
              <a:gd name="adj1" fmla="val -134231"/>
              <a:gd name="adj2" fmla="val 28852"/>
              <a:gd name="adj3" fmla="val 16667"/>
            </a:avLst>
          </a:prstGeom>
          <a:gradFill rotWithShape="1">
            <a:gsLst>
              <a:gs pos="0">
                <a:srgbClr val="B1FFB1"/>
              </a:gs>
              <a:gs pos="50000">
                <a:srgbClr val="66FF66"/>
              </a:gs>
              <a:gs pos="100000">
                <a:srgbClr val="B1FFB1"/>
              </a:gs>
            </a:gsLst>
            <a:lin ang="18900000" scaled="1"/>
          </a:gradFill>
          <a:ln w="9525">
            <a:solidFill>
              <a:srgbClr val="66FF66"/>
            </a:solidFill>
            <a:miter lim="800000"/>
            <a:headEnd/>
            <a:tailEnd/>
          </a:ln>
        </p:spPr>
        <p:txBody>
          <a:bodyPr/>
          <a:lstStyle/>
          <a:p>
            <a:pPr algn="ctr">
              <a:lnSpc>
                <a:spcPct val="115000"/>
              </a:lnSpc>
              <a:defRPr/>
            </a:pPr>
            <a:r>
              <a:rPr kumimoji="1" lang="zh-CN" altLang="en-US" sz="2000" b="1" dirty="0">
                <a:solidFill>
                  <a:srgbClr val="FF0000"/>
                </a:solidFill>
                <a:latin typeface="Times New Roman" pitchFamily="18" charset="0"/>
                <a:ea typeface="+mn-ea"/>
                <a:cs typeface="Times New Roman" pitchFamily="18" charset="0"/>
              </a:rPr>
              <a:t>玻尔兹曼熵公式</a:t>
            </a:r>
          </a:p>
        </p:txBody>
      </p:sp>
      <p:sp>
        <p:nvSpPr>
          <p:cNvPr id="334878" name="Text Box 30"/>
          <p:cNvSpPr txBox="1">
            <a:spLocks noChangeArrowheads="1"/>
          </p:cNvSpPr>
          <p:nvPr/>
        </p:nvSpPr>
        <p:spPr bwMode="auto">
          <a:xfrm>
            <a:off x="2052638" y="5911850"/>
            <a:ext cx="5903912" cy="396875"/>
          </a:xfrm>
          <a:prstGeom prst="rect">
            <a:avLst/>
          </a:prstGeom>
          <a:noFill/>
          <a:ln w="9525">
            <a:noFill/>
            <a:miter lim="800000"/>
            <a:headEnd/>
            <a:tailEnd/>
          </a:ln>
        </p:spPr>
        <p:txBody>
          <a:bodyPr>
            <a:spAutoFit/>
          </a:bodyPr>
          <a:lstStyle/>
          <a:p>
            <a:pPr>
              <a:buFont typeface="Wingdings" pitchFamily="2" charset="2"/>
              <a:buNone/>
              <a:defRPr/>
            </a:pPr>
            <a:r>
              <a:rPr lang="en-US" altLang="zh-CN" sz="2000" b="1" i="1">
                <a:solidFill>
                  <a:srgbClr val="FF0000"/>
                </a:solidFill>
                <a:latin typeface="Times New Roman" pitchFamily="18" charset="0"/>
                <a:ea typeface="+mn-ea"/>
                <a:cs typeface="Times New Roman" pitchFamily="18" charset="0"/>
              </a:rPr>
              <a:t>k </a:t>
            </a:r>
            <a:r>
              <a:rPr lang="zh-CN" altLang="en-US" sz="2000" b="1">
                <a:latin typeface="Times New Roman" pitchFamily="18" charset="0"/>
                <a:ea typeface="+mn-ea"/>
                <a:cs typeface="Times New Roman" pitchFamily="18" charset="0"/>
              </a:rPr>
              <a:t>是玻尔兹曼常量，</a:t>
            </a:r>
            <a:r>
              <a:rPr lang="zh-CN" altLang="en-US" sz="2000" b="1" i="1">
                <a:solidFill>
                  <a:srgbClr val="FF0000"/>
                </a:solidFill>
                <a:latin typeface="Times New Roman" pitchFamily="18" charset="0"/>
                <a:ea typeface="+mn-ea"/>
                <a:cs typeface="Times New Roman" pitchFamily="18" charset="0"/>
                <a:sym typeface="Symbol" pitchFamily="18" charset="2"/>
              </a:rPr>
              <a:t> </a:t>
            </a:r>
            <a:r>
              <a:rPr lang="zh-CN" altLang="en-US" sz="2000" b="1">
                <a:latin typeface="Times New Roman" pitchFamily="18" charset="0"/>
                <a:ea typeface="+mn-ea"/>
                <a:cs typeface="Times New Roman" pitchFamily="18" charset="0"/>
              </a:rPr>
              <a:t>是热力学概率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4851"/>
                                        </p:tgtEl>
                                        <p:attrNameLst>
                                          <p:attrName>style.visibility</p:attrName>
                                        </p:attrNameLst>
                                      </p:cBhvr>
                                      <p:to>
                                        <p:strVal val="visible"/>
                                      </p:to>
                                    </p:set>
                                    <p:animEffect transition="in" filter="wipe(left)">
                                      <p:cBhvr>
                                        <p:cTn id="7" dur="500"/>
                                        <p:tgtEl>
                                          <p:spTgt spid="3348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4870"/>
                                        </p:tgtEl>
                                        <p:attrNameLst>
                                          <p:attrName>style.visibility</p:attrName>
                                        </p:attrNameLst>
                                      </p:cBhvr>
                                      <p:to>
                                        <p:strVal val="visible"/>
                                      </p:to>
                                    </p:set>
                                    <p:animEffect transition="in" filter="wipe(left)">
                                      <p:cBhvr>
                                        <p:cTn id="12" dur="500"/>
                                        <p:tgtEl>
                                          <p:spTgt spid="3348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4864"/>
                                        </p:tgtEl>
                                        <p:attrNameLst>
                                          <p:attrName>style.visibility</p:attrName>
                                        </p:attrNameLst>
                                      </p:cBhvr>
                                      <p:to>
                                        <p:strVal val="visible"/>
                                      </p:to>
                                    </p:set>
                                    <p:animEffect transition="in" filter="wipe(left)">
                                      <p:cBhvr>
                                        <p:cTn id="17" dur="500"/>
                                        <p:tgtEl>
                                          <p:spTgt spid="33486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34861"/>
                                        </p:tgtEl>
                                        <p:attrNameLst>
                                          <p:attrName>style.visibility</p:attrName>
                                        </p:attrNameLst>
                                      </p:cBhvr>
                                      <p:to>
                                        <p:strVal val="visible"/>
                                      </p:to>
                                    </p:set>
                                    <p:animEffect transition="in" filter="wipe(left)">
                                      <p:cBhvr>
                                        <p:cTn id="21" dur="500"/>
                                        <p:tgtEl>
                                          <p:spTgt spid="334861"/>
                                        </p:tgtEl>
                                      </p:cBhvr>
                                    </p:animEffect>
                                  </p:childTnLst>
                                </p:cTn>
                              </p:par>
                            </p:childTnLst>
                          </p:cTn>
                        </p:par>
                        <p:par>
                          <p:cTn id="22" fill="hold">
                            <p:stCondLst>
                              <p:cond delay="1000"/>
                            </p:stCondLst>
                            <p:childTnLst>
                              <p:par>
                                <p:cTn id="23" presetID="12" presetClass="entr" presetSubtype="8" fill="hold" nodeType="afterEffect">
                                  <p:stCondLst>
                                    <p:cond delay="0"/>
                                  </p:stCondLst>
                                  <p:childTnLst>
                                    <p:set>
                                      <p:cBhvr>
                                        <p:cTn id="24" dur="1" fill="hold">
                                          <p:stCondLst>
                                            <p:cond delay="0"/>
                                          </p:stCondLst>
                                        </p:cTn>
                                        <p:tgtEl>
                                          <p:spTgt spid="334862"/>
                                        </p:tgtEl>
                                        <p:attrNameLst>
                                          <p:attrName>style.visibility</p:attrName>
                                        </p:attrNameLst>
                                      </p:cBhvr>
                                      <p:to>
                                        <p:strVal val="visible"/>
                                      </p:to>
                                    </p:set>
                                    <p:animEffect transition="in" filter="slide(fromLeft)">
                                      <p:cBhvr>
                                        <p:cTn id="25" dur="500"/>
                                        <p:tgtEl>
                                          <p:spTgt spid="334862"/>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334863"/>
                                        </p:tgtEl>
                                        <p:attrNameLst>
                                          <p:attrName>style.visibility</p:attrName>
                                        </p:attrNameLst>
                                      </p:cBhvr>
                                      <p:to>
                                        <p:strVal val="visible"/>
                                      </p:to>
                                    </p:set>
                                    <p:animEffect transition="in" filter="wipe(left)">
                                      <p:cBhvr>
                                        <p:cTn id="29" dur="500"/>
                                        <p:tgtEl>
                                          <p:spTgt spid="334863"/>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334865"/>
                                        </p:tgtEl>
                                        <p:attrNameLst>
                                          <p:attrName>style.visibility</p:attrName>
                                        </p:attrNameLst>
                                      </p:cBhvr>
                                      <p:to>
                                        <p:strVal val="visible"/>
                                      </p:to>
                                    </p:set>
                                    <p:animEffect transition="in" filter="wipe(left)">
                                      <p:cBhvr>
                                        <p:cTn id="33" dur="500"/>
                                        <p:tgtEl>
                                          <p:spTgt spid="33486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34866"/>
                                        </p:tgtEl>
                                        <p:attrNameLst>
                                          <p:attrName>style.visibility</p:attrName>
                                        </p:attrNameLst>
                                      </p:cBhvr>
                                      <p:to>
                                        <p:strVal val="visible"/>
                                      </p:to>
                                    </p:set>
                                    <p:animEffect transition="in" filter="wipe(left)">
                                      <p:cBhvr>
                                        <p:cTn id="38" dur="500"/>
                                        <p:tgtEl>
                                          <p:spTgt spid="33486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34867"/>
                                        </p:tgtEl>
                                        <p:attrNameLst>
                                          <p:attrName>style.visibility</p:attrName>
                                        </p:attrNameLst>
                                      </p:cBhvr>
                                      <p:to>
                                        <p:strVal val="visible"/>
                                      </p:to>
                                    </p:set>
                                    <p:animEffect transition="in" filter="wipe(left)">
                                      <p:cBhvr>
                                        <p:cTn id="43" dur="500"/>
                                        <p:tgtEl>
                                          <p:spTgt spid="334867"/>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34869"/>
                                        </p:tgtEl>
                                        <p:attrNameLst>
                                          <p:attrName>style.visibility</p:attrName>
                                        </p:attrNameLst>
                                      </p:cBhvr>
                                      <p:to>
                                        <p:strVal val="visible"/>
                                      </p:to>
                                    </p:set>
                                    <p:animEffect transition="in" filter="wipe(left)">
                                      <p:cBhvr>
                                        <p:cTn id="47" dur="500"/>
                                        <p:tgtEl>
                                          <p:spTgt spid="334869"/>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334868"/>
                                        </p:tgtEl>
                                        <p:attrNameLst>
                                          <p:attrName>style.visibility</p:attrName>
                                        </p:attrNameLst>
                                      </p:cBhvr>
                                      <p:to>
                                        <p:strVal val="visible"/>
                                      </p:to>
                                    </p:set>
                                    <p:animEffect transition="in" filter="wipe(left)">
                                      <p:cBhvr>
                                        <p:cTn id="51" dur="500"/>
                                        <p:tgtEl>
                                          <p:spTgt spid="33486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34874"/>
                                        </p:tgtEl>
                                        <p:attrNameLst>
                                          <p:attrName>style.visibility</p:attrName>
                                        </p:attrNameLst>
                                      </p:cBhvr>
                                      <p:to>
                                        <p:strVal val="visible"/>
                                      </p:to>
                                    </p:set>
                                    <p:animEffect transition="in" filter="wipe(left)">
                                      <p:cBhvr>
                                        <p:cTn id="61" dur="500"/>
                                        <p:tgtEl>
                                          <p:spTgt spid="33487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34875"/>
                                        </p:tgtEl>
                                        <p:attrNameLst>
                                          <p:attrName>style.visibility</p:attrName>
                                        </p:attrNameLst>
                                      </p:cBhvr>
                                      <p:to>
                                        <p:strVal val="visible"/>
                                      </p:to>
                                    </p:set>
                                    <p:animEffect transition="in" filter="wipe(left)">
                                      <p:cBhvr>
                                        <p:cTn id="66" dur="500"/>
                                        <p:tgtEl>
                                          <p:spTgt spid="33487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34877"/>
                                        </p:tgtEl>
                                        <p:attrNameLst>
                                          <p:attrName>style.visibility</p:attrName>
                                        </p:attrNameLst>
                                      </p:cBhvr>
                                      <p:to>
                                        <p:strVal val="visible"/>
                                      </p:to>
                                    </p:set>
                                    <p:animEffect transition="in" filter="wipe(left)">
                                      <p:cBhvr>
                                        <p:cTn id="71" dur="1000"/>
                                        <p:tgtEl>
                                          <p:spTgt spid="334877"/>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334878"/>
                                        </p:tgtEl>
                                        <p:attrNameLst>
                                          <p:attrName>style.visibility</p:attrName>
                                        </p:attrNameLst>
                                      </p:cBhvr>
                                      <p:to>
                                        <p:strVal val="visible"/>
                                      </p:to>
                                    </p:set>
                                    <p:animEffect transition="in" filter="wipe(left)">
                                      <p:cBhvr>
                                        <p:cTn id="75" dur="500"/>
                                        <p:tgtEl>
                                          <p:spTgt spid="334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autoUpdateAnimBg="0"/>
      <p:bldP spid="334861" grpId="0" animBg="1" autoUpdateAnimBg="0"/>
      <p:bldP spid="334863" grpId="0" animBg="1" autoUpdateAnimBg="0"/>
      <p:bldP spid="334864" grpId="0" autoUpdateAnimBg="0"/>
      <p:bldP spid="334865" grpId="0" autoUpdateAnimBg="0"/>
      <p:bldP spid="334866" grpId="0" autoUpdateAnimBg="0"/>
      <p:bldP spid="334867" grpId="0"/>
      <p:bldP spid="334868" grpId="0"/>
      <p:bldP spid="334869" grpId="0" animBg="1"/>
      <p:bldP spid="334870" grpId="0"/>
      <p:bldP spid="334874" grpId="0"/>
      <p:bldP spid="334877" grpId="0" animBg="1"/>
      <p:bldP spid="33487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20" name="Rectangle 4"/>
          <p:cNvSpPr>
            <a:spLocks noChangeArrowheads="1"/>
          </p:cNvSpPr>
          <p:nvPr/>
        </p:nvSpPr>
        <p:spPr bwMode="auto">
          <a:xfrm>
            <a:off x="161925" y="1052513"/>
            <a:ext cx="4535488" cy="479425"/>
          </a:xfrm>
          <a:prstGeom prst="rect">
            <a:avLst/>
          </a:prstGeom>
          <a:noFill/>
          <a:ln w="9525">
            <a:noFill/>
            <a:miter lim="800000"/>
            <a:headEnd/>
            <a:tailEnd/>
          </a:ln>
        </p:spPr>
        <p:txBody>
          <a:bodyPr>
            <a:spAutoFit/>
          </a:bodyPr>
          <a:lstStyle/>
          <a:p>
            <a:pPr>
              <a:lnSpc>
                <a:spcPct val="115000"/>
              </a:lnSpc>
              <a:defRPr/>
            </a:pPr>
            <a:r>
              <a:rPr kumimoji="1" lang="en-US" altLang="zh-CN" sz="2400" b="1" dirty="0">
                <a:solidFill>
                  <a:srgbClr val="0000FF"/>
                </a:solidFill>
                <a:latin typeface="Times New Roman" pitchFamily="18" charset="0"/>
                <a:ea typeface="+mn-ea"/>
                <a:cs typeface="Times New Roman" pitchFamily="18" charset="0"/>
              </a:rPr>
              <a:t>(1)  </a:t>
            </a:r>
            <a:r>
              <a:rPr kumimoji="1" lang="zh-CN" altLang="en-US" sz="2400" b="1" dirty="0">
                <a:solidFill>
                  <a:srgbClr val="0000FF"/>
                </a:solidFill>
                <a:latin typeface="Times New Roman" pitchFamily="18" charset="0"/>
                <a:ea typeface="+mn-ea"/>
                <a:cs typeface="Times New Roman" pitchFamily="18" charset="0"/>
              </a:rPr>
              <a:t>熵是系统状态的单值函数。</a:t>
            </a:r>
          </a:p>
        </p:txBody>
      </p:sp>
      <p:sp>
        <p:nvSpPr>
          <p:cNvPr id="342021" name="Text Box 5"/>
          <p:cNvSpPr txBox="1">
            <a:spLocks noChangeArrowheads="1"/>
          </p:cNvSpPr>
          <p:nvPr/>
        </p:nvSpPr>
        <p:spPr bwMode="auto">
          <a:xfrm>
            <a:off x="566738" y="477838"/>
            <a:ext cx="1711325" cy="512762"/>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defRPr/>
            </a:pPr>
            <a:r>
              <a:rPr kumimoji="1" lang="zh-CN" altLang="en-US" sz="2400" b="1">
                <a:solidFill>
                  <a:srgbClr val="FF0000"/>
                </a:solidFill>
                <a:latin typeface="Times New Roman" pitchFamily="18" charset="0"/>
                <a:ea typeface="+mn-ea"/>
                <a:cs typeface="Times New Roman" pitchFamily="18" charset="0"/>
              </a:rPr>
              <a:t>说明</a:t>
            </a:r>
          </a:p>
        </p:txBody>
      </p:sp>
      <p:sp>
        <p:nvSpPr>
          <p:cNvPr id="342022" name="AutoShape 6"/>
          <p:cNvSpPr>
            <a:spLocks noChangeArrowheads="1"/>
          </p:cNvSpPr>
          <p:nvPr/>
        </p:nvSpPr>
        <p:spPr bwMode="auto">
          <a:xfrm>
            <a:off x="206375" y="458788"/>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342024" name="Text Box 8"/>
          <p:cNvSpPr txBox="1">
            <a:spLocks noChangeArrowheads="1"/>
          </p:cNvSpPr>
          <p:nvPr/>
        </p:nvSpPr>
        <p:spPr bwMode="auto">
          <a:xfrm>
            <a:off x="214313" y="1614488"/>
            <a:ext cx="7056437"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(2) </a:t>
            </a:r>
            <a:r>
              <a:rPr kumimoji="1" lang="zh-CN" altLang="en-US" sz="2400" b="1" dirty="0">
                <a:solidFill>
                  <a:srgbClr val="0000FF"/>
                </a:solidFill>
                <a:latin typeface="Times New Roman" pitchFamily="18" charset="0"/>
                <a:ea typeface="+mn-ea"/>
                <a:cs typeface="Times New Roman" pitchFamily="18" charset="0"/>
              </a:rPr>
              <a:t>熵值具有可叠加性</a:t>
            </a:r>
          </a:p>
        </p:txBody>
      </p:sp>
      <p:sp>
        <p:nvSpPr>
          <p:cNvPr id="342025" name="Rectangle 9"/>
          <p:cNvSpPr>
            <a:spLocks noChangeArrowheads="1"/>
          </p:cNvSpPr>
          <p:nvPr/>
        </p:nvSpPr>
        <p:spPr bwMode="auto">
          <a:xfrm>
            <a:off x="428625" y="2071688"/>
            <a:ext cx="7929563" cy="1235075"/>
          </a:xfrm>
          <a:prstGeom prst="rect">
            <a:avLst/>
          </a:prstGeom>
          <a:noFill/>
          <a:ln w="9525">
            <a:noFill/>
            <a:miter lim="800000"/>
            <a:headEnd/>
            <a:tailEnd/>
          </a:ln>
        </p:spPr>
        <p:txBody>
          <a:bodyPr>
            <a:spAutoFit/>
          </a:bodyPr>
          <a:lstStyle/>
          <a:p>
            <a:pPr>
              <a:lnSpc>
                <a:spcPct val="125000"/>
              </a:lnSpc>
              <a:defRPr/>
            </a:pPr>
            <a:r>
              <a:rPr kumimoji="1" lang="zh-CN" altLang="en-US" sz="2000" b="1" dirty="0">
                <a:latin typeface="Times New Roman" pitchFamily="18" charset="0"/>
                <a:ea typeface="+mn-ea"/>
                <a:cs typeface="Times New Roman" pitchFamily="18" charset="0"/>
              </a:rPr>
              <a:t>           若系统由两个子系统组成，用 </a:t>
            </a:r>
            <a:r>
              <a:rPr kumimoji="1" lang="en-US" altLang="zh-CN" sz="2000" b="1" i="1" dirty="0">
                <a:solidFill>
                  <a:srgbClr val="FF0000"/>
                </a:solidFill>
                <a:latin typeface="Times New Roman" pitchFamily="18" charset="0"/>
                <a:ea typeface="+mn-ea"/>
                <a:cs typeface="Times New Roman" pitchFamily="18" charset="0"/>
              </a:rPr>
              <a:t>Ω</a:t>
            </a:r>
            <a:r>
              <a:rPr kumimoji="1" lang="en-US" altLang="zh-CN" sz="2000" b="1" baseline="-25000" dirty="0">
                <a:solidFill>
                  <a:srgbClr val="FF0000"/>
                </a:solidFill>
                <a:latin typeface="Times New Roman" pitchFamily="18" charset="0"/>
                <a:ea typeface="+mn-ea"/>
                <a:cs typeface="Times New Roman" pitchFamily="18" charset="0"/>
              </a:rPr>
              <a:t>1 </a:t>
            </a:r>
            <a:r>
              <a:rPr kumimoji="1" lang="zh-CN" altLang="en-US" sz="2000" b="1" dirty="0">
                <a:latin typeface="Times New Roman" pitchFamily="18" charset="0"/>
                <a:ea typeface="+mn-ea"/>
                <a:cs typeface="Times New Roman" pitchFamily="18" charset="0"/>
              </a:rPr>
              <a:t>和 </a:t>
            </a:r>
            <a:r>
              <a:rPr kumimoji="1" lang="en-US" altLang="zh-CN" sz="2000" b="1" i="1" dirty="0">
                <a:solidFill>
                  <a:srgbClr val="FF0000"/>
                </a:solidFill>
                <a:latin typeface="Times New Roman" pitchFamily="18" charset="0"/>
                <a:ea typeface="+mn-ea"/>
                <a:cs typeface="Times New Roman" pitchFamily="18" charset="0"/>
              </a:rPr>
              <a:t>Ω</a:t>
            </a:r>
            <a:r>
              <a:rPr kumimoji="1" lang="en-US" altLang="zh-CN" sz="2000" b="1" baseline="-25000" dirty="0">
                <a:solidFill>
                  <a:srgbClr val="FF0000"/>
                </a:solidFill>
                <a:latin typeface="Times New Roman" pitchFamily="18" charset="0"/>
                <a:ea typeface="+mn-ea"/>
                <a:cs typeface="Times New Roman" pitchFamily="18" charset="0"/>
              </a:rPr>
              <a:t>2 </a:t>
            </a:r>
            <a:r>
              <a:rPr kumimoji="1" lang="zh-CN" altLang="en-US" sz="2000" b="1" dirty="0">
                <a:latin typeface="Times New Roman" pitchFamily="18" charset="0"/>
                <a:ea typeface="+mn-ea"/>
                <a:cs typeface="Times New Roman" pitchFamily="18" charset="0"/>
              </a:rPr>
              <a:t>分别表示在一定条件下这两个子系统的热力学概率，根据概率的乘法规则，整个系统的热力学概率为</a:t>
            </a:r>
            <a:r>
              <a:rPr kumimoji="1" lang="en-US" altLang="zh-CN" sz="2000" b="1" i="1" dirty="0">
                <a:solidFill>
                  <a:srgbClr val="FF0000"/>
                </a:solidFill>
                <a:latin typeface="Times New Roman" pitchFamily="18" charset="0"/>
                <a:ea typeface="+mn-ea"/>
                <a:cs typeface="Times New Roman" pitchFamily="18" charset="0"/>
              </a:rPr>
              <a:t>Ω </a:t>
            </a:r>
            <a:r>
              <a:rPr kumimoji="1" lang="en-US" altLang="zh-CN" sz="2000" b="1" dirty="0">
                <a:solidFill>
                  <a:srgbClr val="FF0000"/>
                </a:solidFill>
                <a:latin typeface="Times New Roman" pitchFamily="18" charset="0"/>
                <a:ea typeface="+mn-ea"/>
                <a:cs typeface="Times New Roman" pitchFamily="18" charset="0"/>
              </a:rPr>
              <a:t>= </a:t>
            </a:r>
            <a:r>
              <a:rPr kumimoji="1" lang="en-US" altLang="zh-CN" sz="2000" b="1" i="1" dirty="0">
                <a:solidFill>
                  <a:srgbClr val="FF0000"/>
                </a:solidFill>
                <a:latin typeface="Times New Roman" pitchFamily="18" charset="0"/>
                <a:ea typeface="+mn-ea"/>
                <a:cs typeface="Times New Roman" pitchFamily="18" charset="0"/>
              </a:rPr>
              <a:t>Ω</a:t>
            </a:r>
            <a:r>
              <a:rPr kumimoji="1" lang="en-US" altLang="zh-CN" sz="2000" b="1" baseline="-25000" dirty="0">
                <a:solidFill>
                  <a:srgbClr val="FF0000"/>
                </a:solidFill>
                <a:latin typeface="Times New Roman" pitchFamily="18" charset="0"/>
                <a:ea typeface="+mn-ea"/>
                <a:cs typeface="Times New Roman" pitchFamily="18" charset="0"/>
              </a:rPr>
              <a:t>1</a:t>
            </a:r>
            <a:r>
              <a:rPr kumimoji="1" lang="en-US" altLang="zh-CN" sz="2000" b="1" dirty="0">
                <a:solidFill>
                  <a:srgbClr val="FF0000"/>
                </a:solidFill>
                <a:latin typeface="Times New Roman" pitchFamily="18" charset="0"/>
                <a:ea typeface="+mn-ea"/>
                <a:cs typeface="Times New Roman" pitchFamily="18" charset="0"/>
              </a:rPr>
              <a:t>·</a:t>
            </a:r>
            <a:r>
              <a:rPr kumimoji="1" lang="en-US" altLang="zh-CN" sz="2000" b="1" i="1" dirty="0">
                <a:solidFill>
                  <a:srgbClr val="FF0000"/>
                </a:solidFill>
                <a:latin typeface="Times New Roman" pitchFamily="18" charset="0"/>
                <a:ea typeface="+mn-ea"/>
                <a:cs typeface="Times New Roman" pitchFamily="18" charset="0"/>
              </a:rPr>
              <a:t>Ω</a:t>
            </a:r>
            <a:r>
              <a:rPr kumimoji="1" lang="en-US" altLang="zh-CN" sz="2000" b="1" baseline="-25000" dirty="0">
                <a:solidFill>
                  <a:srgbClr val="FF0000"/>
                </a:solidFill>
                <a:latin typeface="Times New Roman" pitchFamily="18" charset="0"/>
                <a:ea typeface="+mn-ea"/>
                <a:cs typeface="Times New Roman" pitchFamily="18" charset="0"/>
              </a:rPr>
              <a:t>2</a:t>
            </a:r>
            <a:r>
              <a:rPr kumimoji="1" lang="en-US" altLang="zh-CN" sz="2000" b="1" dirty="0">
                <a:latin typeface="Times New Roman" pitchFamily="18" charset="0"/>
                <a:ea typeface="+mn-ea"/>
                <a:cs typeface="Times New Roman" pitchFamily="18" charset="0"/>
              </a:rPr>
              <a:t> </a:t>
            </a:r>
            <a:r>
              <a:rPr kumimoji="1" lang="zh-CN" altLang="en-US" sz="2000" b="1" dirty="0">
                <a:latin typeface="Times New Roman" pitchFamily="18" charset="0"/>
                <a:ea typeface="+mn-ea"/>
                <a:cs typeface="Times New Roman" pitchFamily="18" charset="0"/>
              </a:rPr>
              <a:t>，所以</a:t>
            </a:r>
            <a:r>
              <a:rPr kumimoji="1" lang="zh-CN" altLang="en-US" sz="2000" dirty="0">
                <a:latin typeface="Times New Roman" pitchFamily="18" charset="0"/>
                <a:ea typeface="+mn-ea"/>
                <a:cs typeface="Times New Roman" pitchFamily="18" charset="0"/>
              </a:rPr>
              <a:t> </a:t>
            </a:r>
          </a:p>
        </p:txBody>
      </p:sp>
      <p:graphicFrame>
        <p:nvGraphicFramePr>
          <p:cNvPr id="342027" name="Object 11"/>
          <p:cNvGraphicFramePr>
            <a:graphicFrameLocks noChangeAspect="1"/>
          </p:cNvGraphicFramePr>
          <p:nvPr/>
        </p:nvGraphicFramePr>
        <p:xfrm>
          <a:off x="1714500" y="3286125"/>
          <a:ext cx="5826125" cy="387350"/>
        </p:xfrm>
        <a:graphic>
          <a:graphicData uri="http://schemas.openxmlformats.org/presentationml/2006/ole">
            <p:oleObj spid="_x0000_s74754" name="公式" r:id="rId4" imgW="3314520" imgH="215640" progId="Equation.3">
              <p:embed/>
            </p:oleObj>
          </a:graphicData>
        </a:graphic>
      </p:graphicFrame>
      <p:sp>
        <p:nvSpPr>
          <p:cNvPr id="342028" name="Text Box 12"/>
          <p:cNvSpPr txBox="1">
            <a:spLocks noChangeArrowheads="1"/>
          </p:cNvSpPr>
          <p:nvPr/>
        </p:nvSpPr>
        <p:spPr bwMode="auto">
          <a:xfrm>
            <a:off x="142875" y="3714750"/>
            <a:ext cx="7056438"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(3) </a:t>
            </a:r>
            <a:r>
              <a:rPr kumimoji="1" lang="zh-CN" altLang="en-US" sz="2400" b="1" dirty="0">
                <a:solidFill>
                  <a:srgbClr val="0000FF"/>
                </a:solidFill>
                <a:latin typeface="Times New Roman" pitchFamily="18" charset="0"/>
                <a:ea typeface="+mn-ea"/>
                <a:cs typeface="Times New Roman" pitchFamily="18" charset="0"/>
              </a:rPr>
              <a:t>熵的单位是：　</a:t>
            </a:r>
            <a:r>
              <a:rPr kumimoji="1" lang="en-US" altLang="zh-CN" sz="2400" b="1" dirty="0">
                <a:solidFill>
                  <a:srgbClr val="0000FF"/>
                </a:solidFill>
                <a:latin typeface="Times New Roman" pitchFamily="18" charset="0"/>
                <a:ea typeface="+mn-ea"/>
                <a:cs typeface="Times New Roman" pitchFamily="18" charset="0"/>
              </a:rPr>
              <a:t>J</a:t>
            </a:r>
            <a:r>
              <a:rPr kumimoji="1" lang="en-US" altLang="zh-CN" sz="2400" b="1" dirty="0">
                <a:solidFill>
                  <a:srgbClr val="0000FF"/>
                </a:solidFill>
                <a:latin typeface="Times New Roman" pitchFamily="18" charset="0"/>
                <a:ea typeface="+mn-ea"/>
                <a:cs typeface="Times New Roman" pitchFamily="18" charset="0"/>
                <a:sym typeface="Symbol" pitchFamily="18" charset="2"/>
              </a:rPr>
              <a:t></a:t>
            </a:r>
            <a:r>
              <a:rPr kumimoji="1" lang="en-US" altLang="zh-CN" sz="2400" b="1" dirty="0">
                <a:solidFill>
                  <a:srgbClr val="0000FF"/>
                </a:solidFill>
                <a:latin typeface="Times New Roman" pitchFamily="18" charset="0"/>
                <a:ea typeface="+mn-ea"/>
                <a:cs typeface="Times New Roman" pitchFamily="18" charset="0"/>
              </a:rPr>
              <a:t>K</a:t>
            </a:r>
            <a:r>
              <a:rPr kumimoji="1" lang="en-US" altLang="zh-CN" sz="2400" b="1" baseline="30000" dirty="0">
                <a:solidFill>
                  <a:srgbClr val="0000FF"/>
                </a:solidFill>
                <a:latin typeface="Times New Roman" pitchFamily="18" charset="0"/>
                <a:ea typeface="+mn-ea"/>
                <a:cs typeface="Times New Roman" pitchFamily="18" charset="0"/>
              </a:rPr>
              <a:t>-1</a:t>
            </a:r>
          </a:p>
        </p:txBody>
      </p:sp>
      <p:sp>
        <p:nvSpPr>
          <p:cNvPr id="342029" name="Rectangle 13"/>
          <p:cNvSpPr>
            <a:spLocks noChangeArrowheads="1"/>
          </p:cNvSpPr>
          <p:nvPr/>
        </p:nvSpPr>
        <p:spPr bwMode="auto">
          <a:xfrm>
            <a:off x="142875" y="4214813"/>
            <a:ext cx="3600450" cy="506412"/>
          </a:xfrm>
          <a:prstGeom prst="rect">
            <a:avLst/>
          </a:prstGeom>
          <a:noFill/>
          <a:ln w="9525">
            <a:noFill/>
            <a:miter lim="800000"/>
            <a:headEnd/>
            <a:tailEnd/>
          </a:ln>
        </p:spPr>
        <p:txBody>
          <a:bodyPr>
            <a:spAutoFit/>
          </a:bodyPr>
          <a:lstStyle/>
          <a:p>
            <a:pPr>
              <a:lnSpc>
                <a:spcPct val="125000"/>
              </a:lnSpc>
              <a:defRPr/>
            </a:pPr>
            <a:r>
              <a:rPr kumimoji="1" lang="en-US" altLang="zh-CN" sz="2400" b="1" dirty="0">
                <a:solidFill>
                  <a:srgbClr val="0000FF"/>
                </a:solidFill>
                <a:latin typeface="Times New Roman" pitchFamily="18" charset="0"/>
                <a:ea typeface="+mn-ea"/>
                <a:cs typeface="Times New Roman" pitchFamily="18" charset="0"/>
              </a:rPr>
              <a:t>(4) </a:t>
            </a:r>
            <a:r>
              <a:rPr kumimoji="1" lang="zh-CN" altLang="en-US" sz="2400" b="1" dirty="0">
                <a:solidFill>
                  <a:srgbClr val="0000FF"/>
                </a:solidFill>
                <a:latin typeface="Times New Roman" pitchFamily="18" charset="0"/>
                <a:ea typeface="+mn-ea"/>
                <a:cs typeface="Times New Roman" pitchFamily="18" charset="0"/>
              </a:rPr>
              <a:t>熵的统计意义：</a:t>
            </a:r>
          </a:p>
        </p:txBody>
      </p:sp>
      <p:sp>
        <p:nvSpPr>
          <p:cNvPr id="342030" name="Rectangle 14"/>
          <p:cNvSpPr>
            <a:spLocks noChangeArrowheads="1"/>
          </p:cNvSpPr>
          <p:nvPr/>
        </p:nvSpPr>
        <p:spPr bwMode="auto">
          <a:xfrm>
            <a:off x="428625" y="4714875"/>
            <a:ext cx="7929563" cy="854075"/>
          </a:xfrm>
          <a:prstGeom prst="rect">
            <a:avLst/>
          </a:prstGeom>
          <a:noFill/>
          <a:ln w="9525">
            <a:noFill/>
            <a:miter lim="800000"/>
            <a:headEnd/>
            <a:tailEnd/>
          </a:ln>
        </p:spPr>
        <p:txBody>
          <a:bodyPr>
            <a:spAutoFit/>
          </a:bodyPr>
          <a:lstStyle/>
          <a:p>
            <a:pPr>
              <a:lnSpc>
                <a:spcPct val="125000"/>
              </a:lnSpc>
              <a:defRPr/>
            </a:pPr>
            <a:r>
              <a:rPr kumimoji="1" lang="zh-CN" altLang="en-US" sz="2000" b="1" dirty="0">
                <a:latin typeface="Times New Roman" pitchFamily="18" charset="0"/>
                <a:ea typeface="+mn-ea"/>
                <a:cs typeface="Times New Roman" pitchFamily="18" charset="0"/>
              </a:rPr>
              <a:t>         一个系统的熵是该系统的可能微观态的量度，是系统内分子热运动的无序性的一种量度。</a:t>
            </a:r>
          </a:p>
        </p:txBody>
      </p:sp>
      <p:sp>
        <p:nvSpPr>
          <p:cNvPr id="12" name="Text Box 8"/>
          <p:cNvSpPr txBox="1">
            <a:spLocks noChangeArrowheads="1"/>
          </p:cNvSpPr>
          <p:nvPr/>
        </p:nvSpPr>
        <p:spPr bwMode="auto">
          <a:xfrm>
            <a:off x="214313" y="5614988"/>
            <a:ext cx="7056437"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(5) </a:t>
            </a:r>
            <a:r>
              <a:rPr kumimoji="1" lang="zh-CN" altLang="en-US" sz="2400" b="1" dirty="0">
                <a:solidFill>
                  <a:srgbClr val="0000FF"/>
                </a:solidFill>
                <a:latin typeface="Times New Roman" pitchFamily="18" charset="0"/>
                <a:ea typeface="+mn-ea"/>
                <a:cs typeface="Times New Roman" pitchFamily="18" charset="0"/>
              </a:rPr>
              <a:t>熵是一个宏观量</a:t>
            </a:r>
            <a:r>
              <a:rPr lang="zh-CN" altLang="en-US" sz="2400" b="1" dirty="0">
                <a:solidFill>
                  <a:srgbClr val="0000FF"/>
                </a:solidFill>
                <a:latin typeface="Times New Roman" pitchFamily="18" charset="0"/>
                <a:ea typeface="+mn-ea"/>
                <a:cs typeface="Times New Roman" pitchFamily="18" charset="0"/>
              </a:rPr>
              <a:t>，</a:t>
            </a:r>
            <a:r>
              <a:rPr kumimoji="1" lang="zh-CN" altLang="en-US" sz="2400" b="1" dirty="0">
                <a:solidFill>
                  <a:srgbClr val="0000FF"/>
                </a:solidFill>
                <a:latin typeface="Times New Roman" pitchFamily="18" charset="0"/>
                <a:ea typeface="+mn-ea"/>
                <a:cs typeface="Times New Roman" pitchFamily="18" charset="0"/>
              </a:rPr>
              <a:t>对大量的分子才有意义。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42022"/>
                                        </p:tgtEl>
                                        <p:attrNameLst>
                                          <p:attrName>style.visibility</p:attrName>
                                        </p:attrNameLst>
                                      </p:cBhvr>
                                      <p:to>
                                        <p:strVal val="visible"/>
                                      </p:to>
                                    </p:set>
                                    <p:anim calcmode="lin" valueType="num">
                                      <p:cBhvr>
                                        <p:cTn id="7" dur="500" fill="hold"/>
                                        <p:tgtEl>
                                          <p:spTgt spid="342022"/>
                                        </p:tgtEl>
                                        <p:attrNameLst>
                                          <p:attrName>ppt_w</p:attrName>
                                        </p:attrNameLst>
                                      </p:cBhvr>
                                      <p:tavLst>
                                        <p:tav tm="0">
                                          <p:val>
                                            <p:fltVal val="0"/>
                                          </p:val>
                                        </p:tav>
                                        <p:tav tm="100000">
                                          <p:val>
                                            <p:strVal val="#ppt_w"/>
                                          </p:val>
                                        </p:tav>
                                      </p:tavLst>
                                    </p:anim>
                                    <p:anim calcmode="lin" valueType="num">
                                      <p:cBhvr>
                                        <p:cTn id="8" dur="500" fill="hold"/>
                                        <p:tgtEl>
                                          <p:spTgt spid="34202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42021"/>
                                        </p:tgtEl>
                                        <p:attrNameLst>
                                          <p:attrName>style.visibility</p:attrName>
                                        </p:attrNameLst>
                                      </p:cBhvr>
                                      <p:to>
                                        <p:strVal val="visible"/>
                                      </p:to>
                                    </p:set>
                                    <p:animEffect transition="in" filter="wipe(left)">
                                      <p:cBhvr>
                                        <p:cTn id="12" dur="500"/>
                                        <p:tgtEl>
                                          <p:spTgt spid="3420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2020"/>
                                        </p:tgtEl>
                                        <p:attrNameLst>
                                          <p:attrName>style.visibility</p:attrName>
                                        </p:attrNameLst>
                                      </p:cBhvr>
                                      <p:to>
                                        <p:strVal val="visible"/>
                                      </p:to>
                                    </p:set>
                                    <p:animEffect transition="in" filter="wipe(left)">
                                      <p:cBhvr>
                                        <p:cTn id="17" dur="500"/>
                                        <p:tgtEl>
                                          <p:spTgt spid="3420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2024"/>
                                        </p:tgtEl>
                                        <p:attrNameLst>
                                          <p:attrName>style.visibility</p:attrName>
                                        </p:attrNameLst>
                                      </p:cBhvr>
                                      <p:to>
                                        <p:strVal val="visible"/>
                                      </p:to>
                                    </p:set>
                                    <p:animEffect transition="in" filter="wipe(left)">
                                      <p:cBhvr>
                                        <p:cTn id="22" dur="500"/>
                                        <p:tgtEl>
                                          <p:spTgt spid="3420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2025"/>
                                        </p:tgtEl>
                                        <p:attrNameLst>
                                          <p:attrName>style.visibility</p:attrName>
                                        </p:attrNameLst>
                                      </p:cBhvr>
                                      <p:to>
                                        <p:strVal val="visible"/>
                                      </p:to>
                                    </p:set>
                                    <p:animEffect transition="in" filter="wipe(left)">
                                      <p:cBhvr>
                                        <p:cTn id="27" dur="500"/>
                                        <p:tgtEl>
                                          <p:spTgt spid="3420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42027"/>
                                        </p:tgtEl>
                                        <p:attrNameLst>
                                          <p:attrName>style.visibility</p:attrName>
                                        </p:attrNameLst>
                                      </p:cBhvr>
                                      <p:to>
                                        <p:strVal val="visible"/>
                                      </p:to>
                                    </p:set>
                                    <p:animEffect transition="in" filter="wipe(left)">
                                      <p:cBhvr>
                                        <p:cTn id="32" dur="500"/>
                                        <p:tgtEl>
                                          <p:spTgt spid="3420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2028"/>
                                        </p:tgtEl>
                                        <p:attrNameLst>
                                          <p:attrName>style.visibility</p:attrName>
                                        </p:attrNameLst>
                                      </p:cBhvr>
                                      <p:to>
                                        <p:strVal val="visible"/>
                                      </p:to>
                                    </p:set>
                                    <p:animEffect transition="in" filter="wipe(left)">
                                      <p:cBhvr>
                                        <p:cTn id="37" dur="500"/>
                                        <p:tgtEl>
                                          <p:spTgt spid="3420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2029"/>
                                        </p:tgtEl>
                                        <p:attrNameLst>
                                          <p:attrName>style.visibility</p:attrName>
                                        </p:attrNameLst>
                                      </p:cBhvr>
                                      <p:to>
                                        <p:strVal val="visible"/>
                                      </p:to>
                                    </p:set>
                                    <p:animEffect transition="in" filter="wipe(left)">
                                      <p:cBhvr>
                                        <p:cTn id="42" dur="500"/>
                                        <p:tgtEl>
                                          <p:spTgt spid="3420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2030"/>
                                        </p:tgtEl>
                                        <p:attrNameLst>
                                          <p:attrName>style.visibility</p:attrName>
                                        </p:attrNameLst>
                                      </p:cBhvr>
                                      <p:to>
                                        <p:strVal val="visible"/>
                                      </p:to>
                                    </p:set>
                                    <p:animEffect transition="in" filter="wipe(left)">
                                      <p:cBhvr>
                                        <p:cTn id="47" dur="500"/>
                                        <p:tgtEl>
                                          <p:spTgt spid="3420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0" grpId="0" autoUpdateAnimBg="0"/>
      <p:bldP spid="342021" grpId="0"/>
      <p:bldP spid="342022" grpId="0" animBg="1"/>
      <p:bldP spid="342024" grpId="0"/>
      <p:bldP spid="342025" grpId="0"/>
      <p:bldP spid="342028" grpId="0"/>
      <p:bldP spid="342029" grpId="0"/>
      <p:bldP spid="342030" grpId="0"/>
      <p:bldP spid="1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902" name="Text Box 6"/>
          <p:cNvSpPr txBox="1">
            <a:spLocks noChangeArrowheads="1"/>
          </p:cNvSpPr>
          <p:nvPr/>
        </p:nvSpPr>
        <p:spPr bwMode="auto">
          <a:xfrm>
            <a:off x="214313" y="357188"/>
            <a:ext cx="2873375" cy="517525"/>
          </a:xfrm>
          <a:prstGeom prst="rect">
            <a:avLst/>
          </a:prstGeom>
          <a:noFill/>
          <a:ln w="9525">
            <a:noFill/>
            <a:miter lim="800000"/>
            <a:headEnd/>
            <a:tailEnd/>
          </a:ln>
        </p:spPr>
        <p:txBody>
          <a:bodyPr>
            <a:spAutoFit/>
          </a:bodyPr>
          <a:lstStyle/>
          <a:p>
            <a:pPr>
              <a:lnSpc>
                <a:spcPct val="115000"/>
              </a:lnSpc>
              <a:defRPr/>
            </a:pPr>
            <a:r>
              <a:rPr kumimoji="1" lang="en-US" altLang="zh-CN" sz="2400" b="1" dirty="0">
                <a:solidFill>
                  <a:srgbClr val="FF0000"/>
                </a:solidFill>
                <a:latin typeface="Times New Roman" pitchFamily="18" charset="0"/>
                <a:ea typeface="+mn-ea"/>
                <a:cs typeface="Times New Roman" pitchFamily="18" charset="0"/>
              </a:rPr>
              <a:t> 2</a:t>
            </a:r>
            <a:r>
              <a:rPr kumimoji="1" lang="zh-CN" altLang="en-US" sz="2400" b="1" dirty="0">
                <a:solidFill>
                  <a:srgbClr val="FF0000"/>
                </a:solidFill>
                <a:latin typeface="Times New Roman" pitchFamily="18" charset="0"/>
                <a:ea typeface="+mn-ea"/>
                <a:cs typeface="Times New Roman" pitchFamily="18" charset="0"/>
              </a:rPr>
              <a:t>、熵增加原理</a:t>
            </a:r>
          </a:p>
        </p:txBody>
      </p:sp>
      <p:sp>
        <p:nvSpPr>
          <p:cNvPr id="336903" name="Oval 7"/>
          <p:cNvSpPr>
            <a:spLocks noChangeArrowheads="1"/>
          </p:cNvSpPr>
          <p:nvPr/>
        </p:nvSpPr>
        <p:spPr bwMode="auto">
          <a:xfrm>
            <a:off x="2127250" y="1774825"/>
            <a:ext cx="914400" cy="838200"/>
          </a:xfrm>
          <a:prstGeom prst="ellipse">
            <a:avLst/>
          </a:prstGeom>
          <a:gradFill rotWithShape="1">
            <a:gsLst>
              <a:gs pos="0">
                <a:srgbClr val="66FF66"/>
              </a:gs>
              <a:gs pos="100000">
                <a:srgbClr val="2F762F"/>
              </a:gs>
            </a:gsLst>
            <a:path path="shape">
              <a:fillToRect l="50000" t="50000" r="50000" b="50000"/>
            </a:path>
          </a:gradFill>
          <a:ln w="9525">
            <a:solidFill>
              <a:srgbClr val="008000"/>
            </a:solidFill>
            <a:round/>
            <a:headEnd/>
            <a:tailEnd/>
          </a:ln>
        </p:spPr>
        <p:txBody>
          <a:bodyPr wrap="none" anchor="ctr"/>
          <a:lstStyle/>
          <a:p>
            <a:pPr algn="ctr">
              <a:lnSpc>
                <a:spcPct val="115000"/>
              </a:lnSpc>
              <a:defRPr/>
            </a:pPr>
            <a:r>
              <a:rPr kumimoji="1" lang="en-US" altLang="zh-CN" sz="2400" b="1">
                <a:latin typeface="Times New Roman" pitchFamily="18" charset="0"/>
                <a:ea typeface="+mn-ea"/>
                <a:cs typeface="Times New Roman" pitchFamily="18" charset="0"/>
              </a:rPr>
              <a:t>Ω</a:t>
            </a:r>
            <a:r>
              <a:rPr kumimoji="1" lang="en-US" altLang="zh-CN" sz="2400" b="1" baseline="-25000">
                <a:latin typeface="Times New Roman" pitchFamily="18" charset="0"/>
                <a:ea typeface="+mn-ea"/>
                <a:cs typeface="Times New Roman" pitchFamily="18" charset="0"/>
              </a:rPr>
              <a:t>1</a:t>
            </a:r>
          </a:p>
        </p:txBody>
      </p:sp>
      <p:sp>
        <p:nvSpPr>
          <p:cNvPr id="336904" name="Line 8"/>
          <p:cNvSpPr>
            <a:spLocks noChangeShapeType="1"/>
          </p:cNvSpPr>
          <p:nvPr/>
        </p:nvSpPr>
        <p:spPr bwMode="auto">
          <a:xfrm>
            <a:off x="3179763" y="2239963"/>
            <a:ext cx="3124200" cy="0"/>
          </a:xfrm>
          <a:prstGeom prst="line">
            <a:avLst/>
          </a:prstGeom>
          <a:noFill/>
          <a:ln w="57150">
            <a:solidFill>
              <a:srgbClr val="0000FF"/>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336905" name="Oval 9"/>
          <p:cNvSpPr>
            <a:spLocks noChangeArrowheads="1"/>
          </p:cNvSpPr>
          <p:nvPr/>
        </p:nvSpPr>
        <p:spPr bwMode="auto">
          <a:xfrm>
            <a:off x="6375400" y="1782763"/>
            <a:ext cx="914400" cy="838200"/>
          </a:xfrm>
          <a:prstGeom prst="ellipse">
            <a:avLst/>
          </a:prstGeom>
          <a:gradFill rotWithShape="1">
            <a:gsLst>
              <a:gs pos="0">
                <a:srgbClr val="FF99FF"/>
              </a:gs>
              <a:gs pos="100000">
                <a:srgbClr val="764776"/>
              </a:gs>
            </a:gsLst>
            <a:path path="shape">
              <a:fillToRect l="50000" t="50000" r="50000" b="50000"/>
            </a:path>
          </a:gradFill>
          <a:ln w="9525">
            <a:solidFill>
              <a:srgbClr val="993366"/>
            </a:solidFill>
            <a:round/>
            <a:headEnd/>
            <a:tailEnd/>
          </a:ln>
        </p:spPr>
        <p:txBody>
          <a:bodyPr wrap="none" anchor="ctr"/>
          <a:lstStyle/>
          <a:p>
            <a:pPr algn="ctr">
              <a:lnSpc>
                <a:spcPct val="115000"/>
              </a:lnSpc>
              <a:defRPr/>
            </a:pPr>
            <a:r>
              <a:rPr kumimoji="1" lang="en-US" altLang="zh-CN" sz="2400" b="1">
                <a:latin typeface="Times New Roman" pitchFamily="18" charset="0"/>
                <a:ea typeface="+mn-ea"/>
                <a:cs typeface="Times New Roman" pitchFamily="18" charset="0"/>
              </a:rPr>
              <a:t>Ω</a:t>
            </a:r>
            <a:r>
              <a:rPr kumimoji="1" lang="en-US" altLang="zh-CN" sz="2400" b="1" baseline="-25000">
                <a:latin typeface="Times New Roman" pitchFamily="18" charset="0"/>
                <a:ea typeface="+mn-ea"/>
                <a:cs typeface="Times New Roman" pitchFamily="18" charset="0"/>
              </a:rPr>
              <a:t>2</a:t>
            </a:r>
          </a:p>
        </p:txBody>
      </p:sp>
      <p:sp>
        <p:nvSpPr>
          <p:cNvPr id="336906" name="Rectangle 10"/>
          <p:cNvSpPr>
            <a:spLocks noChangeArrowheads="1"/>
          </p:cNvSpPr>
          <p:nvPr/>
        </p:nvSpPr>
        <p:spPr bwMode="auto">
          <a:xfrm>
            <a:off x="3416300" y="1684338"/>
            <a:ext cx="2655888" cy="517525"/>
          </a:xfrm>
          <a:prstGeom prst="rect">
            <a:avLst/>
          </a:prstGeom>
          <a:noFill/>
          <a:ln w="9525">
            <a:noFill/>
            <a:miter lim="800000"/>
            <a:headEnd/>
            <a:tailEnd/>
          </a:ln>
        </p:spPr>
        <p:txBody>
          <a:bodyPr>
            <a:spAutoFit/>
          </a:bodyPr>
          <a:lstStyle/>
          <a:p>
            <a:pPr>
              <a:lnSpc>
                <a:spcPct val="115000"/>
              </a:lnSpc>
              <a:defRPr/>
            </a:pPr>
            <a:r>
              <a:rPr kumimoji="1" lang="en-US" altLang="zh-CN" sz="2400" b="1" dirty="0">
                <a:solidFill>
                  <a:srgbClr val="CC0000"/>
                </a:solidFill>
                <a:latin typeface="Times New Roman" pitchFamily="18" charset="0"/>
                <a:ea typeface="+mn-ea"/>
                <a:cs typeface="Times New Roman" pitchFamily="18" charset="0"/>
              </a:rPr>
              <a:t>Ω</a:t>
            </a:r>
            <a:r>
              <a:rPr kumimoji="1" lang="en-US" altLang="zh-CN" sz="2400" b="1" baseline="-25000" dirty="0">
                <a:solidFill>
                  <a:srgbClr val="CC0000"/>
                </a:solidFill>
                <a:latin typeface="Times New Roman" pitchFamily="18" charset="0"/>
                <a:ea typeface="+mn-ea"/>
                <a:cs typeface="Times New Roman" pitchFamily="18" charset="0"/>
              </a:rPr>
              <a:t>2 </a:t>
            </a:r>
            <a:r>
              <a:rPr kumimoji="1" lang="en-US" altLang="zh-CN" sz="2400" b="1" dirty="0">
                <a:solidFill>
                  <a:srgbClr val="CC0000"/>
                </a:solidFill>
                <a:latin typeface="Times New Roman" pitchFamily="18" charset="0"/>
                <a:ea typeface="+mn-ea"/>
                <a:cs typeface="Times New Roman" pitchFamily="18" charset="0"/>
              </a:rPr>
              <a:t>&gt; Ω</a:t>
            </a:r>
            <a:r>
              <a:rPr kumimoji="1" lang="en-US" altLang="zh-CN" sz="2400" b="1" baseline="-25000" dirty="0">
                <a:solidFill>
                  <a:srgbClr val="CC0000"/>
                </a:solidFill>
                <a:latin typeface="Times New Roman" pitchFamily="18" charset="0"/>
                <a:ea typeface="+mn-ea"/>
                <a:cs typeface="Times New Roman" pitchFamily="18" charset="0"/>
              </a:rPr>
              <a:t>1 </a:t>
            </a:r>
            <a:r>
              <a:rPr kumimoji="1" lang="en-US" altLang="zh-CN" sz="2400" b="1" dirty="0">
                <a:solidFill>
                  <a:srgbClr val="CC0000"/>
                </a:solidFill>
                <a:latin typeface="Times New Roman" pitchFamily="18" charset="0"/>
                <a:ea typeface="+mn-ea"/>
                <a:cs typeface="Times New Roman" pitchFamily="18" charset="0"/>
              </a:rPr>
              <a:t>(</a:t>
            </a:r>
            <a:r>
              <a:rPr kumimoji="1" lang="zh-CN" altLang="en-US" sz="2000" b="1" dirty="0">
                <a:solidFill>
                  <a:srgbClr val="CC0000"/>
                </a:solidFill>
                <a:latin typeface="Times New Roman" pitchFamily="18" charset="0"/>
                <a:ea typeface="+mn-ea"/>
                <a:cs typeface="Times New Roman" pitchFamily="18" charset="0"/>
              </a:rPr>
              <a:t>自动进行</a:t>
            </a:r>
            <a:r>
              <a:rPr kumimoji="1" lang="en-US" altLang="zh-CN" sz="2000" b="1" dirty="0">
                <a:solidFill>
                  <a:srgbClr val="CC0000"/>
                </a:solidFill>
                <a:latin typeface="Times New Roman" pitchFamily="18" charset="0"/>
                <a:ea typeface="+mn-ea"/>
                <a:cs typeface="Times New Roman" pitchFamily="18" charset="0"/>
              </a:rPr>
              <a:t>)</a:t>
            </a:r>
          </a:p>
        </p:txBody>
      </p:sp>
      <p:sp>
        <p:nvSpPr>
          <p:cNvPr id="336907" name="Rectangle 11"/>
          <p:cNvSpPr>
            <a:spLocks noChangeArrowheads="1"/>
          </p:cNvSpPr>
          <p:nvPr/>
        </p:nvSpPr>
        <p:spPr bwMode="auto">
          <a:xfrm>
            <a:off x="657225" y="2006600"/>
            <a:ext cx="2360613" cy="446088"/>
          </a:xfrm>
          <a:prstGeom prst="rect">
            <a:avLst/>
          </a:prstGeom>
          <a:noFill/>
          <a:ln w="9525">
            <a:noFill/>
            <a:miter lim="800000"/>
            <a:headEnd/>
            <a:tailEnd/>
          </a:ln>
        </p:spPr>
        <p:txBody>
          <a:bodyPr>
            <a:spAutoFit/>
          </a:bodyPr>
          <a:lstStyle/>
          <a:p>
            <a:pPr>
              <a:lnSpc>
                <a:spcPct val="115000"/>
              </a:lnSpc>
              <a:defRPr/>
            </a:pPr>
            <a:r>
              <a:rPr kumimoji="1" lang="zh-CN" altLang="en-US" sz="2000" b="1" dirty="0">
                <a:solidFill>
                  <a:srgbClr val="0000FF"/>
                </a:solidFill>
                <a:latin typeface="Times New Roman" pitchFamily="18" charset="0"/>
                <a:ea typeface="+mn-ea"/>
                <a:cs typeface="Times New Roman" pitchFamily="18" charset="0"/>
              </a:rPr>
              <a:t>孤立系统</a:t>
            </a:r>
          </a:p>
        </p:txBody>
      </p:sp>
      <p:graphicFrame>
        <p:nvGraphicFramePr>
          <p:cNvPr id="336908" name="Object 12"/>
          <p:cNvGraphicFramePr>
            <a:graphicFrameLocks noChangeAspect="1"/>
          </p:cNvGraphicFramePr>
          <p:nvPr/>
        </p:nvGraphicFramePr>
        <p:xfrm>
          <a:off x="1962150" y="2673350"/>
          <a:ext cx="1392238" cy="388938"/>
        </p:xfrm>
        <a:graphic>
          <a:graphicData uri="http://schemas.openxmlformats.org/presentationml/2006/ole">
            <p:oleObj spid="_x0000_s75778" name="公式" r:id="rId4" imgW="774360" imgH="215640" progId="Equation.3">
              <p:embed/>
            </p:oleObj>
          </a:graphicData>
        </a:graphic>
      </p:graphicFrame>
      <p:graphicFrame>
        <p:nvGraphicFramePr>
          <p:cNvPr id="336909" name="Object 13"/>
          <p:cNvGraphicFramePr>
            <a:graphicFrameLocks noChangeAspect="1"/>
          </p:cNvGraphicFramePr>
          <p:nvPr/>
        </p:nvGraphicFramePr>
        <p:xfrm>
          <a:off x="6192838" y="2673350"/>
          <a:ext cx="1436687" cy="388938"/>
        </p:xfrm>
        <a:graphic>
          <a:graphicData uri="http://schemas.openxmlformats.org/presentationml/2006/ole">
            <p:oleObj spid="_x0000_s75779" name="公式" r:id="rId5" imgW="799920" imgH="215640" progId="Equation.3">
              <p:embed/>
            </p:oleObj>
          </a:graphicData>
        </a:graphic>
      </p:graphicFrame>
      <p:sp>
        <p:nvSpPr>
          <p:cNvPr id="336911" name="Text Box 15"/>
          <p:cNvSpPr txBox="1">
            <a:spLocks noChangeArrowheads="1"/>
          </p:cNvSpPr>
          <p:nvPr/>
        </p:nvSpPr>
        <p:spPr bwMode="auto">
          <a:xfrm>
            <a:off x="566738" y="3338513"/>
            <a:ext cx="7426325" cy="512762"/>
          </a:xfrm>
          <a:prstGeom prst="rect">
            <a:avLst/>
          </a:prstGeom>
          <a:noFill/>
          <a:ln w="9525">
            <a:noFill/>
            <a:miter lim="800000"/>
            <a:headEnd/>
            <a:tailEnd/>
          </a:ln>
        </p:spPr>
        <p:txBody>
          <a:bodyPr>
            <a:spAutoFit/>
          </a:bodyPr>
          <a:lstStyle/>
          <a:p>
            <a:pPr>
              <a:lnSpc>
                <a:spcPct val="115000"/>
              </a:lnSpc>
              <a:defRPr/>
            </a:pPr>
            <a:r>
              <a:rPr lang="zh-CN" altLang="en-US" sz="2400" b="1" dirty="0">
                <a:latin typeface="Times New Roman" pitchFamily="18" charset="0"/>
                <a:ea typeface="+mn-ea"/>
                <a:cs typeface="Times New Roman" pitchFamily="18" charset="0"/>
              </a:rPr>
              <a:t>从</a:t>
            </a:r>
            <a:r>
              <a:rPr lang="zh-CN" altLang="en-US" sz="2400" b="1" dirty="0">
                <a:solidFill>
                  <a:srgbClr val="FF3300"/>
                </a:solidFill>
                <a:latin typeface="Times New Roman" pitchFamily="18" charset="0"/>
                <a:ea typeface="+mn-ea"/>
                <a:cs typeface="Times New Roman" pitchFamily="18" charset="0"/>
              </a:rPr>
              <a:t>状态 </a:t>
            </a:r>
            <a:r>
              <a:rPr kumimoji="1" lang="en-US" altLang="zh-CN" sz="2400" b="1" dirty="0">
                <a:solidFill>
                  <a:srgbClr val="FF3300"/>
                </a:solidFill>
                <a:latin typeface="Times New Roman" pitchFamily="18" charset="0"/>
                <a:ea typeface="+mn-ea"/>
                <a:cs typeface="Times New Roman" pitchFamily="18" charset="0"/>
              </a:rPr>
              <a:t>(1)</a:t>
            </a:r>
            <a:r>
              <a:rPr kumimoji="1"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变化到</a:t>
            </a:r>
            <a:r>
              <a:rPr lang="zh-CN" altLang="en-US" sz="2400" b="1" dirty="0">
                <a:solidFill>
                  <a:srgbClr val="FF3300"/>
                </a:solidFill>
                <a:latin typeface="Times New Roman" pitchFamily="18" charset="0"/>
                <a:ea typeface="+mn-ea"/>
                <a:cs typeface="Times New Roman" pitchFamily="18" charset="0"/>
              </a:rPr>
              <a:t>状态 </a:t>
            </a:r>
            <a:r>
              <a:rPr kumimoji="1" lang="en-US" altLang="zh-CN" sz="2400" b="1" dirty="0">
                <a:solidFill>
                  <a:srgbClr val="FF3300"/>
                </a:solidFill>
                <a:latin typeface="Times New Roman" pitchFamily="18" charset="0"/>
                <a:ea typeface="+mn-ea"/>
                <a:cs typeface="Times New Roman" pitchFamily="18" charset="0"/>
              </a:rPr>
              <a:t>(2)</a:t>
            </a:r>
            <a:r>
              <a:rPr kumimoji="1"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的过程中，</a:t>
            </a:r>
            <a:r>
              <a:rPr kumimoji="1" lang="zh-CN" altLang="en-US" sz="2400" b="1" dirty="0">
                <a:latin typeface="Times New Roman" pitchFamily="18" charset="0"/>
                <a:ea typeface="+mn-ea"/>
                <a:cs typeface="Times New Roman" pitchFamily="18" charset="0"/>
              </a:rPr>
              <a:t>熵</a:t>
            </a:r>
            <a:r>
              <a:rPr lang="zh-CN" altLang="en-US" sz="2400" b="1" dirty="0">
                <a:latin typeface="Times New Roman" pitchFamily="18" charset="0"/>
                <a:ea typeface="+mn-ea"/>
                <a:cs typeface="Times New Roman" pitchFamily="18" charset="0"/>
              </a:rPr>
              <a:t>的增量为</a:t>
            </a:r>
          </a:p>
        </p:txBody>
      </p:sp>
      <p:graphicFrame>
        <p:nvGraphicFramePr>
          <p:cNvPr id="336912" name="Object 16"/>
          <p:cNvGraphicFramePr>
            <a:graphicFrameLocks noChangeAspect="1"/>
          </p:cNvGraphicFramePr>
          <p:nvPr/>
        </p:nvGraphicFramePr>
        <p:xfrm>
          <a:off x="1376363" y="3884613"/>
          <a:ext cx="2320925" cy="758825"/>
        </p:xfrm>
        <a:graphic>
          <a:graphicData uri="http://schemas.openxmlformats.org/presentationml/2006/ole">
            <p:oleObj spid="_x0000_s75780" name="公式" r:id="rId6" imgW="1358640" imgH="444240" progId="Equation.3">
              <p:embed/>
            </p:oleObj>
          </a:graphicData>
        </a:graphic>
      </p:graphicFrame>
      <p:sp>
        <p:nvSpPr>
          <p:cNvPr id="336913" name="Text Box 17"/>
          <p:cNvSpPr txBox="1">
            <a:spLocks noChangeArrowheads="1"/>
          </p:cNvSpPr>
          <p:nvPr/>
        </p:nvSpPr>
        <p:spPr bwMode="auto">
          <a:xfrm>
            <a:off x="4032250" y="4013200"/>
            <a:ext cx="3735388" cy="457200"/>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a:t>
            </a:r>
            <a:r>
              <a:rPr kumimoji="1" lang="zh-CN" altLang="en-US" sz="2000" b="1" dirty="0">
                <a:solidFill>
                  <a:srgbClr val="0000FF"/>
                </a:solidFill>
                <a:latin typeface="Times New Roman" pitchFamily="18" charset="0"/>
                <a:ea typeface="+mn-ea"/>
                <a:cs typeface="Times New Roman" pitchFamily="18" charset="0"/>
              </a:rPr>
              <a:t>等号仅适用于可逆过程</a:t>
            </a:r>
            <a:r>
              <a:rPr kumimoji="1" lang="en-US" altLang="zh-CN" sz="2400" b="1" dirty="0">
                <a:solidFill>
                  <a:srgbClr val="0000FF"/>
                </a:solidFill>
                <a:latin typeface="Times New Roman" pitchFamily="18" charset="0"/>
                <a:ea typeface="+mn-ea"/>
                <a:cs typeface="Times New Roman" pitchFamily="18" charset="0"/>
              </a:rPr>
              <a:t>)</a:t>
            </a:r>
          </a:p>
        </p:txBody>
      </p:sp>
      <p:sp>
        <p:nvSpPr>
          <p:cNvPr id="18" name="Rectangle 4"/>
          <p:cNvSpPr>
            <a:spLocks noChangeArrowheads="1"/>
          </p:cNvSpPr>
          <p:nvPr/>
        </p:nvSpPr>
        <p:spPr bwMode="auto">
          <a:xfrm>
            <a:off x="857250" y="928688"/>
            <a:ext cx="7745413" cy="504825"/>
          </a:xfrm>
          <a:prstGeom prst="rect">
            <a:avLst/>
          </a:prstGeom>
          <a:noFill/>
          <a:ln w="22225">
            <a:solidFill>
              <a:srgbClr val="FF0000"/>
            </a:solidFill>
            <a:miter lim="800000"/>
            <a:headEnd/>
            <a:tailEnd/>
          </a:ln>
        </p:spPr>
        <p:txBody>
          <a:bodyPr>
            <a:spAutoFit/>
          </a:bodyPr>
          <a:lstStyle/>
          <a:p>
            <a:pPr>
              <a:lnSpc>
                <a:spcPct val="125000"/>
              </a:lnSpc>
            </a:pPr>
            <a:r>
              <a:rPr kumimoji="1" lang="zh-CN" altLang="en-US" sz="2400" b="1"/>
              <a:t>孤立系统的熵永不会减少。这一结论称为</a:t>
            </a:r>
            <a:r>
              <a:rPr kumimoji="1" lang="zh-CN" altLang="en-US" sz="2400" b="1">
                <a:solidFill>
                  <a:srgbClr val="0000FF"/>
                </a:solidFill>
              </a:rPr>
              <a:t>熵增加原理。</a:t>
            </a:r>
          </a:p>
        </p:txBody>
      </p:sp>
      <p:sp>
        <p:nvSpPr>
          <p:cNvPr id="19" name="Text Box 19"/>
          <p:cNvSpPr txBox="1">
            <a:spLocks noChangeArrowheads="1"/>
          </p:cNvSpPr>
          <p:nvPr/>
        </p:nvSpPr>
        <p:spPr bwMode="auto">
          <a:xfrm>
            <a:off x="723900" y="4640263"/>
            <a:ext cx="2239963" cy="512762"/>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defRPr/>
            </a:pPr>
            <a:r>
              <a:rPr kumimoji="1" lang="zh-CN" altLang="en-US" sz="2400" b="1">
                <a:solidFill>
                  <a:srgbClr val="FF0000"/>
                </a:solidFill>
                <a:latin typeface="Times New Roman" pitchFamily="18" charset="0"/>
                <a:ea typeface="+mn-ea"/>
                <a:cs typeface="Times New Roman" pitchFamily="18" charset="0"/>
              </a:rPr>
              <a:t>说明</a:t>
            </a:r>
          </a:p>
        </p:txBody>
      </p:sp>
      <p:sp>
        <p:nvSpPr>
          <p:cNvPr id="20" name="Text Box 20"/>
          <p:cNvSpPr txBox="1">
            <a:spLocks noChangeArrowheads="1"/>
          </p:cNvSpPr>
          <p:nvPr/>
        </p:nvSpPr>
        <p:spPr bwMode="auto">
          <a:xfrm>
            <a:off x="498475" y="5180013"/>
            <a:ext cx="8101013" cy="517525"/>
          </a:xfrm>
          <a:prstGeom prst="rect">
            <a:avLst/>
          </a:prstGeom>
          <a:noFill/>
          <a:ln w="9525">
            <a:noFill/>
            <a:miter lim="800000"/>
            <a:headEnd/>
            <a:tailEnd/>
          </a:ln>
        </p:spPr>
        <p:txBody>
          <a:bodyPr>
            <a:spAutoFit/>
          </a:bodyPr>
          <a:lstStyle/>
          <a:p>
            <a:pPr>
              <a:lnSpc>
                <a:spcPct val="115000"/>
              </a:lnSpc>
              <a:defRPr/>
            </a:pPr>
            <a:r>
              <a:rPr kumimoji="1" lang="zh-CN" altLang="en-US" sz="2400" b="1" dirty="0">
                <a:latin typeface="Times New Roman" pitchFamily="18" charset="0"/>
                <a:ea typeface="+mn-ea"/>
                <a:cs typeface="Times New Roman" pitchFamily="18" charset="0"/>
              </a:rPr>
              <a:t>该原理只适于</a:t>
            </a:r>
            <a:r>
              <a:rPr kumimoji="1" lang="zh-CN" altLang="en-US" sz="2400" b="1" dirty="0">
                <a:solidFill>
                  <a:srgbClr val="0000FF"/>
                </a:solidFill>
                <a:latin typeface="Times New Roman" pitchFamily="18" charset="0"/>
                <a:ea typeface="+mn-ea"/>
                <a:cs typeface="Times New Roman" pitchFamily="18" charset="0"/>
              </a:rPr>
              <a:t>孤立系统</a:t>
            </a:r>
            <a:r>
              <a:rPr kumimoji="1" lang="zh-CN" altLang="en-US" sz="2400" b="1" dirty="0">
                <a:latin typeface="Times New Roman" pitchFamily="18" charset="0"/>
                <a:ea typeface="+mn-ea"/>
                <a:cs typeface="Times New Roman" pitchFamily="18" charset="0"/>
              </a:rPr>
              <a:t>，对于开放系统，熵是可以减少的。</a:t>
            </a:r>
          </a:p>
        </p:txBody>
      </p:sp>
      <p:sp>
        <p:nvSpPr>
          <p:cNvPr id="21" name="Text Box 21"/>
          <p:cNvSpPr txBox="1">
            <a:spLocks noChangeArrowheads="1"/>
          </p:cNvSpPr>
          <p:nvPr/>
        </p:nvSpPr>
        <p:spPr bwMode="auto">
          <a:xfrm>
            <a:off x="469900" y="5635625"/>
            <a:ext cx="7959725" cy="793750"/>
          </a:xfrm>
          <a:prstGeom prst="rect">
            <a:avLst/>
          </a:prstGeom>
          <a:noFill/>
          <a:ln w="9525">
            <a:noFill/>
            <a:miter lim="800000"/>
            <a:headEnd/>
            <a:tailEnd/>
          </a:ln>
        </p:spPr>
        <p:txBody>
          <a:bodyPr>
            <a:spAutoFit/>
          </a:bodyPr>
          <a:lstStyle/>
          <a:p>
            <a:pPr>
              <a:lnSpc>
                <a:spcPct val="115000"/>
              </a:lnSpc>
              <a:defRPr/>
            </a:pPr>
            <a:r>
              <a:rPr kumimoji="1" lang="zh-CN" altLang="en-US" sz="2000" b="1" dirty="0">
                <a:solidFill>
                  <a:srgbClr val="0000FF"/>
                </a:solidFill>
                <a:latin typeface="Times New Roman" pitchFamily="18" charset="0"/>
                <a:ea typeface="+mn-ea"/>
                <a:cs typeface="Times New Roman" pitchFamily="18" charset="0"/>
              </a:rPr>
              <a:t>        例如：某溶液在冷却过程中的结晶的现象。其内的分子从溶液中无序的运动转变为晶体的有规则排列，熵是减少的。</a:t>
            </a:r>
          </a:p>
        </p:txBody>
      </p:sp>
      <p:sp>
        <p:nvSpPr>
          <p:cNvPr id="22" name="AutoShape 22"/>
          <p:cNvSpPr>
            <a:spLocks noChangeArrowheads="1"/>
          </p:cNvSpPr>
          <p:nvPr/>
        </p:nvSpPr>
        <p:spPr bwMode="auto">
          <a:xfrm>
            <a:off x="363538" y="4640263"/>
            <a:ext cx="360362"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6902"/>
                                        </p:tgtEl>
                                        <p:attrNameLst>
                                          <p:attrName>style.visibility</p:attrName>
                                        </p:attrNameLst>
                                      </p:cBhvr>
                                      <p:to>
                                        <p:strVal val="visible"/>
                                      </p:to>
                                    </p:set>
                                    <p:animEffect transition="in" filter="wipe(left)">
                                      <p:cBhvr>
                                        <p:cTn id="7" dur="500"/>
                                        <p:tgtEl>
                                          <p:spTgt spid="3369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6907"/>
                                        </p:tgtEl>
                                        <p:attrNameLst>
                                          <p:attrName>style.visibility</p:attrName>
                                        </p:attrNameLst>
                                      </p:cBhvr>
                                      <p:to>
                                        <p:strVal val="visible"/>
                                      </p:to>
                                    </p:set>
                                    <p:animEffect transition="in" filter="wipe(left)">
                                      <p:cBhvr>
                                        <p:cTn id="12" dur="500"/>
                                        <p:tgtEl>
                                          <p:spTgt spid="336907"/>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36903"/>
                                        </p:tgtEl>
                                        <p:attrNameLst>
                                          <p:attrName>style.visibility</p:attrName>
                                        </p:attrNameLst>
                                      </p:cBhvr>
                                      <p:to>
                                        <p:strVal val="visible"/>
                                      </p:to>
                                    </p:set>
                                    <p:animEffect transition="in" filter="wipe(left)">
                                      <p:cBhvr>
                                        <p:cTn id="16" dur="500"/>
                                        <p:tgtEl>
                                          <p:spTgt spid="33690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36908"/>
                                        </p:tgtEl>
                                        <p:attrNameLst>
                                          <p:attrName>style.visibility</p:attrName>
                                        </p:attrNameLst>
                                      </p:cBhvr>
                                      <p:to>
                                        <p:strVal val="visible"/>
                                      </p:to>
                                    </p:set>
                                    <p:animEffect transition="in" filter="wipe(left)">
                                      <p:cBhvr>
                                        <p:cTn id="21" dur="500"/>
                                        <p:tgtEl>
                                          <p:spTgt spid="33690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6905"/>
                                        </p:tgtEl>
                                        <p:attrNameLst>
                                          <p:attrName>style.visibility</p:attrName>
                                        </p:attrNameLst>
                                      </p:cBhvr>
                                      <p:to>
                                        <p:strVal val="visible"/>
                                      </p:to>
                                    </p:set>
                                    <p:animEffect transition="in" filter="wipe(left)">
                                      <p:cBhvr>
                                        <p:cTn id="26" dur="500"/>
                                        <p:tgtEl>
                                          <p:spTgt spid="33690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36909"/>
                                        </p:tgtEl>
                                        <p:attrNameLst>
                                          <p:attrName>style.visibility</p:attrName>
                                        </p:attrNameLst>
                                      </p:cBhvr>
                                      <p:to>
                                        <p:strVal val="visible"/>
                                      </p:to>
                                    </p:set>
                                    <p:animEffect transition="in" filter="wipe(left)">
                                      <p:cBhvr>
                                        <p:cTn id="31" dur="500"/>
                                        <p:tgtEl>
                                          <p:spTgt spid="33690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36904"/>
                                        </p:tgtEl>
                                        <p:attrNameLst>
                                          <p:attrName>style.visibility</p:attrName>
                                        </p:attrNameLst>
                                      </p:cBhvr>
                                      <p:to>
                                        <p:strVal val="visible"/>
                                      </p:to>
                                    </p:set>
                                    <p:animEffect transition="in" filter="wipe(left)">
                                      <p:cBhvr>
                                        <p:cTn id="36" dur="500"/>
                                        <p:tgtEl>
                                          <p:spTgt spid="336904"/>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36906"/>
                                        </p:tgtEl>
                                        <p:attrNameLst>
                                          <p:attrName>style.visibility</p:attrName>
                                        </p:attrNameLst>
                                      </p:cBhvr>
                                      <p:to>
                                        <p:strVal val="visible"/>
                                      </p:to>
                                    </p:set>
                                    <p:animEffect transition="in" filter="wipe(left)">
                                      <p:cBhvr>
                                        <p:cTn id="39" dur="500"/>
                                        <p:tgtEl>
                                          <p:spTgt spid="33690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36911"/>
                                        </p:tgtEl>
                                        <p:attrNameLst>
                                          <p:attrName>style.visibility</p:attrName>
                                        </p:attrNameLst>
                                      </p:cBhvr>
                                      <p:to>
                                        <p:strVal val="visible"/>
                                      </p:to>
                                    </p:set>
                                    <p:animEffect transition="in" filter="wipe(left)">
                                      <p:cBhvr>
                                        <p:cTn id="44" dur="500"/>
                                        <p:tgtEl>
                                          <p:spTgt spid="3369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36912"/>
                                        </p:tgtEl>
                                        <p:attrNameLst>
                                          <p:attrName>style.visibility</p:attrName>
                                        </p:attrNameLst>
                                      </p:cBhvr>
                                      <p:to>
                                        <p:strVal val="visible"/>
                                      </p:to>
                                    </p:set>
                                    <p:animEffect transition="in" filter="wipe(left)">
                                      <p:cBhvr>
                                        <p:cTn id="49" dur="500"/>
                                        <p:tgtEl>
                                          <p:spTgt spid="33691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336913"/>
                                        </p:tgtEl>
                                        <p:attrNameLst>
                                          <p:attrName>style.visibility</p:attrName>
                                        </p:attrNameLst>
                                      </p:cBhvr>
                                      <p:to>
                                        <p:strVal val="visible"/>
                                      </p:to>
                                    </p:set>
                                    <p:animEffect transition="in" filter="wipe(left)">
                                      <p:cBhvr>
                                        <p:cTn id="53" dur="500"/>
                                        <p:tgtEl>
                                          <p:spTgt spid="33691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500" fill="hold"/>
                                        <p:tgtEl>
                                          <p:spTgt spid="22"/>
                                        </p:tgtEl>
                                        <p:attrNameLst>
                                          <p:attrName>ppt_w</p:attrName>
                                        </p:attrNameLst>
                                      </p:cBhvr>
                                      <p:tavLst>
                                        <p:tav tm="0">
                                          <p:val>
                                            <p:fltVal val="0"/>
                                          </p:val>
                                        </p:tav>
                                        <p:tav tm="100000">
                                          <p:val>
                                            <p:strVal val="#ppt_w"/>
                                          </p:val>
                                        </p:tav>
                                      </p:tavLst>
                                    </p:anim>
                                    <p:anim calcmode="lin" valueType="num">
                                      <p:cBhvr>
                                        <p:cTn id="64" dur="500" fill="hold"/>
                                        <p:tgtEl>
                                          <p:spTgt spid="22"/>
                                        </p:tgtEl>
                                        <p:attrNameLst>
                                          <p:attrName>ppt_h</p:attrName>
                                        </p:attrNameLst>
                                      </p:cBhvr>
                                      <p:tavLst>
                                        <p:tav tm="0">
                                          <p:val>
                                            <p:fltVal val="0"/>
                                          </p:val>
                                        </p:tav>
                                        <p:tav tm="100000">
                                          <p:val>
                                            <p:strVal val="#ppt_h"/>
                                          </p:val>
                                        </p:tav>
                                      </p:tavLst>
                                    </p:anim>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2" grpId="0" autoUpdateAnimBg="0"/>
      <p:bldP spid="336903" grpId="0" animBg="1" autoUpdateAnimBg="0"/>
      <p:bldP spid="336905" grpId="0" animBg="1" autoUpdateAnimBg="0"/>
      <p:bldP spid="336906" grpId="0" autoUpdateAnimBg="0"/>
      <p:bldP spid="336907" grpId="0" autoUpdateAnimBg="0"/>
      <p:bldP spid="336911" grpId="0"/>
      <p:bldP spid="336913" grpId="0"/>
      <p:bldP spid="18" grpId="0" animBg="1"/>
      <p:bldP spid="19" grpId="0"/>
      <p:bldP spid="20" grpId="0"/>
      <p:bldP spid="21" grpId="0" autoUpdateAnimBg="0"/>
      <p:bldP spid="2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Text Box 5"/>
          <p:cNvSpPr txBox="1">
            <a:spLocks noChangeArrowheads="1"/>
          </p:cNvSpPr>
          <p:nvPr/>
        </p:nvSpPr>
        <p:spPr bwMode="auto">
          <a:xfrm>
            <a:off x="179388" y="542925"/>
            <a:ext cx="4535487" cy="461963"/>
          </a:xfrm>
          <a:prstGeom prst="rect">
            <a:avLst/>
          </a:prstGeom>
          <a:noFill/>
          <a:ln w="9525">
            <a:noFill/>
            <a:miter lim="800000"/>
            <a:headEnd/>
            <a:tailEnd/>
          </a:ln>
        </p:spPr>
        <p:txBody>
          <a:bodyPr>
            <a:spAutoFit/>
          </a:bodyPr>
          <a:lstStyle/>
          <a:p>
            <a:pPr>
              <a:defRPr/>
            </a:pPr>
            <a:r>
              <a:rPr kumimoji="1" lang="en-US" altLang="zh-CN" sz="2400" b="1" dirty="0">
                <a:solidFill>
                  <a:srgbClr val="0000FF"/>
                </a:solidFill>
                <a:latin typeface="Times New Roman" pitchFamily="18" charset="0"/>
                <a:ea typeface="+mn-ea"/>
                <a:cs typeface="Times New Roman" pitchFamily="18" charset="0"/>
              </a:rPr>
              <a:t>8.8.3   </a:t>
            </a:r>
            <a:r>
              <a:rPr kumimoji="1" lang="zh-CN" altLang="en-US" sz="2400" b="1" dirty="0">
                <a:solidFill>
                  <a:srgbClr val="0000FF"/>
                </a:solidFill>
                <a:latin typeface="Times New Roman" pitchFamily="18" charset="0"/>
                <a:ea typeface="+mn-ea"/>
                <a:cs typeface="Times New Roman" pitchFamily="18" charset="0"/>
              </a:rPr>
              <a:t>热力学熵（</a:t>
            </a:r>
            <a:r>
              <a:rPr kumimoji="1" lang="en-US" altLang="zh-CN" sz="2400" b="1" dirty="0">
                <a:solidFill>
                  <a:srgbClr val="0000FF"/>
                </a:solidFill>
                <a:latin typeface="Times New Roman" pitchFamily="18" charset="0"/>
                <a:ea typeface="+mn-ea"/>
                <a:cs typeface="Times New Roman" pitchFamily="18" charset="0"/>
              </a:rPr>
              <a:t>1865</a:t>
            </a:r>
            <a:r>
              <a:rPr kumimoji="1" lang="zh-CN" altLang="en-US" sz="2400" b="1" dirty="0">
                <a:solidFill>
                  <a:srgbClr val="0000FF"/>
                </a:solidFill>
                <a:latin typeface="Times New Roman" pitchFamily="18" charset="0"/>
                <a:ea typeface="+mn-ea"/>
                <a:cs typeface="Times New Roman" pitchFamily="18" charset="0"/>
              </a:rPr>
              <a:t>年）</a:t>
            </a:r>
          </a:p>
        </p:txBody>
      </p:sp>
      <p:sp>
        <p:nvSpPr>
          <p:cNvPr id="108550" name="Text Box 6"/>
          <p:cNvSpPr txBox="1">
            <a:spLocks noChangeArrowheads="1"/>
          </p:cNvSpPr>
          <p:nvPr/>
        </p:nvSpPr>
        <p:spPr bwMode="auto">
          <a:xfrm>
            <a:off x="571500" y="1114425"/>
            <a:ext cx="7991475" cy="457200"/>
          </a:xfrm>
          <a:prstGeom prst="rect">
            <a:avLst/>
          </a:prstGeom>
          <a:noFill/>
          <a:ln w="9525">
            <a:noFill/>
            <a:miter lim="800000"/>
            <a:headEnd/>
            <a:tailEnd/>
          </a:ln>
        </p:spPr>
        <p:txBody>
          <a:bodyPr>
            <a:spAutoFit/>
          </a:bodyPr>
          <a:lstStyle/>
          <a:p>
            <a:pPr>
              <a:buFont typeface="Wingdings" pitchFamily="2" charset="2"/>
              <a:buNone/>
              <a:defRPr/>
            </a:pPr>
            <a:r>
              <a:rPr kumimoji="1" lang="en-US" altLang="zh-CN" sz="2400" b="1" dirty="0">
                <a:latin typeface="Times New Roman" pitchFamily="18" charset="0"/>
                <a:ea typeface="+mn-ea"/>
                <a:cs typeface="Times New Roman" pitchFamily="18" charset="0"/>
              </a:rPr>
              <a:t>  </a:t>
            </a:r>
            <a:r>
              <a:rPr kumimoji="1" lang="zh-CN" altLang="en-US" sz="2400" b="1" dirty="0">
                <a:latin typeface="Times New Roman" pitchFamily="18" charset="0"/>
                <a:ea typeface="+mn-ea"/>
                <a:cs typeface="Times New Roman" pitchFamily="18" charset="0"/>
              </a:rPr>
              <a:t>克劳修斯根据卡诺定理从</a:t>
            </a:r>
            <a:r>
              <a:rPr kumimoji="1" lang="zh-CN" altLang="en-US" sz="2400" b="1" dirty="0">
                <a:solidFill>
                  <a:srgbClr val="0000FF"/>
                </a:solidFill>
                <a:latin typeface="Times New Roman" pitchFamily="18" charset="0"/>
                <a:ea typeface="+mn-ea"/>
                <a:cs typeface="Times New Roman" pitchFamily="18" charset="0"/>
              </a:rPr>
              <a:t>宏观上</a:t>
            </a:r>
            <a:r>
              <a:rPr kumimoji="1" lang="zh-CN" altLang="en-US" sz="2400" b="1" dirty="0">
                <a:latin typeface="Times New Roman" pitchFamily="18" charset="0"/>
                <a:ea typeface="+mn-ea"/>
                <a:cs typeface="Times New Roman" pitchFamily="18" charset="0"/>
              </a:rPr>
              <a:t>引入</a:t>
            </a:r>
            <a:r>
              <a:rPr kumimoji="1" lang="zh-CN" altLang="en-US" sz="2400" b="1" dirty="0">
                <a:solidFill>
                  <a:srgbClr val="0000FF"/>
                </a:solidFill>
                <a:latin typeface="Times New Roman" pitchFamily="18" charset="0"/>
                <a:ea typeface="+mn-ea"/>
                <a:cs typeface="Times New Roman" pitchFamily="18" charset="0"/>
              </a:rPr>
              <a:t>热力学熵</a:t>
            </a:r>
            <a:r>
              <a:rPr kumimoji="1" lang="zh-CN" altLang="en-US" sz="2400" b="1" dirty="0">
                <a:latin typeface="Times New Roman" pitchFamily="18" charset="0"/>
                <a:ea typeface="+mn-ea"/>
                <a:cs typeface="Times New Roman" pitchFamily="18" charset="0"/>
              </a:rPr>
              <a:t>。 </a:t>
            </a:r>
          </a:p>
        </p:txBody>
      </p:sp>
      <p:grpSp>
        <p:nvGrpSpPr>
          <p:cNvPr id="2" name="Group 26"/>
          <p:cNvGrpSpPr>
            <a:grpSpLocks/>
          </p:cNvGrpSpPr>
          <p:nvPr/>
        </p:nvGrpSpPr>
        <p:grpSpPr bwMode="auto">
          <a:xfrm>
            <a:off x="714375" y="1643063"/>
            <a:ext cx="5832475" cy="798512"/>
            <a:chOff x="385" y="1385"/>
            <a:chExt cx="3674" cy="503"/>
          </a:xfrm>
        </p:grpSpPr>
        <p:sp>
          <p:nvSpPr>
            <p:cNvPr id="82958" name="Text Box 24"/>
            <p:cNvSpPr txBox="1">
              <a:spLocks noChangeArrowheads="1"/>
            </p:cNvSpPr>
            <p:nvPr/>
          </p:nvSpPr>
          <p:spPr bwMode="auto">
            <a:xfrm>
              <a:off x="385" y="1480"/>
              <a:ext cx="3674" cy="288"/>
            </a:xfrm>
            <a:prstGeom prst="rect">
              <a:avLst/>
            </a:prstGeom>
            <a:noFill/>
            <a:ln w="9525">
              <a:noFill/>
              <a:miter lim="800000"/>
              <a:headEnd/>
              <a:tailEnd/>
            </a:ln>
          </p:spPr>
          <p:txBody>
            <a:bodyPr>
              <a:spAutoFit/>
            </a:bodyPr>
            <a:lstStyle/>
            <a:p>
              <a:pPr>
                <a:buFont typeface="Wingdings" pitchFamily="2" charset="2"/>
                <a:buNone/>
                <a:defRPr/>
              </a:pPr>
              <a:r>
                <a:rPr kumimoji="1" lang="zh-CN" altLang="en-US" sz="2400" b="1" dirty="0">
                  <a:latin typeface="Times New Roman" pitchFamily="18" charset="0"/>
                  <a:ea typeface="+mn-ea"/>
                  <a:cs typeface="Times New Roman" pitchFamily="18" charset="0"/>
                </a:rPr>
                <a:t>根据卡诺定理                             ，有</a:t>
              </a:r>
            </a:p>
          </p:txBody>
        </p:sp>
        <p:graphicFrame>
          <p:nvGraphicFramePr>
            <p:cNvPr id="76806" name="Object 25"/>
            <p:cNvGraphicFramePr>
              <a:graphicFrameLocks noChangeAspect="1"/>
            </p:cNvGraphicFramePr>
            <p:nvPr/>
          </p:nvGraphicFramePr>
          <p:xfrm>
            <a:off x="1600" y="1385"/>
            <a:ext cx="1331" cy="503"/>
          </p:xfrm>
          <a:graphic>
            <a:graphicData uri="http://schemas.openxmlformats.org/presentationml/2006/ole">
              <p:oleObj spid="_x0000_s76806" name="Equation" r:id="rId3" imgW="1180800" imgH="444240" progId="">
                <p:embed/>
              </p:oleObj>
            </a:graphicData>
          </a:graphic>
        </p:graphicFrame>
      </p:grpSp>
      <p:graphicFrame>
        <p:nvGraphicFramePr>
          <p:cNvPr id="108571" name="Object 27"/>
          <p:cNvGraphicFramePr>
            <a:graphicFrameLocks noChangeAspect="1"/>
          </p:cNvGraphicFramePr>
          <p:nvPr/>
        </p:nvGraphicFramePr>
        <p:xfrm>
          <a:off x="5500688" y="1643063"/>
          <a:ext cx="1047750" cy="800100"/>
        </p:xfrm>
        <a:graphic>
          <a:graphicData uri="http://schemas.openxmlformats.org/presentationml/2006/ole">
            <p:oleObj spid="_x0000_s76802" name="公式" r:id="rId4" imgW="583920" imgH="444240" progId="Equation.3">
              <p:embed/>
            </p:oleObj>
          </a:graphicData>
        </a:graphic>
      </p:graphicFrame>
      <p:sp>
        <p:nvSpPr>
          <p:cNvPr id="108572" name="Text Box 28"/>
          <p:cNvSpPr txBox="1">
            <a:spLocks noChangeArrowheads="1"/>
          </p:cNvSpPr>
          <p:nvPr/>
        </p:nvSpPr>
        <p:spPr bwMode="auto">
          <a:xfrm>
            <a:off x="285750" y="2614613"/>
            <a:ext cx="8497888" cy="1052512"/>
          </a:xfrm>
          <a:prstGeom prst="rect">
            <a:avLst/>
          </a:prstGeom>
          <a:noFill/>
          <a:ln w="9525">
            <a:noFill/>
            <a:miter lim="800000"/>
            <a:headEnd/>
            <a:tailEnd/>
          </a:ln>
        </p:spPr>
        <p:txBody>
          <a:bodyPr>
            <a:spAutoFit/>
          </a:bodyPr>
          <a:lstStyle/>
          <a:p>
            <a:pPr>
              <a:lnSpc>
                <a:spcPct val="130000"/>
              </a:lnSpc>
              <a:defRPr/>
            </a:pPr>
            <a:r>
              <a:rPr lang="zh-CN" altLang="en-US" sz="2400" b="1" dirty="0">
                <a:latin typeface="Times New Roman" pitchFamily="18" charset="0"/>
                <a:ea typeface="+mn-ea"/>
                <a:cs typeface="Times New Roman" pitchFamily="18" charset="0"/>
              </a:rPr>
              <a:t>      式中 </a:t>
            </a:r>
            <a:r>
              <a:rPr lang="en-US" altLang="zh-CN" sz="2400" b="1" i="1" dirty="0">
                <a:solidFill>
                  <a:srgbClr val="FF0000"/>
                </a:solidFill>
                <a:latin typeface="Times New Roman" pitchFamily="18" charset="0"/>
                <a:ea typeface="+mn-ea"/>
                <a:cs typeface="Times New Roman" pitchFamily="18" charset="0"/>
              </a:rPr>
              <a:t>Q</a:t>
            </a:r>
            <a:r>
              <a:rPr lang="en-US" altLang="zh-CN" sz="2400" b="1" baseline="-25000" dirty="0">
                <a:solidFill>
                  <a:srgbClr val="FF0000"/>
                </a:solidFill>
                <a:latin typeface="Times New Roman" pitchFamily="18" charset="0"/>
                <a:ea typeface="+mn-ea"/>
                <a:cs typeface="Times New Roman" pitchFamily="18" charset="0"/>
              </a:rPr>
              <a:t>1 </a:t>
            </a:r>
            <a:r>
              <a:rPr lang="zh-CN" altLang="en-US" sz="2400" b="1" dirty="0">
                <a:latin typeface="Times New Roman" pitchFamily="18" charset="0"/>
                <a:ea typeface="+mn-ea"/>
                <a:cs typeface="Times New Roman" pitchFamily="18" charset="0"/>
              </a:rPr>
              <a:t>， </a:t>
            </a:r>
            <a:r>
              <a:rPr lang="en-US" altLang="zh-CN" sz="2400" b="1" i="1" dirty="0">
                <a:solidFill>
                  <a:srgbClr val="FF0000"/>
                </a:solidFill>
                <a:latin typeface="Times New Roman" pitchFamily="18" charset="0"/>
                <a:ea typeface="+mn-ea"/>
                <a:cs typeface="Times New Roman" pitchFamily="18" charset="0"/>
              </a:rPr>
              <a:t>Q</a:t>
            </a:r>
            <a:r>
              <a:rPr lang="en-US" altLang="zh-CN" sz="2400" b="1" baseline="-25000" dirty="0">
                <a:solidFill>
                  <a:srgbClr val="FF0000"/>
                </a:solidFill>
                <a:latin typeface="Times New Roman" pitchFamily="18" charset="0"/>
                <a:ea typeface="+mn-ea"/>
                <a:cs typeface="Times New Roman" pitchFamily="18" charset="0"/>
              </a:rPr>
              <a:t>2 </a:t>
            </a:r>
            <a:r>
              <a:rPr lang="zh-CN" altLang="en-US" sz="2400" b="1" dirty="0">
                <a:latin typeface="Times New Roman" pitchFamily="18" charset="0"/>
                <a:ea typeface="+mn-ea"/>
                <a:cs typeface="Times New Roman" pitchFamily="18" charset="0"/>
              </a:rPr>
              <a:t>取的是热量的绝对值，如果对 </a:t>
            </a:r>
            <a:r>
              <a:rPr lang="en-US" altLang="zh-CN" sz="2400" b="1" i="1" dirty="0">
                <a:solidFill>
                  <a:srgbClr val="FF0000"/>
                </a:solidFill>
                <a:latin typeface="Times New Roman" pitchFamily="18" charset="0"/>
                <a:ea typeface="+mn-ea"/>
                <a:cs typeface="Times New Roman" pitchFamily="18" charset="0"/>
              </a:rPr>
              <a:t>Q </a:t>
            </a:r>
            <a:r>
              <a:rPr lang="zh-CN" altLang="en-US" sz="2400" b="1" dirty="0">
                <a:latin typeface="Times New Roman" pitchFamily="18" charset="0"/>
                <a:ea typeface="+mn-ea"/>
                <a:cs typeface="Times New Roman" pitchFamily="18" charset="0"/>
              </a:rPr>
              <a:t>采用</a:t>
            </a:r>
            <a:r>
              <a:rPr lang="zh-CN" altLang="en-US" sz="2400" b="1" dirty="0">
                <a:solidFill>
                  <a:srgbClr val="FF0000"/>
                </a:solidFill>
                <a:latin typeface="Times New Roman" pitchFamily="18" charset="0"/>
                <a:ea typeface="+mn-ea"/>
                <a:cs typeface="Times New Roman" pitchFamily="18" charset="0"/>
              </a:rPr>
              <a:t>热力学第一定律</a:t>
            </a:r>
            <a:r>
              <a:rPr lang="zh-CN" altLang="en-US" sz="2400" b="1" dirty="0">
                <a:latin typeface="Times New Roman" pitchFamily="18" charset="0"/>
                <a:ea typeface="+mn-ea"/>
                <a:cs typeface="Times New Roman" pitchFamily="18" charset="0"/>
              </a:rPr>
              <a:t>中的符号规定，则有</a:t>
            </a:r>
            <a:endParaRPr kumimoji="1" lang="zh-CN" altLang="en-US" sz="2400" b="1" dirty="0">
              <a:latin typeface="Times New Roman" pitchFamily="18" charset="0"/>
              <a:ea typeface="+mn-ea"/>
              <a:cs typeface="Times New Roman" pitchFamily="18" charset="0"/>
            </a:endParaRPr>
          </a:p>
        </p:txBody>
      </p:sp>
      <p:graphicFrame>
        <p:nvGraphicFramePr>
          <p:cNvPr id="108573" name="Object 29"/>
          <p:cNvGraphicFramePr>
            <a:graphicFrameLocks noChangeAspect="1"/>
          </p:cNvGraphicFramePr>
          <p:nvPr/>
        </p:nvGraphicFramePr>
        <p:xfrm>
          <a:off x="1481138" y="3975100"/>
          <a:ext cx="1249362" cy="798513"/>
        </p:xfrm>
        <a:graphic>
          <a:graphicData uri="http://schemas.openxmlformats.org/presentationml/2006/ole">
            <p:oleObj spid="_x0000_s76803" name="公式" r:id="rId5" imgW="698400" imgH="444240" progId="Equation.3">
              <p:embed/>
            </p:oleObj>
          </a:graphicData>
        </a:graphic>
      </p:graphicFrame>
      <p:sp>
        <p:nvSpPr>
          <p:cNvPr id="108574" name="Text Box 30"/>
          <p:cNvSpPr txBox="1">
            <a:spLocks noChangeArrowheads="1"/>
          </p:cNvSpPr>
          <p:nvPr/>
        </p:nvSpPr>
        <p:spPr bwMode="auto">
          <a:xfrm>
            <a:off x="3121025" y="4129088"/>
            <a:ext cx="720725" cy="457200"/>
          </a:xfrm>
          <a:prstGeom prst="rect">
            <a:avLst/>
          </a:prstGeom>
          <a:noFill/>
          <a:ln w="9525">
            <a:noFill/>
            <a:miter lim="800000"/>
            <a:headEnd/>
            <a:tailEnd/>
          </a:ln>
          <a:effectLst/>
        </p:spPr>
        <p:txBody>
          <a:bodyPr>
            <a:spAutoFit/>
          </a:bodyPr>
          <a:lstStyle/>
          <a:p>
            <a:pPr>
              <a:defRPr/>
            </a:pPr>
            <a:r>
              <a:rPr lang="zh-CN" altLang="en-US" sz="2400" b="1">
                <a:latin typeface="Times New Roman" pitchFamily="18" charset="0"/>
                <a:ea typeface="+mn-ea"/>
                <a:cs typeface="Times New Roman" pitchFamily="18" charset="0"/>
              </a:rPr>
              <a:t>即</a:t>
            </a:r>
            <a:endParaRPr kumimoji="1" lang="zh-CN" altLang="en-US" sz="2400" b="1">
              <a:effectLst>
                <a:outerShdw blurRad="38100" dist="38100" dir="2700000" algn="tl">
                  <a:srgbClr val="C0C0C0"/>
                </a:outerShdw>
              </a:effectLst>
              <a:latin typeface="Times New Roman" pitchFamily="18" charset="0"/>
              <a:ea typeface="+mn-ea"/>
              <a:cs typeface="Times New Roman" pitchFamily="18" charset="0"/>
            </a:endParaRPr>
          </a:p>
        </p:txBody>
      </p:sp>
      <p:graphicFrame>
        <p:nvGraphicFramePr>
          <p:cNvPr id="108575" name="Object 31"/>
          <p:cNvGraphicFramePr>
            <a:graphicFrameLocks noChangeAspect="1"/>
          </p:cNvGraphicFramePr>
          <p:nvPr/>
        </p:nvGraphicFramePr>
        <p:xfrm>
          <a:off x="3714750" y="3981450"/>
          <a:ext cx="1428750" cy="798513"/>
        </p:xfrm>
        <a:graphic>
          <a:graphicData uri="http://schemas.openxmlformats.org/presentationml/2006/ole">
            <p:oleObj spid="_x0000_s76804" name="公式" r:id="rId6" imgW="799920" imgH="444240" progId="Equation.3">
              <p:embed/>
            </p:oleObj>
          </a:graphicData>
        </a:graphic>
      </p:graphicFrame>
      <p:sp>
        <p:nvSpPr>
          <p:cNvPr id="108577" name="Text Box 33"/>
          <p:cNvSpPr txBox="1">
            <a:spLocks noChangeArrowheads="1"/>
          </p:cNvSpPr>
          <p:nvPr/>
        </p:nvSpPr>
        <p:spPr bwMode="auto">
          <a:xfrm>
            <a:off x="785813" y="5072063"/>
            <a:ext cx="7704137" cy="457200"/>
          </a:xfrm>
          <a:prstGeom prst="rect">
            <a:avLst/>
          </a:prstGeom>
          <a:noFill/>
          <a:ln w="9525">
            <a:noFill/>
            <a:miter lim="800000"/>
            <a:headEnd/>
            <a:tailEnd/>
          </a:ln>
        </p:spPr>
        <p:txBody>
          <a:bodyPr>
            <a:spAutoFit/>
          </a:bodyPr>
          <a:lstStyle/>
          <a:p>
            <a:pPr>
              <a:defRPr/>
            </a:pPr>
            <a:r>
              <a:rPr lang="zh-CN" altLang="en-US" sz="2400" b="1" dirty="0">
                <a:solidFill>
                  <a:srgbClr val="0000FF"/>
                </a:solidFill>
                <a:latin typeface="Times New Roman" pitchFamily="18" charset="0"/>
                <a:ea typeface="+mn-ea"/>
                <a:cs typeface="Times New Roman" pitchFamily="18" charset="0"/>
              </a:rPr>
              <a:t>在卡诺循环中，系统</a:t>
            </a:r>
            <a:r>
              <a:rPr lang="zh-CN" altLang="en-US" sz="2400" b="1" dirty="0">
                <a:solidFill>
                  <a:srgbClr val="FF3300"/>
                </a:solidFill>
                <a:latin typeface="Times New Roman" pitchFamily="18" charset="0"/>
                <a:ea typeface="+mn-ea"/>
                <a:cs typeface="Times New Roman" pitchFamily="18" charset="0"/>
              </a:rPr>
              <a:t>热温比的总和</a:t>
            </a:r>
            <a:r>
              <a:rPr lang="zh-CN" altLang="en-US" sz="2400" b="1" dirty="0">
                <a:solidFill>
                  <a:srgbClr val="0000FF"/>
                </a:solidFill>
                <a:latin typeface="Times New Roman" pitchFamily="18" charset="0"/>
                <a:ea typeface="+mn-ea"/>
                <a:cs typeface="Times New Roman" pitchFamily="18" charset="0"/>
              </a:rPr>
              <a:t>小于或等于零</a:t>
            </a:r>
            <a:r>
              <a:rPr lang="zh-CN" altLang="en-US" sz="2400" dirty="0">
                <a:solidFill>
                  <a:srgbClr val="0000FF"/>
                </a:solidFill>
                <a:latin typeface="Times New Roman" pitchFamily="18" charset="0"/>
                <a:ea typeface="+mn-ea"/>
                <a:cs typeface="Times New Roman" pitchFamily="18" charset="0"/>
              </a:rPr>
              <a:t> </a:t>
            </a:r>
            <a:r>
              <a:rPr lang="zh-CN" altLang="en-US" sz="2400" b="1" dirty="0">
                <a:solidFill>
                  <a:srgbClr val="0000FF"/>
                </a:solidFill>
                <a:latin typeface="Times New Roman" pitchFamily="18" charset="0"/>
                <a:ea typeface="+mn-ea"/>
                <a:cs typeface="Times New Roman" pitchFamily="18" charset="0"/>
              </a:rPr>
              <a:t>。</a:t>
            </a:r>
          </a:p>
        </p:txBody>
      </p:sp>
      <p:grpSp>
        <p:nvGrpSpPr>
          <p:cNvPr id="3" name="组合 15"/>
          <p:cNvGrpSpPr>
            <a:grpSpLocks/>
          </p:cNvGrpSpPr>
          <p:nvPr/>
        </p:nvGrpSpPr>
        <p:grpSpPr bwMode="auto">
          <a:xfrm>
            <a:off x="6480175" y="4037013"/>
            <a:ext cx="2092325" cy="693737"/>
            <a:chOff x="6480175" y="4037013"/>
            <a:chExt cx="2092353" cy="693737"/>
          </a:xfrm>
        </p:grpSpPr>
        <p:graphicFrame>
          <p:nvGraphicFramePr>
            <p:cNvPr id="108576" name="Object 32"/>
            <p:cNvGraphicFramePr>
              <a:graphicFrameLocks noChangeAspect="1"/>
            </p:cNvGraphicFramePr>
            <p:nvPr/>
          </p:nvGraphicFramePr>
          <p:xfrm>
            <a:off x="6480175" y="4037013"/>
            <a:ext cx="311150" cy="693737"/>
          </p:xfrm>
          <a:graphic>
            <a:graphicData uri="http://schemas.openxmlformats.org/presentationml/2006/ole">
              <p:oleObj spid="_x0000_s76805" name="Equation" r:id="rId7" imgW="177480" imgH="393480" progId="">
                <p:embed/>
              </p:oleObj>
            </a:graphicData>
          </a:graphic>
        </p:graphicFrame>
        <p:sp>
          <p:nvSpPr>
            <p:cNvPr id="15" name="Text Box 33"/>
            <p:cNvSpPr txBox="1">
              <a:spLocks noChangeArrowheads="1"/>
            </p:cNvSpPr>
            <p:nvPr/>
          </p:nvSpPr>
          <p:spPr bwMode="auto">
            <a:xfrm>
              <a:off x="6786567" y="4143375"/>
              <a:ext cx="1785961" cy="457200"/>
            </a:xfrm>
            <a:prstGeom prst="rect">
              <a:avLst/>
            </a:prstGeom>
            <a:noFill/>
            <a:ln w="9525">
              <a:noFill/>
              <a:miter lim="800000"/>
              <a:headEnd/>
              <a:tailEnd/>
            </a:ln>
          </p:spPr>
          <p:txBody>
            <a:bodyPr>
              <a:spAutoFit/>
            </a:bodyPr>
            <a:lstStyle/>
            <a:p>
              <a:pPr>
                <a:defRPr/>
              </a:pPr>
              <a:r>
                <a:rPr lang="zh-CN" altLang="en-US" sz="2400" b="1" dirty="0">
                  <a:solidFill>
                    <a:srgbClr val="FF0000"/>
                  </a:solidFill>
                  <a:latin typeface="Times New Roman" pitchFamily="18" charset="0"/>
                  <a:ea typeface="+mn-ea"/>
                  <a:cs typeface="Times New Roman" pitchFamily="18" charset="0"/>
                </a:rPr>
                <a:t>为热温比。</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wipe(left)">
                                      <p:cBhvr>
                                        <p:cTn id="7" dur="500"/>
                                        <p:tgtEl>
                                          <p:spTgt spid="1085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8550"/>
                                        </p:tgtEl>
                                        <p:attrNameLst>
                                          <p:attrName>style.visibility</p:attrName>
                                        </p:attrNameLst>
                                      </p:cBhvr>
                                      <p:to>
                                        <p:strVal val="visible"/>
                                      </p:to>
                                    </p:set>
                                    <p:animEffect transition="in" filter="wipe(left)">
                                      <p:cBhvr>
                                        <p:cTn id="12" dur="500"/>
                                        <p:tgtEl>
                                          <p:spTgt spid="1085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08571"/>
                                        </p:tgtEl>
                                        <p:attrNameLst>
                                          <p:attrName>style.visibility</p:attrName>
                                        </p:attrNameLst>
                                      </p:cBhvr>
                                      <p:to>
                                        <p:strVal val="visible"/>
                                      </p:to>
                                    </p:set>
                                    <p:animEffect transition="in" filter="wipe(left)">
                                      <p:cBhvr>
                                        <p:cTn id="21" dur="500"/>
                                        <p:tgtEl>
                                          <p:spTgt spid="10857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8572"/>
                                        </p:tgtEl>
                                        <p:attrNameLst>
                                          <p:attrName>style.visibility</p:attrName>
                                        </p:attrNameLst>
                                      </p:cBhvr>
                                      <p:to>
                                        <p:strVal val="visible"/>
                                      </p:to>
                                    </p:set>
                                    <p:animEffect transition="in" filter="wipe(left)">
                                      <p:cBhvr>
                                        <p:cTn id="26" dur="500"/>
                                        <p:tgtEl>
                                          <p:spTgt spid="10857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8573"/>
                                        </p:tgtEl>
                                        <p:attrNameLst>
                                          <p:attrName>style.visibility</p:attrName>
                                        </p:attrNameLst>
                                      </p:cBhvr>
                                      <p:to>
                                        <p:strVal val="visible"/>
                                      </p:to>
                                    </p:set>
                                    <p:animEffect transition="in" filter="wipe(left)">
                                      <p:cBhvr>
                                        <p:cTn id="31" dur="500"/>
                                        <p:tgtEl>
                                          <p:spTgt spid="10857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8574"/>
                                        </p:tgtEl>
                                        <p:attrNameLst>
                                          <p:attrName>style.visibility</p:attrName>
                                        </p:attrNameLst>
                                      </p:cBhvr>
                                      <p:to>
                                        <p:strVal val="visible"/>
                                      </p:to>
                                    </p:set>
                                    <p:animEffect transition="in" filter="wipe(left)">
                                      <p:cBhvr>
                                        <p:cTn id="36" dur="500"/>
                                        <p:tgtEl>
                                          <p:spTgt spid="108574"/>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08575"/>
                                        </p:tgtEl>
                                        <p:attrNameLst>
                                          <p:attrName>style.visibility</p:attrName>
                                        </p:attrNameLst>
                                      </p:cBhvr>
                                      <p:to>
                                        <p:strVal val="visible"/>
                                      </p:to>
                                    </p:set>
                                    <p:animEffect transition="in" filter="wipe(left)">
                                      <p:cBhvr>
                                        <p:cTn id="40" dur="500"/>
                                        <p:tgtEl>
                                          <p:spTgt spid="10857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8577"/>
                                        </p:tgtEl>
                                        <p:attrNameLst>
                                          <p:attrName>style.visibility</p:attrName>
                                        </p:attrNameLst>
                                      </p:cBhvr>
                                      <p:to>
                                        <p:strVal val="visible"/>
                                      </p:to>
                                    </p:set>
                                    <p:animEffect transition="in" filter="wipe(left)">
                                      <p:cBhvr>
                                        <p:cTn id="50" dur="500"/>
                                        <p:tgtEl>
                                          <p:spTgt spid="108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p:bldP spid="108550" grpId="0" autoUpdateAnimBg="0"/>
      <p:bldP spid="108572" grpId="0" autoUpdateAnimBg="0"/>
      <p:bldP spid="108574" grpId="0" autoUpdateAnimBg="0"/>
      <p:bldP spid="108577"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5" name="Text Box 7"/>
          <p:cNvSpPr txBox="1">
            <a:spLocks noChangeArrowheads="1"/>
          </p:cNvSpPr>
          <p:nvPr/>
        </p:nvSpPr>
        <p:spPr bwMode="auto">
          <a:xfrm>
            <a:off x="179388" y="476250"/>
            <a:ext cx="3168650" cy="457200"/>
          </a:xfrm>
          <a:prstGeom prst="rect">
            <a:avLst/>
          </a:prstGeom>
          <a:noFill/>
          <a:ln w="9525">
            <a:noFill/>
            <a:miter lim="800000"/>
            <a:headEnd/>
            <a:tailEnd/>
          </a:ln>
        </p:spPr>
        <p:txBody>
          <a:bodyPr>
            <a:spAutoFit/>
          </a:bodyPr>
          <a:lstStyle/>
          <a:p>
            <a:pPr>
              <a:defRPr/>
            </a:pPr>
            <a:r>
              <a:rPr lang="zh-CN" altLang="en-US" sz="2400" b="1" dirty="0">
                <a:solidFill>
                  <a:srgbClr val="FF3300"/>
                </a:solidFill>
                <a:latin typeface="Times New Roman" pitchFamily="18" charset="0"/>
                <a:ea typeface="+mn-ea"/>
                <a:cs typeface="Times New Roman" pitchFamily="18" charset="0"/>
              </a:rPr>
              <a:t>对任意循环过程</a:t>
            </a:r>
          </a:p>
        </p:txBody>
      </p:sp>
      <p:graphicFrame>
        <p:nvGraphicFramePr>
          <p:cNvPr id="119816" name="Object 8"/>
          <p:cNvGraphicFramePr>
            <a:graphicFrameLocks noChangeAspect="1"/>
          </p:cNvGraphicFramePr>
          <p:nvPr/>
        </p:nvGraphicFramePr>
        <p:xfrm>
          <a:off x="1357313" y="1071563"/>
          <a:ext cx="2954337" cy="800100"/>
        </p:xfrm>
        <a:graphic>
          <a:graphicData uri="http://schemas.openxmlformats.org/presentationml/2006/ole">
            <p:oleObj spid="_x0000_s77826" name="公式" r:id="rId3" imgW="1650960" imgH="444240" progId="Equation.3">
              <p:embed/>
            </p:oleObj>
          </a:graphicData>
        </a:graphic>
      </p:graphicFrame>
      <p:graphicFrame>
        <p:nvGraphicFramePr>
          <p:cNvPr id="119817" name="Object 9"/>
          <p:cNvGraphicFramePr>
            <a:graphicFrameLocks noChangeAspect="1"/>
          </p:cNvGraphicFramePr>
          <p:nvPr/>
        </p:nvGraphicFramePr>
        <p:xfrm>
          <a:off x="1101725" y="2252663"/>
          <a:ext cx="1136650" cy="800100"/>
        </p:xfrm>
        <a:graphic>
          <a:graphicData uri="http://schemas.openxmlformats.org/presentationml/2006/ole">
            <p:oleObj spid="_x0000_s77827" name="公式" r:id="rId4" imgW="634680" imgH="444240" progId="Equation.3">
              <p:embed/>
            </p:oleObj>
          </a:graphicData>
        </a:graphic>
      </p:graphicFrame>
      <p:sp>
        <p:nvSpPr>
          <p:cNvPr id="119818" name="AutoShape 10"/>
          <p:cNvSpPr>
            <a:spLocks noChangeArrowheads="1"/>
          </p:cNvSpPr>
          <p:nvPr/>
        </p:nvSpPr>
        <p:spPr bwMode="auto">
          <a:xfrm>
            <a:off x="2411413" y="2565400"/>
            <a:ext cx="1223962" cy="142875"/>
          </a:xfrm>
          <a:prstGeom prst="rightArrow">
            <a:avLst>
              <a:gd name="adj1" fmla="val 50000"/>
              <a:gd name="adj2" fmla="val 214167"/>
            </a:avLst>
          </a:prstGeom>
          <a:solidFill>
            <a:srgbClr val="FF0000"/>
          </a:solidFill>
          <a:ln w="19050" algn="ctr">
            <a:solidFill>
              <a:schemeClr val="tx1"/>
            </a:solid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119819" name="Text Box 11"/>
          <p:cNvSpPr txBox="1">
            <a:spLocks noChangeArrowheads="1"/>
          </p:cNvSpPr>
          <p:nvPr/>
        </p:nvSpPr>
        <p:spPr bwMode="auto">
          <a:xfrm>
            <a:off x="2411413" y="2205038"/>
            <a:ext cx="1223962" cy="427037"/>
          </a:xfrm>
          <a:prstGeom prst="rect">
            <a:avLst/>
          </a:prstGeom>
          <a:noFill/>
          <a:ln w="9525">
            <a:noFill/>
            <a:miter lim="800000"/>
            <a:headEnd/>
            <a:tailEnd/>
          </a:ln>
        </p:spPr>
        <p:txBody>
          <a:bodyPr>
            <a:spAutoFit/>
          </a:bodyPr>
          <a:lstStyle/>
          <a:p>
            <a:pPr>
              <a:defRPr/>
            </a:pPr>
            <a:r>
              <a:rPr lang="en-US" altLang="zh-CN" sz="2200" b="1" i="1">
                <a:latin typeface="Times New Roman" pitchFamily="18" charset="0"/>
                <a:ea typeface="+mn-ea"/>
                <a:cs typeface="Times New Roman" pitchFamily="18" charset="0"/>
              </a:rPr>
              <a:t>n </a:t>
            </a:r>
            <a:r>
              <a:rPr lang="en-US" altLang="zh-CN" sz="2200" b="1">
                <a:latin typeface="Times New Roman" pitchFamily="18" charset="0"/>
                <a:ea typeface="+mn-ea"/>
                <a:cs typeface="Times New Roman" pitchFamily="18" charset="0"/>
              </a:rPr>
              <a:t>→∞</a:t>
            </a:r>
          </a:p>
        </p:txBody>
      </p:sp>
      <p:graphicFrame>
        <p:nvGraphicFramePr>
          <p:cNvPr id="119821" name="Object 13"/>
          <p:cNvGraphicFramePr>
            <a:graphicFrameLocks noChangeAspect="1"/>
          </p:cNvGraphicFramePr>
          <p:nvPr/>
        </p:nvGraphicFramePr>
        <p:xfrm>
          <a:off x="3708400" y="2265363"/>
          <a:ext cx="1068388" cy="731837"/>
        </p:xfrm>
        <a:graphic>
          <a:graphicData uri="http://schemas.openxmlformats.org/presentationml/2006/ole">
            <p:oleObj spid="_x0000_s77828" name="公式" r:id="rId5" imgW="596880" imgH="406080" progId="Equation.3">
              <p:embed/>
            </p:oleObj>
          </a:graphicData>
        </a:graphic>
      </p:graphicFrame>
      <p:sp>
        <p:nvSpPr>
          <p:cNvPr id="119822" name="Text Box 14"/>
          <p:cNvSpPr txBox="1">
            <a:spLocks noChangeArrowheads="1"/>
          </p:cNvSpPr>
          <p:nvPr/>
        </p:nvSpPr>
        <p:spPr bwMode="auto">
          <a:xfrm>
            <a:off x="4857750" y="2643188"/>
            <a:ext cx="3384550" cy="427037"/>
          </a:xfrm>
          <a:prstGeom prst="rect">
            <a:avLst/>
          </a:prstGeom>
          <a:noFill/>
          <a:ln w="9525">
            <a:noFill/>
            <a:miter lim="800000"/>
            <a:headEnd/>
            <a:tailEnd/>
          </a:ln>
        </p:spPr>
        <p:txBody>
          <a:bodyPr>
            <a:spAutoFit/>
          </a:bodyPr>
          <a:lstStyle/>
          <a:p>
            <a:pPr>
              <a:defRPr/>
            </a:pPr>
            <a:r>
              <a:rPr lang="en-US" altLang="zh-CN" sz="2200" b="1" dirty="0">
                <a:solidFill>
                  <a:srgbClr val="FF0000"/>
                </a:solidFill>
                <a:latin typeface="Times New Roman" pitchFamily="18" charset="0"/>
                <a:ea typeface="+mn-ea"/>
                <a:cs typeface="Times New Roman" pitchFamily="18" charset="0"/>
              </a:rPr>
              <a:t>——</a:t>
            </a:r>
            <a:r>
              <a:rPr lang="zh-CN" altLang="en-US" sz="2200" b="1" dirty="0">
                <a:solidFill>
                  <a:srgbClr val="FF0000"/>
                </a:solidFill>
                <a:latin typeface="Times New Roman" pitchFamily="18" charset="0"/>
                <a:ea typeface="+mn-ea"/>
                <a:cs typeface="Times New Roman" pitchFamily="18" charset="0"/>
              </a:rPr>
              <a:t>克劳修斯不等式</a:t>
            </a:r>
          </a:p>
        </p:txBody>
      </p:sp>
      <p:sp>
        <p:nvSpPr>
          <p:cNvPr id="119823" name="Text Box 15"/>
          <p:cNvSpPr txBox="1">
            <a:spLocks noChangeArrowheads="1"/>
          </p:cNvSpPr>
          <p:nvPr/>
        </p:nvSpPr>
        <p:spPr bwMode="auto">
          <a:xfrm>
            <a:off x="107950" y="3500438"/>
            <a:ext cx="2736850" cy="457200"/>
          </a:xfrm>
          <a:prstGeom prst="rect">
            <a:avLst/>
          </a:prstGeom>
          <a:noFill/>
          <a:ln w="9525">
            <a:noFill/>
            <a:miter lim="800000"/>
            <a:headEnd/>
            <a:tailEnd/>
          </a:ln>
        </p:spPr>
        <p:txBody>
          <a:bodyPr>
            <a:spAutoFit/>
          </a:bodyPr>
          <a:lstStyle/>
          <a:p>
            <a:pPr>
              <a:defRPr/>
            </a:pPr>
            <a:r>
              <a:rPr lang="zh-CN" altLang="en-US" sz="2400" b="1">
                <a:solidFill>
                  <a:srgbClr val="FF3300"/>
                </a:solidFill>
                <a:latin typeface="Times New Roman" pitchFamily="18" charset="0"/>
                <a:ea typeface="+mn-ea"/>
                <a:cs typeface="Times New Roman" pitchFamily="18" charset="0"/>
              </a:rPr>
              <a:t>对可逆循环过程</a:t>
            </a:r>
          </a:p>
        </p:txBody>
      </p:sp>
      <p:grpSp>
        <p:nvGrpSpPr>
          <p:cNvPr id="2" name="Group 38"/>
          <p:cNvGrpSpPr>
            <a:grpSpLocks/>
          </p:cNvGrpSpPr>
          <p:nvPr/>
        </p:nvGrpSpPr>
        <p:grpSpPr bwMode="auto">
          <a:xfrm>
            <a:off x="5867400" y="4114800"/>
            <a:ext cx="2890838" cy="2414588"/>
            <a:chOff x="3696" y="2592"/>
            <a:chExt cx="1821" cy="1521"/>
          </a:xfrm>
        </p:grpSpPr>
        <p:sp>
          <p:nvSpPr>
            <p:cNvPr id="84007" name="Line 16"/>
            <p:cNvSpPr>
              <a:spLocks noChangeShapeType="1"/>
            </p:cNvSpPr>
            <p:nvPr/>
          </p:nvSpPr>
          <p:spPr bwMode="auto">
            <a:xfrm>
              <a:off x="5011" y="3417"/>
              <a:ext cx="0" cy="432"/>
            </a:xfrm>
            <a:prstGeom prst="line">
              <a:avLst/>
            </a:prstGeom>
            <a:noFill/>
            <a:ln w="9525">
              <a:solidFill>
                <a:schemeClr val="tx1"/>
              </a:solidFill>
              <a:prstDash val="lgDash"/>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84008" name="Line 17"/>
            <p:cNvSpPr>
              <a:spLocks noChangeShapeType="1"/>
            </p:cNvSpPr>
            <p:nvPr/>
          </p:nvSpPr>
          <p:spPr bwMode="auto">
            <a:xfrm>
              <a:off x="4286" y="2897"/>
              <a:ext cx="0" cy="952"/>
            </a:xfrm>
            <a:prstGeom prst="line">
              <a:avLst/>
            </a:prstGeom>
            <a:noFill/>
            <a:ln w="9525">
              <a:solidFill>
                <a:schemeClr val="tx1"/>
              </a:solidFill>
              <a:prstDash val="lgDash"/>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84009" name="Line 18"/>
            <p:cNvSpPr>
              <a:spLocks noChangeShapeType="1"/>
            </p:cNvSpPr>
            <p:nvPr/>
          </p:nvSpPr>
          <p:spPr bwMode="auto">
            <a:xfrm flipV="1">
              <a:off x="3968" y="2625"/>
              <a:ext cx="0" cy="1224"/>
            </a:xfrm>
            <a:prstGeom prst="line">
              <a:avLst/>
            </a:prstGeom>
            <a:noFill/>
            <a:ln w="28575">
              <a:solidFill>
                <a:schemeClr val="tx1"/>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10" name="Line 19"/>
            <p:cNvSpPr>
              <a:spLocks noChangeShapeType="1"/>
            </p:cNvSpPr>
            <p:nvPr/>
          </p:nvSpPr>
          <p:spPr bwMode="auto">
            <a:xfrm>
              <a:off x="3958" y="3849"/>
              <a:ext cx="1316" cy="0"/>
            </a:xfrm>
            <a:prstGeom prst="line">
              <a:avLst/>
            </a:prstGeom>
            <a:noFill/>
            <a:ln w="28575">
              <a:solidFill>
                <a:schemeClr val="tx1"/>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11" name="Text Box 20"/>
            <p:cNvSpPr txBox="1">
              <a:spLocks noChangeArrowheads="1"/>
            </p:cNvSpPr>
            <p:nvPr/>
          </p:nvSpPr>
          <p:spPr bwMode="auto">
            <a:xfrm>
              <a:off x="5271" y="3681"/>
              <a:ext cx="246"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V</a:t>
              </a:r>
            </a:p>
          </p:txBody>
        </p:sp>
        <p:sp>
          <p:nvSpPr>
            <p:cNvPr id="84012" name="Text Box 21"/>
            <p:cNvSpPr txBox="1">
              <a:spLocks noChangeArrowheads="1"/>
            </p:cNvSpPr>
            <p:nvPr/>
          </p:nvSpPr>
          <p:spPr bwMode="auto">
            <a:xfrm>
              <a:off x="3696" y="3668"/>
              <a:ext cx="257"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O</a:t>
              </a:r>
            </a:p>
          </p:txBody>
        </p:sp>
        <p:sp>
          <p:nvSpPr>
            <p:cNvPr id="84013" name="Freeform 22"/>
            <p:cNvSpPr>
              <a:spLocks/>
            </p:cNvSpPr>
            <p:nvPr/>
          </p:nvSpPr>
          <p:spPr bwMode="auto">
            <a:xfrm>
              <a:off x="4286" y="2867"/>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headEnd/>
              <a:tailEnd/>
            </a:ln>
          </p:spPr>
          <p:txBody>
            <a:bodyPr/>
            <a:lstStyle/>
            <a:p>
              <a:pPr algn="ctr">
                <a:defRPr/>
              </a:pPr>
              <a:endParaRPr lang="zh-CN" altLang="en-US">
                <a:latin typeface="Times New Roman" pitchFamily="18" charset="0"/>
                <a:ea typeface="+mn-ea"/>
                <a:cs typeface="Times New Roman" pitchFamily="18" charset="0"/>
              </a:endParaRPr>
            </a:p>
          </p:txBody>
        </p:sp>
        <p:sp>
          <p:nvSpPr>
            <p:cNvPr id="84014" name="Line 23"/>
            <p:cNvSpPr>
              <a:spLocks noChangeShapeType="1"/>
            </p:cNvSpPr>
            <p:nvPr/>
          </p:nvSpPr>
          <p:spPr bwMode="auto">
            <a:xfrm>
              <a:off x="4830" y="2988"/>
              <a:ext cx="45" cy="45"/>
            </a:xfrm>
            <a:prstGeom prst="line">
              <a:avLst/>
            </a:prstGeom>
            <a:noFill/>
            <a:ln w="38100">
              <a:solidFill>
                <a:srgbClr val="3333CC"/>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15" name="Freeform 24"/>
            <p:cNvSpPr>
              <a:spLocks/>
            </p:cNvSpPr>
            <p:nvPr/>
          </p:nvSpPr>
          <p:spPr bwMode="auto">
            <a:xfrm>
              <a:off x="4286" y="2897"/>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FF0000"/>
              </a:solidFill>
              <a:round/>
              <a:headEnd/>
              <a:tailEnd/>
            </a:ln>
          </p:spPr>
          <p:txBody>
            <a:bodyPr/>
            <a:lstStyle/>
            <a:p>
              <a:pPr algn="ctr">
                <a:defRPr/>
              </a:pPr>
              <a:endParaRPr lang="zh-CN" altLang="en-US">
                <a:latin typeface="Times New Roman" pitchFamily="18" charset="0"/>
                <a:ea typeface="+mn-ea"/>
                <a:cs typeface="Times New Roman" pitchFamily="18" charset="0"/>
              </a:endParaRPr>
            </a:p>
          </p:txBody>
        </p:sp>
        <p:sp>
          <p:nvSpPr>
            <p:cNvPr id="84016" name="Line 25"/>
            <p:cNvSpPr>
              <a:spLocks noChangeShapeType="1"/>
            </p:cNvSpPr>
            <p:nvPr/>
          </p:nvSpPr>
          <p:spPr bwMode="auto">
            <a:xfrm rot="10800000" flipH="1" flipV="1">
              <a:off x="4467" y="3214"/>
              <a:ext cx="45" cy="45"/>
            </a:xfrm>
            <a:prstGeom prst="line">
              <a:avLst/>
            </a:prstGeom>
            <a:noFill/>
            <a:ln w="38100">
              <a:solidFill>
                <a:srgbClr val="FF0000"/>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17" name="Oval 26"/>
            <p:cNvSpPr>
              <a:spLocks noChangeArrowheads="1"/>
            </p:cNvSpPr>
            <p:nvPr/>
          </p:nvSpPr>
          <p:spPr bwMode="auto">
            <a:xfrm>
              <a:off x="4265" y="2876"/>
              <a:ext cx="46" cy="46"/>
            </a:xfrm>
            <a:prstGeom prst="ellipse">
              <a:avLst/>
            </a:prstGeom>
            <a:solidFill>
              <a:srgbClr val="FF0000"/>
            </a:solidFill>
            <a:ln w="9525">
              <a:solidFill>
                <a:schemeClr val="tx1"/>
              </a:solidFill>
              <a:round/>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84018" name="Oval 27"/>
            <p:cNvSpPr>
              <a:spLocks noChangeArrowheads="1"/>
            </p:cNvSpPr>
            <p:nvPr/>
          </p:nvSpPr>
          <p:spPr bwMode="auto">
            <a:xfrm>
              <a:off x="4986" y="3395"/>
              <a:ext cx="46" cy="46"/>
            </a:xfrm>
            <a:prstGeom prst="ellipse">
              <a:avLst/>
            </a:prstGeom>
            <a:solidFill>
              <a:srgbClr val="FF0000"/>
            </a:solidFill>
            <a:ln w="9525">
              <a:solidFill>
                <a:schemeClr val="tx1"/>
              </a:solidFill>
              <a:round/>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84019" name="Text Box 28"/>
            <p:cNvSpPr txBox="1">
              <a:spLocks noChangeArrowheads="1"/>
            </p:cNvSpPr>
            <p:nvPr/>
          </p:nvSpPr>
          <p:spPr bwMode="auto">
            <a:xfrm>
              <a:off x="4182" y="2592"/>
              <a:ext cx="192"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I</a:t>
              </a:r>
            </a:p>
          </p:txBody>
        </p:sp>
        <p:sp>
          <p:nvSpPr>
            <p:cNvPr id="84020" name="Text Box 29"/>
            <p:cNvSpPr txBox="1">
              <a:spLocks noChangeArrowheads="1"/>
            </p:cNvSpPr>
            <p:nvPr/>
          </p:nvSpPr>
          <p:spPr bwMode="auto">
            <a:xfrm>
              <a:off x="5102" y="3260"/>
              <a:ext cx="268"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II</a:t>
              </a:r>
            </a:p>
          </p:txBody>
        </p:sp>
        <p:sp>
          <p:nvSpPr>
            <p:cNvPr id="84021" name="Text Box 30"/>
            <p:cNvSpPr txBox="1">
              <a:spLocks noChangeArrowheads="1"/>
            </p:cNvSpPr>
            <p:nvPr/>
          </p:nvSpPr>
          <p:spPr bwMode="auto">
            <a:xfrm>
              <a:off x="4785" y="2670"/>
              <a:ext cx="214"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a</a:t>
              </a:r>
            </a:p>
          </p:txBody>
        </p:sp>
        <p:sp>
          <p:nvSpPr>
            <p:cNvPr id="84022" name="Text Box 31"/>
            <p:cNvSpPr txBox="1">
              <a:spLocks noChangeArrowheads="1"/>
            </p:cNvSpPr>
            <p:nvPr/>
          </p:nvSpPr>
          <p:spPr bwMode="auto">
            <a:xfrm>
              <a:off x="4376" y="3260"/>
              <a:ext cx="214" cy="291"/>
            </a:xfrm>
            <a:prstGeom prst="rect">
              <a:avLst/>
            </a:prstGeom>
            <a:noFill/>
            <a:ln w="9525">
              <a:noFill/>
              <a:miter lim="800000"/>
              <a:headEnd/>
              <a:tailEnd/>
            </a:ln>
          </p:spPr>
          <p:txBody>
            <a:bodyPr wrap="none">
              <a:spAutoFit/>
            </a:bodyPr>
            <a:lstStyle/>
            <a:p>
              <a:pPr>
                <a:defRPr/>
              </a:pPr>
              <a:r>
                <a:rPr lang="en-US" altLang="zh-CN" sz="2400" b="1" i="1">
                  <a:latin typeface="Times New Roman" pitchFamily="18" charset="0"/>
                  <a:ea typeface="+mn-ea"/>
                  <a:cs typeface="Times New Roman" pitchFamily="18" charset="0"/>
                </a:rPr>
                <a:t>b</a:t>
              </a:r>
            </a:p>
          </p:txBody>
        </p:sp>
        <p:sp>
          <p:nvSpPr>
            <p:cNvPr id="84023" name="Text Box 32"/>
            <p:cNvSpPr txBox="1">
              <a:spLocks noChangeArrowheads="1"/>
            </p:cNvSpPr>
            <p:nvPr/>
          </p:nvSpPr>
          <p:spPr bwMode="auto">
            <a:xfrm>
              <a:off x="4183" y="3822"/>
              <a:ext cx="202" cy="291"/>
            </a:xfrm>
            <a:prstGeom prst="rect">
              <a:avLst/>
            </a:prstGeom>
            <a:noFill/>
            <a:ln w="9525">
              <a:noFill/>
              <a:miter lim="800000"/>
              <a:headEnd/>
              <a:tailEnd/>
            </a:ln>
          </p:spPr>
          <p:txBody>
            <a:bodyPr wrap="none">
              <a:spAutoFit/>
            </a:bodyPr>
            <a:lstStyle/>
            <a:p>
              <a:pPr>
                <a:defRPr/>
              </a:pPr>
              <a:r>
                <a:rPr lang="en-US" altLang="zh-CN" sz="2400" b="1" i="1">
                  <a:solidFill>
                    <a:srgbClr val="3333CC"/>
                  </a:solidFill>
                  <a:latin typeface="Times New Roman" pitchFamily="18" charset="0"/>
                  <a:ea typeface="+mn-ea"/>
                  <a:cs typeface="Times New Roman" pitchFamily="18" charset="0"/>
                </a:rPr>
                <a:t>c</a:t>
              </a:r>
              <a:endParaRPr lang="en-US" altLang="zh-CN" sz="2400" b="1">
                <a:solidFill>
                  <a:srgbClr val="3333CC"/>
                </a:solidFill>
                <a:latin typeface="Times New Roman" pitchFamily="18" charset="0"/>
                <a:ea typeface="+mn-ea"/>
                <a:cs typeface="Times New Roman" pitchFamily="18" charset="0"/>
              </a:endParaRPr>
            </a:p>
          </p:txBody>
        </p:sp>
        <p:sp>
          <p:nvSpPr>
            <p:cNvPr id="84024" name="Text Box 33"/>
            <p:cNvSpPr txBox="1">
              <a:spLocks noChangeArrowheads="1"/>
            </p:cNvSpPr>
            <p:nvPr/>
          </p:nvSpPr>
          <p:spPr bwMode="auto">
            <a:xfrm>
              <a:off x="4906" y="3822"/>
              <a:ext cx="214" cy="291"/>
            </a:xfrm>
            <a:prstGeom prst="rect">
              <a:avLst/>
            </a:prstGeom>
            <a:noFill/>
            <a:ln w="9525">
              <a:noFill/>
              <a:miter lim="800000"/>
              <a:headEnd/>
              <a:tailEnd/>
            </a:ln>
          </p:spPr>
          <p:txBody>
            <a:bodyPr wrap="none">
              <a:spAutoFit/>
            </a:bodyPr>
            <a:lstStyle/>
            <a:p>
              <a:pPr>
                <a:defRPr/>
              </a:pPr>
              <a:r>
                <a:rPr lang="en-US" altLang="zh-CN" sz="2400" b="1" i="1">
                  <a:solidFill>
                    <a:srgbClr val="3333CC"/>
                  </a:solidFill>
                  <a:latin typeface="Times New Roman" pitchFamily="18" charset="0"/>
                  <a:ea typeface="+mn-ea"/>
                  <a:cs typeface="Times New Roman" pitchFamily="18" charset="0"/>
                </a:rPr>
                <a:t>d</a:t>
              </a:r>
              <a:endParaRPr lang="en-US" altLang="zh-CN" sz="2400" b="1">
                <a:solidFill>
                  <a:srgbClr val="3333CC"/>
                </a:solidFill>
                <a:latin typeface="Times New Roman" pitchFamily="18" charset="0"/>
                <a:ea typeface="+mn-ea"/>
                <a:cs typeface="Times New Roman" pitchFamily="18" charset="0"/>
              </a:endParaRPr>
            </a:p>
          </p:txBody>
        </p:sp>
      </p:grpSp>
      <p:graphicFrame>
        <p:nvGraphicFramePr>
          <p:cNvPr id="119842" name="Object 34"/>
          <p:cNvGraphicFramePr>
            <a:graphicFrameLocks noChangeAspect="1"/>
          </p:cNvGraphicFramePr>
          <p:nvPr/>
        </p:nvGraphicFramePr>
        <p:xfrm>
          <a:off x="2600325" y="3357563"/>
          <a:ext cx="1360488" cy="730250"/>
        </p:xfrm>
        <a:graphic>
          <a:graphicData uri="http://schemas.openxmlformats.org/presentationml/2006/ole">
            <p:oleObj spid="_x0000_s77829" name="公式" r:id="rId6" imgW="761760" imgH="406080" progId="Equation.3">
              <p:embed/>
            </p:oleObj>
          </a:graphicData>
        </a:graphic>
      </p:graphicFrame>
      <p:graphicFrame>
        <p:nvGraphicFramePr>
          <p:cNvPr id="119844" name="Object 36"/>
          <p:cNvGraphicFramePr>
            <a:graphicFrameLocks noChangeAspect="1"/>
          </p:cNvGraphicFramePr>
          <p:nvPr/>
        </p:nvGraphicFramePr>
        <p:xfrm>
          <a:off x="457200" y="4279900"/>
          <a:ext cx="658813" cy="731838"/>
        </p:xfrm>
        <a:graphic>
          <a:graphicData uri="http://schemas.openxmlformats.org/presentationml/2006/ole">
            <p:oleObj spid="_x0000_s77830" name="公式" r:id="rId7" imgW="368280" imgH="406080" progId="Equation.3">
              <p:embed/>
            </p:oleObj>
          </a:graphicData>
        </a:graphic>
      </p:graphicFrame>
      <p:sp>
        <p:nvSpPr>
          <p:cNvPr id="119845" name="Text Box 37"/>
          <p:cNvSpPr txBox="1">
            <a:spLocks noChangeArrowheads="1"/>
          </p:cNvSpPr>
          <p:nvPr/>
        </p:nvSpPr>
        <p:spPr bwMode="auto">
          <a:xfrm>
            <a:off x="1116013" y="4365625"/>
            <a:ext cx="4968875" cy="457200"/>
          </a:xfrm>
          <a:prstGeom prst="rect">
            <a:avLst/>
          </a:prstGeom>
          <a:noFill/>
          <a:ln w="9525">
            <a:noFill/>
            <a:miter lim="800000"/>
            <a:headEnd/>
            <a:tailEnd/>
          </a:ln>
        </p:spPr>
        <p:txBody>
          <a:bodyPr>
            <a:spAutoFit/>
          </a:bodyPr>
          <a:lstStyle/>
          <a:p>
            <a:pPr>
              <a:defRPr/>
            </a:pPr>
            <a:r>
              <a:rPr lang="zh-CN" altLang="en-US" sz="2400" b="1" dirty="0">
                <a:latin typeface="Times New Roman" pitchFamily="18" charset="0"/>
                <a:ea typeface="+mn-ea"/>
                <a:cs typeface="Times New Roman" pitchFamily="18" charset="0"/>
              </a:rPr>
              <a:t>与过程无关，仅由始末状态决定。</a:t>
            </a:r>
          </a:p>
        </p:txBody>
      </p:sp>
      <p:grpSp>
        <p:nvGrpSpPr>
          <p:cNvPr id="3" name="Group 39"/>
          <p:cNvGrpSpPr>
            <a:grpSpLocks/>
          </p:cNvGrpSpPr>
          <p:nvPr/>
        </p:nvGrpSpPr>
        <p:grpSpPr bwMode="auto">
          <a:xfrm>
            <a:off x="5867400" y="3827463"/>
            <a:ext cx="3168650" cy="2697162"/>
            <a:chOff x="3515" y="416"/>
            <a:chExt cx="1996" cy="1699"/>
          </a:xfrm>
        </p:grpSpPr>
        <p:sp>
          <p:nvSpPr>
            <p:cNvPr id="83985" name="Line 40"/>
            <p:cNvSpPr>
              <a:spLocks noChangeShapeType="1"/>
            </p:cNvSpPr>
            <p:nvPr/>
          </p:nvSpPr>
          <p:spPr bwMode="auto">
            <a:xfrm>
              <a:off x="4830" y="1422"/>
              <a:ext cx="0" cy="432"/>
            </a:xfrm>
            <a:prstGeom prst="line">
              <a:avLst/>
            </a:prstGeom>
            <a:noFill/>
            <a:ln w="9525">
              <a:solidFill>
                <a:schemeClr val="tx1"/>
              </a:solidFill>
              <a:prstDash val="lgDash"/>
              <a:round/>
              <a:headEnd/>
              <a:tailEnd/>
            </a:ln>
          </p:spPr>
          <p:txBody>
            <a:bodyPr/>
            <a:lstStyle/>
            <a:p>
              <a:pPr>
                <a:defRPr/>
              </a:pPr>
              <a:endParaRPr lang="zh-CN" altLang="en-US">
                <a:latin typeface="Times New Roman" pitchFamily="18" charset="0"/>
                <a:ea typeface="+mn-ea"/>
                <a:cs typeface="Times New Roman" pitchFamily="18" charset="0"/>
              </a:endParaRPr>
            </a:p>
          </p:txBody>
        </p:sp>
        <p:sp>
          <p:nvSpPr>
            <p:cNvPr id="83986" name="Line 41"/>
            <p:cNvSpPr>
              <a:spLocks noChangeShapeType="1"/>
            </p:cNvSpPr>
            <p:nvPr/>
          </p:nvSpPr>
          <p:spPr bwMode="auto">
            <a:xfrm>
              <a:off x="4105" y="902"/>
              <a:ext cx="0" cy="952"/>
            </a:xfrm>
            <a:prstGeom prst="line">
              <a:avLst/>
            </a:prstGeom>
            <a:noFill/>
            <a:ln w="9525">
              <a:solidFill>
                <a:schemeClr val="tx1"/>
              </a:solidFill>
              <a:prstDash val="lgDash"/>
              <a:round/>
              <a:headEnd/>
              <a:tailEnd/>
            </a:ln>
          </p:spPr>
          <p:txBody>
            <a:bodyPr/>
            <a:lstStyle/>
            <a:p>
              <a:pPr>
                <a:defRPr/>
              </a:pPr>
              <a:endParaRPr lang="zh-CN" altLang="en-US">
                <a:latin typeface="Times New Roman" pitchFamily="18" charset="0"/>
                <a:ea typeface="+mn-ea"/>
                <a:cs typeface="Times New Roman" pitchFamily="18" charset="0"/>
              </a:endParaRPr>
            </a:p>
          </p:txBody>
        </p:sp>
        <p:grpSp>
          <p:nvGrpSpPr>
            <p:cNvPr id="77849" name="Group 42"/>
            <p:cNvGrpSpPr>
              <a:grpSpLocks/>
            </p:cNvGrpSpPr>
            <p:nvPr/>
          </p:nvGrpSpPr>
          <p:grpSpPr bwMode="auto">
            <a:xfrm>
              <a:off x="3515" y="416"/>
              <a:ext cx="1996" cy="1558"/>
              <a:chOff x="3515" y="416"/>
              <a:chExt cx="1996" cy="1558"/>
            </a:xfrm>
          </p:grpSpPr>
          <p:sp>
            <p:nvSpPr>
              <p:cNvPr id="84002" name="Line 43"/>
              <p:cNvSpPr>
                <a:spLocks noChangeShapeType="1"/>
              </p:cNvSpPr>
              <p:nvPr/>
            </p:nvSpPr>
            <p:spPr bwMode="auto">
              <a:xfrm flipV="1">
                <a:off x="3787" y="630"/>
                <a:ext cx="0" cy="1224"/>
              </a:xfrm>
              <a:prstGeom prst="line">
                <a:avLst/>
              </a:prstGeom>
              <a:noFill/>
              <a:ln w="28575">
                <a:solidFill>
                  <a:schemeClr val="tx1"/>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03" name="Line 44"/>
              <p:cNvSpPr>
                <a:spLocks noChangeShapeType="1"/>
              </p:cNvSpPr>
              <p:nvPr/>
            </p:nvSpPr>
            <p:spPr bwMode="auto">
              <a:xfrm>
                <a:off x="3777" y="1854"/>
                <a:ext cx="1316" cy="0"/>
              </a:xfrm>
              <a:prstGeom prst="line">
                <a:avLst/>
              </a:prstGeom>
              <a:noFill/>
              <a:ln w="28575">
                <a:solidFill>
                  <a:schemeClr val="tx1"/>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sp>
            <p:nvSpPr>
              <p:cNvPr id="84004" name="Text Box 45"/>
              <p:cNvSpPr txBox="1">
                <a:spLocks noChangeArrowheads="1"/>
              </p:cNvSpPr>
              <p:nvPr/>
            </p:nvSpPr>
            <p:spPr bwMode="auto">
              <a:xfrm>
                <a:off x="3560" y="416"/>
                <a:ext cx="318" cy="288"/>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p</a:t>
                </a:r>
              </a:p>
            </p:txBody>
          </p:sp>
          <p:sp>
            <p:nvSpPr>
              <p:cNvPr id="84005" name="Text Box 46"/>
              <p:cNvSpPr txBox="1">
                <a:spLocks noChangeArrowheads="1"/>
              </p:cNvSpPr>
              <p:nvPr/>
            </p:nvSpPr>
            <p:spPr bwMode="auto">
              <a:xfrm>
                <a:off x="5090" y="1686"/>
                <a:ext cx="421" cy="288"/>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V</a:t>
                </a:r>
              </a:p>
            </p:txBody>
          </p:sp>
          <p:sp>
            <p:nvSpPr>
              <p:cNvPr id="84006" name="Text Box 47"/>
              <p:cNvSpPr txBox="1">
                <a:spLocks noChangeArrowheads="1"/>
              </p:cNvSpPr>
              <p:nvPr/>
            </p:nvSpPr>
            <p:spPr bwMode="auto">
              <a:xfrm>
                <a:off x="3515" y="1673"/>
                <a:ext cx="408" cy="288"/>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O</a:t>
                </a:r>
              </a:p>
            </p:txBody>
          </p:sp>
        </p:grpSp>
        <p:grpSp>
          <p:nvGrpSpPr>
            <p:cNvPr id="77850" name="Group 48"/>
            <p:cNvGrpSpPr>
              <a:grpSpLocks/>
            </p:cNvGrpSpPr>
            <p:nvPr/>
          </p:nvGrpSpPr>
          <p:grpSpPr bwMode="auto">
            <a:xfrm>
              <a:off x="4105" y="872"/>
              <a:ext cx="725" cy="529"/>
              <a:chOff x="4105" y="872"/>
              <a:chExt cx="725" cy="529"/>
            </a:xfrm>
          </p:grpSpPr>
          <p:sp>
            <p:nvSpPr>
              <p:cNvPr id="84000" name="Freeform 49"/>
              <p:cNvSpPr>
                <a:spLocks/>
              </p:cNvSpPr>
              <p:nvPr/>
            </p:nvSpPr>
            <p:spPr bwMode="auto">
              <a:xfrm>
                <a:off x="4105" y="872"/>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headEnd/>
                <a:tailEnd/>
              </a:ln>
            </p:spPr>
            <p:txBody>
              <a:bodyPr/>
              <a:lstStyle/>
              <a:p>
                <a:pPr algn="ctr">
                  <a:defRPr/>
                </a:pPr>
                <a:endParaRPr lang="zh-CN" altLang="en-US">
                  <a:latin typeface="Times New Roman" pitchFamily="18" charset="0"/>
                  <a:ea typeface="+mn-ea"/>
                  <a:cs typeface="Times New Roman" pitchFamily="18" charset="0"/>
                </a:endParaRPr>
              </a:p>
            </p:txBody>
          </p:sp>
          <p:sp>
            <p:nvSpPr>
              <p:cNvPr id="84001" name="Line 50"/>
              <p:cNvSpPr>
                <a:spLocks noChangeShapeType="1"/>
              </p:cNvSpPr>
              <p:nvPr/>
            </p:nvSpPr>
            <p:spPr bwMode="auto">
              <a:xfrm>
                <a:off x="4649" y="993"/>
                <a:ext cx="45" cy="45"/>
              </a:xfrm>
              <a:prstGeom prst="line">
                <a:avLst/>
              </a:prstGeom>
              <a:noFill/>
              <a:ln w="38100">
                <a:solidFill>
                  <a:srgbClr val="3333CC"/>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grpSp>
        <p:grpSp>
          <p:nvGrpSpPr>
            <p:cNvPr id="77851" name="Group 51"/>
            <p:cNvGrpSpPr>
              <a:grpSpLocks/>
            </p:cNvGrpSpPr>
            <p:nvPr/>
          </p:nvGrpSpPr>
          <p:grpSpPr bwMode="auto">
            <a:xfrm>
              <a:off x="4105" y="902"/>
              <a:ext cx="723" cy="528"/>
              <a:chOff x="4105" y="902"/>
              <a:chExt cx="723" cy="528"/>
            </a:xfrm>
          </p:grpSpPr>
          <p:sp>
            <p:nvSpPr>
              <p:cNvPr id="83998" name="Freeform 52"/>
              <p:cNvSpPr>
                <a:spLocks/>
              </p:cNvSpPr>
              <p:nvPr/>
            </p:nvSpPr>
            <p:spPr bwMode="auto">
              <a:xfrm>
                <a:off x="4105" y="902"/>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headEnd/>
                <a:tailEnd/>
              </a:ln>
            </p:spPr>
            <p:txBody>
              <a:bodyPr/>
              <a:lstStyle/>
              <a:p>
                <a:pPr algn="ctr">
                  <a:defRPr/>
                </a:pPr>
                <a:endParaRPr lang="zh-CN" altLang="en-US">
                  <a:latin typeface="Times New Roman" pitchFamily="18" charset="0"/>
                  <a:ea typeface="+mn-ea"/>
                  <a:cs typeface="Times New Roman" pitchFamily="18" charset="0"/>
                </a:endParaRPr>
              </a:p>
            </p:txBody>
          </p:sp>
          <p:sp>
            <p:nvSpPr>
              <p:cNvPr id="83999" name="Line 53"/>
              <p:cNvSpPr>
                <a:spLocks noChangeShapeType="1"/>
              </p:cNvSpPr>
              <p:nvPr/>
            </p:nvSpPr>
            <p:spPr bwMode="auto">
              <a:xfrm flipH="1" flipV="1">
                <a:off x="4286" y="1219"/>
                <a:ext cx="45" cy="45"/>
              </a:xfrm>
              <a:prstGeom prst="line">
                <a:avLst/>
              </a:prstGeom>
              <a:noFill/>
              <a:ln w="38100">
                <a:solidFill>
                  <a:srgbClr val="3333CC"/>
                </a:solidFill>
                <a:round/>
                <a:headEnd/>
                <a:tailEnd type="triangle" w="med" len="med"/>
              </a:ln>
            </p:spPr>
            <p:txBody>
              <a:bodyPr/>
              <a:lstStyle/>
              <a:p>
                <a:pPr>
                  <a:defRPr/>
                </a:pPr>
                <a:endParaRPr lang="zh-CN" altLang="en-US">
                  <a:latin typeface="Times New Roman" pitchFamily="18" charset="0"/>
                  <a:ea typeface="+mn-ea"/>
                  <a:cs typeface="Times New Roman" pitchFamily="18" charset="0"/>
                </a:endParaRPr>
              </a:p>
            </p:txBody>
          </p:sp>
        </p:grpSp>
        <p:sp>
          <p:nvSpPr>
            <p:cNvPr id="83990" name="Oval 54"/>
            <p:cNvSpPr>
              <a:spLocks noChangeArrowheads="1"/>
            </p:cNvSpPr>
            <p:nvPr/>
          </p:nvSpPr>
          <p:spPr bwMode="auto">
            <a:xfrm>
              <a:off x="4084" y="881"/>
              <a:ext cx="46" cy="46"/>
            </a:xfrm>
            <a:prstGeom prst="ellipse">
              <a:avLst/>
            </a:prstGeom>
            <a:solidFill>
              <a:srgbClr val="FF0000"/>
            </a:solidFill>
            <a:ln w="9525">
              <a:solidFill>
                <a:schemeClr val="tx1"/>
              </a:solidFill>
              <a:round/>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83991" name="Oval 55"/>
            <p:cNvSpPr>
              <a:spLocks noChangeArrowheads="1"/>
            </p:cNvSpPr>
            <p:nvPr/>
          </p:nvSpPr>
          <p:spPr bwMode="auto">
            <a:xfrm>
              <a:off x="4805" y="1400"/>
              <a:ext cx="46" cy="46"/>
            </a:xfrm>
            <a:prstGeom prst="ellipse">
              <a:avLst/>
            </a:prstGeom>
            <a:solidFill>
              <a:srgbClr val="FF0000"/>
            </a:solidFill>
            <a:ln w="9525">
              <a:solidFill>
                <a:schemeClr val="tx1"/>
              </a:solidFill>
              <a:round/>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83992" name="Text Box 56"/>
            <p:cNvSpPr txBox="1">
              <a:spLocks noChangeArrowheads="1"/>
            </p:cNvSpPr>
            <p:nvPr/>
          </p:nvSpPr>
          <p:spPr bwMode="auto">
            <a:xfrm>
              <a:off x="4001" y="597"/>
              <a:ext cx="331" cy="288"/>
            </a:xfrm>
            <a:prstGeom prst="rect">
              <a:avLst/>
            </a:prstGeom>
            <a:noFill/>
            <a:ln w="9525">
              <a:noFill/>
              <a:miter lim="800000"/>
              <a:headEnd/>
              <a:tailEnd/>
            </a:ln>
          </p:spPr>
          <p:txBody>
            <a:bodyPr>
              <a:spAutoFit/>
            </a:bodyPr>
            <a:lstStyle/>
            <a:p>
              <a:pPr>
                <a:defRPr/>
              </a:pPr>
              <a:r>
                <a:rPr lang="en-US" altLang="zh-CN" sz="2400" b="1" i="1">
                  <a:latin typeface="Times New Roman" pitchFamily="18" charset="0"/>
                  <a:ea typeface="+mn-ea"/>
                  <a:cs typeface="Times New Roman" pitchFamily="18" charset="0"/>
                </a:rPr>
                <a:t>I</a:t>
              </a:r>
            </a:p>
          </p:txBody>
        </p:sp>
        <p:sp>
          <p:nvSpPr>
            <p:cNvPr id="83993" name="Text Box 57"/>
            <p:cNvSpPr txBox="1">
              <a:spLocks noChangeArrowheads="1"/>
            </p:cNvSpPr>
            <p:nvPr/>
          </p:nvSpPr>
          <p:spPr bwMode="auto">
            <a:xfrm>
              <a:off x="4876" y="1265"/>
              <a:ext cx="363" cy="288"/>
            </a:xfrm>
            <a:prstGeom prst="rect">
              <a:avLst/>
            </a:prstGeom>
            <a:noFill/>
            <a:ln w="9525">
              <a:noFill/>
              <a:miter lim="800000"/>
              <a:headEnd/>
              <a:tailEnd/>
            </a:ln>
          </p:spPr>
          <p:txBody>
            <a:bodyPr>
              <a:spAutoFit/>
            </a:bodyPr>
            <a:lstStyle/>
            <a:p>
              <a:pPr>
                <a:defRPr/>
              </a:pPr>
              <a:r>
                <a:rPr lang="en-US" altLang="zh-CN" sz="2400" b="1" i="1">
                  <a:latin typeface="Times New Roman" pitchFamily="18" charset="0"/>
                  <a:ea typeface="+mn-ea"/>
                  <a:cs typeface="Times New Roman" pitchFamily="18" charset="0"/>
                </a:rPr>
                <a:t>II</a:t>
              </a:r>
            </a:p>
          </p:txBody>
        </p:sp>
        <p:sp>
          <p:nvSpPr>
            <p:cNvPr id="83994" name="Text Box 58"/>
            <p:cNvSpPr txBox="1">
              <a:spLocks noChangeArrowheads="1"/>
            </p:cNvSpPr>
            <p:nvPr/>
          </p:nvSpPr>
          <p:spPr bwMode="auto">
            <a:xfrm>
              <a:off x="4604" y="675"/>
              <a:ext cx="408" cy="288"/>
            </a:xfrm>
            <a:prstGeom prst="rect">
              <a:avLst/>
            </a:prstGeom>
            <a:noFill/>
            <a:ln w="9525">
              <a:noFill/>
              <a:miter lim="800000"/>
              <a:headEnd/>
              <a:tailEnd/>
            </a:ln>
          </p:spPr>
          <p:txBody>
            <a:bodyPr>
              <a:spAutoFit/>
            </a:bodyPr>
            <a:lstStyle/>
            <a:p>
              <a:pPr>
                <a:defRPr/>
              </a:pPr>
              <a:r>
                <a:rPr lang="en-US" altLang="zh-CN" sz="2400" b="1" i="1">
                  <a:latin typeface="Times New Roman" pitchFamily="18" charset="0"/>
                  <a:ea typeface="+mn-ea"/>
                  <a:cs typeface="Times New Roman" pitchFamily="18" charset="0"/>
                </a:rPr>
                <a:t>a</a:t>
              </a:r>
            </a:p>
          </p:txBody>
        </p:sp>
        <p:sp>
          <p:nvSpPr>
            <p:cNvPr id="83995" name="Text Box 59"/>
            <p:cNvSpPr txBox="1">
              <a:spLocks noChangeArrowheads="1"/>
            </p:cNvSpPr>
            <p:nvPr/>
          </p:nvSpPr>
          <p:spPr bwMode="auto">
            <a:xfrm>
              <a:off x="4195" y="1265"/>
              <a:ext cx="318" cy="288"/>
            </a:xfrm>
            <a:prstGeom prst="rect">
              <a:avLst/>
            </a:prstGeom>
            <a:noFill/>
            <a:ln w="9525">
              <a:noFill/>
              <a:miter lim="800000"/>
              <a:headEnd/>
              <a:tailEnd/>
            </a:ln>
          </p:spPr>
          <p:txBody>
            <a:bodyPr>
              <a:spAutoFit/>
            </a:bodyPr>
            <a:lstStyle/>
            <a:p>
              <a:pPr>
                <a:defRPr/>
              </a:pPr>
              <a:r>
                <a:rPr lang="en-US" altLang="zh-CN" sz="2400" b="1" i="1">
                  <a:latin typeface="Times New Roman" pitchFamily="18" charset="0"/>
                  <a:ea typeface="+mn-ea"/>
                  <a:cs typeface="Times New Roman" pitchFamily="18" charset="0"/>
                </a:rPr>
                <a:t>b</a:t>
              </a:r>
            </a:p>
          </p:txBody>
        </p:sp>
        <p:sp>
          <p:nvSpPr>
            <p:cNvPr id="83996" name="Text Box 60"/>
            <p:cNvSpPr txBox="1">
              <a:spLocks noChangeArrowheads="1"/>
            </p:cNvSpPr>
            <p:nvPr/>
          </p:nvSpPr>
          <p:spPr bwMode="auto">
            <a:xfrm>
              <a:off x="4002" y="1827"/>
              <a:ext cx="375" cy="288"/>
            </a:xfrm>
            <a:prstGeom prst="rect">
              <a:avLst/>
            </a:prstGeom>
            <a:noFill/>
            <a:ln w="9525">
              <a:noFill/>
              <a:miter lim="800000"/>
              <a:headEnd/>
              <a:tailEnd/>
            </a:ln>
          </p:spPr>
          <p:txBody>
            <a:bodyPr>
              <a:spAutoFit/>
            </a:bodyPr>
            <a:lstStyle/>
            <a:p>
              <a:pPr>
                <a:defRPr/>
              </a:pPr>
              <a:r>
                <a:rPr lang="en-US" altLang="zh-CN" sz="2400" b="1" i="1">
                  <a:solidFill>
                    <a:srgbClr val="3333CC"/>
                  </a:solidFill>
                  <a:latin typeface="Times New Roman" pitchFamily="18" charset="0"/>
                  <a:ea typeface="+mn-ea"/>
                  <a:cs typeface="Times New Roman" pitchFamily="18" charset="0"/>
                </a:rPr>
                <a:t>c</a:t>
              </a:r>
              <a:endParaRPr lang="en-US" altLang="zh-CN" sz="2400" b="1">
                <a:solidFill>
                  <a:srgbClr val="3333CC"/>
                </a:solidFill>
                <a:latin typeface="Times New Roman" pitchFamily="18" charset="0"/>
                <a:ea typeface="+mn-ea"/>
                <a:cs typeface="Times New Roman" pitchFamily="18" charset="0"/>
              </a:endParaRPr>
            </a:p>
          </p:txBody>
        </p:sp>
        <p:sp>
          <p:nvSpPr>
            <p:cNvPr id="83997" name="Text Box 61"/>
            <p:cNvSpPr txBox="1">
              <a:spLocks noChangeArrowheads="1"/>
            </p:cNvSpPr>
            <p:nvPr/>
          </p:nvSpPr>
          <p:spPr bwMode="auto">
            <a:xfrm>
              <a:off x="4725" y="1827"/>
              <a:ext cx="423" cy="288"/>
            </a:xfrm>
            <a:prstGeom prst="rect">
              <a:avLst/>
            </a:prstGeom>
            <a:noFill/>
            <a:ln w="9525">
              <a:noFill/>
              <a:miter lim="800000"/>
              <a:headEnd/>
              <a:tailEnd/>
            </a:ln>
          </p:spPr>
          <p:txBody>
            <a:bodyPr>
              <a:spAutoFit/>
            </a:bodyPr>
            <a:lstStyle/>
            <a:p>
              <a:pPr>
                <a:defRPr/>
              </a:pPr>
              <a:r>
                <a:rPr lang="en-US" altLang="zh-CN" sz="2400" b="1" i="1">
                  <a:solidFill>
                    <a:srgbClr val="3333CC"/>
                  </a:solidFill>
                  <a:latin typeface="Times New Roman" pitchFamily="18" charset="0"/>
                  <a:ea typeface="+mn-ea"/>
                  <a:cs typeface="Times New Roman" pitchFamily="18" charset="0"/>
                </a:rPr>
                <a:t>d</a:t>
              </a:r>
              <a:endParaRPr lang="en-US" altLang="zh-CN" sz="2400" b="1">
                <a:solidFill>
                  <a:srgbClr val="3333CC"/>
                </a:solidFill>
                <a:latin typeface="Times New Roman" pitchFamily="18" charset="0"/>
                <a:ea typeface="+mn-ea"/>
                <a:cs typeface="Times New Roman" pitchFamily="18" charset="0"/>
              </a:endParaRPr>
            </a:p>
          </p:txBody>
        </p:sp>
      </p:grpSp>
      <p:sp>
        <p:nvSpPr>
          <p:cNvPr id="119871" name="Text Box 63"/>
          <p:cNvSpPr txBox="1">
            <a:spLocks noChangeArrowheads="1"/>
          </p:cNvSpPr>
          <p:nvPr/>
        </p:nvSpPr>
        <p:spPr bwMode="auto">
          <a:xfrm>
            <a:off x="179388" y="5157788"/>
            <a:ext cx="5545137" cy="1200150"/>
          </a:xfrm>
          <a:prstGeom prst="rect">
            <a:avLst/>
          </a:prstGeom>
          <a:noFill/>
          <a:ln w="9525">
            <a:noFill/>
            <a:miter lim="800000"/>
            <a:headEnd/>
            <a:tailEnd/>
          </a:ln>
        </p:spPr>
        <p:txBody>
          <a:bodyPr>
            <a:spAutoFit/>
          </a:bodyPr>
          <a:lstStyle/>
          <a:p>
            <a:pPr>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因此，可以通过</a:t>
            </a:r>
            <a:r>
              <a:rPr lang="zh-CN" altLang="en-US" sz="2400" b="1" dirty="0">
                <a:solidFill>
                  <a:srgbClr val="FF0000"/>
                </a:solidFill>
                <a:latin typeface="Times New Roman" pitchFamily="18" charset="0"/>
                <a:ea typeface="+mn-ea"/>
                <a:cs typeface="Times New Roman" pitchFamily="18" charset="0"/>
              </a:rPr>
              <a:t>热温比</a:t>
            </a:r>
            <a:r>
              <a:rPr lang="zh-CN" altLang="en-US" sz="2400" b="1" dirty="0">
                <a:latin typeface="Times New Roman" pitchFamily="18" charset="0"/>
                <a:ea typeface="+mn-ea"/>
                <a:cs typeface="Times New Roman" pitchFamily="18" charset="0"/>
              </a:rPr>
              <a:t>沿可逆过程的积分来定义一个</a:t>
            </a:r>
            <a:r>
              <a:rPr lang="zh-CN" altLang="en-US" sz="2400" b="1" dirty="0">
                <a:solidFill>
                  <a:srgbClr val="FF3300"/>
                </a:solidFill>
                <a:latin typeface="Times New Roman" pitchFamily="18" charset="0"/>
                <a:ea typeface="+mn-ea"/>
                <a:cs typeface="Times New Roman" pitchFamily="18" charset="0"/>
              </a:rPr>
              <a:t>状态函数</a:t>
            </a:r>
            <a:r>
              <a:rPr lang="zh-CN" altLang="en-US" sz="2400" b="1" dirty="0">
                <a:latin typeface="Times New Roman" pitchFamily="18" charset="0"/>
                <a:ea typeface="+mn-ea"/>
                <a:cs typeface="Times New Roman" pitchFamily="18" charset="0"/>
              </a:rPr>
              <a:t>，这就是</a:t>
            </a:r>
            <a:r>
              <a:rPr lang="zh-CN" altLang="en-US" sz="2400" b="1" dirty="0">
                <a:solidFill>
                  <a:srgbClr val="FF3300"/>
                </a:solidFill>
                <a:latin typeface="Times New Roman" pitchFamily="18" charset="0"/>
                <a:ea typeface="+mn-ea"/>
                <a:cs typeface="Times New Roman" pitchFamily="18" charset="0"/>
              </a:rPr>
              <a:t>克劳修斯熵</a:t>
            </a:r>
            <a:r>
              <a:rPr lang="zh-CN" altLang="en-US" sz="2400" b="1" dirty="0">
                <a:latin typeface="Times New Roman" pitchFamily="18" charset="0"/>
                <a:ea typeface="+mn-ea"/>
                <a:cs typeface="Times New Roman" pitchFamily="18" charset="0"/>
              </a:rPr>
              <a:t>。</a:t>
            </a:r>
            <a:r>
              <a:rPr lang="zh-CN" altLang="en-US" sz="2400" dirty="0">
                <a:latin typeface="Times New Roman" pitchFamily="18" charset="0"/>
                <a:ea typeface="+mn-ea"/>
                <a:cs typeface="Times New Roman" pitchFamily="18" charset="0"/>
              </a:rPr>
              <a:t> </a:t>
            </a:r>
          </a:p>
        </p:txBody>
      </p:sp>
      <p:grpSp>
        <p:nvGrpSpPr>
          <p:cNvPr id="7" name="组合 72"/>
          <p:cNvGrpSpPr>
            <a:grpSpLocks/>
          </p:cNvGrpSpPr>
          <p:nvPr/>
        </p:nvGrpSpPr>
        <p:grpSpPr bwMode="auto">
          <a:xfrm>
            <a:off x="5740400" y="547688"/>
            <a:ext cx="3189288" cy="2166937"/>
            <a:chOff x="5480479" y="290260"/>
            <a:chExt cx="3188883" cy="2167180"/>
          </a:xfrm>
        </p:grpSpPr>
        <p:pic>
          <p:nvPicPr>
            <p:cNvPr id="77841" name="Picture 5" descr="hw157"/>
            <p:cNvPicPr>
              <a:picLocks noChangeAspect="1" noChangeArrowheads="1"/>
            </p:cNvPicPr>
            <p:nvPr/>
          </p:nvPicPr>
          <p:blipFill>
            <a:blip r:embed="rId8">
              <a:lum contrast="36000"/>
            </a:blip>
            <a:srcRect l="24602" t="679" r="13370" b="21207"/>
            <a:stretch>
              <a:fillRect/>
            </a:stretch>
          </p:blipFill>
          <p:spPr bwMode="auto">
            <a:xfrm>
              <a:off x="6072198" y="428604"/>
              <a:ext cx="2165346" cy="1643074"/>
            </a:xfrm>
            <a:prstGeom prst="rect">
              <a:avLst/>
            </a:prstGeom>
            <a:noFill/>
            <a:ln w="9525">
              <a:noFill/>
              <a:miter lim="800000"/>
              <a:headEnd/>
              <a:tailEnd/>
            </a:ln>
          </p:spPr>
        </p:pic>
        <p:cxnSp>
          <p:nvCxnSpPr>
            <p:cNvPr id="77842" name="直接箭头连接符 65"/>
            <p:cNvCxnSpPr>
              <a:cxnSpLocks noChangeShapeType="1"/>
            </p:cNvCxnSpPr>
            <p:nvPr/>
          </p:nvCxnSpPr>
          <p:spPr bwMode="auto">
            <a:xfrm>
              <a:off x="5857884" y="2214554"/>
              <a:ext cx="2071702" cy="1588"/>
            </a:xfrm>
            <a:prstGeom prst="straightConnector1">
              <a:avLst/>
            </a:prstGeom>
            <a:noFill/>
            <a:ln w="28575" algn="ctr">
              <a:solidFill>
                <a:schemeClr val="tx1"/>
              </a:solidFill>
              <a:round/>
              <a:headEnd/>
              <a:tailEnd type="triangle" w="lg" len="med"/>
            </a:ln>
          </p:spPr>
        </p:cxnSp>
        <p:cxnSp>
          <p:nvCxnSpPr>
            <p:cNvPr id="77843" name="直接箭头连接符 67"/>
            <p:cNvCxnSpPr>
              <a:cxnSpLocks noChangeShapeType="1"/>
            </p:cNvCxnSpPr>
            <p:nvPr/>
          </p:nvCxnSpPr>
          <p:spPr bwMode="auto">
            <a:xfrm rot="16200000" flipV="1">
              <a:off x="4929190" y="1294924"/>
              <a:ext cx="1866912" cy="9524"/>
            </a:xfrm>
            <a:prstGeom prst="straightConnector1">
              <a:avLst/>
            </a:prstGeom>
            <a:noFill/>
            <a:ln w="28575" algn="ctr">
              <a:solidFill>
                <a:schemeClr val="tx1"/>
              </a:solidFill>
              <a:round/>
              <a:headEnd/>
              <a:tailEnd type="triangle" w="lg" len="med"/>
            </a:ln>
          </p:spPr>
        </p:cxnSp>
        <p:sp>
          <p:nvSpPr>
            <p:cNvPr id="70" name="Text Box 45"/>
            <p:cNvSpPr txBox="1">
              <a:spLocks noChangeArrowheads="1"/>
            </p:cNvSpPr>
            <p:nvPr/>
          </p:nvSpPr>
          <p:spPr bwMode="auto">
            <a:xfrm>
              <a:off x="5480479" y="290260"/>
              <a:ext cx="504761" cy="457251"/>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p</a:t>
              </a:r>
            </a:p>
          </p:txBody>
        </p:sp>
        <p:sp>
          <p:nvSpPr>
            <p:cNvPr id="71" name="Text Box 46"/>
            <p:cNvSpPr txBox="1">
              <a:spLocks noChangeArrowheads="1"/>
            </p:cNvSpPr>
            <p:nvPr/>
          </p:nvSpPr>
          <p:spPr bwMode="auto">
            <a:xfrm>
              <a:off x="8001109" y="2000189"/>
              <a:ext cx="668253" cy="457251"/>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V</a:t>
              </a:r>
            </a:p>
          </p:txBody>
        </p:sp>
        <p:sp>
          <p:nvSpPr>
            <p:cNvPr id="72" name="Text Box 47"/>
            <p:cNvSpPr txBox="1">
              <a:spLocks noChangeArrowheads="1"/>
            </p:cNvSpPr>
            <p:nvPr/>
          </p:nvSpPr>
          <p:spPr bwMode="auto">
            <a:xfrm>
              <a:off x="5501114" y="2000189"/>
              <a:ext cx="647618" cy="457251"/>
            </a:xfrm>
            <a:prstGeom prst="rect">
              <a:avLst/>
            </a:prstGeom>
            <a:noFill/>
            <a:ln w="9525">
              <a:noFill/>
              <a:miter lim="800000"/>
              <a:headEnd/>
              <a:tailEnd/>
            </a:ln>
          </p:spPr>
          <p:txBody>
            <a:bodyPr>
              <a:spAutoFit/>
            </a:bodyPr>
            <a:lstStyle/>
            <a:p>
              <a:pPr>
                <a:defRPr/>
              </a:pPr>
              <a:r>
                <a:rPr lang="en-US" altLang="zh-CN" sz="2400" b="1" i="1" dirty="0">
                  <a:latin typeface="Times New Roman" pitchFamily="18" charset="0"/>
                  <a:ea typeface="+mn-ea"/>
                  <a:cs typeface="Times New Roman" pitchFamily="18" charset="0"/>
                </a:rPr>
                <a:t>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5"/>
                                        </p:tgtEl>
                                        <p:attrNameLst>
                                          <p:attrName>style.visibility</p:attrName>
                                        </p:attrNameLst>
                                      </p:cBhvr>
                                      <p:to>
                                        <p:strVal val="visible"/>
                                      </p:to>
                                    </p:set>
                                    <p:animEffect transition="in" filter="wipe(left)">
                                      <p:cBhvr>
                                        <p:cTn id="7" dur="500"/>
                                        <p:tgtEl>
                                          <p:spTgt spid="11981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9816"/>
                                        </p:tgtEl>
                                        <p:attrNameLst>
                                          <p:attrName>style.visibility</p:attrName>
                                        </p:attrNameLst>
                                      </p:cBhvr>
                                      <p:to>
                                        <p:strVal val="visible"/>
                                      </p:to>
                                    </p:set>
                                    <p:animEffect transition="in" filter="wipe(left)">
                                      <p:cBhvr>
                                        <p:cTn id="16" dur="500"/>
                                        <p:tgtEl>
                                          <p:spTgt spid="11981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19817"/>
                                        </p:tgtEl>
                                        <p:attrNameLst>
                                          <p:attrName>style.visibility</p:attrName>
                                        </p:attrNameLst>
                                      </p:cBhvr>
                                      <p:to>
                                        <p:strVal val="visible"/>
                                      </p:to>
                                    </p:set>
                                    <p:animEffect transition="in" filter="wipe(left)">
                                      <p:cBhvr>
                                        <p:cTn id="20" dur="500"/>
                                        <p:tgtEl>
                                          <p:spTgt spid="1198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9818"/>
                                        </p:tgtEl>
                                        <p:attrNameLst>
                                          <p:attrName>style.visibility</p:attrName>
                                        </p:attrNameLst>
                                      </p:cBhvr>
                                      <p:to>
                                        <p:strVal val="visible"/>
                                      </p:to>
                                    </p:set>
                                    <p:animEffect transition="in" filter="wipe(left)">
                                      <p:cBhvr>
                                        <p:cTn id="25" dur="500"/>
                                        <p:tgtEl>
                                          <p:spTgt spid="11981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9819"/>
                                        </p:tgtEl>
                                        <p:attrNameLst>
                                          <p:attrName>style.visibility</p:attrName>
                                        </p:attrNameLst>
                                      </p:cBhvr>
                                      <p:to>
                                        <p:strVal val="visible"/>
                                      </p:to>
                                    </p:set>
                                    <p:animEffect transition="in" filter="wipe(left)">
                                      <p:cBhvr>
                                        <p:cTn id="28" dur="500"/>
                                        <p:tgtEl>
                                          <p:spTgt spid="1198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9821"/>
                                        </p:tgtEl>
                                        <p:attrNameLst>
                                          <p:attrName>style.visibility</p:attrName>
                                        </p:attrNameLst>
                                      </p:cBhvr>
                                      <p:to>
                                        <p:strVal val="visible"/>
                                      </p:to>
                                    </p:set>
                                    <p:animEffect transition="in" filter="wipe(left)">
                                      <p:cBhvr>
                                        <p:cTn id="33" dur="500"/>
                                        <p:tgtEl>
                                          <p:spTgt spid="11982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9822"/>
                                        </p:tgtEl>
                                        <p:attrNameLst>
                                          <p:attrName>style.visibility</p:attrName>
                                        </p:attrNameLst>
                                      </p:cBhvr>
                                      <p:to>
                                        <p:strVal val="visible"/>
                                      </p:to>
                                    </p:set>
                                    <p:animEffect transition="in" filter="wipe(left)">
                                      <p:cBhvr>
                                        <p:cTn id="36" dur="500"/>
                                        <p:tgtEl>
                                          <p:spTgt spid="1198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9823"/>
                                        </p:tgtEl>
                                        <p:attrNameLst>
                                          <p:attrName>style.visibility</p:attrName>
                                        </p:attrNameLst>
                                      </p:cBhvr>
                                      <p:to>
                                        <p:strVal val="visible"/>
                                      </p:to>
                                    </p:set>
                                    <p:animEffect transition="in" filter="wipe(left)">
                                      <p:cBhvr>
                                        <p:cTn id="41" dur="500"/>
                                        <p:tgtEl>
                                          <p:spTgt spid="11982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blinds(horizontal)">
                                      <p:cBhvr>
                                        <p:cTn id="46" dur="500"/>
                                        <p:tgtEl>
                                          <p:spTgt spid="3"/>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19842"/>
                                        </p:tgtEl>
                                        <p:attrNameLst>
                                          <p:attrName>style.visibility</p:attrName>
                                        </p:attrNameLst>
                                      </p:cBhvr>
                                      <p:to>
                                        <p:strVal val="visible"/>
                                      </p:to>
                                    </p:set>
                                    <p:animEffect transition="in" filter="wipe(left)">
                                      <p:cBhvr>
                                        <p:cTn id="50" dur="500"/>
                                        <p:tgtEl>
                                          <p:spTgt spid="11984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9844"/>
                                        </p:tgtEl>
                                        <p:attrNameLst>
                                          <p:attrName>style.visibility</p:attrName>
                                        </p:attrNameLst>
                                      </p:cBhvr>
                                      <p:to>
                                        <p:strVal val="visible"/>
                                      </p:to>
                                    </p:set>
                                    <p:animEffect transition="in" filter="wipe(left)">
                                      <p:cBhvr>
                                        <p:cTn id="55" dur="500"/>
                                        <p:tgtEl>
                                          <p:spTgt spid="119844"/>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19845"/>
                                        </p:tgtEl>
                                        <p:attrNameLst>
                                          <p:attrName>style.visibility</p:attrName>
                                        </p:attrNameLst>
                                      </p:cBhvr>
                                      <p:to>
                                        <p:strVal val="visible"/>
                                      </p:to>
                                    </p:set>
                                    <p:animEffect transition="in" filter="wipe(left)">
                                      <p:cBhvr>
                                        <p:cTn id="58" dur="500"/>
                                        <p:tgtEl>
                                          <p:spTgt spid="119845"/>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3"/>
                                        </p:tgtEl>
                                        <p:attrNameLst>
                                          <p:attrName>style.visibility</p:attrName>
                                        </p:attrNameLst>
                                      </p:cBhvr>
                                      <p:to>
                                        <p:strVal val="hidden"/>
                                      </p:to>
                                    </p:set>
                                  </p:childTnLst>
                                </p:cTn>
                              </p:par>
                              <p:par>
                                <p:cTn id="63" presetID="3" presetClass="entr" presetSubtype="10"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blinds(horizontal)">
                                      <p:cBhvr>
                                        <p:cTn id="65" dur="500"/>
                                        <p:tgtEl>
                                          <p:spTgt spid="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19871"/>
                                        </p:tgtEl>
                                        <p:attrNameLst>
                                          <p:attrName>style.visibility</p:attrName>
                                        </p:attrNameLst>
                                      </p:cBhvr>
                                      <p:to>
                                        <p:strVal val="visible"/>
                                      </p:to>
                                    </p:set>
                                    <p:animEffect transition="in" filter="wipe(left)">
                                      <p:cBhvr>
                                        <p:cTn id="70" dur="500"/>
                                        <p:tgtEl>
                                          <p:spTgt spid="119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5" grpId="0" autoUpdateAnimBg="0"/>
      <p:bldP spid="119818" grpId="0" animBg="1"/>
      <p:bldP spid="119819" grpId="0"/>
      <p:bldP spid="119822" grpId="0" autoUpdateAnimBg="0"/>
      <p:bldP spid="119823" grpId="0" autoUpdateAnimBg="0"/>
      <p:bldP spid="119845" grpId="0"/>
      <p:bldP spid="119871"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Text Box 4"/>
          <p:cNvSpPr txBox="1">
            <a:spLocks noChangeArrowheads="1"/>
          </p:cNvSpPr>
          <p:nvPr/>
        </p:nvSpPr>
        <p:spPr bwMode="auto">
          <a:xfrm>
            <a:off x="252413" y="523875"/>
            <a:ext cx="3240087" cy="457200"/>
          </a:xfrm>
          <a:prstGeom prst="rect">
            <a:avLst/>
          </a:prstGeom>
          <a:noFill/>
          <a:ln w="9525">
            <a:noFill/>
            <a:miter lim="800000"/>
            <a:headEnd/>
            <a:tailEnd/>
          </a:ln>
        </p:spPr>
        <p:txBody>
          <a:bodyPr>
            <a:spAutoFit/>
          </a:bodyPr>
          <a:lstStyle/>
          <a:p>
            <a:pPr>
              <a:buFont typeface="Wingdings" pitchFamily="2" charset="2"/>
              <a:buNone/>
              <a:defRPr/>
            </a:pPr>
            <a:r>
              <a:rPr kumimoji="1" lang="zh-CN" altLang="en-US" sz="2400" b="1" dirty="0">
                <a:solidFill>
                  <a:srgbClr val="FF0000"/>
                </a:solidFill>
                <a:latin typeface="Times New Roman" pitchFamily="18" charset="0"/>
                <a:ea typeface="+mn-ea"/>
                <a:cs typeface="Times New Roman" pitchFamily="18" charset="0"/>
              </a:rPr>
              <a:t>热力学熵：</a:t>
            </a:r>
          </a:p>
        </p:txBody>
      </p:sp>
      <p:sp>
        <p:nvSpPr>
          <p:cNvPr id="120837" name="Text Box 5"/>
          <p:cNvSpPr txBox="1">
            <a:spLocks noChangeArrowheads="1"/>
          </p:cNvSpPr>
          <p:nvPr/>
        </p:nvSpPr>
        <p:spPr bwMode="auto">
          <a:xfrm>
            <a:off x="250825" y="2205038"/>
            <a:ext cx="8497888" cy="936625"/>
          </a:xfrm>
          <a:prstGeom prst="rect">
            <a:avLst/>
          </a:prstGeom>
          <a:noFill/>
          <a:ln w="9525">
            <a:noFill/>
            <a:miter lim="800000"/>
            <a:headEnd/>
            <a:tailEnd/>
          </a:ln>
        </p:spPr>
        <p:txBody>
          <a:bodyPr>
            <a:spAutoFit/>
          </a:bodyPr>
          <a:lstStyle/>
          <a:p>
            <a:pPr>
              <a:lnSpc>
                <a:spcPct val="120000"/>
              </a:lnSpc>
              <a:defRPr/>
            </a:pPr>
            <a:r>
              <a:rPr lang="en-US" altLang="zh-CN" sz="2400" b="1" dirty="0">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当系统从平衡态 </a:t>
            </a:r>
            <a:r>
              <a:rPr lang="en-US" altLang="zh-CN" sz="2400" b="1" dirty="0">
                <a:solidFill>
                  <a:srgbClr val="FF0000"/>
                </a:solidFill>
                <a:latin typeface="Times New Roman" pitchFamily="18" charset="0"/>
                <a:ea typeface="+mn-ea"/>
                <a:cs typeface="Times New Roman" pitchFamily="18" charset="0"/>
              </a:rPr>
              <a:t>1 </a:t>
            </a:r>
            <a:r>
              <a:rPr lang="zh-CN" altLang="en-US" sz="2400" b="1" dirty="0">
                <a:latin typeface="Times New Roman" pitchFamily="18" charset="0"/>
                <a:ea typeface="+mn-ea"/>
                <a:cs typeface="Times New Roman" pitchFamily="18" charset="0"/>
              </a:rPr>
              <a:t>到达平衡态 </a:t>
            </a:r>
            <a:r>
              <a:rPr lang="en-US" altLang="zh-CN" sz="2400" b="1" dirty="0">
                <a:solidFill>
                  <a:srgbClr val="FF0000"/>
                </a:solidFill>
                <a:latin typeface="Times New Roman" pitchFamily="18" charset="0"/>
                <a:ea typeface="+mn-ea"/>
                <a:cs typeface="Times New Roman" pitchFamily="18" charset="0"/>
              </a:rPr>
              <a:t>2 </a:t>
            </a:r>
            <a:r>
              <a:rPr lang="zh-CN" altLang="en-US" sz="2400" b="1" dirty="0">
                <a:latin typeface="Times New Roman" pitchFamily="18" charset="0"/>
                <a:ea typeface="+mn-ea"/>
                <a:cs typeface="Times New Roman" pitchFamily="18" charset="0"/>
              </a:rPr>
              <a:t>时，这个状态函数就从 </a:t>
            </a:r>
            <a:r>
              <a:rPr lang="en-US" altLang="zh-CN" sz="2400" b="1" i="1" dirty="0">
                <a:solidFill>
                  <a:srgbClr val="FF0000"/>
                </a:solidFill>
                <a:latin typeface="Times New Roman" pitchFamily="18" charset="0"/>
                <a:ea typeface="+mn-ea"/>
                <a:cs typeface="Times New Roman" pitchFamily="18" charset="0"/>
              </a:rPr>
              <a:t>S</a:t>
            </a:r>
            <a:r>
              <a:rPr lang="en-US" altLang="zh-CN" sz="2400" b="1" baseline="-25000" dirty="0">
                <a:solidFill>
                  <a:srgbClr val="FF0000"/>
                </a:solidFill>
                <a:latin typeface="Times New Roman" pitchFamily="18" charset="0"/>
                <a:ea typeface="+mn-ea"/>
                <a:cs typeface="Times New Roman" pitchFamily="18" charset="0"/>
              </a:rPr>
              <a:t>1 </a:t>
            </a:r>
            <a:r>
              <a:rPr lang="zh-CN" altLang="en-US" sz="2400" b="1" dirty="0">
                <a:latin typeface="Times New Roman" pitchFamily="18" charset="0"/>
                <a:ea typeface="+mn-ea"/>
                <a:cs typeface="Times New Roman" pitchFamily="18" charset="0"/>
              </a:rPr>
              <a:t>变到 </a:t>
            </a:r>
            <a:r>
              <a:rPr lang="en-US" altLang="zh-CN" sz="2400" b="1" i="1" dirty="0">
                <a:solidFill>
                  <a:srgbClr val="FF0000"/>
                </a:solidFill>
                <a:latin typeface="Times New Roman" pitchFamily="18" charset="0"/>
                <a:ea typeface="+mn-ea"/>
                <a:cs typeface="Times New Roman" pitchFamily="18" charset="0"/>
              </a:rPr>
              <a:t>S</a:t>
            </a:r>
            <a:r>
              <a:rPr lang="en-US" altLang="zh-CN" sz="2400" b="1" baseline="-25000" dirty="0">
                <a:solidFill>
                  <a:srgbClr val="FF0000"/>
                </a:solidFill>
                <a:latin typeface="Times New Roman" pitchFamily="18" charset="0"/>
                <a:ea typeface="+mn-ea"/>
                <a:cs typeface="Times New Roman" pitchFamily="18" charset="0"/>
              </a:rPr>
              <a:t>2</a:t>
            </a:r>
            <a:r>
              <a:rPr lang="en-US" altLang="zh-CN" sz="2400" dirty="0">
                <a:solidFill>
                  <a:srgbClr val="FF00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，即</a:t>
            </a:r>
          </a:p>
        </p:txBody>
      </p:sp>
      <p:graphicFrame>
        <p:nvGraphicFramePr>
          <p:cNvPr id="120868" name="Object 36"/>
          <p:cNvGraphicFramePr>
            <a:graphicFrameLocks noChangeAspect="1"/>
          </p:cNvGraphicFramePr>
          <p:nvPr/>
        </p:nvGraphicFramePr>
        <p:xfrm>
          <a:off x="3071813" y="1214438"/>
          <a:ext cx="1565275" cy="730250"/>
        </p:xfrm>
        <a:graphic>
          <a:graphicData uri="http://schemas.openxmlformats.org/presentationml/2006/ole">
            <p:oleObj spid="_x0000_s78850" name="公式" r:id="rId3" imgW="876240" imgH="406080" progId="Equation.3">
              <p:embed/>
            </p:oleObj>
          </a:graphicData>
        </a:graphic>
      </p:graphicFrame>
      <p:sp>
        <p:nvSpPr>
          <p:cNvPr id="120869" name="Rectangle 37"/>
          <p:cNvSpPr>
            <a:spLocks noChangeArrowheads="1"/>
          </p:cNvSpPr>
          <p:nvPr/>
        </p:nvSpPr>
        <p:spPr bwMode="auto">
          <a:xfrm>
            <a:off x="1865313" y="520700"/>
            <a:ext cx="4767262" cy="457200"/>
          </a:xfrm>
          <a:prstGeom prst="rect">
            <a:avLst/>
          </a:prstGeom>
          <a:noFill/>
          <a:ln w="9525" algn="ctr">
            <a:noFill/>
            <a:miter lim="800000"/>
            <a:headEnd/>
            <a:tailEnd/>
          </a:ln>
        </p:spPr>
        <p:txBody>
          <a:bodyPr>
            <a:spAutoFit/>
          </a:bodyPr>
          <a:lstStyle/>
          <a:p>
            <a:pPr>
              <a:defRPr/>
            </a:pPr>
            <a:r>
              <a:rPr lang="zh-CN" altLang="en-US" sz="2400" b="1" dirty="0">
                <a:latin typeface="Times New Roman" pitchFamily="18" charset="0"/>
                <a:ea typeface="+mn-ea"/>
                <a:cs typeface="Times New Roman" pitchFamily="18" charset="0"/>
              </a:rPr>
              <a:t>克劳修斯熵也称</a:t>
            </a:r>
            <a:r>
              <a:rPr lang="zh-CN" altLang="en-US" sz="2400" b="1" dirty="0">
                <a:solidFill>
                  <a:srgbClr val="FF6600"/>
                </a:solidFill>
                <a:latin typeface="Times New Roman" pitchFamily="18" charset="0"/>
                <a:ea typeface="+mn-ea"/>
                <a:cs typeface="Times New Roman" pitchFamily="18" charset="0"/>
              </a:rPr>
              <a:t>热力学熵</a:t>
            </a:r>
          </a:p>
        </p:txBody>
      </p:sp>
      <p:graphicFrame>
        <p:nvGraphicFramePr>
          <p:cNvPr id="120870" name="Object 38"/>
          <p:cNvGraphicFramePr>
            <a:graphicFrameLocks noChangeAspect="1"/>
          </p:cNvGraphicFramePr>
          <p:nvPr/>
        </p:nvGraphicFramePr>
        <p:xfrm>
          <a:off x="2316163" y="3262313"/>
          <a:ext cx="2735262" cy="814387"/>
        </p:xfrm>
        <a:graphic>
          <a:graphicData uri="http://schemas.openxmlformats.org/presentationml/2006/ole">
            <p:oleObj spid="_x0000_s78851" name="公式" r:id="rId4" imgW="1371600" imgH="406080" progId="Equation.3">
              <p:embed/>
            </p:oleObj>
          </a:graphicData>
        </a:graphic>
      </p:graphicFrame>
      <p:sp>
        <p:nvSpPr>
          <p:cNvPr id="120871" name="Text Box 39"/>
          <p:cNvSpPr txBox="1">
            <a:spLocks noChangeArrowheads="1"/>
          </p:cNvSpPr>
          <p:nvPr/>
        </p:nvSpPr>
        <p:spPr bwMode="auto">
          <a:xfrm>
            <a:off x="250825" y="4221163"/>
            <a:ext cx="8642350" cy="936625"/>
          </a:xfrm>
          <a:prstGeom prst="rect">
            <a:avLst/>
          </a:prstGeom>
          <a:noFill/>
          <a:ln w="9525">
            <a:noFill/>
            <a:miter lim="800000"/>
            <a:headEnd/>
            <a:tailEnd/>
          </a:ln>
        </p:spPr>
        <p:txBody>
          <a:bodyPr>
            <a:spAutoFit/>
          </a:bodyPr>
          <a:lstStyle/>
          <a:p>
            <a:pPr>
              <a:lnSpc>
                <a:spcPct val="120000"/>
              </a:lnSpc>
              <a:defRPr/>
            </a:pPr>
            <a:r>
              <a:rPr lang="en-US" altLang="zh-CN" sz="2400" b="1" i="1" dirty="0">
                <a:solidFill>
                  <a:srgbClr val="FF0000"/>
                </a:solidFill>
                <a:latin typeface="Times New Roman" pitchFamily="18" charset="0"/>
                <a:ea typeface="+mn-ea"/>
                <a:cs typeface="Times New Roman" pitchFamily="18" charset="0"/>
              </a:rPr>
              <a:t>     </a:t>
            </a:r>
            <a:r>
              <a:rPr lang="en-US" altLang="zh-CN" sz="2400" b="1" dirty="0">
                <a:solidFill>
                  <a:srgbClr val="FF0000"/>
                </a:solidFill>
                <a:latin typeface="Times New Roman" pitchFamily="18" charset="0"/>
                <a:ea typeface="+mn-ea"/>
                <a:cs typeface="Times New Roman" pitchFamily="18" charset="0"/>
              </a:rPr>
              <a:t>Δ</a:t>
            </a:r>
            <a:r>
              <a:rPr lang="en-US" altLang="zh-CN" sz="2400" b="1" i="1" dirty="0">
                <a:solidFill>
                  <a:srgbClr val="FF0000"/>
                </a:solidFill>
                <a:latin typeface="Times New Roman" pitchFamily="18" charset="0"/>
                <a:ea typeface="+mn-ea"/>
                <a:cs typeface="Times New Roman" pitchFamily="18" charset="0"/>
              </a:rPr>
              <a:t>S </a:t>
            </a:r>
            <a:r>
              <a:rPr lang="zh-CN" altLang="en-US" sz="2400" b="1" dirty="0">
                <a:latin typeface="Times New Roman" pitchFamily="18" charset="0"/>
                <a:ea typeface="+mn-ea"/>
                <a:cs typeface="Times New Roman" pitchFamily="18" charset="0"/>
              </a:rPr>
              <a:t>称为系统在状态</a:t>
            </a:r>
            <a:r>
              <a:rPr lang="zh-CN" altLang="en-US" sz="2400" b="1" dirty="0">
                <a:solidFill>
                  <a:srgbClr val="FF3300"/>
                </a:solidFill>
                <a:latin typeface="Times New Roman" pitchFamily="18" charset="0"/>
                <a:ea typeface="+mn-ea"/>
                <a:cs typeface="Times New Roman" pitchFamily="18" charset="0"/>
              </a:rPr>
              <a:t> </a:t>
            </a:r>
            <a:r>
              <a:rPr lang="en-US" altLang="zh-CN" sz="2400" b="1" dirty="0">
                <a:solidFill>
                  <a:srgbClr val="FF3300"/>
                </a:solidFill>
                <a:latin typeface="Times New Roman" pitchFamily="18" charset="0"/>
                <a:ea typeface="+mn-ea"/>
                <a:cs typeface="Times New Roman" pitchFamily="18" charset="0"/>
              </a:rPr>
              <a:t>1 </a:t>
            </a:r>
            <a:r>
              <a:rPr lang="zh-CN" altLang="en-US" sz="2400" b="1" dirty="0">
                <a:latin typeface="Times New Roman" pitchFamily="18" charset="0"/>
                <a:ea typeface="+mn-ea"/>
                <a:cs typeface="Times New Roman" pitchFamily="18" charset="0"/>
              </a:rPr>
              <a:t>到状态 </a:t>
            </a:r>
            <a:r>
              <a:rPr lang="en-US" altLang="zh-CN" sz="2400" b="1" dirty="0">
                <a:solidFill>
                  <a:srgbClr val="FF3300"/>
                </a:solidFill>
                <a:latin typeface="Times New Roman" pitchFamily="18" charset="0"/>
                <a:ea typeface="+mn-ea"/>
                <a:cs typeface="Times New Roman" pitchFamily="18" charset="0"/>
              </a:rPr>
              <a:t>2 </a:t>
            </a:r>
            <a:r>
              <a:rPr lang="zh-CN" altLang="en-US" sz="2400" b="1" dirty="0">
                <a:latin typeface="Times New Roman" pitchFamily="18" charset="0"/>
                <a:ea typeface="+mn-ea"/>
                <a:cs typeface="Times New Roman" pitchFamily="18" charset="0"/>
              </a:rPr>
              <a:t>之间的</a:t>
            </a:r>
            <a:r>
              <a:rPr lang="zh-CN" altLang="en-US" sz="2400" b="1" dirty="0">
                <a:solidFill>
                  <a:srgbClr val="FF0000"/>
                </a:solidFill>
                <a:latin typeface="Times New Roman" pitchFamily="18" charset="0"/>
                <a:ea typeface="+mn-ea"/>
                <a:cs typeface="Times New Roman" pitchFamily="18" charset="0"/>
              </a:rPr>
              <a:t>熵变</a:t>
            </a:r>
            <a:r>
              <a:rPr lang="zh-CN" altLang="en-US" sz="2400" b="1" dirty="0">
                <a:latin typeface="Times New Roman" pitchFamily="18" charset="0"/>
                <a:ea typeface="+mn-ea"/>
                <a:cs typeface="Times New Roman" pitchFamily="18" charset="0"/>
              </a:rPr>
              <a:t>，这个熵变等于连接这两态之间的</a:t>
            </a:r>
            <a:r>
              <a:rPr lang="zh-CN" altLang="en-US" sz="2400" b="1" dirty="0">
                <a:solidFill>
                  <a:srgbClr val="FF3300"/>
                </a:solidFill>
                <a:latin typeface="Times New Roman" pitchFamily="18" charset="0"/>
                <a:ea typeface="+mn-ea"/>
                <a:cs typeface="Times New Roman" pitchFamily="18" charset="0"/>
              </a:rPr>
              <a:t>任一可逆过程</a:t>
            </a:r>
            <a:r>
              <a:rPr lang="zh-CN" altLang="en-US" sz="2400" b="1" dirty="0">
                <a:latin typeface="Times New Roman" pitchFamily="18" charset="0"/>
                <a:ea typeface="+mn-ea"/>
                <a:cs typeface="Times New Roman" pitchFamily="18" charset="0"/>
              </a:rPr>
              <a:t>的热温比的积分。</a:t>
            </a:r>
            <a:endParaRPr lang="zh-CN" altLang="en-US" sz="2400" b="1" dirty="0">
              <a:solidFill>
                <a:srgbClr val="FF0000"/>
              </a:solidFill>
              <a:latin typeface="Times New Roman" pitchFamily="18" charset="0"/>
              <a:ea typeface="+mn-ea"/>
              <a:cs typeface="Times New Roman" pitchFamily="18" charset="0"/>
            </a:endParaRPr>
          </a:p>
        </p:txBody>
      </p:sp>
      <p:sp>
        <p:nvSpPr>
          <p:cNvPr id="120872" name="Text Box 40"/>
          <p:cNvSpPr txBox="1">
            <a:spLocks noChangeArrowheads="1"/>
          </p:cNvSpPr>
          <p:nvPr/>
        </p:nvSpPr>
        <p:spPr bwMode="auto">
          <a:xfrm>
            <a:off x="684213" y="5516563"/>
            <a:ext cx="3529012" cy="457200"/>
          </a:xfrm>
          <a:prstGeom prst="rect">
            <a:avLst/>
          </a:prstGeom>
          <a:noFill/>
          <a:ln w="9525">
            <a:noFill/>
            <a:miter lim="800000"/>
            <a:headEnd/>
            <a:tailEnd/>
          </a:ln>
        </p:spPr>
        <p:txBody>
          <a:bodyPr>
            <a:spAutoFit/>
          </a:bodyPr>
          <a:lstStyle/>
          <a:p>
            <a:pPr>
              <a:defRPr/>
            </a:pPr>
            <a:r>
              <a:rPr lang="zh-CN" altLang="en-US" sz="2400" b="1">
                <a:latin typeface="Times New Roman" pitchFamily="18" charset="0"/>
                <a:ea typeface="+mn-ea"/>
                <a:cs typeface="Times New Roman" pitchFamily="18" charset="0"/>
              </a:rPr>
              <a:t>无限小可逆过程的熵变</a:t>
            </a:r>
          </a:p>
        </p:txBody>
      </p:sp>
      <p:graphicFrame>
        <p:nvGraphicFramePr>
          <p:cNvPr id="120873" name="Object 41"/>
          <p:cNvGraphicFramePr>
            <a:graphicFrameLocks noChangeAspect="1"/>
          </p:cNvGraphicFramePr>
          <p:nvPr/>
        </p:nvGraphicFramePr>
        <p:xfrm>
          <a:off x="4140200" y="5445125"/>
          <a:ext cx="1150938" cy="769938"/>
        </p:xfrm>
        <a:graphic>
          <a:graphicData uri="http://schemas.openxmlformats.org/presentationml/2006/ole">
            <p:oleObj spid="_x0000_s78852" name="公式" r:id="rId5" imgW="60948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wipe(left)">
                                      <p:cBhvr>
                                        <p:cTn id="7" dur="500"/>
                                        <p:tgtEl>
                                          <p:spTgt spid="1208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69"/>
                                        </p:tgtEl>
                                        <p:attrNameLst>
                                          <p:attrName>style.visibility</p:attrName>
                                        </p:attrNameLst>
                                      </p:cBhvr>
                                      <p:to>
                                        <p:strVal val="visible"/>
                                      </p:to>
                                    </p:set>
                                    <p:animEffect transition="in" filter="wipe(left)">
                                      <p:cBhvr>
                                        <p:cTn id="12" dur="500"/>
                                        <p:tgtEl>
                                          <p:spTgt spid="12086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0868"/>
                                        </p:tgtEl>
                                        <p:attrNameLst>
                                          <p:attrName>style.visibility</p:attrName>
                                        </p:attrNameLst>
                                      </p:cBhvr>
                                      <p:to>
                                        <p:strVal val="visible"/>
                                      </p:to>
                                    </p:set>
                                    <p:animEffect transition="in" filter="wipe(left)">
                                      <p:cBhvr>
                                        <p:cTn id="16" dur="500"/>
                                        <p:tgtEl>
                                          <p:spTgt spid="12086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0837"/>
                                        </p:tgtEl>
                                        <p:attrNameLst>
                                          <p:attrName>style.visibility</p:attrName>
                                        </p:attrNameLst>
                                      </p:cBhvr>
                                      <p:to>
                                        <p:strVal val="visible"/>
                                      </p:to>
                                    </p:set>
                                    <p:animEffect transition="in" filter="wipe(left)">
                                      <p:cBhvr>
                                        <p:cTn id="21" dur="500"/>
                                        <p:tgtEl>
                                          <p:spTgt spid="12083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20870"/>
                                        </p:tgtEl>
                                        <p:attrNameLst>
                                          <p:attrName>style.visibility</p:attrName>
                                        </p:attrNameLst>
                                      </p:cBhvr>
                                      <p:to>
                                        <p:strVal val="visible"/>
                                      </p:to>
                                    </p:set>
                                    <p:animEffect transition="in" filter="wipe(left)">
                                      <p:cBhvr>
                                        <p:cTn id="25" dur="500"/>
                                        <p:tgtEl>
                                          <p:spTgt spid="12087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0871"/>
                                        </p:tgtEl>
                                        <p:attrNameLst>
                                          <p:attrName>style.visibility</p:attrName>
                                        </p:attrNameLst>
                                      </p:cBhvr>
                                      <p:to>
                                        <p:strVal val="visible"/>
                                      </p:to>
                                    </p:set>
                                    <p:animEffect transition="in" filter="wipe(left)">
                                      <p:cBhvr>
                                        <p:cTn id="30" dur="500"/>
                                        <p:tgtEl>
                                          <p:spTgt spid="12087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0872"/>
                                        </p:tgtEl>
                                        <p:attrNameLst>
                                          <p:attrName>style.visibility</p:attrName>
                                        </p:attrNameLst>
                                      </p:cBhvr>
                                      <p:to>
                                        <p:strVal val="visible"/>
                                      </p:to>
                                    </p:set>
                                    <p:animEffect transition="in" filter="wipe(left)">
                                      <p:cBhvr>
                                        <p:cTn id="35" dur="500"/>
                                        <p:tgtEl>
                                          <p:spTgt spid="120872"/>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20873"/>
                                        </p:tgtEl>
                                        <p:attrNameLst>
                                          <p:attrName>style.visibility</p:attrName>
                                        </p:attrNameLst>
                                      </p:cBhvr>
                                      <p:to>
                                        <p:strVal val="visible"/>
                                      </p:to>
                                    </p:set>
                                    <p:animEffect transition="in" filter="wipe(left)">
                                      <p:cBhvr>
                                        <p:cTn id="39" dur="500"/>
                                        <p:tgtEl>
                                          <p:spTgt spid="120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utoUpdateAnimBg="0"/>
      <p:bldP spid="120837" grpId="0" autoUpdateAnimBg="0"/>
      <p:bldP spid="120869" grpId="0"/>
      <p:bldP spid="120871" grpId="0"/>
      <p:bldP spid="12087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5" name="Text Box 3"/>
          <p:cNvSpPr txBox="1">
            <a:spLocks noChangeArrowheads="1"/>
          </p:cNvSpPr>
          <p:nvPr/>
        </p:nvSpPr>
        <p:spPr bwMode="auto">
          <a:xfrm>
            <a:off x="717550" y="514350"/>
            <a:ext cx="1711325" cy="479425"/>
          </a:xfrm>
          <a:prstGeom prst="rect">
            <a:avLst/>
          </a:prstGeom>
          <a:noFill/>
          <a:ln w="9525" algn="ctr">
            <a:noFill/>
            <a:miter lim="800000"/>
            <a:headEnd/>
            <a:tailEnd/>
          </a:ln>
        </p:spPr>
        <p:txBody>
          <a:bodyPr>
            <a:spAutoFit/>
          </a:bodyPr>
          <a:lstStyle/>
          <a:p>
            <a:pPr>
              <a:lnSpc>
                <a:spcPct val="115000"/>
              </a:lnSpc>
              <a:buClr>
                <a:srgbClr val="CC0000"/>
              </a:buClr>
              <a:buFont typeface="Wingdings" pitchFamily="2" charset="2"/>
              <a:buNone/>
              <a:defRPr/>
            </a:pPr>
            <a:r>
              <a:rPr kumimoji="1" lang="zh-CN" altLang="en-US" sz="2400" b="1" dirty="0">
                <a:solidFill>
                  <a:srgbClr val="FF0000"/>
                </a:solidFill>
                <a:latin typeface="Times New Roman" pitchFamily="18" charset="0"/>
                <a:ea typeface="+mn-ea"/>
                <a:cs typeface="Times New Roman" pitchFamily="18" charset="0"/>
              </a:rPr>
              <a:t>说明</a:t>
            </a:r>
          </a:p>
        </p:txBody>
      </p:sp>
      <p:sp>
        <p:nvSpPr>
          <p:cNvPr id="356356" name="AutoShape 4"/>
          <p:cNvSpPr>
            <a:spLocks noChangeArrowheads="1"/>
          </p:cNvSpPr>
          <p:nvPr/>
        </p:nvSpPr>
        <p:spPr bwMode="auto">
          <a:xfrm>
            <a:off x="357188" y="49530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
        <p:nvSpPr>
          <p:cNvPr id="356364" name="Rectangle 12"/>
          <p:cNvSpPr>
            <a:spLocks noChangeArrowheads="1"/>
          </p:cNvSpPr>
          <p:nvPr/>
        </p:nvSpPr>
        <p:spPr bwMode="auto">
          <a:xfrm>
            <a:off x="277813" y="1163638"/>
            <a:ext cx="7893050" cy="493712"/>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熵是</a:t>
            </a:r>
            <a:r>
              <a:rPr kumimoji="1" lang="zh-CN" altLang="en-US" sz="2400" b="1" dirty="0">
                <a:solidFill>
                  <a:srgbClr val="FF0000"/>
                </a:solidFill>
                <a:latin typeface="Times New Roman" pitchFamily="18" charset="0"/>
                <a:ea typeface="+mn-ea"/>
                <a:cs typeface="Times New Roman" pitchFamily="18" charset="0"/>
              </a:rPr>
              <a:t>状态函数</a:t>
            </a:r>
            <a:r>
              <a:rPr kumimoji="1" lang="zh-CN" altLang="en-US" sz="2400" b="1" dirty="0">
                <a:latin typeface="Times New Roman" pitchFamily="18" charset="0"/>
                <a:ea typeface="+mn-ea"/>
                <a:cs typeface="Times New Roman" pitchFamily="18" charset="0"/>
              </a:rPr>
              <a:t>，始末两平衡态间的熵增与过程无关。</a:t>
            </a:r>
          </a:p>
        </p:txBody>
      </p:sp>
      <p:sp>
        <p:nvSpPr>
          <p:cNvPr id="356365" name="Rectangle 13"/>
          <p:cNvSpPr>
            <a:spLocks noChangeArrowheads="1"/>
          </p:cNvSpPr>
          <p:nvPr/>
        </p:nvSpPr>
        <p:spPr bwMode="auto">
          <a:xfrm>
            <a:off x="290513" y="1714500"/>
            <a:ext cx="8353425" cy="493713"/>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(2)  </a:t>
            </a:r>
            <a:r>
              <a:rPr kumimoji="1" lang="zh-CN" altLang="en-US" sz="2400" b="1" dirty="0">
                <a:latin typeface="Times New Roman" pitchFamily="18" charset="0"/>
                <a:ea typeface="+mn-ea"/>
                <a:cs typeface="Times New Roman" pitchFamily="18" charset="0"/>
              </a:rPr>
              <a:t>某一平衡态的熵值是相对量，与熵的</a:t>
            </a:r>
            <a:r>
              <a:rPr kumimoji="1" lang="zh-CN" altLang="en-US" sz="2400" b="1" dirty="0">
                <a:solidFill>
                  <a:srgbClr val="FF0000"/>
                </a:solidFill>
                <a:latin typeface="Times New Roman" pitchFamily="18" charset="0"/>
                <a:ea typeface="+mn-ea"/>
                <a:cs typeface="Times New Roman" pitchFamily="18" charset="0"/>
              </a:rPr>
              <a:t>参考点</a:t>
            </a:r>
            <a:r>
              <a:rPr kumimoji="1" lang="zh-CN" altLang="en-US" sz="2400" b="1" dirty="0">
                <a:latin typeface="Times New Roman" pitchFamily="18" charset="0"/>
                <a:ea typeface="+mn-ea"/>
                <a:cs typeface="Times New Roman" pitchFamily="18" charset="0"/>
              </a:rPr>
              <a:t>选择有关。</a:t>
            </a:r>
          </a:p>
        </p:txBody>
      </p:sp>
      <p:sp>
        <p:nvSpPr>
          <p:cNvPr id="356366" name="Rectangle 14"/>
          <p:cNvSpPr>
            <a:spLocks noChangeArrowheads="1"/>
          </p:cNvSpPr>
          <p:nvPr/>
        </p:nvSpPr>
        <p:spPr bwMode="auto">
          <a:xfrm>
            <a:off x="287338" y="2246313"/>
            <a:ext cx="7999412" cy="2441575"/>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(3)  </a:t>
            </a:r>
            <a:r>
              <a:rPr kumimoji="1" lang="zh-CN" altLang="en-US" sz="2400" b="1" dirty="0">
                <a:latin typeface="Times New Roman" pitchFamily="18" charset="0"/>
                <a:ea typeface="+mn-ea"/>
                <a:cs typeface="Times New Roman" pitchFamily="18" charset="0"/>
              </a:rPr>
              <a:t>计算两平衡态之间的熵变时，其积分要求沿连接该两态的</a:t>
            </a:r>
            <a:r>
              <a:rPr kumimoji="1" lang="zh-CN" altLang="en-US" sz="2400" b="1" dirty="0">
                <a:solidFill>
                  <a:srgbClr val="FF0000"/>
                </a:solidFill>
                <a:latin typeface="Times New Roman" pitchFamily="18" charset="0"/>
                <a:ea typeface="+mn-ea"/>
                <a:cs typeface="Times New Roman" pitchFamily="18" charset="0"/>
              </a:rPr>
              <a:t>可逆过程</a:t>
            </a:r>
            <a:r>
              <a:rPr kumimoji="1" lang="zh-CN" altLang="en-US" sz="2400" b="1" dirty="0">
                <a:latin typeface="Times New Roman" pitchFamily="18" charset="0"/>
                <a:ea typeface="+mn-ea"/>
                <a:cs typeface="Times New Roman" pitchFamily="18" charset="0"/>
              </a:rPr>
              <a:t>进行。因此，当始、末两平衡态间经历的是不可逆过程时，需设计一个可逆过程连接始末两态，沿此可逆过程利用</a:t>
            </a:r>
            <a:r>
              <a:rPr kumimoji="1" lang="zh-CN" altLang="en-US" sz="2400" b="1" dirty="0">
                <a:solidFill>
                  <a:srgbClr val="FF3300"/>
                </a:solidFill>
                <a:latin typeface="Times New Roman" pitchFamily="18" charset="0"/>
                <a:ea typeface="+mn-ea"/>
                <a:cs typeface="Times New Roman" pitchFamily="18" charset="0"/>
              </a:rPr>
              <a:t>克劳修斯熵公式</a:t>
            </a:r>
            <a:r>
              <a:rPr kumimoji="1" lang="zh-CN" altLang="en-US" sz="2400" b="1" dirty="0">
                <a:latin typeface="Times New Roman" pitchFamily="18" charset="0"/>
                <a:ea typeface="+mn-ea"/>
                <a:cs typeface="Times New Roman" pitchFamily="18" charset="0"/>
              </a:rPr>
              <a:t>计算熵变，设计得合适会使计算变得方便。</a:t>
            </a:r>
            <a:r>
              <a:rPr kumimoji="1" lang="zh-CN" altLang="en-US" sz="2400" dirty="0">
                <a:latin typeface="Times New Roman" pitchFamily="18" charset="0"/>
                <a:ea typeface="+mn-ea"/>
                <a:cs typeface="Times New Roman" pitchFamily="18" charset="0"/>
              </a:rPr>
              <a:t> </a:t>
            </a:r>
          </a:p>
        </p:txBody>
      </p:sp>
      <p:sp>
        <p:nvSpPr>
          <p:cNvPr id="356367" name="Rectangle 15"/>
          <p:cNvSpPr>
            <a:spLocks noChangeArrowheads="1"/>
          </p:cNvSpPr>
          <p:nvPr/>
        </p:nvSpPr>
        <p:spPr bwMode="auto">
          <a:xfrm>
            <a:off x="280988" y="4643438"/>
            <a:ext cx="8001000" cy="979487"/>
          </a:xfrm>
          <a:prstGeom prst="rect">
            <a:avLst/>
          </a:prstGeom>
          <a:noFill/>
          <a:ln w="9525">
            <a:noFill/>
            <a:miter lim="800000"/>
            <a:headEnd/>
            <a:tailEnd/>
          </a:ln>
        </p:spPr>
        <p:txBody>
          <a:bodyPr>
            <a:spAutoFit/>
          </a:bodyPr>
          <a:lstStyle/>
          <a:p>
            <a:pPr>
              <a:lnSpc>
                <a:spcPct val="120000"/>
              </a:lnSpc>
              <a:defRPr/>
            </a:pPr>
            <a:r>
              <a:rPr kumimoji="1" lang="en-US" altLang="zh-CN" sz="2400" b="1" dirty="0">
                <a:latin typeface="Times New Roman" pitchFamily="18" charset="0"/>
                <a:ea typeface="+mn-ea"/>
                <a:cs typeface="Times New Roman" pitchFamily="18" charset="0"/>
              </a:rPr>
              <a:t>(4)  </a:t>
            </a:r>
            <a:r>
              <a:rPr kumimoji="1" lang="zh-CN" altLang="en-US" sz="2400" b="1" dirty="0">
                <a:latin typeface="Times New Roman" pitchFamily="18" charset="0"/>
                <a:ea typeface="+mn-ea"/>
                <a:cs typeface="Times New Roman" pitchFamily="18" charset="0"/>
              </a:rPr>
              <a:t>系统如分为几个部分，则总的熵变等于各部分熵变的代数和，即熵具有</a:t>
            </a:r>
            <a:r>
              <a:rPr kumimoji="1" lang="zh-CN" altLang="en-US" sz="2400" b="1" dirty="0">
                <a:solidFill>
                  <a:srgbClr val="FF0000"/>
                </a:solidFill>
                <a:latin typeface="Times New Roman" pitchFamily="18" charset="0"/>
                <a:ea typeface="+mn-ea"/>
                <a:cs typeface="Times New Roman" pitchFamily="18" charset="0"/>
              </a:rPr>
              <a:t>可叠加性</a:t>
            </a:r>
            <a:r>
              <a:rPr kumimoji="1" lang="zh-CN" altLang="en-US" sz="2400" b="1" dirty="0">
                <a:latin typeface="Times New Roman" pitchFamily="18" charset="0"/>
                <a:ea typeface="+mn-ea"/>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56356"/>
                                        </p:tgtEl>
                                        <p:attrNameLst>
                                          <p:attrName>style.visibility</p:attrName>
                                        </p:attrNameLst>
                                      </p:cBhvr>
                                      <p:to>
                                        <p:strVal val="visible"/>
                                      </p:to>
                                    </p:set>
                                    <p:anim calcmode="lin" valueType="num">
                                      <p:cBhvr>
                                        <p:cTn id="7" dur="500" fill="hold"/>
                                        <p:tgtEl>
                                          <p:spTgt spid="356356"/>
                                        </p:tgtEl>
                                        <p:attrNameLst>
                                          <p:attrName>ppt_w</p:attrName>
                                        </p:attrNameLst>
                                      </p:cBhvr>
                                      <p:tavLst>
                                        <p:tav tm="0">
                                          <p:val>
                                            <p:fltVal val="0"/>
                                          </p:val>
                                        </p:tav>
                                        <p:tav tm="100000">
                                          <p:val>
                                            <p:strVal val="#ppt_w"/>
                                          </p:val>
                                        </p:tav>
                                      </p:tavLst>
                                    </p:anim>
                                    <p:anim calcmode="lin" valueType="num">
                                      <p:cBhvr>
                                        <p:cTn id="8" dur="500" fill="hold"/>
                                        <p:tgtEl>
                                          <p:spTgt spid="35635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56355"/>
                                        </p:tgtEl>
                                        <p:attrNameLst>
                                          <p:attrName>style.visibility</p:attrName>
                                        </p:attrNameLst>
                                      </p:cBhvr>
                                      <p:to>
                                        <p:strVal val="visible"/>
                                      </p:to>
                                    </p:set>
                                    <p:animEffect transition="in" filter="wipe(left)">
                                      <p:cBhvr>
                                        <p:cTn id="12" dur="500"/>
                                        <p:tgtEl>
                                          <p:spTgt spid="3563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6364"/>
                                        </p:tgtEl>
                                        <p:attrNameLst>
                                          <p:attrName>style.visibility</p:attrName>
                                        </p:attrNameLst>
                                      </p:cBhvr>
                                      <p:to>
                                        <p:strVal val="visible"/>
                                      </p:to>
                                    </p:set>
                                    <p:animEffect transition="in" filter="wipe(left)">
                                      <p:cBhvr>
                                        <p:cTn id="17" dur="500"/>
                                        <p:tgtEl>
                                          <p:spTgt spid="3563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6365"/>
                                        </p:tgtEl>
                                        <p:attrNameLst>
                                          <p:attrName>style.visibility</p:attrName>
                                        </p:attrNameLst>
                                      </p:cBhvr>
                                      <p:to>
                                        <p:strVal val="visible"/>
                                      </p:to>
                                    </p:set>
                                    <p:animEffect transition="in" filter="wipe(left)">
                                      <p:cBhvr>
                                        <p:cTn id="22" dur="500"/>
                                        <p:tgtEl>
                                          <p:spTgt spid="3563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6366"/>
                                        </p:tgtEl>
                                        <p:attrNameLst>
                                          <p:attrName>style.visibility</p:attrName>
                                        </p:attrNameLst>
                                      </p:cBhvr>
                                      <p:to>
                                        <p:strVal val="visible"/>
                                      </p:to>
                                    </p:set>
                                    <p:animEffect transition="in" filter="wipe(left)">
                                      <p:cBhvr>
                                        <p:cTn id="27" dur="500"/>
                                        <p:tgtEl>
                                          <p:spTgt spid="3563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6367"/>
                                        </p:tgtEl>
                                        <p:attrNameLst>
                                          <p:attrName>style.visibility</p:attrName>
                                        </p:attrNameLst>
                                      </p:cBhvr>
                                      <p:to>
                                        <p:strVal val="visible"/>
                                      </p:to>
                                    </p:set>
                                    <p:animEffect transition="in" filter="wipe(left)">
                                      <p:cBhvr>
                                        <p:cTn id="32" dur="500"/>
                                        <p:tgtEl>
                                          <p:spTgt spid="356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p:bldP spid="356356" grpId="0" animBg="1"/>
      <p:bldP spid="356364" grpId="0" autoUpdateAnimBg="0"/>
      <p:bldP spid="356365" grpId="0" autoUpdateAnimBg="0"/>
      <p:bldP spid="356366" grpId="0" autoUpdateAnimBg="0"/>
      <p:bldP spid="356367"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6" name="Text Box 6"/>
          <p:cNvSpPr txBox="1">
            <a:spLocks noChangeArrowheads="1"/>
          </p:cNvSpPr>
          <p:nvPr/>
        </p:nvSpPr>
        <p:spPr bwMode="auto">
          <a:xfrm>
            <a:off x="684213" y="476250"/>
            <a:ext cx="8208962" cy="1406525"/>
          </a:xfrm>
          <a:prstGeom prst="rect">
            <a:avLst/>
          </a:prstGeom>
          <a:noFill/>
          <a:ln w="9525">
            <a:noFill/>
            <a:miter lim="800000"/>
            <a:headEnd/>
            <a:tailEnd/>
          </a:ln>
        </p:spPr>
        <p:txBody>
          <a:bodyPr>
            <a:spAutoFit/>
          </a:bodyPr>
          <a:lstStyle/>
          <a:p>
            <a:pPr eaLnBrk="0" hangingPunct="0">
              <a:lnSpc>
                <a:spcPct val="120000"/>
              </a:lnSpc>
            </a:pPr>
            <a:r>
              <a:rPr lang="en-US" altLang="zh-CN" sz="2400" b="1">
                <a:solidFill>
                  <a:srgbClr val="FF0000"/>
                </a:solidFill>
                <a:latin typeface="Times New Roman" pitchFamily="18" charset="0"/>
              </a:rPr>
              <a:t>1 mol </a:t>
            </a:r>
            <a:r>
              <a:rPr lang="zh-CN" altLang="en-US" sz="2400" b="1">
                <a:latin typeface="宋体" charset="-122"/>
              </a:rPr>
              <a:t>某种理想气体，从状态 </a:t>
            </a:r>
            <a:r>
              <a:rPr lang="en-US" altLang="zh-CN" sz="2400" b="1" i="1">
                <a:solidFill>
                  <a:srgbClr val="FF3300"/>
                </a:solidFill>
                <a:latin typeface="Times New Roman" pitchFamily="18" charset="0"/>
              </a:rPr>
              <a:t>a </a:t>
            </a:r>
            <a:r>
              <a:rPr lang="en-US" altLang="zh-CN" sz="2400" b="1">
                <a:solidFill>
                  <a:srgbClr val="FF3300"/>
                </a:solidFill>
                <a:latin typeface="Times New Roman" pitchFamily="18" charset="0"/>
              </a:rPr>
              <a:t>(</a:t>
            </a:r>
            <a:r>
              <a:rPr lang="en-US" altLang="zh-CN" sz="2400" b="1" i="1">
                <a:solidFill>
                  <a:srgbClr val="FF3300"/>
                </a:solidFill>
                <a:latin typeface="Times New Roman" pitchFamily="18" charset="0"/>
              </a:rPr>
              <a:t>p</a:t>
            </a:r>
            <a:r>
              <a:rPr lang="en-US" altLang="zh-CN" sz="2400" b="1" i="1" baseline="-25000">
                <a:solidFill>
                  <a:srgbClr val="FF3300"/>
                </a:solidFill>
                <a:latin typeface="Times New Roman" pitchFamily="18" charset="0"/>
              </a:rPr>
              <a:t>a </a:t>
            </a:r>
            <a:r>
              <a:rPr lang="en-US" altLang="zh-CN" sz="2400" b="1" i="1">
                <a:solidFill>
                  <a:srgbClr val="FF3300"/>
                </a:solidFill>
                <a:latin typeface="Times New Roman" pitchFamily="18" charset="0"/>
              </a:rPr>
              <a:t>, V</a:t>
            </a:r>
            <a:r>
              <a:rPr lang="en-US" altLang="zh-CN" sz="2400" b="1" i="1" baseline="-25000">
                <a:solidFill>
                  <a:srgbClr val="FF3300"/>
                </a:solidFill>
                <a:latin typeface="Times New Roman" pitchFamily="18" charset="0"/>
              </a:rPr>
              <a:t>a </a:t>
            </a:r>
            <a:r>
              <a:rPr lang="en-US" altLang="zh-CN" sz="2400" b="1" i="1">
                <a:solidFill>
                  <a:srgbClr val="FF3300"/>
                </a:solidFill>
                <a:latin typeface="Times New Roman" pitchFamily="18" charset="0"/>
              </a:rPr>
              <a:t>, T</a:t>
            </a:r>
            <a:r>
              <a:rPr lang="en-US" altLang="zh-CN" sz="2400" b="1" i="1" baseline="-25000">
                <a:solidFill>
                  <a:srgbClr val="FF3300"/>
                </a:solidFill>
                <a:latin typeface="Times New Roman" pitchFamily="18" charset="0"/>
              </a:rPr>
              <a:t>a</a:t>
            </a:r>
            <a:r>
              <a:rPr lang="en-US" altLang="zh-CN" sz="2400" b="1">
                <a:solidFill>
                  <a:srgbClr val="FF3300"/>
                </a:solidFill>
                <a:latin typeface="Times New Roman" pitchFamily="18" charset="0"/>
              </a:rPr>
              <a:t>)</a:t>
            </a:r>
            <a:r>
              <a:rPr lang="en-US" altLang="zh-CN" sz="2400" b="1">
                <a:latin typeface="宋体" charset="-122"/>
              </a:rPr>
              <a:t> </a:t>
            </a:r>
            <a:r>
              <a:rPr lang="zh-CN" altLang="en-US" sz="2400" b="1">
                <a:latin typeface="宋体" charset="-122"/>
              </a:rPr>
              <a:t>变到状态 </a:t>
            </a:r>
            <a:r>
              <a:rPr lang="en-US" altLang="zh-CN" sz="2400" b="1" i="1">
                <a:solidFill>
                  <a:srgbClr val="FF3300"/>
                </a:solidFill>
                <a:latin typeface="Times New Roman" pitchFamily="18" charset="0"/>
              </a:rPr>
              <a:t>b </a:t>
            </a:r>
            <a:r>
              <a:rPr lang="en-US" altLang="zh-CN" sz="2400" b="1">
                <a:solidFill>
                  <a:srgbClr val="FF3300"/>
                </a:solidFill>
                <a:latin typeface="Times New Roman" pitchFamily="18" charset="0"/>
              </a:rPr>
              <a:t>(</a:t>
            </a:r>
            <a:r>
              <a:rPr lang="en-US" altLang="zh-CN" sz="2400" b="1" i="1">
                <a:solidFill>
                  <a:srgbClr val="FF3300"/>
                </a:solidFill>
                <a:latin typeface="Times New Roman" pitchFamily="18" charset="0"/>
              </a:rPr>
              <a:t>p</a:t>
            </a:r>
            <a:r>
              <a:rPr lang="en-US" altLang="zh-CN" sz="2400" b="1" i="1" baseline="-25000">
                <a:solidFill>
                  <a:srgbClr val="FF3300"/>
                </a:solidFill>
                <a:latin typeface="Times New Roman" pitchFamily="18" charset="0"/>
              </a:rPr>
              <a:t>b</a:t>
            </a:r>
            <a:r>
              <a:rPr lang="en-US" altLang="zh-CN" sz="2400" b="1" i="1">
                <a:solidFill>
                  <a:srgbClr val="FF3300"/>
                </a:solidFill>
                <a:latin typeface="Times New Roman" pitchFamily="18" charset="0"/>
              </a:rPr>
              <a:t> , V</a:t>
            </a:r>
            <a:r>
              <a:rPr lang="en-US" altLang="zh-CN" sz="2400" b="1" i="1" baseline="-25000">
                <a:solidFill>
                  <a:srgbClr val="FF3300"/>
                </a:solidFill>
                <a:latin typeface="Times New Roman" pitchFamily="18" charset="0"/>
              </a:rPr>
              <a:t>b</a:t>
            </a:r>
            <a:r>
              <a:rPr lang="en-US" altLang="zh-CN" sz="2400" b="1" i="1">
                <a:solidFill>
                  <a:srgbClr val="FF3300"/>
                </a:solidFill>
                <a:latin typeface="Times New Roman" pitchFamily="18" charset="0"/>
              </a:rPr>
              <a:t> , T</a:t>
            </a:r>
            <a:r>
              <a:rPr lang="en-US" altLang="zh-CN" sz="2400" b="1" i="1" baseline="-25000">
                <a:solidFill>
                  <a:srgbClr val="FF3300"/>
                </a:solidFill>
                <a:latin typeface="Times New Roman" pitchFamily="18" charset="0"/>
              </a:rPr>
              <a:t>a</a:t>
            </a:r>
            <a:r>
              <a:rPr lang="en-US" altLang="zh-CN" sz="2400" b="1">
                <a:solidFill>
                  <a:srgbClr val="FF3300"/>
                </a:solidFill>
                <a:latin typeface="Times New Roman" pitchFamily="18" charset="0"/>
              </a:rPr>
              <a:t>)</a:t>
            </a:r>
            <a:r>
              <a:rPr lang="zh-CN" altLang="en-US" sz="2400" b="1">
                <a:latin typeface="宋体" charset="-122"/>
              </a:rPr>
              <a:t>。求克劳修斯熵变 </a:t>
            </a:r>
            <a:r>
              <a:rPr lang="en-US" altLang="zh-CN" sz="2400" b="1">
                <a:solidFill>
                  <a:srgbClr val="FF0000"/>
                </a:solidFill>
                <a:latin typeface="Symbol" pitchFamily="18" charset="2"/>
              </a:rPr>
              <a:t>D</a:t>
            </a:r>
            <a:r>
              <a:rPr lang="en-US" altLang="zh-CN" sz="2400" b="1" i="1">
                <a:solidFill>
                  <a:srgbClr val="FF0000"/>
                </a:solidFill>
                <a:latin typeface="Times New Roman" pitchFamily="18" charset="0"/>
              </a:rPr>
              <a:t>S </a:t>
            </a:r>
            <a:r>
              <a:rPr lang="zh-CN" altLang="en-US" sz="2400" b="1">
                <a:latin typeface="宋体" charset="-122"/>
              </a:rPr>
              <a:t>，若状态变化沿两条不同可逆路径，一条是等温；另一条是等体和等压组成，如图所示。</a:t>
            </a:r>
          </a:p>
        </p:txBody>
      </p:sp>
      <p:sp>
        <p:nvSpPr>
          <p:cNvPr id="122931" name="Text Box 51"/>
          <p:cNvSpPr txBox="1">
            <a:spLocks noChangeArrowheads="1"/>
          </p:cNvSpPr>
          <p:nvPr/>
        </p:nvSpPr>
        <p:spPr bwMode="auto">
          <a:xfrm>
            <a:off x="107950" y="500063"/>
            <a:ext cx="1152525" cy="530225"/>
          </a:xfrm>
          <a:prstGeom prst="rect">
            <a:avLst/>
          </a:prstGeom>
          <a:noFill/>
          <a:ln w="9525">
            <a:noFill/>
            <a:miter lim="800000"/>
            <a:headEnd/>
            <a:tailEnd/>
          </a:ln>
        </p:spPr>
        <p:txBody>
          <a:bodyPr>
            <a:spAutoFit/>
          </a:bodyPr>
          <a:lstStyle/>
          <a:p>
            <a:pPr eaLnBrk="0" hangingPunct="0">
              <a:lnSpc>
                <a:spcPct val="120000"/>
              </a:lnSpc>
            </a:pPr>
            <a:r>
              <a:rPr lang="zh-CN" altLang="en-US" sz="2400" b="1">
                <a:solidFill>
                  <a:srgbClr val="FF0000"/>
                </a:solidFill>
                <a:latin typeface="宋体" charset="-122"/>
              </a:rPr>
              <a:t>例</a:t>
            </a:r>
            <a:endParaRPr lang="zh-CN" altLang="en-US" sz="2400" b="1">
              <a:latin typeface="宋体" charset="-122"/>
            </a:endParaRPr>
          </a:p>
        </p:txBody>
      </p:sp>
      <p:grpSp>
        <p:nvGrpSpPr>
          <p:cNvPr id="2" name="Group 52"/>
          <p:cNvGrpSpPr>
            <a:grpSpLocks/>
          </p:cNvGrpSpPr>
          <p:nvPr/>
        </p:nvGrpSpPr>
        <p:grpSpPr bwMode="auto">
          <a:xfrm>
            <a:off x="6286500" y="1857375"/>
            <a:ext cx="2665413" cy="2311400"/>
            <a:chOff x="3923" y="1067"/>
            <a:chExt cx="1679" cy="1456"/>
          </a:xfrm>
        </p:grpSpPr>
        <p:sp>
          <p:nvSpPr>
            <p:cNvPr id="79893" name="Line 53"/>
            <p:cNvSpPr>
              <a:spLocks noChangeShapeType="1"/>
            </p:cNvSpPr>
            <p:nvPr/>
          </p:nvSpPr>
          <p:spPr bwMode="auto">
            <a:xfrm flipV="1">
              <a:off x="4150" y="1113"/>
              <a:ext cx="0" cy="1179"/>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9894" name="Line 54"/>
            <p:cNvSpPr>
              <a:spLocks noChangeShapeType="1"/>
            </p:cNvSpPr>
            <p:nvPr/>
          </p:nvSpPr>
          <p:spPr bwMode="auto">
            <a:xfrm>
              <a:off x="4150" y="2292"/>
              <a:ext cx="1452" cy="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9895" name="Line 55"/>
            <p:cNvSpPr>
              <a:spLocks noChangeShapeType="1"/>
            </p:cNvSpPr>
            <p:nvPr/>
          </p:nvSpPr>
          <p:spPr bwMode="auto">
            <a:xfrm>
              <a:off x="4468" y="1339"/>
              <a:ext cx="0" cy="726"/>
            </a:xfrm>
            <a:prstGeom prst="line">
              <a:avLst/>
            </a:prstGeom>
            <a:noFill/>
            <a:ln w="31750">
              <a:solidFill>
                <a:srgbClr val="0000FF"/>
              </a:solidFill>
              <a:round/>
              <a:headEnd/>
              <a:tailEnd/>
            </a:ln>
          </p:spPr>
          <p:txBody>
            <a:bodyPr wrap="none" anchor="ctr"/>
            <a:lstStyle/>
            <a:p>
              <a:endParaRPr lang="zh-CN" altLang="en-US"/>
            </a:p>
          </p:txBody>
        </p:sp>
        <p:sp>
          <p:nvSpPr>
            <p:cNvPr id="79896" name="Line 56"/>
            <p:cNvSpPr>
              <a:spLocks noChangeShapeType="1"/>
            </p:cNvSpPr>
            <p:nvPr/>
          </p:nvSpPr>
          <p:spPr bwMode="auto">
            <a:xfrm>
              <a:off x="4468" y="2065"/>
              <a:ext cx="680" cy="0"/>
            </a:xfrm>
            <a:prstGeom prst="line">
              <a:avLst/>
            </a:prstGeom>
            <a:noFill/>
            <a:ln w="31750">
              <a:solidFill>
                <a:srgbClr val="0000FF"/>
              </a:solidFill>
              <a:round/>
              <a:headEnd/>
              <a:tailEnd/>
            </a:ln>
          </p:spPr>
          <p:txBody>
            <a:bodyPr wrap="none" anchor="ctr"/>
            <a:lstStyle/>
            <a:p>
              <a:endParaRPr lang="zh-CN" altLang="en-US"/>
            </a:p>
          </p:txBody>
        </p:sp>
        <p:sp>
          <p:nvSpPr>
            <p:cNvPr id="79897" name="Freeform 57"/>
            <p:cNvSpPr>
              <a:spLocks/>
            </p:cNvSpPr>
            <p:nvPr/>
          </p:nvSpPr>
          <p:spPr bwMode="auto">
            <a:xfrm>
              <a:off x="4468" y="1339"/>
              <a:ext cx="668" cy="714"/>
            </a:xfrm>
            <a:custGeom>
              <a:avLst/>
              <a:gdLst>
                <a:gd name="T0" fmla="*/ 0 w 668"/>
                <a:gd name="T1" fmla="*/ 0 h 714"/>
                <a:gd name="T2" fmla="*/ 84 w 668"/>
                <a:gd name="T3" fmla="*/ 267 h 714"/>
                <a:gd name="T4" fmla="*/ 246 w 668"/>
                <a:gd name="T5" fmla="*/ 477 h 714"/>
                <a:gd name="T6" fmla="*/ 408 w 668"/>
                <a:gd name="T7" fmla="*/ 591 h 714"/>
                <a:gd name="T8" fmla="*/ 668 w 668"/>
                <a:gd name="T9" fmla="*/ 714 h 714"/>
                <a:gd name="T10" fmla="*/ 0 60000 65536"/>
                <a:gd name="T11" fmla="*/ 0 60000 65536"/>
                <a:gd name="T12" fmla="*/ 0 60000 65536"/>
                <a:gd name="T13" fmla="*/ 0 60000 65536"/>
                <a:gd name="T14" fmla="*/ 0 60000 65536"/>
                <a:gd name="T15" fmla="*/ 0 w 668"/>
                <a:gd name="T16" fmla="*/ 0 h 714"/>
                <a:gd name="T17" fmla="*/ 668 w 668"/>
                <a:gd name="T18" fmla="*/ 714 h 714"/>
              </a:gdLst>
              <a:ahLst/>
              <a:cxnLst>
                <a:cxn ang="T10">
                  <a:pos x="T0" y="T1"/>
                </a:cxn>
                <a:cxn ang="T11">
                  <a:pos x="T2" y="T3"/>
                </a:cxn>
                <a:cxn ang="T12">
                  <a:pos x="T4" y="T5"/>
                </a:cxn>
                <a:cxn ang="T13">
                  <a:pos x="T6" y="T7"/>
                </a:cxn>
                <a:cxn ang="T14">
                  <a:pos x="T8" y="T9"/>
                </a:cxn>
              </a:cxnLst>
              <a:rect l="T15" t="T16" r="T17" b="T18"/>
              <a:pathLst>
                <a:path w="668" h="714">
                  <a:moveTo>
                    <a:pt x="0" y="0"/>
                  </a:moveTo>
                  <a:cubicBezTo>
                    <a:pt x="14" y="44"/>
                    <a:pt x="43" y="188"/>
                    <a:pt x="84" y="267"/>
                  </a:cubicBezTo>
                  <a:cubicBezTo>
                    <a:pt x="125" y="346"/>
                    <a:pt x="192" y="423"/>
                    <a:pt x="246" y="477"/>
                  </a:cubicBezTo>
                  <a:cubicBezTo>
                    <a:pt x="300" y="531"/>
                    <a:pt x="338" y="552"/>
                    <a:pt x="408" y="591"/>
                  </a:cubicBezTo>
                  <a:cubicBezTo>
                    <a:pt x="478" y="630"/>
                    <a:pt x="614" y="689"/>
                    <a:pt x="668" y="714"/>
                  </a:cubicBezTo>
                </a:path>
              </a:pathLst>
            </a:custGeom>
            <a:noFill/>
            <a:ln w="31750">
              <a:solidFill>
                <a:srgbClr val="0000FF"/>
              </a:solidFill>
              <a:round/>
              <a:headEnd/>
              <a:tailEnd/>
            </a:ln>
          </p:spPr>
          <p:txBody>
            <a:bodyPr wrap="none" anchor="ctr"/>
            <a:lstStyle/>
            <a:p>
              <a:pPr algn="ctr"/>
              <a:endParaRPr lang="zh-CN" altLang="en-US"/>
            </a:p>
          </p:txBody>
        </p:sp>
        <p:sp>
          <p:nvSpPr>
            <p:cNvPr id="79898" name="Line 58"/>
            <p:cNvSpPr>
              <a:spLocks noChangeShapeType="1"/>
            </p:cNvSpPr>
            <p:nvPr/>
          </p:nvSpPr>
          <p:spPr bwMode="auto">
            <a:xfrm flipV="1">
              <a:off x="4468" y="1657"/>
              <a:ext cx="0" cy="136"/>
            </a:xfrm>
            <a:prstGeom prst="line">
              <a:avLst/>
            </a:prstGeom>
            <a:noFill/>
            <a:ln w="19050">
              <a:solidFill>
                <a:srgbClr val="FF0000"/>
              </a:solidFill>
              <a:round/>
              <a:headEnd type="triangle" w="med" len="med"/>
              <a:tailEnd/>
            </a:ln>
          </p:spPr>
          <p:txBody>
            <a:bodyPr wrap="none" anchor="ctr"/>
            <a:lstStyle/>
            <a:p>
              <a:endParaRPr lang="zh-CN" altLang="en-US"/>
            </a:p>
          </p:txBody>
        </p:sp>
        <p:sp>
          <p:nvSpPr>
            <p:cNvPr id="79899" name="Line 59"/>
            <p:cNvSpPr>
              <a:spLocks noChangeShapeType="1"/>
            </p:cNvSpPr>
            <p:nvPr/>
          </p:nvSpPr>
          <p:spPr bwMode="auto">
            <a:xfrm flipH="1">
              <a:off x="4695" y="2065"/>
              <a:ext cx="136" cy="0"/>
            </a:xfrm>
            <a:prstGeom prst="line">
              <a:avLst/>
            </a:prstGeom>
            <a:noFill/>
            <a:ln w="19050">
              <a:solidFill>
                <a:srgbClr val="FF0000"/>
              </a:solidFill>
              <a:round/>
              <a:headEnd type="triangle" w="med" len="med"/>
              <a:tailEnd/>
            </a:ln>
          </p:spPr>
          <p:txBody>
            <a:bodyPr wrap="none" anchor="ctr"/>
            <a:lstStyle/>
            <a:p>
              <a:endParaRPr lang="zh-CN" altLang="en-US"/>
            </a:p>
          </p:txBody>
        </p:sp>
        <p:sp>
          <p:nvSpPr>
            <p:cNvPr id="79900" name="Line 60"/>
            <p:cNvSpPr>
              <a:spLocks noChangeShapeType="1"/>
            </p:cNvSpPr>
            <p:nvPr/>
          </p:nvSpPr>
          <p:spPr bwMode="auto">
            <a:xfrm>
              <a:off x="4612" y="1698"/>
              <a:ext cx="83" cy="95"/>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79901" name="Text Box 61"/>
            <p:cNvSpPr txBox="1">
              <a:spLocks noChangeArrowheads="1"/>
            </p:cNvSpPr>
            <p:nvPr/>
          </p:nvSpPr>
          <p:spPr bwMode="auto">
            <a:xfrm>
              <a:off x="4014" y="2201"/>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o</a:t>
              </a:r>
            </a:p>
          </p:txBody>
        </p:sp>
        <p:sp>
          <p:nvSpPr>
            <p:cNvPr id="79902" name="Text Box 62"/>
            <p:cNvSpPr txBox="1">
              <a:spLocks noChangeArrowheads="1"/>
            </p:cNvSpPr>
            <p:nvPr/>
          </p:nvSpPr>
          <p:spPr bwMode="auto">
            <a:xfrm>
              <a:off x="4456" y="1194"/>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a</a:t>
              </a:r>
            </a:p>
          </p:txBody>
        </p:sp>
        <p:sp>
          <p:nvSpPr>
            <p:cNvPr id="79903" name="Text Box 63"/>
            <p:cNvSpPr txBox="1">
              <a:spLocks noChangeArrowheads="1"/>
            </p:cNvSpPr>
            <p:nvPr/>
          </p:nvSpPr>
          <p:spPr bwMode="auto">
            <a:xfrm>
              <a:off x="5118" y="1884"/>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b</a:t>
              </a:r>
            </a:p>
          </p:txBody>
        </p:sp>
        <p:sp>
          <p:nvSpPr>
            <p:cNvPr id="79904" name="Text Box 64"/>
            <p:cNvSpPr txBox="1">
              <a:spLocks noChangeArrowheads="1"/>
            </p:cNvSpPr>
            <p:nvPr/>
          </p:nvSpPr>
          <p:spPr bwMode="auto">
            <a:xfrm>
              <a:off x="4314" y="1872"/>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c</a:t>
              </a:r>
            </a:p>
          </p:txBody>
        </p:sp>
        <p:sp>
          <p:nvSpPr>
            <p:cNvPr id="79905" name="Text Box 65"/>
            <p:cNvSpPr txBox="1">
              <a:spLocks noChangeArrowheads="1"/>
            </p:cNvSpPr>
            <p:nvPr/>
          </p:nvSpPr>
          <p:spPr bwMode="auto">
            <a:xfrm>
              <a:off x="3969" y="1067"/>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p</a:t>
              </a:r>
            </a:p>
          </p:txBody>
        </p:sp>
        <p:sp>
          <p:nvSpPr>
            <p:cNvPr id="79906" name="Text Box 66"/>
            <p:cNvSpPr txBox="1">
              <a:spLocks noChangeArrowheads="1"/>
            </p:cNvSpPr>
            <p:nvPr/>
          </p:nvSpPr>
          <p:spPr bwMode="auto">
            <a:xfrm>
              <a:off x="3923" y="1203"/>
              <a:ext cx="27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p</a:t>
              </a:r>
              <a:r>
                <a:rPr lang="en-US" altLang="zh-CN" b="1" baseline="-25000">
                  <a:latin typeface="Times New Roman" pitchFamily="18" charset="0"/>
                </a:rPr>
                <a:t>1</a:t>
              </a:r>
              <a:endParaRPr lang="en-US" altLang="zh-CN" b="1">
                <a:latin typeface="Times New Roman" pitchFamily="18" charset="0"/>
              </a:endParaRPr>
            </a:p>
          </p:txBody>
        </p:sp>
        <p:sp>
          <p:nvSpPr>
            <p:cNvPr id="79907" name="Text Box 67"/>
            <p:cNvSpPr txBox="1">
              <a:spLocks noChangeArrowheads="1"/>
            </p:cNvSpPr>
            <p:nvPr/>
          </p:nvSpPr>
          <p:spPr bwMode="auto">
            <a:xfrm>
              <a:off x="4377" y="2292"/>
              <a:ext cx="27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V</a:t>
              </a:r>
              <a:r>
                <a:rPr lang="en-US" altLang="zh-CN" b="1" baseline="-25000">
                  <a:latin typeface="Times New Roman" pitchFamily="18" charset="0"/>
                </a:rPr>
                <a:t>1</a:t>
              </a:r>
              <a:endParaRPr lang="en-US" altLang="zh-CN" b="1">
                <a:latin typeface="Times New Roman" pitchFamily="18" charset="0"/>
              </a:endParaRPr>
            </a:p>
          </p:txBody>
        </p:sp>
        <p:sp>
          <p:nvSpPr>
            <p:cNvPr id="79908" name="Text Box 68"/>
            <p:cNvSpPr txBox="1">
              <a:spLocks noChangeArrowheads="1"/>
            </p:cNvSpPr>
            <p:nvPr/>
          </p:nvSpPr>
          <p:spPr bwMode="auto">
            <a:xfrm>
              <a:off x="5057" y="2292"/>
              <a:ext cx="273"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V</a:t>
              </a:r>
              <a:r>
                <a:rPr lang="en-US" altLang="zh-CN" b="1" baseline="-25000">
                  <a:latin typeface="Times New Roman" pitchFamily="18" charset="0"/>
                </a:rPr>
                <a:t>2</a:t>
              </a:r>
              <a:endParaRPr lang="en-US" altLang="zh-CN" b="1">
                <a:latin typeface="Times New Roman" pitchFamily="18" charset="0"/>
              </a:endParaRPr>
            </a:p>
          </p:txBody>
        </p:sp>
        <p:sp>
          <p:nvSpPr>
            <p:cNvPr id="79909" name="Text Box 69"/>
            <p:cNvSpPr txBox="1">
              <a:spLocks noChangeArrowheads="1"/>
            </p:cNvSpPr>
            <p:nvPr/>
          </p:nvSpPr>
          <p:spPr bwMode="auto">
            <a:xfrm>
              <a:off x="5420" y="2292"/>
              <a:ext cx="18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V</a:t>
              </a:r>
            </a:p>
          </p:txBody>
        </p:sp>
        <p:sp>
          <p:nvSpPr>
            <p:cNvPr id="79910" name="Line 70"/>
            <p:cNvSpPr>
              <a:spLocks noChangeShapeType="1"/>
            </p:cNvSpPr>
            <p:nvPr/>
          </p:nvSpPr>
          <p:spPr bwMode="auto">
            <a:xfrm flipH="1">
              <a:off x="4150" y="2065"/>
              <a:ext cx="318" cy="0"/>
            </a:xfrm>
            <a:prstGeom prst="line">
              <a:avLst/>
            </a:prstGeom>
            <a:noFill/>
            <a:ln w="25400">
              <a:solidFill>
                <a:srgbClr val="006600"/>
              </a:solidFill>
              <a:prstDash val="dash"/>
              <a:round/>
              <a:headEnd/>
              <a:tailEnd/>
            </a:ln>
          </p:spPr>
          <p:txBody>
            <a:bodyPr wrap="none" anchor="ctr"/>
            <a:lstStyle/>
            <a:p>
              <a:endParaRPr lang="zh-CN" altLang="en-US"/>
            </a:p>
          </p:txBody>
        </p:sp>
        <p:sp>
          <p:nvSpPr>
            <p:cNvPr id="79911" name="Line 71"/>
            <p:cNvSpPr>
              <a:spLocks noChangeShapeType="1"/>
            </p:cNvSpPr>
            <p:nvPr/>
          </p:nvSpPr>
          <p:spPr bwMode="auto">
            <a:xfrm>
              <a:off x="4468" y="2065"/>
              <a:ext cx="0" cy="227"/>
            </a:xfrm>
            <a:prstGeom prst="line">
              <a:avLst/>
            </a:prstGeom>
            <a:noFill/>
            <a:ln w="25400">
              <a:solidFill>
                <a:srgbClr val="006600"/>
              </a:solidFill>
              <a:prstDash val="dash"/>
              <a:round/>
              <a:headEnd/>
              <a:tailEnd/>
            </a:ln>
          </p:spPr>
          <p:txBody>
            <a:bodyPr wrap="none" anchor="ctr"/>
            <a:lstStyle/>
            <a:p>
              <a:endParaRPr lang="zh-CN" altLang="en-US"/>
            </a:p>
          </p:txBody>
        </p:sp>
        <p:sp>
          <p:nvSpPr>
            <p:cNvPr id="79912" name="Line 72"/>
            <p:cNvSpPr>
              <a:spLocks noChangeShapeType="1"/>
            </p:cNvSpPr>
            <p:nvPr/>
          </p:nvSpPr>
          <p:spPr bwMode="auto">
            <a:xfrm>
              <a:off x="5148" y="2065"/>
              <a:ext cx="0" cy="227"/>
            </a:xfrm>
            <a:prstGeom prst="line">
              <a:avLst/>
            </a:prstGeom>
            <a:noFill/>
            <a:ln w="25400">
              <a:solidFill>
                <a:srgbClr val="006600"/>
              </a:solidFill>
              <a:prstDash val="dash"/>
              <a:round/>
              <a:headEnd/>
              <a:tailEnd/>
            </a:ln>
          </p:spPr>
          <p:txBody>
            <a:bodyPr wrap="none" anchor="ctr"/>
            <a:lstStyle/>
            <a:p>
              <a:endParaRPr lang="zh-CN" altLang="en-US"/>
            </a:p>
          </p:txBody>
        </p:sp>
        <p:sp>
          <p:nvSpPr>
            <p:cNvPr id="79913" name="Line 73"/>
            <p:cNvSpPr>
              <a:spLocks noChangeShapeType="1"/>
            </p:cNvSpPr>
            <p:nvPr/>
          </p:nvSpPr>
          <p:spPr bwMode="auto">
            <a:xfrm flipH="1">
              <a:off x="4150" y="1339"/>
              <a:ext cx="318" cy="0"/>
            </a:xfrm>
            <a:prstGeom prst="line">
              <a:avLst/>
            </a:prstGeom>
            <a:noFill/>
            <a:ln w="25400">
              <a:solidFill>
                <a:srgbClr val="006600"/>
              </a:solidFill>
              <a:prstDash val="dash"/>
              <a:round/>
              <a:headEnd/>
              <a:tailEnd/>
            </a:ln>
          </p:spPr>
          <p:txBody>
            <a:bodyPr wrap="none" anchor="ctr"/>
            <a:lstStyle/>
            <a:p>
              <a:endParaRPr lang="zh-CN" altLang="en-US"/>
            </a:p>
          </p:txBody>
        </p:sp>
        <p:sp>
          <p:nvSpPr>
            <p:cNvPr id="79914" name="Text Box 74"/>
            <p:cNvSpPr txBox="1">
              <a:spLocks noChangeArrowheads="1"/>
            </p:cNvSpPr>
            <p:nvPr/>
          </p:nvSpPr>
          <p:spPr bwMode="auto">
            <a:xfrm>
              <a:off x="3923" y="1884"/>
              <a:ext cx="272" cy="231"/>
            </a:xfrm>
            <a:prstGeom prst="rect">
              <a:avLst/>
            </a:prstGeom>
            <a:noFill/>
            <a:ln w="19050" algn="ctr">
              <a:noFill/>
              <a:miter lim="800000"/>
              <a:headEnd/>
              <a:tailEnd/>
            </a:ln>
          </p:spPr>
          <p:txBody>
            <a:bodyPr>
              <a:spAutoFit/>
            </a:bodyPr>
            <a:lstStyle/>
            <a:p>
              <a:pPr>
                <a:spcBef>
                  <a:spcPct val="50000"/>
                </a:spcBef>
              </a:pPr>
              <a:r>
                <a:rPr lang="en-US" altLang="zh-CN" b="1" i="1">
                  <a:latin typeface="Times New Roman" pitchFamily="18" charset="0"/>
                </a:rPr>
                <a:t>p</a:t>
              </a:r>
              <a:r>
                <a:rPr lang="en-US" altLang="zh-CN" b="1" baseline="-25000">
                  <a:latin typeface="Times New Roman" pitchFamily="18" charset="0"/>
                </a:rPr>
                <a:t>2</a:t>
              </a:r>
              <a:endParaRPr lang="en-US" altLang="zh-CN" b="1">
                <a:latin typeface="Times New Roman" pitchFamily="18" charset="0"/>
              </a:endParaRPr>
            </a:p>
          </p:txBody>
        </p:sp>
      </p:grpSp>
      <p:sp>
        <p:nvSpPr>
          <p:cNvPr id="122955" name="Text Box 75"/>
          <p:cNvSpPr txBox="1">
            <a:spLocks noChangeArrowheads="1"/>
          </p:cNvSpPr>
          <p:nvPr/>
        </p:nvSpPr>
        <p:spPr bwMode="auto">
          <a:xfrm>
            <a:off x="179388" y="1857375"/>
            <a:ext cx="1152525" cy="530225"/>
          </a:xfrm>
          <a:prstGeom prst="rect">
            <a:avLst/>
          </a:prstGeom>
          <a:noFill/>
          <a:ln w="9525">
            <a:noFill/>
            <a:miter lim="800000"/>
            <a:headEnd/>
            <a:tailEnd/>
          </a:ln>
        </p:spPr>
        <p:txBody>
          <a:bodyPr>
            <a:spAutoFit/>
          </a:bodyPr>
          <a:lstStyle/>
          <a:p>
            <a:pPr eaLnBrk="0" hangingPunct="0">
              <a:lnSpc>
                <a:spcPct val="120000"/>
              </a:lnSpc>
            </a:pPr>
            <a:r>
              <a:rPr lang="zh-CN" altLang="en-US" sz="2400" b="1">
                <a:solidFill>
                  <a:srgbClr val="FF0000"/>
                </a:solidFill>
                <a:latin typeface="Times New Roman" pitchFamily="18" charset="0"/>
              </a:rPr>
              <a:t>解</a:t>
            </a:r>
          </a:p>
        </p:txBody>
      </p:sp>
      <p:sp>
        <p:nvSpPr>
          <p:cNvPr id="122956" name="Text Box 76"/>
          <p:cNvSpPr txBox="1">
            <a:spLocks noChangeArrowheads="1"/>
          </p:cNvSpPr>
          <p:nvPr/>
        </p:nvSpPr>
        <p:spPr bwMode="auto">
          <a:xfrm>
            <a:off x="755650" y="1857375"/>
            <a:ext cx="2879725" cy="534988"/>
          </a:xfrm>
          <a:prstGeom prst="rect">
            <a:avLst/>
          </a:prstGeom>
          <a:noFill/>
          <a:ln w="9525">
            <a:noFill/>
            <a:miter lim="800000"/>
            <a:headEnd/>
            <a:tailEnd/>
          </a:ln>
        </p:spPr>
        <p:txBody>
          <a:bodyPr>
            <a:spAutoFit/>
          </a:bodyPr>
          <a:lstStyle/>
          <a:p>
            <a:pPr eaLnBrk="0" hangingPunct="0">
              <a:lnSpc>
                <a:spcPct val="120000"/>
              </a:lnSpc>
              <a:defRPr/>
            </a:pPr>
            <a:r>
              <a:rPr lang="zh-CN" altLang="en-US" sz="2400" b="1" dirty="0">
                <a:latin typeface="Times New Roman" pitchFamily="18" charset="0"/>
                <a:ea typeface="+mn-ea"/>
                <a:cs typeface="Times New Roman" pitchFamily="18" charset="0"/>
              </a:rPr>
              <a:t>沿等温线</a:t>
            </a:r>
            <a:r>
              <a:rPr lang="en-US" altLang="zh-CN" sz="2400" b="1" i="1" dirty="0" err="1">
                <a:solidFill>
                  <a:srgbClr val="FF0000"/>
                </a:solidFill>
                <a:latin typeface="Times New Roman" pitchFamily="18" charset="0"/>
                <a:ea typeface="+mn-ea"/>
                <a:cs typeface="Times New Roman" pitchFamily="18" charset="0"/>
              </a:rPr>
              <a:t>ab</a:t>
            </a:r>
            <a:r>
              <a:rPr lang="zh-CN" altLang="en-US" sz="2400" b="1" dirty="0">
                <a:latin typeface="Times New Roman" pitchFamily="18" charset="0"/>
                <a:ea typeface="+mn-ea"/>
                <a:cs typeface="Times New Roman" pitchFamily="18" charset="0"/>
              </a:rPr>
              <a:t>路径</a:t>
            </a:r>
            <a:endParaRPr lang="en-US" altLang="zh-CN" sz="2400" b="1" dirty="0">
              <a:latin typeface="Times New Roman" pitchFamily="18" charset="0"/>
              <a:ea typeface="+mn-ea"/>
              <a:cs typeface="Times New Roman" pitchFamily="18" charset="0"/>
            </a:endParaRPr>
          </a:p>
        </p:txBody>
      </p:sp>
      <p:graphicFrame>
        <p:nvGraphicFramePr>
          <p:cNvPr id="122957" name="Object 77"/>
          <p:cNvGraphicFramePr>
            <a:graphicFrameLocks noChangeAspect="1"/>
          </p:cNvGraphicFramePr>
          <p:nvPr/>
        </p:nvGraphicFramePr>
        <p:xfrm>
          <a:off x="857250" y="2428875"/>
          <a:ext cx="2925763" cy="619125"/>
        </p:xfrm>
        <a:graphic>
          <a:graphicData uri="http://schemas.openxmlformats.org/presentationml/2006/ole">
            <p:oleObj spid="_x0000_s79874" name="Equation" r:id="rId3" imgW="1587240" imgH="393480" progId="">
              <p:embed/>
            </p:oleObj>
          </a:graphicData>
        </a:graphic>
      </p:graphicFrame>
      <p:graphicFrame>
        <p:nvGraphicFramePr>
          <p:cNvPr id="122958" name="Object 78"/>
          <p:cNvGraphicFramePr>
            <a:graphicFrameLocks noChangeAspect="1"/>
          </p:cNvGraphicFramePr>
          <p:nvPr/>
        </p:nvGraphicFramePr>
        <p:xfrm>
          <a:off x="3786188" y="2428875"/>
          <a:ext cx="2482850" cy="620713"/>
        </p:xfrm>
        <a:graphic>
          <a:graphicData uri="http://schemas.openxmlformats.org/presentationml/2006/ole">
            <p:oleObj spid="_x0000_s79875" name="Equation" r:id="rId4" imgW="1473200" imgH="431800" progId="">
              <p:embed/>
            </p:oleObj>
          </a:graphicData>
        </a:graphic>
      </p:graphicFrame>
      <p:sp>
        <p:nvSpPr>
          <p:cNvPr id="122959" name="Text Box 79"/>
          <p:cNvSpPr txBox="1">
            <a:spLocks noChangeArrowheads="1"/>
          </p:cNvSpPr>
          <p:nvPr/>
        </p:nvSpPr>
        <p:spPr bwMode="auto">
          <a:xfrm>
            <a:off x="714375" y="3214688"/>
            <a:ext cx="2057400" cy="534987"/>
          </a:xfrm>
          <a:prstGeom prst="rect">
            <a:avLst/>
          </a:prstGeom>
          <a:noFill/>
          <a:ln w="9525">
            <a:noFill/>
            <a:miter lim="800000"/>
            <a:headEnd/>
            <a:tailEnd/>
          </a:ln>
        </p:spPr>
        <p:txBody>
          <a:bodyPr>
            <a:spAutoFit/>
          </a:bodyPr>
          <a:lstStyle/>
          <a:p>
            <a:pPr eaLnBrk="0" hangingPunct="0">
              <a:lnSpc>
                <a:spcPct val="120000"/>
              </a:lnSpc>
              <a:defRPr/>
            </a:pPr>
            <a:r>
              <a:rPr lang="zh-CN" altLang="en-US" sz="2400" b="1" dirty="0">
                <a:latin typeface="Times New Roman" pitchFamily="18" charset="0"/>
                <a:ea typeface="+mn-ea"/>
                <a:cs typeface="Times New Roman" pitchFamily="18" charset="0"/>
              </a:rPr>
              <a:t>沿 </a:t>
            </a:r>
            <a:r>
              <a:rPr lang="en-US" altLang="zh-CN" sz="2400" b="1" i="1" dirty="0" err="1">
                <a:solidFill>
                  <a:srgbClr val="FF0000"/>
                </a:solidFill>
                <a:latin typeface="Times New Roman" pitchFamily="18" charset="0"/>
                <a:ea typeface="+mn-ea"/>
                <a:cs typeface="Times New Roman" pitchFamily="18" charset="0"/>
              </a:rPr>
              <a:t>acb</a:t>
            </a:r>
            <a:r>
              <a:rPr lang="en-US" altLang="zh-CN" sz="2400" b="1" i="1" dirty="0">
                <a:solidFill>
                  <a:srgbClr val="FF0000"/>
                </a:solidFill>
                <a:latin typeface="Times New Roman" pitchFamily="18" charset="0"/>
                <a:ea typeface="+mn-ea"/>
                <a:cs typeface="Times New Roman" pitchFamily="18" charset="0"/>
              </a:rPr>
              <a:t> </a:t>
            </a:r>
            <a:r>
              <a:rPr lang="zh-CN" altLang="en-US" sz="2400" b="1" dirty="0">
                <a:latin typeface="Times New Roman" pitchFamily="18" charset="0"/>
                <a:ea typeface="+mn-ea"/>
                <a:cs typeface="Times New Roman" pitchFamily="18" charset="0"/>
              </a:rPr>
              <a:t>路径</a:t>
            </a:r>
          </a:p>
        </p:txBody>
      </p:sp>
      <p:graphicFrame>
        <p:nvGraphicFramePr>
          <p:cNvPr id="122960" name="Object 80"/>
          <p:cNvGraphicFramePr>
            <a:graphicFrameLocks noChangeAspect="1"/>
          </p:cNvGraphicFramePr>
          <p:nvPr/>
        </p:nvGraphicFramePr>
        <p:xfrm>
          <a:off x="2600325" y="3214688"/>
          <a:ext cx="2328863" cy="644525"/>
        </p:xfrm>
        <a:graphic>
          <a:graphicData uri="http://schemas.openxmlformats.org/presentationml/2006/ole">
            <p:oleObj spid="_x0000_s79876" name="Equation" r:id="rId5" imgW="1473120" imgH="393480" progId="">
              <p:embed/>
            </p:oleObj>
          </a:graphicData>
        </a:graphic>
      </p:graphicFrame>
      <p:graphicFrame>
        <p:nvGraphicFramePr>
          <p:cNvPr id="122961" name="Object 81"/>
          <p:cNvGraphicFramePr>
            <a:graphicFrameLocks noChangeAspect="1"/>
          </p:cNvGraphicFramePr>
          <p:nvPr/>
        </p:nvGraphicFramePr>
        <p:xfrm>
          <a:off x="2428875" y="3929063"/>
          <a:ext cx="2144713" cy="706437"/>
        </p:xfrm>
        <a:graphic>
          <a:graphicData uri="http://schemas.openxmlformats.org/presentationml/2006/ole">
            <p:oleObj spid="_x0000_s79877" name="Equation" r:id="rId6" imgW="1384200" imgH="393480" progId="">
              <p:embed/>
            </p:oleObj>
          </a:graphicData>
        </a:graphic>
      </p:graphicFrame>
      <p:graphicFrame>
        <p:nvGraphicFramePr>
          <p:cNvPr id="122962" name="Object 82"/>
          <p:cNvGraphicFramePr>
            <a:graphicFrameLocks noChangeAspect="1"/>
          </p:cNvGraphicFramePr>
          <p:nvPr/>
        </p:nvGraphicFramePr>
        <p:xfrm>
          <a:off x="4718050" y="3938588"/>
          <a:ext cx="1997075" cy="768350"/>
        </p:xfrm>
        <a:graphic>
          <a:graphicData uri="http://schemas.openxmlformats.org/presentationml/2006/ole">
            <p:oleObj spid="_x0000_s79878" name="Equation" r:id="rId7" imgW="1269449" imgH="431613" progId="">
              <p:embed/>
            </p:oleObj>
          </a:graphicData>
        </a:graphic>
      </p:graphicFrame>
      <p:graphicFrame>
        <p:nvGraphicFramePr>
          <p:cNvPr id="122963" name="Object 83"/>
          <p:cNvGraphicFramePr>
            <a:graphicFrameLocks noChangeAspect="1"/>
          </p:cNvGraphicFramePr>
          <p:nvPr/>
        </p:nvGraphicFramePr>
        <p:xfrm>
          <a:off x="2500313" y="4857750"/>
          <a:ext cx="2427287" cy="752475"/>
        </p:xfrm>
        <a:graphic>
          <a:graphicData uri="http://schemas.openxmlformats.org/presentationml/2006/ole">
            <p:oleObj spid="_x0000_s79879" name="Equation" r:id="rId8" imgW="1612900" imgH="431800" progId="">
              <p:embed/>
            </p:oleObj>
          </a:graphicData>
        </a:graphic>
      </p:graphicFrame>
      <p:graphicFrame>
        <p:nvGraphicFramePr>
          <p:cNvPr id="122964" name="Object 84"/>
          <p:cNvGraphicFramePr>
            <a:graphicFrameLocks noChangeAspect="1"/>
          </p:cNvGraphicFramePr>
          <p:nvPr/>
        </p:nvGraphicFramePr>
        <p:xfrm>
          <a:off x="4932363" y="4864100"/>
          <a:ext cx="2782887" cy="727075"/>
        </p:xfrm>
        <a:graphic>
          <a:graphicData uri="http://schemas.openxmlformats.org/presentationml/2006/ole">
            <p:oleObj spid="_x0000_s79880" name="Equation" r:id="rId9" imgW="1765300" imgH="431800" progId="">
              <p:embed/>
            </p:oleObj>
          </a:graphicData>
        </a:graphic>
      </p:graphicFrame>
      <p:sp>
        <p:nvSpPr>
          <p:cNvPr id="122965" name="Text Box 85"/>
          <p:cNvSpPr txBox="1">
            <a:spLocks noChangeArrowheads="1"/>
          </p:cNvSpPr>
          <p:nvPr/>
        </p:nvSpPr>
        <p:spPr bwMode="auto">
          <a:xfrm>
            <a:off x="642938" y="5645150"/>
            <a:ext cx="3014662" cy="534988"/>
          </a:xfrm>
          <a:prstGeom prst="rect">
            <a:avLst/>
          </a:prstGeom>
          <a:noFill/>
          <a:ln w="9525">
            <a:noFill/>
            <a:miter lim="800000"/>
            <a:headEnd/>
            <a:tailEnd/>
          </a:ln>
        </p:spPr>
        <p:txBody>
          <a:bodyPr>
            <a:spAutoFit/>
          </a:bodyPr>
          <a:lstStyle/>
          <a:p>
            <a:pPr eaLnBrk="0" hangingPunct="0">
              <a:lnSpc>
                <a:spcPct val="120000"/>
              </a:lnSpc>
              <a:defRPr/>
            </a:pPr>
            <a:r>
              <a:rPr lang="zh-CN" altLang="en-US" sz="2400" b="1" dirty="0">
                <a:latin typeface="Times New Roman" pitchFamily="18" charset="0"/>
                <a:ea typeface="+mn-ea"/>
                <a:cs typeface="Times New Roman" pitchFamily="18" charset="0"/>
              </a:rPr>
              <a:t>等压过程有 </a:t>
            </a:r>
          </a:p>
        </p:txBody>
      </p:sp>
      <p:graphicFrame>
        <p:nvGraphicFramePr>
          <p:cNvPr id="122966" name="Object 86"/>
          <p:cNvGraphicFramePr>
            <a:graphicFrameLocks noChangeAspect="1"/>
          </p:cNvGraphicFramePr>
          <p:nvPr/>
        </p:nvGraphicFramePr>
        <p:xfrm>
          <a:off x="2571750" y="5572125"/>
          <a:ext cx="809625" cy="687388"/>
        </p:xfrm>
        <a:graphic>
          <a:graphicData uri="http://schemas.openxmlformats.org/presentationml/2006/ole">
            <p:oleObj spid="_x0000_s79881" name="Equation" r:id="rId10" imgW="508000" imgH="431800" progId="">
              <p:embed/>
            </p:oleObj>
          </a:graphicData>
        </a:graphic>
      </p:graphicFrame>
      <p:sp>
        <p:nvSpPr>
          <p:cNvPr id="122967" name="Text Box 87"/>
          <p:cNvSpPr txBox="1">
            <a:spLocks noChangeArrowheads="1"/>
          </p:cNvSpPr>
          <p:nvPr/>
        </p:nvSpPr>
        <p:spPr bwMode="auto">
          <a:xfrm>
            <a:off x="3714750" y="5643563"/>
            <a:ext cx="1258888" cy="534987"/>
          </a:xfrm>
          <a:prstGeom prst="rect">
            <a:avLst/>
          </a:prstGeom>
          <a:noFill/>
          <a:ln w="9525">
            <a:noFill/>
            <a:miter lim="800000"/>
            <a:headEnd/>
            <a:tailEnd/>
          </a:ln>
        </p:spPr>
        <p:txBody>
          <a:bodyPr>
            <a:spAutoFit/>
          </a:bodyPr>
          <a:lstStyle/>
          <a:p>
            <a:pPr eaLnBrk="0" hangingPunct="0">
              <a:lnSpc>
                <a:spcPct val="120000"/>
              </a:lnSpc>
              <a:defRPr/>
            </a:pPr>
            <a:r>
              <a:rPr lang="zh-CN" altLang="en-US" sz="2400" b="1" dirty="0">
                <a:latin typeface="+mn-ea"/>
                <a:ea typeface="+mn-ea"/>
              </a:rPr>
              <a:t>所以 </a:t>
            </a:r>
          </a:p>
        </p:txBody>
      </p:sp>
      <p:graphicFrame>
        <p:nvGraphicFramePr>
          <p:cNvPr id="122968" name="Object 88"/>
          <p:cNvGraphicFramePr>
            <a:graphicFrameLocks noChangeAspect="1"/>
          </p:cNvGraphicFramePr>
          <p:nvPr/>
        </p:nvGraphicFramePr>
        <p:xfrm>
          <a:off x="4572000" y="5572125"/>
          <a:ext cx="1785938" cy="742950"/>
        </p:xfrm>
        <a:graphic>
          <a:graphicData uri="http://schemas.openxmlformats.org/presentationml/2006/ole">
            <p:oleObj spid="_x0000_s79882" name="Equation" r:id="rId11" imgW="1041120" imgH="431640" progId="">
              <p:embed/>
            </p:oleObj>
          </a:graphicData>
        </a:graphic>
      </p:graphicFrame>
      <p:cxnSp>
        <p:nvCxnSpPr>
          <p:cNvPr id="42" name="直接连接符 41"/>
          <p:cNvCxnSpPr>
            <a:cxnSpLocks noChangeShapeType="1"/>
          </p:cNvCxnSpPr>
          <p:nvPr/>
        </p:nvCxnSpPr>
        <p:spPr bwMode="auto">
          <a:xfrm>
            <a:off x="5572125" y="3071813"/>
            <a:ext cx="642938" cy="1587"/>
          </a:xfrm>
          <a:prstGeom prst="line">
            <a:avLst/>
          </a:prstGeom>
          <a:noFill/>
          <a:ln w="19050" algn="ctr">
            <a:solidFill>
              <a:srgbClr val="FF0000"/>
            </a:solidFill>
            <a:round/>
            <a:headEnd/>
            <a:tailEnd/>
          </a:ln>
        </p:spPr>
      </p:cxnSp>
      <p:cxnSp>
        <p:nvCxnSpPr>
          <p:cNvPr id="43" name="直接连接符 42"/>
          <p:cNvCxnSpPr>
            <a:cxnSpLocks noChangeShapeType="1"/>
          </p:cNvCxnSpPr>
          <p:nvPr/>
        </p:nvCxnSpPr>
        <p:spPr bwMode="auto">
          <a:xfrm>
            <a:off x="5643563" y="6357938"/>
            <a:ext cx="714375" cy="1587"/>
          </a:xfrm>
          <a:prstGeom prst="line">
            <a:avLst/>
          </a:prstGeom>
          <a:noFill/>
          <a:ln w="19050" algn="ctr">
            <a:solidFill>
              <a:srgbClr val="FF0000"/>
            </a:solidFill>
            <a:round/>
            <a:headEnd/>
            <a:tailE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1"/>
                                        </p:tgtEl>
                                        <p:attrNameLst>
                                          <p:attrName>style.visibility</p:attrName>
                                        </p:attrNameLst>
                                      </p:cBhvr>
                                      <p:to>
                                        <p:strVal val="visible"/>
                                      </p:to>
                                    </p:set>
                                    <p:animEffect transition="in" filter="wipe(left)">
                                      <p:cBhvr>
                                        <p:cTn id="7" dur="500"/>
                                        <p:tgtEl>
                                          <p:spTgt spid="1229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6"/>
                                        </p:tgtEl>
                                        <p:attrNameLst>
                                          <p:attrName>style.visibility</p:attrName>
                                        </p:attrNameLst>
                                      </p:cBhvr>
                                      <p:to>
                                        <p:strVal val="visible"/>
                                      </p:to>
                                    </p:set>
                                    <p:animEffect transition="in" filter="wipe(left)">
                                      <p:cBhvr>
                                        <p:cTn id="12" dur="500"/>
                                        <p:tgtEl>
                                          <p:spTgt spid="122886"/>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22955"/>
                                        </p:tgtEl>
                                        <p:attrNameLst>
                                          <p:attrName>style.visibility</p:attrName>
                                        </p:attrNameLst>
                                      </p:cBhvr>
                                      <p:to>
                                        <p:strVal val="visible"/>
                                      </p:to>
                                    </p:set>
                                    <p:animEffect transition="in" filter="box(in)">
                                      <p:cBhvr>
                                        <p:cTn id="21" dur="500"/>
                                        <p:tgtEl>
                                          <p:spTgt spid="12295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22956"/>
                                        </p:tgtEl>
                                        <p:attrNameLst>
                                          <p:attrName>style.visibility</p:attrName>
                                        </p:attrNameLst>
                                      </p:cBhvr>
                                      <p:to>
                                        <p:strVal val="visible"/>
                                      </p:to>
                                    </p:set>
                                    <p:animEffect transition="in" filter="box(in)">
                                      <p:cBhvr>
                                        <p:cTn id="26" dur="500"/>
                                        <p:tgtEl>
                                          <p:spTgt spid="1229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2957"/>
                                        </p:tgtEl>
                                        <p:attrNameLst>
                                          <p:attrName>style.visibility</p:attrName>
                                        </p:attrNameLst>
                                      </p:cBhvr>
                                      <p:to>
                                        <p:strVal val="visible"/>
                                      </p:to>
                                    </p:set>
                                    <p:animEffect transition="in" filter="wipe(left)">
                                      <p:cBhvr>
                                        <p:cTn id="31" dur="500"/>
                                        <p:tgtEl>
                                          <p:spTgt spid="12295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22958"/>
                                        </p:tgtEl>
                                        <p:attrNameLst>
                                          <p:attrName>style.visibility</p:attrName>
                                        </p:attrNameLst>
                                      </p:cBhvr>
                                      <p:to>
                                        <p:strVal val="visible"/>
                                      </p:to>
                                    </p:set>
                                    <p:animEffect transition="in" filter="wipe(left)">
                                      <p:cBhvr>
                                        <p:cTn id="36" dur="500"/>
                                        <p:tgtEl>
                                          <p:spTgt spid="12295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2959"/>
                                        </p:tgtEl>
                                        <p:attrNameLst>
                                          <p:attrName>style.visibility</p:attrName>
                                        </p:attrNameLst>
                                      </p:cBhvr>
                                      <p:to>
                                        <p:strVal val="visible"/>
                                      </p:to>
                                    </p:set>
                                    <p:animEffect transition="in" filter="wipe(left)">
                                      <p:cBhvr>
                                        <p:cTn id="41" dur="500"/>
                                        <p:tgtEl>
                                          <p:spTgt spid="12295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2960"/>
                                        </p:tgtEl>
                                        <p:attrNameLst>
                                          <p:attrName>style.visibility</p:attrName>
                                        </p:attrNameLst>
                                      </p:cBhvr>
                                      <p:to>
                                        <p:strVal val="visible"/>
                                      </p:to>
                                    </p:set>
                                    <p:animEffect transition="in" filter="wipe(left)">
                                      <p:cBhvr>
                                        <p:cTn id="46" dur="500"/>
                                        <p:tgtEl>
                                          <p:spTgt spid="12296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2961"/>
                                        </p:tgtEl>
                                        <p:attrNameLst>
                                          <p:attrName>style.visibility</p:attrName>
                                        </p:attrNameLst>
                                      </p:cBhvr>
                                      <p:to>
                                        <p:strVal val="visible"/>
                                      </p:to>
                                    </p:set>
                                    <p:animEffect transition="in" filter="wipe(left)">
                                      <p:cBhvr>
                                        <p:cTn id="51" dur="500"/>
                                        <p:tgtEl>
                                          <p:spTgt spid="12296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2962"/>
                                        </p:tgtEl>
                                        <p:attrNameLst>
                                          <p:attrName>style.visibility</p:attrName>
                                        </p:attrNameLst>
                                      </p:cBhvr>
                                      <p:to>
                                        <p:strVal val="visible"/>
                                      </p:to>
                                    </p:set>
                                    <p:animEffect transition="in" filter="wipe(left)">
                                      <p:cBhvr>
                                        <p:cTn id="56" dur="500"/>
                                        <p:tgtEl>
                                          <p:spTgt spid="1229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2963"/>
                                        </p:tgtEl>
                                        <p:attrNameLst>
                                          <p:attrName>style.visibility</p:attrName>
                                        </p:attrNameLst>
                                      </p:cBhvr>
                                      <p:to>
                                        <p:strVal val="visible"/>
                                      </p:to>
                                    </p:set>
                                    <p:animEffect transition="in" filter="wipe(left)">
                                      <p:cBhvr>
                                        <p:cTn id="61" dur="500"/>
                                        <p:tgtEl>
                                          <p:spTgt spid="1229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2964"/>
                                        </p:tgtEl>
                                        <p:attrNameLst>
                                          <p:attrName>style.visibility</p:attrName>
                                        </p:attrNameLst>
                                      </p:cBhvr>
                                      <p:to>
                                        <p:strVal val="visible"/>
                                      </p:to>
                                    </p:set>
                                    <p:animEffect transition="in" filter="wipe(left)">
                                      <p:cBhvr>
                                        <p:cTn id="66" dur="500"/>
                                        <p:tgtEl>
                                          <p:spTgt spid="12296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22965"/>
                                        </p:tgtEl>
                                        <p:attrNameLst>
                                          <p:attrName>style.visibility</p:attrName>
                                        </p:attrNameLst>
                                      </p:cBhvr>
                                      <p:to>
                                        <p:strVal val="visible"/>
                                      </p:to>
                                    </p:set>
                                    <p:animEffect transition="in" filter="wipe(left)">
                                      <p:cBhvr>
                                        <p:cTn id="71" dur="500"/>
                                        <p:tgtEl>
                                          <p:spTgt spid="122965"/>
                                        </p:tgtEl>
                                      </p:cBhvr>
                                    </p:animEffect>
                                  </p:childTnLst>
                                </p:cTn>
                              </p:par>
                              <p:par>
                                <p:cTn id="72" presetID="22" presetClass="entr" presetSubtype="8" fill="hold" nodeType="withEffect">
                                  <p:stCondLst>
                                    <p:cond delay="0"/>
                                  </p:stCondLst>
                                  <p:childTnLst>
                                    <p:set>
                                      <p:cBhvr>
                                        <p:cTn id="73" dur="1" fill="hold">
                                          <p:stCondLst>
                                            <p:cond delay="0"/>
                                          </p:stCondLst>
                                        </p:cTn>
                                        <p:tgtEl>
                                          <p:spTgt spid="122966"/>
                                        </p:tgtEl>
                                        <p:attrNameLst>
                                          <p:attrName>style.visibility</p:attrName>
                                        </p:attrNameLst>
                                      </p:cBhvr>
                                      <p:to>
                                        <p:strVal val="visible"/>
                                      </p:to>
                                    </p:set>
                                    <p:animEffect transition="in" filter="wipe(left)">
                                      <p:cBhvr>
                                        <p:cTn id="74" dur="500"/>
                                        <p:tgtEl>
                                          <p:spTgt spid="122966"/>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122967"/>
                                        </p:tgtEl>
                                        <p:attrNameLst>
                                          <p:attrName>style.visibility</p:attrName>
                                        </p:attrNameLst>
                                      </p:cBhvr>
                                      <p:to>
                                        <p:strVal val="visible"/>
                                      </p:to>
                                    </p:set>
                                    <p:animEffect transition="in" filter="wipe(left)">
                                      <p:cBhvr>
                                        <p:cTn id="77" dur="500"/>
                                        <p:tgtEl>
                                          <p:spTgt spid="12296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22968"/>
                                        </p:tgtEl>
                                        <p:attrNameLst>
                                          <p:attrName>style.visibility</p:attrName>
                                        </p:attrNameLst>
                                      </p:cBhvr>
                                      <p:to>
                                        <p:strVal val="visible"/>
                                      </p:to>
                                    </p:set>
                                    <p:animEffect transition="in" filter="wipe(left)">
                                      <p:cBhvr>
                                        <p:cTn id="82" dur="500"/>
                                        <p:tgtEl>
                                          <p:spTgt spid="12296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wipe(down)">
                                      <p:cBhvr>
                                        <p:cTn id="87" dur="500"/>
                                        <p:tgtEl>
                                          <p:spTgt spid="42"/>
                                        </p:tgtEl>
                                      </p:cBhvr>
                                    </p:animEffect>
                                  </p:childTnLst>
                                </p:cTn>
                              </p:par>
                              <p:par>
                                <p:cTn id="88" presetID="22" presetClass="entr" presetSubtype="4"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wipe(down)">
                                      <p:cBhvr>
                                        <p:cTn id="9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6" grpId="0"/>
      <p:bldP spid="122931" grpId="0"/>
      <p:bldP spid="122955" grpId="0" autoUpdateAnimBg="0"/>
      <p:bldP spid="122956" grpId="0" autoUpdateAnimBg="0"/>
      <p:bldP spid="122959" grpId="0"/>
      <p:bldP spid="122965" grpId="0"/>
      <p:bldP spid="12296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323850" y="673100"/>
            <a:ext cx="1100138"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cs typeface="Times New Roman" pitchFamily="18" charset="0"/>
              </a:rPr>
              <a:t>例</a:t>
            </a:r>
          </a:p>
        </p:txBody>
      </p:sp>
      <p:sp>
        <p:nvSpPr>
          <p:cNvPr id="134147" name="Text Box 3"/>
          <p:cNvSpPr txBox="1">
            <a:spLocks noChangeArrowheads="1"/>
          </p:cNvSpPr>
          <p:nvPr/>
        </p:nvSpPr>
        <p:spPr bwMode="auto">
          <a:xfrm>
            <a:off x="1116013" y="620713"/>
            <a:ext cx="7904162" cy="492125"/>
          </a:xfrm>
          <a:prstGeom prst="rect">
            <a:avLst/>
          </a:prstGeom>
          <a:noFill/>
          <a:ln w="9525">
            <a:noFill/>
            <a:miter lim="800000"/>
            <a:headEnd/>
            <a:tailEnd/>
          </a:ln>
        </p:spPr>
        <p:txBody>
          <a:bodyPr>
            <a:spAutoFit/>
          </a:bodyPr>
          <a:lstStyle/>
          <a:p>
            <a:pPr>
              <a:lnSpc>
                <a:spcPct val="120000"/>
              </a:lnSpc>
            </a:pPr>
            <a:r>
              <a:rPr lang="zh-CN" altLang="en-US" sz="2400" b="1">
                <a:latin typeface="Times New Roman" pitchFamily="18" charset="0"/>
                <a:cs typeface="Times New Roman" pitchFamily="18" charset="0"/>
              </a:rPr>
              <a:t>计算理想气体从体积 </a:t>
            </a:r>
            <a:r>
              <a:rPr lang="en-US" altLang="zh-CN" sz="2400" b="1" i="1">
                <a:solidFill>
                  <a:srgbClr val="FF6600"/>
                </a:solidFill>
                <a:latin typeface="Times New Roman" pitchFamily="18" charset="0"/>
                <a:cs typeface="Times New Roman" pitchFamily="18" charset="0"/>
              </a:rPr>
              <a:t>V</a:t>
            </a:r>
            <a:r>
              <a:rPr lang="en-US" altLang="zh-CN" sz="2400" b="1" baseline="-25000">
                <a:solidFill>
                  <a:srgbClr val="FF6600"/>
                </a:solidFill>
                <a:latin typeface="Times New Roman" pitchFamily="18" charset="0"/>
                <a:cs typeface="Times New Roman" pitchFamily="18" charset="0"/>
              </a:rPr>
              <a:t>1</a:t>
            </a:r>
            <a:r>
              <a:rPr lang="en-US" altLang="zh-CN" sz="2400" b="1">
                <a:solidFill>
                  <a:srgbClr val="FF6600"/>
                </a:solidFill>
                <a:latin typeface="Times New Roman" pitchFamily="18" charset="0"/>
                <a:cs typeface="Times New Roman" pitchFamily="18" charset="0"/>
              </a:rPr>
              <a:t> </a:t>
            </a:r>
            <a:r>
              <a:rPr lang="zh-CN" altLang="en-US" sz="2400" b="1">
                <a:latin typeface="Times New Roman" pitchFamily="18" charset="0"/>
                <a:cs typeface="Times New Roman" pitchFamily="18" charset="0"/>
              </a:rPr>
              <a:t>向真空膨胀到体积</a:t>
            </a:r>
            <a:r>
              <a:rPr lang="zh-CN" altLang="en-US" sz="2400" b="1">
                <a:solidFill>
                  <a:srgbClr val="FF6600"/>
                </a:solidFill>
                <a:latin typeface="Times New Roman" pitchFamily="18" charset="0"/>
                <a:cs typeface="Times New Roman" pitchFamily="18" charset="0"/>
              </a:rPr>
              <a:t> </a:t>
            </a:r>
            <a:r>
              <a:rPr lang="en-US" altLang="zh-CN" sz="2400" b="1" i="1">
                <a:solidFill>
                  <a:srgbClr val="FF6600"/>
                </a:solidFill>
                <a:latin typeface="Times New Roman" pitchFamily="18" charset="0"/>
                <a:cs typeface="Times New Roman" pitchFamily="18" charset="0"/>
              </a:rPr>
              <a:t>V</a:t>
            </a:r>
            <a:r>
              <a:rPr lang="en-US" altLang="zh-CN" sz="2400" b="1" baseline="-25000">
                <a:solidFill>
                  <a:srgbClr val="FF6600"/>
                </a:solidFill>
                <a:latin typeface="Times New Roman" pitchFamily="18" charset="0"/>
                <a:cs typeface="Times New Roman" pitchFamily="18" charset="0"/>
              </a:rPr>
              <a:t>2</a:t>
            </a:r>
            <a:r>
              <a:rPr lang="en-US" altLang="zh-CN" sz="2400" b="1">
                <a:solidFill>
                  <a:srgbClr val="FF6600"/>
                </a:solidFill>
                <a:latin typeface="Times New Roman" pitchFamily="18" charset="0"/>
                <a:cs typeface="Times New Roman" pitchFamily="18" charset="0"/>
              </a:rPr>
              <a:t> </a:t>
            </a:r>
            <a:r>
              <a:rPr lang="zh-CN" altLang="en-US" sz="2400" b="1">
                <a:latin typeface="Times New Roman" pitchFamily="18" charset="0"/>
                <a:cs typeface="Times New Roman" pitchFamily="18" charset="0"/>
              </a:rPr>
              <a:t>时的</a:t>
            </a:r>
            <a:r>
              <a:rPr lang="zh-CN" altLang="en-US" sz="2400" b="1">
                <a:solidFill>
                  <a:srgbClr val="FF6600"/>
                </a:solidFill>
                <a:latin typeface="Times New Roman" pitchFamily="18" charset="0"/>
                <a:cs typeface="Times New Roman" pitchFamily="18" charset="0"/>
              </a:rPr>
              <a:t>熵变</a:t>
            </a:r>
            <a:r>
              <a:rPr lang="zh-CN" altLang="en-US" sz="2400" b="1">
                <a:latin typeface="Times New Roman" pitchFamily="18" charset="0"/>
                <a:cs typeface="Times New Roman" pitchFamily="18" charset="0"/>
              </a:rPr>
              <a:t>。</a:t>
            </a:r>
          </a:p>
        </p:txBody>
      </p:sp>
      <p:sp>
        <p:nvSpPr>
          <p:cNvPr id="134148" name="Text Box 4"/>
          <p:cNvSpPr txBox="1">
            <a:spLocks noChangeArrowheads="1"/>
          </p:cNvSpPr>
          <p:nvPr/>
        </p:nvSpPr>
        <p:spPr bwMode="auto">
          <a:xfrm>
            <a:off x="395288" y="1316038"/>
            <a:ext cx="1100137"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cs typeface="Times New Roman" pitchFamily="18" charset="0"/>
              </a:rPr>
              <a:t>解</a:t>
            </a:r>
            <a:r>
              <a:rPr lang="zh-CN" altLang="en-US" sz="2400" b="1">
                <a:latin typeface="Times New Roman" pitchFamily="18" charset="0"/>
                <a:cs typeface="Times New Roman" pitchFamily="18" charset="0"/>
              </a:rPr>
              <a:t>：</a:t>
            </a:r>
          </a:p>
        </p:txBody>
      </p:sp>
      <p:sp>
        <p:nvSpPr>
          <p:cNvPr id="134149" name="Text Box 5"/>
          <p:cNvSpPr txBox="1">
            <a:spLocks noChangeArrowheads="1"/>
          </p:cNvSpPr>
          <p:nvPr/>
        </p:nvSpPr>
        <p:spPr bwMode="auto">
          <a:xfrm>
            <a:off x="1042988" y="1268413"/>
            <a:ext cx="7364412" cy="492125"/>
          </a:xfrm>
          <a:prstGeom prst="rect">
            <a:avLst/>
          </a:prstGeom>
          <a:noFill/>
          <a:ln w="9525">
            <a:noFill/>
            <a:miter lim="800000"/>
            <a:headEnd/>
            <a:tailEnd/>
          </a:ln>
        </p:spPr>
        <p:txBody>
          <a:bodyPr>
            <a:spAutoFit/>
          </a:bodyPr>
          <a:lstStyle/>
          <a:p>
            <a:pPr>
              <a:lnSpc>
                <a:spcPct val="120000"/>
              </a:lnSpc>
            </a:pPr>
            <a:r>
              <a:rPr lang="zh-CN" altLang="en-US" sz="2400" b="1">
                <a:latin typeface="Times New Roman" pitchFamily="18" charset="0"/>
                <a:cs typeface="Times New Roman" pitchFamily="18" charset="0"/>
              </a:rPr>
              <a:t>理想气体作绝热自由膨胀，内能不变，温度不变。</a:t>
            </a:r>
          </a:p>
        </p:txBody>
      </p:sp>
      <p:graphicFrame>
        <p:nvGraphicFramePr>
          <p:cNvPr id="134150" name="Object 6"/>
          <p:cNvGraphicFramePr>
            <a:graphicFrameLocks noChangeAspect="1"/>
          </p:cNvGraphicFramePr>
          <p:nvPr/>
        </p:nvGraphicFramePr>
        <p:xfrm>
          <a:off x="1187450" y="2419350"/>
          <a:ext cx="1503363" cy="862013"/>
        </p:xfrm>
        <a:graphic>
          <a:graphicData uri="http://schemas.openxmlformats.org/presentationml/2006/ole">
            <p:oleObj spid="_x0000_s80898" name="公式" r:id="rId3" imgW="685800" imgH="393480" progId="Equation.3">
              <p:embed/>
            </p:oleObj>
          </a:graphicData>
        </a:graphic>
      </p:graphicFrame>
      <p:graphicFrame>
        <p:nvGraphicFramePr>
          <p:cNvPr id="134151" name="Object 7"/>
          <p:cNvGraphicFramePr>
            <a:graphicFrameLocks noChangeAspect="1"/>
          </p:cNvGraphicFramePr>
          <p:nvPr/>
        </p:nvGraphicFramePr>
        <p:xfrm>
          <a:off x="2654300" y="2433638"/>
          <a:ext cx="1628775" cy="841375"/>
        </p:xfrm>
        <a:graphic>
          <a:graphicData uri="http://schemas.openxmlformats.org/presentationml/2006/ole">
            <p:oleObj spid="_x0000_s80899" name="公式" r:id="rId4" imgW="761760" imgH="393480" progId="Equation.3">
              <p:embed/>
            </p:oleObj>
          </a:graphicData>
        </a:graphic>
      </p:graphicFrame>
      <p:sp>
        <p:nvSpPr>
          <p:cNvPr id="134152" name="Text Box 8"/>
          <p:cNvSpPr txBox="1">
            <a:spLocks noChangeArrowheads="1"/>
          </p:cNvSpPr>
          <p:nvPr/>
        </p:nvSpPr>
        <p:spPr bwMode="auto">
          <a:xfrm>
            <a:off x="971550" y="1773238"/>
            <a:ext cx="7364413" cy="492125"/>
          </a:xfrm>
          <a:prstGeom prst="rect">
            <a:avLst/>
          </a:prstGeom>
          <a:noFill/>
          <a:ln w="9525">
            <a:noFill/>
            <a:miter lim="800000"/>
            <a:headEnd/>
            <a:tailEnd/>
          </a:ln>
        </p:spPr>
        <p:txBody>
          <a:bodyPr>
            <a:spAutoFit/>
          </a:bodyPr>
          <a:lstStyle/>
          <a:p>
            <a:pPr>
              <a:lnSpc>
                <a:spcPct val="120000"/>
              </a:lnSpc>
            </a:pPr>
            <a:r>
              <a:rPr lang="zh-CN" altLang="en-US" sz="2400" b="1">
                <a:latin typeface="Times New Roman" pitchFamily="18" charset="0"/>
                <a:cs typeface="Times New Roman" pitchFamily="18" charset="0"/>
              </a:rPr>
              <a:t>设计</a:t>
            </a:r>
            <a:r>
              <a:rPr lang="zh-CN" altLang="en-US" sz="2400" b="1">
                <a:solidFill>
                  <a:srgbClr val="FF6600"/>
                </a:solidFill>
                <a:latin typeface="Times New Roman" pitchFamily="18" charset="0"/>
                <a:cs typeface="Times New Roman" pitchFamily="18" charset="0"/>
              </a:rPr>
              <a:t>可逆等温膨胀过程</a:t>
            </a:r>
            <a:r>
              <a:rPr lang="zh-CN" altLang="en-US" sz="2400" b="1">
                <a:latin typeface="Times New Roman" pitchFamily="18" charset="0"/>
                <a:cs typeface="Times New Roman" pitchFamily="18" charset="0"/>
              </a:rPr>
              <a:t>计算熵变。</a:t>
            </a:r>
          </a:p>
        </p:txBody>
      </p:sp>
      <p:graphicFrame>
        <p:nvGraphicFramePr>
          <p:cNvPr id="134153" name="Object 9"/>
          <p:cNvGraphicFramePr>
            <a:graphicFrameLocks noChangeAspect="1"/>
          </p:cNvGraphicFramePr>
          <p:nvPr/>
        </p:nvGraphicFramePr>
        <p:xfrm>
          <a:off x="4283075" y="2433638"/>
          <a:ext cx="1873250" cy="841375"/>
        </p:xfrm>
        <a:graphic>
          <a:graphicData uri="http://schemas.openxmlformats.org/presentationml/2006/ole">
            <p:oleObj spid="_x0000_s80900" name="公式" r:id="rId5" imgW="876240" imgH="393480" progId="Equation.3">
              <p:embed/>
            </p:oleObj>
          </a:graphicData>
        </a:graphic>
      </p:graphicFrame>
      <p:graphicFrame>
        <p:nvGraphicFramePr>
          <p:cNvPr id="134154" name="Object 10"/>
          <p:cNvGraphicFramePr>
            <a:graphicFrameLocks noChangeAspect="1"/>
          </p:cNvGraphicFramePr>
          <p:nvPr/>
        </p:nvGraphicFramePr>
        <p:xfrm>
          <a:off x="6227763" y="2443163"/>
          <a:ext cx="1411287" cy="841375"/>
        </p:xfrm>
        <a:graphic>
          <a:graphicData uri="http://schemas.openxmlformats.org/presentationml/2006/ole">
            <p:oleObj spid="_x0000_s80901" name="公式" r:id="rId6" imgW="660240" imgH="393480" progId="Equation.3">
              <p:embed/>
            </p:oleObj>
          </a:graphicData>
        </a:graphic>
      </p:graphicFrame>
      <p:graphicFrame>
        <p:nvGraphicFramePr>
          <p:cNvPr id="134155" name="Object 11"/>
          <p:cNvGraphicFramePr>
            <a:graphicFrameLocks noChangeAspect="1"/>
          </p:cNvGraphicFramePr>
          <p:nvPr/>
        </p:nvGraphicFramePr>
        <p:xfrm>
          <a:off x="1674813" y="3414713"/>
          <a:ext cx="5129212" cy="950912"/>
        </p:xfrm>
        <a:graphic>
          <a:graphicData uri="http://schemas.openxmlformats.org/presentationml/2006/ole">
            <p:oleObj spid="_x0000_s80902" name="公式" r:id="rId7" imgW="2400120" imgH="444240" progId="Equation.3">
              <p:embed/>
            </p:oleObj>
          </a:graphicData>
        </a:graphic>
      </p:graphicFrame>
      <p:sp>
        <p:nvSpPr>
          <p:cNvPr id="134156" name="Text Box 12"/>
          <p:cNvSpPr txBox="1">
            <a:spLocks noChangeArrowheads="1"/>
          </p:cNvSpPr>
          <p:nvPr/>
        </p:nvSpPr>
        <p:spPr bwMode="auto">
          <a:xfrm>
            <a:off x="838200" y="4592638"/>
            <a:ext cx="7620000" cy="1006475"/>
          </a:xfrm>
          <a:prstGeom prst="rect">
            <a:avLst/>
          </a:prstGeom>
          <a:noFill/>
          <a:ln w="9525">
            <a:noFill/>
            <a:miter lim="800000"/>
            <a:headEnd/>
            <a:tailEnd/>
          </a:ln>
          <a:effectLst/>
        </p:spPr>
        <p:txBody>
          <a:bodyPr anchorCtr="1">
            <a:spAutoFit/>
          </a:bodyPr>
          <a:lstStyle/>
          <a:p>
            <a:pPr eaLnBrk="0" hangingPunct="0">
              <a:lnSpc>
                <a:spcPct val="125000"/>
              </a:lnSpc>
              <a:defRPr/>
            </a:pPr>
            <a:r>
              <a:rPr lang="en-US" altLang="zh-CN" sz="2400" b="1">
                <a:effectLst>
                  <a:outerShdw blurRad="38100" dist="38100" dir="2700000" algn="tl">
                    <a:srgbClr val="C0C0C0"/>
                  </a:outerShdw>
                </a:effectLst>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由于</a:t>
            </a:r>
            <a:r>
              <a:rPr lang="en-US" altLang="zh-CN" sz="2400" b="1" i="1">
                <a:latin typeface="Times New Roman" pitchFamily="18" charset="0"/>
                <a:ea typeface="宋体" pitchFamily="2" charset="-122"/>
                <a:cs typeface="Times New Roman" pitchFamily="18" charset="0"/>
              </a:rPr>
              <a:t>V</a:t>
            </a:r>
            <a:r>
              <a:rPr lang="en-US" altLang="zh-CN" sz="2400" b="1" baseline="-25000">
                <a:latin typeface="Times New Roman" pitchFamily="18" charset="0"/>
                <a:ea typeface="宋体" pitchFamily="2" charset="-122"/>
                <a:cs typeface="Times New Roman" pitchFamily="18" charset="0"/>
              </a:rPr>
              <a:t>2</a:t>
            </a:r>
            <a:r>
              <a:rPr lang="zh-CN" altLang="en-US" sz="2400" b="1">
                <a:latin typeface="Times New Roman" pitchFamily="18" charset="0"/>
                <a:ea typeface="宋体" pitchFamily="2" charset="-122"/>
                <a:cs typeface="Times New Roman" pitchFamily="18" charset="0"/>
              </a:rPr>
              <a:t>＞</a:t>
            </a:r>
            <a:r>
              <a:rPr lang="en-US" altLang="zh-CN" sz="2400" b="1" i="1">
                <a:latin typeface="Times New Roman" pitchFamily="18" charset="0"/>
                <a:ea typeface="宋体" pitchFamily="2" charset="-122"/>
                <a:cs typeface="Times New Roman" pitchFamily="18" charset="0"/>
              </a:rPr>
              <a:t>V </a:t>
            </a:r>
            <a:r>
              <a:rPr lang="en-US" altLang="zh-CN" sz="2400" b="1" baseline="-25000">
                <a:latin typeface="Times New Roman" pitchFamily="18" charset="0"/>
                <a:ea typeface="宋体" pitchFamily="2" charset="-122"/>
                <a:cs typeface="Times New Roman" pitchFamily="18" charset="0"/>
              </a:rPr>
              <a:t>l</a:t>
            </a:r>
            <a:r>
              <a:rPr lang="zh-CN" altLang="en-US" sz="2400" b="1">
                <a:latin typeface="Times New Roman" pitchFamily="18" charset="0"/>
                <a:ea typeface="宋体" pitchFamily="2" charset="-122"/>
                <a:cs typeface="Times New Roman" pitchFamily="18" charset="0"/>
              </a:rPr>
              <a:t>，故</a:t>
            </a:r>
            <a:r>
              <a:rPr lang="zh-CN" altLang="en-US" sz="2400" b="1">
                <a:solidFill>
                  <a:srgbClr val="FF6600"/>
                </a:solidFill>
                <a:latin typeface="Times New Roman" pitchFamily="18" charset="0"/>
                <a:ea typeface="宋体" pitchFamily="2" charset="-122"/>
                <a:cs typeface="Times New Roman" pitchFamily="18" charset="0"/>
              </a:rPr>
              <a:t>△</a:t>
            </a:r>
            <a:r>
              <a:rPr lang="en-US" altLang="zh-CN" sz="2400" b="1" i="1">
                <a:solidFill>
                  <a:srgbClr val="FF6600"/>
                </a:solidFill>
                <a:latin typeface="Times New Roman" pitchFamily="18" charset="0"/>
                <a:ea typeface="宋体" pitchFamily="2" charset="-122"/>
                <a:cs typeface="Times New Roman" pitchFamily="18" charset="0"/>
              </a:rPr>
              <a:t>S </a:t>
            </a:r>
            <a:r>
              <a:rPr lang="zh-CN" altLang="en-US" sz="2400" b="1">
                <a:solidFill>
                  <a:srgbClr val="FF6600"/>
                </a:solidFill>
                <a:latin typeface="Times New Roman" pitchFamily="18" charset="0"/>
                <a:ea typeface="宋体" pitchFamily="2" charset="-122"/>
                <a:cs typeface="Times New Roman" pitchFamily="18" charset="0"/>
              </a:rPr>
              <a:t>＞</a:t>
            </a:r>
            <a:r>
              <a:rPr lang="en-US" altLang="zh-CN" sz="2400" b="1">
                <a:solidFill>
                  <a:srgbClr val="FF6600"/>
                </a:solidFill>
                <a:latin typeface="Times New Roman" pitchFamily="18" charset="0"/>
                <a:ea typeface="宋体" pitchFamily="2" charset="-122"/>
                <a:cs typeface="Times New Roman" pitchFamily="18" charset="0"/>
              </a:rPr>
              <a:t>0</a:t>
            </a:r>
            <a:r>
              <a:rPr lang="zh-CN" altLang="en-US" sz="2400" b="1">
                <a:latin typeface="Times New Roman" pitchFamily="18" charset="0"/>
                <a:ea typeface="宋体" pitchFamily="2" charset="-122"/>
                <a:cs typeface="Times New Roman" pitchFamily="18" charset="0"/>
              </a:rPr>
              <a:t>。这表明</a:t>
            </a:r>
            <a:r>
              <a:rPr lang="zh-CN" altLang="en-US" sz="2400" b="1">
                <a:solidFill>
                  <a:srgbClr val="FF6600"/>
                </a:solidFill>
                <a:latin typeface="Times New Roman" pitchFamily="18" charset="0"/>
                <a:ea typeface="宋体" pitchFamily="2" charset="-122"/>
                <a:cs typeface="Times New Roman" pitchFamily="18" charset="0"/>
              </a:rPr>
              <a:t>经自由膨胀这个不可逆过程以后，系统的熵增加了。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wipe(left)">
                                      <p:cBhvr>
                                        <p:cTn id="7" dur="500"/>
                                        <p:tgtEl>
                                          <p:spTgt spid="1341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147"/>
                                        </p:tgtEl>
                                        <p:attrNameLst>
                                          <p:attrName>style.visibility</p:attrName>
                                        </p:attrNameLst>
                                      </p:cBhvr>
                                      <p:to>
                                        <p:strVal val="visible"/>
                                      </p:to>
                                    </p:set>
                                    <p:animEffect transition="in" filter="wipe(left)">
                                      <p:cBhvr>
                                        <p:cTn id="11" dur="500"/>
                                        <p:tgtEl>
                                          <p:spTgt spid="1341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4148"/>
                                        </p:tgtEl>
                                        <p:attrNameLst>
                                          <p:attrName>style.visibility</p:attrName>
                                        </p:attrNameLst>
                                      </p:cBhvr>
                                      <p:to>
                                        <p:strVal val="visible"/>
                                      </p:to>
                                    </p:set>
                                    <p:animEffect transition="in" filter="wipe(left)">
                                      <p:cBhvr>
                                        <p:cTn id="16" dur="500"/>
                                        <p:tgtEl>
                                          <p:spTgt spid="13414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4149"/>
                                        </p:tgtEl>
                                        <p:attrNameLst>
                                          <p:attrName>style.visibility</p:attrName>
                                        </p:attrNameLst>
                                      </p:cBhvr>
                                      <p:to>
                                        <p:strVal val="visible"/>
                                      </p:to>
                                    </p:set>
                                    <p:animEffect transition="in" filter="wipe(left)">
                                      <p:cBhvr>
                                        <p:cTn id="21" dur="500"/>
                                        <p:tgtEl>
                                          <p:spTgt spid="1341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4152"/>
                                        </p:tgtEl>
                                        <p:attrNameLst>
                                          <p:attrName>style.visibility</p:attrName>
                                        </p:attrNameLst>
                                      </p:cBhvr>
                                      <p:to>
                                        <p:strVal val="visible"/>
                                      </p:to>
                                    </p:set>
                                    <p:animEffect transition="in" filter="wipe(left)">
                                      <p:cBhvr>
                                        <p:cTn id="26" dur="500"/>
                                        <p:tgtEl>
                                          <p:spTgt spid="1341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4150"/>
                                        </p:tgtEl>
                                        <p:attrNameLst>
                                          <p:attrName>style.visibility</p:attrName>
                                        </p:attrNameLst>
                                      </p:cBhvr>
                                      <p:to>
                                        <p:strVal val="visible"/>
                                      </p:to>
                                    </p:set>
                                    <p:animEffect transition="in" filter="wipe(left)">
                                      <p:cBhvr>
                                        <p:cTn id="31" dur="500"/>
                                        <p:tgtEl>
                                          <p:spTgt spid="13415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34151"/>
                                        </p:tgtEl>
                                        <p:attrNameLst>
                                          <p:attrName>style.visibility</p:attrName>
                                        </p:attrNameLst>
                                      </p:cBhvr>
                                      <p:to>
                                        <p:strVal val="visible"/>
                                      </p:to>
                                    </p:set>
                                    <p:animEffect transition="in" filter="wipe(left)">
                                      <p:cBhvr>
                                        <p:cTn id="36" dur="500"/>
                                        <p:tgtEl>
                                          <p:spTgt spid="13415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4153"/>
                                        </p:tgtEl>
                                        <p:attrNameLst>
                                          <p:attrName>style.visibility</p:attrName>
                                        </p:attrNameLst>
                                      </p:cBhvr>
                                      <p:to>
                                        <p:strVal val="visible"/>
                                      </p:to>
                                    </p:set>
                                    <p:animEffect transition="in" filter="wipe(left)">
                                      <p:cBhvr>
                                        <p:cTn id="41" dur="500"/>
                                        <p:tgtEl>
                                          <p:spTgt spid="1341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34154"/>
                                        </p:tgtEl>
                                        <p:attrNameLst>
                                          <p:attrName>style.visibility</p:attrName>
                                        </p:attrNameLst>
                                      </p:cBhvr>
                                      <p:to>
                                        <p:strVal val="visible"/>
                                      </p:to>
                                    </p:set>
                                    <p:animEffect transition="in" filter="wipe(left)">
                                      <p:cBhvr>
                                        <p:cTn id="46" dur="500"/>
                                        <p:tgtEl>
                                          <p:spTgt spid="13415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4155"/>
                                        </p:tgtEl>
                                        <p:attrNameLst>
                                          <p:attrName>style.visibility</p:attrName>
                                        </p:attrNameLst>
                                      </p:cBhvr>
                                      <p:to>
                                        <p:strVal val="visible"/>
                                      </p:to>
                                    </p:set>
                                    <p:animEffect transition="in" filter="wipe(left)">
                                      <p:cBhvr>
                                        <p:cTn id="51" dur="500"/>
                                        <p:tgtEl>
                                          <p:spTgt spid="13415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34156"/>
                                        </p:tgtEl>
                                        <p:attrNameLst>
                                          <p:attrName>style.visibility</p:attrName>
                                        </p:attrNameLst>
                                      </p:cBhvr>
                                      <p:to>
                                        <p:strVal val="visible"/>
                                      </p:to>
                                    </p:set>
                                    <p:animEffect transition="in" filter="wipe(up)">
                                      <p:cBhvr>
                                        <p:cTn id="56" dur="500"/>
                                        <p:tgtEl>
                                          <p:spTgt spid="134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utoUpdateAnimBg="0"/>
      <p:bldP spid="134147" grpId="0" autoUpdateAnimBg="0"/>
      <p:bldP spid="134148" grpId="0" autoUpdateAnimBg="0"/>
      <p:bldP spid="134149" grpId="0" autoUpdateAnimBg="0"/>
      <p:bldP spid="134152" grpId="0" autoUpdateAnimBg="0"/>
      <p:bldP spid="134156"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6005513" y="571500"/>
            <a:ext cx="3138487" cy="2473325"/>
            <a:chOff x="3783" y="572"/>
            <a:chExt cx="1977" cy="1558"/>
          </a:xfrm>
        </p:grpSpPr>
        <p:sp>
          <p:nvSpPr>
            <p:cNvPr id="81970" name="Line 4"/>
            <p:cNvSpPr>
              <a:spLocks noChangeShapeType="1"/>
            </p:cNvSpPr>
            <p:nvPr/>
          </p:nvSpPr>
          <p:spPr bwMode="auto">
            <a:xfrm flipV="1">
              <a:off x="4055" y="786"/>
              <a:ext cx="0" cy="1224"/>
            </a:xfrm>
            <a:prstGeom prst="line">
              <a:avLst/>
            </a:prstGeom>
            <a:noFill/>
            <a:ln w="28575">
              <a:solidFill>
                <a:schemeClr val="tx1"/>
              </a:solidFill>
              <a:round/>
              <a:headEnd/>
              <a:tailEnd type="triangle" w="med" len="med"/>
            </a:ln>
          </p:spPr>
          <p:txBody>
            <a:bodyPr/>
            <a:lstStyle/>
            <a:p>
              <a:endParaRPr lang="zh-CN" altLang="en-US"/>
            </a:p>
          </p:txBody>
        </p:sp>
        <p:sp>
          <p:nvSpPr>
            <p:cNvPr id="81971" name="Line 5"/>
            <p:cNvSpPr>
              <a:spLocks noChangeShapeType="1"/>
            </p:cNvSpPr>
            <p:nvPr/>
          </p:nvSpPr>
          <p:spPr bwMode="auto">
            <a:xfrm>
              <a:off x="4045" y="2010"/>
              <a:ext cx="1316" cy="0"/>
            </a:xfrm>
            <a:prstGeom prst="line">
              <a:avLst/>
            </a:prstGeom>
            <a:noFill/>
            <a:ln w="28575">
              <a:solidFill>
                <a:schemeClr val="tx1"/>
              </a:solidFill>
              <a:round/>
              <a:headEnd/>
              <a:tailEnd type="triangle" w="med" len="med"/>
            </a:ln>
          </p:spPr>
          <p:txBody>
            <a:bodyPr/>
            <a:lstStyle/>
            <a:p>
              <a:endParaRPr lang="zh-CN" altLang="en-US"/>
            </a:p>
          </p:txBody>
        </p:sp>
        <p:sp>
          <p:nvSpPr>
            <p:cNvPr id="81972" name="Text Box 6"/>
            <p:cNvSpPr txBox="1">
              <a:spLocks noChangeArrowheads="1"/>
            </p:cNvSpPr>
            <p:nvPr/>
          </p:nvSpPr>
          <p:spPr bwMode="auto">
            <a:xfrm>
              <a:off x="3828" y="572"/>
              <a:ext cx="322" cy="288"/>
            </a:xfrm>
            <a:prstGeom prst="rect">
              <a:avLst/>
            </a:prstGeom>
            <a:noFill/>
            <a:ln w="9525">
              <a:noFill/>
              <a:miter lim="800000"/>
              <a:headEnd/>
              <a:tailEnd/>
            </a:ln>
          </p:spPr>
          <p:txBody>
            <a:bodyPr>
              <a:spAutoFit/>
            </a:bodyPr>
            <a:lstStyle/>
            <a:p>
              <a:r>
                <a:rPr lang="en-US" altLang="zh-CN" sz="2400" b="1" i="1">
                  <a:latin typeface="Times New Roman" pitchFamily="18" charset="0"/>
                </a:rPr>
                <a:t>p</a:t>
              </a:r>
            </a:p>
          </p:txBody>
        </p:sp>
        <p:sp>
          <p:nvSpPr>
            <p:cNvPr id="81973" name="Text Box 7"/>
            <p:cNvSpPr txBox="1">
              <a:spLocks noChangeArrowheads="1"/>
            </p:cNvSpPr>
            <p:nvPr/>
          </p:nvSpPr>
          <p:spPr bwMode="auto">
            <a:xfrm>
              <a:off x="5358" y="1842"/>
              <a:ext cx="402" cy="288"/>
            </a:xfrm>
            <a:prstGeom prst="rect">
              <a:avLst/>
            </a:prstGeom>
            <a:noFill/>
            <a:ln w="9525">
              <a:noFill/>
              <a:miter lim="800000"/>
              <a:headEnd/>
              <a:tailEnd/>
            </a:ln>
          </p:spPr>
          <p:txBody>
            <a:bodyPr>
              <a:spAutoFit/>
            </a:bodyPr>
            <a:lstStyle/>
            <a:p>
              <a:r>
                <a:rPr lang="en-US" altLang="zh-CN" sz="2400" b="1" i="1">
                  <a:latin typeface="Times New Roman" pitchFamily="18" charset="0"/>
                </a:rPr>
                <a:t>V</a:t>
              </a:r>
            </a:p>
          </p:txBody>
        </p:sp>
        <p:sp>
          <p:nvSpPr>
            <p:cNvPr id="81974" name="Text Box 8"/>
            <p:cNvSpPr txBox="1">
              <a:spLocks noChangeArrowheads="1"/>
            </p:cNvSpPr>
            <p:nvPr/>
          </p:nvSpPr>
          <p:spPr bwMode="auto">
            <a:xfrm>
              <a:off x="3783" y="1829"/>
              <a:ext cx="255"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pSp>
      <p:grpSp>
        <p:nvGrpSpPr>
          <p:cNvPr id="3" name="Group 9"/>
          <p:cNvGrpSpPr>
            <a:grpSpLocks/>
          </p:cNvGrpSpPr>
          <p:nvPr/>
        </p:nvGrpSpPr>
        <p:grpSpPr bwMode="auto">
          <a:xfrm>
            <a:off x="6942138" y="1295400"/>
            <a:ext cx="1150937" cy="839788"/>
            <a:chOff x="4373" y="1028"/>
            <a:chExt cx="725" cy="529"/>
          </a:xfrm>
        </p:grpSpPr>
        <p:sp>
          <p:nvSpPr>
            <p:cNvPr id="81968" name="Freeform 10"/>
            <p:cNvSpPr>
              <a:spLocks/>
            </p:cNvSpPr>
            <p:nvPr/>
          </p:nvSpPr>
          <p:spPr bwMode="auto">
            <a:xfrm>
              <a:off x="4373" y="1028"/>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headEnd/>
              <a:tailEnd/>
            </a:ln>
          </p:spPr>
          <p:txBody>
            <a:bodyPr/>
            <a:lstStyle/>
            <a:p>
              <a:pPr algn="ctr"/>
              <a:endParaRPr lang="zh-CN" altLang="en-US"/>
            </a:p>
          </p:txBody>
        </p:sp>
        <p:sp>
          <p:nvSpPr>
            <p:cNvPr id="81969" name="Line 11"/>
            <p:cNvSpPr>
              <a:spLocks noChangeShapeType="1"/>
            </p:cNvSpPr>
            <p:nvPr/>
          </p:nvSpPr>
          <p:spPr bwMode="auto">
            <a:xfrm rot="10800000">
              <a:off x="4917" y="1149"/>
              <a:ext cx="45" cy="45"/>
            </a:xfrm>
            <a:prstGeom prst="line">
              <a:avLst/>
            </a:prstGeom>
            <a:noFill/>
            <a:ln w="38100">
              <a:solidFill>
                <a:srgbClr val="3333CC"/>
              </a:solidFill>
              <a:round/>
              <a:headEnd/>
              <a:tailEnd type="triangle" w="med" len="med"/>
            </a:ln>
          </p:spPr>
          <p:txBody>
            <a:bodyPr/>
            <a:lstStyle/>
            <a:p>
              <a:endParaRPr lang="zh-CN" altLang="en-US"/>
            </a:p>
          </p:txBody>
        </p:sp>
      </p:grpSp>
      <p:grpSp>
        <p:nvGrpSpPr>
          <p:cNvPr id="4" name="Group 12"/>
          <p:cNvGrpSpPr>
            <a:grpSpLocks/>
          </p:cNvGrpSpPr>
          <p:nvPr/>
        </p:nvGrpSpPr>
        <p:grpSpPr bwMode="auto">
          <a:xfrm>
            <a:off x="6942138" y="1343025"/>
            <a:ext cx="1147762" cy="838200"/>
            <a:chOff x="4373" y="1058"/>
            <a:chExt cx="723" cy="528"/>
          </a:xfrm>
        </p:grpSpPr>
        <p:sp>
          <p:nvSpPr>
            <p:cNvPr id="81966" name="Freeform 13"/>
            <p:cNvSpPr>
              <a:spLocks/>
            </p:cNvSpPr>
            <p:nvPr/>
          </p:nvSpPr>
          <p:spPr bwMode="auto">
            <a:xfrm>
              <a:off x="4373" y="1058"/>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FF0000"/>
              </a:solidFill>
              <a:prstDash val="dash"/>
              <a:round/>
              <a:headEnd/>
              <a:tailEnd/>
            </a:ln>
          </p:spPr>
          <p:txBody>
            <a:bodyPr/>
            <a:lstStyle/>
            <a:p>
              <a:pPr algn="ctr"/>
              <a:endParaRPr lang="zh-CN" altLang="en-US"/>
            </a:p>
          </p:txBody>
        </p:sp>
        <p:sp>
          <p:nvSpPr>
            <p:cNvPr id="81967" name="Line 14"/>
            <p:cNvSpPr>
              <a:spLocks noChangeShapeType="1"/>
            </p:cNvSpPr>
            <p:nvPr/>
          </p:nvSpPr>
          <p:spPr bwMode="auto">
            <a:xfrm rot="10800000" flipH="1" flipV="1">
              <a:off x="4514" y="1343"/>
              <a:ext cx="90" cy="90"/>
            </a:xfrm>
            <a:prstGeom prst="line">
              <a:avLst/>
            </a:prstGeom>
            <a:noFill/>
            <a:ln w="38100">
              <a:solidFill>
                <a:srgbClr val="FF0000"/>
              </a:solidFill>
              <a:round/>
              <a:headEnd/>
              <a:tailEnd type="triangle" w="med" len="med"/>
            </a:ln>
          </p:spPr>
          <p:txBody>
            <a:bodyPr/>
            <a:lstStyle/>
            <a:p>
              <a:endParaRPr lang="zh-CN" altLang="en-US"/>
            </a:p>
          </p:txBody>
        </p:sp>
      </p:grpSp>
      <p:sp>
        <p:nvSpPr>
          <p:cNvPr id="124943" name="Oval 15"/>
          <p:cNvSpPr>
            <a:spLocks noChangeArrowheads="1"/>
          </p:cNvSpPr>
          <p:nvPr/>
        </p:nvSpPr>
        <p:spPr bwMode="auto">
          <a:xfrm>
            <a:off x="6908800" y="1309688"/>
            <a:ext cx="73025" cy="73025"/>
          </a:xfrm>
          <a:prstGeom prst="ellipse">
            <a:avLst/>
          </a:prstGeom>
          <a:solidFill>
            <a:srgbClr val="FF0000"/>
          </a:solidFill>
          <a:ln w="9525">
            <a:solidFill>
              <a:schemeClr val="tx1"/>
            </a:solidFill>
            <a:round/>
            <a:headEnd/>
            <a:tailEnd/>
          </a:ln>
        </p:spPr>
        <p:txBody>
          <a:bodyPr wrap="none" anchor="ctr"/>
          <a:lstStyle/>
          <a:p>
            <a:pPr algn="ctr"/>
            <a:endParaRPr lang="zh-CN" altLang="en-US"/>
          </a:p>
        </p:txBody>
      </p:sp>
      <p:sp>
        <p:nvSpPr>
          <p:cNvPr id="124944" name="Oval 16"/>
          <p:cNvSpPr>
            <a:spLocks noChangeArrowheads="1"/>
          </p:cNvSpPr>
          <p:nvPr/>
        </p:nvSpPr>
        <p:spPr bwMode="auto">
          <a:xfrm>
            <a:off x="8053388" y="2133600"/>
            <a:ext cx="73025" cy="73025"/>
          </a:xfrm>
          <a:prstGeom prst="ellipse">
            <a:avLst/>
          </a:prstGeom>
          <a:solidFill>
            <a:srgbClr val="FF0000"/>
          </a:solidFill>
          <a:ln w="9525">
            <a:solidFill>
              <a:schemeClr val="tx1"/>
            </a:solidFill>
            <a:round/>
            <a:headEnd/>
            <a:tailEnd/>
          </a:ln>
        </p:spPr>
        <p:txBody>
          <a:bodyPr wrap="none" anchor="ctr"/>
          <a:lstStyle/>
          <a:p>
            <a:pPr algn="ctr"/>
            <a:endParaRPr lang="zh-CN" altLang="en-US"/>
          </a:p>
        </p:txBody>
      </p:sp>
      <p:sp>
        <p:nvSpPr>
          <p:cNvPr id="124945" name="Text Box 17"/>
          <p:cNvSpPr txBox="1">
            <a:spLocks noChangeArrowheads="1"/>
          </p:cNvSpPr>
          <p:nvPr/>
        </p:nvSpPr>
        <p:spPr bwMode="auto">
          <a:xfrm>
            <a:off x="6777038" y="858838"/>
            <a:ext cx="458787" cy="457200"/>
          </a:xfrm>
          <a:prstGeom prst="rect">
            <a:avLst/>
          </a:prstGeom>
          <a:noFill/>
          <a:ln w="9525">
            <a:noFill/>
            <a:miter lim="800000"/>
            <a:headEnd/>
            <a:tailEnd/>
          </a:ln>
        </p:spPr>
        <p:txBody>
          <a:bodyPr>
            <a:spAutoFit/>
          </a:bodyPr>
          <a:lstStyle/>
          <a:p>
            <a:r>
              <a:rPr lang="en-US" altLang="zh-CN" sz="2400" b="1" i="1">
                <a:latin typeface="Times New Roman" pitchFamily="18" charset="0"/>
              </a:rPr>
              <a:t>I</a:t>
            </a:r>
          </a:p>
        </p:txBody>
      </p:sp>
      <p:sp>
        <p:nvSpPr>
          <p:cNvPr id="124946" name="Text Box 18"/>
          <p:cNvSpPr txBox="1">
            <a:spLocks noChangeArrowheads="1"/>
          </p:cNvSpPr>
          <p:nvPr/>
        </p:nvSpPr>
        <p:spPr bwMode="auto">
          <a:xfrm>
            <a:off x="8237538" y="1919288"/>
            <a:ext cx="422275" cy="457200"/>
          </a:xfrm>
          <a:prstGeom prst="rect">
            <a:avLst/>
          </a:prstGeom>
          <a:noFill/>
          <a:ln w="9525">
            <a:noFill/>
            <a:miter lim="800000"/>
            <a:headEnd/>
            <a:tailEnd/>
          </a:ln>
        </p:spPr>
        <p:txBody>
          <a:bodyPr wrap="none">
            <a:spAutoFit/>
          </a:bodyPr>
          <a:lstStyle/>
          <a:p>
            <a:r>
              <a:rPr lang="en-US" altLang="zh-CN" sz="2400" b="1" i="1">
                <a:latin typeface="Times New Roman" pitchFamily="18" charset="0"/>
              </a:rPr>
              <a:t>II</a:t>
            </a:r>
          </a:p>
        </p:txBody>
      </p:sp>
      <p:sp>
        <p:nvSpPr>
          <p:cNvPr id="124947" name="Text Box 19"/>
          <p:cNvSpPr txBox="1">
            <a:spLocks noChangeArrowheads="1"/>
          </p:cNvSpPr>
          <p:nvPr/>
        </p:nvSpPr>
        <p:spPr bwMode="auto">
          <a:xfrm>
            <a:off x="7734300" y="1111250"/>
            <a:ext cx="1085850" cy="396875"/>
          </a:xfrm>
          <a:prstGeom prst="rect">
            <a:avLst/>
          </a:prstGeom>
          <a:noFill/>
          <a:ln w="9525">
            <a:noFill/>
            <a:miter lim="800000"/>
            <a:headEnd/>
            <a:tailEnd/>
          </a:ln>
        </p:spPr>
        <p:txBody>
          <a:bodyPr>
            <a:spAutoFit/>
          </a:bodyPr>
          <a:lstStyle/>
          <a:p>
            <a:r>
              <a:rPr lang="en-US" altLang="zh-CN" sz="2000" b="1" i="1">
                <a:latin typeface="Times New Roman" pitchFamily="18" charset="0"/>
              </a:rPr>
              <a:t>a </a:t>
            </a:r>
            <a:r>
              <a:rPr lang="zh-CN" altLang="en-US" sz="2000" b="1">
                <a:latin typeface="Times New Roman" pitchFamily="18" charset="0"/>
              </a:rPr>
              <a:t>可逆</a:t>
            </a:r>
          </a:p>
        </p:txBody>
      </p:sp>
      <p:sp>
        <p:nvSpPr>
          <p:cNvPr id="124948" name="Text Box 20"/>
          <p:cNvSpPr txBox="1">
            <a:spLocks noChangeArrowheads="1"/>
          </p:cNvSpPr>
          <p:nvPr/>
        </p:nvSpPr>
        <p:spPr bwMode="auto">
          <a:xfrm>
            <a:off x="6659563" y="2047875"/>
            <a:ext cx="1296987" cy="396875"/>
          </a:xfrm>
          <a:prstGeom prst="rect">
            <a:avLst/>
          </a:prstGeom>
          <a:noFill/>
          <a:ln w="9525">
            <a:noFill/>
            <a:miter lim="800000"/>
            <a:headEnd/>
            <a:tailEnd/>
          </a:ln>
        </p:spPr>
        <p:txBody>
          <a:bodyPr>
            <a:spAutoFit/>
          </a:bodyPr>
          <a:lstStyle/>
          <a:p>
            <a:r>
              <a:rPr lang="en-US" altLang="zh-CN" sz="2000" b="1" i="1">
                <a:latin typeface="Times New Roman" pitchFamily="18" charset="0"/>
              </a:rPr>
              <a:t>b </a:t>
            </a:r>
            <a:r>
              <a:rPr lang="zh-CN" altLang="en-US" sz="2000" b="1">
                <a:latin typeface="Times New Roman" pitchFamily="18" charset="0"/>
              </a:rPr>
              <a:t>不可逆</a:t>
            </a:r>
          </a:p>
        </p:txBody>
      </p:sp>
      <p:graphicFrame>
        <p:nvGraphicFramePr>
          <p:cNvPr id="124949" name="Object 21"/>
          <p:cNvGraphicFramePr>
            <a:graphicFrameLocks noChangeAspect="1"/>
          </p:cNvGraphicFramePr>
          <p:nvPr/>
        </p:nvGraphicFramePr>
        <p:xfrm>
          <a:off x="1254125" y="1643063"/>
          <a:ext cx="3678238" cy="730250"/>
        </p:xfrm>
        <a:graphic>
          <a:graphicData uri="http://schemas.openxmlformats.org/presentationml/2006/ole">
            <p:oleObj spid="_x0000_s81922" name="公式" r:id="rId3" imgW="2057400" imgH="406080" progId="Equation.3">
              <p:embed/>
            </p:oleObj>
          </a:graphicData>
        </a:graphic>
      </p:graphicFrame>
      <p:graphicFrame>
        <p:nvGraphicFramePr>
          <p:cNvPr id="124950" name="Object 22"/>
          <p:cNvGraphicFramePr>
            <a:graphicFrameLocks noChangeAspect="1"/>
          </p:cNvGraphicFramePr>
          <p:nvPr/>
        </p:nvGraphicFramePr>
        <p:xfrm>
          <a:off x="1978025" y="2641600"/>
          <a:ext cx="2881313" cy="730250"/>
        </p:xfrm>
        <a:graphic>
          <a:graphicData uri="http://schemas.openxmlformats.org/presentationml/2006/ole">
            <p:oleObj spid="_x0000_s81923" name="公式" r:id="rId4" imgW="1612800" imgH="406080" progId="Equation.3">
              <p:embed/>
            </p:oleObj>
          </a:graphicData>
        </a:graphic>
      </p:graphicFrame>
      <p:sp>
        <p:nvSpPr>
          <p:cNvPr id="124951" name="AutoShape 23"/>
          <p:cNvSpPr>
            <a:spLocks noChangeArrowheads="1"/>
          </p:cNvSpPr>
          <p:nvPr/>
        </p:nvSpPr>
        <p:spPr bwMode="auto">
          <a:xfrm>
            <a:off x="539750" y="3876675"/>
            <a:ext cx="647700" cy="142875"/>
          </a:xfrm>
          <a:prstGeom prst="rightArrow">
            <a:avLst>
              <a:gd name="adj1" fmla="val 50000"/>
              <a:gd name="adj2" fmla="val 113333"/>
            </a:avLst>
          </a:prstGeom>
          <a:solidFill>
            <a:srgbClr val="FF0000"/>
          </a:solidFill>
          <a:ln w="9525">
            <a:solidFill>
              <a:schemeClr val="tx1"/>
            </a:solidFill>
            <a:miter lim="800000"/>
            <a:headEnd/>
            <a:tailEnd/>
          </a:ln>
        </p:spPr>
        <p:txBody>
          <a:bodyPr wrap="none" anchor="ctr"/>
          <a:lstStyle/>
          <a:p>
            <a:pPr algn="ctr"/>
            <a:endParaRPr lang="zh-CN" altLang="en-US"/>
          </a:p>
        </p:txBody>
      </p:sp>
      <p:grpSp>
        <p:nvGrpSpPr>
          <p:cNvPr id="5" name="Group 24"/>
          <p:cNvGrpSpPr>
            <a:grpSpLocks/>
          </p:cNvGrpSpPr>
          <p:nvPr/>
        </p:nvGrpSpPr>
        <p:grpSpPr bwMode="auto">
          <a:xfrm>
            <a:off x="6948488" y="3813175"/>
            <a:ext cx="1150937" cy="839788"/>
            <a:chOff x="4377" y="2599"/>
            <a:chExt cx="725" cy="529"/>
          </a:xfrm>
        </p:grpSpPr>
        <p:sp>
          <p:nvSpPr>
            <p:cNvPr id="81964" name="Freeform 25"/>
            <p:cNvSpPr>
              <a:spLocks/>
            </p:cNvSpPr>
            <p:nvPr/>
          </p:nvSpPr>
          <p:spPr bwMode="auto">
            <a:xfrm>
              <a:off x="4377" y="2599"/>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headEnd/>
              <a:tailEnd/>
            </a:ln>
          </p:spPr>
          <p:txBody>
            <a:bodyPr/>
            <a:lstStyle/>
            <a:p>
              <a:pPr algn="ctr"/>
              <a:endParaRPr lang="zh-CN" altLang="en-US"/>
            </a:p>
          </p:txBody>
        </p:sp>
        <p:sp>
          <p:nvSpPr>
            <p:cNvPr id="81965" name="Line 26"/>
            <p:cNvSpPr>
              <a:spLocks noChangeShapeType="1"/>
            </p:cNvSpPr>
            <p:nvPr/>
          </p:nvSpPr>
          <p:spPr bwMode="auto">
            <a:xfrm>
              <a:off x="4921" y="2720"/>
              <a:ext cx="45" cy="45"/>
            </a:xfrm>
            <a:prstGeom prst="line">
              <a:avLst/>
            </a:prstGeom>
            <a:noFill/>
            <a:ln w="38100">
              <a:solidFill>
                <a:srgbClr val="3333CC"/>
              </a:solidFill>
              <a:round/>
              <a:headEnd/>
              <a:tailEnd type="triangle" w="med" len="med"/>
            </a:ln>
          </p:spPr>
          <p:txBody>
            <a:bodyPr/>
            <a:lstStyle/>
            <a:p>
              <a:endParaRPr lang="zh-CN" altLang="en-US"/>
            </a:p>
          </p:txBody>
        </p:sp>
      </p:grpSp>
      <p:graphicFrame>
        <p:nvGraphicFramePr>
          <p:cNvPr id="124955" name="Object 27"/>
          <p:cNvGraphicFramePr>
            <a:graphicFrameLocks noChangeAspect="1"/>
          </p:cNvGraphicFramePr>
          <p:nvPr/>
        </p:nvGraphicFramePr>
        <p:xfrm>
          <a:off x="1476375" y="3514725"/>
          <a:ext cx="2493963" cy="730250"/>
        </p:xfrm>
        <a:graphic>
          <a:graphicData uri="http://schemas.openxmlformats.org/presentationml/2006/ole">
            <p:oleObj spid="_x0000_s81924" name="公式" r:id="rId5" imgW="1396800" imgH="406080" progId="Equation.3">
              <p:embed/>
            </p:oleObj>
          </a:graphicData>
        </a:graphic>
      </p:graphicFrame>
      <p:sp>
        <p:nvSpPr>
          <p:cNvPr id="124956" name="AutoShape 28"/>
          <p:cNvSpPr>
            <a:spLocks noChangeArrowheads="1"/>
          </p:cNvSpPr>
          <p:nvPr/>
        </p:nvSpPr>
        <p:spPr bwMode="auto">
          <a:xfrm>
            <a:off x="581025" y="4595813"/>
            <a:ext cx="649288" cy="144462"/>
          </a:xfrm>
          <a:prstGeom prst="rightArrow">
            <a:avLst>
              <a:gd name="adj1" fmla="val 50000"/>
              <a:gd name="adj2" fmla="val 112363"/>
            </a:avLst>
          </a:prstGeom>
          <a:solidFill>
            <a:srgbClr val="FF0000"/>
          </a:solidFill>
          <a:ln w="9525">
            <a:solidFill>
              <a:schemeClr val="tx1"/>
            </a:solidFill>
            <a:miter lim="800000"/>
            <a:headEnd/>
            <a:tailEnd/>
          </a:ln>
        </p:spPr>
        <p:txBody>
          <a:bodyPr wrap="none" anchor="ctr"/>
          <a:lstStyle/>
          <a:p>
            <a:pPr algn="ctr"/>
            <a:endParaRPr lang="zh-CN" altLang="en-US"/>
          </a:p>
        </p:txBody>
      </p:sp>
      <p:graphicFrame>
        <p:nvGraphicFramePr>
          <p:cNvPr id="124957" name="Object 29"/>
          <p:cNvGraphicFramePr>
            <a:graphicFrameLocks noChangeAspect="1"/>
          </p:cNvGraphicFramePr>
          <p:nvPr/>
        </p:nvGraphicFramePr>
        <p:xfrm>
          <a:off x="1476375" y="4295775"/>
          <a:ext cx="2000250" cy="730250"/>
        </p:xfrm>
        <a:graphic>
          <a:graphicData uri="http://schemas.openxmlformats.org/presentationml/2006/ole">
            <p:oleObj spid="_x0000_s81925" name="公式" r:id="rId6" imgW="1117440" imgH="406080" progId="Equation.3">
              <p:embed/>
            </p:oleObj>
          </a:graphicData>
        </a:graphic>
      </p:graphicFrame>
      <p:sp>
        <p:nvSpPr>
          <p:cNvPr id="124958" name="Text Box 30"/>
          <p:cNvSpPr txBox="1">
            <a:spLocks noChangeArrowheads="1"/>
          </p:cNvSpPr>
          <p:nvPr/>
        </p:nvSpPr>
        <p:spPr bwMode="auto">
          <a:xfrm>
            <a:off x="3563938" y="4351338"/>
            <a:ext cx="2520950" cy="641350"/>
          </a:xfrm>
          <a:prstGeom prst="rect">
            <a:avLst/>
          </a:prstGeom>
          <a:noFill/>
          <a:ln w="9525">
            <a:noFill/>
            <a:miter lim="800000"/>
            <a:headEnd/>
            <a:tailEnd/>
          </a:ln>
        </p:spPr>
        <p:txBody>
          <a:bodyPr>
            <a:spAutoFit/>
          </a:bodyPr>
          <a:lstStyle/>
          <a:p>
            <a:r>
              <a:rPr lang="en-US" altLang="zh-CN" b="1">
                <a:solidFill>
                  <a:srgbClr val="FF0000"/>
                </a:solidFill>
                <a:latin typeface="Times New Roman" pitchFamily="18" charset="0"/>
                <a:ea typeface="楷体_GB2312" pitchFamily="49" charset="-122"/>
              </a:rPr>
              <a:t>(</a:t>
            </a:r>
            <a:r>
              <a:rPr lang="zh-CN" altLang="en-US" b="1">
                <a:solidFill>
                  <a:srgbClr val="FF0000"/>
                </a:solidFill>
                <a:latin typeface="Times New Roman" pitchFamily="18" charset="0"/>
                <a:ea typeface="楷体_GB2312" pitchFamily="49" charset="-122"/>
              </a:rPr>
              <a:t>可逆过程，取“＝”；不可逆过程，取“</a:t>
            </a:r>
            <a:r>
              <a:rPr lang="en-US" altLang="zh-CN" b="1">
                <a:solidFill>
                  <a:srgbClr val="FF0000"/>
                </a:solidFill>
                <a:latin typeface="Times New Roman" pitchFamily="18" charset="0"/>
                <a:ea typeface="楷体_GB2312" pitchFamily="49" charset="-122"/>
              </a:rPr>
              <a:t>&gt;”)</a:t>
            </a:r>
          </a:p>
        </p:txBody>
      </p:sp>
      <p:sp>
        <p:nvSpPr>
          <p:cNvPr id="124959" name="AutoShape 31"/>
          <p:cNvSpPr>
            <a:spLocks noChangeArrowheads="1"/>
          </p:cNvSpPr>
          <p:nvPr/>
        </p:nvSpPr>
        <p:spPr bwMode="auto">
          <a:xfrm>
            <a:off x="7235825" y="3021013"/>
            <a:ext cx="215900" cy="431800"/>
          </a:xfrm>
          <a:prstGeom prst="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p>
            <a:pPr algn="ctr"/>
            <a:endParaRPr lang="zh-CN" altLang="en-US"/>
          </a:p>
        </p:txBody>
      </p:sp>
      <p:grpSp>
        <p:nvGrpSpPr>
          <p:cNvPr id="6" name="Group 32"/>
          <p:cNvGrpSpPr>
            <a:grpSpLocks/>
          </p:cNvGrpSpPr>
          <p:nvPr/>
        </p:nvGrpSpPr>
        <p:grpSpPr bwMode="auto">
          <a:xfrm>
            <a:off x="6011863" y="3092450"/>
            <a:ext cx="3138487" cy="2473325"/>
            <a:chOff x="3783" y="572"/>
            <a:chExt cx="1977" cy="1558"/>
          </a:xfrm>
        </p:grpSpPr>
        <p:sp>
          <p:nvSpPr>
            <p:cNvPr id="81959" name="Line 33"/>
            <p:cNvSpPr>
              <a:spLocks noChangeShapeType="1"/>
            </p:cNvSpPr>
            <p:nvPr/>
          </p:nvSpPr>
          <p:spPr bwMode="auto">
            <a:xfrm flipV="1">
              <a:off x="4055" y="786"/>
              <a:ext cx="0" cy="1224"/>
            </a:xfrm>
            <a:prstGeom prst="line">
              <a:avLst/>
            </a:prstGeom>
            <a:noFill/>
            <a:ln w="28575">
              <a:solidFill>
                <a:schemeClr val="tx1"/>
              </a:solidFill>
              <a:round/>
              <a:headEnd/>
              <a:tailEnd type="triangle" w="med" len="med"/>
            </a:ln>
          </p:spPr>
          <p:txBody>
            <a:bodyPr/>
            <a:lstStyle/>
            <a:p>
              <a:endParaRPr lang="zh-CN" altLang="en-US"/>
            </a:p>
          </p:txBody>
        </p:sp>
        <p:sp>
          <p:nvSpPr>
            <p:cNvPr id="81960" name="Line 34"/>
            <p:cNvSpPr>
              <a:spLocks noChangeShapeType="1"/>
            </p:cNvSpPr>
            <p:nvPr/>
          </p:nvSpPr>
          <p:spPr bwMode="auto">
            <a:xfrm>
              <a:off x="4045" y="2010"/>
              <a:ext cx="1316" cy="0"/>
            </a:xfrm>
            <a:prstGeom prst="line">
              <a:avLst/>
            </a:prstGeom>
            <a:noFill/>
            <a:ln w="28575">
              <a:solidFill>
                <a:schemeClr val="tx1"/>
              </a:solidFill>
              <a:round/>
              <a:headEnd/>
              <a:tailEnd type="triangle" w="med" len="med"/>
            </a:ln>
          </p:spPr>
          <p:txBody>
            <a:bodyPr/>
            <a:lstStyle/>
            <a:p>
              <a:endParaRPr lang="zh-CN" altLang="en-US"/>
            </a:p>
          </p:txBody>
        </p:sp>
        <p:sp>
          <p:nvSpPr>
            <p:cNvPr id="81961" name="Text Box 35"/>
            <p:cNvSpPr txBox="1">
              <a:spLocks noChangeArrowheads="1"/>
            </p:cNvSpPr>
            <p:nvPr/>
          </p:nvSpPr>
          <p:spPr bwMode="auto">
            <a:xfrm>
              <a:off x="3828" y="572"/>
              <a:ext cx="322" cy="288"/>
            </a:xfrm>
            <a:prstGeom prst="rect">
              <a:avLst/>
            </a:prstGeom>
            <a:noFill/>
            <a:ln w="9525">
              <a:noFill/>
              <a:miter lim="800000"/>
              <a:headEnd/>
              <a:tailEnd/>
            </a:ln>
          </p:spPr>
          <p:txBody>
            <a:bodyPr>
              <a:spAutoFit/>
            </a:bodyPr>
            <a:lstStyle/>
            <a:p>
              <a:r>
                <a:rPr lang="en-US" altLang="zh-CN" sz="2400" b="1" i="1">
                  <a:latin typeface="Times New Roman" pitchFamily="18" charset="0"/>
                </a:rPr>
                <a:t>p</a:t>
              </a:r>
            </a:p>
          </p:txBody>
        </p:sp>
        <p:sp>
          <p:nvSpPr>
            <p:cNvPr id="81962" name="Text Box 36"/>
            <p:cNvSpPr txBox="1">
              <a:spLocks noChangeArrowheads="1"/>
            </p:cNvSpPr>
            <p:nvPr/>
          </p:nvSpPr>
          <p:spPr bwMode="auto">
            <a:xfrm>
              <a:off x="5358" y="1842"/>
              <a:ext cx="402" cy="288"/>
            </a:xfrm>
            <a:prstGeom prst="rect">
              <a:avLst/>
            </a:prstGeom>
            <a:noFill/>
            <a:ln w="9525">
              <a:noFill/>
              <a:miter lim="800000"/>
              <a:headEnd/>
              <a:tailEnd/>
            </a:ln>
          </p:spPr>
          <p:txBody>
            <a:bodyPr>
              <a:spAutoFit/>
            </a:bodyPr>
            <a:lstStyle/>
            <a:p>
              <a:r>
                <a:rPr lang="en-US" altLang="zh-CN" sz="2400" b="1" i="1">
                  <a:latin typeface="Times New Roman" pitchFamily="18" charset="0"/>
                </a:rPr>
                <a:t>V</a:t>
              </a:r>
            </a:p>
          </p:txBody>
        </p:sp>
        <p:sp>
          <p:nvSpPr>
            <p:cNvPr id="81963" name="Text Box 37"/>
            <p:cNvSpPr txBox="1">
              <a:spLocks noChangeArrowheads="1"/>
            </p:cNvSpPr>
            <p:nvPr/>
          </p:nvSpPr>
          <p:spPr bwMode="auto">
            <a:xfrm>
              <a:off x="3783" y="1829"/>
              <a:ext cx="255" cy="288"/>
            </a:xfrm>
            <a:prstGeom prst="rect">
              <a:avLst/>
            </a:prstGeom>
            <a:noFill/>
            <a:ln w="9525">
              <a:noFill/>
              <a:miter lim="800000"/>
              <a:headEnd/>
              <a:tailEnd/>
            </a:ln>
          </p:spPr>
          <p:txBody>
            <a:bodyPr wrap="none">
              <a:spAutoFit/>
            </a:bodyPr>
            <a:lstStyle/>
            <a:p>
              <a:r>
                <a:rPr lang="en-US" altLang="zh-CN" sz="2400" b="1" i="1">
                  <a:latin typeface="Times New Roman" pitchFamily="18" charset="0"/>
                </a:rPr>
                <a:t>O</a:t>
              </a:r>
            </a:p>
          </p:txBody>
        </p:sp>
      </p:grpSp>
      <p:grpSp>
        <p:nvGrpSpPr>
          <p:cNvPr id="7" name="Group 38"/>
          <p:cNvGrpSpPr>
            <a:grpSpLocks/>
          </p:cNvGrpSpPr>
          <p:nvPr/>
        </p:nvGrpSpPr>
        <p:grpSpPr bwMode="auto">
          <a:xfrm>
            <a:off x="6948488" y="3863975"/>
            <a:ext cx="1147762" cy="838200"/>
            <a:chOff x="4373" y="1058"/>
            <a:chExt cx="723" cy="528"/>
          </a:xfrm>
        </p:grpSpPr>
        <p:sp>
          <p:nvSpPr>
            <p:cNvPr id="81957" name="Freeform 39"/>
            <p:cNvSpPr>
              <a:spLocks/>
            </p:cNvSpPr>
            <p:nvPr/>
          </p:nvSpPr>
          <p:spPr bwMode="auto">
            <a:xfrm>
              <a:off x="4373" y="1058"/>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FF0000"/>
              </a:solidFill>
              <a:prstDash val="dash"/>
              <a:round/>
              <a:headEnd/>
              <a:tailEnd/>
            </a:ln>
          </p:spPr>
          <p:txBody>
            <a:bodyPr/>
            <a:lstStyle/>
            <a:p>
              <a:pPr algn="ctr"/>
              <a:endParaRPr lang="zh-CN" altLang="en-US"/>
            </a:p>
          </p:txBody>
        </p:sp>
        <p:sp>
          <p:nvSpPr>
            <p:cNvPr id="81958" name="Line 40"/>
            <p:cNvSpPr>
              <a:spLocks noChangeShapeType="1"/>
            </p:cNvSpPr>
            <p:nvPr/>
          </p:nvSpPr>
          <p:spPr bwMode="auto">
            <a:xfrm rot="10800000" flipH="1" flipV="1">
              <a:off x="4514" y="1343"/>
              <a:ext cx="90" cy="90"/>
            </a:xfrm>
            <a:prstGeom prst="line">
              <a:avLst/>
            </a:prstGeom>
            <a:noFill/>
            <a:ln w="38100">
              <a:solidFill>
                <a:srgbClr val="FF0000"/>
              </a:solidFill>
              <a:round/>
              <a:headEnd/>
              <a:tailEnd type="triangle" w="med" len="med"/>
            </a:ln>
          </p:spPr>
          <p:txBody>
            <a:bodyPr/>
            <a:lstStyle/>
            <a:p>
              <a:endParaRPr lang="zh-CN" altLang="en-US"/>
            </a:p>
          </p:txBody>
        </p:sp>
      </p:grpSp>
      <p:sp>
        <p:nvSpPr>
          <p:cNvPr id="124969" name="Oval 41"/>
          <p:cNvSpPr>
            <a:spLocks noChangeArrowheads="1"/>
          </p:cNvSpPr>
          <p:nvPr/>
        </p:nvSpPr>
        <p:spPr bwMode="auto">
          <a:xfrm>
            <a:off x="6915150" y="3830638"/>
            <a:ext cx="73025" cy="73025"/>
          </a:xfrm>
          <a:prstGeom prst="ellipse">
            <a:avLst/>
          </a:prstGeom>
          <a:solidFill>
            <a:srgbClr val="FF0000"/>
          </a:solidFill>
          <a:ln w="9525">
            <a:solidFill>
              <a:schemeClr val="tx1"/>
            </a:solidFill>
            <a:round/>
            <a:headEnd/>
            <a:tailEnd/>
          </a:ln>
        </p:spPr>
        <p:txBody>
          <a:bodyPr wrap="none" anchor="ctr"/>
          <a:lstStyle/>
          <a:p>
            <a:pPr algn="ctr"/>
            <a:endParaRPr lang="zh-CN" altLang="en-US"/>
          </a:p>
        </p:txBody>
      </p:sp>
      <p:sp>
        <p:nvSpPr>
          <p:cNvPr id="124970" name="Oval 42"/>
          <p:cNvSpPr>
            <a:spLocks noChangeArrowheads="1"/>
          </p:cNvSpPr>
          <p:nvPr/>
        </p:nvSpPr>
        <p:spPr bwMode="auto">
          <a:xfrm>
            <a:off x="8059738" y="4654550"/>
            <a:ext cx="73025" cy="73025"/>
          </a:xfrm>
          <a:prstGeom prst="ellipse">
            <a:avLst/>
          </a:prstGeom>
          <a:solidFill>
            <a:srgbClr val="FF0000"/>
          </a:solidFill>
          <a:ln w="9525">
            <a:solidFill>
              <a:schemeClr val="tx1"/>
            </a:solidFill>
            <a:round/>
            <a:headEnd/>
            <a:tailEnd/>
          </a:ln>
        </p:spPr>
        <p:txBody>
          <a:bodyPr wrap="none" anchor="ctr"/>
          <a:lstStyle/>
          <a:p>
            <a:pPr algn="ctr"/>
            <a:endParaRPr lang="zh-CN" altLang="en-US"/>
          </a:p>
        </p:txBody>
      </p:sp>
      <p:sp>
        <p:nvSpPr>
          <p:cNvPr id="124971" name="Text Box 43"/>
          <p:cNvSpPr txBox="1">
            <a:spLocks noChangeArrowheads="1"/>
          </p:cNvSpPr>
          <p:nvPr/>
        </p:nvSpPr>
        <p:spPr bwMode="auto">
          <a:xfrm>
            <a:off x="6783388" y="3379788"/>
            <a:ext cx="458787" cy="457200"/>
          </a:xfrm>
          <a:prstGeom prst="rect">
            <a:avLst/>
          </a:prstGeom>
          <a:noFill/>
          <a:ln w="9525">
            <a:noFill/>
            <a:miter lim="800000"/>
            <a:headEnd/>
            <a:tailEnd/>
          </a:ln>
        </p:spPr>
        <p:txBody>
          <a:bodyPr>
            <a:spAutoFit/>
          </a:bodyPr>
          <a:lstStyle/>
          <a:p>
            <a:r>
              <a:rPr lang="en-US" altLang="zh-CN" sz="2400" b="1" i="1">
                <a:latin typeface="Times New Roman" pitchFamily="18" charset="0"/>
              </a:rPr>
              <a:t>I</a:t>
            </a:r>
          </a:p>
        </p:txBody>
      </p:sp>
      <p:sp>
        <p:nvSpPr>
          <p:cNvPr id="124972" name="Text Box 44"/>
          <p:cNvSpPr txBox="1">
            <a:spLocks noChangeArrowheads="1"/>
          </p:cNvSpPr>
          <p:nvPr/>
        </p:nvSpPr>
        <p:spPr bwMode="auto">
          <a:xfrm>
            <a:off x="8243888" y="4440238"/>
            <a:ext cx="422275" cy="457200"/>
          </a:xfrm>
          <a:prstGeom prst="rect">
            <a:avLst/>
          </a:prstGeom>
          <a:noFill/>
          <a:ln w="9525">
            <a:noFill/>
            <a:miter lim="800000"/>
            <a:headEnd/>
            <a:tailEnd/>
          </a:ln>
        </p:spPr>
        <p:txBody>
          <a:bodyPr wrap="none">
            <a:spAutoFit/>
          </a:bodyPr>
          <a:lstStyle/>
          <a:p>
            <a:r>
              <a:rPr lang="en-US" altLang="zh-CN" sz="2400" b="1" i="1">
                <a:latin typeface="Times New Roman" pitchFamily="18" charset="0"/>
              </a:rPr>
              <a:t>II</a:t>
            </a:r>
          </a:p>
        </p:txBody>
      </p:sp>
      <p:sp>
        <p:nvSpPr>
          <p:cNvPr id="124973" name="Text Box 45"/>
          <p:cNvSpPr txBox="1">
            <a:spLocks noChangeArrowheads="1"/>
          </p:cNvSpPr>
          <p:nvPr/>
        </p:nvSpPr>
        <p:spPr bwMode="auto">
          <a:xfrm>
            <a:off x="7740650" y="3632200"/>
            <a:ext cx="1085850" cy="396875"/>
          </a:xfrm>
          <a:prstGeom prst="rect">
            <a:avLst/>
          </a:prstGeom>
          <a:noFill/>
          <a:ln w="9525">
            <a:noFill/>
            <a:miter lim="800000"/>
            <a:headEnd/>
            <a:tailEnd/>
          </a:ln>
        </p:spPr>
        <p:txBody>
          <a:bodyPr>
            <a:spAutoFit/>
          </a:bodyPr>
          <a:lstStyle/>
          <a:p>
            <a:r>
              <a:rPr lang="en-US" altLang="zh-CN" sz="2000" b="1" i="1">
                <a:latin typeface="Times New Roman" pitchFamily="18" charset="0"/>
              </a:rPr>
              <a:t>a </a:t>
            </a:r>
            <a:r>
              <a:rPr lang="zh-CN" altLang="en-US" sz="2000" b="1">
                <a:latin typeface="Times New Roman" pitchFamily="18" charset="0"/>
              </a:rPr>
              <a:t>可逆</a:t>
            </a:r>
          </a:p>
        </p:txBody>
      </p:sp>
      <p:sp>
        <p:nvSpPr>
          <p:cNvPr id="124974" name="Text Box 46"/>
          <p:cNvSpPr txBox="1">
            <a:spLocks noChangeArrowheads="1"/>
          </p:cNvSpPr>
          <p:nvPr/>
        </p:nvSpPr>
        <p:spPr bwMode="auto">
          <a:xfrm>
            <a:off x="6665913" y="4567238"/>
            <a:ext cx="1296987" cy="396875"/>
          </a:xfrm>
          <a:prstGeom prst="rect">
            <a:avLst/>
          </a:prstGeom>
          <a:noFill/>
          <a:ln w="9525">
            <a:noFill/>
            <a:miter lim="800000"/>
            <a:headEnd/>
            <a:tailEnd/>
          </a:ln>
        </p:spPr>
        <p:txBody>
          <a:bodyPr>
            <a:spAutoFit/>
          </a:bodyPr>
          <a:lstStyle/>
          <a:p>
            <a:r>
              <a:rPr lang="en-US" altLang="zh-CN" sz="2000" b="1" i="1">
                <a:latin typeface="Times New Roman" pitchFamily="18" charset="0"/>
              </a:rPr>
              <a:t>b </a:t>
            </a:r>
            <a:r>
              <a:rPr lang="zh-CN" altLang="en-US" sz="2000" b="1">
                <a:latin typeface="Times New Roman" pitchFamily="18" charset="0"/>
              </a:rPr>
              <a:t>不可逆</a:t>
            </a:r>
          </a:p>
        </p:txBody>
      </p:sp>
      <p:sp>
        <p:nvSpPr>
          <p:cNvPr id="124975" name="Text Box 47"/>
          <p:cNvSpPr txBox="1">
            <a:spLocks noChangeArrowheads="1"/>
          </p:cNvSpPr>
          <p:nvPr/>
        </p:nvSpPr>
        <p:spPr bwMode="auto">
          <a:xfrm>
            <a:off x="179388" y="476250"/>
            <a:ext cx="3024187"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8.8.4   </a:t>
            </a:r>
            <a:r>
              <a:rPr kumimoji="1" lang="zh-CN" altLang="en-US" sz="2400" b="1">
                <a:solidFill>
                  <a:srgbClr val="0000FF"/>
                </a:solidFill>
                <a:latin typeface="Times New Roman" pitchFamily="18" charset="0"/>
              </a:rPr>
              <a:t>熵增加原理</a:t>
            </a:r>
          </a:p>
        </p:txBody>
      </p:sp>
      <p:sp>
        <p:nvSpPr>
          <p:cNvPr id="124976" name="Rectangle 48"/>
          <p:cNvSpPr>
            <a:spLocks noChangeArrowheads="1"/>
          </p:cNvSpPr>
          <p:nvPr/>
        </p:nvSpPr>
        <p:spPr bwMode="auto">
          <a:xfrm>
            <a:off x="912813" y="928688"/>
            <a:ext cx="4103687" cy="530225"/>
          </a:xfrm>
          <a:prstGeom prst="rect">
            <a:avLst/>
          </a:prstGeom>
          <a:gradFill rotWithShape="1">
            <a:gsLst>
              <a:gs pos="0">
                <a:srgbClr val="FFFF00">
                  <a:alpha val="57001"/>
                </a:srgbClr>
              </a:gs>
              <a:gs pos="100000">
                <a:srgbClr val="00FF00">
                  <a:alpha val="56000"/>
                </a:srgbClr>
              </a:gs>
            </a:gsLst>
            <a:lin ang="0" scaled="1"/>
          </a:gradFill>
          <a:ln w="9525">
            <a:noFill/>
            <a:miter lim="800000"/>
            <a:headEnd/>
            <a:tailEnd/>
          </a:ln>
        </p:spPr>
        <p:txBody>
          <a:bodyPr>
            <a:spAutoFit/>
          </a:bodyPr>
          <a:lstStyle/>
          <a:p>
            <a:pPr algn="ctr">
              <a:lnSpc>
                <a:spcPct val="120000"/>
              </a:lnSpc>
            </a:pPr>
            <a:r>
              <a:rPr kumimoji="1" lang="zh-CN" altLang="en-US" sz="2400" b="1">
                <a:latin typeface="Times New Roman" pitchFamily="18" charset="0"/>
                <a:ea typeface="楷体_GB2312" pitchFamily="49" charset="-122"/>
              </a:rPr>
              <a:t>孤立系统的熵永远不会减少</a:t>
            </a:r>
          </a:p>
        </p:txBody>
      </p:sp>
      <p:sp>
        <p:nvSpPr>
          <p:cNvPr id="124977" name="Rectangle 49"/>
          <p:cNvSpPr>
            <a:spLocks noChangeArrowheads="1"/>
          </p:cNvSpPr>
          <p:nvPr/>
        </p:nvSpPr>
        <p:spPr bwMode="auto">
          <a:xfrm>
            <a:off x="179388" y="1689100"/>
            <a:ext cx="2735262" cy="530225"/>
          </a:xfrm>
          <a:prstGeom prst="rect">
            <a:avLst/>
          </a:prstGeom>
          <a:noFill/>
          <a:ln w="9525">
            <a:noFill/>
            <a:miter lim="800000"/>
            <a:headEnd/>
            <a:tailEnd/>
          </a:ln>
        </p:spPr>
        <p:txBody>
          <a:bodyPr>
            <a:spAutoFit/>
          </a:bodyPr>
          <a:lstStyle/>
          <a:p>
            <a:pPr>
              <a:lnSpc>
                <a:spcPct val="120000"/>
              </a:lnSpc>
              <a:buClr>
                <a:srgbClr val="FF6600"/>
              </a:buClr>
              <a:buFont typeface="Wingdings" pitchFamily="2" charset="2"/>
              <a:buNone/>
            </a:pPr>
            <a:r>
              <a:rPr kumimoji="1" lang="zh-CN" altLang="en-US" sz="2400" b="1">
                <a:solidFill>
                  <a:srgbClr val="FF3300"/>
                </a:solidFill>
                <a:latin typeface="Times New Roman" pitchFamily="18" charset="0"/>
              </a:rPr>
              <a:t>证明</a:t>
            </a:r>
            <a:r>
              <a:rPr kumimoji="1" lang="en-US" altLang="zh-CN" sz="2400" b="1">
                <a:solidFill>
                  <a:srgbClr val="FF3300"/>
                </a:solidFill>
                <a:latin typeface="Times New Roman" pitchFamily="18" charset="0"/>
              </a:rPr>
              <a:t>:</a:t>
            </a:r>
          </a:p>
        </p:txBody>
      </p:sp>
      <p:sp>
        <p:nvSpPr>
          <p:cNvPr id="124979" name="Text Box 51"/>
          <p:cNvSpPr txBox="1">
            <a:spLocks noChangeArrowheads="1"/>
          </p:cNvSpPr>
          <p:nvPr/>
        </p:nvSpPr>
        <p:spPr bwMode="auto">
          <a:xfrm>
            <a:off x="468313" y="5218113"/>
            <a:ext cx="2971800" cy="457200"/>
          </a:xfrm>
          <a:prstGeom prst="rect">
            <a:avLst/>
          </a:prstGeom>
          <a:noFill/>
          <a:ln w="9525">
            <a:noFill/>
            <a:miter lim="800000"/>
            <a:headEnd/>
            <a:tailEnd/>
          </a:ln>
        </p:spPr>
        <p:txBody>
          <a:bodyPr>
            <a:spAutoFit/>
          </a:bodyPr>
          <a:lstStyle/>
          <a:p>
            <a:pPr>
              <a:defRPr/>
            </a:pPr>
            <a:r>
              <a:rPr lang="zh-CN" altLang="en-US" sz="2400" b="1" dirty="0">
                <a:solidFill>
                  <a:srgbClr val="FF0000"/>
                </a:solidFill>
                <a:latin typeface="Times New Roman" pitchFamily="18" charset="0"/>
                <a:ea typeface="+mn-ea"/>
                <a:cs typeface="Times New Roman" pitchFamily="18" charset="0"/>
              </a:rPr>
              <a:t>孤立系统</a:t>
            </a:r>
            <a:r>
              <a:rPr lang="zh-CN" altLang="en-US" sz="2400" b="1" dirty="0">
                <a:latin typeface="Times New Roman" pitchFamily="18" charset="0"/>
                <a:ea typeface="+mn-ea"/>
                <a:cs typeface="Times New Roman" pitchFamily="18" charset="0"/>
              </a:rPr>
              <a:t>，</a:t>
            </a:r>
            <a:r>
              <a:rPr lang="en-US" altLang="zh-CN" sz="2400" b="1" dirty="0" err="1">
                <a:latin typeface="Times New Roman" pitchFamily="18" charset="0"/>
                <a:ea typeface="+mn-ea"/>
                <a:cs typeface="Times New Roman" pitchFamily="18" charset="0"/>
              </a:rPr>
              <a:t>d</a:t>
            </a:r>
            <a:r>
              <a:rPr lang="en-US" altLang="zh-CN" sz="2400" b="1" i="1" dirty="0" err="1">
                <a:latin typeface="Times New Roman" pitchFamily="18" charset="0"/>
                <a:ea typeface="+mn-ea"/>
                <a:cs typeface="Times New Roman" pitchFamily="18" charset="0"/>
              </a:rPr>
              <a:t>Q</a:t>
            </a:r>
            <a:r>
              <a:rPr lang="en-US" altLang="zh-CN" sz="2400" b="1" i="1" dirty="0">
                <a:latin typeface="Times New Roman" pitchFamily="18" charset="0"/>
                <a:ea typeface="+mn-ea"/>
                <a:cs typeface="Times New Roman" pitchFamily="18" charset="0"/>
              </a:rPr>
              <a:t> </a:t>
            </a:r>
            <a:r>
              <a:rPr lang="en-US" altLang="zh-CN" sz="2400" b="1" dirty="0">
                <a:latin typeface="Times New Roman" pitchFamily="18" charset="0"/>
                <a:ea typeface="+mn-ea"/>
                <a:cs typeface="Times New Roman" pitchFamily="18" charset="0"/>
              </a:rPr>
              <a:t>= 0</a:t>
            </a:r>
          </a:p>
        </p:txBody>
      </p:sp>
      <p:graphicFrame>
        <p:nvGraphicFramePr>
          <p:cNvPr id="124980" name="Object 52"/>
          <p:cNvGraphicFramePr>
            <a:graphicFrameLocks noChangeAspect="1"/>
          </p:cNvGraphicFramePr>
          <p:nvPr/>
        </p:nvGraphicFramePr>
        <p:xfrm>
          <a:off x="4125913" y="5243513"/>
          <a:ext cx="931862" cy="352425"/>
        </p:xfrm>
        <a:graphic>
          <a:graphicData uri="http://schemas.openxmlformats.org/presentationml/2006/ole">
            <p:oleObj spid="_x0000_s81926" name="公式" r:id="rId7" imgW="469800" imgH="177480" progId="Equation.3">
              <p:embed/>
            </p:oleObj>
          </a:graphicData>
        </a:graphic>
      </p:graphicFrame>
      <p:sp>
        <p:nvSpPr>
          <p:cNvPr id="124981" name="AutoShape 53"/>
          <p:cNvSpPr>
            <a:spLocks noChangeArrowheads="1"/>
          </p:cNvSpPr>
          <p:nvPr/>
        </p:nvSpPr>
        <p:spPr bwMode="auto">
          <a:xfrm>
            <a:off x="3233738" y="5357813"/>
            <a:ext cx="576262" cy="153987"/>
          </a:xfrm>
          <a:prstGeom prst="rightArrow">
            <a:avLst>
              <a:gd name="adj1" fmla="val 50000"/>
              <a:gd name="adj2" fmla="val 93557"/>
            </a:avLst>
          </a:prstGeom>
          <a:solidFill>
            <a:srgbClr val="FF0000"/>
          </a:solidFill>
          <a:ln w="9525">
            <a:solidFill>
              <a:schemeClr val="tx1"/>
            </a:solidFill>
            <a:miter lim="800000"/>
            <a:headEnd/>
            <a:tailEnd/>
          </a:ln>
        </p:spPr>
        <p:txBody>
          <a:bodyPr wrap="none" anchor="ctr"/>
          <a:lstStyle/>
          <a:p>
            <a:pPr algn="ctr"/>
            <a:endParaRPr lang="zh-CN" altLang="en-US"/>
          </a:p>
        </p:txBody>
      </p:sp>
      <p:sp>
        <p:nvSpPr>
          <p:cNvPr id="124982" name="Rectangle 54"/>
          <p:cNvSpPr>
            <a:spLocks noChangeArrowheads="1"/>
          </p:cNvSpPr>
          <p:nvPr/>
        </p:nvSpPr>
        <p:spPr bwMode="auto">
          <a:xfrm>
            <a:off x="395288" y="6021388"/>
            <a:ext cx="7850187" cy="457200"/>
          </a:xfrm>
          <a:prstGeom prst="rect">
            <a:avLst/>
          </a:prstGeom>
          <a:noFill/>
          <a:ln w="9525">
            <a:noFill/>
            <a:miter lim="800000"/>
            <a:headEnd/>
            <a:tailEnd/>
          </a:ln>
        </p:spPr>
        <p:txBody>
          <a:bodyPr>
            <a:spAutoFit/>
          </a:bodyPr>
          <a:lstStyle/>
          <a:p>
            <a:pPr>
              <a:defRPr/>
            </a:pPr>
            <a:r>
              <a:rPr kumimoji="1" lang="zh-CN" altLang="en-US" sz="2400" b="1" dirty="0">
                <a:solidFill>
                  <a:srgbClr val="0000FF"/>
                </a:solidFill>
                <a:latin typeface="Times New Roman" pitchFamily="18" charset="0"/>
                <a:ea typeface="+mn-ea"/>
                <a:cs typeface="Times New Roman" pitchFamily="18" charset="0"/>
              </a:rPr>
              <a:t>孤立系统中不可逆过程总是朝熵增加的方向进行直到最大。</a:t>
            </a:r>
          </a:p>
        </p:txBody>
      </p:sp>
      <p:graphicFrame>
        <p:nvGraphicFramePr>
          <p:cNvPr id="124983" name="Object 55"/>
          <p:cNvGraphicFramePr>
            <a:graphicFrameLocks noChangeAspect="1"/>
          </p:cNvGraphicFramePr>
          <p:nvPr/>
        </p:nvGraphicFramePr>
        <p:xfrm>
          <a:off x="4859338" y="2867025"/>
          <a:ext cx="431800" cy="319088"/>
        </p:xfrm>
        <a:graphic>
          <a:graphicData uri="http://schemas.openxmlformats.org/presentationml/2006/ole">
            <p:oleObj spid="_x0000_s81927" name="公式" r:id="rId8" imgW="241200" imgH="177480" progId="Equation.3">
              <p:embed/>
            </p:oleObj>
          </a:graphicData>
        </a:graphic>
      </p:graphicFrame>
      <p:sp>
        <p:nvSpPr>
          <p:cNvPr id="54" name="AutoShape 4"/>
          <p:cNvSpPr>
            <a:spLocks noChangeArrowheads="1"/>
          </p:cNvSpPr>
          <p:nvPr/>
        </p:nvSpPr>
        <p:spPr bwMode="auto">
          <a:xfrm>
            <a:off x="84138" y="5965825"/>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pPr algn="ctr">
              <a:defRPr/>
            </a:pPr>
            <a:endParaRPr lang="zh-CN" altLang="en-US">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75"/>
                                        </p:tgtEl>
                                        <p:attrNameLst>
                                          <p:attrName>style.visibility</p:attrName>
                                        </p:attrNameLst>
                                      </p:cBhvr>
                                      <p:to>
                                        <p:strVal val="visible"/>
                                      </p:to>
                                    </p:set>
                                    <p:animEffect transition="in" filter="wipe(left)">
                                      <p:cBhvr>
                                        <p:cTn id="7" dur="500"/>
                                        <p:tgtEl>
                                          <p:spTgt spid="1249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76"/>
                                        </p:tgtEl>
                                        <p:attrNameLst>
                                          <p:attrName>style.visibility</p:attrName>
                                        </p:attrNameLst>
                                      </p:cBhvr>
                                      <p:to>
                                        <p:strVal val="visible"/>
                                      </p:to>
                                    </p:set>
                                    <p:animEffect transition="in" filter="wipe(left)">
                                      <p:cBhvr>
                                        <p:cTn id="12" dur="500"/>
                                        <p:tgtEl>
                                          <p:spTgt spid="1249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4977"/>
                                        </p:tgtEl>
                                        <p:attrNameLst>
                                          <p:attrName>style.visibility</p:attrName>
                                        </p:attrNameLst>
                                      </p:cBhvr>
                                      <p:to>
                                        <p:strVal val="visible"/>
                                      </p:to>
                                    </p:set>
                                    <p:animEffect transition="in" filter="wipe(left)">
                                      <p:cBhvr>
                                        <p:cTn id="17" dur="500"/>
                                        <p:tgtEl>
                                          <p:spTgt spid="12497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4943"/>
                                        </p:tgtEl>
                                        <p:attrNameLst>
                                          <p:attrName>style.visibility</p:attrName>
                                        </p:attrNameLst>
                                      </p:cBhvr>
                                      <p:to>
                                        <p:strVal val="visible"/>
                                      </p:to>
                                    </p:set>
                                    <p:animEffect transition="in" filter="wipe(up)">
                                      <p:cBhvr>
                                        <p:cTn id="27" dur="500"/>
                                        <p:tgtEl>
                                          <p:spTgt spid="124943"/>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24945"/>
                                        </p:tgtEl>
                                        <p:attrNameLst>
                                          <p:attrName>style.visibility</p:attrName>
                                        </p:attrNameLst>
                                      </p:cBhvr>
                                      <p:to>
                                        <p:strVal val="visible"/>
                                      </p:to>
                                    </p:set>
                                    <p:animEffect transition="in" filter="wipe(up)">
                                      <p:cBhvr>
                                        <p:cTn id="30" dur="500"/>
                                        <p:tgtEl>
                                          <p:spTgt spid="12494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24948"/>
                                        </p:tgtEl>
                                        <p:attrNameLst>
                                          <p:attrName>style.visibility</p:attrName>
                                        </p:attrNameLst>
                                      </p:cBhvr>
                                      <p:to>
                                        <p:strVal val="visible"/>
                                      </p:to>
                                    </p:set>
                                    <p:animEffect transition="in" filter="wipe(left)">
                                      <p:cBhvr>
                                        <p:cTn id="37" dur="500"/>
                                        <p:tgtEl>
                                          <p:spTgt spid="124948"/>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124944"/>
                                        </p:tgtEl>
                                        <p:attrNameLst>
                                          <p:attrName>style.visibility</p:attrName>
                                        </p:attrNameLst>
                                      </p:cBhvr>
                                      <p:to>
                                        <p:strVal val="visible"/>
                                      </p:to>
                                    </p:set>
                                    <p:animEffect transition="in" filter="wipe(up)">
                                      <p:cBhvr>
                                        <p:cTn id="41" dur="500"/>
                                        <p:tgtEl>
                                          <p:spTgt spid="124944"/>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24946"/>
                                        </p:tgtEl>
                                        <p:attrNameLst>
                                          <p:attrName>style.visibility</p:attrName>
                                        </p:attrNameLst>
                                      </p:cBhvr>
                                      <p:to>
                                        <p:strVal val="visible"/>
                                      </p:to>
                                    </p:set>
                                    <p:animEffect transition="in" filter="wipe(up)">
                                      <p:cBhvr>
                                        <p:cTn id="44" dur="500"/>
                                        <p:tgtEl>
                                          <p:spTgt spid="124946"/>
                                        </p:tgtEl>
                                      </p:cBhvr>
                                    </p:animEffect>
                                  </p:childTnLst>
                                </p:cTn>
                              </p:par>
                            </p:childTnLst>
                          </p:cTn>
                        </p:par>
                        <p:par>
                          <p:cTn id="45" fill="hold">
                            <p:stCondLst>
                              <p:cond delay="1500"/>
                            </p:stCondLst>
                            <p:childTnLst>
                              <p:par>
                                <p:cTn id="46" presetID="22" presetClass="entr" presetSubtype="2"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right)">
                                      <p:cBhvr>
                                        <p:cTn id="48" dur="500"/>
                                        <p:tgtEl>
                                          <p:spTgt spid="3"/>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24947"/>
                                        </p:tgtEl>
                                        <p:attrNameLst>
                                          <p:attrName>style.visibility</p:attrName>
                                        </p:attrNameLst>
                                      </p:cBhvr>
                                      <p:to>
                                        <p:strVal val="visible"/>
                                      </p:to>
                                    </p:set>
                                    <p:animEffect transition="in" filter="wipe(up)">
                                      <p:cBhvr>
                                        <p:cTn id="51" dur="500"/>
                                        <p:tgtEl>
                                          <p:spTgt spid="12494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4949"/>
                                        </p:tgtEl>
                                        <p:attrNameLst>
                                          <p:attrName>style.visibility</p:attrName>
                                        </p:attrNameLst>
                                      </p:cBhvr>
                                      <p:to>
                                        <p:strVal val="visible"/>
                                      </p:to>
                                    </p:set>
                                    <p:animEffect transition="in" filter="wipe(left)">
                                      <p:cBhvr>
                                        <p:cTn id="56" dur="500"/>
                                        <p:tgtEl>
                                          <p:spTgt spid="12494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4950"/>
                                        </p:tgtEl>
                                        <p:attrNameLst>
                                          <p:attrName>style.visibility</p:attrName>
                                        </p:attrNameLst>
                                      </p:cBhvr>
                                      <p:to>
                                        <p:strVal val="visible"/>
                                      </p:to>
                                    </p:set>
                                    <p:animEffect transition="in" filter="wipe(left)">
                                      <p:cBhvr>
                                        <p:cTn id="61" dur="500"/>
                                        <p:tgtEl>
                                          <p:spTgt spid="12495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4983"/>
                                        </p:tgtEl>
                                        <p:attrNameLst>
                                          <p:attrName>style.visibility</p:attrName>
                                        </p:attrNameLst>
                                      </p:cBhvr>
                                      <p:to>
                                        <p:strVal val="visible"/>
                                      </p:to>
                                    </p:set>
                                    <p:animEffect transition="in" filter="wipe(left)">
                                      <p:cBhvr>
                                        <p:cTn id="66" dur="500"/>
                                        <p:tgtEl>
                                          <p:spTgt spid="12498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24951"/>
                                        </p:tgtEl>
                                        <p:attrNameLst>
                                          <p:attrName>style.visibility</p:attrName>
                                        </p:attrNameLst>
                                      </p:cBhvr>
                                      <p:to>
                                        <p:strVal val="visible"/>
                                      </p:to>
                                    </p:set>
                                    <p:animEffect transition="in" filter="wipe(left)">
                                      <p:cBhvr>
                                        <p:cTn id="71" dur="500"/>
                                        <p:tgtEl>
                                          <p:spTgt spid="124951"/>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124955"/>
                                        </p:tgtEl>
                                        <p:attrNameLst>
                                          <p:attrName>style.visibility</p:attrName>
                                        </p:attrNameLst>
                                      </p:cBhvr>
                                      <p:to>
                                        <p:strVal val="visible"/>
                                      </p:to>
                                    </p:set>
                                    <p:animEffect transition="in" filter="wipe(left)">
                                      <p:cBhvr>
                                        <p:cTn id="75" dur="500"/>
                                        <p:tgtEl>
                                          <p:spTgt spid="12495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24959"/>
                                        </p:tgtEl>
                                        <p:attrNameLst>
                                          <p:attrName>style.visibility</p:attrName>
                                        </p:attrNameLst>
                                      </p:cBhvr>
                                      <p:to>
                                        <p:strVal val="visible"/>
                                      </p:to>
                                    </p:set>
                                    <p:animEffect transition="in" filter="wipe(up)">
                                      <p:cBhvr>
                                        <p:cTn id="80" dur="500"/>
                                        <p:tgtEl>
                                          <p:spTgt spid="124959"/>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32" fill="hold"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box(out)">
                                      <p:cBhvr>
                                        <p:cTn id="85" dur="500"/>
                                        <p:tgtEl>
                                          <p:spTgt spid="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24969"/>
                                        </p:tgtEl>
                                        <p:attrNameLst>
                                          <p:attrName>style.visibility</p:attrName>
                                        </p:attrNameLst>
                                      </p:cBhvr>
                                      <p:to>
                                        <p:strVal val="visible"/>
                                      </p:to>
                                    </p:set>
                                    <p:animEffect transition="in" filter="wipe(up)">
                                      <p:cBhvr>
                                        <p:cTn id="90" dur="500"/>
                                        <p:tgtEl>
                                          <p:spTgt spid="124969"/>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124971"/>
                                        </p:tgtEl>
                                        <p:attrNameLst>
                                          <p:attrName>style.visibility</p:attrName>
                                        </p:attrNameLst>
                                      </p:cBhvr>
                                      <p:to>
                                        <p:strVal val="visible"/>
                                      </p:to>
                                    </p:set>
                                    <p:animEffect transition="in" filter="wipe(up)">
                                      <p:cBhvr>
                                        <p:cTn id="93" dur="500"/>
                                        <p:tgtEl>
                                          <p:spTgt spid="124971"/>
                                        </p:tgtEl>
                                      </p:cBhvr>
                                    </p:animEffec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wipe(left)">
                                      <p:cBhvr>
                                        <p:cTn id="97" dur="500"/>
                                        <p:tgtEl>
                                          <p:spTgt spid="7"/>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124974"/>
                                        </p:tgtEl>
                                        <p:attrNameLst>
                                          <p:attrName>style.visibility</p:attrName>
                                        </p:attrNameLst>
                                      </p:cBhvr>
                                      <p:to>
                                        <p:strVal val="visible"/>
                                      </p:to>
                                    </p:set>
                                    <p:animEffect transition="in" filter="wipe(left)">
                                      <p:cBhvr>
                                        <p:cTn id="100" dur="500"/>
                                        <p:tgtEl>
                                          <p:spTgt spid="124974"/>
                                        </p:tgtEl>
                                      </p:cBhvr>
                                    </p:animEffect>
                                  </p:childTnLst>
                                </p:cTn>
                              </p:par>
                            </p:childTnLst>
                          </p:cTn>
                        </p:par>
                        <p:par>
                          <p:cTn id="101" fill="hold">
                            <p:stCondLst>
                              <p:cond delay="1000"/>
                            </p:stCondLst>
                            <p:childTnLst>
                              <p:par>
                                <p:cTn id="102" presetID="22" presetClass="entr" presetSubtype="1" fill="hold" grpId="0" nodeType="afterEffect">
                                  <p:stCondLst>
                                    <p:cond delay="0"/>
                                  </p:stCondLst>
                                  <p:childTnLst>
                                    <p:set>
                                      <p:cBhvr>
                                        <p:cTn id="103" dur="1" fill="hold">
                                          <p:stCondLst>
                                            <p:cond delay="0"/>
                                          </p:stCondLst>
                                        </p:cTn>
                                        <p:tgtEl>
                                          <p:spTgt spid="124970"/>
                                        </p:tgtEl>
                                        <p:attrNameLst>
                                          <p:attrName>style.visibility</p:attrName>
                                        </p:attrNameLst>
                                      </p:cBhvr>
                                      <p:to>
                                        <p:strVal val="visible"/>
                                      </p:to>
                                    </p:set>
                                    <p:animEffect transition="in" filter="wipe(up)">
                                      <p:cBhvr>
                                        <p:cTn id="104" dur="500"/>
                                        <p:tgtEl>
                                          <p:spTgt spid="124970"/>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124972"/>
                                        </p:tgtEl>
                                        <p:attrNameLst>
                                          <p:attrName>style.visibility</p:attrName>
                                        </p:attrNameLst>
                                      </p:cBhvr>
                                      <p:to>
                                        <p:strVal val="visible"/>
                                      </p:to>
                                    </p:set>
                                    <p:animEffect transition="in" filter="wipe(up)">
                                      <p:cBhvr>
                                        <p:cTn id="107" dur="500"/>
                                        <p:tgtEl>
                                          <p:spTgt spid="12497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wipe(left)">
                                      <p:cBhvr>
                                        <p:cTn id="112" dur="500"/>
                                        <p:tgtEl>
                                          <p:spTgt spid="5"/>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124973"/>
                                        </p:tgtEl>
                                        <p:attrNameLst>
                                          <p:attrName>style.visibility</p:attrName>
                                        </p:attrNameLst>
                                      </p:cBhvr>
                                      <p:to>
                                        <p:strVal val="visible"/>
                                      </p:to>
                                    </p:set>
                                    <p:animEffect transition="in" filter="wipe(up)">
                                      <p:cBhvr>
                                        <p:cTn id="115" dur="500"/>
                                        <p:tgtEl>
                                          <p:spTgt spid="124973"/>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24956"/>
                                        </p:tgtEl>
                                        <p:attrNameLst>
                                          <p:attrName>style.visibility</p:attrName>
                                        </p:attrNameLst>
                                      </p:cBhvr>
                                      <p:to>
                                        <p:strVal val="visible"/>
                                      </p:to>
                                    </p:set>
                                    <p:animEffect transition="in" filter="wipe(left)">
                                      <p:cBhvr>
                                        <p:cTn id="120" dur="500"/>
                                        <p:tgtEl>
                                          <p:spTgt spid="124956"/>
                                        </p:tgtEl>
                                      </p:cBhvr>
                                    </p:animEffect>
                                  </p:childTnLst>
                                </p:cTn>
                              </p:par>
                            </p:childTnLst>
                          </p:cTn>
                        </p:par>
                        <p:par>
                          <p:cTn id="121" fill="hold">
                            <p:stCondLst>
                              <p:cond delay="500"/>
                            </p:stCondLst>
                            <p:childTnLst>
                              <p:par>
                                <p:cTn id="122" presetID="22" presetClass="entr" presetSubtype="8" fill="hold" nodeType="afterEffect">
                                  <p:stCondLst>
                                    <p:cond delay="0"/>
                                  </p:stCondLst>
                                  <p:childTnLst>
                                    <p:set>
                                      <p:cBhvr>
                                        <p:cTn id="123" dur="1" fill="hold">
                                          <p:stCondLst>
                                            <p:cond delay="0"/>
                                          </p:stCondLst>
                                        </p:cTn>
                                        <p:tgtEl>
                                          <p:spTgt spid="124957"/>
                                        </p:tgtEl>
                                        <p:attrNameLst>
                                          <p:attrName>style.visibility</p:attrName>
                                        </p:attrNameLst>
                                      </p:cBhvr>
                                      <p:to>
                                        <p:strVal val="visible"/>
                                      </p:to>
                                    </p:set>
                                    <p:animEffect transition="in" filter="wipe(left)">
                                      <p:cBhvr>
                                        <p:cTn id="124" dur="500"/>
                                        <p:tgtEl>
                                          <p:spTgt spid="124957"/>
                                        </p:tgtEl>
                                      </p:cBhvr>
                                    </p:animEffect>
                                  </p:childTnLst>
                                </p:cTn>
                              </p:par>
                            </p:childTnLst>
                          </p:cTn>
                        </p:par>
                        <p:par>
                          <p:cTn id="125" fill="hold">
                            <p:stCondLst>
                              <p:cond delay="1000"/>
                            </p:stCondLst>
                            <p:childTnLst>
                              <p:par>
                                <p:cTn id="126" presetID="22" presetClass="entr" presetSubtype="8" fill="hold" grpId="0" nodeType="afterEffect">
                                  <p:stCondLst>
                                    <p:cond delay="0"/>
                                  </p:stCondLst>
                                  <p:childTnLst>
                                    <p:set>
                                      <p:cBhvr>
                                        <p:cTn id="127" dur="1" fill="hold">
                                          <p:stCondLst>
                                            <p:cond delay="0"/>
                                          </p:stCondLst>
                                        </p:cTn>
                                        <p:tgtEl>
                                          <p:spTgt spid="124958"/>
                                        </p:tgtEl>
                                        <p:attrNameLst>
                                          <p:attrName>style.visibility</p:attrName>
                                        </p:attrNameLst>
                                      </p:cBhvr>
                                      <p:to>
                                        <p:strVal val="visible"/>
                                      </p:to>
                                    </p:set>
                                    <p:animEffect transition="in" filter="wipe(left)">
                                      <p:cBhvr>
                                        <p:cTn id="128" dur="500"/>
                                        <p:tgtEl>
                                          <p:spTgt spid="124958"/>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24979"/>
                                        </p:tgtEl>
                                        <p:attrNameLst>
                                          <p:attrName>style.visibility</p:attrName>
                                        </p:attrNameLst>
                                      </p:cBhvr>
                                      <p:to>
                                        <p:strVal val="visible"/>
                                      </p:to>
                                    </p:set>
                                    <p:animEffect transition="in" filter="wipe(left)">
                                      <p:cBhvr>
                                        <p:cTn id="133" dur="500"/>
                                        <p:tgtEl>
                                          <p:spTgt spid="124979"/>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24981"/>
                                        </p:tgtEl>
                                        <p:attrNameLst>
                                          <p:attrName>style.visibility</p:attrName>
                                        </p:attrNameLst>
                                      </p:cBhvr>
                                      <p:to>
                                        <p:strVal val="visible"/>
                                      </p:to>
                                    </p:set>
                                    <p:animEffect transition="in" filter="wipe(left)">
                                      <p:cBhvr>
                                        <p:cTn id="138" dur="500"/>
                                        <p:tgtEl>
                                          <p:spTgt spid="124981"/>
                                        </p:tgtEl>
                                      </p:cBhvr>
                                    </p:animEffect>
                                  </p:childTnLst>
                                </p:cTn>
                              </p:par>
                            </p:childTnLst>
                          </p:cTn>
                        </p:par>
                        <p:par>
                          <p:cTn id="139" fill="hold">
                            <p:stCondLst>
                              <p:cond delay="500"/>
                            </p:stCondLst>
                            <p:childTnLst>
                              <p:par>
                                <p:cTn id="140" presetID="22" presetClass="entr" presetSubtype="8" fill="hold" nodeType="afterEffect">
                                  <p:stCondLst>
                                    <p:cond delay="0"/>
                                  </p:stCondLst>
                                  <p:childTnLst>
                                    <p:set>
                                      <p:cBhvr>
                                        <p:cTn id="141" dur="1" fill="hold">
                                          <p:stCondLst>
                                            <p:cond delay="0"/>
                                          </p:stCondLst>
                                        </p:cTn>
                                        <p:tgtEl>
                                          <p:spTgt spid="124980"/>
                                        </p:tgtEl>
                                        <p:attrNameLst>
                                          <p:attrName>style.visibility</p:attrName>
                                        </p:attrNameLst>
                                      </p:cBhvr>
                                      <p:to>
                                        <p:strVal val="visible"/>
                                      </p:to>
                                    </p:set>
                                    <p:animEffect transition="in" filter="wipe(left)">
                                      <p:cBhvr>
                                        <p:cTn id="142" dur="500"/>
                                        <p:tgtEl>
                                          <p:spTgt spid="124980"/>
                                        </p:tgtEl>
                                      </p:cBhvr>
                                    </p:animEffect>
                                  </p:childTnLst>
                                </p:cTn>
                              </p:par>
                            </p:childTnLst>
                          </p:cTn>
                        </p:par>
                      </p:childTnLst>
                    </p:cTn>
                  </p:par>
                  <p:par>
                    <p:cTn id="143" fill="hold">
                      <p:stCondLst>
                        <p:cond delay="indefinite"/>
                      </p:stCondLst>
                      <p:childTnLst>
                        <p:par>
                          <p:cTn id="144" fill="hold">
                            <p:stCondLst>
                              <p:cond delay="0"/>
                            </p:stCondLst>
                            <p:childTnLst>
                              <p:par>
                                <p:cTn id="145" presetID="23" presetClass="entr" presetSubtype="16" fill="hold" grpId="0" nodeType="clickEffect">
                                  <p:stCondLst>
                                    <p:cond delay="0"/>
                                  </p:stCondLst>
                                  <p:childTnLst>
                                    <p:set>
                                      <p:cBhvr>
                                        <p:cTn id="146" dur="1" fill="hold">
                                          <p:stCondLst>
                                            <p:cond delay="0"/>
                                          </p:stCondLst>
                                        </p:cTn>
                                        <p:tgtEl>
                                          <p:spTgt spid="54"/>
                                        </p:tgtEl>
                                        <p:attrNameLst>
                                          <p:attrName>style.visibility</p:attrName>
                                        </p:attrNameLst>
                                      </p:cBhvr>
                                      <p:to>
                                        <p:strVal val="visible"/>
                                      </p:to>
                                    </p:set>
                                    <p:anim calcmode="lin" valueType="num">
                                      <p:cBhvr>
                                        <p:cTn id="147" dur="500" fill="hold"/>
                                        <p:tgtEl>
                                          <p:spTgt spid="54"/>
                                        </p:tgtEl>
                                        <p:attrNameLst>
                                          <p:attrName>ppt_w</p:attrName>
                                        </p:attrNameLst>
                                      </p:cBhvr>
                                      <p:tavLst>
                                        <p:tav tm="0">
                                          <p:val>
                                            <p:fltVal val="0"/>
                                          </p:val>
                                        </p:tav>
                                        <p:tav tm="100000">
                                          <p:val>
                                            <p:strVal val="#ppt_w"/>
                                          </p:val>
                                        </p:tav>
                                      </p:tavLst>
                                    </p:anim>
                                    <p:anim calcmode="lin" valueType="num">
                                      <p:cBhvr>
                                        <p:cTn id="148" dur="500" fill="hold"/>
                                        <p:tgtEl>
                                          <p:spTgt spid="54"/>
                                        </p:tgtEl>
                                        <p:attrNameLst>
                                          <p:attrName>ppt_h</p:attrName>
                                        </p:attrNameLst>
                                      </p:cBhvr>
                                      <p:tavLst>
                                        <p:tav tm="0">
                                          <p:val>
                                            <p:fltVal val="0"/>
                                          </p:val>
                                        </p:tav>
                                        <p:tav tm="100000">
                                          <p:val>
                                            <p:strVal val="#ppt_h"/>
                                          </p:val>
                                        </p:tav>
                                      </p:tavLst>
                                    </p:anim>
                                  </p:childTnLst>
                                </p:cTn>
                              </p:par>
                            </p:childTnLst>
                          </p:cTn>
                        </p:par>
                        <p:par>
                          <p:cTn id="149" fill="hold">
                            <p:stCondLst>
                              <p:cond delay="500"/>
                            </p:stCondLst>
                            <p:childTnLst>
                              <p:par>
                                <p:cTn id="150" presetID="22" presetClass="entr" presetSubtype="8" fill="hold" grpId="0" nodeType="afterEffect">
                                  <p:stCondLst>
                                    <p:cond delay="0"/>
                                  </p:stCondLst>
                                  <p:childTnLst>
                                    <p:set>
                                      <p:cBhvr>
                                        <p:cTn id="151" dur="1" fill="hold">
                                          <p:stCondLst>
                                            <p:cond delay="0"/>
                                          </p:stCondLst>
                                        </p:cTn>
                                        <p:tgtEl>
                                          <p:spTgt spid="124982"/>
                                        </p:tgtEl>
                                        <p:attrNameLst>
                                          <p:attrName>style.visibility</p:attrName>
                                        </p:attrNameLst>
                                      </p:cBhvr>
                                      <p:to>
                                        <p:strVal val="visible"/>
                                      </p:to>
                                    </p:set>
                                    <p:animEffect transition="in" filter="wipe(left)">
                                      <p:cBhvr>
                                        <p:cTn id="152" dur="500"/>
                                        <p:tgtEl>
                                          <p:spTgt spid="124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3" grpId="0" animBg="1"/>
      <p:bldP spid="124944" grpId="0" animBg="1"/>
      <p:bldP spid="124945" grpId="0"/>
      <p:bldP spid="124946" grpId="0"/>
      <p:bldP spid="124947" grpId="0"/>
      <p:bldP spid="124948" grpId="0"/>
      <p:bldP spid="124951" grpId="0" animBg="1"/>
      <p:bldP spid="124956" grpId="0" animBg="1"/>
      <p:bldP spid="124958" grpId="0"/>
      <p:bldP spid="124959" grpId="0" animBg="1"/>
      <p:bldP spid="124969" grpId="0" animBg="1"/>
      <p:bldP spid="124970" grpId="0" animBg="1"/>
      <p:bldP spid="124971" grpId="0"/>
      <p:bldP spid="124972" grpId="0"/>
      <p:bldP spid="124973" grpId="0"/>
      <p:bldP spid="124974" grpId="0"/>
      <p:bldP spid="124975" grpId="0"/>
      <p:bldP spid="124976" grpId="0" animBg="1"/>
      <p:bldP spid="124977" grpId="0"/>
      <p:bldP spid="124979" grpId="0"/>
      <p:bldP spid="124981" grpId="0" animBg="1"/>
      <p:bldP spid="124982" grpId="0"/>
      <p:bldP spid="5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18" name="Rectangle 34"/>
          <p:cNvSpPr>
            <a:spLocks noChangeArrowheads="1"/>
          </p:cNvSpPr>
          <p:nvPr/>
        </p:nvSpPr>
        <p:spPr bwMode="auto">
          <a:xfrm>
            <a:off x="465138" y="987425"/>
            <a:ext cx="8178800" cy="2012950"/>
          </a:xfrm>
          <a:prstGeom prst="rect">
            <a:avLst/>
          </a:prstGeom>
          <a:noFill/>
          <a:ln w="9525">
            <a:noFill/>
            <a:miter lim="800000"/>
            <a:headEnd/>
            <a:tailEnd/>
          </a:ln>
        </p:spPr>
        <p:txBody>
          <a:bodyPr>
            <a:spAutoFit/>
          </a:bodyPr>
          <a:lstStyle/>
          <a:p>
            <a:pPr>
              <a:lnSpc>
                <a:spcPct val="130000"/>
              </a:lnSpc>
              <a:defRPr/>
            </a:pPr>
            <a:r>
              <a:rPr kumimoji="1" lang="en-US" altLang="zh-CN" sz="2400" b="1" dirty="0">
                <a:latin typeface="Times New Roman" pitchFamily="18" charset="0"/>
                <a:ea typeface="+mn-ea"/>
                <a:cs typeface="Times New Roman" pitchFamily="18" charset="0"/>
              </a:rPr>
              <a:t>(1)  </a:t>
            </a:r>
            <a:r>
              <a:rPr kumimoji="1" lang="zh-CN" altLang="en-US" sz="2400" b="1" dirty="0">
                <a:latin typeface="Times New Roman" pitchFamily="18" charset="0"/>
                <a:ea typeface="+mn-ea"/>
                <a:cs typeface="Times New Roman" pitchFamily="18" charset="0"/>
              </a:rPr>
              <a:t>统计物理熵</a:t>
            </a:r>
            <a:r>
              <a:rPr kumimoji="1" lang="en-US" altLang="zh-CN" sz="2400" b="1" dirty="0">
                <a:solidFill>
                  <a:srgbClr val="0000FF"/>
                </a:solidFill>
                <a:latin typeface="Times New Roman" pitchFamily="18" charset="0"/>
                <a:ea typeface="+mn-ea"/>
                <a:cs typeface="Times New Roman" pitchFamily="18" charset="0"/>
              </a:rPr>
              <a:t>(</a:t>
            </a:r>
            <a:r>
              <a:rPr kumimoji="1" lang="zh-CN" altLang="en-US" sz="2400" b="1" dirty="0">
                <a:solidFill>
                  <a:srgbClr val="0000FF"/>
                </a:solidFill>
                <a:latin typeface="Times New Roman" pitchFamily="18" charset="0"/>
                <a:ea typeface="+mn-ea"/>
                <a:cs typeface="Times New Roman" pitchFamily="18" charset="0"/>
              </a:rPr>
              <a:t>玻尔兹曼熵</a:t>
            </a:r>
            <a:r>
              <a:rPr kumimoji="1" lang="en-US" altLang="zh-CN" sz="2400" b="1" dirty="0">
                <a:solidFill>
                  <a:srgbClr val="0000FF"/>
                </a:solidFill>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和热力学熵</a:t>
            </a:r>
            <a:r>
              <a:rPr kumimoji="1" lang="en-US" altLang="zh-CN" sz="2400" b="1" dirty="0">
                <a:solidFill>
                  <a:srgbClr val="0000FF"/>
                </a:solidFill>
                <a:latin typeface="Times New Roman" pitchFamily="18" charset="0"/>
                <a:ea typeface="+mn-ea"/>
                <a:cs typeface="Times New Roman" pitchFamily="18" charset="0"/>
              </a:rPr>
              <a:t>(</a:t>
            </a:r>
            <a:r>
              <a:rPr kumimoji="1" lang="zh-CN" altLang="en-US" sz="2400" b="1" dirty="0">
                <a:solidFill>
                  <a:srgbClr val="0000FF"/>
                </a:solidFill>
                <a:latin typeface="Times New Roman" pitchFamily="18" charset="0"/>
                <a:ea typeface="+mn-ea"/>
                <a:cs typeface="Times New Roman" pitchFamily="18" charset="0"/>
              </a:rPr>
              <a:t>克劳修斯熵</a:t>
            </a:r>
            <a:r>
              <a:rPr kumimoji="1" lang="en-US" altLang="zh-CN" sz="2400" b="1" dirty="0">
                <a:solidFill>
                  <a:srgbClr val="0000FF"/>
                </a:solidFill>
                <a:latin typeface="Times New Roman" pitchFamily="18" charset="0"/>
                <a:ea typeface="+mn-ea"/>
                <a:cs typeface="Times New Roman" pitchFamily="18" charset="0"/>
              </a:rPr>
              <a:t>)</a:t>
            </a:r>
            <a:r>
              <a:rPr kumimoji="1" lang="zh-CN" altLang="en-US" sz="2400" b="1" dirty="0">
                <a:latin typeface="Times New Roman" pitchFamily="18" charset="0"/>
                <a:ea typeface="+mn-ea"/>
                <a:cs typeface="Times New Roman" pitchFamily="18" charset="0"/>
              </a:rPr>
              <a:t>，都服从</a:t>
            </a:r>
            <a:r>
              <a:rPr kumimoji="1" lang="zh-CN" altLang="en-US" sz="2400" b="1" dirty="0">
                <a:solidFill>
                  <a:srgbClr val="0000FF"/>
                </a:solidFill>
                <a:latin typeface="Times New Roman" pitchFamily="18" charset="0"/>
                <a:ea typeface="+mn-ea"/>
                <a:cs typeface="Times New Roman" pitchFamily="18" charset="0"/>
              </a:rPr>
              <a:t>熵增加原理</a:t>
            </a:r>
            <a:r>
              <a:rPr kumimoji="1" lang="zh-CN" altLang="en-US" sz="2400" b="1" dirty="0">
                <a:latin typeface="Times New Roman" pitchFamily="18" charset="0"/>
                <a:ea typeface="+mn-ea"/>
                <a:cs typeface="Times New Roman" pitchFamily="18" charset="0"/>
              </a:rPr>
              <a:t>，在统计物理中可证明二者等价性，</a:t>
            </a:r>
            <a:r>
              <a:rPr lang="zh-CN" altLang="en-US" sz="2400" b="1" dirty="0">
                <a:latin typeface="Times New Roman" pitchFamily="18" charset="0"/>
                <a:ea typeface="+mn-ea"/>
                <a:cs typeface="Times New Roman" pitchFamily="18" charset="0"/>
              </a:rPr>
              <a:t>建立了</a:t>
            </a:r>
            <a:r>
              <a:rPr lang="zh-CN" altLang="en-US" sz="2400" b="1" dirty="0">
                <a:solidFill>
                  <a:srgbClr val="FF3300"/>
                </a:solidFill>
                <a:latin typeface="Times New Roman" pitchFamily="18" charset="0"/>
                <a:ea typeface="+mn-ea"/>
                <a:cs typeface="Times New Roman" pitchFamily="18" charset="0"/>
              </a:rPr>
              <a:t>宏观量熵</a:t>
            </a:r>
            <a:r>
              <a:rPr lang="zh-CN" altLang="en-US" sz="2400" b="1" dirty="0">
                <a:latin typeface="Times New Roman" pitchFamily="18" charset="0"/>
                <a:ea typeface="+mn-ea"/>
                <a:cs typeface="Times New Roman" pitchFamily="18" charset="0"/>
              </a:rPr>
              <a:t>与</a:t>
            </a:r>
            <a:r>
              <a:rPr lang="zh-CN" altLang="en-US" sz="2400" b="1" dirty="0">
                <a:solidFill>
                  <a:srgbClr val="FF3300"/>
                </a:solidFill>
                <a:latin typeface="Times New Roman" pitchFamily="18" charset="0"/>
                <a:ea typeface="+mn-ea"/>
                <a:cs typeface="Times New Roman" pitchFamily="18" charset="0"/>
              </a:rPr>
              <a:t>微观量热力学概率</a:t>
            </a:r>
            <a:r>
              <a:rPr lang="zh-CN" altLang="en-US" sz="2400" b="1" dirty="0">
                <a:latin typeface="Times New Roman" pitchFamily="18" charset="0"/>
                <a:ea typeface="+mn-ea"/>
                <a:cs typeface="Times New Roman" pitchFamily="18" charset="0"/>
              </a:rPr>
              <a:t>之间的等价关系，因而具有重要的理论价值。</a:t>
            </a:r>
          </a:p>
        </p:txBody>
      </p:sp>
      <p:sp>
        <p:nvSpPr>
          <p:cNvPr id="118819" name="Text Box 35"/>
          <p:cNvSpPr txBox="1">
            <a:spLocks noChangeArrowheads="1"/>
          </p:cNvSpPr>
          <p:nvPr/>
        </p:nvSpPr>
        <p:spPr bwMode="auto">
          <a:xfrm>
            <a:off x="322263" y="3413125"/>
            <a:ext cx="8464550" cy="2012950"/>
          </a:xfrm>
          <a:prstGeom prst="rect">
            <a:avLst/>
          </a:prstGeom>
          <a:noFill/>
          <a:ln w="9525">
            <a:noFill/>
            <a:miter lim="800000"/>
            <a:headEnd/>
            <a:tailEnd/>
          </a:ln>
        </p:spPr>
        <p:txBody>
          <a:bodyPr>
            <a:spAutoFit/>
          </a:bodyPr>
          <a:lstStyle/>
          <a:p>
            <a:pPr>
              <a:lnSpc>
                <a:spcPct val="130000"/>
              </a:lnSpc>
              <a:defRPr/>
            </a:pPr>
            <a:r>
              <a:rPr lang="en-US" altLang="zh-CN" sz="2400" b="1" dirty="0">
                <a:latin typeface="Times New Roman" pitchFamily="18" charset="0"/>
                <a:ea typeface="+mn-ea"/>
                <a:cs typeface="Times New Roman" pitchFamily="18" charset="0"/>
              </a:rPr>
              <a:t>(2)  </a:t>
            </a:r>
            <a:r>
              <a:rPr lang="zh-CN" altLang="en-US" sz="2400" b="1" dirty="0">
                <a:latin typeface="Times New Roman" pitchFamily="18" charset="0"/>
                <a:ea typeface="+mn-ea"/>
                <a:cs typeface="Times New Roman" pitchFamily="18" charset="0"/>
              </a:rPr>
              <a:t>玻尔兹曼熵公式不仅能用于处于平衡态的体系，也可由此定义非平衡体系的熵，具有更为普遍的意义。事实上，玻尔兹曼熵不仅在研究处于平衡态的封闭体系中起着重要的作用，而且在研究远离平衡态的开放体系中也起着关键性的作用。</a:t>
            </a:r>
          </a:p>
        </p:txBody>
      </p:sp>
      <p:sp>
        <p:nvSpPr>
          <p:cNvPr id="88069" name="Text Box 36"/>
          <p:cNvSpPr txBox="1">
            <a:spLocks noChangeArrowheads="1"/>
          </p:cNvSpPr>
          <p:nvPr/>
        </p:nvSpPr>
        <p:spPr bwMode="auto">
          <a:xfrm>
            <a:off x="539750" y="476250"/>
            <a:ext cx="2239963" cy="461963"/>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rPr>
              <a:t>说明</a:t>
            </a:r>
          </a:p>
        </p:txBody>
      </p:sp>
      <p:sp>
        <p:nvSpPr>
          <p:cNvPr id="88070" name="AutoShape 37"/>
          <p:cNvSpPr>
            <a:spLocks noChangeArrowheads="1"/>
          </p:cNvSpPr>
          <p:nvPr/>
        </p:nvSpPr>
        <p:spPr bwMode="auto">
          <a:xfrm>
            <a:off x="179388" y="403225"/>
            <a:ext cx="360362" cy="576263"/>
          </a:xfrm>
          <a:prstGeom prst="star4">
            <a:avLst>
              <a:gd name="adj" fmla="val 18519"/>
            </a:avLst>
          </a:prstGeom>
          <a:gradFill rotWithShape="1">
            <a:gsLst>
              <a:gs pos="0">
                <a:srgbClr val="FF3300"/>
              </a:gs>
              <a:gs pos="100000">
                <a:srgbClr val="000000"/>
              </a:gs>
            </a:gsLst>
            <a:path path="shape">
              <a:fillToRect l="50000" t="50000" r="50000" b="50000"/>
            </a:path>
          </a:gradFill>
          <a:ln w="9525">
            <a:noFill/>
            <a:miter lim="800000"/>
            <a:headEnd/>
            <a:tailEnd/>
          </a:ln>
        </p:spPr>
        <p:txBody>
          <a:bodyPr wrap="none" anchor="ctr"/>
          <a:lstStyle/>
          <a:p>
            <a:pPr algn="ctr"/>
            <a:endParaRPr lang="zh-CN" altLang="en-US"/>
          </a:p>
        </p:txBody>
      </p:sp>
      <p:graphicFrame>
        <p:nvGraphicFramePr>
          <p:cNvPr id="118823" name="Object 39"/>
          <p:cNvGraphicFramePr>
            <a:graphicFrameLocks noChangeAspect="1"/>
          </p:cNvGraphicFramePr>
          <p:nvPr/>
        </p:nvGraphicFramePr>
        <p:xfrm>
          <a:off x="3500438" y="2779713"/>
          <a:ext cx="1500187" cy="434975"/>
        </p:xfrm>
        <a:graphic>
          <a:graphicData uri="http://schemas.openxmlformats.org/presentationml/2006/ole">
            <p:oleObj spid="_x0000_s82946" name="公式" r:id="rId4" imgW="685800" imgH="177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wipe(left)">
                                      <p:cBhvr>
                                        <p:cTn id="7" dur="500"/>
                                        <p:tgtEl>
                                          <p:spTgt spid="880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8069"/>
                                        </p:tgtEl>
                                        <p:attrNameLst>
                                          <p:attrName>style.visibility</p:attrName>
                                        </p:attrNameLst>
                                      </p:cBhvr>
                                      <p:to>
                                        <p:strVal val="visible"/>
                                      </p:to>
                                    </p:set>
                                    <p:animEffect transition="in" filter="wipe(left)">
                                      <p:cBhvr>
                                        <p:cTn id="11" dur="500"/>
                                        <p:tgtEl>
                                          <p:spTgt spid="8806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8818"/>
                                        </p:tgtEl>
                                        <p:attrNameLst>
                                          <p:attrName>style.visibility</p:attrName>
                                        </p:attrNameLst>
                                      </p:cBhvr>
                                      <p:to>
                                        <p:strVal val="visible"/>
                                      </p:to>
                                    </p:set>
                                    <p:animEffect transition="in" filter="wipe(left)">
                                      <p:cBhvr>
                                        <p:cTn id="16" dur="500"/>
                                        <p:tgtEl>
                                          <p:spTgt spid="11881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18823"/>
                                        </p:tgtEl>
                                        <p:attrNameLst>
                                          <p:attrName>style.visibility</p:attrName>
                                        </p:attrNameLst>
                                      </p:cBhvr>
                                      <p:to>
                                        <p:strVal val="visible"/>
                                      </p:to>
                                    </p:set>
                                    <p:animEffect transition="in" filter="wipe(left)">
                                      <p:cBhvr>
                                        <p:cTn id="20" dur="500"/>
                                        <p:tgtEl>
                                          <p:spTgt spid="11882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18819">
                                            <p:txEl>
                                              <p:pRg st="0" end="0"/>
                                            </p:txEl>
                                          </p:spTgt>
                                        </p:tgtEl>
                                        <p:attrNameLst>
                                          <p:attrName>style.visibility</p:attrName>
                                        </p:attrNameLst>
                                      </p:cBhvr>
                                      <p:to>
                                        <p:strVal val="visible"/>
                                      </p:to>
                                    </p:set>
                                    <p:animEffect transition="in" filter="dissolve">
                                      <p:cBhvr>
                                        <p:cTn id="25" dur="500"/>
                                        <p:tgtEl>
                                          <p:spTgt spid="1188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8" grpId="0"/>
      <p:bldP spid="88069" grpId="0"/>
      <p:bldP spid="8807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Text Box 3"/>
          <p:cNvSpPr txBox="1">
            <a:spLocks noChangeArrowheads="1"/>
          </p:cNvSpPr>
          <p:nvPr/>
        </p:nvSpPr>
        <p:spPr bwMode="auto">
          <a:xfrm>
            <a:off x="755650" y="2420938"/>
            <a:ext cx="2879725" cy="457200"/>
          </a:xfrm>
          <a:prstGeom prst="rect">
            <a:avLst/>
          </a:prstGeom>
          <a:noFill/>
          <a:ln w="9525">
            <a:noFill/>
            <a:miter lim="800000"/>
            <a:headEnd/>
            <a:tailEnd/>
          </a:ln>
        </p:spPr>
        <p:txBody>
          <a:bodyPr>
            <a:spAutoFit/>
          </a:bodyPr>
          <a:lstStyle/>
          <a:p>
            <a:r>
              <a:rPr lang="zh-CN" altLang="en-US" sz="2400" b="1">
                <a:solidFill>
                  <a:srgbClr val="0000FF"/>
                </a:solidFill>
              </a:rPr>
              <a:t>熵是无序度的量度</a:t>
            </a:r>
          </a:p>
        </p:txBody>
      </p:sp>
      <p:sp>
        <p:nvSpPr>
          <p:cNvPr id="135172" name="AutoShape 4"/>
          <p:cNvSpPr>
            <a:spLocks noChangeArrowheads="1"/>
          </p:cNvSpPr>
          <p:nvPr/>
        </p:nvSpPr>
        <p:spPr bwMode="auto">
          <a:xfrm>
            <a:off x="3348038" y="2636838"/>
            <a:ext cx="1295400" cy="144462"/>
          </a:xfrm>
          <a:prstGeom prst="rightArrow">
            <a:avLst>
              <a:gd name="adj1" fmla="val 50000"/>
              <a:gd name="adj2" fmla="val 224177"/>
            </a:avLst>
          </a:prstGeom>
          <a:solidFill>
            <a:schemeClr val="accent1"/>
          </a:solidFill>
          <a:ln w="9525">
            <a:solidFill>
              <a:schemeClr val="tx1"/>
            </a:solidFill>
            <a:miter lim="800000"/>
            <a:headEnd/>
            <a:tailEnd/>
          </a:ln>
        </p:spPr>
        <p:txBody>
          <a:bodyPr wrap="none" anchor="ctr"/>
          <a:lstStyle/>
          <a:p>
            <a:pPr algn="ctr"/>
            <a:endParaRPr lang="zh-CN" altLang="en-US" b="1"/>
          </a:p>
        </p:txBody>
      </p:sp>
      <p:sp>
        <p:nvSpPr>
          <p:cNvPr id="135173" name="AutoShape 5"/>
          <p:cNvSpPr>
            <a:spLocks/>
          </p:cNvSpPr>
          <p:nvPr/>
        </p:nvSpPr>
        <p:spPr bwMode="auto">
          <a:xfrm>
            <a:off x="4859338" y="2060575"/>
            <a:ext cx="144462" cy="1296988"/>
          </a:xfrm>
          <a:prstGeom prst="leftBrace">
            <a:avLst>
              <a:gd name="adj1" fmla="val 74817"/>
              <a:gd name="adj2" fmla="val 50000"/>
            </a:avLst>
          </a:prstGeom>
          <a:noFill/>
          <a:ln w="9525">
            <a:solidFill>
              <a:schemeClr val="tx1"/>
            </a:solidFill>
            <a:round/>
            <a:headEnd/>
            <a:tailEnd/>
          </a:ln>
        </p:spPr>
        <p:txBody>
          <a:bodyPr wrap="none" anchor="ctr"/>
          <a:lstStyle/>
          <a:p>
            <a:pPr algn="ctr"/>
            <a:endParaRPr lang="zh-CN" altLang="en-US" b="1"/>
          </a:p>
        </p:txBody>
      </p:sp>
      <p:sp>
        <p:nvSpPr>
          <p:cNvPr id="135174" name="Text Box 6"/>
          <p:cNvSpPr txBox="1">
            <a:spLocks noChangeArrowheads="1"/>
          </p:cNvSpPr>
          <p:nvPr/>
        </p:nvSpPr>
        <p:spPr bwMode="auto">
          <a:xfrm>
            <a:off x="5076825" y="1916113"/>
            <a:ext cx="2879725" cy="457200"/>
          </a:xfrm>
          <a:prstGeom prst="rect">
            <a:avLst/>
          </a:prstGeom>
          <a:noFill/>
          <a:ln w="9525">
            <a:noFill/>
            <a:miter lim="800000"/>
            <a:headEnd/>
            <a:tailEnd/>
          </a:ln>
        </p:spPr>
        <p:txBody>
          <a:bodyPr>
            <a:spAutoFit/>
          </a:bodyPr>
          <a:lstStyle/>
          <a:p>
            <a:r>
              <a:rPr lang="zh-CN" altLang="en-US" sz="2400" b="1"/>
              <a:t>熵越大</a:t>
            </a:r>
            <a:r>
              <a:rPr lang="en-US" altLang="zh-CN" sz="2400" b="1"/>
              <a:t>,</a:t>
            </a:r>
            <a:r>
              <a:rPr lang="zh-CN" altLang="en-US" sz="2400" b="1"/>
              <a:t>系统越混乱</a:t>
            </a:r>
          </a:p>
        </p:txBody>
      </p:sp>
      <p:sp>
        <p:nvSpPr>
          <p:cNvPr id="135175" name="Text Box 7"/>
          <p:cNvSpPr txBox="1">
            <a:spLocks noChangeArrowheads="1"/>
          </p:cNvSpPr>
          <p:nvPr/>
        </p:nvSpPr>
        <p:spPr bwMode="auto">
          <a:xfrm>
            <a:off x="5148263" y="2924175"/>
            <a:ext cx="2879725" cy="457200"/>
          </a:xfrm>
          <a:prstGeom prst="rect">
            <a:avLst/>
          </a:prstGeom>
          <a:noFill/>
          <a:ln w="9525">
            <a:noFill/>
            <a:miter lim="800000"/>
            <a:headEnd/>
            <a:tailEnd/>
          </a:ln>
        </p:spPr>
        <p:txBody>
          <a:bodyPr>
            <a:spAutoFit/>
          </a:bodyPr>
          <a:lstStyle/>
          <a:p>
            <a:r>
              <a:rPr lang="zh-CN" altLang="en-US" sz="2400" b="1"/>
              <a:t>熵越小</a:t>
            </a:r>
            <a:r>
              <a:rPr lang="en-US" altLang="zh-CN" sz="2400" b="1"/>
              <a:t>,</a:t>
            </a:r>
            <a:r>
              <a:rPr lang="zh-CN" altLang="en-US" sz="2400" b="1"/>
              <a:t>系统越有序</a:t>
            </a:r>
          </a:p>
        </p:txBody>
      </p:sp>
      <p:sp>
        <p:nvSpPr>
          <p:cNvPr id="135176" name="Text Box 8"/>
          <p:cNvSpPr txBox="1">
            <a:spLocks noChangeArrowheads="1"/>
          </p:cNvSpPr>
          <p:nvPr/>
        </p:nvSpPr>
        <p:spPr bwMode="auto">
          <a:xfrm>
            <a:off x="755650" y="4365625"/>
            <a:ext cx="3095625" cy="830263"/>
          </a:xfrm>
          <a:prstGeom prst="rect">
            <a:avLst/>
          </a:prstGeom>
          <a:noFill/>
          <a:ln w="9525">
            <a:noFill/>
            <a:miter lim="800000"/>
            <a:headEnd/>
            <a:tailEnd/>
          </a:ln>
        </p:spPr>
        <p:txBody>
          <a:bodyPr>
            <a:spAutoFit/>
          </a:bodyPr>
          <a:lstStyle/>
          <a:p>
            <a:r>
              <a:rPr lang="zh-CN" altLang="en-US" sz="2400" b="1">
                <a:solidFill>
                  <a:srgbClr val="0000FF"/>
                </a:solidFill>
              </a:rPr>
              <a:t>熵变是热力学过程进行方向与限度的判据</a:t>
            </a:r>
          </a:p>
        </p:txBody>
      </p:sp>
      <p:sp>
        <p:nvSpPr>
          <p:cNvPr id="135177" name="AutoShape 9"/>
          <p:cNvSpPr>
            <a:spLocks noChangeArrowheads="1"/>
          </p:cNvSpPr>
          <p:nvPr/>
        </p:nvSpPr>
        <p:spPr bwMode="auto">
          <a:xfrm>
            <a:off x="3851275" y="4724400"/>
            <a:ext cx="1295400" cy="144463"/>
          </a:xfrm>
          <a:prstGeom prst="rightArrow">
            <a:avLst>
              <a:gd name="adj1" fmla="val 50000"/>
              <a:gd name="adj2" fmla="val 224175"/>
            </a:avLst>
          </a:prstGeom>
          <a:solidFill>
            <a:schemeClr val="accent1"/>
          </a:solidFill>
          <a:ln w="9525">
            <a:solidFill>
              <a:schemeClr val="tx1"/>
            </a:solidFill>
            <a:miter lim="800000"/>
            <a:headEnd/>
            <a:tailEnd/>
          </a:ln>
        </p:spPr>
        <p:txBody>
          <a:bodyPr wrap="none" anchor="ctr"/>
          <a:lstStyle/>
          <a:p>
            <a:pPr algn="ctr"/>
            <a:endParaRPr lang="zh-CN" altLang="en-US" b="1"/>
          </a:p>
        </p:txBody>
      </p:sp>
      <p:sp>
        <p:nvSpPr>
          <p:cNvPr id="135178" name="Text Box 10"/>
          <p:cNvSpPr txBox="1">
            <a:spLocks noChangeArrowheads="1"/>
          </p:cNvSpPr>
          <p:nvPr/>
        </p:nvSpPr>
        <p:spPr bwMode="auto">
          <a:xfrm>
            <a:off x="5292725" y="4495800"/>
            <a:ext cx="3394075" cy="457200"/>
          </a:xfrm>
          <a:prstGeom prst="rect">
            <a:avLst/>
          </a:prstGeom>
          <a:noFill/>
          <a:ln w="9525">
            <a:noFill/>
            <a:miter lim="800000"/>
            <a:headEnd/>
            <a:tailEnd/>
          </a:ln>
        </p:spPr>
        <p:txBody>
          <a:bodyPr>
            <a:spAutoFit/>
          </a:bodyPr>
          <a:lstStyle/>
          <a:p>
            <a:r>
              <a:rPr lang="zh-CN" altLang="en-US" sz="2400" b="1"/>
              <a:t>孤立系统的熵增加原理</a:t>
            </a:r>
          </a:p>
        </p:txBody>
      </p:sp>
      <p:sp>
        <p:nvSpPr>
          <p:cNvPr id="11" name="Text Box 4"/>
          <p:cNvSpPr txBox="1">
            <a:spLocks noChangeArrowheads="1"/>
          </p:cNvSpPr>
          <p:nvPr/>
        </p:nvSpPr>
        <p:spPr bwMode="auto">
          <a:xfrm>
            <a:off x="214313" y="785813"/>
            <a:ext cx="6264275" cy="457200"/>
          </a:xfrm>
          <a:prstGeom prst="rect">
            <a:avLst/>
          </a:prstGeom>
          <a:noFill/>
          <a:ln w="9525">
            <a:noFill/>
            <a:miter lim="800000"/>
            <a:headEnd/>
            <a:tailEnd/>
          </a:ln>
        </p:spPr>
        <p:txBody>
          <a:bodyPr>
            <a:spAutoFit/>
          </a:bodyPr>
          <a:lstStyle/>
          <a:p>
            <a:r>
              <a:rPr kumimoji="1" lang="en-US" altLang="zh-CN" sz="2400" b="1">
                <a:solidFill>
                  <a:srgbClr val="0000FF"/>
                </a:solidFill>
                <a:latin typeface="Times New Roman" pitchFamily="18" charset="0"/>
              </a:rPr>
              <a:t>8.8.5    </a:t>
            </a:r>
            <a:r>
              <a:rPr kumimoji="1" lang="zh-CN" altLang="en-US" sz="2400" b="1">
                <a:solidFill>
                  <a:srgbClr val="0000FF"/>
                </a:solidFill>
                <a:latin typeface="Times New Roman" pitchFamily="18" charset="0"/>
              </a:rPr>
              <a:t>熵增与能量退化   开放系统的熵变</a:t>
            </a:r>
            <a:r>
              <a:rPr kumimoji="1" lang="zh-CN" altLang="en-US" sz="2400">
                <a:solidFill>
                  <a:srgbClr val="0000FF"/>
                </a:solidFill>
                <a:latin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171"/>
                                        </p:tgtEl>
                                        <p:attrNameLst>
                                          <p:attrName>style.visibility</p:attrName>
                                        </p:attrNameLst>
                                      </p:cBhvr>
                                      <p:to>
                                        <p:strVal val="visible"/>
                                      </p:to>
                                    </p:set>
                                    <p:animEffect transition="in" filter="wipe(left)">
                                      <p:cBhvr>
                                        <p:cTn id="12" dur="500"/>
                                        <p:tgtEl>
                                          <p:spTgt spid="1351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5172"/>
                                        </p:tgtEl>
                                        <p:attrNameLst>
                                          <p:attrName>style.visibility</p:attrName>
                                        </p:attrNameLst>
                                      </p:cBhvr>
                                      <p:to>
                                        <p:strVal val="visible"/>
                                      </p:to>
                                    </p:set>
                                    <p:animEffect transition="in" filter="wipe(left)">
                                      <p:cBhvr>
                                        <p:cTn id="17" dur="500"/>
                                        <p:tgtEl>
                                          <p:spTgt spid="1351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5173"/>
                                        </p:tgtEl>
                                        <p:attrNameLst>
                                          <p:attrName>style.visibility</p:attrName>
                                        </p:attrNameLst>
                                      </p:cBhvr>
                                      <p:to>
                                        <p:strVal val="visible"/>
                                      </p:to>
                                    </p:set>
                                    <p:animEffect transition="in" filter="wipe(left)">
                                      <p:cBhvr>
                                        <p:cTn id="22" dur="500"/>
                                        <p:tgtEl>
                                          <p:spTgt spid="13517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174"/>
                                        </p:tgtEl>
                                        <p:attrNameLst>
                                          <p:attrName>style.visibility</p:attrName>
                                        </p:attrNameLst>
                                      </p:cBhvr>
                                      <p:to>
                                        <p:strVal val="visible"/>
                                      </p:to>
                                    </p:set>
                                    <p:animEffect transition="in" filter="wipe(left)">
                                      <p:cBhvr>
                                        <p:cTn id="27" dur="500"/>
                                        <p:tgtEl>
                                          <p:spTgt spid="13517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5175"/>
                                        </p:tgtEl>
                                        <p:attrNameLst>
                                          <p:attrName>style.visibility</p:attrName>
                                        </p:attrNameLst>
                                      </p:cBhvr>
                                      <p:to>
                                        <p:strVal val="visible"/>
                                      </p:to>
                                    </p:set>
                                    <p:animEffect transition="in" filter="wipe(left)">
                                      <p:cBhvr>
                                        <p:cTn id="32" dur="500"/>
                                        <p:tgtEl>
                                          <p:spTgt spid="13517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5176"/>
                                        </p:tgtEl>
                                        <p:attrNameLst>
                                          <p:attrName>style.visibility</p:attrName>
                                        </p:attrNameLst>
                                      </p:cBhvr>
                                      <p:to>
                                        <p:strVal val="visible"/>
                                      </p:to>
                                    </p:set>
                                    <p:animEffect transition="in" filter="wipe(left)">
                                      <p:cBhvr>
                                        <p:cTn id="37" dur="500"/>
                                        <p:tgtEl>
                                          <p:spTgt spid="1351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5177"/>
                                        </p:tgtEl>
                                        <p:attrNameLst>
                                          <p:attrName>style.visibility</p:attrName>
                                        </p:attrNameLst>
                                      </p:cBhvr>
                                      <p:to>
                                        <p:strVal val="visible"/>
                                      </p:to>
                                    </p:set>
                                    <p:animEffect transition="in" filter="wipe(left)">
                                      <p:cBhvr>
                                        <p:cTn id="42" dur="500"/>
                                        <p:tgtEl>
                                          <p:spTgt spid="13517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5178"/>
                                        </p:tgtEl>
                                        <p:attrNameLst>
                                          <p:attrName>style.visibility</p:attrName>
                                        </p:attrNameLst>
                                      </p:cBhvr>
                                      <p:to>
                                        <p:strVal val="visible"/>
                                      </p:to>
                                    </p:set>
                                    <p:animEffect transition="in" filter="wipe(left)">
                                      <p:cBhvr>
                                        <p:cTn id="47" dur="500"/>
                                        <p:tgtEl>
                                          <p:spTgt spid="135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autoUpdateAnimBg="0"/>
      <p:bldP spid="135172" grpId="0" animBg="1"/>
      <p:bldP spid="135173" grpId="0" animBg="1"/>
      <p:bldP spid="135174" grpId="0" autoUpdateAnimBg="0"/>
      <p:bldP spid="135175" grpId="0" autoUpdateAnimBg="0"/>
      <p:bldP spid="135176" grpId="0" autoUpdateAnimBg="0"/>
      <p:bldP spid="135177" grpId="0" animBg="1"/>
      <p:bldP spid="135178" grpId="0" autoUpdateAnimBg="0"/>
      <p:bldP spid="1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381000" y="1295400"/>
            <a:ext cx="7924800" cy="1754188"/>
          </a:xfrm>
          <a:prstGeom prst="rect">
            <a:avLst/>
          </a:prstGeom>
          <a:noFill/>
          <a:ln w="9525">
            <a:noFill/>
            <a:miter lim="800000"/>
            <a:headEnd/>
            <a:tailEnd/>
          </a:ln>
        </p:spPr>
        <p:txBody>
          <a:bodyPr anchorCtr="1">
            <a:spAutoFit/>
          </a:bodyPr>
          <a:lstStyle/>
          <a:p>
            <a:pPr>
              <a:spcBef>
                <a:spcPct val="20000"/>
              </a:spcBef>
              <a:buClr>
                <a:schemeClr val="hlink"/>
              </a:buClr>
            </a:pPr>
            <a:r>
              <a:rPr lang="en-US" altLang="zh-CN" sz="2400" b="1">
                <a:latin typeface="Garamond" pitchFamily="18" charset="0"/>
              </a:rPr>
              <a:t>         </a:t>
            </a:r>
            <a:r>
              <a:rPr lang="zh-CN" altLang="en-US" sz="2400" b="1">
                <a:solidFill>
                  <a:srgbClr val="FF6600"/>
                </a:solidFill>
                <a:latin typeface="Garamond" pitchFamily="18" charset="0"/>
              </a:rPr>
              <a:t>熵不同于能量：</a:t>
            </a:r>
            <a:r>
              <a:rPr lang="zh-CN" altLang="en-US" sz="2400" b="1">
                <a:latin typeface="Garamond" pitchFamily="18" charset="0"/>
              </a:rPr>
              <a:t>只要不可逆过程发生，它就会被生产出来；而能量不会无中生有，它只能由一种形式转化为另一种形式；</a:t>
            </a:r>
            <a:r>
              <a:rPr lang="zh-CN" altLang="en-US" sz="2400" b="1">
                <a:solidFill>
                  <a:srgbClr val="FF6600"/>
                </a:solidFill>
                <a:latin typeface="Garamond" pitchFamily="18" charset="0"/>
              </a:rPr>
              <a:t>能量品质的高低可以用熵的多少来度量。</a:t>
            </a:r>
          </a:p>
          <a:p>
            <a:pPr algn="ctr">
              <a:spcBef>
                <a:spcPct val="50000"/>
              </a:spcBef>
            </a:pPr>
            <a:endParaRPr lang="en-US" altLang="zh-CN" sz="2400" b="1">
              <a:latin typeface="Garamond" pitchFamily="18" charset="0"/>
            </a:endParaRPr>
          </a:p>
        </p:txBody>
      </p:sp>
      <p:sp>
        <p:nvSpPr>
          <p:cNvPr id="136195" name="Text Box 3"/>
          <p:cNvSpPr txBox="1">
            <a:spLocks noChangeArrowheads="1"/>
          </p:cNvSpPr>
          <p:nvPr/>
        </p:nvSpPr>
        <p:spPr bwMode="auto">
          <a:xfrm>
            <a:off x="609600" y="4572000"/>
            <a:ext cx="7848600" cy="1570038"/>
          </a:xfrm>
          <a:prstGeom prst="rect">
            <a:avLst/>
          </a:prstGeom>
          <a:noFill/>
          <a:ln w="9525">
            <a:noFill/>
            <a:miter lim="800000"/>
            <a:headEnd/>
            <a:tailEnd/>
          </a:ln>
        </p:spPr>
        <p:txBody>
          <a:bodyPr anchorCtr="1">
            <a:spAutoFit/>
          </a:bodyPr>
          <a:lstStyle/>
          <a:p>
            <a:pPr>
              <a:spcBef>
                <a:spcPct val="50000"/>
              </a:spcBef>
            </a:pPr>
            <a:r>
              <a:rPr lang="zh-CN" altLang="en-US" sz="2400" b="1">
                <a:solidFill>
                  <a:srgbClr val="0000FF"/>
                </a:solidFill>
                <a:latin typeface="Garamond" pitchFamily="18" charset="0"/>
              </a:rPr>
              <a:t>热力学第二定律：</a:t>
            </a:r>
            <a:r>
              <a:rPr lang="zh-CN" altLang="en-US" sz="2400" b="1">
                <a:latin typeface="Garamond" pitchFamily="18" charset="0"/>
              </a:rPr>
              <a:t>（</a:t>
            </a:r>
            <a:r>
              <a:rPr lang="zh-CN" altLang="en-US" sz="2400" b="1">
                <a:solidFill>
                  <a:srgbClr val="FF6600"/>
                </a:solidFill>
                <a:latin typeface="Garamond" pitchFamily="18" charset="0"/>
              </a:rPr>
              <a:t>从能量退化角度</a:t>
            </a:r>
            <a:r>
              <a:rPr lang="zh-CN" altLang="en-US" sz="2400" b="1">
                <a:latin typeface="Garamond" pitchFamily="18" charset="0"/>
              </a:rPr>
              <a:t>）一孤立系统内的自</a:t>
            </a:r>
          </a:p>
          <a:p>
            <a:pPr>
              <a:spcBef>
                <a:spcPct val="50000"/>
              </a:spcBef>
            </a:pPr>
            <a:r>
              <a:rPr lang="zh-CN" altLang="en-US" sz="2400" b="1">
                <a:latin typeface="Garamond" pitchFamily="18" charset="0"/>
              </a:rPr>
              <a:t>          然过程必然导致能量的退 化； （</a:t>
            </a:r>
            <a:r>
              <a:rPr lang="zh-CN" altLang="en-US" sz="2400" b="1">
                <a:solidFill>
                  <a:srgbClr val="FF6600"/>
                </a:solidFill>
                <a:latin typeface="Garamond" pitchFamily="18" charset="0"/>
              </a:rPr>
              <a:t>从熵变角度</a:t>
            </a:r>
            <a:r>
              <a:rPr lang="zh-CN" altLang="en-US" sz="2400" b="1">
                <a:latin typeface="Garamond" pitchFamily="18" charset="0"/>
              </a:rPr>
              <a:t>）一孤</a:t>
            </a:r>
          </a:p>
          <a:p>
            <a:pPr>
              <a:spcBef>
                <a:spcPct val="50000"/>
              </a:spcBef>
            </a:pPr>
            <a:r>
              <a:rPr lang="zh-CN" altLang="en-US" sz="2400" b="1">
                <a:latin typeface="Garamond" pitchFamily="18" charset="0"/>
              </a:rPr>
              <a:t>          立系统内的自然过程必然导致熵的增加。</a:t>
            </a:r>
          </a:p>
        </p:txBody>
      </p:sp>
      <p:grpSp>
        <p:nvGrpSpPr>
          <p:cNvPr id="2" name="Group 4"/>
          <p:cNvGrpSpPr>
            <a:grpSpLocks/>
          </p:cNvGrpSpPr>
          <p:nvPr/>
        </p:nvGrpSpPr>
        <p:grpSpPr bwMode="auto">
          <a:xfrm>
            <a:off x="762000" y="2667000"/>
            <a:ext cx="7391400" cy="1754188"/>
            <a:chOff x="480" y="1680"/>
            <a:chExt cx="4656" cy="1105"/>
          </a:xfrm>
        </p:grpSpPr>
        <p:sp>
          <p:nvSpPr>
            <p:cNvPr id="83975" name="Text Box 5"/>
            <p:cNvSpPr txBox="1">
              <a:spLocks noChangeArrowheads="1"/>
            </p:cNvSpPr>
            <p:nvPr/>
          </p:nvSpPr>
          <p:spPr bwMode="auto">
            <a:xfrm>
              <a:off x="624" y="1680"/>
              <a:ext cx="4512" cy="1105"/>
            </a:xfrm>
            <a:prstGeom prst="rect">
              <a:avLst/>
            </a:prstGeom>
            <a:noFill/>
            <a:ln w="9525">
              <a:noFill/>
              <a:miter lim="800000"/>
              <a:headEnd/>
              <a:tailEnd/>
            </a:ln>
          </p:spPr>
          <p:txBody>
            <a:bodyPr anchorCtr="1">
              <a:spAutoFit/>
            </a:bodyPr>
            <a:lstStyle/>
            <a:p>
              <a:pPr algn="ctr">
                <a:spcBef>
                  <a:spcPct val="50000"/>
                </a:spcBef>
              </a:pPr>
              <a:r>
                <a:rPr lang="zh-CN" altLang="en-US" sz="2400" b="1">
                  <a:solidFill>
                    <a:srgbClr val="0000FF"/>
                  </a:solidFill>
                  <a:latin typeface="Garamond" pitchFamily="18" charset="0"/>
                </a:rPr>
                <a:t>机械能</a:t>
              </a:r>
              <a:r>
                <a:rPr lang="zh-CN" altLang="en-US" sz="2400" b="1">
                  <a:latin typeface="Garamond" pitchFamily="18" charset="0"/>
                </a:rPr>
                <a:t> </a:t>
              </a:r>
              <a:r>
                <a:rPr lang="en-US" altLang="zh-CN" sz="2400" b="1">
                  <a:latin typeface="Garamond" pitchFamily="18" charset="0"/>
                </a:rPr>
                <a:t>——  </a:t>
              </a:r>
              <a:r>
                <a:rPr lang="zh-CN" altLang="en-US" sz="2400" b="1">
                  <a:latin typeface="Garamond" pitchFamily="18" charset="0"/>
                </a:rPr>
                <a:t>分子整体做有规则运动的能量，是一          种有序能量，品质高，</a:t>
              </a:r>
              <a:r>
                <a:rPr lang="zh-CN" altLang="en-US" sz="2400" b="1">
                  <a:solidFill>
                    <a:srgbClr val="FF6600"/>
                  </a:solidFill>
                  <a:latin typeface="Garamond" pitchFamily="18" charset="0"/>
                </a:rPr>
                <a:t>熵值低</a:t>
              </a:r>
              <a:r>
                <a:rPr lang="zh-CN" altLang="en-US" sz="2400" b="1">
                  <a:latin typeface="Garamond" pitchFamily="18" charset="0"/>
                </a:rPr>
                <a:t>。</a:t>
              </a:r>
            </a:p>
            <a:p>
              <a:pPr algn="ctr">
                <a:spcBef>
                  <a:spcPct val="50000"/>
                </a:spcBef>
              </a:pPr>
              <a:r>
                <a:rPr lang="zh-CN" altLang="en-US" sz="2400" b="1">
                  <a:solidFill>
                    <a:srgbClr val="0000FF"/>
                  </a:solidFill>
                  <a:latin typeface="Garamond" pitchFamily="18" charset="0"/>
                </a:rPr>
                <a:t>热   能</a:t>
              </a:r>
              <a:r>
                <a:rPr lang="zh-CN" altLang="en-US" sz="2400" b="1">
                  <a:latin typeface="Garamond" pitchFamily="18" charset="0"/>
                </a:rPr>
                <a:t> </a:t>
              </a:r>
              <a:r>
                <a:rPr lang="en-US" altLang="zh-CN" sz="2400" b="1">
                  <a:latin typeface="Garamond" pitchFamily="18" charset="0"/>
                </a:rPr>
                <a:t>—— </a:t>
              </a:r>
              <a:r>
                <a:rPr lang="zh-CN" altLang="en-US" sz="2400" b="1">
                  <a:latin typeface="Garamond" pitchFamily="18" charset="0"/>
                </a:rPr>
                <a:t>分子无规则热运动的能量，是一种无序能量，品质低，</a:t>
              </a:r>
              <a:r>
                <a:rPr lang="zh-CN" altLang="en-US" sz="2400" b="1">
                  <a:solidFill>
                    <a:srgbClr val="FF6600"/>
                  </a:solidFill>
                  <a:latin typeface="Garamond" pitchFamily="18" charset="0"/>
                </a:rPr>
                <a:t>熵值高</a:t>
              </a:r>
              <a:r>
                <a:rPr lang="zh-CN" altLang="en-US" sz="2400" b="1">
                  <a:latin typeface="Garamond" pitchFamily="18" charset="0"/>
                </a:rPr>
                <a:t>。</a:t>
              </a:r>
            </a:p>
          </p:txBody>
        </p:sp>
        <p:graphicFrame>
          <p:nvGraphicFramePr>
            <p:cNvPr id="83970" name="Object 6"/>
            <p:cNvGraphicFramePr>
              <a:graphicFrameLocks noChangeAspect="1"/>
            </p:cNvGraphicFramePr>
            <p:nvPr/>
          </p:nvGraphicFramePr>
          <p:xfrm>
            <a:off x="480" y="1728"/>
            <a:ext cx="288" cy="816"/>
          </p:xfrm>
          <a:graphic>
            <a:graphicData uri="http://schemas.openxmlformats.org/presentationml/2006/ole">
              <p:oleObj spid="_x0000_s83970" name="Equation" r:id="rId3" imgW="164880" imgH="215640" progId="Equation.3">
                <p:embed/>
              </p:oleObj>
            </a:graphicData>
          </a:graphic>
        </p:graphicFrame>
      </p:grpSp>
      <p:sp>
        <p:nvSpPr>
          <p:cNvPr id="136199" name="Text Box 7"/>
          <p:cNvSpPr txBox="1">
            <a:spLocks noChangeArrowheads="1"/>
          </p:cNvSpPr>
          <p:nvPr/>
        </p:nvSpPr>
        <p:spPr bwMode="auto">
          <a:xfrm>
            <a:off x="304800" y="609600"/>
            <a:ext cx="2209800" cy="461963"/>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latin typeface="Times New Roman" pitchFamily="18" charset="0"/>
                <a:cs typeface="Times New Roman" pitchFamily="18" charset="0"/>
              </a:rPr>
              <a:t>1</a:t>
            </a:r>
            <a:r>
              <a:rPr lang="zh-CN" altLang="en-US" sz="2400" b="1">
                <a:solidFill>
                  <a:srgbClr val="0000FF"/>
                </a:solidFill>
                <a:latin typeface="Times New Roman" pitchFamily="18" charset="0"/>
                <a:cs typeface="Times New Roman" pitchFamily="18" charset="0"/>
              </a:rPr>
              <a:t>、熵与能量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6199"/>
                                        </p:tgtEl>
                                        <p:attrNameLst>
                                          <p:attrName>style.visibility</p:attrName>
                                        </p:attrNameLst>
                                      </p:cBhvr>
                                      <p:to>
                                        <p:strVal val="visible"/>
                                      </p:to>
                                    </p:set>
                                    <p:animEffect transition="in" filter="wipe(up)">
                                      <p:cBhvr>
                                        <p:cTn id="7" dur="500"/>
                                        <p:tgtEl>
                                          <p:spTgt spid="1361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6194"/>
                                        </p:tgtEl>
                                        <p:attrNameLst>
                                          <p:attrName>style.visibility</p:attrName>
                                        </p:attrNameLst>
                                      </p:cBhvr>
                                      <p:to>
                                        <p:strVal val="visible"/>
                                      </p:to>
                                    </p:set>
                                    <p:animEffect transition="in" filter="wipe(up)">
                                      <p:cBhvr>
                                        <p:cTn id="12" dur="500"/>
                                        <p:tgtEl>
                                          <p:spTgt spid="1361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6195"/>
                                        </p:tgtEl>
                                        <p:attrNameLst>
                                          <p:attrName>style.visibility</p:attrName>
                                        </p:attrNameLst>
                                      </p:cBhvr>
                                      <p:to>
                                        <p:strVal val="visible"/>
                                      </p:to>
                                    </p:set>
                                    <p:animEffect transition="in" filter="wipe(up)">
                                      <p:cBhvr>
                                        <p:cTn id="22" dur="500"/>
                                        <p:tgtEl>
                                          <p:spTgt spid="136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5" grpId="0" autoUpdateAnimBg="0"/>
      <p:bldP spid="136199"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285750" y="857250"/>
            <a:ext cx="8524875" cy="5632450"/>
          </a:xfrm>
          <a:prstGeom prst="rect">
            <a:avLst/>
          </a:prstGeom>
          <a:noFill/>
          <a:ln w="9525">
            <a:noFill/>
            <a:miter lim="800000"/>
            <a:headEnd/>
            <a:tailEnd/>
          </a:ln>
        </p:spPr>
        <p:txBody>
          <a:bodyPr>
            <a:spAutoFit/>
          </a:bodyPr>
          <a:lstStyle/>
          <a:p>
            <a:pPr>
              <a:lnSpc>
                <a:spcPct val="150000"/>
              </a:lnSpc>
              <a:defRPr/>
            </a:pPr>
            <a:r>
              <a:rPr lang="zh-CN" altLang="en-US" sz="2400" b="1" dirty="0">
                <a:latin typeface="Times New Roman" pitchFamily="18" charset="0"/>
                <a:ea typeface="+mn-ea"/>
                <a:cs typeface="Times New Roman" pitchFamily="18" charset="0"/>
              </a:rPr>
              <a:t>        机械能可以完全转变为热能，而热能不能全部转变为机械能。这表明机械能的利用率较高，而热能的利用率较低。</a:t>
            </a:r>
            <a:endParaRPr lang="en-US" altLang="zh-CN" sz="2400" b="1" dirty="0">
              <a:latin typeface="Times New Roman" pitchFamily="18" charset="0"/>
              <a:ea typeface="+mn-ea"/>
              <a:cs typeface="Times New Roman" pitchFamily="18" charset="0"/>
            </a:endParaRPr>
          </a:p>
          <a:p>
            <a:pPr>
              <a:lnSpc>
                <a:spcPct val="150000"/>
              </a:lnSpc>
              <a:defRPr/>
            </a:pPr>
            <a:r>
              <a:rPr lang="zh-CN" altLang="en-US" sz="2400" b="1" dirty="0">
                <a:latin typeface="Times New Roman" pitchFamily="18" charset="0"/>
                <a:ea typeface="+mn-ea"/>
                <a:cs typeface="Times New Roman" pitchFamily="18" charset="0"/>
              </a:rPr>
              <a:t>        热量总是自发地由高温物体流向低温物体。这说明高温物体的热能利用率较高，低温物体的热能利用率较低。</a:t>
            </a:r>
          </a:p>
          <a:p>
            <a:pPr>
              <a:lnSpc>
                <a:spcPct val="150000"/>
              </a:lnSpc>
              <a:defRPr/>
            </a:pPr>
            <a:r>
              <a:rPr lang="zh-CN" altLang="en-US" sz="2400" b="1" dirty="0">
                <a:latin typeface="Times New Roman" pitchFamily="18" charset="0"/>
                <a:ea typeface="+mn-ea"/>
                <a:cs typeface="Times New Roman" pitchFamily="18" charset="0"/>
              </a:rPr>
              <a:t>        能量的传输与转化总是沿着把利用率较高的能量变为利用率较低的能量的方向进行，自发地沿着反向进行是不可能的。</a:t>
            </a:r>
          </a:p>
          <a:p>
            <a:pPr>
              <a:lnSpc>
                <a:spcPct val="150000"/>
              </a:lnSpc>
              <a:defRPr/>
            </a:pPr>
            <a:r>
              <a:rPr lang="zh-CN" altLang="en-US" sz="2400" b="1" dirty="0">
                <a:latin typeface="Times New Roman" pitchFamily="18" charset="0"/>
                <a:ea typeface="+mn-ea"/>
                <a:cs typeface="Times New Roman" pitchFamily="18" charset="0"/>
              </a:rPr>
              <a:t>       利用效率较低的能量可以相对地看作 “ </a:t>
            </a:r>
            <a:r>
              <a:rPr lang="zh-CN" altLang="en-US" sz="2400" b="1" dirty="0">
                <a:solidFill>
                  <a:srgbClr val="FF0000"/>
                </a:solidFill>
                <a:latin typeface="Times New Roman" pitchFamily="18" charset="0"/>
                <a:ea typeface="+mn-ea"/>
                <a:cs typeface="Times New Roman" pitchFamily="18" charset="0"/>
              </a:rPr>
              <a:t>无用</a:t>
            </a:r>
            <a:r>
              <a:rPr lang="zh-CN" altLang="en-US" sz="2400" b="1" dirty="0">
                <a:latin typeface="Times New Roman" pitchFamily="18" charset="0"/>
                <a:ea typeface="+mn-ea"/>
                <a:cs typeface="Times New Roman" pitchFamily="18" charset="0"/>
              </a:rPr>
              <a:t> ” 的能量，所以不可逆过程总是伴随着一部分能量变为 “</a:t>
            </a:r>
            <a:r>
              <a:rPr lang="zh-CN" altLang="en-US" sz="2400" b="1" dirty="0">
                <a:solidFill>
                  <a:srgbClr val="FF0000"/>
                </a:solidFill>
                <a:latin typeface="Times New Roman" pitchFamily="18" charset="0"/>
                <a:ea typeface="+mn-ea"/>
                <a:cs typeface="Times New Roman" pitchFamily="18" charset="0"/>
              </a:rPr>
              <a:t>无用</a:t>
            </a:r>
            <a:r>
              <a:rPr lang="zh-CN" altLang="en-US" sz="2400" b="1" dirty="0">
                <a:latin typeface="Times New Roman" pitchFamily="18" charset="0"/>
                <a:ea typeface="+mn-ea"/>
                <a:cs typeface="Times New Roman" pitchFamily="18" charset="0"/>
              </a:rPr>
              <a:t>”，这称为能量的</a:t>
            </a:r>
            <a:r>
              <a:rPr lang="zh-CN" altLang="en-US" sz="2400" b="1" dirty="0">
                <a:solidFill>
                  <a:srgbClr val="FF0000"/>
                </a:solidFill>
                <a:latin typeface="Times New Roman" pitchFamily="18" charset="0"/>
                <a:ea typeface="+mn-ea"/>
                <a:cs typeface="Times New Roman" pitchFamily="18" charset="0"/>
              </a:rPr>
              <a:t>耗散</a:t>
            </a:r>
            <a:r>
              <a:rPr lang="zh-CN" altLang="en-US" sz="2400" b="1" dirty="0">
                <a:latin typeface="Times New Roman" pitchFamily="18" charset="0"/>
                <a:ea typeface="+mn-ea"/>
                <a:cs typeface="Times New Roman" pitchFamily="18" charset="0"/>
              </a:rPr>
              <a:t>。沿不可逆过程逆向使被贬值的能量再变为有利用价值的能量不可能出现，所以熵与耗散密切相关。</a:t>
            </a:r>
          </a:p>
        </p:txBody>
      </p:sp>
      <p:sp>
        <p:nvSpPr>
          <p:cNvPr id="147459" name="Text Box 3"/>
          <p:cNvSpPr txBox="1">
            <a:spLocks noChangeArrowheads="1"/>
          </p:cNvSpPr>
          <p:nvPr/>
        </p:nvSpPr>
        <p:spPr bwMode="auto">
          <a:xfrm>
            <a:off x="285750" y="357188"/>
            <a:ext cx="5257800" cy="493712"/>
          </a:xfrm>
          <a:prstGeom prst="rect">
            <a:avLst/>
          </a:prstGeom>
          <a:noFill/>
          <a:ln w="9525" algn="ctr">
            <a:noFill/>
            <a:miter lim="800000"/>
            <a:headEnd/>
            <a:tailEnd/>
          </a:ln>
        </p:spPr>
        <p:txBody>
          <a:bodyPr>
            <a:spAutoFit/>
          </a:bodyPr>
          <a:lstStyle/>
          <a:p>
            <a:pPr>
              <a:lnSpc>
                <a:spcPct val="120000"/>
              </a:lnSpc>
              <a:spcBef>
                <a:spcPct val="50000"/>
              </a:spcBef>
              <a:defRPr/>
            </a:pPr>
            <a:r>
              <a:rPr lang="en-US" altLang="zh-CN" sz="2400" b="1" dirty="0">
                <a:solidFill>
                  <a:srgbClr val="0000FF"/>
                </a:solidFill>
                <a:latin typeface="Times New Roman" pitchFamily="18" charset="0"/>
                <a:ea typeface="+mn-ea"/>
                <a:cs typeface="Times New Roman" pitchFamily="18" charset="0"/>
              </a:rPr>
              <a:t>2</a:t>
            </a:r>
            <a:r>
              <a:rPr lang="zh-CN" altLang="en-US" sz="2400" b="1" dirty="0">
                <a:solidFill>
                  <a:srgbClr val="0000FF"/>
                </a:solidFill>
                <a:latin typeface="Times New Roman" pitchFamily="18" charset="0"/>
                <a:ea typeface="+mn-ea"/>
                <a:cs typeface="Times New Roman" pitchFamily="18" charset="0"/>
              </a:rPr>
              <a:t>、熵与耗散密切相关</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47458">
                                            <p:txEl>
                                              <p:pRg st="0" end="0"/>
                                            </p:txEl>
                                          </p:spTgt>
                                        </p:tgtEl>
                                        <p:attrNameLst>
                                          <p:attrName>style.visibility</p:attrName>
                                        </p:attrNameLst>
                                      </p:cBhvr>
                                      <p:to>
                                        <p:strVal val="visible"/>
                                      </p:to>
                                    </p:set>
                                    <p:animEffect transition="in" filter="dissolve">
                                      <p:cBhvr>
                                        <p:cTn id="11" dur="500"/>
                                        <p:tgtEl>
                                          <p:spTgt spid="14745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47458">
                                            <p:txEl>
                                              <p:pRg st="1" end="1"/>
                                            </p:txEl>
                                          </p:spTgt>
                                        </p:tgtEl>
                                        <p:attrNameLst>
                                          <p:attrName>style.visibility</p:attrName>
                                        </p:attrNameLst>
                                      </p:cBhvr>
                                      <p:to>
                                        <p:strVal val="visible"/>
                                      </p:to>
                                    </p:set>
                                    <p:animEffect transition="in" filter="dissolve">
                                      <p:cBhvr>
                                        <p:cTn id="16" dur="500"/>
                                        <p:tgtEl>
                                          <p:spTgt spid="14745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47458">
                                            <p:txEl>
                                              <p:pRg st="2" end="2"/>
                                            </p:txEl>
                                          </p:spTgt>
                                        </p:tgtEl>
                                        <p:attrNameLst>
                                          <p:attrName>style.visibility</p:attrName>
                                        </p:attrNameLst>
                                      </p:cBhvr>
                                      <p:to>
                                        <p:strVal val="visible"/>
                                      </p:to>
                                    </p:set>
                                    <p:animEffect transition="in" filter="dissolve">
                                      <p:cBhvr>
                                        <p:cTn id="21" dur="500"/>
                                        <p:tgtEl>
                                          <p:spTgt spid="14745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47458">
                                            <p:txEl>
                                              <p:pRg st="3" end="3"/>
                                            </p:txEl>
                                          </p:spTgt>
                                        </p:tgtEl>
                                        <p:attrNameLst>
                                          <p:attrName>style.visibility</p:attrName>
                                        </p:attrNameLst>
                                      </p:cBhvr>
                                      <p:to>
                                        <p:strVal val="visible"/>
                                      </p:to>
                                    </p:set>
                                    <p:animEffect transition="in" filter="dissolve">
                                      <p:cBhvr>
                                        <p:cTn id="26" dur="500"/>
                                        <p:tgtEl>
                                          <p:spTgt spid="1474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a:spLocks noChangeArrowheads="1"/>
          </p:cNvSpPr>
          <p:nvPr/>
        </p:nvSpPr>
        <p:spPr bwMode="auto">
          <a:xfrm>
            <a:off x="381000" y="1447800"/>
            <a:ext cx="8001000" cy="1347788"/>
          </a:xfrm>
          <a:prstGeom prst="rect">
            <a:avLst/>
          </a:prstGeom>
          <a:noFill/>
          <a:ln w="9525">
            <a:noFill/>
            <a:miter lim="800000"/>
            <a:headEnd/>
            <a:tailEnd/>
          </a:ln>
        </p:spPr>
        <p:txBody>
          <a:bodyPr anchorCtr="1">
            <a:spAutoFit/>
          </a:bodyPr>
          <a:lstStyle/>
          <a:p>
            <a:pPr>
              <a:lnSpc>
                <a:spcPct val="80000"/>
              </a:lnSpc>
              <a:spcBef>
                <a:spcPct val="50000"/>
              </a:spcBef>
            </a:pPr>
            <a:r>
              <a:rPr lang="zh-CN" altLang="en-US" sz="2400" b="1">
                <a:solidFill>
                  <a:srgbClr val="0000FF"/>
                </a:solidFill>
                <a:latin typeface="Times New Roman" pitchFamily="18" charset="0"/>
                <a:cs typeface="Times New Roman" pitchFamily="18" charset="0"/>
              </a:rPr>
              <a:t>自组织现象：</a:t>
            </a:r>
            <a:r>
              <a:rPr lang="zh-CN" altLang="en-US" sz="2400" b="1">
                <a:latin typeface="Times New Roman" pitchFamily="18" charset="0"/>
                <a:cs typeface="Times New Roman" pitchFamily="18" charset="0"/>
              </a:rPr>
              <a:t>在一定条件下，系统内部自发地由比较无序</a:t>
            </a:r>
          </a:p>
          <a:p>
            <a:pPr>
              <a:lnSpc>
                <a:spcPct val="80000"/>
              </a:lnSpc>
              <a:spcBef>
                <a:spcPct val="50000"/>
              </a:spcBef>
            </a:pPr>
            <a:r>
              <a:rPr lang="zh-CN" altLang="en-US" sz="2400" b="1">
                <a:latin typeface="Times New Roman" pitchFamily="18" charset="0"/>
                <a:cs typeface="Times New Roman" pitchFamily="18" charset="0"/>
              </a:rPr>
              <a:t>             变为比较有序，使其内部分子按一定的规律运动的</a:t>
            </a:r>
          </a:p>
          <a:p>
            <a:pPr>
              <a:lnSpc>
                <a:spcPct val="80000"/>
              </a:lnSpc>
              <a:spcBef>
                <a:spcPct val="50000"/>
              </a:spcBef>
            </a:pPr>
            <a:r>
              <a:rPr lang="zh-CN" altLang="en-US" sz="2400" b="1">
                <a:latin typeface="Times New Roman" pitchFamily="18" charset="0"/>
                <a:cs typeface="Times New Roman" pitchFamily="18" charset="0"/>
              </a:rPr>
              <a:t>             现象，它广泛存在于生物界和非生物界中。</a:t>
            </a:r>
          </a:p>
        </p:txBody>
      </p:sp>
      <p:sp>
        <p:nvSpPr>
          <p:cNvPr id="137219" name="Text Box 3"/>
          <p:cNvSpPr txBox="1">
            <a:spLocks noChangeArrowheads="1"/>
          </p:cNvSpPr>
          <p:nvPr/>
        </p:nvSpPr>
        <p:spPr bwMode="auto">
          <a:xfrm>
            <a:off x="381000" y="3124200"/>
            <a:ext cx="2895600" cy="457200"/>
          </a:xfrm>
          <a:prstGeom prst="rect">
            <a:avLst/>
          </a:prstGeom>
          <a:noFill/>
          <a:ln w="9525">
            <a:noFill/>
            <a:miter lim="800000"/>
            <a:headEnd/>
            <a:tailEnd/>
          </a:ln>
        </p:spPr>
        <p:txBody>
          <a:bodyPr anchorCtr="1">
            <a:spAutoFit/>
          </a:bodyPr>
          <a:lstStyle/>
          <a:p>
            <a:pPr algn="ctr">
              <a:spcBef>
                <a:spcPct val="50000"/>
              </a:spcBef>
            </a:pPr>
            <a:r>
              <a:rPr lang="zh-CN" altLang="en-US" sz="2400" b="1">
                <a:solidFill>
                  <a:srgbClr val="0000FF"/>
                </a:solidFill>
                <a:latin typeface="Times New Roman" pitchFamily="18" charset="0"/>
                <a:cs typeface="Times New Roman" pitchFamily="18" charset="0"/>
              </a:rPr>
              <a:t>生命系统的熵变：</a:t>
            </a:r>
          </a:p>
        </p:txBody>
      </p:sp>
      <p:graphicFrame>
        <p:nvGraphicFramePr>
          <p:cNvPr id="137220" name="Object 4"/>
          <p:cNvGraphicFramePr>
            <a:graphicFrameLocks noChangeAspect="1"/>
          </p:cNvGraphicFramePr>
          <p:nvPr/>
        </p:nvGraphicFramePr>
        <p:xfrm>
          <a:off x="3352800" y="3124200"/>
          <a:ext cx="2108200" cy="474663"/>
        </p:xfrm>
        <a:graphic>
          <a:graphicData uri="http://schemas.openxmlformats.org/presentationml/2006/ole">
            <p:oleObj spid="_x0000_s84994" name="Equation" r:id="rId3" imgW="1015920" imgH="228600" progId="Equation.3">
              <p:embed/>
            </p:oleObj>
          </a:graphicData>
        </a:graphic>
      </p:graphicFrame>
      <p:grpSp>
        <p:nvGrpSpPr>
          <p:cNvPr id="2" name="Group 5"/>
          <p:cNvGrpSpPr>
            <a:grpSpLocks/>
          </p:cNvGrpSpPr>
          <p:nvPr/>
        </p:nvGrpSpPr>
        <p:grpSpPr bwMode="auto">
          <a:xfrm>
            <a:off x="838200" y="3927475"/>
            <a:ext cx="7467600" cy="1422400"/>
            <a:chOff x="576" y="2256"/>
            <a:chExt cx="4704" cy="896"/>
          </a:xfrm>
        </p:grpSpPr>
        <p:sp>
          <p:nvSpPr>
            <p:cNvPr id="85001" name="Rectangle 6"/>
            <p:cNvSpPr>
              <a:spLocks noChangeArrowheads="1"/>
            </p:cNvSpPr>
            <p:nvPr/>
          </p:nvSpPr>
          <p:spPr bwMode="auto">
            <a:xfrm>
              <a:off x="576" y="2256"/>
              <a:ext cx="4704" cy="896"/>
            </a:xfrm>
            <a:prstGeom prst="rect">
              <a:avLst/>
            </a:prstGeom>
            <a:noFill/>
            <a:ln w="9525">
              <a:noFill/>
              <a:miter lim="800000"/>
              <a:headEnd/>
              <a:tailEnd/>
            </a:ln>
          </p:spPr>
          <p:txBody>
            <a:bodyPr anchorCtr="1">
              <a:spAutoFit/>
            </a:bodyPr>
            <a:lstStyle/>
            <a:p>
              <a:pPr>
                <a:lnSpc>
                  <a:spcPct val="120000"/>
                </a:lnSpc>
                <a:spcBef>
                  <a:spcPct val="20000"/>
                </a:spcBef>
                <a:buClr>
                  <a:schemeClr val="hlink"/>
                </a:buClr>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叫</a:t>
              </a:r>
              <a:r>
                <a:rPr lang="zh-CN" altLang="en-US" sz="2400" b="1">
                  <a:solidFill>
                    <a:srgbClr val="FF6600"/>
                  </a:solidFill>
                  <a:latin typeface="Times New Roman" pitchFamily="18" charset="0"/>
                  <a:cs typeface="Times New Roman" pitchFamily="18" charset="0"/>
                </a:rPr>
                <a:t>熵产生</a:t>
              </a:r>
              <a:r>
                <a:rPr lang="zh-CN" altLang="en-US" sz="2400" b="1">
                  <a:latin typeface="Times New Roman" pitchFamily="18" charset="0"/>
                  <a:cs typeface="Times New Roman" pitchFamily="18" charset="0"/>
                </a:rPr>
                <a:t> ，由系统内部进行的不可逆过程引起，其值恒大于零；       叫</a:t>
              </a:r>
              <a:r>
                <a:rPr lang="zh-CN" altLang="en-US" sz="2400" b="1">
                  <a:solidFill>
                    <a:srgbClr val="FF6600"/>
                  </a:solidFill>
                  <a:latin typeface="Times New Roman" pitchFamily="18" charset="0"/>
                  <a:cs typeface="Times New Roman" pitchFamily="18" charset="0"/>
                </a:rPr>
                <a:t>熵交换</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或熵流</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，由系统与外界交换能量或物质引起，其值可正、可负、可为零。 </a:t>
              </a:r>
            </a:p>
          </p:txBody>
        </p:sp>
        <p:graphicFrame>
          <p:nvGraphicFramePr>
            <p:cNvPr id="84995" name="Object 7"/>
            <p:cNvGraphicFramePr>
              <a:graphicFrameLocks noChangeAspect="1"/>
            </p:cNvGraphicFramePr>
            <p:nvPr/>
          </p:nvGraphicFramePr>
          <p:xfrm>
            <a:off x="1008" y="2304"/>
            <a:ext cx="336" cy="288"/>
          </p:xfrm>
          <a:graphic>
            <a:graphicData uri="http://schemas.openxmlformats.org/presentationml/2006/ole">
              <p:oleObj spid="_x0000_s84995" name="Equation" r:id="rId4" imgW="266400" imgH="228600" progId="Equation.3">
                <p:embed/>
              </p:oleObj>
            </a:graphicData>
          </a:graphic>
        </p:graphicFrame>
        <p:graphicFrame>
          <p:nvGraphicFramePr>
            <p:cNvPr id="84996" name="Object 8"/>
            <p:cNvGraphicFramePr>
              <a:graphicFrameLocks noChangeAspect="1"/>
            </p:cNvGraphicFramePr>
            <p:nvPr/>
          </p:nvGraphicFramePr>
          <p:xfrm>
            <a:off x="2352" y="2592"/>
            <a:ext cx="336" cy="288"/>
          </p:xfrm>
          <a:graphic>
            <a:graphicData uri="http://schemas.openxmlformats.org/presentationml/2006/ole">
              <p:oleObj spid="_x0000_s84996" name="Equation" r:id="rId5" imgW="279360" imgH="228600" progId="Equation.3">
                <p:embed/>
              </p:oleObj>
            </a:graphicData>
          </a:graphic>
        </p:graphicFrame>
      </p:grpSp>
      <p:sp>
        <p:nvSpPr>
          <p:cNvPr id="137225" name="Text Box 9"/>
          <p:cNvSpPr txBox="1">
            <a:spLocks noChangeArrowheads="1"/>
          </p:cNvSpPr>
          <p:nvPr/>
        </p:nvSpPr>
        <p:spPr bwMode="auto">
          <a:xfrm>
            <a:off x="457200" y="685800"/>
            <a:ext cx="4114800" cy="461963"/>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latin typeface="Times New Roman" pitchFamily="18" charset="0"/>
                <a:cs typeface="Times New Roman" pitchFamily="18" charset="0"/>
              </a:rPr>
              <a:t>3</a:t>
            </a:r>
            <a:r>
              <a:rPr lang="zh-CN" altLang="en-US" sz="2400" b="1">
                <a:solidFill>
                  <a:srgbClr val="0000FF"/>
                </a:solidFill>
                <a:latin typeface="Times New Roman" pitchFamily="18" charset="0"/>
                <a:cs typeface="Times New Roman" pitchFamily="18" charset="0"/>
              </a:rPr>
              <a:t>、熵与生命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25"/>
                                        </p:tgtEl>
                                        <p:attrNameLst>
                                          <p:attrName>style.visibility</p:attrName>
                                        </p:attrNameLst>
                                      </p:cBhvr>
                                      <p:to>
                                        <p:strVal val="visible"/>
                                      </p:to>
                                    </p:set>
                                    <p:animEffect transition="in" filter="wipe(left)">
                                      <p:cBhvr>
                                        <p:cTn id="7" dur="500"/>
                                        <p:tgtEl>
                                          <p:spTgt spid="1372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8"/>
                                        </p:tgtEl>
                                        <p:attrNameLst>
                                          <p:attrName>style.visibility</p:attrName>
                                        </p:attrNameLst>
                                      </p:cBhvr>
                                      <p:to>
                                        <p:strVal val="visible"/>
                                      </p:to>
                                    </p:set>
                                    <p:animEffect transition="in" filter="wipe(left)">
                                      <p:cBhvr>
                                        <p:cTn id="12" dur="500"/>
                                        <p:tgtEl>
                                          <p:spTgt spid="1372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7219"/>
                                        </p:tgtEl>
                                        <p:attrNameLst>
                                          <p:attrName>style.visibility</p:attrName>
                                        </p:attrNameLst>
                                      </p:cBhvr>
                                      <p:to>
                                        <p:strVal val="visible"/>
                                      </p:to>
                                    </p:set>
                                    <p:animEffect transition="in" filter="wipe(left)">
                                      <p:cBhvr>
                                        <p:cTn id="17" dur="500"/>
                                        <p:tgtEl>
                                          <p:spTgt spid="1372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7220"/>
                                        </p:tgtEl>
                                        <p:attrNameLst>
                                          <p:attrName>style.visibility</p:attrName>
                                        </p:attrNameLst>
                                      </p:cBhvr>
                                      <p:to>
                                        <p:strVal val="visible"/>
                                      </p:to>
                                    </p:set>
                                    <p:animEffect transition="in" filter="wipe(left)">
                                      <p:cBhvr>
                                        <p:cTn id="22" dur="500"/>
                                        <p:tgtEl>
                                          <p:spTgt spid="1372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utoUpdateAnimBg="0"/>
      <p:bldP spid="137219" grpId="0" autoUpdateAnimBg="0"/>
      <p:bldP spid="137225"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2417763"/>
            <a:ext cx="7924800" cy="1484312"/>
            <a:chOff x="480" y="1523"/>
            <a:chExt cx="4992" cy="935"/>
          </a:xfrm>
        </p:grpSpPr>
        <p:sp>
          <p:nvSpPr>
            <p:cNvPr id="86028" name="Text Box 3"/>
            <p:cNvSpPr txBox="1">
              <a:spLocks noChangeArrowheads="1"/>
            </p:cNvSpPr>
            <p:nvPr/>
          </p:nvSpPr>
          <p:spPr bwMode="auto">
            <a:xfrm>
              <a:off x="480" y="1539"/>
              <a:ext cx="4992" cy="919"/>
            </a:xfrm>
            <a:prstGeom prst="rect">
              <a:avLst/>
            </a:prstGeom>
            <a:noFill/>
            <a:ln w="9525">
              <a:noFill/>
              <a:miter lim="800000"/>
              <a:headEnd/>
              <a:tailEnd/>
            </a:ln>
          </p:spPr>
          <p:txBody>
            <a:bodyPr anchorCtr="1">
              <a:spAutoFit/>
            </a:bodyPr>
            <a:lstStyle/>
            <a:p>
              <a:pPr>
                <a:lnSpc>
                  <a:spcPct val="90000"/>
                </a:lnSpc>
                <a:spcBef>
                  <a:spcPct val="50000"/>
                </a:spcBef>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时，生物系统的熵增加，生物便开始</a:t>
              </a:r>
              <a:r>
                <a:rPr lang="zh-CN" altLang="en-US" sz="2400" b="1">
                  <a:solidFill>
                    <a:srgbClr val="FF6600"/>
                  </a:solidFill>
                  <a:latin typeface="Times New Roman" pitchFamily="18" charset="0"/>
                  <a:cs typeface="Times New Roman" pitchFamily="18" charset="0"/>
                </a:rPr>
                <a:t>退化、衰老</a:t>
              </a:r>
              <a:r>
                <a:rPr lang="zh-CN" altLang="en-US" sz="2400" b="1">
                  <a:latin typeface="Times New Roman" pitchFamily="18" charset="0"/>
                  <a:cs typeface="Times New Roman" pitchFamily="18" charset="0"/>
                </a:rPr>
                <a:t>；</a:t>
              </a:r>
            </a:p>
            <a:p>
              <a:pPr>
                <a:lnSpc>
                  <a:spcPct val="90000"/>
                </a:lnSpc>
                <a:spcBef>
                  <a:spcPct val="50000"/>
                </a:spcBef>
              </a:pPr>
              <a:r>
                <a:rPr lang="zh-CN" altLang="en-US" sz="2400" b="1">
                  <a:latin typeface="Times New Roman" pitchFamily="18" charset="0"/>
                  <a:cs typeface="Times New Roman" pitchFamily="18" charset="0"/>
                </a:rPr>
                <a:t>      当生物体的熵达到最大时，整个机体呈现高度混乱状</a:t>
              </a:r>
            </a:p>
            <a:p>
              <a:pPr>
                <a:lnSpc>
                  <a:spcPct val="90000"/>
                </a:lnSpc>
                <a:spcBef>
                  <a:spcPct val="50000"/>
                </a:spcBef>
              </a:pPr>
              <a:r>
                <a:rPr lang="zh-CN" altLang="en-US" sz="2400" b="1">
                  <a:latin typeface="Times New Roman" pitchFamily="18" charset="0"/>
                  <a:cs typeface="Times New Roman" pitchFamily="18" charset="0"/>
                </a:rPr>
                <a:t>      态，处于热力学平衡之中，即生物体的</a:t>
              </a:r>
              <a:r>
                <a:rPr lang="zh-CN" altLang="en-US" sz="2400" b="1">
                  <a:solidFill>
                    <a:srgbClr val="FF6600"/>
                  </a:solidFill>
                  <a:latin typeface="Times New Roman" pitchFamily="18" charset="0"/>
                  <a:cs typeface="Times New Roman" pitchFamily="18" charset="0"/>
                </a:rPr>
                <a:t>死亡</a:t>
              </a:r>
              <a:r>
                <a:rPr lang="zh-CN" altLang="en-US" sz="2400" b="1">
                  <a:latin typeface="Times New Roman" pitchFamily="18" charset="0"/>
                  <a:cs typeface="Times New Roman" pitchFamily="18" charset="0"/>
                </a:rPr>
                <a:t>。</a:t>
              </a:r>
            </a:p>
          </p:txBody>
        </p:sp>
        <p:graphicFrame>
          <p:nvGraphicFramePr>
            <p:cNvPr id="86020" name="Object 4"/>
            <p:cNvGraphicFramePr>
              <a:graphicFrameLocks noChangeAspect="1"/>
            </p:cNvGraphicFramePr>
            <p:nvPr/>
          </p:nvGraphicFramePr>
          <p:xfrm>
            <a:off x="480" y="1523"/>
            <a:ext cx="624" cy="253"/>
          </p:xfrm>
          <a:graphic>
            <a:graphicData uri="http://schemas.openxmlformats.org/presentationml/2006/ole">
              <p:oleObj spid="_x0000_s86020" name="Equation" r:id="rId4" imgW="469800" imgH="177480" progId="Equation.3">
                <p:embed/>
              </p:oleObj>
            </a:graphicData>
          </a:graphic>
        </p:graphicFrame>
      </p:grpSp>
      <p:sp>
        <p:nvSpPr>
          <p:cNvPr id="138245" name="Text Box 5"/>
          <p:cNvSpPr txBox="1">
            <a:spLocks noChangeArrowheads="1"/>
          </p:cNvSpPr>
          <p:nvPr/>
        </p:nvSpPr>
        <p:spPr bwMode="auto">
          <a:xfrm>
            <a:off x="1371600" y="5119688"/>
            <a:ext cx="6629400" cy="519112"/>
          </a:xfrm>
          <a:prstGeom prst="rect">
            <a:avLst/>
          </a:prstGeom>
          <a:noFill/>
          <a:ln w="9525">
            <a:noFill/>
            <a:miter lim="800000"/>
            <a:headEnd/>
            <a:tailEnd/>
          </a:ln>
        </p:spPr>
        <p:txBody>
          <a:bodyPr anchorCtr="1">
            <a:spAutoFit/>
          </a:bodyPr>
          <a:lstStyle/>
          <a:p>
            <a:pPr algn="ctr">
              <a:spcBef>
                <a:spcPct val="50000"/>
              </a:spcBef>
            </a:pPr>
            <a:r>
              <a:rPr lang="zh-CN" altLang="en-US" sz="2800" b="1">
                <a:solidFill>
                  <a:srgbClr val="0000FF"/>
                </a:solidFill>
                <a:latin typeface="Times New Roman" pitchFamily="18" charset="0"/>
                <a:cs typeface="Times New Roman" pitchFamily="18" charset="0"/>
              </a:rPr>
              <a:t>薛定谔说：“生命是以负熵为食。”</a:t>
            </a:r>
            <a:endParaRPr lang="zh-CN" altLang="en-US" sz="2400" b="1">
              <a:solidFill>
                <a:srgbClr val="0000FF"/>
              </a:solidFill>
              <a:latin typeface="Times New Roman" pitchFamily="18" charset="0"/>
              <a:cs typeface="Times New Roman" pitchFamily="18" charset="0"/>
            </a:endParaRPr>
          </a:p>
        </p:txBody>
      </p:sp>
      <p:grpSp>
        <p:nvGrpSpPr>
          <p:cNvPr id="3" name="Group 6"/>
          <p:cNvGrpSpPr>
            <a:grpSpLocks/>
          </p:cNvGrpSpPr>
          <p:nvPr/>
        </p:nvGrpSpPr>
        <p:grpSpPr bwMode="auto">
          <a:xfrm>
            <a:off x="762000" y="862013"/>
            <a:ext cx="8153400" cy="457200"/>
            <a:chOff x="480" y="543"/>
            <a:chExt cx="5136" cy="288"/>
          </a:xfrm>
        </p:grpSpPr>
        <p:graphicFrame>
          <p:nvGraphicFramePr>
            <p:cNvPr id="86019" name="Object 7"/>
            <p:cNvGraphicFramePr>
              <a:graphicFrameLocks noChangeAspect="1"/>
            </p:cNvGraphicFramePr>
            <p:nvPr/>
          </p:nvGraphicFramePr>
          <p:xfrm>
            <a:off x="480" y="576"/>
            <a:ext cx="624" cy="254"/>
          </p:xfrm>
          <a:graphic>
            <a:graphicData uri="http://schemas.openxmlformats.org/presentationml/2006/ole">
              <p:oleObj spid="_x0000_s86019" name="Equation" r:id="rId5" imgW="469800" imgH="177480" progId="Equation.3">
                <p:embed/>
              </p:oleObj>
            </a:graphicData>
          </a:graphic>
        </p:graphicFrame>
        <p:sp>
          <p:nvSpPr>
            <p:cNvPr id="86027" name="Text Box 8"/>
            <p:cNvSpPr txBox="1">
              <a:spLocks noChangeArrowheads="1"/>
            </p:cNvSpPr>
            <p:nvPr/>
          </p:nvSpPr>
          <p:spPr bwMode="auto">
            <a:xfrm>
              <a:off x="1008" y="543"/>
              <a:ext cx="4608" cy="288"/>
            </a:xfrm>
            <a:prstGeom prst="rect">
              <a:avLst/>
            </a:prstGeom>
            <a:noFill/>
            <a:ln w="9525">
              <a:noFill/>
              <a:miter lim="800000"/>
              <a:headEnd/>
              <a:tailEnd/>
            </a:ln>
          </p:spPr>
          <p:txBody>
            <a:bodyPr>
              <a:spAutoFit/>
            </a:bodyPr>
            <a:lstStyle/>
            <a:p>
              <a:pPr algn="ctr">
                <a:spcBef>
                  <a:spcPct val="50000"/>
                </a:spcBef>
              </a:pPr>
              <a:r>
                <a:rPr lang="zh-CN" altLang="en-US" sz="2400" b="1">
                  <a:latin typeface="Times New Roman" pitchFamily="18" charset="0"/>
                  <a:cs typeface="Times New Roman" pitchFamily="18" charset="0"/>
                </a:rPr>
                <a:t>时，系统的熵减少，有序度增加，即生物体的</a:t>
              </a:r>
              <a:r>
                <a:rPr lang="zh-CN" altLang="en-US" sz="2400" b="1">
                  <a:solidFill>
                    <a:srgbClr val="FF6600"/>
                  </a:solidFill>
                  <a:latin typeface="Times New Roman" pitchFamily="18" charset="0"/>
                  <a:cs typeface="Times New Roman" pitchFamily="18" charset="0"/>
                </a:rPr>
                <a:t>成长</a:t>
              </a:r>
              <a:r>
                <a:rPr lang="zh-CN" altLang="en-US" sz="2400" b="1">
                  <a:latin typeface="Times New Roman" pitchFamily="18" charset="0"/>
                  <a:cs typeface="Times New Roman" pitchFamily="18" charset="0"/>
                </a:rPr>
                <a:t>。</a:t>
              </a:r>
            </a:p>
          </p:txBody>
        </p:sp>
      </p:grpSp>
      <p:grpSp>
        <p:nvGrpSpPr>
          <p:cNvPr id="4" name="Group 9"/>
          <p:cNvGrpSpPr>
            <a:grpSpLocks/>
          </p:cNvGrpSpPr>
          <p:nvPr/>
        </p:nvGrpSpPr>
        <p:grpSpPr bwMode="auto">
          <a:xfrm>
            <a:off x="762000" y="1371600"/>
            <a:ext cx="7848600" cy="968375"/>
            <a:chOff x="480" y="864"/>
            <a:chExt cx="4944" cy="610"/>
          </a:xfrm>
        </p:grpSpPr>
        <p:graphicFrame>
          <p:nvGraphicFramePr>
            <p:cNvPr id="86018" name="Object 10"/>
            <p:cNvGraphicFramePr>
              <a:graphicFrameLocks noChangeAspect="1"/>
            </p:cNvGraphicFramePr>
            <p:nvPr/>
          </p:nvGraphicFramePr>
          <p:xfrm>
            <a:off x="480" y="964"/>
            <a:ext cx="576" cy="236"/>
          </p:xfrm>
          <a:graphic>
            <a:graphicData uri="http://schemas.openxmlformats.org/presentationml/2006/ole">
              <p:oleObj spid="_x0000_s86018" name="Equation" r:id="rId6" imgW="469800" imgH="177480" progId="Equation.3">
                <p:embed/>
              </p:oleObj>
            </a:graphicData>
          </a:graphic>
        </p:graphicFrame>
        <p:sp>
          <p:nvSpPr>
            <p:cNvPr id="86026" name="Text Box 11"/>
            <p:cNvSpPr txBox="1">
              <a:spLocks noChangeArrowheads="1"/>
            </p:cNvSpPr>
            <p:nvPr/>
          </p:nvSpPr>
          <p:spPr bwMode="auto">
            <a:xfrm>
              <a:off x="1008" y="864"/>
              <a:ext cx="4416" cy="610"/>
            </a:xfrm>
            <a:prstGeom prst="rect">
              <a:avLst/>
            </a:prstGeom>
            <a:noFill/>
            <a:ln w="9525">
              <a:noFill/>
              <a:miter lim="800000"/>
              <a:headEnd/>
              <a:tailEnd/>
            </a:ln>
          </p:spPr>
          <p:txBody>
            <a:bodyPr>
              <a:spAutoFit/>
            </a:bodyPr>
            <a:lstStyle/>
            <a:p>
              <a:pPr>
                <a:lnSpc>
                  <a:spcPct val="120000"/>
                </a:lnSpc>
                <a:spcBef>
                  <a:spcPct val="50000"/>
                </a:spcBef>
              </a:pPr>
              <a:r>
                <a:rPr lang="zh-CN" altLang="en-US" sz="2400" b="1">
                  <a:latin typeface="Times New Roman" pitchFamily="18" charset="0"/>
                  <a:cs typeface="Times New Roman" pitchFamily="18" charset="0"/>
                </a:rPr>
                <a:t>时，系统的熵不变，系统便维持在一定的有序结构上，即生物体的</a:t>
              </a:r>
              <a:r>
                <a:rPr lang="zh-CN" altLang="en-US" sz="2400" b="1">
                  <a:solidFill>
                    <a:srgbClr val="FF6600"/>
                  </a:solidFill>
                  <a:latin typeface="Times New Roman" pitchFamily="18" charset="0"/>
                  <a:cs typeface="Times New Roman" pitchFamily="18" charset="0"/>
                </a:rPr>
                <a:t>成熟</a:t>
              </a:r>
              <a:r>
                <a:rPr lang="zh-CN" altLang="en-US" sz="2400" b="1">
                  <a:latin typeface="Times New Roman" pitchFamily="18" charset="0"/>
                  <a:cs typeface="Times New Roman" pitchFamily="18" charset="0"/>
                </a:rPr>
                <a:t>。</a:t>
              </a:r>
            </a:p>
          </p:txBody>
        </p:sp>
      </p:grpSp>
      <p:sp>
        <p:nvSpPr>
          <p:cNvPr id="138252" name="Text Box 12"/>
          <p:cNvSpPr txBox="1">
            <a:spLocks noChangeArrowheads="1"/>
          </p:cNvSpPr>
          <p:nvPr/>
        </p:nvSpPr>
        <p:spPr bwMode="auto">
          <a:xfrm>
            <a:off x="1295400" y="3962400"/>
            <a:ext cx="7391400" cy="966788"/>
          </a:xfrm>
          <a:prstGeom prst="rect">
            <a:avLst/>
          </a:prstGeom>
          <a:noFill/>
          <a:ln w="9525">
            <a:noFill/>
            <a:miter lim="800000"/>
            <a:headEnd/>
            <a:tailEnd/>
          </a:ln>
        </p:spPr>
        <p:txBody>
          <a:bodyPr>
            <a:spAutoFit/>
          </a:bodyPr>
          <a:lstStyle/>
          <a:p>
            <a:pPr>
              <a:lnSpc>
                <a:spcPct val="125000"/>
              </a:lnSpc>
              <a:spcBef>
                <a:spcPct val="50000"/>
              </a:spcBef>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当生物系统出现短期或局部的熵积累过多，这就是生物的</a:t>
            </a:r>
            <a:r>
              <a:rPr lang="zh-CN" altLang="en-US" sz="2400" b="1">
                <a:solidFill>
                  <a:srgbClr val="FF6600"/>
                </a:solidFill>
                <a:latin typeface="Times New Roman" pitchFamily="18" charset="0"/>
                <a:cs typeface="Times New Roman" pitchFamily="18" charset="0"/>
              </a:rPr>
              <a:t>病态</a:t>
            </a:r>
            <a:r>
              <a:rPr lang="zh-CN" altLang="en-US" sz="2400" b="1">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52"/>
                                        </p:tgtEl>
                                        <p:attrNameLst>
                                          <p:attrName>style.visibility</p:attrName>
                                        </p:attrNameLst>
                                      </p:cBhvr>
                                      <p:to>
                                        <p:strVal val="visible"/>
                                      </p:to>
                                    </p:set>
                                    <p:animEffect transition="in" filter="wipe(left)">
                                      <p:cBhvr>
                                        <p:cTn id="22" dur="500"/>
                                        <p:tgtEl>
                                          <p:spTgt spid="1382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5"/>
                                        </p:tgtEl>
                                        <p:attrNameLst>
                                          <p:attrName>style.visibility</p:attrName>
                                        </p:attrNameLst>
                                      </p:cBhvr>
                                      <p:to>
                                        <p:strVal val="visible"/>
                                      </p:to>
                                    </p:set>
                                    <p:animEffect transition="in" filter="wipe(left)">
                                      <p:cBhvr>
                                        <p:cTn id="27" dur="500"/>
                                        <p:tgtEl>
                                          <p:spTgt spid="138245"/>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autoUpdateAnimBg="0"/>
      <p:bldP spid="138252"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57200" y="1828800"/>
            <a:ext cx="8305800" cy="2951163"/>
            <a:chOff x="288" y="1152"/>
            <a:chExt cx="5232" cy="1859"/>
          </a:xfrm>
        </p:grpSpPr>
        <p:sp>
          <p:nvSpPr>
            <p:cNvPr id="106500" name="Text Box 3"/>
            <p:cNvSpPr txBox="1">
              <a:spLocks noChangeArrowheads="1"/>
            </p:cNvSpPr>
            <p:nvPr/>
          </p:nvSpPr>
          <p:spPr bwMode="auto">
            <a:xfrm>
              <a:off x="288" y="1152"/>
              <a:ext cx="5232" cy="631"/>
            </a:xfrm>
            <a:prstGeom prst="rect">
              <a:avLst/>
            </a:prstGeom>
            <a:noFill/>
            <a:ln w="9525">
              <a:noFill/>
              <a:miter lim="800000"/>
              <a:headEnd/>
              <a:tailEnd/>
            </a:ln>
          </p:spPr>
          <p:txBody>
            <a:bodyPr anchorCtr="1">
              <a:spAutoFit/>
            </a:bodyPr>
            <a:lstStyle/>
            <a:p>
              <a:pPr>
                <a:lnSpc>
                  <a:spcPct val="130000"/>
                </a:lnSpc>
                <a:spcBef>
                  <a:spcPct val="50000"/>
                </a:spcBef>
                <a:defRPr/>
              </a:pPr>
              <a:r>
                <a:rPr lang="en-US" altLang="zh-CN" sz="2400" b="1">
                  <a:latin typeface="Times New Roman" pitchFamily="18" charset="0"/>
                  <a:ea typeface="+mn-ea"/>
                  <a:cs typeface="Times New Roman" pitchFamily="18" charset="0"/>
                </a:rPr>
                <a:t>       </a:t>
              </a:r>
              <a:r>
                <a:rPr lang="zh-CN" altLang="en-US" sz="2400" b="1">
                  <a:latin typeface="Times New Roman" pitchFamily="18" charset="0"/>
                  <a:ea typeface="+mn-ea"/>
                  <a:cs typeface="Times New Roman" pitchFamily="18" charset="0"/>
                </a:rPr>
                <a:t>当代理论物理学</a:t>
              </a:r>
              <a:r>
                <a:rPr lang="zh-CN" altLang="en-US" sz="2400" b="1">
                  <a:solidFill>
                    <a:srgbClr val="FF6600"/>
                  </a:solidFill>
                  <a:latin typeface="Times New Roman" pitchFamily="18" charset="0"/>
                  <a:ea typeface="+mn-ea"/>
                  <a:cs typeface="Times New Roman" pitchFamily="18" charset="0"/>
                </a:rPr>
                <a:t>家史蒂芬</a:t>
              </a:r>
              <a:r>
                <a:rPr lang="en-US" altLang="zh-CN" sz="2400" b="1">
                  <a:solidFill>
                    <a:srgbClr val="FF6600"/>
                  </a:solidFill>
                  <a:latin typeface="Times New Roman" pitchFamily="18" charset="0"/>
                  <a:ea typeface="+mn-ea"/>
                  <a:cs typeface="Times New Roman" pitchFamily="18" charset="0"/>
                </a:rPr>
                <a:t>.</a:t>
              </a:r>
              <a:r>
                <a:rPr lang="zh-CN" altLang="en-US" sz="2400" b="1">
                  <a:solidFill>
                    <a:srgbClr val="FF6600"/>
                  </a:solidFill>
                  <a:latin typeface="Times New Roman" pitchFamily="18" charset="0"/>
                  <a:ea typeface="+mn-ea"/>
                  <a:cs typeface="Times New Roman" pitchFamily="18" charset="0"/>
                </a:rPr>
                <a:t>霍金</a:t>
              </a:r>
              <a:r>
                <a:rPr lang="zh-CN" altLang="en-US" sz="2400" b="1">
                  <a:latin typeface="Times New Roman" pitchFamily="18" charset="0"/>
                  <a:ea typeface="+mn-ea"/>
                  <a:cs typeface="Times New Roman" pitchFamily="18" charset="0"/>
                </a:rPr>
                <a:t>（</a:t>
              </a:r>
              <a:r>
                <a:rPr lang="en-US" altLang="zh-CN" sz="2400" b="1">
                  <a:latin typeface="Times New Roman" pitchFamily="18" charset="0"/>
                  <a:ea typeface="+mn-ea"/>
                  <a:cs typeface="Times New Roman" pitchFamily="18" charset="0"/>
                </a:rPr>
                <a:t>Stephen  W . Hawking</a:t>
              </a:r>
              <a:r>
                <a:rPr lang="zh-CN" altLang="en-US" sz="2400" b="1">
                  <a:latin typeface="Times New Roman" pitchFamily="18" charset="0"/>
                  <a:ea typeface="+mn-ea"/>
                  <a:cs typeface="Times New Roman" pitchFamily="18" charset="0"/>
                </a:rPr>
                <a:t>）指出：</a:t>
              </a:r>
            </a:p>
          </p:txBody>
        </p:sp>
        <p:sp>
          <p:nvSpPr>
            <p:cNvPr id="106501" name="Text Box 4"/>
            <p:cNvSpPr txBox="1">
              <a:spLocks noChangeArrowheads="1"/>
            </p:cNvSpPr>
            <p:nvPr/>
          </p:nvSpPr>
          <p:spPr bwMode="auto">
            <a:xfrm>
              <a:off x="336" y="1776"/>
              <a:ext cx="5136" cy="1235"/>
            </a:xfrm>
            <a:prstGeom prst="rect">
              <a:avLst/>
            </a:prstGeom>
            <a:noFill/>
            <a:ln w="9525">
              <a:noFill/>
              <a:miter lim="800000"/>
              <a:headEnd/>
              <a:tailEnd/>
            </a:ln>
          </p:spPr>
          <p:txBody>
            <a:bodyPr anchorCtr="1">
              <a:spAutoFit/>
            </a:bodyPr>
            <a:lstStyle/>
            <a:p>
              <a:pPr>
                <a:lnSpc>
                  <a:spcPct val="130000"/>
                </a:lnSpc>
                <a:spcBef>
                  <a:spcPct val="50000"/>
                </a:spcBef>
                <a:defRPr/>
              </a:pPr>
              <a:r>
                <a:rPr lang="en-US" altLang="zh-CN" sz="2400" b="1">
                  <a:latin typeface="Times New Roman" pitchFamily="18" charset="0"/>
                  <a:ea typeface="+mn-ea"/>
                  <a:cs typeface="Times New Roman" pitchFamily="18" charset="0"/>
                </a:rPr>
                <a:t>           “</a:t>
              </a:r>
              <a:r>
                <a:rPr lang="zh-CN" altLang="en-US" sz="2400" b="1">
                  <a:latin typeface="Times New Roman" pitchFamily="18" charset="0"/>
                  <a:ea typeface="+mn-ea"/>
                  <a:cs typeface="Times New Roman" pitchFamily="18" charset="0"/>
                </a:rPr>
                <a:t>至少存在有三个时间箭头将过去和将来区分开来，即：</a:t>
              </a:r>
              <a:r>
                <a:rPr lang="zh-CN" altLang="en-US" sz="2400" b="1">
                  <a:solidFill>
                    <a:srgbClr val="FF6600"/>
                  </a:solidFill>
                  <a:latin typeface="Times New Roman" pitchFamily="18" charset="0"/>
                  <a:ea typeface="+mn-ea"/>
                  <a:cs typeface="Times New Roman" pitchFamily="18" charset="0"/>
                </a:rPr>
                <a:t>热力学箭头</a:t>
              </a:r>
              <a:r>
                <a:rPr lang="zh-CN" altLang="en-US" sz="2400" b="1">
                  <a:latin typeface="Times New Roman" pitchFamily="18" charset="0"/>
                  <a:ea typeface="+mn-ea"/>
                  <a:cs typeface="Times New Roman" pitchFamily="18" charset="0"/>
                </a:rPr>
                <a:t>，这是无序度增加的时间方向；</a:t>
              </a:r>
              <a:r>
                <a:rPr lang="zh-CN" altLang="en-US" sz="2400" b="1">
                  <a:solidFill>
                    <a:srgbClr val="FF6600"/>
                  </a:solidFill>
                  <a:latin typeface="Times New Roman" pitchFamily="18" charset="0"/>
                  <a:ea typeface="+mn-ea"/>
                  <a:cs typeface="Times New Roman" pitchFamily="18" charset="0"/>
                </a:rPr>
                <a:t>心理学箭头</a:t>
              </a:r>
              <a:r>
                <a:rPr lang="zh-CN" altLang="en-US" sz="2400" b="1">
                  <a:latin typeface="Times New Roman" pitchFamily="18" charset="0"/>
                  <a:ea typeface="+mn-ea"/>
                  <a:cs typeface="Times New Roman" pitchFamily="18" charset="0"/>
                </a:rPr>
                <a:t>，在这个时间方向上，我们能记住过去而不是未来；还有</a:t>
              </a:r>
              <a:r>
                <a:rPr lang="zh-CN" altLang="en-US" sz="2400" b="1">
                  <a:solidFill>
                    <a:srgbClr val="FF6600"/>
                  </a:solidFill>
                  <a:latin typeface="Times New Roman" pitchFamily="18" charset="0"/>
                  <a:ea typeface="+mn-ea"/>
                  <a:cs typeface="Times New Roman" pitchFamily="18" charset="0"/>
                </a:rPr>
                <a:t>宇宙学箭头</a:t>
              </a:r>
              <a:r>
                <a:rPr lang="zh-CN" altLang="en-US" sz="2400" b="1">
                  <a:latin typeface="Times New Roman" pitchFamily="18" charset="0"/>
                  <a:ea typeface="+mn-ea"/>
                  <a:cs typeface="Times New Roman" pitchFamily="18" charset="0"/>
                </a:rPr>
                <a:t>，在这个方向上宇宙在膨胀，而不是在收缩。”</a:t>
              </a:r>
            </a:p>
          </p:txBody>
        </p:sp>
      </p:grpSp>
      <p:sp>
        <p:nvSpPr>
          <p:cNvPr id="139269" name="Text Box 5"/>
          <p:cNvSpPr txBox="1">
            <a:spLocks noChangeArrowheads="1"/>
          </p:cNvSpPr>
          <p:nvPr/>
        </p:nvSpPr>
        <p:spPr bwMode="auto">
          <a:xfrm>
            <a:off x="533400" y="914400"/>
            <a:ext cx="3657600" cy="461963"/>
          </a:xfrm>
          <a:prstGeom prst="rect">
            <a:avLst/>
          </a:prstGeom>
          <a:noFill/>
          <a:ln w="9525">
            <a:noFill/>
            <a:miter lim="800000"/>
            <a:headEnd/>
            <a:tailEnd/>
          </a:ln>
        </p:spPr>
        <p:txBody>
          <a:bodyPr>
            <a:spAutoFit/>
          </a:bodyPr>
          <a:lstStyle/>
          <a:p>
            <a:pPr>
              <a:spcBef>
                <a:spcPct val="50000"/>
              </a:spcBef>
              <a:defRPr/>
            </a:pPr>
            <a:r>
              <a:rPr lang="en-US" altLang="zh-CN" sz="2400" b="1" dirty="0">
                <a:solidFill>
                  <a:srgbClr val="0000FF"/>
                </a:solidFill>
                <a:latin typeface="Times New Roman" pitchFamily="18" charset="0"/>
                <a:ea typeface="+mn-ea"/>
                <a:cs typeface="Times New Roman" pitchFamily="18" charset="0"/>
              </a:rPr>
              <a:t>4</a:t>
            </a:r>
            <a:r>
              <a:rPr lang="zh-CN" altLang="en-US" sz="2400" b="1" dirty="0">
                <a:solidFill>
                  <a:srgbClr val="0000FF"/>
                </a:solidFill>
                <a:latin typeface="Times New Roman" pitchFamily="18" charset="0"/>
                <a:ea typeface="+mn-ea"/>
                <a:cs typeface="Times New Roman" pitchFamily="18" charset="0"/>
              </a:rPr>
              <a:t>、熵与时间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wipe(left)">
                                      <p:cBhvr>
                                        <p:cTn id="7" dur="500"/>
                                        <p:tgtEl>
                                          <p:spTgt spid="1392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0" y="4171950"/>
            <a:ext cx="7467600" cy="1784350"/>
            <a:chOff x="480" y="2628"/>
            <a:chExt cx="4704" cy="1124"/>
          </a:xfrm>
        </p:grpSpPr>
        <p:sp>
          <p:nvSpPr>
            <p:cNvPr id="87048" name="Text Box 3"/>
            <p:cNvSpPr txBox="1">
              <a:spLocks noChangeArrowheads="1"/>
            </p:cNvSpPr>
            <p:nvPr/>
          </p:nvSpPr>
          <p:spPr bwMode="auto">
            <a:xfrm>
              <a:off x="480" y="2777"/>
              <a:ext cx="4704" cy="679"/>
            </a:xfrm>
            <a:prstGeom prst="rect">
              <a:avLst/>
            </a:prstGeom>
            <a:noFill/>
            <a:ln w="9525">
              <a:noFill/>
              <a:miter lim="800000"/>
              <a:headEnd/>
              <a:tailEnd/>
            </a:ln>
          </p:spPr>
          <p:txBody>
            <a:bodyPr anchorCtr="1">
              <a:spAutoFit/>
            </a:bodyPr>
            <a:lstStyle/>
            <a:p>
              <a:pPr>
                <a:spcBef>
                  <a:spcPct val="50000"/>
                </a:spcBef>
              </a:pPr>
              <a:r>
                <a:rPr lang="zh-CN" altLang="en-US" sz="2400" b="1">
                  <a:latin typeface="Times New Roman" pitchFamily="18" charset="0"/>
                  <a:cs typeface="Times New Roman" pitchFamily="18" charset="0"/>
                </a:rPr>
                <a:t>香农定义的</a:t>
              </a:r>
              <a:r>
                <a:rPr lang="zh-CN" altLang="en-US" sz="2400" b="1">
                  <a:solidFill>
                    <a:srgbClr val="FF6600"/>
                  </a:solidFill>
                  <a:latin typeface="Times New Roman" pitchFamily="18" charset="0"/>
                  <a:cs typeface="Times New Roman" pitchFamily="18" charset="0"/>
                </a:rPr>
                <a:t>信息熵</a:t>
              </a:r>
              <a:r>
                <a:rPr lang="zh-CN" altLang="en-US" sz="2400" b="1">
                  <a:latin typeface="Times New Roman" pitchFamily="18" charset="0"/>
                  <a:cs typeface="Times New Roman" pitchFamily="18" charset="0"/>
                </a:rPr>
                <a:t>：</a:t>
              </a:r>
            </a:p>
            <a:p>
              <a:pPr>
                <a:lnSpc>
                  <a:spcPct val="120000"/>
                </a:lnSpc>
                <a:spcBef>
                  <a:spcPct val="50000"/>
                </a:spcBef>
              </a:pPr>
              <a:r>
                <a:rPr lang="zh-CN" altLang="en-US" sz="2400" b="1">
                  <a:latin typeface="Times New Roman" pitchFamily="18" charset="0"/>
                  <a:cs typeface="Times New Roman" pitchFamily="18" charset="0"/>
                </a:rPr>
                <a:t>           式中</a:t>
              </a:r>
              <a:r>
                <a:rPr lang="en-US" altLang="zh-CN" sz="2400" b="1" i="1">
                  <a:latin typeface="Times New Roman" pitchFamily="18" charset="0"/>
                  <a:cs typeface="Times New Roman" pitchFamily="18" charset="0"/>
                </a:rPr>
                <a:t>P</a:t>
              </a:r>
              <a:r>
                <a:rPr lang="en-US" altLang="zh-CN" sz="2400" b="1" i="1" baseline="-25000">
                  <a:latin typeface="Times New Roman" pitchFamily="18" charset="0"/>
                  <a:cs typeface="Times New Roman" pitchFamily="18" charset="0"/>
                </a:rPr>
                <a:t>i  </a:t>
              </a:r>
              <a:r>
                <a:rPr lang="zh-CN" altLang="en-US" sz="2400" b="1">
                  <a:latin typeface="Times New Roman" pitchFamily="18" charset="0"/>
                  <a:cs typeface="Times New Roman" pitchFamily="18" charset="0"/>
                </a:rPr>
                <a:t>表示某事件出现某种可能结果的概率，</a:t>
              </a:r>
              <a:r>
                <a:rPr lang="zh-CN" altLang="en-US" sz="2400" b="1" i="1">
                  <a:latin typeface="Times New Roman" pitchFamily="18" charset="0"/>
                  <a:cs typeface="Times New Roman" pitchFamily="18" charset="0"/>
                </a:rPr>
                <a:t>  </a:t>
              </a:r>
              <a:endParaRPr lang="zh-CN" altLang="en-US" sz="2400" b="1" i="1" baseline="-25000">
                <a:latin typeface="Times New Roman" pitchFamily="18" charset="0"/>
                <a:cs typeface="Times New Roman" pitchFamily="18" charset="0"/>
              </a:endParaRPr>
            </a:p>
          </p:txBody>
        </p:sp>
        <p:graphicFrame>
          <p:nvGraphicFramePr>
            <p:cNvPr id="87042" name="Object 4"/>
            <p:cNvGraphicFramePr>
              <a:graphicFrameLocks noChangeAspect="1"/>
            </p:cNvGraphicFramePr>
            <p:nvPr/>
          </p:nvGraphicFramePr>
          <p:xfrm>
            <a:off x="2496" y="2628"/>
            <a:ext cx="1488" cy="588"/>
          </p:xfrm>
          <a:graphic>
            <a:graphicData uri="http://schemas.openxmlformats.org/presentationml/2006/ole">
              <p:oleObj spid="_x0000_s87042" name="Equation" r:id="rId3" imgW="1091880" imgH="431640" progId="Equation.3">
                <p:embed/>
              </p:oleObj>
            </a:graphicData>
          </a:graphic>
        </p:graphicFrame>
        <p:graphicFrame>
          <p:nvGraphicFramePr>
            <p:cNvPr id="87043" name="Object 5"/>
            <p:cNvGraphicFramePr>
              <a:graphicFrameLocks noChangeAspect="1"/>
            </p:cNvGraphicFramePr>
            <p:nvPr/>
          </p:nvGraphicFramePr>
          <p:xfrm>
            <a:off x="720" y="3456"/>
            <a:ext cx="1152" cy="296"/>
          </p:xfrm>
          <a:graphic>
            <a:graphicData uri="http://schemas.openxmlformats.org/presentationml/2006/ole">
              <p:oleObj spid="_x0000_s87043" name="Equation" r:id="rId4" imgW="838080" imgH="215640" progId="Equation.3">
                <p:embed/>
              </p:oleObj>
            </a:graphicData>
          </a:graphic>
        </p:graphicFrame>
      </p:grpSp>
      <p:sp>
        <p:nvSpPr>
          <p:cNvPr id="140294" name="Text Box 6"/>
          <p:cNvSpPr txBox="1">
            <a:spLocks noChangeArrowheads="1"/>
          </p:cNvSpPr>
          <p:nvPr/>
        </p:nvSpPr>
        <p:spPr bwMode="auto">
          <a:xfrm>
            <a:off x="609600" y="762000"/>
            <a:ext cx="4648200" cy="461963"/>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latin typeface="Times New Roman" pitchFamily="18" charset="0"/>
                <a:cs typeface="Times New Roman" pitchFamily="18" charset="0"/>
              </a:rPr>
              <a:t>5</a:t>
            </a:r>
            <a:r>
              <a:rPr lang="zh-CN" altLang="en-US" sz="2400" b="1">
                <a:solidFill>
                  <a:srgbClr val="0000FF"/>
                </a:solidFill>
                <a:latin typeface="Times New Roman" pitchFamily="18" charset="0"/>
                <a:cs typeface="Times New Roman" pitchFamily="18" charset="0"/>
              </a:rPr>
              <a:t>、熵与信息</a:t>
            </a:r>
          </a:p>
        </p:txBody>
      </p:sp>
      <p:sp>
        <p:nvSpPr>
          <p:cNvPr id="140295" name="Text Box 7"/>
          <p:cNvSpPr txBox="1">
            <a:spLocks noChangeArrowheads="1"/>
          </p:cNvSpPr>
          <p:nvPr/>
        </p:nvSpPr>
        <p:spPr bwMode="auto">
          <a:xfrm>
            <a:off x="914400" y="1447800"/>
            <a:ext cx="7620000" cy="884238"/>
          </a:xfrm>
          <a:prstGeom prst="rect">
            <a:avLst/>
          </a:prstGeom>
          <a:noFill/>
          <a:ln w="9525">
            <a:noFill/>
            <a:miter lim="800000"/>
            <a:headEnd/>
            <a:tailEnd/>
          </a:ln>
        </p:spPr>
        <p:txBody>
          <a:bodyPr>
            <a:spAutoFit/>
          </a:bodyPr>
          <a:lstStyle/>
          <a:p>
            <a:pPr>
              <a:spcBef>
                <a:spcPct val="50000"/>
              </a:spcBef>
            </a:pPr>
            <a:r>
              <a:rPr lang="en-US" altLang="zh-CN" sz="2800" b="1">
                <a:solidFill>
                  <a:srgbClr val="FF6600"/>
                </a:solidFill>
                <a:latin typeface="Times New Roman" pitchFamily="18" charset="0"/>
                <a:cs typeface="Times New Roman" pitchFamily="18" charset="0"/>
              </a:rPr>
              <a:t>       </a:t>
            </a:r>
            <a:r>
              <a:rPr lang="zh-CN" altLang="en-US" sz="2800" b="1">
                <a:solidFill>
                  <a:srgbClr val="FF6600"/>
                </a:solidFill>
                <a:latin typeface="Times New Roman" pitchFamily="18" charset="0"/>
                <a:cs typeface="Times New Roman" pitchFamily="18" charset="0"/>
              </a:rPr>
              <a:t>信息</a:t>
            </a:r>
            <a:r>
              <a:rPr lang="zh-CN" altLang="en-US" sz="2400" b="1">
                <a:latin typeface="Times New Roman" pitchFamily="18" charset="0"/>
                <a:cs typeface="Times New Roman" pitchFamily="18" charset="0"/>
              </a:rPr>
              <a:t> 就是对事物状态、存在方式和相互联系进行表达的一组文字、符号、语言、图像等。</a:t>
            </a:r>
          </a:p>
        </p:txBody>
      </p:sp>
      <p:sp>
        <p:nvSpPr>
          <p:cNvPr id="140296" name="Text Box 8"/>
          <p:cNvSpPr txBox="1">
            <a:spLocks noChangeArrowheads="1"/>
          </p:cNvSpPr>
          <p:nvPr/>
        </p:nvSpPr>
        <p:spPr bwMode="auto">
          <a:xfrm>
            <a:off x="838200" y="2438400"/>
            <a:ext cx="7924800" cy="1463675"/>
          </a:xfrm>
          <a:prstGeom prst="rect">
            <a:avLst/>
          </a:prstGeom>
          <a:noFill/>
          <a:ln w="9525">
            <a:noFill/>
            <a:miter lim="800000"/>
            <a:headEnd/>
            <a:tailEnd/>
          </a:ln>
        </p:spPr>
        <p:txBody>
          <a:bodyPr>
            <a:spAutoFit/>
          </a:bodyPr>
          <a:lstStyle/>
          <a:p>
            <a:pPr>
              <a:lnSpc>
                <a:spcPct val="125000"/>
              </a:lnSpc>
              <a:spcBef>
                <a:spcPct val="50000"/>
              </a:spcBef>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信息对事物起着减少或清除不确定性的作用，系统的熵也可以说是对系统混乱程度或不确定度的量度，因此，</a:t>
            </a:r>
            <a:r>
              <a:rPr lang="zh-CN" altLang="en-US" sz="2400" b="1">
                <a:solidFill>
                  <a:srgbClr val="FF6600"/>
                </a:solidFill>
                <a:latin typeface="Times New Roman" pitchFamily="18" charset="0"/>
                <a:cs typeface="Times New Roman" pitchFamily="18" charset="0"/>
              </a:rPr>
              <a:t>熵增加等价于信息的减少，或称信息与负熵等效。</a:t>
            </a:r>
            <a:endParaRPr lang="zh-CN" altLang="en-US" sz="2400" b="1">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4"/>
                                        </p:tgtEl>
                                        <p:attrNameLst>
                                          <p:attrName>style.visibility</p:attrName>
                                        </p:attrNameLst>
                                      </p:cBhvr>
                                      <p:to>
                                        <p:strVal val="visible"/>
                                      </p:to>
                                    </p:set>
                                    <p:animEffect transition="in" filter="wipe(left)">
                                      <p:cBhvr>
                                        <p:cTn id="7" dur="500"/>
                                        <p:tgtEl>
                                          <p:spTgt spid="1402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5"/>
                                        </p:tgtEl>
                                        <p:attrNameLst>
                                          <p:attrName>style.visibility</p:attrName>
                                        </p:attrNameLst>
                                      </p:cBhvr>
                                      <p:to>
                                        <p:strVal val="visible"/>
                                      </p:to>
                                    </p:set>
                                    <p:animEffect transition="in" filter="wipe(left)">
                                      <p:cBhvr>
                                        <p:cTn id="12" dur="500"/>
                                        <p:tgtEl>
                                          <p:spTgt spid="1402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0296"/>
                                        </p:tgtEl>
                                        <p:attrNameLst>
                                          <p:attrName>style.visibility</p:attrName>
                                        </p:attrNameLst>
                                      </p:cBhvr>
                                      <p:to>
                                        <p:strVal val="visible"/>
                                      </p:to>
                                    </p:set>
                                    <p:animEffect transition="in" filter="wipe(left)">
                                      <p:cBhvr>
                                        <p:cTn id="17" dur="500"/>
                                        <p:tgtEl>
                                          <p:spTgt spid="1402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4" grpId="0" autoUpdateAnimBg="0"/>
      <p:bldP spid="140295" grpId="0" autoUpdateAnimBg="0"/>
      <p:bldP spid="140296" grpId="0"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a:spLocks noChangeArrowheads="1"/>
          </p:cNvSpPr>
          <p:nvPr/>
        </p:nvSpPr>
        <p:spPr bwMode="auto">
          <a:xfrm>
            <a:off x="762000" y="1066800"/>
            <a:ext cx="7696200" cy="2492375"/>
          </a:xfrm>
          <a:prstGeom prst="rect">
            <a:avLst/>
          </a:prstGeom>
          <a:noFill/>
          <a:ln w="9525">
            <a:noFill/>
            <a:miter lim="800000"/>
            <a:headEnd/>
            <a:tailEnd/>
          </a:ln>
        </p:spPr>
        <p:txBody>
          <a:bodyPr anchorCtr="1">
            <a:spAutoFit/>
          </a:bodyPr>
          <a:lstStyle/>
          <a:p>
            <a:pPr>
              <a:lnSpc>
                <a:spcPct val="130000"/>
              </a:lnSpc>
              <a:spcBef>
                <a:spcPct val="50000"/>
              </a:spcBef>
            </a:pPr>
            <a:r>
              <a:rPr lang="en-US" altLang="zh-CN" sz="2400" b="1">
                <a:latin typeface="Times New Roman" pitchFamily="18" charset="0"/>
                <a:cs typeface="Times New Roman" pitchFamily="18" charset="0"/>
              </a:rPr>
              <a:t>         </a:t>
            </a:r>
            <a:r>
              <a:rPr lang="zh-CN" altLang="en-US" sz="2400" b="1">
                <a:solidFill>
                  <a:srgbClr val="FF6600"/>
                </a:solidFill>
                <a:latin typeface="Times New Roman" pitchFamily="18" charset="0"/>
                <a:cs typeface="Times New Roman" pitchFamily="18" charset="0"/>
              </a:rPr>
              <a:t>经济系统</a:t>
            </a:r>
            <a:r>
              <a:rPr lang="zh-CN" altLang="en-US" sz="2400" b="1">
                <a:latin typeface="Times New Roman" pitchFamily="18" charset="0"/>
                <a:cs typeface="Times New Roman" pitchFamily="18" charset="0"/>
              </a:rPr>
              <a:t>中，</a:t>
            </a:r>
            <a:r>
              <a:rPr lang="zh-CN" altLang="en-US" sz="2400" b="1">
                <a:solidFill>
                  <a:srgbClr val="FF6600"/>
                </a:solidFill>
                <a:latin typeface="Times New Roman" pitchFamily="18" charset="0"/>
                <a:cs typeface="Times New Roman" pitchFamily="18" charset="0"/>
              </a:rPr>
              <a:t>物质流</a:t>
            </a:r>
            <a:r>
              <a:rPr lang="zh-CN" altLang="en-US" sz="2400" b="1">
                <a:latin typeface="Times New Roman" pitchFamily="18" charset="0"/>
                <a:cs typeface="Times New Roman" pitchFamily="18" charset="0"/>
              </a:rPr>
              <a:t>、</a:t>
            </a:r>
            <a:r>
              <a:rPr lang="zh-CN" altLang="en-US" sz="2400" b="1">
                <a:solidFill>
                  <a:srgbClr val="FF6600"/>
                </a:solidFill>
                <a:latin typeface="Times New Roman" pitchFamily="18" charset="0"/>
                <a:cs typeface="Times New Roman" pitchFamily="18" charset="0"/>
              </a:rPr>
              <a:t>能流</a:t>
            </a:r>
            <a:r>
              <a:rPr lang="zh-CN" altLang="en-US" sz="2400" b="1">
                <a:latin typeface="Times New Roman" pitchFamily="18" charset="0"/>
                <a:cs typeface="Times New Roman" pitchFamily="18" charset="0"/>
              </a:rPr>
              <a:t>和</a:t>
            </a:r>
            <a:r>
              <a:rPr lang="zh-CN" altLang="en-US" sz="2400" b="1">
                <a:solidFill>
                  <a:srgbClr val="FF6600"/>
                </a:solidFill>
                <a:latin typeface="Times New Roman" pitchFamily="18" charset="0"/>
                <a:cs typeface="Times New Roman" pitchFamily="18" charset="0"/>
              </a:rPr>
              <a:t>熵流</a:t>
            </a:r>
            <a:r>
              <a:rPr lang="zh-CN" altLang="en-US" sz="2400" b="1">
                <a:latin typeface="Times New Roman" pitchFamily="18" charset="0"/>
                <a:cs typeface="Times New Roman" pitchFamily="18" charset="0"/>
              </a:rPr>
              <a:t>并存。在与自然界进行物质交换中，输入物质资源，排出废物；在能量交换中，输入有效能，排出废热；在熵交换中，有资源熵的输入，经济熵的产生，其中一部分熵残留在产品中，另一部分则与废物、废热一起被排放到环境中去。</a:t>
            </a:r>
          </a:p>
        </p:txBody>
      </p:sp>
      <p:sp>
        <p:nvSpPr>
          <p:cNvPr id="141315" name="Text Box 3"/>
          <p:cNvSpPr txBox="1">
            <a:spLocks noChangeArrowheads="1"/>
          </p:cNvSpPr>
          <p:nvPr/>
        </p:nvSpPr>
        <p:spPr bwMode="auto">
          <a:xfrm>
            <a:off x="609600" y="609600"/>
            <a:ext cx="3886200" cy="461963"/>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latin typeface="Times New Roman" pitchFamily="18" charset="0"/>
                <a:cs typeface="Times New Roman" pitchFamily="18" charset="0"/>
              </a:rPr>
              <a:t>6</a:t>
            </a:r>
            <a:r>
              <a:rPr lang="zh-CN" altLang="en-US" sz="2400" b="1">
                <a:solidFill>
                  <a:srgbClr val="0000FF"/>
                </a:solidFill>
                <a:latin typeface="Times New Roman" pitchFamily="18" charset="0"/>
                <a:cs typeface="Times New Roman" pitchFamily="18" charset="0"/>
              </a:rPr>
              <a:t>、熵与社会科学</a:t>
            </a:r>
          </a:p>
        </p:txBody>
      </p:sp>
      <p:sp>
        <p:nvSpPr>
          <p:cNvPr id="141316" name="Text Box 4"/>
          <p:cNvSpPr txBox="1">
            <a:spLocks noChangeArrowheads="1"/>
          </p:cNvSpPr>
          <p:nvPr/>
        </p:nvSpPr>
        <p:spPr bwMode="auto">
          <a:xfrm>
            <a:off x="838200" y="3581400"/>
            <a:ext cx="7620000" cy="2012950"/>
          </a:xfrm>
          <a:prstGeom prst="rect">
            <a:avLst/>
          </a:prstGeom>
          <a:noFill/>
          <a:ln w="9525">
            <a:noFill/>
            <a:miter lim="800000"/>
            <a:headEnd/>
            <a:tailEnd/>
          </a:ln>
        </p:spPr>
        <p:txBody>
          <a:bodyPr>
            <a:spAutoFit/>
          </a:bodyPr>
          <a:lstStyle/>
          <a:p>
            <a:pPr>
              <a:lnSpc>
                <a:spcPct val="130000"/>
              </a:lnSpc>
              <a:spcBef>
                <a:spcPct val="50000"/>
              </a:spcBef>
            </a:pPr>
            <a:r>
              <a:rPr lang="en-US" altLang="zh-CN" sz="2400" b="1">
                <a:latin typeface="Times New Roman" pitchFamily="18" charset="0"/>
                <a:cs typeface="Times New Roman" pitchFamily="18" charset="0"/>
              </a:rPr>
              <a:t>         </a:t>
            </a:r>
            <a:r>
              <a:rPr lang="zh-CN" altLang="en-US" sz="2400" b="1">
                <a:latin typeface="Times New Roman" pitchFamily="18" charset="0"/>
                <a:cs typeface="Times New Roman" pitchFamily="18" charset="0"/>
              </a:rPr>
              <a:t>把熵引入</a:t>
            </a:r>
            <a:r>
              <a:rPr lang="zh-CN" altLang="en-US" sz="2400" b="1">
                <a:solidFill>
                  <a:srgbClr val="FF6600"/>
                </a:solidFill>
                <a:latin typeface="Times New Roman" pitchFamily="18" charset="0"/>
                <a:cs typeface="Times New Roman" pitchFamily="18" charset="0"/>
              </a:rPr>
              <a:t>管理系统</a:t>
            </a:r>
            <a:r>
              <a:rPr lang="zh-CN" altLang="en-US" sz="2400" b="1">
                <a:latin typeface="Times New Roman" pitchFamily="18" charset="0"/>
                <a:cs typeface="Times New Roman" pitchFamily="18" charset="0"/>
              </a:rPr>
              <a:t>中，可以使管理系统有序化，处在一种高能低熵的状态。系统化管理中，应尽量选择以低熵换取“有序”的途径和办法，避免中间过程和环节引起的熵增。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wipe(left)">
                                      <p:cBhvr>
                                        <p:cTn id="7" dur="500"/>
                                        <p:tgtEl>
                                          <p:spTgt spid="1413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4"/>
                                        </p:tgtEl>
                                        <p:attrNameLst>
                                          <p:attrName>style.visibility</p:attrName>
                                        </p:attrNameLst>
                                      </p:cBhvr>
                                      <p:to>
                                        <p:strVal val="visible"/>
                                      </p:to>
                                    </p:set>
                                    <p:animEffect transition="in" filter="wipe(left)">
                                      <p:cBhvr>
                                        <p:cTn id="12" dur="500"/>
                                        <p:tgtEl>
                                          <p:spTgt spid="1413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6"/>
                                        </p:tgtEl>
                                        <p:attrNameLst>
                                          <p:attrName>style.visibility</p:attrName>
                                        </p:attrNameLst>
                                      </p:cBhvr>
                                      <p:to>
                                        <p:strVal val="visible"/>
                                      </p:to>
                                    </p:set>
                                    <p:animEffect transition="in" filter="wipe(left)">
                                      <p:cBhvr>
                                        <p:cTn id="17" dur="500"/>
                                        <p:tgtEl>
                                          <p:spTgt spid="141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autoUpdateAnimBg="0"/>
      <p:bldP spid="141315" grpId="0" autoUpdateAnimBg="0"/>
      <p:bldP spid="141316" grpId="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2286000" y="642938"/>
            <a:ext cx="3889375" cy="519112"/>
          </a:xfrm>
          <a:prstGeom prst="rect">
            <a:avLst/>
          </a:prstGeom>
          <a:noFill/>
          <a:ln w="12700" cap="sq">
            <a:noFill/>
            <a:miter lim="800000"/>
            <a:headEnd type="none" w="sm" len="sm"/>
            <a:tailEnd type="none" w="sm" len="sm"/>
          </a:ln>
        </p:spPr>
        <p:txBody>
          <a:bodyPr>
            <a:spAutoFit/>
          </a:bodyPr>
          <a:lstStyle/>
          <a:p>
            <a:r>
              <a:rPr kumimoji="1" lang="zh-CN" altLang="en-US" sz="2800" b="1">
                <a:solidFill>
                  <a:srgbClr val="0000FF"/>
                </a:solidFill>
                <a:latin typeface="Times New Roman" pitchFamily="18" charset="0"/>
                <a:cs typeface="Times New Roman" pitchFamily="18" charset="0"/>
              </a:rPr>
              <a:t>经典热力学面临的挑战</a:t>
            </a:r>
          </a:p>
        </p:txBody>
      </p:sp>
      <p:sp>
        <p:nvSpPr>
          <p:cNvPr id="148483" name="Text Box 3"/>
          <p:cNvSpPr txBox="1">
            <a:spLocks noChangeArrowheads="1"/>
          </p:cNvSpPr>
          <p:nvPr/>
        </p:nvSpPr>
        <p:spPr bwMode="auto">
          <a:xfrm>
            <a:off x="500063" y="3357563"/>
            <a:ext cx="6742112" cy="523875"/>
          </a:xfrm>
          <a:prstGeom prst="rect">
            <a:avLst/>
          </a:prstGeom>
          <a:gradFill rotWithShape="1">
            <a:gsLst>
              <a:gs pos="0">
                <a:srgbClr val="FFFFD8"/>
              </a:gs>
              <a:gs pos="100000">
                <a:srgbClr val="FFFF99"/>
              </a:gs>
            </a:gsLst>
            <a:path path="shape">
              <a:fillToRect l="50000" t="50000" r="50000" b="50000"/>
            </a:path>
          </a:gradFill>
          <a:ln w="9525">
            <a:noFill/>
            <a:miter lim="800000"/>
            <a:headEnd/>
            <a:tailEnd/>
          </a:ln>
        </p:spPr>
        <p:txBody>
          <a:bodyPr>
            <a:spAutoFit/>
          </a:bodyPr>
          <a:lstStyle/>
          <a:p>
            <a:r>
              <a:rPr lang="zh-CN" altLang="en-US" sz="2800" b="1">
                <a:solidFill>
                  <a:srgbClr val="0000FF"/>
                </a:solidFill>
                <a:latin typeface="Times New Roman" pitchFamily="18" charset="0"/>
                <a:cs typeface="Times New Roman" pitchFamily="18" charset="0"/>
              </a:rPr>
              <a:t>问题</a:t>
            </a:r>
            <a:r>
              <a:rPr lang="en-US" altLang="zh-CN" sz="2800" b="1">
                <a:solidFill>
                  <a:srgbClr val="0000FF"/>
                </a:solidFill>
                <a:latin typeface="Times New Roman" pitchFamily="18" charset="0"/>
                <a:cs typeface="Times New Roman" pitchFamily="18" charset="0"/>
              </a:rPr>
              <a:t>:   </a:t>
            </a:r>
            <a:r>
              <a:rPr lang="zh-CN" altLang="en-US" sz="2400" b="1">
                <a:latin typeface="Times New Roman" pitchFamily="18" charset="0"/>
                <a:cs typeface="Times New Roman" pitchFamily="18" charset="0"/>
              </a:rPr>
              <a:t>自然界发展方向是更无序还是更有序？？</a:t>
            </a:r>
            <a:endParaRPr lang="zh-CN" altLang="en-US" sz="2400" b="1">
              <a:solidFill>
                <a:srgbClr val="FF0000"/>
              </a:solidFill>
              <a:latin typeface="Times New Roman" pitchFamily="18" charset="0"/>
              <a:cs typeface="Times New Roman" pitchFamily="18" charset="0"/>
            </a:endParaRPr>
          </a:p>
        </p:txBody>
      </p:sp>
      <p:sp>
        <p:nvSpPr>
          <p:cNvPr id="148484" name="AutoShape 4"/>
          <p:cNvSpPr>
            <a:spLocks/>
          </p:cNvSpPr>
          <p:nvPr/>
        </p:nvSpPr>
        <p:spPr bwMode="auto">
          <a:xfrm>
            <a:off x="1403350" y="1773238"/>
            <a:ext cx="144463" cy="1008062"/>
          </a:xfrm>
          <a:prstGeom prst="leftBrace">
            <a:avLst>
              <a:gd name="adj1" fmla="val 58150"/>
              <a:gd name="adj2" fmla="val 50000"/>
            </a:avLst>
          </a:prstGeom>
          <a:noFill/>
          <a:ln w="9525">
            <a:solidFill>
              <a:schemeClr val="tx1"/>
            </a:solidFill>
            <a:round/>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85" name="Text Box 5"/>
          <p:cNvSpPr txBox="1">
            <a:spLocks noChangeArrowheads="1"/>
          </p:cNvSpPr>
          <p:nvPr/>
        </p:nvSpPr>
        <p:spPr bwMode="auto">
          <a:xfrm>
            <a:off x="1763713" y="1628775"/>
            <a:ext cx="13684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热寂说</a:t>
            </a:r>
          </a:p>
        </p:txBody>
      </p:sp>
      <p:sp>
        <p:nvSpPr>
          <p:cNvPr id="148486" name="Text Box 6"/>
          <p:cNvSpPr txBox="1">
            <a:spLocks noChangeArrowheads="1"/>
          </p:cNvSpPr>
          <p:nvPr/>
        </p:nvSpPr>
        <p:spPr bwMode="auto">
          <a:xfrm>
            <a:off x="1619250" y="2420938"/>
            <a:ext cx="1657350"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自然选择</a:t>
            </a:r>
          </a:p>
        </p:txBody>
      </p:sp>
      <p:sp>
        <p:nvSpPr>
          <p:cNvPr id="148487" name="AutoShape 7"/>
          <p:cNvSpPr>
            <a:spLocks noChangeArrowheads="1"/>
          </p:cNvSpPr>
          <p:nvPr/>
        </p:nvSpPr>
        <p:spPr bwMode="auto">
          <a:xfrm>
            <a:off x="3203575" y="1844675"/>
            <a:ext cx="1008063" cy="73025"/>
          </a:xfrm>
          <a:prstGeom prst="rightArrow">
            <a:avLst>
              <a:gd name="adj1" fmla="val 50000"/>
              <a:gd name="adj2" fmla="val 345109"/>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88" name="AutoShape 8"/>
          <p:cNvSpPr>
            <a:spLocks noChangeArrowheads="1"/>
          </p:cNvSpPr>
          <p:nvPr/>
        </p:nvSpPr>
        <p:spPr bwMode="auto">
          <a:xfrm>
            <a:off x="3275013" y="2636838"/>
            <a:ext cx="1008062" cy="71437"/>
          </a:xfrm>
          <a:prstGeom prst="rightArrow">
            <a:avLst>
              <a:gd name="adj1" fmla="val 50000"/>
              <a:gd name="adj2" fmla="val 352780"/>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89" name="Text Box 9"/>
          <p:cNvSpPr txBox="1">
            <a:spLocks noChangeArrowheads="1"/>
          </p:cNvSpPr>
          <p:nvPr/>
        </p:nvSpPr>
        <p:spPr bwMode="auto">
          <a:xfrm>
            <a:off x="4354513" y="2420938"/>
            <a:ext cx="2449512"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自然界将更有序</a:t>
            </a:r>
          </a:p>
        </p:txBody>
      </p:sp>
      <p:sp>
        <p:nvSpPr>
          <p:cNvPr id="148490" name="Text Box 10"/>
          <p:cNvSpPr txBox="1">
            <a:spLocks noChangeArrowheads="1"/>
          </p:cNvSpPr>
          <p:nvPr/>
        </p:nvSpPr>
        <p:spPr bwMode="auto">
          <a:xfrm>
            <a:off x="4357688" y="1643063"/>
            <a:ext cx="28797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自然界将高度混乱</a:t>
            </a:r>
          </a:p>
        </p:txBody>
      </p:sp>
      <p:sp>
        <p:nvSpPr>
          <p:cNvPr id="148491" name="Text Box 11"/>
          <p:cNvSpPr txBox="1">
            <a:spLocks noChangeArrowheads="1"/>
          </p:cNvSpPr>
          <p:nvPr/>
        </p:nvSpPr>
        <p:spPr bwMode="auto">
          <a:xfrm>
            <a:off x="1042988" y="4797425"/>
            <a:ext cx="2016125" cy="457200"/>
          </a:xfrm>
          <a:prstGeom prst="rect">
            <a:avLst/>
          </a:prstGeom>
          <a:gradFill rotWithShape="1">
            <a:gsLst>
              <a:gs pos="0">
                <a:srgbClr val="FFFFD8"/>
              </a:gs>
              <a:gs pos="100000">
                <a:srgbClr val="FFFF99"/>
              </a:gs>
            </a:gsLst>
            <a:path path="shape">
              <a:fillToRect l="50000" t="50000" r="50000" b="50000"/>
            </a:path>
          </a:gradFill>
          <a:ln w="9525">
            <a:noFill/>
            <a:miter lim="800000"/>
            <a:headEnd/>
            <a:tailEnd/>
          </a:ln>
        </p:spPr>
        <p:txBody>
          <a:bodyPr>
            <a:spAutoFit/>
          </a:bodyPr>
          <a:lstStyle/>
          <a:p>
            <a:r>
              <a:rPr lang="zh-CN" altLang="en-US" sz="2400" b="1">
                <a:latin typeface="Times New Roman" pitchFamily="18" charset="0"/>
                <a:cs typeface="Times New Roman" pitchFamily="18" charset="0"/>
              </a:rPr>
              <a:t>经典热力学</a:t>
            </a:r>
            <a:endParaRPr lang="zh-CN" altLang="en-US" sz="2400" b="1">
              <a:solidFill>
                <a:srgbClr val="FF0000"/>
              </a:solidFill>
              <a:latin typeface="Times New Roman" pitchFamily="18" charset="0"/>
              <a:cs typeface="Times New Roman" pitchFamily="18" charset="0"/>
            </a:endParaRPr>
          </a:p>
        </p:txBody>
      </p:sp>
      <p:sp>
        <p:nvSpPr>
          <p:cNvPr id="148492" name="AutoShape 12"/>
          <p:cNvSpPr>
            <a:spLocks noChangeArrowheads="1"/>
          </p:cNvSpPr>
          <p:nvPr/>
        </p:nvSpPr>
        <p:spPr bwMode="auto">
          <a:xfrm>
            <a:off x="7215188" y="3500438"/>
            <a:ext cx="863600" cy="215900"/>
          </a:xfrm>
          <a:prstGeom prst="rightArrow">
            <a:avLst>
              <a:gd name="adj1" fmla="val 50000"/>
              <a:gd name="adj2" fmla="val 100000"/>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93" name="AutoShape 13"/>
          <p:cNvSpPr>
            <a:spLocks noChangeArrowheads="1"/>
          </p:cNvSpPr>
          <p:nvPr/>
        </p:nvSpPr>
        <p:spPr bwMode="auto">
          <a:xfrm>
            <a:off x="2786063" y="4929188"/>
            <a:ext cx="863600" cy="215900"/>
          </a:xfrm>
          <a:prstGeom prst="rightArrow">
            <a:avLst>
              <a:gd name="adj1" fmla="val 50000"/>
              <a:gd name="adj2" fmla="val 100000"/>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94" name="AutoShape 14"/>
          <p:cNvSpPr>
            <a:spLocks/>
          </p:cNvSpPr>
          <p:nvPr/>
        </p:nvSpPr>
        <p:spPr bwMode="auto">
          <a:xfrm>
            <a:off x="3708400" y="4365625"/>
            <a:ext cx="142875" cy="1584325"/>
          </a:xfrm>
          <a:prstGeom prst="leftBrace">
            <a:avLst>
              <a:gd name="adj1" fmla="val 92407"/>
              <a:gd name="adj2" fmla="val 50000"/>
            </a:avLst>
          </a:prstGeom>
          <a:noFill/>
          <a:ln w="9525">
            <a:solidFill>
              <a:schemeClr val="tx1"/>
            </a:solidFill>
            <a:round/>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8495" name="Text Box 15"/>
          <p:cNvSpPr txBox="1">
            <a:spLocks noChangeArrowheads="1"/>
          </p:cNvSpPr>
          <p:nvPr/>
        </p:nvSpPr>
        <p:spPr bwMode="auto">
          <a:xfrm>
            <a:off x="5508625" y="4941888"/>
            <a:ext cx="2663825" cy="461962"/>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非平衡的孤立系统</a:t>
            </a:r>
          </a:p>
        </p:txBody>
      </p:sp>
      <p:graphicFrame>
        <p:nvGraphicFramePr>
          <p:cNvPr id="148496" name="Object 16"/>
          <p:cNvGraphicFramePr>
            <a:graphicFrameLocks noChangeAspect="1"/>
          </p:cNvGraphicFramePr>
          <p:nvPr/>
        </p:nvGraphicFramePr>
        <p:xfrm>
          <a:off x="4067175" y="4292600"/>
          <a:ext cx="965200" cy="398463"/>
        </p:xfrm>
        <a:graphic>
          <a:graphicData uri="http://schemas.openxmlformats.org/presentationml/2006/ole">
            <p:oleObj spid="_x0000_s88066" name="公式" r:id="rId3" imgW="431640" imgH="177480" progId="Equation.3">
              <p:embed/>
            </p:oleObj>
          </a:graphicData>
        </a:graphic>
      </p:graphicFrame>
      <p:graphicFrame>
        <p:nvGraphicFramePr>
          <p:cNvPr id="148497" name="Object 17"/>
          <p:cNvGraphicFramePr>
            <a:graphicFrameLocks noChangeAspect="1"/>
          </p:cNvGraphicFramePr>
          <p:nvPr/>
        </p:nvGraphicFramePr>
        <p:xfrm>
          <a:off x="4067175" y="4941888"/>
          <a:ext cx="965200" cy="398462"/>
        </p:xfrm>
        <a:graphic>
          <a:graphicData uri="http://schemas.openxmlformats.org/presentationml/2006/ole">
            <p:oleObj spid="_x0000_s88067" name="公式" r:id="rId4" imgW="431640" imgH="177480" progId="Equation.3">
              <p:embed/>
            </p:oleObj>
          </a:graphicData>
        </a:graphic>
      </p:graphicFrame>
      <p:graphicFrame>
        <p:nvGraphicFramePr>
          <p:cNvPr id="148498" name="Object 18"/>
          <p:cNvGraphicFramePr>
            <a:graphicFrameLocks noChangeAspect="1"/>
          </p:cNvGraphicFramePr>
          <p:nvPr/>
        </p:nvGraphicFramePr>
        <p:xfrm>
          <a:off x="3995738" y="5589588"/>
          <a:ext cx="965200" cy="398462"/>
        </p:xfrm>
        <a:graphic>
          <a:graphicData uri="http://schemas.openxmlformats.org/presentationml/2006/ole">
            <p:oleObj spid="_x0000_s88068" name="公式" r:id="rId5" imgW="431640" imgH="177480" progId="Equation.3">
              <p:embed/>
            </p:oleObj>
          </a:graphicData>
        </a:graphic>
      </p:graphicFrame>
      <p:sp>
        <p:nvSpPr>
          <p:cNvPr id="148499" name="Text Box 19"/>
          <p:cNvSpPr txBox="1">
            <a:spLocks noChangeArrowheads="1"/>
          </p:cNvSpPr>
          <p:nvPr/>
        </p:nvSpPr>
        <p:spPr bwMode="auto">
          <a:xfrm>
            <a:off x="5435600" y="4221163"/>
            <a:ext cx="2449513"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热力学第二定律</a:t>
            </a:r>
          </a:p>
        </p:txBody>
      </p:sp>
      <p:sp>
        <p:nvSpPr>
          <p:cNvPr id="148500" name="Text Box 20"/>
          <p:cNvSpPr txBox="1">
            <a:spLocks noChangeArrowheads="1"/>
          </p:cNvSpPr>
          <p:nvPr/>
        </p:nvSpPr>
        <p:spPr bwMode="auto">
          <a:xfrm>
            <a:off x="5435600" y="5589588"/>
            <a:ext cx="2663825" cy="461962"/>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平衡态的孤立系统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2"/>
                                        </p:tgtEl>
                                        <p:attrNameLst>
                                          <p:attrName>style.visibility</p:attrName>
                                        </p:attrNameLst>
                                      </p:cBhvr>
                                      <p:to>
                                        <p:strVal val="visible"/>
                                      </p:to>
                                    </p:set>
                                    <p:animEffect transition="in" filter="wipe(left)">
                                      <p:cBhvr>
                                        <p:cTn id="7" dur="500"/>
                                        <p:tgtEl>
                                          <p:spTgt spid="1484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4"/>
                                        </p:tgtEl>
                                        <p:attrNameLst>
                                          <p:attrName>style.visibility</p:attrName>
                                        </p:attrNameLst>
                                      </p:cBhvr>
                                      <p:to>
                                        <p:strVal val="visible"/>
                                      </p:to>
                                    </p:set>
                                    <p:animEffect transition="in" filter="wipe(left)">
                                      <p:cBhvr>
                                        <p:cTn id="12" dur="500"/>
                                        <p:tgtEl>
                                          <p:spTgt spid="1484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8485"/>
                                        </p:tgtEl>
                                        <p:attrNameLst>
                                          <p:attrName>style.visibility</p:attrName>
                                        </p:attrNameLst>
                                      </p:cBhvr>
                                      <p:to>
                                        <p:strVal val="visible"/>
                                      </p:to>
                                    </p:set>
                                    <p:animEffect transition="in" filter="wipe(left)">
                                      <p:cBhvr>
                                        <p:cTn id="17" dur="500"/>
                                        <p:tgtEl>
                                          <p:spTgt spid="1484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8487"/>
                                        </p:tgtEl>
                                        <p:attrNameLst>
                                          <p:attrName>style.visibility</p:attrName>
                                        </p:attrNameLst>
                                      </p:cBhvr>
                                      <p:to>
                                        <p:strVal val="visible"/>
                                      </p:to>
                                    </p:set>
                                    <p:animEffect transition="in" filter="wipe(left)">
                                      <p:cBhvr>
                                        <p:cTn id="22" dur="500"/>
                                        <p:tgtEl>
                                          <p:spTgt spid="1484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8490"/>
                                        </p:tgtEl>
                                        <p:attrNameLst>
                                          <p:attrName>style.visibility</p:attrName>
                                        </p:attrNameLst>
                                      </p:cBhvr>
                                      <p:to>
                                        <p:strVal val="visible"/>
                                      </p:to>
                                    </p:set>
                                    <p:animEffect transition="in" filter="wipe(left)">
                                      <p:cBhvr>
                                        <p:cTn id="27" dur="500"/>
                                        <p:tgtEl>
                                          <p:spTgt spid="1484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8486">
                                            <p:txEl>
                                              <p:pRg st="0" end="0"/>
                                            </p:txEl>
                                          </p:spTgt>
                                        </p:tgtEl>
                                        <p:attrNameLst>
                                          <p:attrName>style.visibility</p:attrName>
                                        </p:attrNameLst>
                                      </p:cBhvr>
                                      <p:to>
                                        <p:strVal val="visible"/>
                                      </p:to>
                                    </p:set>
                                    <p:animEffect transition="in" filter="wipe(left)">
                                      <p:cBhvr>
                                        <p:cTn id="32" dur="500"/>
                                        <p:tgtEl>
                                          <p:spTgt spid="14848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8488"/>
                                        </p:tgtEl>
                                        <p:attrNameLst>
                                          <p:attrName>style.visibility</p:attrName>
                                        </p:attrNameLst>
                                      </p:cBhvr>
                                      <p:to>
                                        <p:strVal val="visible"/>
                                      </p:to>
                                    </p:set>
                                    <p:animEffect transition="in" filter="wipe(left)">
                                      <p:cBhvr>
                                        <p:cTn id="37" dur="500"/>
                                        <p:tgtEl>
                                          <p:spTgt spid="14848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8489"/>
                                        </p:tgtEl>
                                        <p:attrNameLst>
                                          <p:attrName>style.visibility</p:attrName>
                                        </p:attrNameLst>
                                      </p:cBhvr>
                                      <p:to>
                                        <p:strVal val="visible"/>
                                      </p:to>
                                    </p:set>
                                    <p:animEffect transition="in" filter="wipe(left)">
                                      <p:cBhvr>
                                        <p:cTn id="42" dur="500"/>
                                        <p:tgtEl>
                                          <p:spTgt spid="14848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8483"/>
                                        </p:tgtEl>
                                        <p:attrNameLst>
                                          <p:attrName>style.visibility</p:attrName>
                                        </p:attrNameLst>
                                      </p:cBhvr>
                                      <p:to>
                                        <p:strVal val="visible"/>
                                      </p:to>
                                    </p:set>
                                    <p:animEffect transition="in" filter="wipe(left)">
                                      <p:cBhvr>
                                        <p:cTn id="47" dur="3000"/>
                                        <p:tgtEl>
                                          <p:spTgt spid="1484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8492"/>
                                        </p:tgtEl>
                                        <p:attrNameLst>
                                          <p:attrName>style.visibility</p:attrName>
                                        </p:attrNameLst>
                                      </p:cBhvr>
                                      <p:to>
                                        <p:strVal val="visible"/>
                                      </p:to>
                                    </p:set>
                                    <p:animEffect transition="in" filter="wipe(left)">
                                      <p:cBhvr>
                                        <p:cTn id="52" dur="500"/>
                                        <p:tgtEl>
                                          <p:spTgt spid="14849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8491"/>
                                        </p:tgtEl>
                                        <p:attrNameLst>
                                          <p:attrName>style.visibility</p:attrName>
                                        </p:attrNameLst>
                                      </p:cBhvr>
                                      <p:to>
                                        <p:strVal val="visible"/>
                                      </p:to>
                                    </p:set>
                                    <p:animEffect transition="in" filter="wipe(left)">
                                      <p:cBhvr>
                                        <p:cTn id="57" dur="500"/>
                                        <p:tgtEl>
                                          <p:spTgt spid="14849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8493"/>
                                        </p:tgtEl>
                                        <p:attrNameLst>
                                          <p:attrName>style.visibility</p:attrName>
                                        </p:attrNameLst>
                                      </p:cBhvr>
                                      <p:to>
                                        <p:strVal val="visible"/>
                                      </p:to>
                                    </p:set>
                                    <p:animEffect transition="in" filter="wipe(left)">
                                      <p:cBhvr>
                                        <p:cTn id="62" dur="500"/>
                                        <p:tgtEl>
                                          <p:spTgt spid="14849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8494"/>
                                        </p:tgtEl>
                                        <p:attrNameLst>
                                          <p:attrName>style.visibility</p:attrName>
                                        </p:attrNameLst>
                                      </p:cBhvr>
                                      <p:to>
                                        <p:strVal val="visible"/>
                                      </p:to>
                                    </p:set>
                                    <p:animEffect transition="in" filter="wipe(left)">
                                      <p:cBhvr>
                                        <p:cTn id="67" dur="500"/>
                                        <p:tgtEl>
                                          <p:spTgt spid="14849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48496"/>
                                        </p:tgtEl>
                                        <p:attrNameLst>
                                          <p:attrName>style.visibility</p:attrName>
                                        </p:attrNameLst>
                                      </p:cBhvr>
                                      <p:to>
                                        <p:strVal val="visible"/>
                                      </p:to>
                                    </p:set>
                                    <p:animEffect transition="in" filter="wipe(left)">
                                      <p:cBhvr>
                                        <p:cTn id="72" dur="500"/>
                                        <p:tgtEl>
                                          <p:spTgt spid="14849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48499"/>
                                        </p:tgtEl>
                                        <p:attrNameLst>
                                          <p:attrName>style.visibility</p:attrName>
                                        </p:attrNameLst>
                                      </p:cBhvr>
                                      <p:to>
                                        <p:strVal val="visible"/>
                                      </p:to>
                                    </p:set>
                                    <p:animEffect transition="in" filter="wipe(left)">
                                      <p:cBhvr>
                                        <p:cTn id="77" dur="500"/>
                                        <p:tgtEl>
                                          <p:spTgt spid="14849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48497"/>
                                        </p:tgtEl>
                                        <p:attrNameLst>
                                          <p:attrName>style.visibility</p:attrName>
                                        </p:attrNameLst>
                                      </p:cBhvr>
                                      <p:to>
                                        <p:strVal val="visible"/>
                                      </p:to>
                                    </p:set>
                                    <p:animEffect transition="in" filter="wipe(left)">
                                      <p:cBhvr>
                                        <p:cTn id="82" dur="500"/>
                                        <p:tgtEl>
                                          <p:spTgt spid="14849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48495"/>
                                        </p:tgtEl>
                                        <p:attrNameLst>
                                          <p:attrName>style.visibility</p:attrName>
                                        </p:attrNameLst>
                                      </p:cBhvr>
                                      <p:to>
                                        <p:strVal val="visible"/>
                                      </p:to>
                                    </p:set>
                                    <p:animEffect transition="in" filter="wipe(left)">
                                      <p:cBhvr>
                                        <p:cTn id="87" dur="500"/>
                                        <p:tgtEl>
                                          <p:spTgt spid="14849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48498"/>
                                        </p:tgtEl>
                                        <p:attrNameLst>
                                          <p:attrName>style.visibility</p:attrName>
                                        </p:attrNameLst>
                                      </p:cBhvr>
                                      <p:to>
                                        <p:strVal val="visible"/>
                                      </p:to>
                                    </p:set>
                                    <p:animEffect transition="in" filter="wipe(left)">
                                      <p:cBhvr>
                                        <p:cTn id="92" dur="500"/>
                                        <p:tgtEl>
                                          <p:spTgt spid="14849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8500"/>
                                        </p:tgtEl>
                                        <p:attrNameLst>
                                          <p:attrName>style.visibility</p:attrName>
                                        </p:attrNameLst>
                                      </p:cBhvr>
                                      <p:to>
                                        <p:strVal val="visible"/>
                                      </p:to>
                                    </p:set>
                                    <p:animEffect transition="in" filter="wipe(left)">
                                      <p:cBhvr>
                                        <p:cTn id="97" dur="500"/>
                                        <p:tgtEl>
                                          <p:spTgt spid="148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p:bldP spid="148483" grpId="0" animBg="1"/>
      <p:bldP spid="148484" grpId="0" animBg="1"/>
      <p:bldP spid="148485" grpId="0"/>
      <p:bldP spid="148487" grpId="0" animBg="1"/>
      <p:bldP spid="148488" grpId="0" animBg="1"/>
      <p:bldP spid="148489" grpId="0"/>
      <p:bldP spid="148490" grpId="0"/>
      <p:bldP spid="148491" grpId="0" animBg="1"/>
      <p:bldP spid="148492" grpId="0" animBg="1"/>
      <p:bldP spid="148493" grpId="0" animBg="1"/>
      <p:bldP spid="148494" grpId="0" animBg="1"/>
      <p:bldP spid="148495" grpId="0"/>
      <p:bldP spid="148499" grpId="0"/>
      <p:bldP spid="148500"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755650" y="1989138"/>
            <a:ext cx="1944688"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cs typeface="Times New Roman" pitchFamily="18" charset="0"/>
              </a:rPr>
              <a:t>自组织现象</a:t>
            </a:r>
            <a:r>
              <a:rPr lang="en-US" altLang="zh-CN" sz="2400" b="1">
                <a:solidFill>
                  <a:srgbClr val="FF0000"/>
                </a:solidFill>
                <a:latin typeface="Times New Roman" pitchFamily="18" charset="0"/>
                <a:cs typeface="Times New Roman" pitchFamily="18" charset="0"/>
              </a:rPr>
              <a:t>:</a:t>
            </a:r>
          </a:p>
        </p:txBody>
      </p:sp>
      <p:sp>
        <p:nvSpPr>
          <p:cNvPr id="149507" name="Text Box 3"/>
          <p:cNvSpPr txBox="1">
            <a:spLocks noChangeArrowheads="1"/>
          </p:cNvSpPr>
          <p:nvPr/>
        </p:nvSpPr>
        <p:spPr bwMode="auto">
          <a:xfrm>
            <a:off x="2643188" y="2000250"/>
            <a:ext cx="5472112" cy="830263"/>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系统自发地由较无序变为较有序</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使其内部分子按一定规律运动</a:t>
            </a:r>
          </a:p>
        </p:txBody>
      </p:sp>
      <p:sp>
        <p:nvSpPr>
          <p:cNvPr id="149508" name="AutoShape 4"/>
          <p:cNvSpPr>
            <a:spLocks noChangeArrowheads="1"/>
          </p:cNvSpPr>
          <p:nvPr/>
        </p:nvSpPr>
        <p:spPr bwMode="auto">
          <a:xfrm>
            <a:off x="539750" y="4508500"/>
            <a:ext cx="1295400" cy="144463"/>
          </a:xfrm>
          <a:prstGeom prst="rightArrow">
            <a:avLst>
              <a:gd name="adj1" fmla="val 50000"/>
              <a:gd name="adj2" fmla="val 224175"/>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09" name="AutoShape 5"/>
          <p:cNvSpPr>
            <a:spLocks/>
          </p:cNvSpPr>
          <p:nvPr/>
        </p:nvSpPr>
        <p:spPr bwMode="auto">
          <a:xfrm>
            <a:off x="1835150" y="3644900"/>
            <a:ext cx="142875" cy="1798638"/>
          </a:xfrm>
          <a:prstGeom prst="leftBrace">
            <a:avLst>
              <a:gd name="adj1" fmla="val 104907"/>
              <a:gd name="adj2" fmla="val 50000"/>
            </a:avLst>
          </a:prstGeom>
          <a:noFill/>
          <a:ln w="9525">
            <a:solidFill>
              <a:schemeClr val="tx1"/>
            </a:solidFill>
            <a:round/>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10" name="Text Box 6"/>
          <p:cNvSpPr txBox="1">
            <a:spLocks noChangeArrowheads="1"/>
          </p:cNvSpPr>
          <p:nvPr/>
        </p:nvSpPr>
        <p:spPr bwMode="auto">
          <a:xfrm>
            <a:off x="2195513" y="3500438"/>
            <a:ext cx="1871662"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非生物界</a:t>
            </a:r>
          </a:p>
        </p:txBody>
      </p:sp>
      <p:sp>
        <p:nvSpPr>
          <p:cNvPr id="149511" name="Text Box 7"/>
          <p:cNvSpPr txBox="1">
            <a:spLocks noChangeArrowheads="1"/>
          </p:cNvSpPr>
          <p:nvPr/>
        </p:nvSpPr>
        <p:spPr bwMode="auto">
          <a:xfrm>
            <a:off x="2051050" y="5084763"/>
            <a:ext cx="1366838"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生物界</a:t>
            </a:r>
          </a:p>
        </p:txBody>
      </p:sp>
      <p:sp>
        <p:nvSpPr>
          <p:cNvPr id="149513" name="AutoShape 9"/>
          <p:cNvSpPr>
            <a:spLocks noChangeArrowheads="1"/>
          </p:cNvSpPr>
          <p:nvPr/>
        </p:nvSpPr>
        <p:spPr bwMode="auto">
          <a:xfrm>
            <a:off x="3633788" y="3644900"/>
            <a:ext cx="1295400" cy="144463"/>
          </a:xfrm>
          <a:prstGeom prst="rightArrow">
            <a:avLst>
              <a:gd name="adj1" fmla="val 50000"/>
              <a:gd name="adj2" fmla="val 224175"/>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14" name="AutoShape 10"/>
          <p:cNvSpPr>
            <a:spLocks noChangeArrowheads="1"/>
          </p:cNvSpPr>
          <p:nvPr/>
        </p:nvSpPr>
        <p:spPr bwMode="auto">
          <a:xfrm>
            <a:off x="3275013" y="5300663"/>
            <a:ext cx="1295400" cy="144462"/>
          </a:xfrm>
          <a:prstGeom prst="rightArrow">
            <a:avLst>
              <a:gd name="adj1" fmla="val 50000"/>
              <a:gd name="adj2" fmla="val 224177"/>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16" name="Text Box 12"/>
          <p:cNvSpPr txBox="1">
            <a:spLocks noChangeArrowheads="1"/>
          </p:cNvSpPr>
          <p:nvPr/>
        </p:nvSpPr>
        <p:spPr bwMode="auto">
          <a:xfrm>
            <a:off x="5072063" y="3500438"/>
            <a:ext cx="3024187"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贝纳特流</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空间有序</a:t>
            </a:r>
          </a:p>
        </p:txBody>
      </p:sp>
      <p:sp>
        <p:nvSpPr>
          <p:cNvPr id="149517" name="Text Box 13"/>
          <p:cNvSpPr txBox="1">
            <a:spLocks noChangeArrowheads="1"/>
          </p:cNvSpPr>
          <p:nvPr/>
        </p:nvSpPr>
        <p:spPr bwMode="auto">
          <a:xfrm>
            <a:off x="5219700" y="4724400"/>
            <a:ext cx="2665413"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生物钟</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时间有序</a:t>
            </a:r>
          </a:p>
        </p:txBody>
      </p:sp>
      <p:sp>
        <p:nvSpPr>
          <p:cNvPr id="149518" name="AutoShape 14"/>
          <p:cNvSpPr>
            <a:spLocks/>
          </p:cNvSpPr>
          <p:nvPr/>
        </p:nvSpPr>
        <p:spPr bwMode="auto">
          <a:xfrm>
            <a:off x="4786313" y="4868863"/>
            <a:ext cx="144462" cy="1008062"/>
          </a:xfrm>
          <a:prstGeom prst="leftBrace">
            <a:avLst>
              <a:gd name="adj1" fmla="val 58150"/>
              <a:gd name="adj2" fmla="val 50000"/>
            </a:avLst>
          </a:prstGeom>
          <a:noFill/>
          <a:ln w="9525">
            <a:solidFill>
              <a:schemeClr val="tx1"/>
            </a:solidFill>
            <a:round/>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19" name="Text Box 15"/>
          <p:cNvSpPr txBox="1">
            <a:spLocks noChangeArrowheads="1"/>
          </p:cNvSpPr>
          <p:nvPr/>
        </p:nvSpPr>
        <p:spPr bwMode="auto">
          <a:xfrm>
            <a:off x="5075238" y="5516563"/>
            <a:ext cx="3024187"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细胞结构</a:t>
            </a:r>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空间有序</a:t>
            </a:r>
          </a:p>
        </p:txBody>
      </p:sp>
      <p:sp>
        <p:nvSpPr>
          <p:cNvPr id="149520" name="Text Box 16"/>
          <p:cNvSpPr txBox="1">
            <a:spLocks noChangeArrowheads="1"/>
          </p:cNvSpPr>
          <p:nvPr/>
        </p:nvSpPr>
        <p:spPr bwMode="auto">
          <a:xfrm>
            <a:off x="1187450" y="1052513"/>
            <a:ext cx="26638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经典热力学的挑战</a:t>
            </a:r>
          </a:p>
        </p:txBody>
      </p:sp>
      <p:sp>
        <p:nvSpPr>
          <p:cNvPr id="149521" name="AutoShape 17"/>
          <p:cNvSpPr>
            <a:spLocks noChangeArrowheads="1"/>
          </p:cNvSpPr>
          <p:nvPr/>
        </p:nvSpPr>
        <p:spPr bwMode="auto">
          <a:xfrm>
            <a:off x="3779838" y="1196975"/>
            <a:ext cx="1295400" cy="144463"/>
          </a:xfrm>
          <a:prstGeom prst="rightArrow">
            <a:avLst>
              <a:gd name="adj1" fmla="val 50000"/>
              <a:gd name="adj2" fmla="val 224175"/>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49522" name="Text Box 18"/>
          <p:cNvSpPr txBox="1">
            <a:spLocks noChangeArrowheads="1"/>
          </p:cNvSpPr>
          <p:nvPr/>
        </p:nvSpPr>
        <p:spPr bwMode="auto">
          <a:xfrm>
            <a:off x="5219700" y="1052513"/>
            <a:ext cx="1944688"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自组织现象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20"/>
                                        </p:tgtEl>
                                        <p:attrNameLst>
                                          <p:attrName>style.visibility</p:attrName>
                                        </p:attrNameLst>
                                      </p:cBhvr>
                                      <p:to>
                                        <p:strVal val="visible"/>
                                      </p:to>
                                    </p:set>
                                    <p:animEffect transition="in" filter="wipe(left)">
                                      <p:cBhvr>
                                        <p:cTn id="7" dur="500"/>
                                        <p:tgtEl>
                                          <p:spTgt spid="1495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21"/>
                                        </p:tgtEl>
                                        <p:attrNameLst>
                                          <p:attrName>style.visibility</p:attrName>
                                        </p:attrNameLst>
                                      </p:cBhvr>
                                      <p:to>
                                        <p:strVal val="visible"/>
                                      </p:to>
                                    </p:set>
                                    <p:animEffect transition="in" filter="wipe(left)">
                                      <p:cBhvr>
                                        <p:cTn id="12" dur="500"/>
                                        <p:tgtEl>
                                          <p:spTgt spid="1495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22"/>
                                        </p:tgtEl>
                                        <p:attrNameLst>
                                          <p:attrName>style.visibility</p:attrName>
                                        </p:attrNameLst>
                                      </p:cBhvr>
                                      <p:to>
                                        <p:strVal val="visible"/>
                                      </p:to>
                                    </p:set>
                                    <p:animEffect transition="in" filter="wipe(left)">
                                      <p:cBhvr>
                                        <p:cTn id="17" dur="500"/>
                                        <p:tgtEl>
                                          <p:spTgt spid="1495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9506">
                                            <p:txEl>
                                              <p:pRg st="0" end="0"/>
                                            </p:txEl>
                                          </p:spTgt>
                                        </p:tgtEl>
                                        <p:attrNameLst>
                                          <p:attrName>style.visibility</p:attrName>
                                        </p:attrNameLst>
                                      </p:cBhvr>
                                      <p:to>
                                        <p:strVal val="visible"/>
                                      </p:to>
                                    </p:set>
                                    <p:animEffect transition="in" filter="wipe(left)">
                                      <p:cBhvr>
                                        <p:cTn id="22" dur="500"/>
                                        <p:tgtEl>
                                          <p:spTgt spid="14950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9507"/>
                                        </p:tgtEl>
                                        <p:attrNameLst>
                                          <p:attrName>style.visibility</p:attrName>
                                        </p:attrNameLst>
                                      </p:cBhvr>
                                      <p:to>
                                        <p:strVal val="visible"/>
                                      </p:to>
                                    </p:set>
                                    <p:animEffect transition="in" filter="wipe(left)">
                                      <p:cBhvr>
                                        <p:cTn id="27" dur="500"/>
                                        <p:tgtEl>
                                          <p:spTgt spid="14950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9508"/>
                                        </p:tgtEl>
                                        <p:attrNameLst>
                                          <p:attrName>style.visibility</p:attrName>
                                        </p:attrNameLst>
                                      </p:cBhvr>
                                      <p:to>
                                        <p:strVal val="visible"/>
                                      </p:to>
                                    </p:set>
                                    <p:animEffect transition="in" filter="wipe(left)">
                                      <p:cBhvr>
                                        <p:cTn id="32" dur="500"/>
                                        <p:tgtEl>
                                          <p:spTgt spid="1495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9509"/>
                                        </p:tgtEl>
                                        <p:attrNameLst>
                                          <p:attrName>style.visibility</p:attrName>
                                        </p:attrNameLst>
                                      </p:cBhvr>
                                      <p:to>
                                        <p:strVal val="visible"/>
                                      </p:to>
                                    </p:set>
                                    <p:animEffect transition="in" filter="wipe(left)">
                                      <p:cBhvr>
                                        <p:cTn id="37" dur="500"/>
                                        <p:tgtEl>
                                          <p:spTgt spid="1495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9510"/>
                                        </p:tgtEl>
                                        <p:attrNameLst>
                                          <p:attrName>style.visibility</p:attrName>
                                        </p:attrNameLst>
                                      </p:cBhvr>
                                      <p:to>
                                        <p:strVal val="visible"/>
                                      </p:to>
                                    </p:set>
                                    <p:animEffect transition="in" filter="wipe(left)">
                                      <p:cBhvr>
                                        <p:cTn id="42" dur="500"/>
                                        <p:tgtEl>
                                          <p:spTgt spid="1495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9511"/>
                                        </p:tgtEl>
                                        <p:attrNameLst>
                                          <p:attrName>style.visibility</p:attrName>
                                        </p:attrNameLst>
                                      </p:cBhvr>
                                      <p:to>
                                        <p:strVal val="visible"/>
                                      </p:to>
                                    </p:set>
                                    <p:animEffect transition="in" filter="wipe(left)">
                                      <p:cBhvr>
                                        <p:cTn id="47" dur="500"/>
                                        <p:tgtEl>
                                          <p:spTgt spid="1495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9513"/>
                                        </p:tgtEl>
                                        <p:attrNameLst>
                                          <p:attrName>style.visibility</p:attrName>
                                        </p:attrNameLst>
                                      </p:cBhvr>
                                      <p:to>
                                        <p:strVal val="visible"/>
                                      </p:to>
                                    </p:set>
                                    <p:animEffect transition="in" filter="wipe(left)">
                                      <p:cBhvr>
                                        <p:cTn id="52" dur="500"/>
                                        <p:tgtEl>
                                          <p:spTgt spid="1495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9516"/>
                                        </p:tgtEl>
                                        <p:attrNameLst>
                                          <p:attrName>style.visibility</p:attrName>
                                        </p:attrNameLst>
                                      </p:cBhvr>
                                      <p:to>
                                        <p:strVal val="visible"/>
                                      </p:to>
                                    </p:set>
                                    <p:animEffect transition="in" filter="wipe(left)">
                                      <p:cBhvr>
                                        <p:cTn id="57" dur="500"/>
                                        <p:tgtEl>
                                          <p:spTgt spid="1495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9514"/>
                                        </p:tgtEl>
                                        <p:attrNameLst>
                                          <p:attrName>style.visibility</p:attrName>
                                        </p:attrNameLst>
                                      </p:cBhvr>
                                      <p:to>
                                        <p:strVal val="visible"/>
                                      </p:to>
                                    </p:set>
                                    <p:animEffect transition="in" filter="wipe(left)">
                                      <p:cBhvr>
                                        <p:cTn id="62" dur="500"/>
                                        <p:tgtEl>
                                          <p:spTgt spid="1495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9518"/>
                                        </p:tgtEl>
                                        <p:attrNameLst>
                                          <p:attrName>style.visibility</p:attrName>
                                        </p:attrNameLst>
                                      </p:cBhvr>
                                      <p:to>
                                        <p:strVal val="visible"/>
                                      </p:to>
                                    </p:set>
                                    <p:animEffect transition="in" filter="wipe(left)">
                                      <p:cBhvr>
                                        <p:cTn id="67" dur="500"/>
                                        <p:tgtEl>
                                          <p:spTgt spid="1495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49517"/>
                                        </p:tgtEl>
                                        <p:attrNameLst>
                                          <p:attrName>style.visibility</p:attrName>
                                        </p:attrNameLst>
                                      </p:cBhvr>
                                      <p:to>
                                        <p:strVal val="visible"/>
                                      </p:to>
                                    </p:set>
                                    <p:animEffect transition="in" filter="wipe(left)">
                                      <p:cBhvr>
                                        <p:cTn id="72" dur="500"/>
                                        <p:tgtEl>
                                          <p:spTgt spid="1495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49519"/>
                                        </p:tgtEl>
                                        <p:attrNameLst>
                                          <p:attrName>style.visibility</p:attrName>
                                        </p:attrNameLst>
                                      </p:cBhvr>
                                      <p:to>
                                        <p:strVal val="visible"/>
                                      </p:to>
                                    </p:set>
                                    <p:animEffect transition="in" filter="wipe(left)">
                                      <p:cBhvr>
                                        <p:cTn id="77" dur="500"/>
                                        <p:tgtEl>
                                          <p:spTgt spid="149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p:bldP spid="149508" grpId="0" animBg="1"/>
      <p:bldP spid="149509" grpId="0" animBg="1"/>
      <p:bldP spid="149510" grpId="0"/>
      <p:bldP spid="149511" grpId="0"/>
      <p:bldP spid="149513" grpId="0" animBg="1"/>
      <p:bldP spid="149514" grpId="0" animBg="1"/>
      <p:bldP spid="149516" grpId="0"/>
      <p:bldP spid="149517" grpId="0"/>
      <p:bldP spid="149518" grpId="0" animBg="1"/>
      <p:bldP spid="149519" grpId="0"/>
      <p:bldP spid="149520" grpId="0"/>
      <p:bldP spid="149521" grpId="0" animBg="1"/>
      <p:bldP spid="149522"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3" descr="C:\Documents and Settings\Administrator\桌面\9f510fb30f2442a724d2216ed343ad4bd0130219.jpg"/>
          <p:cNvPicPr>
            <a:picLocks noChangeAspect="1" noChangeArrowheads="1"/>
          </p:cNvPicPr>
          <p:nvPr/>
        </p:nvPicPr>
        <p:blipFill>
          <a:blip r:embed="rId2"/>
          <a:srcRect/>
          <a:stretch>
            <a:fillRect/>
          </a:stretch>
        </p:blipFill>
        <p:spPr bwMode="auto">
          <a:xfrm>
            <a:off x="857250" y="428625"/>
            <a:ext cx="4943475" cy="3297238"/>
          </a:xfrm>
          <a:prstGeom prst="rect">
            <a:avLst/>
          </a:prstGeom>
          <a:noFill/>
          <a:ln w="9525">
            <a:noFill/>
            <a:miter lim="800000"/>
            <a:headEnd/>
            <a:tailEnd/>
          </a:ln>
        </p:spPr>
      </p:pic>
      <p:sp>
        <p:nvSpPr>
          <p:cNvPr id="4" name="TextBox 3"/>
          <p:cNvSpPr txBox="1"/>
          <p:nvPr/>
        </p:nvSpPr>
        <p:spPr>
          <a:xfrm>
            <a:off x="357188" y="3857625"/>
            <a:ext cx="8358187" cy="2678113"/>
          </a:xfrm>
          <a:prstGeom prst="rect">
            <a:avLst/>
          </a:prstGeom>
          <a:noFill/>
        </p:spPr>
        <p:txBody>
          <a:bodyPr>
            <a:spAutoFit/>
          </a:bodyPr>
          <a:lstStyle/>
          <a:p>
            <a:pPr>
              <a:defRPr/>
            </a:pPr>
            <a:r>
              <a:rPr lang="zh-CN" altLang="en-US" sz="2400" b="1" dirty="0">
                <a:latin typeface="+mn-ea"/>
                <a:ea typeface="+mn-ea"/>
              </a:rPr>
              <a:t>    在一扁平容器内盛有一薄层液体，从液层底部均匀加热，液层顶部温度亦均匀，底部与顶部存在温度差。</a:t>
            </a:r>
            <a:endParaRPr lang="en-US" altLang="zh-CN" sz="2400" b="1" dirty="0">
              <a:latin typeface="+mn-ea"/>
              <a:ea typeface="+mn-ea"/>
            </a:endParaRPr>
          </a:p>
          <a:p>
            <a:pPr>
              <a:defRPr/>
            </a:pPr>
            <a:r>
              <a:rPr lang="en-US" altLang="zh-CN" sz="2400" b="1" dirty="0">
                <a:latin typeface="+mn-ea"/>
                <a:ea typeface="+mn-ea"/>
              </a:rPr>
              <a:t>    </a:t>
            </a:r>
            <a:r>
              <a:rPr lang="zh-CN" altLang="en-US" sz="2400" b="1" dirty="0">
                <a:latin typeface="+mn-ea"/>
                <a:ea typeface="+mn-ea"/>
              </a:rPr>
              <a:t>当温差较小时，热量以传导方式通过液层，液层中不会产生任何结构。但</a:t>
            </a:r>
            <a:r>
              <a:rPr lang="zh-CN" altLang="en-US" sz="2400" b="1" dirty="0">
                <a:solidFill>
                  <a:srgbClr val="0000FF"/>
                </a:solidFill>
                <a:latin typeface="+mn-ea"/>
                <a:ea typeface="+mn-ea"/>
              </a:rPr>
              <a:t>当温差达到某一特定值时，液层中自动出现许多六角形小格子，液体从每个格子的中心涌起、从边缘下沉，形成规则的对流。</a:t>
            </a:r>
            <a:r>
              <a:rPr lang="zh-CN" altLang="en-US" sz="2400" b="1" dirty="0">
                <a:latin typeface="+mn-ea"/>
                <a:ea typeface="+mn-ea"/>
              </a:rPr>
              <a:t>从上往下可以看到贝纳特流形成的蜂窝状贝纳特花纹图案。</a:t>
            </a:r>
          </a:p>
        </p:txBody>
      </p:sp>
      <p:sp>
        <p:nvSpPr>
          <p:cNvPr id="5" name="Text Box 12"/>
          <p:cNvSpPr txBox="1">
            <a:spLocks noChangeArrowheads="1"/>
          </p:cNvSpPr>
          <p:nvPr/>
        </p:nvSpPr>
        <p:spPr bwMode="auto">
          <a:xfrm>
            <a:off x="6143625" y="1857375"/>
            <a:ext cx="1643063" cy="523875"/>
          </a:xfrm>
          <a:prstGeom prst="rect">
            <a:avLst/>
          </a:prstGeom>
          <a:noFill/>
          <a:ln w="9525">
            <a:noFill/>
            <a:miter lim="800000"/>
            <a:headEnd/>
            <a:tailEnd/>
          </a:ln>
        </p:spPr>
        <p:txBody>
          <a:bodyPr>
            <a:spAutoFit/>
          </a:bodyPr>
          <a:lstStyle/>
          <a:p>
            <a:r>
              <a:rPr lang="zh-CN" altLang="en-US" sz="2800" b="1">
                <a:solidFill>
                  <a:srgbClr val="0000FF"/>
                </a:solidFill>
              </a:rPr>
              <a:t>贝纳特流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2627313" y="1484313"/>
            <a:ext cx="2879725" cy="457200"/>
          </a:xfrm>
          <a:prstGeom prst="rect">
            <a:avLst/>
          </a:prstGeom>
          <a:noFill/>
          <a:ln w="9525">
            <a:noFill/>
            <a:miter lim="800000"/>
            <a:headEnd/>
            <a:tailEnd/>
          </a:ln>
        </p:spPr>
        <p:txBody>
          <a:bodyPr>
            <a:spAutoFit/>
          </a:bodyPr>
          <a:lstStyle/>
          <a:p>
            <a:r>
              <a:rPr lang="en-US" altLang="zh-CN" sz="2400" b="1">
                <a:latin typeface="Times New Roman" pitchFamily="18" charset="0"/>
                <a:cs typeface="Times New Roman" pitchFamily="18" charset="0"/>
              </a:rPr>
              <a:t>(</a:t>
            </a:r>
            <a:r>
              <a:rPr lang="zh-CN" altLang="en-US" sz="2400" b="1">
                <a:latin typeface="Times New Roman" pitchFamily="18" charset="0"/>
                <a:cs typeface="Times New Roman" pitchFamily="18" charset="0"/>
              </a:rPr>
              <a:t>经典热力学的挑战</a:t>
            </a:r>
            <a:r>
              <a:rPr lang="en-US" altLang="zh-CN" sz="2400" b="1">
                <a:latin typeface="Times New Roman" pitchFamily="18" charset="0"/>
                <a:cs typeface="Times New Roman" pitchFamily="18" charset="0"/>
              </a:rPr>
              <a:t>)</a:t>
            </a:r>
          </a:p>
        </p:txBody>
      </p:sp>
      <p:sp>
        <p:nvSpPr>
          <p:cNvPr id="151555" name="Text Box 3"/>
          <p:cNvSpPr txBox="1">
            <a:spLocks noChangeArrowheads="1"/>
          </p:cNvSpPr>
          <p:nvPr/>
        </p:nvSpPr>
        <p:spPr bwMode="auto">
          <a:xfrm>
            <a:off x="3635375" y="836613"/>
            <a:ext cx="2087563" cy="457200"/>
          </a:xfrm>
          <a:prstGeom prst="rect">
            <a:avLst/>
          </a:prstGeom>
          <a:noFill/>
          <a:ln w="9525">
            <a:noFill/>
            <a:miter lim="800000"/>
            <a:headEnd/>
            <a:tailEnd/>
          </a:ln>
        </p:spPr>
        <p:txBody>
          <a:bodyPr>
            <a:spAutoFit/>
          </a:bodyPr>
          <a:lstStyle/>
          <a:p>
            <a:r>
              <a:rPr lang="zh-CN" altLang="en-US" sz="2400" b="1">
                <a:solidFill>
                  <a:srgbClr val="FF0000"/>
                </a:solidFill>
                <a:latin typeface="Times New Roman" pitchFamily="18" charset="0"/>
                <a:cs typeface="Times New Roman" pitchFamily="18" charset="0"/>
              </a:rPr>
              <a:t>自组织现象</a:t>
            </a:r>
          </a:p>
        </p:txBody>
      </p:sp>
      <p:sp>
        <p:nvSpPr>
          <p:cNvPr id="151556" name="AutoShape 4"/>
          <p:cNvSpPr>
            <a:spLocks noChangeArrowheads="1"/>
          </p:cNvSpPr>
          <p:nvPr/>
        </p:nvSpPr>
        <p:spPr bwMode="auto">
          <a:xfrm>
            <a:off x="1331913" y="3933825"/>
            <a:ext cx="1512887" cy="288925"/>
          </a:xfrm>
          <a:prstGeom prst="rightArrow">
            <a:avLst>
              <a:gd name="adj1" fmla="val 50000"/>
              <a:gd name="adj2" fmla="val 130907"/>
            </a:avLst>
          </a:prstGeom>
          <a:solidFill>
            <a:schemeClr val="accent1"/>
          </a:solidFill>
          <a:ln w="9525">
            <a:solidFill>
              <a:schemeClr val="tx1"/>
            </a:solidFill>
            <a:miter lim="800000"/>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51557" name="Text Box 5"/>
          <p:cNvSpPr txBox="1">
            <a:spLocks noChangeArrowheads="1"/>
          </p:cNvSpPr>
          <p:nvPr/>
        </p:nvSpPr>
        <p:spPr bwMode="auto">
          <a:xfrm>
            <a:off x="1116013" y="2995613"/>
            <a:ext cx="2089150"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诞生的新学派</a:t>
            </a:r>
          </a:p>
        </p:txBody>
      </p:sp>
      <p:sp>
        <p:nvSpPr>
          <p:cNvPr id="151558" name="AutoShape 6"/>
          <p:cNvSpPr>
            <a:spLocks/>
          </p:cNvSpPr>
          <p:nvPr/>
        </p:nvSpPr>
        <p:spPr bwMode="auto">
          <a:xfrm>
            <a:off x="3349625" y="2636838"/>
            <a:ext cx="287338" cy="2879725"/>
          </a:xfrm>
          <a:prstGeom prst="leftBrace">
            <a:avLst>
              <a:gd name="adj1" fmla="val 83517"/>
              <a:gd name="adj2" fmla="val 50000"/>
            </a:avLst>
          </a:prstGeom>
          <a:noFill/>
          <a:ln w="9525">
            <a:solidFill>
              <a:schemeClr val="tx1"/>
            </a:solidFill>
            <a:round/>
            <a:headEnd/>
            <a:tailEnd/>
          </a:ln>
        </p:spPr>
        <p:txBody>
          <a:bodyPr wrap="none" anchor="ctr"/>
          <a:lstStyle/>
          <a:p>
            <a:pPr algn="ctr"/>
            <a:endParaRPr lang="zh-CN" altLang="en-US" b="1">
              <a:latin typeface="Times New Roman" pitchFamily="18" charset="0"/>
              <a:cs typeface="Times New Roman" pitchFamily="18" charset="0"/>
            </a:endParaRPr>
          </a:p>
        </p:txBody>
      </p:sp>
      <p:sp>
        <p:nvSpPr>
          <p:cNvPr id="151559" name="Text Box 7"/>
          <p:cNvSpPr txBox="1">
            <a:spLocks noChangeArrowheads="1"/>
          </p:cNvSpPr>
          <p:nvPr/>
        </p:nvSpPr>
        <p:spPr bwMode="auto">
          <a:xfrm>
            <a:off x="3708400" y="3716338"/>
            <a:ext cx="26638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协同学</a:t>
            </a:r>
          </a:p>
        </p:txBody>
      </p:sp>
      <p:sp>
        <p:nvSpPr>
          <p:cNvPr id="151560" name="Text Box 8"/>
          <p:cNvSpPr txBox="1">
            <a:spLocks noChangeArrowheads="1"/>
          </p:cNvSpPr>
          <p:nvPr/>
        </p:nvSpPr>
        <p:spPr bwMode="auto">
          <a:xfrm>
            <a:off x="3781425" y="5229225"/>
            <a:ext cx="18002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突变论</a:t>
            </a:r>
          </a:p>
        </p:txBody>
      </p:sp>
      <p:sp>
        <p:nvSpPr>
          <p:cNvPr id="151561" name="Text Box 9"/>
          <p:cNvSpPr txBox="1">
            <a:spLocks noChangeArrowheads="1"/>
          </p:cNvSpPr>
          <p:nvPr/>
        </p:nvSpPr>
        <p:spPr bwMode="auto">
          <a:xfrm>
            <a:off x="6013450" y="2636838"/>
            <a:ext cx="2016125" cy="457200"/>
          </a:xfrm>
          <a:prstGeom prst="rect">
            <a:avLst/>
          </a:prstGeom>
          <a:noFill/>
          <a:ln w="9525">
            <a:noFill/>
            <a:miter lim="800000"/>
            <a:headEnd/>
            <a:tailEnd/>
          </a:ln>
        </p:spPr>
        <p:txBody>
          <a:bodyPr>
            <a:spAutoFit/>
          </a:bodyPr>
          <a:lstStyle/>
          <a:p>
            <a:r>
              <a:rPr lang="en-US" altLang="zh-CN" sz="2400" b="1">
                <a:latin typeface="Times New Roman" pitchFamily="18" charset="0"/>
                <a:cs typeface="Times New Roman" pitchFamily="18" charset="0"/>
              </a:rPr>
              <a:t>(Prigogine )</a:t>
            </a:r>
          </a:p>
        </p:txBody>
      </p:sp>
      <p:sp>
        <p:nvSpPr>
          <p:cNvPr id="151562" name="Text Box 10"/>
          <p:cNvSpPr txBox="1">
            <a:spLocks noChangeArrowheads="1"/>
          </p:cNvSpPr>
          <p:nvPr/>
        </p:nvSpPr>
        <p:spPr bwMode="auto">
          <a:xfrm>
            <a:off x="6013450" y="3716338"/>
            <a:ext cx="1800225" cy="457200"/>
          </a:xfrm>
          <a:prstGeom prst="rect">
            <a:avLst/>
          </a:prstGeom>
          <a:noFill/>
          <a:ln w="9525">
            <a:noFill/>
            <a:miter lim="800000"/>
            <a:headEnd/>
            <a:tailEnd/>
          </a:ln>
        </p:spPr>
        <p:txBody>
          <a:bodyPr>
            <a:spAutoFit/>
          </a:bodyPr>
          <a:lstStyle/>
          <a:p>
            <a:r>
              <a:rPr lang="en-US" altLang="zh-CN" sz="2400" b="1">
                <a:latin typeface="Times New Roman" pitchFamily="18" charset="0"/>
                <a:cs typeface="Times New Roman" pitchFamily="18" charset="0"/>
              </a:rPr>
              <a:t>(Haken )</a:t>
            </a:r>
          </a:p>
        </p:txBody>
      </p:sp>
      <p:sp>
        <p:nvSpPr>
          <p:cNvPr id="151563" name="Text Box 11"/>
          <p:cNvSpPr txBox="1">
            <a:spLocks noChangeArrowheads="1"/>
          </p:cNvSpPr>
          <p:nvPr/>
        </p:nvSpPr>
        <p:spPr bwMode="auto">
          <a:xfrm>
            <a:off x="5940425" y="5156200"/>
            <a:ext cx="1871663" cy="457200"/>
          </a:xfrm>
          <a:prstGeom prst="rect">
            <a:avLst/>
          </a:prstGeom>
          <a:noFill/>
          <a:ln w="9525">
            <a:noFill/>
            <a:miter lim="800000"/>
            <a:headEnd/>
            <a:tailEnd/>
          </a:ln>
        </p:spPr>
        <p:txBody>
          <a:bodyPr>
            <a:spAutoFit/>
          </a:bodyPr>
          <a:lstStyle/>
          <a:p>
            <a:r>
              <a:rPr lang="en-US" altLang="zh-CN" sz="2400" b="1">
                <a:latin typeface="Times New Roman" pitchFamily="18" charset="0"/>
                <a:cs typeface="Times New Roman" pitchFamily="18" charset="0"/>
              </a:rPr>
              <a:t>(Thom )</a:t>
            </a:r>
          </a:p>
        </p:txBody>
      </p:sp>
      <p:sp>
        <p:nvSpPr>
          <p:cNvPr id="151564" name="Text Box 12"/>
          <p:cNvSpPr txBox="1">
            <a:spLocks noChangeArrowheads="1"/>
          </p:cNvSpPr>
          <p:nvPr/>
        </p:nvSpPr>
        <p:spPr bwMode="auto">
          <a:xfrm>
            <a:off x="3635375" y="2636838"/>
            <a:ext cx="18002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耗散结构</a:t>
            </a:r>
          </a:p>
        </p:txBody>
      </p:sp>
      <p:sp>
        <p:nvSpPr>
          <p:cNvPr id="151565" name="Text Box 13"/>
          <p:cNvSpPr txBox="1">
            <a:spLocks noChangeArrowheads="1"/>
          </p:cNvSpPr>
          <p:nvPr/>
        </p:nvSpPr>
        <p:spPr bwMode="auto">
          <a:xfrm>
            <a:off x="1403350" y="836613"/>
            <a:ext cx="1800225" cy="457200"/>
          </a:xfrm>
          <a:prstGeom prst="rect">
            <a:avLst/>
          </a:prstGeom>
          <a:noFill/>
          <a:ln w="9525">
            <a:noFill/>
            <a:miter lim="800000"/>
            <a:headEnd/>
            <a:tailEnd/>
          </a:ln>
        </p:spPr>
        <p:txBody>
          <a:bodyPr>
            <a:spAutoFit/>
          </a:bodyPr>
          <a:lstStyle/>
          <a:p>
            <a:r>
              <a:rPr lang="zh-CN" altLang="en-US" sz="2400" b="1">
                <a:latin typeface="Times New Roman" pitchFamily="18" charset="0"/>
                <a:cs typeface="Times New Roman" pitchFamily="18" charset="0"/>
              </a:rPr>
              <a:t>通过研究</a:t>
            </a:r>
          </a:p>
        </p:txBody>
      </p:sp>
      <p:sp>
        <p:nvSpPr>
          <p:cNvPr id="14" name="AutoShape 5">
            <a:hlinkClick r:id="rId2" action="ppaction://hlinksldjump" highlightClick="1"/>
          </p:cNvPr>
          <p:cNvSpPr>
            <a:spLocks noChangeArrowheads="1"/>
          </p:cNvSpPr>
          <p:nvPr/>
        </p:nvSpPr>
        <p:spPr bwMode="auto">
          <a:xfrm>
            <a:off x="8429625" y="6143625"/>
            <a:ext cx="287338" cy="287338"/>
          </a:xfrm>
          <a:prstGeom prst="actionButtonBeginning">
            <a:avLst/>
          </a:prstGeom>
          <a:solidFill>
            <a:srgbClr val="99CCFF"/>
          </a:solidFill>
          <a:ln w="9525">
            <a:noFill/>
            <a:miter lim="800000"/>
            <a:headEnd/>
            <a:tailEnd/>
          </a:ln>
        </p:spPr>
        <p:txBody>
          <a:bodyPr wrap="none" anchor="ctr"/>
          <a:lstStyle/>
          <a:p>
            <a:pPr algn="ctr"/>
            <a:endParaRPr lang="zh-CN" altLang="en-US">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65"/>
                                        </p:tgtEl>
                                        <p:attrNameLst>
                                          <p:attrName>style.visibility</p:attrName>
                                        </p:attrNameLst>
                                      </p:cBhvr>
                                      <p:to>
                                        <p:strVal val="visible"/>
                                      </p:to>
                                    </p:set>
                                    <p:animEffect transition="in" filter="wipe(left)">
                                      <p:cBhvr>
                                        <p:cTn id="7" dur="500"/>
                                        <p:tgtEl>
                                          <p:spTgt spid="1515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5"/>
                                        </p:tgtEl>
                                        <p:attrNameLst>
                                          <p:attrName>style.visibility</p:attrName>
                                        </p:attrNameLst>
                                      </p:cBhvr>
                                      <p:to>
                                        <p:strVal val="visible"/>
                                      </p:to>
                                    </p:set>
                                    <p:animEffect transition="in" filter="wipe(left)">
                                      <p:cBhvr>
                                        <p:cTn id="12" dur="3000"/>
                                        <p:tgtEl>
                                          <p:spTgt spid="1515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4"/>
                                        </p:tgtEl>
                                        <p:attrNameLst>
                                          <p:attrName>style.visibility</p:attrName>
                                        </p:attrNameLst>
                                      </p:cBhvr>
                                      <p:to>
                                        <p:strVal val="visible"/>
                                      </p:to>
                                    </p:set>
                                    <p:animEffect transition="in" filter="wipe(left)">
                                      <p:cBhvr>
                                        <p:cTn id="17" dur="500"/>
                                        <p:tgtEl>
                                          <p:spTgt spid="1515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56"/>
                                        </p:tgtEl>
                                        <p:attrNameLst>
                                          <p:attrName>style.visibility</p:attrName>
                                        </p:attrNameLst>
                                      </p:cBhvr>
                                      <p:to>
                                        <p:strVal val="visible"/>
                                      </p:to>
                                    </p:set>
                                    <p:animEffect transition="in" filter="wipe(left)">
                                      <p:cBhvr>
                                        <p:cTn id="22" dur="500"/>
                                        <p:tgtEl>
                                          <p:spTgt spid="1515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1557"/>
                                        </p:tgtEl>
                                        <p:attrNameLst>
                                          <p:attrName>style.visibility</p:attrName>
                                        </p:attrNameLst>
                                      </p:cBhvr>
                                      <p:to>
                                        <p:strVal val="visible"/>
                                      </p:to>
                                    </p:set>
                                    <p:animEffect transition="in" filter="wipe(left)">
                                      <p:cBhvr>
                                        <p:cTn id="27" dur="500"/>
                                        <p:tgtEl>
                                          <p:spTgt spid="1515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1558"/>
                                        </p:tgtEl>
                                        <p:attrNameLst>
                                          <p:attrName>style.visibility</p:attrName>
                                        </p:attrNameLst>
                                      </p:cBhvr>
                                      <p:to>
                                        <p:strVal val="visible"/>
                                      </p:to>
                                    </p:set>
                                    <p:animEffect transition="in" filter="wipe(left)">
                                      <p:cBhvr>
                                        <p:cTn id="32" dur="500"/>
                                        <p:tgtEl>
                                          <p:spTgt spid="1515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1564"/>
                                        </p:tgtEl>
                                        <p:attrNameLst>
                                          <p:attrName>style.visibility</p:attrName>
                                        </p:attrNameLst>
                                      </p:cBhvr>
                                      <p:to>
                                        <p:strVal val="visible"/>
                                      </p:to>
                                    </p:set>
                                    <p:animEffect transition="in" filter="wipe(left)">
                                      <p:cBhvr>
                                        <p:cTn id="37" dur="500"/>
                                        <p:tgtEl>
                                          <p:spTgt spid="15156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1561">
                                            <p:txEl>
                                              <p:pRg st="0" end="0"/>
                                            </p:txEl>
                                          </p:spTgt>
                                        </p:tgtEl>
                                        <p:attrNameLst>
                                          <p:attrName>style.visibility</p:attrName>
                                        </p:attrNameLst>
                                      </p:cBhvr>
                                      <p:to>
                                        <p:strVal val="visible"/>
                                      </p:to>
                                    </p:set>
                                    <p:animEffect transition="in" filter="wipe(left)">
                                      <p:cBhvr>
                                        <p:cTn id="42" dur="500"/>
                                        <p:tgtEl>
                                          <p:spTgt spid="15156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51559">
                                            <p:txEl>
                                              <p:pRg st="0" end="0"/>
                                            </p:txEl>
                                          </p:spTgt>
                                        </p:tgtEl>
                                        <p:attrNameLst>
                                          <p:attrName>style.visibility</p:attrName>
                                        </p:attrNameLst>
                                      </p:cBhvr>
                                      <p:to>
                                        <p:strVal val="visible"/>
                                      </p:to>
                                    </p:set>
                                    <p:animEffect transition="in" filter="wipe(left)">
                                      <p:cBhvr>
                                        <p:cTn id="47" dur="500"/>
                                        <p:tgtEl>
                                          <p:spTgt spid="15155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1562">
                                            <p:txEl>
                                              <p:pRg st="0" end="0"/>
                                            </p:txEl>
                                          </p:spTgt>
                                        </p:tgtEl>
                                        <p:attrNameLst>
                                          <p:attrName>style.visibility</p:attrName>
                                        </p:attrNameLst>
                                      </p:cBhvr>
                                      <p:to>
                                        <p:strVal val="visible"/>
                                      </p:to>
                                    </p:set>
                                    <p:animEffect transition="in" filter="wipe(left)">
                                      <p:cBhvr>
                                        <p:cTn id="52" dur="500"/>
                                        <p:tgtEl>
                                          <p:spTgt spid="15156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1560">
                                            <p:txEl>
                                              <p:pRg st="0" end="0"/>
                                            </p:txEl>
                                          </p:spTgt>
                                        </p:tgtEl>
                                        <p:attrNameLst>
                                          <p:attrName>style.visibility</p:attrName>
                                        </p:attrNameLst>
                                      </p:cBhvr>
                                      <p:to>
                                        <p:strVal val="visible"/>
                                      </p:to>
                                    </p:set>
                                    <p:animEffect transition="in" filter="wipe(left)">
                                      <p:cBhvr>
                                        <p:cTn id="57" dur="500"/>
                                        <p:tgtEl>
                                          <p:spTgt spid="151560">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1563">
                                            <p:txEl>
                                              <p:pRg st="0" end="0"/>
                                            </p:txEl>
                                          </p:spTgt>
                                        </p:tgtEl>
                                        <p:attrNameLst>
                                          <p:attrName>style.visibility</p:attrName>
                                        </p:attrNameLst>
                                      </p:cBhvr>
                                      <p:to>
                                        <p:strVal val="visible"/>
                                      </p:to>
                                    </p:set>
                                    <p:animEffect transition="in" filter="wipe(left)">
                                      <p:cBhvr>
                                        <p:cTn id="62" dur="500"/>
                                        <p:tgtEl>
                                          <p:spTgt spid="151563">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p:bldP spid="151555" grpId="0"/>
      <p:bldP spid="151556" grpId="0" animBg="1"/>
      <p:bldP spid="151557" grpId="0"/>
      <p:bldP spid="151558" grpId="0" animBg="1"/>
      <p:bldP spid="151564" grpId="0"/>
      <p:bldP spid="151565" grpId="0"/>
      <p:bldP spid="14"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7419</TotalTime>
  <Words>9674</Words>
  <Application>Microsoft Office PowerPoint</Application>
  <PresentationFormat>全屏显示(4:3)</PresentationFormat>
  <Paragraphs>1163</Paragraphs>
  <Slides>124</Slides>
  <Notes>20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124</vt:i4>
      </vt:variant>
    </vt:vector>
  </HeadingPairs>
  <TitlesOfParts>
    <vt:vector size="128" baseType="lpstr">
      <vt:lpstr>默认设计模板</vt:lpstr>
      <vt:lpstr>公式</vt:lpstr>
      <vt:lpstr>Equation</vt:lpstr>
      <vt:lpstr>位图图像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幻灯片 117</vt:lpstr>
      <vt:lpstr>幻灯片 118</vt:lpstr>
      <vt:lpstr>幻灯片 119</vt:lpstr>
      <vt:lpstr>幻灯片 120</vt:lpstr>
      <vt:lpstr>幻灯片 121</vt:lpstr>
      <vt:lpstr>幻灯片 122</vt:lpstr>
      <vt:lpstr>幻灯片 123</vt:lpstr>
      <vt:lpstr>幻灯片 124</vt:lpstr>
    </vt:vector>
  </TitlesOfParts>
  <Company>NWSUAF</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气体动理论</dc:title>
  <dc:creator>冯秀绒</dc:creator>
  <cp:lastModifiedBy>解迎革</cp:lastModifiedBy>
  <cp:revision>251</cp:revision>
  <dcterms:created xsi:type="dcterms:W3CDTF">2009-09-17T02:47:26Z</dcterms:created>
  <dcterms:modified xsi:type="dcterms:W3CDTF">2015-12-09T09:09:14Z</dcterms:modified>
</cp:coreProperties>
</file>